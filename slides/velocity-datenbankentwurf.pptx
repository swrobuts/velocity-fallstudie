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GR15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 Zur Nummernlücke: 0013 gab es, sie hieß altsystem_abloesen und zog nach db/betrieb/, weil sie gegen eine leere Datenbank nicht durchlief. Lücken in Migrationsnummern sind normal — Nummern werden nie neu vergeben, sonst stimmt keine Historie mehr.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interessante Lehrpunkt ist nicht die ALTER-DEFAULT-PRIVILEGES-Zeile selbst, sondern dass sie in einer gewöhnlichen PostgreSQL-Installation wirkt und auf dieser Instanz gemessen nicht: kein Eintrag in pg_default_acl, gegengeprüft per Abfrage direkt danach und durch eine Testfunktion in einem Scratch-Schema, die trotzdem EXECUTE für PUBLIC bekam. Ein Sicherheitskonzept, das eine Schutzmaßnahme behauptet, die es nicht gibt, ist gefährlicher als eine bekannte Lücke. Der einzige tatsächliche Schutz für künftig angelegte Funktionen ist das explizite REVOKE weiter oben — erneut ausgeführt nach jeder neu angelegten Funktion in diesem Schema. Aufgedeckt hat das ein Test, nicht Nachdenken: test_s_keine_oeffentliche_funktion in db/tests/t0011_sicherheit.sql und Abnahmeprüfung 25 fangen das Vergessen zweifach ab.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Bis hierher ging es um die Kundensicht. Jetzt kommt die zweite Anwendung auf dieselbe Datenbank — und die stellt ganz andere Fragen an dieselben Zeilen.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wichtigste Satz dieser Folie ist der letzte der ersten Kachel. Ein getrenntes Auswertungssystem mit eigener Kopie ist der Normalfall in der Praxis — und die häufigste Quelle für Zahlen, die sich widersprechen. Hier gibt es diese Möglichkeit gar nicht.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v_wawi_fahrt_km führt Einzelfahrten mit Kundennummer — ein Bewegungsprofil. Die Sicht ist für keine Rolle freigegeben; sie dient nur als Zwischenschritt innerhalb anderer Sichten. Datensparsamkeit heißt hier: die aggregierte Sicht ist offen, die feine nicht. Zur fünften Rolle: demo steht bewusst nicht in der Matrix. Sie ist keine Fachrolle, sondern der öffentliche Vorführzugang — sie liest dieselben Sichten wie die Leitung, schreibt aber nichts und sieht Einzelfahrten ebenso wenig. Wer sie als Spalte führt, suggeriert eine Aufgabe, die es nicht gibt.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Korn — die Frage „wofür steht eine Zeile?“ — ist der wichtigste Begriff der ganzen Auswertung. Wer es nicht benennen kann, wird die Summen falsch bilden. Ein häufiger Fehler: Umsatz über eine Sicht summieren, in der jede Fahrt mehrfach vorkommt, weil ein Join sie vervielfacht hat.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kommt der Perspektivwechsel: vom Schreiben zum Lesen, vom Einzelfall zur Summe. Dasselbe Modell, eine andere Brille.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Kasten unten rechts trägt die eigentliche Aussage: keine dieser Dimensionen ist eine eigene Tabelle. Wir haben kein Sternschema gebaut, sondern die Rollen benannt, die vorhandene Tabellen beim Auswerten einnehmen. Warum das hier richtig ist, steht zwei Folien weiter.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Beispiel für die Tragweite: „Umsatz nach Radtyp“ zeigt das Lastenrad vorn. Daraus folgt NICHT, dass Lastenräder sich am meisten lohnen — Anschaffung, Wartung und Stellplatzbedarf stehen in keiner dieser Zeilen. Wer so entscheidet, verwechselt Umsatz mit Deckungsbeitrag.</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Drill-Down ist der Übergang von der Kennzahl zum Beleg. Er ist der Grund, warum Auswertungen überhaupt Vertrauen verdienen: eine Zahl, die man nicht bis zur einzelnen Zeile aufklappen kann, muss man glauben.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Entscheidung hängt an zwei Zahlen: Datenmenge und geforderte Aktualität. Hier sind es gut zwölftausend Ausleihen und die Erwartung, dass eine gerade beendete Fahrt sofort in der Auswertung steht. Bei zehn Millionen Zeilen und einem Tagesbericht dreht sich das Urteil um. Wichtig ist, dass Studierende die Frage stellen — nicht, dass sie diese eine Antwort auswendig können.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Punkt, an dem Datenmodellierung zur Redlichkeit wird. Die CO2-Zahl ist ein Werbeargument; sie beruht auf einer Schätzung. Wer die Schätzung nicht kennzeichnet, produziert eine Zahl, die niemand mehr einordnen kann — und im Zweifel eine, die er selbst irgendwann glaubt.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Kundenwebsite und Warenwirtschaft sind zwei Anwendungen — aber sie gehen denselben Weg in dieselbe Datenbank.</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öffentliche Schlüssel ist in beiden Anwendungen derselbe und steht im Quelltext. Er ist kein Geheimnis, sondern nur die Angabe, welches Projekt gemeint ist. Wer etwas sehen darf, entscheidet die Rolle im angemeldeten Konto — das ist der Inhalt von Kapitel 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vierte Punkt ist der, den Studierende am häufigsten falsch machen. Ein ausgemustertes Rad zu löschen würde jede Fahrt entwerten, die damit gemacht wurde — und damit auch Annas Rechnung. Historie verträgt kein DELETE.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Sätze zum Mitnehmen — und der Rest des Modells, der auf dem Papier steht.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Kapitel, zwölf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286000"/>
            <a:ext cx="279400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286000"/>
            <a:ext cx="8680450" cy="292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578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578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2870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2870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1623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1623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4544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4544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37465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37465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0386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0386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3307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3307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46228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46228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49149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Warenwirtschaft</a:t>
            </a:r>
          </a:p>
        </p:txBody>
      </p:sp>
      <p:sp>
        <p:nvSpPr>
          <p:cNvPr id="25" name="Rectangle 24"/>
          <p:cNvSpPr/>
          <p:nvPr/>
        </p:nvSpPr>
        <p:spPr>
          <a:xfrm>
            <a:off x="3947160" y="49149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arbeitet mit der Fahrt, wenn sie bezahlt ist?</a:t>
            </a:r>
          </a:p>
        </p:txBody>
      </p:sp>
      <p:sp>
        <p:nvSpPr>
          <p:cNvPr id="26" name="Rectangle 25"/>
          <p:cNvSpPr/>
          <p:nvPr/>
        </p:nvSpPr>
        <p:spPr>
          <a:xfrm>
            <a:off x="1153160" y="52070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 Analytik</a:t>
            </a:r>
          </a:p>
        </p:txBody>
      </p:sp>
      <p:sp>
        <p:nvSpPr>
          <p:cNvPr id="27" name="Rectangle 26"/>
          <p:cNvSpPr/>
          <p:nvPr/>
        </p:nvSpPr>
        <p:spPr>
          <a:xfrm>
            <a:off x="3947160" y="52070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Frage stellt die Leitung — und welche Zeile antwortet?</a:t>
            </a:r>
          </a:p>
        </p:txBody>
      </p:sp>
      <p:sp>
        <p:nvSpPr>
          <p:cNvPr id="28" name="Rectangle 27"/>
          <p:cNvSpPr/>
          <p:nvPr/>
        </p:nvSpPr>
        <p:spPr>
          <a:xfrm>
            <a:off x="1153160" y="5499100"/>
            <a:ext cx="279400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 Oberflächen</a:t>
            </a:r>
          </a:p>
        </p:txBody>
      </p:sp>
      <p:sp>
        <p:nvSpPr>
          <p:cNvPr id="29" name="Rectangle 28"/>
          <p:cNvSpPr/>
          <p:nvPr/>
        </p:nvSpPr>
        <p:spPr>
          <a:xfrm>
            <a:off x="3947160" y="5499100"/>
            <a:ext cx="8680450" cy="2921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Annas Rad auf zwei verschiedene Bildschirme?</a:t>
            </a:r>
          </a:p>
        </p:txBody>
      </p:sp>
      <p:sp>
        <p:nvSpPr>
          <p:cNvPr id="30" name="Rectangle 29"/>
          <p:cNvSpPr/>
          <p:nvPr/>
        </p:nvSpPr>
        <p:spPr>
          <a:xfrm>
            <a:off x="1153160" y="5791200"/>
            <a:ext cx="279400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12 Abschluss</a:t>
            </a:r>
          </a:p>
        </p:txBody>
      </p:sp>
      <p:sp>
        <p:nvSpPr>
          <p:cNvPr id="31" name="Rectangle 30"/>
          <p:cNvSpPr/>
          <p:nvPr/>
        </p:nvSpPr>
        <p:spPr>
          <a:xfrm>
            <a:off x="3947160" y="5791200"/>
            <a:ext cx="8680450" cy="2921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bleibt — und was ist entworfen, aber nicht gebaut?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75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ohne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fn_ausleihe_abrechnen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87312"/>
            <a:ext cx="11677650" cy="409937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88912"/>
            <a:ext cx="11474450" cy="389617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von fünfzehn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acht gelten immer, auch bei direktem SQL-Zugriff. Die unteren vier nur, wenn man den vorgesehenen Weg nimmt — sie brauchen Kontext, den ein Constraint nicht hat.</a:t>
            </a:r>
          </a:p>
        </p:txBody>
      </p:sp>
      <p:sp>
        <p:nvSpPr>
          <p:cNvPr id="6" name="Rectangle 5"/>
          <p:cNvSpPr/>
          <p:nvPr/>
        </p:nvSpPr>
        <p:spPr>
          <a:xfrm>
            <a:off x="1153160" y="2235200"/>
            <a:ext cx="1651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235200"/>
            <a:ext cx="660400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235200"/>
            <a:ext cx="3219450" cy="304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540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540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540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2844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2844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2844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1496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1496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1496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4544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4544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4544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37592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37592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37592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0640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0640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0640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3688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3688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3688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46736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GR15</a:t>
            </a:r>
          </a:p>
        </p:txBody>
      </p:sp>
      <p:sp>
        <p:nvSpPr>
          <p:cNvPr id="31" name="Rectangle 30"/>
          <p:cNvSpPr/>
          <p:nvPr/>
        </p:nvSpPr>
        <p:spPr>
          <a:xfrm>
            <a:off x="2804160" y="46736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Constraint-Trigger: zählt Räder gegen Stellplätze</a:t>
            </a:r>
          </a:p>
        </p:txBody>
      </p:sp>
      <p:sp>
        <p:nvSpPr>
          <p:cNvPr id="32" name="Rectangle 31"/>
          <p:cNvSpPr/>
          <p:nvPr/>
        </p:nvSpPr>
        <p:spPr>
          <a:xfrm>
            <a:off x="9408160" y="46736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3" name="Rectangle 32"/>
          <p:cNvSpPr/>
          <p:nvPr/>
        </p:nvSpPr>
        <p:spPr>
          <a:xfrm>
            <a:off x="1153160" y="49784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4" name="Rectangle 33"/>
          <p:cNvSpPr/>
          <p:nvPr/>
        </p:nvSpPr>
        <p:spPr>
          <a:xfrm>
            <a:off x="2804160" y="49784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fn_ausleihe_abrechnen</a:t>
            </a:r>
          </a:p>
        </p:txBody>
      </p:sp>
      <p:sp>
        <p:nvSpPr>
          <p:cNvPr id="35" name="Rectangle 34"/>
          <p:cNvSpPr/>
          <p:nvPr/>
        </p:nvSpPr>
        <p:spPr>
          <a:xfrm>
            <a:off x="9408160" y="49784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2832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7" name="Rectangle 36"/>
          <p:cNvSpPr/>
          <p:nvPr/>
        </p:nvSpPr>
        <p:spPr>
          <a:xfrm>
            <a:off x="2804160" y="52832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8" name="Rectangle 37"/>
          <p:cNvSpPr/>
          <p:nvPr/>
        </p:nvSpPr>
        <p:spPr>
          <a:xfrm>
            <a:off x="9408160" y="52832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9" name="Rectangle 38"/>
          <p:cNvSpPr/>
          <p:nvPr/>
        </p:nvSpPr>
        <p:spPr>
          <a:xfrm>
            <a:off x="1153160" y="5588000"/>
            <a:ext cx="1651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40" name="Rectangle 39"/>
          <p:cNvSpPr/>
          <p:nvPr/>
        </p:nvSpPr>
        <p:spPr>
          <a:xfrm>
            <a:off x="2804160" y="5588000"/>
            <a:ext cx="660400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41" name="Rectangle 40"/>
          <p:cNvSpPr/>
          <p:nvPr/>
        </p:nvSpPr>
        <p:spPr>
          <a:xfrm>
            <a:off x="9408160" y="5588000"/>
            <a:ext cx="3219450" cy="304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42" name="Rectangle 41"/>
          <p:cNvSpPr/>
          <p:nvPr/>
        </p:nvSpPr>
        <p:spPr>
          <a:xfrm>
            <a:off x="1153160" y="5892800"/>
            <a:ext cx="1651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GR14</a:t>
            </a:r>
          </a:p>
        </p:txBody>
      </p:sp>
      <p:sp>
        <p:nvSpPr>
          <p:cNvPr id="43" name="Rectangle 42"/>
          <p:cNvSpPr/>
          <p:nvPr/>
        </p:nvSpPr>
        <p:spPr>
          <a:xfrm>
            <a:off x="2804160" y="5892800"/>
            <a:ext cx="660400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fn_im_geschaeftsgebiet in fn_ausleihe_beenden</a:t>
            </a:r>
          </a:p>
        </p:txBody>
      </p:sp>
      <p:sp>
        <p:nvSpPr>
          <p:cNvPr id="44" name="Rectangle 43"/>
          <p:cNvSpPr/>
          <p:nvPr/>
        </p:nvSpPr>
        <p:spPr>
          <a:xfrm>
            <a:off x="9408160" y="5892800"/>
            <a:ext cx="3219450" cy="304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Neunzehn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114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8829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71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28 Tabellen</a:t>
            </a:r>
          </a:p>
        </p:txBody>
      </p:sp>
      <p:sp>
        <p:nvSpPr>
          <p:cNvPr id="9" name="Isosceles Triangle 8"/>
          <p:cNvSpPr/>
          <p:nvPr/>
        </p:nvSpPr>
        <p:spPr>
          <a:xfrm rot="10800000">
            <a:off x="6801484" y="35433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632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2037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2926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48641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4953000"/>
            <a:ext cx="1147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
        <p:nvSpPr>
          <p:cNvPr id="15" name="Isosceles Triangle 14"/>
          <p:cNvSpPr/>
          <p:nvPr/>
        </p:nvSpPr>
        <p:spPr>
          <a:xfrm rot="10800000">
            <a:off x="6801484" y="5524500"/>
            <a:ext cx="177800" cy="762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613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0014 bis 0020 · sieben Schritte mehr für die Warenwirtschaft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50,00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320 Spalten im Aufbau, 248 beschrieben,</a:t>
            </a:r>
          </a:p>
          <a:p>
            <a:pPr algn="l">
              <a:lnSpc>
                <a:spcPct val="95000"/>
              </a:lnSpc>
              <a:spcBef>
                <a:spcPts val="200"/>
              </a:spcBef>
            </a:pPr>
            <a:r>
              <a:rPr sz="1300" b="0">
                <a:solidFill>
                  <a:srgbClr val="404040"/>
                </a:solidFill>
                <a:latin typeface="Consolas"/>
              </a:rPr>
              <a:t>72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 — der einzige Schutz</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Muss nach jeder neu angelegten</a:t>
            </a:r>
          </a:p>
          <a:p>
            <a:pPr algn="l">
              <a:lnSpc>
                <a:spcPct val="95000"/>
              </a:lnSpc>
              <a:spcBef>
                <a:spcPts val="300"/>
              </a:spcBef>
            </a:pPr>
            <a:r>
              <a:rPr sz="1300" b="0">
                <a:solidFill>
                  <a:srgbClr val="404040"/>
                </a:solidFill>
              </a:rPr>
              <a:t>Funktion in diesem Schema</a:t>
            </a:r>
          </a:p>
          <a:p>
            <a:pPr algn="l">
              <a:lnSpc>
                <a:spcPct val="95000"/>
              </a:lnSpc>
              <a:spcBef>
                <a:spcPts val="300"/>
              </a:spcBef>
            </a:pPr>
            <a:r>
              <a:rPr sz="1300" b="0">
                <a:solidFill>
                  <a:srgbClr val="404040"/>
                </a:solidFill>
              </a:rPr>
              <a:t>erneut laufen.</a:t>
            </a:r>
          </a:p>
        </p:txBody>
      </p:sp>
      <p:sp>
        <p:nvSpPr>
          <p:cNvPr id="14" name="Rectangle 13"/>
          <p:cNvSpPr/>
          <p:nvPr/>
        </p:nvSpPr>
        <p:spPr>
          <a:xfrm>
            <a:off x="1153160" y="4775200"/>
            <a:ext cx="11474450" cy="13716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4775200"/>
            <a:ext cx="50800" cy="13716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902200"/>
            <a:ext cx="11093450" cy="1117600"/>
          </a:xfrm>
          <a:prstGeom prst="rect">
            <a:avLst/>
          </a:prstGeom>
          <a:noFill/>
        </p:spPr>
        <p:txBody>
          <a:bodyPr wrap="square" lIns="0" tIns="0" rIns="0" bIns="0">
            <a:spAutoFit/>
          </a:bodyPr>
          <a:lstStyle/>
          <a:p>
            <a:pPr algn="l">
              <a:lnSpc>
                <a:spcPct val="95000"/>
              </a:lnSpc>
            </a:pPr>
            <a:r>
              <a:rPr sz="1500" b="1">
                <a:solidFill>
                  <a:srgbClr val="A32638"/>
                </a:solidFill>
              </a:rPr>
              <a:t>Placebo gemessen statt angenommen</a:t>
            </a:r>
          </a:p>
          <a:p>
            <a:pPr algn="l">
              <a:lnSpc>
                <a:spcPct val="95000"/>
              </a:lnSpc>
              <a:spcBef>
                <a:spcPts val="500"/>
              </a:spcBef>
            </a:pPr>
            <a:r>
              <a:rPr sz="1300" b="0">
                <a:solidFill>
                  <a:srgbClr val="404040"/>
                </a:solidFill>
              </a:rPr>
              <a:t>alter default privileges … revoke execute on functions from public sollte künftige Funktionen automatisch schützen. Gegenprobe auf dieser Instanz: kein Eintrag in pg_default_acl, eine danach angelegte Testfunktion bekam trotzdem EXECUTE für PUBLIC.</a:t>
            </a:r>
          </a:p>
          <a:p>
            <a:pPr algn="l">
              <a:lnSpc>
                <a:spcPct val="95000"/>
              </a:lnSpc>
              <a:spcBef>
                <a:spcPts val="500"/>
              </a:spcBef>
            </a:pPr>
            <a:r>
              <a:rPr sz="1300" b="0">
                <a:solidFill>
                  <a:srgbClr val="404040"/>
                </a:solidFill>
              </a:rPr>
              <a:t>In einer gewöhnlichen PostgreSQL-Installation wirkt die Anweisung — hier nachweislich nicht. Deshalb bleibt das REVOKE oben die einzige Absicherung, und es muss nach jedem CREATE FUNCTION erneut laufen.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9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Die Warenwirtschaft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arbeitet mit Annas Fahrt, wenn sie längst bezahlt ist?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Zweite Anwendung, dasselbe Datenmodell</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Warenwirtschaft bekam kein eigenes Schema und keine eigene Datenbank. Sie legt Sichten und Funktionen über genau die Tabellen, die schon da waren.</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Kein zweites Schema</a:t>
            </a:r>
          </a:p>
          <a:p>
            <a:pPr algn="l">
              <a:lnSpc>
                <a:spcPct val="95000"/>
              </a:lnSpc>
              <a:spcBef>
                <a:spcPts val="500"/>
              </a:spcBef>
            </a:pPr>
            <a:r>
              <a:rPr sz="1300" b="0">
                <a:solidFill>
                  <a:srgbClr val="404040"/>
                </a:solidFill>
              </a:rPr>
              <a:t>37 Basistabellen legt der Aufbau an — für beide dieselben</a:t>
            </a:r>
          </a:p>
          <a:p>
            <a:pPr algn="l">
              <a:lnSpc>
                <a:spcPct val="95000"/>
              </a:lnSpc>
              <a:spcBef>
                <a:spcPts val="500"/>
              </a:spcBef>
            </a:pPr>
            <a:r>
              <a:rPr sz="1300" b="0">
                <a:solidFill>
                  <a:srgbClr val="404040"/>
                </a:solidFill>
              </a:rPr>
              <a:t>Eine Kundenadresse ist eine Kundenadresse</a:t>
            </a:r>
          </a:p>
          <a:p>
            <a:pPr algn="l">
              <a:lnSpc>
                <a:spcPct val="95000"/>
              </a:lnSpc>
              <a:spcBef>
                <a:spcPts val="500"/>
              </a:spcBef>
            </a:pPr>
            <a:r>
              <a:rPr sz="1300" b="0">
                <a:solidFill>
                  <a:srgbClr val="404040"/>
                </a:solidFill>
              </a:rPr>
              <a:t>Keine Kopie, die veralten könnte</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17 Sichten, 14 Funktionen</a:t>
            </a:r>
          </a:p>
          <a:p>
            <a:pPr algn="l">
              <a:lnSpc>
                <a:spcPct val="95000"/>
              </a:lnSpc>
              <a:spcBef>
                <a:spcPts val="500"/>
              </a:spcBef>
            </a:pPr>
            <a:r>
              <a:rPr sz="1300" b="0">
                <a:solidFill>
                  <a:srgbClr val="404040"/>
                </a:solidFill>
              </a:rPr>
              <a:t>Gelesen wird über v_wawi_…</a:t>
            </a:r>
          </a:p>
          <a:p>
            <a:pPr algn="l">
              <a:lnSpc>
                <a:spcPct val="95000"/>
              </a:lnSpc>
              <a:spcBef>
                <a:spcPts val="500"/>
              </a:spcBef>
            </a:pPr>
            <a:r>
              <a:rPr sz="1300" b="0">
                <a:solidFill>
                  <a:srgbClr val="404040"/>
                </a:solidFill>
              </a:rPr>
              <a:t>Geschrieben über api_…</a:t>
            </a:r>
          </a:p>
          <a:p>
            <a:pPr algn="l">
              <a:lnSpc>
                <a:spcPct val="95000"/>
              </a:lnSpc>
              <a:spcBef>
                <a:spcPts val="500"/>
              </a:spcBef>
            </a:pPr>
            <a:r>
              <a:rPr sz="1300" b="0">
                <a:solidFill>
                  <a:srgbClr val="404040"/>
                </a:solidFill>
              </a:rPr>
              <a:t>Fünf weitere api_ dienen der Website</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Fünf Rollen</a:t>
            </a:r>
          </a:p>
          <a:p>
            <a:pPr algn="l">
              <a:lnSpc>
                <a:spcPct val="95000"/>
              </a:lnSpc>
              <a:spcBef>
                <a:spcPts val="500"/>
              </a:spcBef>
            </a:pPr>
            <a:r>
              <a:rPr sz="1300" b="0">
                <a:solidFill>
                  <a:srgbClr val="404040"/>
                </a:solidFill>
              </a:rPr>
              <a:t>leitung · disposition · werkstatt</a:t>
            </a:r>
          </a:p>
          <a:p>
            <a:pPr algn="l">
              <a:lnSpc>
                <a:spcPct val="95000"/>
              </a:lnSpc>
              <a:spcBef>
                <a:spcPts val="500"/>
              </a:spcBef>
            </a:pPr>
            <a:r>
              <a:rPr sz="1300" b="0">
                <a:solidFill>
                  <a:srgbClr val="404040"/>
                </a:solidFill>
              </a:rPr>
              <a:t>kundenservice · demo</a:t>
            </a:r>
          </a:p>
          <a:p>
            <a:pPr algn="l">
              <a:lnSpc>
                <a:spcPct val="95000"/>
              </a:lnSpc>
              <a:spcBef>
                <a:spcPts val="500"/>
              </a:spcBef>
            </a:pPr>
            <a:r>
              <a:rPr sz="1300" b="0">
                <a:solidFill>
                  <a:srgbClr val="404040"/>
                </a:solidFill>
              </a:rPr>
              <a:t>Die Rolle steht in der Datenbank</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steht in genau einer Zeile — die Werkstatt und die Leitung lesen dieselbe.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Fachrollen, vier Ausschnitte derselben Daten</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jemand sieht, entscheidet die Datenbank anhand seiner Rolle — nicht die Oberfläche. Ein verstecktes Menü ist kein Schutz.</a:t>
            </a:r>
          </a:p>
        </p:txBody>
      </p:sp>
      <p:sp>
        <p:nvSpPr>
          <p:cNvPr id="6" name="TextBox 5"/>
          <p:cNvSpPr txBox="1"/>
          <p:nvPr/>
        </p:nvSpPr>
        <p:spPr>
          <a:xfrm>
            <a:off x="45059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Leitung</a:t>
            </a:r>
          </a:p>
        </p:txBody>
      </p:sp>
      <p:sp>
        <p:nvSpPr>
          <p:cNvPr id="7" name="TextBox 6"/>
          <p:cNvSpPr txBox="1"/>
          <p:nvPr/>
        </p:nvSpPr>
        <p:spPr>
          <a:xfrm>
            <a:off x="5623560"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Dispo</a:t>
            </a:r>
          </a:p>
        </p:txBody>
      </p:sp>
      <p:sp>
        <p:nvSpPr>
          <p:cNvPr id="8" name="TextBox 7"/>
          <p:cNvSpPr txBox="1"/>
          <p:nvPr/>
        </p:nvSpPr>
        <p:spPr>
          <a:xfrm>
            <a:off x="67411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Werkstatt</a:t>
            </a:r>
          </a:p>
        </p:txBody>
      </p:sp>
      <p:sp>
        <p:nvSpPr>
          <p:cNvPr id="9" name="TextBox 8"/>
          <p:cNvSpPr txBox="1"/>
          <p:nvPr/>
        </p:nvSpPr>
        <p:spPr>
          <a:xfrm>
            <a:off x="7858759" y="1981200"/>
            <a:ext cx="990600" cy="304800"/>
          </a:xfrm>
          <a:prstGeom prst="rect">
            <a:avLst/>
          </a:prstGeom>
          <a:noFill/>
        </p:spPr>
        <p:txBody>
          <a:bodyPr wrap="square" lIns="0" tIns="0" rIns="0" bIns="0">
            <a:spAutoFit/>
          </a:bodyPr>
          <a:lstStyle/>
          <a:p>
            <a:pPr algn="ctr">
              <a:lnSpc>
                <a:spcPct val="95000"/>
              </a:lnSpc>
            </a:pPr>
            <a:r>
              <a:rPr sz="1300" b="1">
                <a:solidFill>
                  <a:srgbClr val="555148"/>
                </a:solidFill>
              </a:rPr>
              <a:t>Service</a:t>
            </a:r>
          </a:p>
        </p:txBody>
      </p:sp>
      <p:sp>
        <p:nvSpPr>
          <p:cNvPr id="10" name="Rectangle 9"/>
          <p:cNvSpPr/>
          <p:nvPr/>
        </p:nvSpPr>
        <p:spPr>
          <a:xfrm>
            <a:off x="1153160" y="2311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311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2374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Flotte, einzelne Räder</a:t>
            </a:r>
          </a:p>
        </p:txBody>
      </p:sp>
      <p:sp>
        <p:nvSpPr>
          <p:cNvPr id="13" name="Rounded Rectangle 12"/>
          <p:cNvSpPr/>
          <p:nvPr/>
        </p:nvSpPr>
        <p:spPr>
          <a:xfrm>
            <a:off x="45059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5623560"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Rounded Rectangle 14"/>
          <p:cNvSpPr/>
          <p:nvPr/>
        </p:nvSpPr>
        <p:spPr>
          <a:xfrm>
            <a:off x="6741159" y="23876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Rounded Rectangle 15"/>
          <p:cNvSpPr/>
          <p:nvPr/>
        </p:nvSpPr>
        <p:spPr>
          <a:xfrm>
            <a:off x="7858759" y="2387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7" name="TextBox 16"/>
          <p:cNvSpPr txBox="1"/>
          <p:nvPr/>
        </p:nvSpPr>
        <p:spPr>
          <a:xfrm>
            <a:off x="9052560" y="2374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v_wawi_flotte</a:t>
            </a:r>
          </a:p>
        </p:txBody>
      </p:sp>
      <p:sp>
        <p:nvSpPr>
          <p:cNvPr id="18" name="Rectangle 17"/>
          <p:cNvSpPr/>
          <p:nvPr/>
        </p:nvSpPr>
        <p:spPr>
          <a:xfrm>
            <a:off x="1153160" y="28956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28956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29591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Stationen und Belegung</a:t>
            </a:r>
          </a:p>
        </p:txBody>
      </p:sp>
      <p:sp>
        <p:nvSpPr>
          <p:cNvPr id="21" name="Rounded Rectangle 20"/>
          <p:cNvSpPr/>
          <p:nvPr/>
        </p:nvSpPr>
        <p:spPr>
          <a:xfrm>
            <a:off x="45059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Rounded Rectangle 21"/>
          <p:cNvSpPr/>
          <p:nvPr/>
        </p:nvSpPr>
        <p:spPr>
          <a:xfrm>
            <a:off x="5623560" y="29718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3" name="Rounded Rectangle 22"/>
          <p:cNvSpPr/>
          <p:nvPr/>
        </p:nvSpPr>
        <p:spPr>
          <a:xfrm>
            <a:off x="67411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4" name="Rounded Rectangle 23"/>
          <p:cNvSpPr/>
          <p:nvPr/>
        </p:nvSpPr>
        <p:spPr>
          <a:xfrm>
            <a:off x="7858759" y="29718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5" name="TextBox 24"/>
          <p:cNvSpPr txBox="1"/>
          <p:nvPr/>
        </p:nvSpPr>
        <p:spPr>
          <a:xfrm>
            <a:off x="9052560" y="29591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v_wawi_station</a:t>
            </a:r>
          </a:p>
        </p:txBody>
      </p:sp>
      <p:sp>
        <p:nvSpPr>
          <p:cNvPr id="26" name="Rectangle 25"/>
          <p:cNvSpPr/>
          <p:nvPr/>
        </p:nvSpPr>
        <p:spPr>
          <a:xfrm>
            <a:off x="1153160" y="34798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34798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35433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Kundschaft, Stammdaten</a:t>
            </a:r>
          </a:p>
        </p:txBody>
      </p:sp>
      <p:sp>
        <p:nvSpPr>
          <p:cNvPr id="29" name="Rounded Rectangle 28"/>
          <p:cNvSpPr/>
          <p:nvPr/>
        </p:nvSpPr>
        <p:spPr>
          <a:xfrm>
            <a:off x="4505960"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0" name="Rounded Rectangle 29"/>
          <p:cNvSpPr/>
          <p:nvPr/>
        </p:nvSpPr>
        <p:spPr>
          <a:xfrm>
            <a:off x="5623560"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Rounded Rectangle 30"/>
          <p:cNvSpPr/>
          <p:nvPr/>
        </p:nvSpPr>
        <p:spPr>
          <a:xfrm>
            <a:off x="6741159" y="35560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2" name="Rounded Rectangle 31"/>
          <p:cNvSpPr/>
          <p:nvPr/>
        </p:nvSpPr>
        <p:spPr>
          <a:xfrm>
            <a:off x="7858759" y="35560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3" name="TextBox 32"/>
          <p:cNvSpPr txBox="1"/>
          <p:nvPr/>
        </p:nvSpPr>
        <p:spPr>
          <a:xfrm>
            <a:off x="9052560" y="35433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v_wawi_kunde, api_kunde_…</a:t>
            </a:r>
          </a:p>
        </p:txBody>
      </p:sp>
      <p:sp>
        <p:nvSpPr>
          <p:cNvPr id="34" name="Rectangle 33"/>
          <p:cNvSpPr/>
          <p:nvPr/>
        </p:nvSpPr>
        <p:spPr>
          <a:xfrm>
            <a:off x="1153160" y="40640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40640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356360" y="41275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Schäden und Aufträge</a:t>
            </a:r>
          </a:p>
        </p:txBody>
      </p:sp>
      <p:sp>
        <p:nvSpPr>
          <p:cNvPr id="37" name="Rounded Rectangle 36"/>
          <p:cNvSpPr/>
          <p:nvPr/>
        </p:nvSpPr>
        <p:spPr>
          <a:xfrm>
            <a:off x="4505960"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8" name="Rounded Rectangle 37"/>
          <p:cNvSpPr/>
          <p:nvPr/>
        </p:nvSpPr>
        <p:spPr>
          <a:xfrm>
            <a:off x="5623560"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9" name="Rounded Rectangle 38"/>
          <p:cNvSpPr/>
          <p:nvPr/>
        </p:nvSpPr>
        <p:spPr>
          <a:xfrm>
            <a:off x="6741159" y="41402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0" name="Rounded Rectangle 39"/>
          <p:cNvSpPr/>
          <p:nvPr/>
        </p:nvSpPr>
        <p:spPr>
          <a:xfrm>
            <a:off x="7858759" y="41402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1" name="TextBox 40"/>
          <p:cNvSpPr txBox="1"/>
          <p:nvPr/>
        </p:nvSpPr>
        <p:spPr>
          <a:xfrm>
            <a:off x="9052560" y="41275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v_wawi_schaden, v_wawi_auftrag</a:t>
            </a:r>
          </a:p>
        </p:txBody>
      </p:sp>
      <p:sp>
        <p:nvSpPr>
          <p:cNvPr id="42" name="Rectangle 41"/>
          <p:cNvSpPr/>
          <p:nvPr/>
        </p:nvSpPr>
        <p:spPr>
          <a:xfrm>
            <a:off x="1153160" y="46482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53160" y="46482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356360" y="47117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Umsatz und Kennzahlen</a:t>
            </a:r>
          </a:p>
        </p:txBody>
      </p:sp>
      <p:sp>
        <p:nvSpPr>
          <p:cNvPr id="45" name="Rounded Rectangle 44"/>
          <p:cNvSpPr/>
          <p:nvPr/>
        </p:nvSpPr>
        <p:spPr>
          <a:xfrm>
            <a:off x="4505960" y="4724400"/>
            <a:ext cx="9906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6" name="Rounded Rectangle 45"/>
          <p:cNvSpPr/>
          <p:nvPr/>
        </p:nvSpPr>
        <p:spPr>
          <a:xfrm>
            <a:off x="5623560"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7" name="Rounded Rectangle 46"/>
          <p:cNvSpPr/>
          <p:nvPr/>
        </p:nvSpPr>
        <p:spPr>
          <a:xfrm>
            <a:off x="67411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8" name="Rounded Rectangle 47"/>
          <p:cNvSpPr/>
          <p:nvPr/>
        </p:nvSpPr>
        <p:spPr>
          <a:xfrm>
            <a:off x="7858759" y="47244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49" name="TextBox 48"/>
          <p:cNvSpPr txBox="1"/>
          <p:nvPr/>
        </p:nvSpPr>
        <p:spPr>
          <a:xfrm>
            <a:off x="9052560" y="47117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v_wawi_umsatz_…, v_wawi_km_co2</a:t>
            </a:r>
          </a:p>
        </p:txBody>
      </p:sp>
      <p:sp>
        <p:nvSpPr>
          <p:cNvPr id="50" name="Rectangle 49"/>
          <p:cNvSpPr/>
          <p:nvPr/>
        </p:nvSpPr>
        <p:spPr>
          <a:xfrm>
            <a:off x="1153160" y="5232400"/>
            <a:ext cx="11474450"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Rectangle 50"/>
          <p:cNvSpPr/>
          <p:nvPr/>
        </p:nvSpPr>
        <p:spPr>
          <a:xfrm>
            <a:off x="1153160" y="5232400"/>
            <a:ext cx="508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1356360" y="5295900"/>
            <a:ext cx="2921000" cy="381000"/>
          </a:xfrm>
          <a:prstGeom prst="rect">
            <a:avLst/>
          </a:prstGeom>
          <a:noFill/>
        </p:spPr>
        <p:txBody>
          <a:bodyPr wrap="square" lIns="0" tIns="0" rIns="0" bIns="0" anchor="ctr">
            <a:spAutoFit/>
          </a:bodyPr>
          <a:lstStyle/>
          <a:p>
            <a:pPr algn="l">
              <a:lnSpc>
                <a:spcPct val="95000"/>
              </a:lnSpc>
            </a:pPr>
            <a:r>
              <a:rPr sz="1300" b="1">
                <a:solidFill>
                  <a:srgbClr val="003E6E"/>
                </a:solidFill>
              </a:rPr>
              <a:t>Einzelfahrten mit Ort</a:t>
            </a:r>
          </a:p>
        </p:txBody>
      </p:sp>
      <p:sp>
        <p:nvSpPr>
          <p:cNvPr id="53" name="Rounded Rectangle 52"/>
          <p:cNvSpPr/>
          <p:nvPr/>
        </p:nvSpPr>
        <p:spPr>
          <a:xfrm>
            <a:off x="45059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4" name="Rounded Rectangle 53"/>
          <p:cNvSpPr/>
          <p:nvPr/>
        </p:nvSpPr>
        <p:spPr>
          <a:xfrm>
            <a:off x="5623560"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5" name="Rounded Rectangle 54"/>
          <p:cNvSpPr/>
          <p:nvPr/>
        </p:nvSpPr>
        <p:spPr>
          <a:xfrm>
            <a:off x="67411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6" name="Rounded Rectangle 55"/>
          <p:cNvSpPr/>
          <p:nvPr/>
        </p:nvSpPr>
        <p:spPr>
          <a:xfrm>
            <a:off x="7858759" y="5308600"/>
            <a:ext cx="9906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57" name="TextBox 56"/>
          <p:cNvSpPr txBox="1"/>
          <p:nvPr/>
        </p:nvSpPr>
        <p:spPr>
          <a:xfrm>
            <a:off x="9052560" y="5295900"/>
            <a:ext cx="3448050" cy="381000"/>
          </a:xfrm>
          <a:prstGeom prst="rect">
            <a:avLst/>
          </a:prstGeom>
          <a:noFill/>
        </p:spPr>
        <p:txBody>
          <a:bodyPr wrap="square" lIns="0" tIns="0" rIns="0" bIns="0" anchor="ctr">
            <a:spAutoFit/>
          </a:bodyPr>
          <a:lstStyle/>
          <a:p>
            <a:pPr algn="l">
              <a:lnSpc>
                <a:spcPct val="95000"/>
              </a:lnSpc>
            </a:pPr>
            <a:r>
              <a:rPr sz="1300" b="0">
                <a:solidFill>
                  <a:srgbClr val="555148"/>
                </a:solidFill>
              </a:rPr>
              <a:t>v_wawi_fahrt_km: für niemanden freigegeben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Arten von Sicht — und woran man sie erkennt</a:t>
            </a:r>
          </a:p>
        </p:txBody>
      </p:sp>
      <p:sp>
        <p:nvSpPr>
          <p:cNvPr id="3" name="Text Placeholder 2"/>
          <p:cNvSpPr>
            <a:spLocks noGrp="1"/>
          </p:cNvSpPr>
          <p:nvPr>
            <p:ph type="body" idx="12" sz="quarter"/>
          </p:nvPr>
        </p:nvSpPr>
        <p:spPr/>
        <p:txBody>
          <a:bodyPr/>
          <a:lstStyle/>
          <a:p>
            <a:r>
              <a:t>9 · Die Warenwirtschaft</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Korn einer Sicht ist die Antwort auf die Frage: Wofür steht eine Zeile? Es unterscheidet die beiden Arten — und wer es vermischt, baut Sichten, die für beides zu langsam und für beides zu ungenau sind.</a:t>
            </a:r>
          </a:p>
        </p:txBody>
      </p:sp>
      <p:sp>
        <p:nvSpPr>
          <p:cNvPr id="6" name="Rectangle 5"/>
          <p:cNvSpPr/>
          <p:nvPr/>
        </p:nvSpPr>
        <p:spPr>
          <a:xfrm>
            <a:off x="1153160"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317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946400"/>
          </a:xfrm>
          <a:prstGeom prst="rect">
            <a:avLst/>
          </a:prstGeom>
          <a:noFill/>
        </p:spPr>
        <p:txBody>
          <a:bodyPr wrap="square" lIns="0" tIns="0" rIns="0" bIns="0">
            <a:spAutoFit/>
          </a:bodyPr>
          <a:lstStyle/>
          <a:p>
            <a:pPr algn="l">
              <a:lnSpc>
                <a:spcPct val="95000"/>
              </a:lnSpc>
            </a:pPr>
            <a:r>
              <a:rPr sz="1400" b="1">
                <a:solidFill>
                  <a:srgbClr val="003E6E"/>
                </a:solidFill>
              </a:rPr>
              <a:t>Arbeitssicht — ein Ding je Zeile</a:t>
            </a:r>
          </a:p>
          <a:p>
            <a:pPr algn="l">
              <a:lnSpc>
                <a:spcPct val="95000"/>
              </a:lnSpc>
              <a:spcBef>
                <a:spcPts val="200"/>
              </a:spcBef>
            </a:pPr>
            <a:r>
              <a:rPr sz="1300" b="0">
                <a:solidFill>
                  <a:srgbClr val="404040"/>
                </a:solidFill>
                <a:latin typeface="Consolas"/>
              </a:rPr>
              <a:t>v_wawi_flotte      ein Rad</a:t>
            </a:r>
          </a:p>
          <a:p>
            <a:pPr algn="l">
              <a:lnSpc>
                <a:spcPct val="95000"/>
              </a:lnSpc>
              <a:spcBef>
                <a:spcPts val="200"/>
              </a:spcBef>
            </a:pPr>
            <a:r>
              <a:rPr sz="1300" b="0">
                <a:solidFill>
                  <a:srgbClr val="404040"/>
                </a:solidFill>
                <a:latin typeface="Consolas"/>
              </a:rPr>
              <a:t>v_wawi_kunde       ein Kunde</a:t>
            </a:r>
          </a:p>
          <a:p>
            <a:pPr algn="l">
              <a:lnSpc>
                <a:spcPct val="95000"/>
              </a:lnSpc>
              <a:spcBef>
                <a:spcPts val="200"/>
              </a:spcBef>
            </a:pPr>
            <a:r>
              <a:rPr sz="1300" b="0">
                <a:solidFill>
                  <a:srgbClr val="404040"/>
                </a:solidFill>
                <a:latin typeface="Consolas"/>
              </a:rPr>
              <a:t>v_wawi_station     eine Station</a:t>
            </a:r>
          </a:p>
          <a:p>
            <a:pPr algn="l">
              <a:lnSpc>
                <a:spcPct val="95000"/>
              </a:lnSpc>
              <a:spcBef>
                <a:spcPts val="200"/>
              </a:spcBef>
            </a:pPr>
            <a:r>
              <a:rPr sz="1300" b="0">
                <a:solidFill>
                  <a:srgbClr val="404040"/>
                </a:solidFill>
                <a:latin typeface="Consolas"/>
              </a:rPr>
              <a:t>v_wawi_schaden     eine Meldung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das Objekt selbst</a:t>
            </a:r>
          </a:p>
          <a:p>
            <a:pPr algn="l">
              <a:lnSpc>
                <a:spcPct val="95000"/>
              </a:lnSpc>
              <a:spcBef>
                <a:spcPts val="200"/>
              </a:spcBef>
            </a:pPr>
            <a:r>
              <a:rPr sz="1300" b="0">
                <a:solidFill>
                  <a:srgbClr val="404040"/>
                </a:solidFill>
                <a:latin typeface="Consolas"/>
              </a:rPr>
              <a:t>Zweck:  suchen, öffnen, ändern</a:t>
            </a:r>
          </a:p>
          <a:p>
            <a:pPr algn="l">
              <a:lnSpc>
                <a:spcPct val="95000"/>
              </a:lnSpc>
              <a:spcBef>
                <a:spcPts val="200"/>
              </a:spcBef>
            </a:pPr>
            <a:r>
              <a:rPr sz="1300" b="0">
                <a:solidFill>
                  <a:srgbClr val="404040"/>
                </a:solidFill>
                <a:latin typeface="Consolas"/>
              </a:rPr>
              <a:t>Frage:  Wo steht Rad CB-00035?</a:t>
            </a:r>
          </a:p>
        </p:txBody>
      </p:sp>
      <p:sp>
        <p:nvSpPr>
          <p:cNvPr id="9" name="Rectangle 8"/>
          <p:cNvSpPr/>
          <p:nvPr/>
        </p:nvSpPr>
        <p:spPr>
          <a:xfrm>
            <a:off x="7096759" y="2311400"/>
            <a:ext cx="5524500" cy="317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3175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946400"/>
          </a:xfrm>
          <a:prstGeom prst="rect">
            <a:avLst/>
          </a:prstGeom>
          <a:noFill/>
        </p:spPr>
        <p:txBody>
          <a:bodyPr wrap="square" lIns="0" tIns="0" rIns="0" bIns="0">
            <a:spAutoFit/>
          </a:bodyPr>
          <a:lstStyle/>
          <a:p>
            <a:pPr algn="l">
              <a:lnSpc>
                <a:spcPct val="95000"/>
              </a:lnSpc>
            </a:pPr>
            <a:r>
              <a:rPr sz="1400" b="1">
                <a:solidFill>
                  <a:srgbClr val="55801C"/>
                </a:solidFill>
              </a:rPr>
              <a:t>Auswertungssicht — eine Gruppe je Zeile</a:t>
            </a:r>
          </a:p>
          <a:p>
            <a:pPr algn="l">
              <a:lnSpc>
                <a:spcPct val="95000"/>
              </a:lnSpc>
              <a:spcBef>
                <a:spcPts val="200"/>
              </a:spcBef>
            </a:pPr>
            <a:r>
              <a:rPr sz="1300" b="0">
                <a:solidFill>
                  <a:srgbClr val="404040"/>
                </a:solidFill>
                <a:latin typeface="Consolas"/>
              </a:rPr>
              <a:t>v_wawi_umsatz_radtyp     Monat × Typ</a:t>
            </a:r>
          </a:p>
          <a:p>
            <a:pPr algn="l">
              <a:lnSpc>
                <a:spcPct val="95000"/>
              </a:lnSpc>
              <a:spcBef>
                <a:spcPts val="200"/>
              </a:spcBef>
            </a:pPr>
            <a:r>
              <a:rPr sz="1300" b="0">
                <a:solidFill>
                  <a:srgbClr val="404040"/>
                </a:solidFill>
                <a:latin typeface="Consolas"/>
              </a:rPr>
              <a:t>v_wawi_fahrten_je_tag    Tag × Typ</a:t>
            </a:r>
          </a:p>
          <a:p>
            <a:pPr algn="l">
              <a:lnSpc>
                <a:spcPct val="95000"/>
              </a:lnSpc>
              <a:spcBef>
                <a:spcPts val="200"/>
              </a:spcBef>
            </a:pPr>
            <a:r>
              <a:rPr sz="1300" b="0">
                <a:solidFill>
                  <a:srgbClr val="404040"/>
                </a:solidFill>
                <a:latin typeface="Consolas"/>
              </a:rPr>
              <a:t>v_wawi_km_co2            Monat × Typ</a:t>
            </a:r>
          </a:p>
          <a:p>
            <a:pPr algn="l">
              <a:lnSpc>
                <a:spcPct val="95000"/>
              </a:lnSpc>
              <a:spcBef>
                <a:spcPts val="200"/>
              </a:spcBef>
            </a:pPr>
            <a:r>
              <a:rPr sz="1300" b="0">
                <a:solidFill>
                  <a:srgbClr val="404040"/>
                </a:solidFill>
                <a:latin typeface="Consolas"/>
              </a:rPr>
              <a:t>v_wawi_stationsauslastung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Korn:   die Gruppierung</a:t>
            </a:r>
          </a:p>
          <a:p>
            <a:pPr algn="l">
              <a:lnSpc>
                <a:spcPct val="95000"/>
              </a:lnSpc>
              <a:spcBef>
                <a:spcPts val="200"/>
              </a:spcBef>
            </a:pPr>
            <a:r>
              <a:rPr sz="1300" b="0">
                <a:solidFill>
                  <a:srgbClr val="404040"/>
                </a:solidFill>
                <a:latin typeface="Consolas"/>
              </a:rPr>
              <a:t>Zweck:  vergleichen, entscheiden</a:t>
            </a:r>
          </a:p>
          <a:p>
            <a:pPr algn="l">
              <a:lnSpc>
                <a:spcPct val="95000"/>
              </a:lnSpc>
              <a:spcBef>
                <a:spcPts val="200"/>
              </a:spcBef>
            </a:pPr>
            <a:r>
              <a:rPr sz="1300" b="0">
                <a:solidFill>
                  <a:srgbClr val="404040"/>
                </a:solidFill>
                <a:latin typeface="Consolas"/>
              </a:rPr>
              <a:t>Frage:  Welcher Typ trägt den Umsatz?</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Das analytische Datenmodell</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Frage stellt die Leitung — und welche Zeile beantwortet sie?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Fakten sind Ereignisse, Dimensionen sind Fragen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Fakt ist etwas, das passiert ist und sich zählen lässt. Eine Dimension ist die Richtung, aus der jemand darauf schaut.</a:t>
            </a:r>
          </a:p>
        </p:txBody>
      </p:sp>
      <p:sp>
        <p:nvSpPr>
          <p:cNvPr id="6" name="Rectangle 5"/>
          <p:cNvSpPr/>
          <p:nvPr/>
        </p:nvSpPr>
        <p:spPr>
          <a:xfrm>
            <a:off x="4144740" y="1778000"/>
            <a:ext cx="5491289" cy="2692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stern.png"/>
          <p:cNvPicPr>
            <a:picLocks noChangeAspect="1"/>
          </p:cNvPicPr>
          <p:nvPr/>
        </p:nvPicPr>
        <p:blipFill>
          <a:blip r:embed="rId2"/>
          <a:stretch>
            <a:fillRect/>
          </a:stretch>
        </p:blipFill>
        <p:spPr>
          <a:xfrm>
            <a:off x="4246340" y="1879600"/>
            <a:ext cx="5288089" cy="2489200"/>
          </a:xfrm>
          <a:prstGeom prst="rect">
            <a:avLst/>
          </a:prstGeom>
        </p:spPr>
      </p:pic>
      <p:sp>
        <p:nvSpPr>
          <p:cNvPr id="8" name="Rectangle 7"/>
          <p:cNvSpPr/>
          <p:nvPr/>
        </p:nvSpPr>
        <p:spPr>
          <a:xfrm>
            <a:off x="1153160" y="44958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4958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6228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Keine dieser Dimensionen ist eine eigene Tabelle</a:t>
            </a:r>
          </a:p>
          <a:p>
            <a:pPr algn="l">
              <a:lnSpc>
                <a:spcPct val="95000"/>
              </a:lnSpc>
              <a:spcBef>
                <a:spcPts val="500"/>
              </a:spcBef>
            </a:pPr>
            <a:r>
              <a:rPr sz="1300" b="0">
                <a:solidFill>
                  <a:srgbClr val="404040"/>
                </a:solidFill>
              </a:rPr>
              <a:t>Zeit steckt in ausleihe.startzeit · Fahrradtyp in fahrrad → fahrradmodell · Station in start_station_id und end_station_id</a:t>
            </a:r>
          </a:p>
          <a:p>
            <a:pPr algn="l">
              <a:lnSpc>
                <a:spcPct val="95000"/>
              </a:lnSpc>
              <a:spcBef>
                <a:spcPts val="500"/>
              </a:spcBef>
            </a:pPr>
            <a:r>
              <a:rPr sz="1300" b="0">
                <a:solidFill>
                  <a:srgbClr val="404040"/>
                </a:solidFill>
              </a:rPr>
              <a:t>Tarifgruppe in kunde → mitgliedschaft → tarif · Wohnort in kunde → adresse. Die Warenwirtschaft benennt nur die Rollen und legt Sichten darüber.</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Faktenzeile — und taucht in jeder der vier Auswertungen auf.</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Auswertungen — und was sie tatsächlich messen</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Kennzahl braucht drei Angaben: woraus sie entsteht, worüber sie gruppiert und was sie NICHT sagt. Die dritte fehlt in der Praxis fast immer.</a:t>
            </a:r>
          </a:p>
        </p:txBody>
      </p:sp>
      <p:sp>
        <p:nvSpPr>
          <p:cNvPr id="6" name="Rectangle 5"/>
          <p:cNvSpPr/>
          <p:nvPr/>
        </p:nvSpPr>
        <p:spPr>
          <a:xfrm>
            <a:off x="1153160" y="2362200"/>
            <a:ext cx="29972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Auswertung</a:t>
            </a:r>
          </a:p>
        </p:txBody>
      </p:sp>
      <p:sp>
        <p:nvSpPr>
          <p:cNvPr id="7" name="Rectangle 6"/>
          <p:cNvSpPr/>
          <p:nvPr/>
        </p:nvSpPr>
        <p:spPr>
          <a:xfrm>
            <a:off x="4150360" y="2362200"/>
            <a:ext cx="14986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Maß</a:t>
            </a:r>
          </a:p>
        </p:txBody>
      </p:sp>
      <p:sp>
        <p:nvSpPr>
          <p:cNvPr id="8" name="Rectangle 7"/>
          <p:cNvSpPr/>
          <p:nvPr/>
        </p:nvSpPr>
        <p:spPr>
          <a:xfrm>
            <a:off x="5648960" y="2362200"/>
            <a:ext cx="2413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Gruppiert über</a:t>
            </a:r>
          </a:p>
        </p:txBody>
      </p:sp>
      <p:sp>
        <p:nvSpPr>
          <p:cNvPr id="9" name="Rectangle 8"/>
          <p:cNvSpPr/>
          <p:nvPr/>
        </p:nvSpPr>
        <p:spPr>
          <a:xfrm>
            <a:off x="8061959" y="2362200"/>
            <a:ext cx="45656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Sagt nichts über</a:t>
            </a:r>
          </a:p>
        </p:txBody>
      </p:sp>
      <p:sp>
        <p:nvSpPr>
          <p:cNvPr id="10" name="Rectangle 9"/>
          <p:cNvSpPr/>
          <p:nvPr/>
        </p:nvSpPr>
        <p:spPr>
          <a:xfrm>
            <a:off x="1153160" y="27940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Radtyp</a:t>
            </a:r>
          </a:p>
        </p:txBody>
      </p:sp>
      <p:sp>
        <p:nvSpPr>
          <p:cNvPr id="11" name="Rectangle 10"/>
          <p:cNvSpPr/>
          <p:nvPr/>
        </p:nvSpPr>
        <p:spPr>
          <a:xfrm>
            <a:off x="4150360" y="27940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2" name="Rectangle 11"/>
          <p:cNvSpPr/>
          <p:nvPr/>
        </p:nvSpPr>
        <p:spPr>
          <a:xfrm>
            <a:off x="5648960" y="27940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Fahrradtyp</a:t>
            </a:r>
          </a:p>
        </p:txBody>
      </p:sp>
      <p:sp>
        <p:nvSpPr>
          <p:cNvPr id="13" name="Rectangle 12"/>
          <p:cNvSpPr/>
          <p:nvPr/>
        </p:nvSpPr>
        <p:spPr>
          <a:xfrm>
            <a:off x="8061959" y="27940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 also nicht Gewinn</a:t>
            </a:r>
          </a:p>
        </p:txBody>
      </p:sp>
      <p:sp>
        <p:nvSpPr>
          <p:cNvPr id="14" name="Rectangle 13"/>
          <p:cNvSpPr/>
          <p:nvPr/>
        </p:nvSpPr>
        <p:spPr>
          <a:xfrm>
            <a:off x="1153160" y="32258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Umsatz nach Kundengruppe</a:t>
            </a:r>
          </a:p>
        </p:txBody>
      </p:sp>
      <p:sp>
        <p:nvSpPr>
          <p:cNvPr id="15" name="Rectangle 14"/>
          <p:cNvSpPr/>
          <p:nvPr/>
        </p:nvSpPr>
        <p:spPr>
          <a:xfrm>
            <a:off x="4150360" y="32258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betrag</a:t>
            </a:r>
          </a:p>
        </p:txBody>
      </p:sp>
      <p:sp>
        <p:nvSpPr>
          <p:cNvPr id="16" name="Rectangle 15"/>
          <p:cNvSpPr/>
          <p:nvPr/>
        </p:nvSpPr>
        <p:spPr>
          <a:xfrm>
            <a:off x="5648960" y="32258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Tarif</a:t>
            </a:r>
          </a:p>
        </p:txBody>
      </p:sp>
      <p:sp>
        <p:nvSpPr>
          <p:cNvPr id="17" name="Rectangle 16"/>
          <p:cNvSpPr/>
          <p:nvPr/>
        </p:nvSpPr>
        <p:spPr>
          <a:xfrm>
            <a:off x="8061959" y="32258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Kunden ohne Tarif</a:t>
            </a:r>
          </a:p>
        </p:txBody>
      </p:sp>
      <p:sp>
        <p:nvSpPr>
          <p:cNvPr id="18" name="Rectangle 17"/>
          <p:cNvSpPr/>
          <p:nvPr/>
        </p:nvSpPr>
        <p:spPr>
          <a:xfrm>
            <a:off x="1153160" y="3657600"/>
            <a:ext cx="29972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Kilometer und CO2</a:t>
            </a:r>
          </a:p>
        </p:txBody>
      </p:sp>
      <p:sp>
        <p:nvSpPr>
          <p:cNvPr id="19" name="Rectangle 18"/>
          <p:cNvSpPr/>
          <p:nvPr/>
        </p:nvSpPr>
        <p:spPr>
          <a:xfrm>
            <a:off x="4150360" y="3657600"/>
            <a:ext cx="14986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Σ kilometer</a:t>
            </a:r>
          </a:p>
        </p:txBody>
      </p:sp>
      <p:sp>
        <p:nvSpPr>
          <p:cNvPr id="20" name="Rectangle 19"/>
          <p:cNvSpPr/>
          <p:nvPr/>
        </p:nvSpPr>
        <p:spPr>
          <a:xfrm>
            <a:off x="5648960" y="3657600"/>
            <a:ext cx="2413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Monat × Typ</a:t>
            </a:r>
          </a:p>
        </p:txBody>
      </p:sp>
      <p:sp>
        <p:nvSpPr>
          <p:cNvPr id="21" name="Rectangle 20"/>
          <p:cNvSpPr/>
          <p:nvPr/>
        </p:nvSpPr>
        <p:spPr>
          <a:xfrm>
            <a:off x="8061959" y="3657600"/>
            <a:ext cx="45656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Strecken sind geschätzt</a:t>
            </a:r>
          </a:p>
        </p:txBody>
      </p:sp>
      <p:sp>
        <p:nvSpPr>
          <p:cNvPr id="22" name="Rectangle 21"/>
          <p:cNvSpPr/>
          <p:nvPr/>
        </p:nvSpPr>
        <p:spPr>
          <a:xfrm>
            <a:off x="1153160" y="4089400"/>
            <a:ext cx="29972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Stationsauslastung</a:t>
            </a:r>
          </a:p>
        </p:txBody>
      </p:sp>
      <p:sp>
        <p:nvSpPr>
          <p:cNvPr id="23" name="Rectangle 22"/>
          <p:cNvSpPr/>
          <p:nvPr/>
        </p:nvSpPr>
        <p:spPr>
          <a:xfrm>
            <a:off x="4150360" y="4089400"/>
            <a:ext cx="14986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Zu-/Abgang</a:t>
            </a:r>
          </a:p>
        </p:txBody>
      </p:sp>
      <p:sp>
        <p:nvSpPr>
          <p:cNvPr id="24" name="Rectangle 23"/>
          <p:cNvSpPr/>
          <p:nvPr/>
        </p:nvSpPr>
        <p:spPr>
          <a:xfrm>
            <a:off x="5648960" y="4089400"/>
            <a:ext cx="2413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Station</a:t>
            </a:r>
          </a:p>
        </p:txBody>
      </p:sp>
      <p:sp>
        <p:nvSpPr>
          <p:cNvPr id="25" name="Rectangle 24"/>
          <p:cNvSpPr/>
          <p:nvPr/>
        </p:nvSpPr>
        <p:spPr>
          <a:xfrm>
            <a:off x="8061959" y="4089400"/>
            <a:ext cx="45656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umgesetzt wurde</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vierte Spalte gehört auf jede Kennzahlenfolie. Eine Zahl ohne ihre Grenze wird als Antwort auf Fragen benutzt, die sie nicht beantwortet.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Monat bis zum einzelnen Rad in zwei Klicks</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Sichten, drei Körner. Jede Ebene beantwortet dieselbe Frage eine Stufe genauer — und jede ist eine eigene Sicht, nicht ein Filter auf derselben.</a:t>
            </a:r>
          </a:p>
        </p:txBody>
      </p:sp>
      <p:sp>
        <p:nvSpPr>
          <p:cNvPr id="6" name="Rectangle 5"/>
          <p:cNvSpPr/>
          <p:nvPr/>
        </p:nvSpPr>
        <p:spPr>
          <a:xfrm>
            <a:off x="1051560" y="1909251"/>
            <a:ext cx="11677649" cy="184569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analytik-drilldown.png"/>
          <p:cNvPicPr>
            <a:picLocks noChangeAspect="1"/>
          </p:cNvPicPr>
          <p:nvPr/>
        </p:nvPicPr>
        <p:blipFill>
          <a:blip r:embed="rId2"/>
          <a:stretch>
            <a:fillRect/>
          </a:stretch>
        </p:blipFill>
        <p:spPr>
          <a:xfrm>
            <a:off x="1153160" y="2010851"/>
            <a:ext cx="11474449" cy="1642496"/>
          </a:xfrm>
          <a:prstGeom prst="rect">
            <a:avLst/>
          </a:prstGeom>
        </p:spPr>
      </p:pic>
      <p:sp>
        <p:nvSpPr>
          <p:cNvPr id="8" name="Rectangle 7"/>
          <p:cNvSpPr/>
          <p:nvPr/>
        </p:nvSpPr>
        <p:spPr>
          <a:xfrm>
            <a:off x="1153160" y="40640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40640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41910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Warum drei Sichten und nicht eine mit Filter</a:t>
            </a:r>
          </a:p>
          <a:p>
            <a:pPr algn="l">
              <a:lnSpc>
                <a:spcPct val="95000"/>
              </a:lnSpc>
              <a:spcBef>
                <a:spcPts val="500"/>
              </a:spcBef>
            </a:pPr>
            <a:r>
              <a:rPr sz="1300" b="0">
                <a:solidFill>
                  <a:srgbClr val="404040"/>
                </a:solidFill>
              </a:rPr>
              <a:t>Eine Sicht hat genau ein Korn. Wer Monat, Tag und Rad in dieselbe Sicht legt, erzeugt Zeilen, die sich ohne doppeltes Zählen nicht mehr summieren lassen.</a:t>
            </a:r>
          </a:p>
        </p:txBody>
      </p:sp>
      <p:sp>
        <p:nvSpPr>
          <p:cNvPr id="11" name="Rectangle 10"/>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Zwei Klicks von „E-Bike, Oktober“ bis zu dem Rad, mit dem Anna gefahren ist.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Sichten statt Sternschema — und was das kostet</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eigenes Sternschema mit nächtlicher Beladung wäre der Lehrbuchweg. Für diesen Fall ist er falsch — aber nicht immer.</a:t>
            </a:r>
          </a:p>
        </p:txBody>
      </p:sp>
      <p:sp>
        <p:nvSpPr>
          <p:cNvPr id="6" name="Rectangle 5"/>
          <p:cNvSpPr/>
          <p:nvPr/>
        </p:nvSpPr>
        <p:spPr>
          <a:xfrm>
            <a:off x="1153160"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Sternschema mit Beladung</a:t>
            </a:r>
          </a:p>
          <a:p>
            <a:pPr algn="l">
              <a:lnSpc>
                <a:spcPct val="95000"/>
              </a:lnSpc>
              <a:spcBef>
                <a:spcPts val="500"/>
              </a:spcBef>
            </a:pPr>
            <a:r>
              <a:rPr sz="1300" b="0">
                <a:solidFill>
                  <a:srgbClr val="404040"/>
                </a:solidFill>
              </a:rPr>
              <a:t>Eigene Fakten- und Dimensionstabellen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Schnell auch bei sehr vielen Zeilen</a:t>
            </a:r>
          </a:p>
          <a:p>
            <a:pPr algn="l">
              <a:lnSpc>
                <a:spcPct val="95000"/>
              </a:lnSpc>
              <a:spcBef>
                <a:spcPts val="500"/>
              </a:spcBef>
            </a:pPr>
            <a:r>
              <a:rPr sz="1300" b="0">
                <a:solidFill>
                  <a:srgbClr val="404040"/>
                </a:solidFill>
              </a:rPr>
              <a:t>✓ Historie bleibt erhalten, wenn sich</a:t>
            </a:r>
          </a:p>
          <a:p>
            <a:pPr algn="l">
              <a:lnSpc>
                <a:spcPct val="95000"/>
              </a:lnSpc>
              <a:spcBef>
                <a:spcPts val="500"/>
              </a:spcBef>
            </a:pPr>
            <a:r>
              <a:rPr sz="1300" b="0">
                <a:solidFill>
                  <a:srgbClr val="404040"/>
                </a:solidFill>
              </a:rPr>
              <a:t>   Stammdaten später ändern</a:t>
            </a:r>
          </a:p>
          <a:p>
            <a:pPr algn="l">
              <a:lnSpc>
                <a:spcPct val="95000"/>
              </a:lnSpc>
              <a:spcBef>
                <a:spcPts val="500"/>
              </a:spcBef>
            </a:pPr>
            <a:r>
              <a:rPr sz="1300" b="0">
                <a:solidFill>
                  <a:srgbClr val="404040"/>
                </a:solidFill>
              </a:rPr>
              <a:t>× Zweite Kopie der Wahrheit</a:t>
            </a:r>
          </a:p>
          <a:p>
            <a:pPr algn="l">
              <a:lnSpc>
                <a:spcPct val="95000"/>
              </a:lnSpc>
              <a:spcBef>
                <a:spcPts val="500"/>
              </a:spcBef>
            </a:pPr>
            <a:r>
              <a:rPr sz="1300" b="0">
                <a:solidFill>
                  <a:srgbClr val="404040"/>
                </a:solidFill>
              </a:rPr>
              <a:t>× Beladung bauen und überwachen</a:t>
            </a:r>
          </a:p>
          <a:p>
            <a:pPr algn="l">
              <a:lnSpc>
                <a:spcPct val="95000"/>
              </a:lnSpc>
              <a:spcBef>
                <a:spcPts val="500"/>
              </a:spcBef>
            </a:pPr>
            <a:r>
              <a:rPr sz="1300" b="0">
                <a:solidFill>
                  <a:srgbClr val="404040"/>
                </a:solidFill>
              </a:rPr>
              <a:t>× Zahlen so alt wie der letzte Lauf</a:t>
            </a:r>
          </a:p>
        </p:txBody>
      </p:sp>
      <p:sp>
        <p:nvSpPr>
          <p:cNvPr id="9" name="Rectangle 8"/>
          <p:cNvSpPr/>
          <p:nvPr/>
        </p:nvSpPr>
        <p:spPr>
          <a:xfrm>
            <a:off x="7096759" y="2286000"/>
            <a:ext cx="5524500" cy="3022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86000"/>
            <a:ext cx="50800" cy="3022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13000"/>
            <a:ext cx="5194300" cy="2768600"/>
          </a:xfrm>
          <a:prstGeom prst="rect">
            <a:avLst/>
          </a:prstGeom>
          <a:noFill/>
        </p:spPr>
        <p:txBody>
          <a:bodyPr wrap="square" lIns="0" tIns="0" rIns="0" bIns="0">
            <a:spAutoFit/>
          </a:bodyPr>
          <a:lstStyle/>
          <a:p>
            <a:pPr algn="l">
              <a:lnSpc>
                <a:spcPct val="95000"/>
              </a:lnSpc>
            </a:pPr>
            <a:r>
              <a:rPr sz="1500" b="1">
                <a:solidFill>
                  <a:srgbClr val="003E6E"/>
                </a:solidFill>
              </a:rPr>
              <a:t>Sichten auf dem operativen Modell</a:t>
            </a:r>
          </a:p>
          <a:p>
            <a:pPr algn="l">
              <a:lnSpc>
                <a:spcPct val="95000"/>
              </a:lnSpc>
              <a:spcBef>
                <a:spcPts val="500"/>
              </a:spcBef>
            </a:pPr>
            <a:r>
              <a:rPr sz="1300" b="0">
                <a:solidFill>
                  <a:srgbClr val="404040"/>
                </a:solidFill>
              </a:rPr>
              <a:t>Was die Warenwirtschaft tut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 Keine Kopie, keine Beladung, kein Versatz</a:t>
            </a:r>
          </a:p>
          <a:p>
            <a:pPr algn="l">
              <a:lnSpc>
                <a:spcPct val="95000"/>
              </a:lnSpc>
              <a:spcBef>
                <a:spcPts val="500"/>
              </a:spcBef>
            </a:pPr>
            <a:r>
              <a:rPr sz="1300" b="0">
                <a:solidFill>
                  <a:srgbClr val="404040"/>
                </a:solidFill>
              </a:rPr>
              <a:t>✓ Jede Zahl so aktuell wie die Fahrt selbst</a:t>
            </a:r>
          </a:p>
          <a:p>
            <a:pPr algn="l">
              <a:lnSpc>
                <a:spcPct val="95000"/>
              </a:lnSpc>
              <a:spcBef>
                <a:spcPts val="500"/>
              </a:spcBef>
            </a:pPr>
            <a:r>
              <a:rPr sz="1300" b="0">
                <a:solidFill>
                  <a:srgbClr val="404040"/>
                </a:solidFill>
              </a:rPr>
              <a:t>✓ Eine Wahrheit, ein Schutzkonzept</a:t>
            </a:r>
          </a:p>
          <a:p>
            <a:pPr algn="l">
              <a:lnSpc>
                <a:spcPct val="95000"/>
              </a:lnSpc>
              <a:spcBef>
                <a:spcPts val="500"/>
              </a:spcBef>
            </a:pPr>
            <a:r>
              <a:rPr sz="1300" b="0">
                <a:solidFill>
                  <a:srgbClr val="404040"/>
                </a:solidFill>
              </a:rPr>
              <a:t>× Jede Abfrage rechnet neu</a:t>
            </a:r>
          </a:p>
          <a:p>
            <a:pPr algn="l">
              <a:lnSpc>
                <a:spcPct val="95000"/>
              </a:lnSpc>
              <a:spcBef>
                <a:spcPts val="500"/>
              </a:spcBef>
            </a:pPr>
            <a:r>
              <a:rPr sz="1300" b="0">
                <a:solidFill>
                  <a:srgbClr val="404040"/>
                </a:solidFill>
              </a:rPr>
              <a:t>× Bei 12 269 Ausleihen unkritisch,</a:t>
            </a:r>
          </a:p>
          <a:p>
            <a:pPr algn="l">
              <a:lnSpc>
                <a:spcPct val="95000"/>
              </a:lnSpc>
              <a:spcBef>
                <a:spcPts val="500"/>
              </a:spcBef>
            </a:pPr>
            <a:r>
              <a:rPr sz="1300" b="0">
                <a:solidFill>
                  <a:srgbClr val="404040"/>
                </a:solidFill>
              </a:rPr>
              <a:t>   bei Millionen nicht mehr</a:t>
            </a:r>
          </a:p>
        </p:txBody>
      </p:sp>
      <p:sp>
        <p:nvSpPr>
          <p:cNvPr id="12" name="Rectangle 11"/>
          <p:cNvSpPr/>
          <p:nvPr/>
        </p:nvSpPr>
        <p:spPr>
          <a:xfrm>
            <a:off x="1153160" y="5384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461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Keine Spalte ist die richtige. Die Wahl hängt an Datenmenge und geforderter Aktualität — und dreht sich um, wenn eine davon sich ändert.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eine Stelle, an der geschätzt wird</a:t>
            </a:r>
          </a:p>
        </p:txBody>
      </p:sp>
      <p:sp>
        <p:nvSpPr>
          <p:cNvPr id="3" name="Text Placeholder 2"/>
          <p:cNvSpPr>
            <a:spLocks noGrp="1"/>
          </p:cNvSpPr>
          <p:nvPr>
            <p:ph type="body" idx="12" sz="quarter"/>
          </p:nvPr>
        </p:nvSpPr>
        <p:spPr/>
        <p:txBody>
          <a:bodyPr/>
          <a:lstStyle/>
          <a:p>
            <a:r>
              <a:t>10 · Analytisches Modell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Datenbank kennt Start und Ziel, aber nicht den gefahrenen Weg. Für Kilometer und CO2 muss geschätzt werden — und genau das steht in den Daten.</a:t>
            </a:r>
          </a:p>
        </p:txBody>
      </p:sp>
      <p:sp>
        <p:nvSpPr>
          <p:cNvPr id="6" name="Rectangle 5"/>
          <p:cNvSpPr/>
          <p:nvPr/>
        </p:nvSpPr>
        <p:spPr>
          <a:xfrm>
            <a:off x="1153160"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294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25700"/>
            <a:ext cx="5194300" cy="2717800"/>
          </a:xfrm>
          <a:prstGeom prst="rect">
            <a:avLst/>
          </a:prstGeom>
          <a:noFill/>
        </p:spPr>
        <p:txBody>
          <a:bodyPr wrap="square" lIns="0" tIns="0" rIns="0" bIns="0">
            <a:spAutoFit/>
          </a:bodyPr>
          <a:lstStyle/>
          <a:p>
            <a:pPr algn="l">
              <a:lnSpc>
                <a:spcPct val="95000"/>
              </a:lnSpc>
            </a:pPr>
            <a:r>
              <a:rPr sz="1400" b="1">
                <a:solidFill>
                  <a:srgbClr val="003E6E"/>
                </a:solidFill>
              </a:rPr>
              <a:t>Was gemessen ist</a:t>
            </a:r>
          </a:p>
          <a:p>
            <a:pPr algn="l">
              <a:lnSpc>
                <a:spcPct val="95000"/>
              </a:lnSpc>
              <a:spcBef>
                <a:spcPts val="200"/>
              </a:spcBef>
            </a:pPr>
            <a:r>
              <a:rPr sz="1300" b="0">
                <a:solidFill>
                  <a:srgbClr val="404040"/>
                </a:solidFill>
                <a:latin typeface="Consolas"/>
              </a:rPr>
              <a:t>ausleihe.startzeit    Zeitstempel</a:t>
            </a:r>
          </a:p>
          <a:p>
            <a:pPr algn="l">
              <a:lnSpc>
                <a:spcPct val="95000"/>
              </a:lnSpc>
              <a:spcBef>
                <a:spcPts val="200"/>
              </a:spcBef>
            </a:pPr>
            <a:r>
              <a:rPr sz="1300" b="0">
                <a:solidFill>
                  <a:srgbClr val="404040"/>
                </a:solidFill>
                <a:latin typeface="Consolas"/>
              </a:rPr>
              <a:t>ausleihe.endzeit      Zeitstempel</a:t>
            </a:r>
          </a:p>
          <a:p>
            <a:pPr algn="l">
              <a:lnSpc>
                <a:spcPct val="95000"/>
              </a:lnSpc>
              <a:spcBef>
                <a:spcPts val="200"/>
              </a:spcBef>
            </a:pPr>
            <a:r>
              <a:rPr sz="1300" b="0">
                <a:solidFill>
                  <a:srgbClr val="404040"/>
                </a:solidFill>
                <a:latin typeface="Consolas"/>
              </a:rPr>
              <a:t>ausleihe.dauer_minuten  gerechnet</a:t>
            </a:r>
          </a:p>
          <a:p>
            <a:pPr algn="l">
              <a:lnSpc>
                <a:spcPct val="95000"/>
              </a:lnSpc>
              <a:spcBef>
                <a:spcPts val="200"/>
              </a:spcBef>
            </a:pPr>
            <a:r>
              <a:rPr sz="1300" b="0">
                <a:solidFill>
                  <a:srgbClr val="404040"/>
                </a:solidFill>
                <a:latin typeface="Consolas"/>
              </a:rPr>
              <a:t>entgeltposition.betrag  gebucht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Diese Werte sind Belege.</a:t>
            </a:r>
          </a:p>
          <a:p>
            <a:pPr algn="l">
              <a:lnSpc>
                <a:spcPct val="95000"/>
              </a:lnSpc>
              <a:spcBef>
                <a:spcPts val="200"/>
              </a:spcBef>
            </a:pPr>
            <a:r>
              <a:rPr sz="1300" b="0">
                <a:solidFill>
                  <a:srgbClr val="404040"/>
                </a:solidFill>
                <a:latin typeface="Consolas"/>
              </a:rPr>
              <a:t>Sie stammen aus dem Vorgang selbst.</a:t>
            </a:r>
          </a:p>
        </p:txBody>
      </p:sp>
      <p:sp>
        <p:nvSpPr>
          <p:cNvPr id="9" name="Rectangle 8"/>
          <p:cNvSpPr/>
          <p:nvPr/>
        </p:nvSpPr>
        <p:spPr>
          <a:xfrm>
            <a:off x="7096759" y="2311400"/>
            <a:ext cx="5524500" cy="2946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311400"/>
            <a:ext cx="50800" cy="29464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425700"/>
            <a:ext cx="5194300" cy="2717800"/>
          </a:xfrm>
          <a:prstGeom prst="rect">
            <a:avLst/>
          </a:prstGeom>
          <a:noFill/>
        </p:spPr>
        <p:txBody>
          <a:bodyPr wrap="square" lIns="0" tIns="0" rIns="0" bIns="0">
            <a:spAutoFit/>
          </a:bodyPr>
          <a:lstStyle/>
          <a:p>
            <a:pPr algn="l">
              <a:lnSpc>
                <a:spcPct val="95000"/>
              </a:lnSpc>
            </a:pPr>
            <a:r>
              <a:rPr sz="1400" b="1">
                <a:solidFill>
                  <a:srgbClr val="A32638"/>
                </a:solidFill>
              </a:rPr>
              <a:t>Was geschätzt ist</a:t>
            </a:r>
          </a:p>
          <a:p>
            <a:pPr algn="l">
              <a:lnSpc>
                <a:spcPct val="95000"/>
              </a:lnSpc>
              <a:spcBef>
                <a:spcPts val="200"/>
              </a:spcBef>
            </a:pPr>
            <a:r>
              <a:rPr sz="1300" b="0">
                <a:solidFill>
                  <a:srgbClr val="404040"/>
                </a:solidFill>
                <a:latin typeface="Consolas"/>
              </a:rPr>
              <a:t>v_wawi_fahrt_km</a:t>
            </a:r>
          </a:p>
          <a:p>
            <a:pPr algn="l">
              <a:lnSpc>
                <a:spcPct val="95000"/>
              </a:lnSpc>
              <a:spcBef>
                <a:spcPts val="200"/>
              </a:spcBef>
            </a:pPr>
            <a:r>
              <a:rPr sz="1300" b="0">
                <a:solidFill>
                  <a:srgbClr val="404040"/>
                </a:solidFill>
                <a:latin typeface="Consolas"/>
              </a:rPr>
              <a:t>  km              Schätzwert</a:t>
            </a:r>
          </a:p>
          <a:p>
            <a:pPr algn="l">
              <a:lnSpc>
                <a:spcPct val="95000"/>
              </a:lnSpc>
              <a:spcBef>
                <a:spcPts val="200"/>
              </a:spcBef>
            </a:pPr>
            <a:r>
              <a:rPr sz="1300" b="0">
                <a:solidFill>
                  <a:srgbClr val="404040"/>
                </a:solidFill>
                <a:latin typeface="Consolas"/>
              </a:rPr>
              <a:t>  ist_geschaetzt  true / false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Luftlinie × Umwegfaktor,</a:t>
            </a:r>
          </a:p>
          <a:p>
            <a:pPr algn="l">
              <a:lnSpc>
                <a:spcPct val="95000"/>
              </a:lnSpc>
              <a:spcBef>
                <a:spcPts val="200"/>
              </a:spcBef>
            </a:pPr>
            <a:r>
              <a:rPr sz="1300" b="0">
                <a:solidFill>
                  <a:srgbClr val="404040"/>
                </a:solidFill>
                <a:latin typeface="Consolas"/>
              </a:rPr>
              <a:t>wenn keine Strecke aufgezeichnet ist.</a:t>
            </a:r>
          </a:p>
          <a:p>
            <a:pPr algn="l">
              <a:lnSpc>
                <a:spcPct val="95000"/>
              </a:lnSpc>
              <a:spcBef>
                <a:spcPts val="200"/>
              </a:spcBef>
            </a:pPr>
            <a:r>
              <a:rPr sz="1300" b="0">
                <a:solidFill>
                  <a:srgbClr val="404040"/>
                </a:solidFill>
                <a:latin typeface="Consolas"/>
              </a:rPr>
              <a:t>Die Spalte sagt, welcher Fall vorliegt.</a:t>
            </a:r>
          </a:p>
        </p:txBody>
      </p:sp>
      <p:sp>
        <p:nvSpPr>
          <p:cNvPr id="12" name="Rectangle 11"/>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Schätzung darf in eine Auswertung — aber sie muss sich als solche zu erkennen geben. Genau dafür ist ist_geschaetzt da.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Zwei Oberflächen, ein Weg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Rad auf zwei verschiedene Bildschirme?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Weg, zwei Anwendungen, dieselbe Regel</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Oberflächen sprechen dieselbe Schnittstelle an. Was sie unterscheidet, ist nicht der Weg, sondern die Rolle des angemeldeten Kontos.</a:t>
            </a:r>
          </a:p>
        </p:txBody>
      </p:sp>
      <p:sp>
        <p:nvSpPr>
          <p:cNvPr id="6" name="Rectangle 5"/>
          <p:cNvSpPr/>
          <p:nvPr/>
        </p:nvSpPr>
        <p:spPr>
          <a:xfrm>
            <a:off x="1051560" y="2307715"/>
            <a:ext cx="11677650" cy="302996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eb-architektur.png"/>
          <p:cNvPicPr>
            <a:picLocks noChangeAspect="1"/>
          </p:cNvPicPr>
          <p:nvPr/>
        </p:nvPicPr>
        <p:blipFill>
          <a:blip r:embed="rId2"/>
          <a:stretch>
            <a:fillRect/>
          </a:stretch>
        </p:blipFill>
        <p:spPr>
          <a:xfrm>
            <a:off x="1153160" y="2409315"/>
            <a:ext cx="11474450" cy="2826768"/>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und die Werkstatt fragen dieselbe Adresse — und bekommen verschiedene Zeilen.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Warenwirtschaft anders macht</a:t>
            </a:r>
          </a:p>
        </p:txBody>
      </p:sp>
      <p:sp>
        <p:nvSpPr>
          <p:cNvPr id="3" name="Text Placeholder 2"/>
          <p:cNvSpPr>
            <a:spLocks noGrp="1"/>
          </p:cNvSpPr>
          <p:nvPr>
            <p:ph type="body" idx="12" sz="quarter"/>
          </p:nvPr>
        </p:nvSpPr>
        <p:spPr/>
        <p:txBody>
          <a:bodyPr/>
          <a:lstStyle/>
          <a:p>
            <a:r>
              <a:t>11 · Zwei Oberflächen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Dieselbe Datenbank, andere Aufgabe — und daraus folgen vier Unterschiede, die man am Modell ablesen kann.</a:t>
            </a:r>
          </a:p>
        </p:txBody>
      </p:sp>
      <p:sp>
        <p:nvSpPr>
          <p:cNvPr id="6" name="Rectangle 5"/>
          <p:cNvSpPr/>
          <p:nvPr/>
        </p:nvSpPr>
        <p:spPr>
          <a:xfrm>
            <a:off x="1153160" y="2413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413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90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892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Vorgangsklammer  </a:t>
            </a:r>
            <a:r>
              <a:rPr sz="1300">
                <a:solidFill>
                  <a:srgbClr val="404040"/>
                </a:solidFill>
              </a:rPr>
              <a:t>Jede Änderung gehört zu einem Vorgang und ist ihm zuzuordnen</a:t>
            </a:r>
          </a:p>
        </p:txBody>
      </p:sp>
      <p:sp>
        <p:nvSpPr>
          <p:cNvPr id="10" name="Rounded Rectangle 9"/>
          <p:cNvSpPr/>
          <p:nvPr/>
        </p:nvSpPr>
        <p:spPr>
          <a:xfrm>
            <a:off x="9808210" y="25273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neuerVorgang()</a:t>
            </a:r>
          </a:p>
        </p:txBody>
      </p:sp>
      <p:sp>
        <p:nvSpPr>
          <p:cNvPr id="11" name="Rectangle 10"/>
          <p:cNvSpPr/>
          <p:nvPr/>
        </p:nvSpPr>
        <p:spPr>
          <a:xfrm>
            <a:off x="1153160" y="32258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403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3020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Änderungsprotokoll  </a:t>
            </a:r>
            <a:r>
              <a:rPr sz="1300">
                <a:solidFill>
                  <a:srgbClr val="404040"/>
                </a:solidFill>
              </a:rPr>
              <a:t>Wer hat wann was geändert — die Datenbank schreibt mit</a:t>
            </a:r>
          </a:p>
        </p:txBody>
      </p:sp>
      <p:sp>
        <p:nvSpPr>
          <p:cNvPr id="15" name="Rounded Rectangle 14"/>
          <p:cNvSpPr/>
          <p:nvPr/>
        </p:nvSpPr>
        <p:spPr>
          <a:xfrm>
            <a:off x="9808210" y="33401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aenderungsprotokoll</a:t>
            </a:r>
          </a:p>
        </p:txBody>
      </p:sp>
      <p:sp>
        <p:nvSpPr>
          <p:cNvPr id="16" name="Rectangle 15"/>
          <p:cNvSpPr/>
          <p:nvPr/>
        </p:nvSpPr>
        <p:spPr>
          <a:xfrm>
            <a:off x="1153160" y="4038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4038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216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41148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Rolle statt Besitz  </a:t>
            </a:r>
            <a:r>
              <a:rPr sz="1300">
                <a:solidFill>
                  <a:srgbClr val="404040"/>
                </a:solidFill>
              </a:rPr>
              <a:t>Nicht „meine Zeilen“, sondern „Zeilen meiner Aufgabe“</a:t>
            </a:r>
          </a:p>
        </p:txBody>
      </p:sp>
      <p:sp>
        <p:nvSpPr>
          <p:cNvPr id="20" name="Rounded Rectangle 19"/>
          <p:cNvSpPr/>
          <p:nvPr/>
        </p:nvSpPr>
        <p:spPr>
          <a:xfrm>
            <a:off x="9808210" y="41529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hat_rolle('werkstatt')</a:t>
            </a:r>
          </a:p>
        </p:txBody>
      </p:sp>
      <p:sp>
        <p:nvSpPr>
          <p:cNvPr id="21" name="Rectangle 20"/>
          <p:cNvSpPr/>
          <p:nvPr/>
        </p:nvSpPr>
        <p:spPr>
          <a:xfrm>
            <a:off x="1153160" y="4851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851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5029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927600"/>
            <a:ext cx="7791450" cy="533400"/>
          </a:xfrm>
          <a:prstGeom prst="rect">
            <a:avLst/>
          </a:prstGeom>
          <a:noFill/>
        </p:spPr>
        <p:txBody>
          <a:bodyPr wrap="square" lIns="0" tIns="0" rIns="0" bIns="0" anchor="ctr">
            <a:spAutoFit/>
          </a:bodyPr>
          <a:lstStyle/>
          <a:p>
            <a:pPr>
              <a:lnSpc>
                <a:spcPct val="95000"/>
              </a:lnSpc>
            </a:pPr>
            <a:r>
              <a:rPr sz="1300" b="1">
                <a:solidFill>
                  <a:srgbClr val="003E6E"/>
                </a:solidFill>
              </a:rPr>
              <a:t>Kein Löschen  </a:t>
            </a:r>
            <a:r>
              <a:rPr sz="1300">
                <a:solidFill>
                  <a:srgbClr val="404040"/>
                </a:solidFill>
              </a:rPr>
              <a:t>Ausgemustert ist ein Zustand, keine gelöschte Zeile</a:t>
            </a:r>
          </a:p>
        </p:txBody>
      </p:sp>
      <p:sp>
        <p:nvSpPr>
          <p:cNvPr id="25" name="Rounded Rectangle 24"/>
          <p:cNvSpPr/>
          <p:nvPr/>
        </p:nvSpPr>
        <p:spPr>
          <a:xfrm>
            <a:off x="9808210" y="4965700"/>
            <a:ext cx="2667000" cy="457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status = 'ausgemustert'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bleibt aus zwölf Kapiteln — und was ist entworfen, aber nicht gebaut?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 Einheit tragen</a:t>
            </a:r>
          </a:p>
        </p:txBody>
      </p:sp>
      <p:sp>
        <p:nvSpPr>
          <p:cNvPr id="3" name="Text Placeholder 2"/>
          <p:cNvSpPr>
            <a:spLocks noGrp="1"/>
          </p:cNvSpPr>
          <p:nvPr>
            <p:ph type="body" idx="12" sz="quarter"/>
          </p:nvPr>
        </p:nvSpPr>
        <p:spPr/>
        <p:txBody>
          <a:bodyPr/>
          <a:lstStyle/>
          <a:p>
            <a:r>
              <a:t>12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acht. Zu jedem sollten Sie ein Beispiel aus Annas Fahrt nennen können.</a:t>
            </a:r>
          </a:p>
        </p:txBody>
      </p:sp>
      <p:sp>
        <p:nvSpPr>
          <p:cNvPr id="6" name="Rectangle 5"/>
          <p:cNvSpPr/>
          <p:nvPr/>
        </p:nvSpPr>
        <p:spPr>
          <a:xfrm>
            <a:off x="1153160" y="2286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86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36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62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768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68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819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44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251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51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302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27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37338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7338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3784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38100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2164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2164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267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2926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4699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6990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749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47752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
        <p:nvSpPr>
          <p:cNvPr id="30" name="Rectangle 29"/>
          <p:cNvSpPr/>
          <p:nvPr/>
        </p:nvSpPr>
        <p:spPr>
          <a:xfrm>
            <a:off x="1153160" y="5181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51816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330960" y="5232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3" name="TextBox 32"/>
          <p:cNvSpPr txBox="1"/>
          <p:nvPr/>
        </p:nvSpPr>
        <p:spPr>
          <a:xfrm>
            <a:off x="1788160" y="52578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Korn  </a:t>
            </a:r>
            <a:r>
              <a:rPr sz="1300">
                <a:solidFill>
                  <a:srgbClr val="404040"/>
                </a:solidFill>
              </a:rPr>
              <a:t>Eine Sicht hat genau ein Korn — wer es nicht benennt, summiert falsch</a:t>
            </a:r>
          </a:p>
        </p:txBody>
      </p:sp>
      <p:sp>
        <p:nvSpPr>
          <p:cNvPr id="34" name="Rectangle 33"/>
          <p:cNvSpPr/>
          <p:nvPr/>
        </p:nvSpPr>
        <p:spPr>
          <a:xfrm>
            <a:off x="1153160" y="56642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1153160" y="5664200"/>
            <a:ext cx="508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330960" y="5715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7" name="TextBox 36"/>
          <p:cNvSpPr txBox="1"/>
          <p:nvPr/>
        </p:nvSpPr>
        <p:spPr>
          <a:xfrm>
            <a:off x="1788160" y="5740400"/>
            <a:ext cx="10458450" cy="279400"/>
          </a:xfrm>
          <a:prstGeom prst="rect">
            <a:avLst/>
          </a:prstGeom>
          <a:noFill/>
        </p:spPr>
        <p:txBody>
          <a:bodyPr wrap="square" lIns="0" tIns="0" rIns="0" bIns="0" anchor="ctr">
            <a:spAutoFit/>
          </a:bodyPr>
          <a:lstStyle/>
          <a:p>
            <a:pPr>
              <a:lnSpc>
                <a:spcPct val="95000"/>
              </a:lnSpc>
            </a:pPr>
            <a:r>
              <a:rPr sz="1300" b="1">
                <a:solidFill>
                  <a:srgbClr val="003E6E"/>
                </a:solidFill>
              </a:rPr>
              <a:t>Grenze  </a:t>
            </a:r>
            <a:r>
              <a:rPr sz="1300">
                <a:solidFill>
                  <a:srgbClr val="404040"/>
                </a:solidFill>
              </a:rPr>
              <a:t>Jede Kennzahl braucht die Angabe, was sie NICHT sagt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entworfen ist, aber noch nicht gebaut</a:t>
            </a:r>
          </a:p>
        </p:txBody>
      </p:sp>
      <p:sp>
        <p:nvSpPr>
          <p:cNvPr id="3" name="Text Placeholder 2"/>
          <p:cNvSpPr>
            <a:spLocks noGrp="1"/>
          </p:cNvSpPr>
          <p:nvPr>
            <p:ph type="body" idx="12" sz="quarter"/>
          </p:nvPr>
        </p:nvSpPr>
        <p:spPr/>
        <p:txBody>
          <a:bodyPr/>
          <a:lstStyle/>
          <a:p>
            <a:r>
              <a:t>12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Instandhaltung steht seit Kapitel 9. Beschaffung, Lager und die Logistik sind entworfen, aber nicht gebaut — grau hinterlegt im Diagramm.</a:t>
            </a:r>
          </a:p>
        </p:txBody>
      </p:sp>
      <p:sp>
        <p:nvSpPr>
          <p:cNvPr id="6" name="Rectangle 5"/>
          <p:cNvSpPr/>
          <p:nvPr/>
        </p:nvSpPr>
        <p:spPr>
          <a:xfrm>
            <a:off x="2711536" y="1778000"/>
            <a:ext cx="8357696"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2813136" y="1879600"/>
            <a:ext cx="8154496"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ein Wartungsauftrag — die Lagerbewegung dazu fehlt noch.</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