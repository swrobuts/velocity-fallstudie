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embeddings/oleObject1.bin" ContentType="application/vnd.openxmlformats-officedocument.oleObject"/>
  <Override PartName="/ppt/embeddings/oleObject2.bin" ContentType="application/vnd.openxmlformats-officedocument.oleObject"/>
  <Override PartName="/ppt/media/image10.svg" ContentType="image/svg+xml"/>
  <Override PartName="/ppt/media/image4.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 id="2147483674" r:id="rId2"/>
  </p:sldMasterIdLst>
  <p:notesMasterIdLst>
    <p:notesMasterId r:id="rId226"/>
  </p:notesMasterIdLst>
  <p:sldIdLst>
    <p:sldId id="256" r:id="rId43"/>
    <p:sldId id="257" r:id="rId44"/>
    <p:sldId id="258" r:id="rId45"/>
    <p:sldId id="259" r:id="rId46"/>
    <p:sldId id="260" r:id="rId47"/>
    <p:sldId id="261" r:id="rId48"/>
    <p:sldId id="262" r:id="rId49"/>
    <p:sldId id="263" r:id="rId50"/>
    <p:sldId id="264" r:id="rId51"/>
    <p:sldId id="265" r:id="rId52"/>
    <p:sldId id="266" r:id="rId53"/>
    <p:sldId id="267" r:id="rId54"/>
    <p:sldId id="268" r:id="rId55"/>
    <p:sldId id="269" r:id="rId56"/>
    <p:sldId id="270" r:id="rId57"/>
    <p:sldId id="271" r:id="rId58"/>
    <p:sldId id="272" r:id="rId59"/>
    <p:sldId id="273" r:id="rId60"/>
    <p:sldId id="274" r:id="rId61"/>
    <p:sldId id="275" r:id="rId62"/>
    <p:sldId id="276" r:id="rId63"/>
    <p:sldId id="277" r:id="rId64"/>
    <p:sldId id="278" r:id="rId65"/>
    <p:sldId id="279" r:id="rId66"/>
    <p:sldId id="280" r:id="rId67"/>
    <p:sldId id="281" r:id="rId68"/>
    <p:sldId id="282" r:id="rId69"/>
    <p:sldId id="283" r:id="rId70"/>
    <p:sldId id="284" r:id="rId71"/>
    <p:sldId id="285" r:id="rId72"/>
    <p:sldId id="286" r:id="rId73"/>
    <p:sldId id="287" r:id="rId74"/>
    <p:sldId id="288" r:id="rId75"/>
    <p:sldId id="289" r:id="rId76"/>
    <p:sldId id="290" r:id="rId77"/>
    <p:sldId id="291" r:id="rId78"/>
    <p:sldId id="292" r:id="rId79"/>
    <p:sldId id="293" r:id="rId80"/>
    <p:sldId id="294" r:id="rId81"/>
    <p:sldId id="295" r:id="rId82"/>
    <p:sldId id="296" r:id="rId83"/>
    <p:sldId id="297" r:id="rId84"/>
    <p:sldId id="298" r:id="rId85"/>
  </p:sldIdLst>
  <p:sldSz cx="13004800" cy="7315200"/>
  <p:notesSz cx="6858000" cy="9144000"/>
  <p:embeddedFontLst>
    <p:embeddedFont>
      <p:font typeface="Arial Black" panose="020B0604020202020204" pitchFamily="34" charset="0"/>
      <p:bold r:id="rId227"/>
    </p:embeddedFont>
    <p:embeddedFont>
      <p:font typeface="Arial Narrow" panose="020B0604020202020204" pitchFamily="34" charset="0"/>
      <p:regular r:id="rId228"/>
      <p:bold r:id="rId229"/>
      <p:italic r:id="rId230"/>
      <p:boldItalic r:id="rId231"/>
    </p:embeddedFont>
    <p:embeddedFont>
      <p:font typeface="Cambria Math" panose="02040503050406030204" pitchFamily="18" charset="0"/>
      <p:regular r:id="rId232"/>
    </p:embeddedFont>
    <p:embeddedFont>
      <p:font typeface="Chalkboy" pitchFamily="2" charset="0"/>
      <p:regular r:id="rId233"/>
    </p:embeddedFont>
    <p:embeddedFont>
      <p:font typeface="Garamond" panose="02020404030301010803" pitchFamily="18" charset="0"/>
      <p:regular r:id="rId234"/>
      <p:bold r:id="rId235"/>
      <p:italic r:id="rId236"/>
      <p:boldItalic r:id="rId237"/>
    </p:embeddedFont>
    <p:embeddedFont>
      <p:font typeface="GT Planar Light" pitchFamily="2" charset="77"/>
      <p:regular r:id="rId238"/>
    </p:embeddedFont>
    <p:embeddedFont>
      <p:font typeface="GT Planar Medium" pitchFamily="2" charset="77"/>
      <p:regular r:id="rId239"/>
    </p:embeddedFont>
    <p:embeddedFont>
      <p:font typeface="Lucida Bright" panose="02040602050505020304" pitchFamily="18" charset="77"/>
      <p:regular r:id="rId240"/>
      <p:bold r:id="rId241"/>
      <p:italic r:id="rId242"/>
      <p:boldItalic r:id="rId243"/>
    </p:embeddedFont>
    <p:embeddedFont>
      <p:font typeface="Segoe Script" panose="020B0804020000000003" pitchFamily="34" charset="0"/>
      <p:regular r:id="rId244"/>
      <p:bold r:id="rId245"/>
    </p:embeddedFont>
    <p:embeddedFont>
      <p:font typeface="Segoe UI" panose="020B0502040204020203" pitchFamily="34" charset="0"/>
      <p:regular r:id="rId246"/>
      <p:bold r:id="rId247"/>
      <p:italic r:id="rId248"/>
      <p:boldItalic r:id="rId249"/>
    </p:embeddedFont>
    <p:embeddedFont>
      <p:font typeface="Segoe UI Black" panose="020B0A02040204020203" pitchFamily="34" charset="0"/>
      <p:bold r:id="rId250"/>
      <p:italic r:id="rId251"/>
      <p:boldItalic r:id="rId252"/>
    </p:embeddedFont>
    <p:embeddedFont>
      <p:font typeface="Segoe UI Light" panose="020B0502040204020203" pitchFamily="34" charset="0"/>
      <p:regular r:id="rId253"/>
      <p:italic r:id="rId254"/>
    </p:embeddedFont>
    <p:embeddedFont>
      <p:font typeface="Verdana" panose="020B0604030504040204" pitchFamily="34" charset="0"/>
      <p:regular r:id="rId255"/>
      <p:bold r:id="rId256"/>
      <p:italic r:id="rId257"/>
      <p:boldItalic r:id="rId258"/>
    </p:embeddedFont>
    <p:embeddedFont>
      <p:font typeface="Wingdings 2" pitchFamily="2" charset="2"/>
      <p:regular r:id="rId259"/>
    </p:embeddedFont>
  </p:embeddedFontLst>
  <p:defaultTextStyle>
    <a:defPPr>
      <a:defRPr lang="de-DE"/>
    </a:defPPr>
    <a:lvl1pPr marL="0" algn="l" defTabSz="975299" rtl="0" eaLnBrk="1" latinLnBrk="0" hangingPunct="1">
      <a:defRPr sz="1920" kern="1200">
        <a:solidFill>
          <a:schemeClr val="tx1"/>
        </a:solidFill>
        <a:latin typeface="+mn-lt"/>
        <a:ea typeface="+mn-ea"/>
        <a:cs typeface="+mn-cs"/>
      </a:defRPr>
    </a:lvl1pPr>
    <a:lvl2pPr marL="487650" algn="l" defTabSz="975299" rtl="0" eaLnBrk="1" latinLnBrk="0" hangingPunct="1">
      <a:defRPr sz="1920" kern="1200">
        <a:solidFill>
          <a:schemeClr val="tx1"/>
        </a:solidFill>
        <a:latin typeface="+mn-lt"/>
        <a:ea typeface="+mn-ea"/>
        <a:cs typeface="+mn-cs"/>
      </a:defRPr>
    </a:lvl2pPr>
    <a:lvl3pPr marL="975299" algn="l" defTabSz="975299" rtl="0" eaLnBrk="1" latinLnBrk="0" hangingPunct="1">
      <a:defRPr sz="1920" kern="1200">
        <a:solidFill>
          <a:schemeClr val="tx1"/>
        </a:solidFill>
        <a:latin typeface="+mn-lt"/>
        <a:ea typeface="+mn-ea"/>
        <a:cs typeface="+mn-cs"/>
      </a:defRPr>
    </a:lvl3pPr>
    <a:lvl4pPr marL="1462949" algn="l" defTabSz="975299" rtl="0" eaLnBrk="1" latinLnBrk="0" hangingPunct="1">
      <a:defRPr sz="1920" kern="1200">
        <a:solidFill>
          <a:schemeClr val="tx1"/>
        </a:solidFill>
        <a:latin typeface="+mn-lt"/>
        <a:ea typeface="+mn-ea"/>
        <a:cs typeface="+mn-cs"/>
      </a:defRPr>
    </a:lvl4pPr>
    <a:lvl5pPr marL="1950598" algn="l" defTabSz="975299" rtl="0" eaLnBrk="1" latinLnBrk="0" hangingPunct="1">
      <a:defRPr sz="1920" kern="1200">
        <a:solidFill>
          <a:schemeClr val="tx1"/>
        </a:solidFill>
        <a:latin typeface="+mn-lt"/>
        <a:ea typeface="+mn-ea"/>
        <a:cs typeface="+mn-cs"/>
      </a:defRPr>
    </a:lvl5pPr>
    <a:lvl6pPr marL="2438248" algn="l" defTabSz="975299" rtl="0" eaLnBrk="1" latinLnBrk="0" hangingPunct="1">
      <a:defRPr sz="1920" kern="1200">
        <a:solidFill>
          <a:schemeClr val="tx1"/>
        </a:solidFill>
        <a:latin typeface="+mn-lt"/>
        <a:ea typeface="+mn-ea"/>
        <a:cs typeface="+mn-cs"/>
      </a:defRPr>
    </a:lvl6pPr>
    <a:lvl7pPr marL="2925897" algn="l" defTabSz="975299" rtl="0" eaLnBrk="1" latinLnBrk="0" hangingPunct="1">
      <a:defRPr sz="1920" kern="1200">
        <a:solidFill>
          <a:schemeClr val="tx1"/>
        </a:solidFill>
        <a:latin typeface="+mn-lt"/>
        <a:ea typeface="+mn-ea"/>
        <a:cs typeface="+mn-cs"/>
      </a:defRPr>
    </a:lvl7pPr>
    <a:lvl8pPr marL="3413547" algn="l" defTabSz="975299" rtl="0" eaLnBrk="1" latinLnBrk="0" hangingPunct="1">
      <a:defRPr sz="1920" kern="1200">
        <a:solidFill>
          <a:schemeClr val="tx1"/>
        </a:solidFill>
        <a:latin typeface="+mn-lt"/>
        <a:ea typeface="+mn-ea"/>
        <a:cs typeface="+mn-cs"/>
      </a:defRPr>
    </a:lvl8pPr>
    <a:lvl9pPr marL="3901196" algn="l" defTabSz="975299" rtl="0" eaLnBrk="1" latinLnBrk="0" hangingPunct="1">
      <a:defRPr sz="192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8848C7F6-97E6-4B11-A118-863CB7CF828E}">
          <p14:sldIdLst>
            <p14:sldId id="5982"/>
            <p14:sldId id="5683"/>
            <p14:sldId id="260"/>
            <p14:sldId id="1682"/>
            <p14:sldId id="4449"/>
            <p14:sldId id="4450"/>
            <p14:sldId id="4451"/>
            <p14:sldId id="4452"/>
            <p14:sldId id="5197"/>
            <p14:sldId id="5983"/>
            <p14:sldId id="275"/>
            <p14:sldId id="270"/>
            <p14:sldId id="5775"/>
            <p14:sldId id="5978"/>
          </p14:sldIdLst>
        </p14:section>
        <p14:section name="Einstieg und Motivation" id="{E1BB6230-C30E-4B68-9C80-D89944B25E87}">
          <p14:sldIdLst>
            <p14:sldId id="1676"/>
            <p14:sldId id="4716"/>
            <p14:sldId id="5168"/>
            <p14:sldId id="5211"/>
            <p14:sldId id="3976"/>
            <p14:sldId id="5226"/>
            <p14:sldId id="4841"/>
            <p14:sldId id="4888"/>
            <p14:sldId id="5213"/>
            <p14:sldId id="5223"/>
            <p14:sldId id="5212"/>
            <p14:sldId id="5181"/>
            <p14:sldId id="4009"/>
            <p14:sldId id="4856"/>
            <p14:sldId id="5169"/>
            <p14:sldId id="5090"/>
            <p14:sldId id="5088"/>
            <p14:sldId id="5089"/>
          </p14:sldIdLst>
        </p14:section>
        <p14:section name="Einstieg und Motivation | ChatGPT" id="{5E958211-3E23-4A26-95D5-38212114F2A8}">
          <p14:sldIdLst>
            <p14:sldId id="329"/>
            <p14:sldId id="4906"/>
            <p14:sldId id="5234"/>
            <p14:sldId id="325"/>
            <p14:sldId id="328"/>
            <p14:sldId id="259"/>
            <p14:sldId id="322"/>
            <p14:sldId id="5985"/>
            <p14:sldId id="5984"/>
            <p14:sldId id="5986"/>
            <p14:sldId id="5987"/>
            <p14:sldId id="5988"/>
            <p14:sldId id="5989"/>
            <p14:sldId id="5990"/>
            <p14:sldId id="5991"/>
            <p14:sldId id="311"/>
            <p14:sldId id="6464"/>
            <p14:sldId id="5240"/>
            <p14:sldId id="5239"/>
            <p14:sldId id="6466"/>
            <p14:sldId id="6461"/>
            <p14:sldId id="6462"/>
            <p14:sldId id="5686"/>
            <p14:sldId id="4861"/>
            <p14:sldId id="5692"/>
            <p14:sldId id="5010"/>
            <p14:sldId id="6465"/>
            <p14:sldId id="5241"/>
            <p14:sldId id="5242"/>
            <p14:sldId id="6467"/>
            <p14:sldId id="5773"/>
            <p14:sldId id="5772"/>
          </p14:sldIdLst>
        </p14:section>
        <p14:section name="Grundlagen und Definitionen" id="{4D67702E-8488-4CF1-870D-360128A90968}">
          <p14:sldIdLst>
            <p14:sldId id="4715"/>
            <p14:sldId id="3908"/>
            <p14:sldId id="4031"/>
            <p14:sldId id="5126"/>
            <p14:sldId id="5127"/>
            <p14:sldId id="5203"/>
            <p14:sldId id="5204"/>
            <p14:sldId id="5199"/>
            <p14:sldId id="5200"/>
            <p14:sldId id="5588"/>
            <p14:sldId id="265"/>
            <p14:sldId id="5589"/>
            <p14:sldId id="5201"/>
            <p14:sldId id="5202"/>
            <p14:sldId id="5590"/>
            <p14:sldId id="5215"/>
            <p14:sldId id="5216"/>
            <p14:sldId id="4245"/>
            <p14:sldId id="1729"/>
            <p14:sldId id="5182"/>
            <p14:sldId id="5183"/>
            <p14:sldId id="5184"/>
            <p14:sldId id="5198"/>
            <p14:sldId id="5205"/>
            <p14:sldId id="5217"/>
            <p14:sldId id="5114"/>
            <p14:sldId id="5730"/>
            <p14:sldId id="5166"/>
            <p14:sldId id="5167"/>
            <p14:sldId id="5115"/>
            <p14:sldId id="5117"/>
            <p14:sldId id="5119"/>
            <p14:sldId id="5214"/>
            <p14:sldId id="5208"/>
            <p14:sldId id="3928"/>
            <p14:sldId id="3728"/>
            <p14:sldId id="5188"/>
            <p14:sldId id="5190"/>
            <p14:sldId id="5191"/>
            <p14:sldId id="5120"/>
            <p14:sldId id="5122"/>
            <p14:sldId id="3819"/>
            <p14:sldId id="4911"/>
            <p14:sldId id="5170"/>
            <p14:sldId id="5193"/>
            <p14:sldId id="5195"/>
            <p14:sldId id="5178"/>
            <p14:sldId id="5179"/>
            <p14:sldId id="5132"/>
            <p14:sldId id="5192"/>
            <p14:sldId id="386"/>
            <p14:sldId id="5194"/>
            <p14:sldId id="5171"/>
            <p14:sldId id="5186"/>
            <p14:sldId id="5210"/>
            <p14:sldId id="3923"/>
            <p14:sldId id="3924"/>
            <p14:sldId id="5220"/>
            <p14:sldId id="5221"/>
            <p14:sldId id="5224"/>
            <p14:sldId id="5189"/>
            <p14:sldId id="5187"/>
            <p14:sldId id="4355"/>
            <p14:sldId id="4363"/>
            <p14:sldId id="3989"/>
          </p14:sldIdLst>
        </p14:section>
        <p14:section name="Nutzen und Einsatzfelder" id="{3822B21B-C9E1-4B2A-AF1F-0DD1C54AA3B2}">
          <p14:sldIdLst>
            <p14:sldId id="5218"/>
            <p14:sldId id="5222"/>
            <p14:sldId id="5371"/>
            <p14:sldId id="5172"/>
            <p14:sldId id="5173"/>
            <p14:sldId id="5174"/>
            <p14:sldId id="5175"/>
            <p14:sldId id="5176"/>
            <p14:sldId id="5177"/>
            <p14:sldId id="5123"/>
            <p14:sldId id="5124"/>
            <p14:sldId id="5263"/>
            <p14:sldId id="5196"/>
            <p14:sldId id="5125"/>
            <p14:sldId id="3932"/>
            <p14:sldId id="5979"/>
            <p14:sldId id="5980"/>
            <p14:sldId id="5981"/>
          </p14:sldIdLst>
        </p14:section>
        <p14:section name="BI im Kontext mit anderen Analytics-Begriffen" id="{3EEE2EE8-ED70-45D3-B7D4-A9E9E2171866}">
          <p14:sldIdLst>
            <p14:sldId id="5219"/>
            <p14:sldId id="5229"/>
            <p14:sldId id="5139"/>
            <p14:sldId id="5140"/>
            <p14:sldId id="5141"/>
            <p14:sldId id="5142"/>
            <p14:sldId id="5146"/>
            <p14:sldId id="5143"/>
            <p14:sldId id="5144"/>
            <p14:sldId id="5145"/>
            <p14:sldId id="5147"/>
            <p14:sldId id="3956"/>
            <p14:sldId id="4014"/>
            <p14:sldId id="3955"/>
            <p14:sldId id="3982"/>
            <p14:sldId id="3951"/>
            <p14:sldId id="276"/>
            <p14:sldId id="5206"/>
            <p14:sldId id="5230"/>
            <p14:sldId id="3948"/>
            <p14:sldId id="3977"/>
            <p14:sldId id="3971"/>
            <p14:sldId id="1159"/>
            <p14:sldId id="1293"/>
            <p14:sldId id="5231"/>
            <p14:sldId id="5104"/>
            <p14:sldId id="5105"/>
            <p14:sldId id="5108"/>
            <p14:sldId id="5106"/>
            <p14:sldId id="5107"/>
            <p14:sldId id="5109"/>
            <p14:sldId id="5128"/>
            <p14:sldId id="5136"/>
            <p14:sldId id="5130"/>
            <p14:sldId id="5129"/>
            <p14:sldId id="5112"/>
            <p14:sldId id="5232"/>
            <p14:sldId id="5767"/>
            <p14:sldId id="3917"/>
            <p14:sldId id="5768"/>
            <p14:sldId id="1309"/>
            <p14:sldId id="1311"/>
            <p14:sldId id="3916"/>
            <p14:sldId id="3912"/>
            <p14:sldId id="3919"/>
            <p14:sldId id="3910"/>
            <p14:sldId id="3915"/>
            <p14:sldId id="5209"/>
            <p14:sldId id="3920"/>
            <p14:sldId id="1496"/>
            <p14:sldId id="1497"/>
            <p14:sldId id="1498"/>
            <p14:sldId id="1499"/>
            <p14:sldId id="1500"/>
            <p14:sldId id="1381"/>
            <p14:sldId id="1501"/>
            <p14:sldId id="4690"/>
            <p14:sldId id="4689"/>
            <p14:sldId id="4682"/>
            <p14:sldId id="4699"/>
            <p14:sldId id="4710"/>
            <p14:sldId id="4686"/>
            <p14:sldId id="4688"/>
            <p14:sldId id="5148"/>
            <p14:sldId id="5153"/>
            <p14:sldId id="5154"/>
            <p14:sldId id="5155"/>
            <p14:sldId id="4964"/>
            <p14:sldId id="4965"/>
            <p14:sldId id="5045"/>
            <p14:sldId id="5156"/>
            <p14:sldId id="5157"/>
            <p14:sldId id="5162"/>
            <p14:sldId id="4459"/>
            <p14:sldId id="5164"/>
            <p14:sldId id="5165"/>
          </p14:sldIdLst>
        </p14:section>
      </p14:sectionLst>
    </p:ext>
    <p:ext uri="{EFAFB233-063F-42B5-8137-9DF3F51BA10A}">
      <p15:sldGuideLst xmlns:p15="http://schemas.microsoft.com/office/powerpoint/2012/main">
        <p15:guide id="1" orient="horz" pos="2304" userDrawn="1">
          <p15:clr>
            <a:srgbClr val="A4A3A4"/>
          </p15:clr>
        </p15:guide>
        <p15:guide id="2" pos="728" userDrawn="1">
          <p15:clr>
            <a:srgbClr val="A4A3A4"/>
          </p15:clr>
        </p15:guide>
        <p15:guide id="3" orient="horz" pos="807"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3E6E"/>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4E1EBB-E92D-FB4D-8CFE-13DB06CD02BD}" v="24" dt="2026-04-04T09:53:15.3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49" autoAdjust="0"/>
    <p:restoredTop sz="96244"/>
  </p:normalViewPr>
  <p:slideViewPr>
    <p:cSldViewPr snapToGrid="0" showGuides="1">
      <p:cViewPr varScale="1">
        <p:scale>
          <a:sx n="164" d="100"/>
          <a:sy n="164" d="100"/>
        </p:scale>
        <p:origin x="408" y="472"/>
      </p:cViewPr>
      <p:guideLst>
        <p:guide orient="horz" pos="2304"/>
        <p:guide pos="728"/>
        <p:guide orient="horz" pos="807"/>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43" Type="http://schemas.openxmlformats.org/officeDocument/2006/relationships/slide" Target="slides/slide1.xml"/><Relationship Id="rId44" Type="http://schemas.openxmlformats.org/officeDocument/2006/relationships/slide" Target="slides/slide2.xml"/><Relationship Id="rId45" Type="http://schemas.openxmlformats.org/officeDocument/2006/relationships/slide" Target="slides/slide3.xml"/><Relationship Id="rId46" Type="http://schemas.openxmlformats.org/officeDocument/2006/relationships/slide" Target="slides/slide4.xml"/><Relationship Id="rId47" Type="http://schemas.openxmlformats.org/officeDocument/2006/relationships/slide" Target="slides/slide5.xml"/><Relationship Id="rId48" Type="http://schemas.openxmlformats.org/officeDocument/2006/relationships/slide" Target="slides/slide6.xml"/><Relationship Id="rId49" Type="http://schemas.openxmlformats.org/officeDocument/2006/relationships/slide" Target="slides/slide7.xml"/><Relationship Id="rId50" Type="http://schemas.openxmlformats.org/officeDocument/2006/relationships/slide" Target="slides/slide8.xml"/><Relationship Id="rId51" Type="http://schemas.openxmlformats.org/officeDocument/2006/relationships/slide" Target="slides/slide9.xml"/><Relationship Id="rId52" Type="http://schemas.openxmlformats.org/officeDocument/2006/relationships/slide" Target="slides/slide10.xml"/><Relationship Id="rId53" Type="http://schemas.openxmlformats.org/officeDocument/2006/relationships/slide" Target="slides/slide11.xml"/><Relationship Id="rId54" Type="http://schemas.openxmlformats.org/officeDocument/2006/relationships/slide" Target="slides/slide12.xml"/><Relationship Id="rId55" Type="http://schemas.openxmlformats.org/officeDocument/2006/relationships/slide" Target="slides/slide13.xml"/><Relationship Id="rId56" Type="http://schemas.openxmlformats.org/officeDocument/2006/relationships/slide" Target="slides/slide14.xml"/><Relationship Id="rId57" Type="http://schemas.openxmlformats.org/officeDocument/2006/relationships/slide" Target="slides/slide15.xml"/><Relationship Id="rId58" Type="http://schemas.openxmlformats.org/officeDocument/2006/relationships/slide" Target="slides/slide16.xml"/><Relationship Id="rId59" Type="http://schemas.openxmlformats.org/officeDocument/2006/relationships/slide" Target="slides/slide17.xml"/><Relationship Id="rId60" Type="http://schemas.openxmlformats.org/officeDocument/2006/relationships/slide" Target="slides/slide18.xml"/><Relationship Id="rId61" Type="http://schemas.openxmlformats.org/officeDocument/2006/relationships/slide" Target="slides/slide19.xml"/><Relationship Id="rId62" Type="http://schemas.openxmlformats.org/officeDocument/2006/relationships/slide" Target="slides/slide20.xml"/><Relationship Id="rId63" Type="http://schemas.openxmlformats.org/officeDocument/2006/relationships/slide" Target="slides/slide21.xml"/><Relationship Id="rId64" Type="http://schemas.openxmlformats.org/officeDocument/2006/relationships/slide" Target="slides/slide22.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 Id="rId68" Type="http://schemas.openxmlformats.org/officeDocument/2006/relationships/slide" Target="slides/slide26.xml"/><Relationship Id="rId69" Type="http://schemas.openxmlformats.org/officeDocument/2006/relationships/slide" Target="slides/slide27.xml"/><Relationship Id="rId70" Type="http://schemas.openxmlformats.org/officeDocument/2006/relationships/slide" Target="slides/slide28.xml"/><Relationship Id="rId71" Type="http://schemas.openxmlformats.org/officeDocument/2006/relationships/slide" Target="slides/slide29.xml"/><Relationship Id="rId72" Type="http://schemas.openxmlformats.org/officeDocument/2006/relationships/slide" Target="slides/slide30.xml"/><Relationship Id="rId73" Type="http://schemas.openxmlformats.org/officeDocument/2006/relationships/slide" Target="slides/slide31.xml"/><Relationship Id="rId74" Type="http://schemas.openxmlformats.org/officeDocument/2006/relationships/slide" Target="slides/slide32.xml"/><Relationship Id="rId75" Type="http://schemas.openxmlformats.org/officeDocument/2006/relationships/slide" Target="slides/slide33.xml"/><Relationship Id="rId76" Type="http://schemas.openxmlformats.org/officeDocument/2006/relationships/slide" Target="slides/slide34.xml"/><Relationship Id="rId77" Type="http://schemas.openxmlformats.org/officeDocument/2006/relationships/slide" Target="slides/slide35.xml"/><Relationship Id="rId78" Type="http://schemas.openxmlformats.org/officeDocument/2006/relationships/slide" Target="slides/slide36.xml"/><Relationship Id="rId79" Type="http://schemas.openxmlformats.org/officeDocument/2006/relationships/slide" Target="slides/slide37.xml"/><Relationship Id="rId80" Type="http://schemas.openxmlformats.org/officeDocument/2006/relationships/slide" Target="slides/slide38.xml"/><Relationship Id="rId81" Type="http://schemas.openxmlformats.org/officeDocument/2006/relationships/slide" Target="slides/slide39.xml"/><Relationship Id="rId82" Type="http://schemas.openxmlformats.org/officeDocument/2006/relationships/slide" Target="slides/slide40.xml"/><Relationship Id="rId83" Type="http://schemas.openxmlformats.org/officeDocument/2006/relationships/slide" Target="slides/slide41.xml"/><Relationship Id="rId84" Type="http://schemas.openxmlformats.org/officeDocument/2006/relationships/slide" Target="slides/slide42.xml"/><Relationship Id="rId85" Type="http://schemas.openxmlformats.org/officeDocument/2006/relationships/slide" Target="slides/slide43.xml"/><Relationship Id="rId226" Type="http://schemas.openxmlformats.org/officeDocument/2006/relationships/notesMaster" Target="notesMasters/notesMaster1.xml"/><Relationship Id="rId227" Type="http://schemas.openxmlformats.org/officeDocument/2006/relationships/font" Target="fonts/font1.fntdata"/><Relationship Id="rId228" Type="http://schemas.openxmlformats.org/officeDocument/2006/relationships/font" Target="fonts/font2.fntdata"/><Relationship Id="rId229" Type="http://schemas.openxmlformats.org/officeDocument/2006/relationships/font" Target="fonts/font3.fntdata"/><Relationship Id="rId230" Type="http://schemas.openxmlformats.org/officeDocument/2006/relationships/font" Target="fonts/font4.fntdata"/><Relationship Id="rId231" Type="http://schemas.openxmlformats.org/officeDocument/2006/relationships/font" Target="fonts/font5.fntdata"/><Relationship Id="rId232" Type="http://schemas.openxmlformats.org/officeDocument/2006/relationships/font" Target="fonts/font6.fntdata"/><Relationship Id="rId233" Type="http://schemas.openxmlformats.org/officeDocument/2006/relationships/font" Target="fonts/font7.fntdata"/><Relationship Id="rId234" Type="http://schemas.openxmlformats.org/officeDocument/2006/relationships/font" Target="fonts/font8.fntdata"/><Relationship Id="rId235" Type="http://schemas.openxmlformats.org/officeDocument/2006/relationships/font" Target="fonts/font9.fntdata"/><Relationship Id="rId236" Type="http://schemas.openxmlformats.org/officeDocument/2006/relationships/font" Target="fonts/font10.fntdata"/><Relationship Id="rId237" Type="http://schemas.openxmlformats.org/officeDocument/2006/relationships/font" Target="fonts/font11.fntdata"/><Relationship Id="rId238" Type="http://schemas.openxmlformats.org/officeDocument/2006/relationships/font" Target="fonts/font12.fntdata"/><Relationship Id="rId239" Type="http://schemas.openxmlformats.org/officeDocument/2006/relationships/font" Target="fonts/font13.fntdata"/><Relationship Id="rId240" Type="http://schemas.openxmlformats.org/officeDocument/2006/relationships/font" Target="fonts/font14.fntdata"/><Relationship Id="rId241" Type="http://schemas.openxmlformats.org/officeDocument/2006/relationships/font" Target="fonts/font15.fntdata"/><Relationship Id="rId242" Type="http://schemas.openxmlformats.org/officeDocument/2006/relationships/font" Target="fonts/font16.fntdata"/><Relationship Id="rId243" Type="http://schemas.openxmlformats.org/officeDocument/2006/relationships/font" Target="fonts/font17.fntdata"/><Relationship Id="rId244" Type="http://schemas.openxmlformats.org/officeDocument/2006/relationships/font" Target="fonts/font18.fntdata"/><Relationship Id="rId245" Type="http://schemas.openxmlformats.org/officeDocument/2006/relationships/font" Target="fonts/font19.fntdata"/><Relationship Id="rId246" Type="http://schemas.openxmlformats.org/officeDocument/2006/relationships/font" Target="fonts/font20.fntdata"/><Relationship Id="rId247" Type="http://schemas.openxmlformats.org/officeDocument/2006/relationships/font" Target="fonts/font21.fntdata"/><Relationship Id="rId248" Type="http://schemas.openxmlformats.org/officeDocument/2006/relationships/font" Target="fonts/font22.fntdata"/><Relationship Id="rId249" Type="http://schemas.openxmlformats.org/officeDocument/2006/relationships/font" Target="fonts/font23.fntdata"/><Relationship Id="rId250" Type="http://schemas.openxmlformats.org/officeDocument/2006/relationships/font" Target="fonts/font24.fntdata"/><Relationship Id="rId251" Type="http://schemas.openxmlformats.org/officeDocument/2006/relationships/font" Target="fonts/font25.fntdata"/><Relationship Id="rId252" Type="http://schemas.openxmlformats.org/officeDocument/2006/relationships/font" Target="fonts/font26.fntdata"/><Relationship Id="rId253" Type="http://schemas.openxmlformats.org/officeDocument/2006/relationships/font" Target="fonts/font27.fntdata"/><Relationship Id="rId254" Type="http://schemas.openxmlformats.org/officeDocument/2006/relationships/font" Target="fonts/font28.fntdata"/><Relationship Id="rId255" Type="http://schemas.openxmlformats.org/officeDocument/2006/relationships/font" Target="fonts/font29.fntdata"/><Relationship Id="rId256" Type="http://schemas.openxmlformats.org/officeDocument/2006/relationships/font" Target="fonts/font30.fntdata"/><Relationship Id="rId257" Type="http://schemas.openxmlformats.org/officeDocument/2006/relationships/font" Target="fonts/font31.fntdata"/><Relationship Id="rId258" Type="http://schemas.openxmlformats.org/officeDocument/2006/relationships/font" Target="fonts/font32.fntdata"/><Relationship Id="rId259" Type="http://schemas.openxmlformats.org/officeDocument/2006/relationships/font" Target="fonts/font33.fntdata"/><Relationship Id="rId260" Type="http://schemas.openxmlformats.org/officeDocument/2006/relationships/presProps" Target="presProps.xml"/><Relationship Id="rId261" Type="http://schemas.openxmlformats.org/officeDocument/2006/relationships/viewProps" Target="viewProps.xml"/><Relationship Id="rId262" Type="http://schemas.openxmlformats.org/officeDocument/2006/relationships/theme" Target="theme/theme1.xml"/><Relationship Id="rId263" Type="http://schemas.openxmlformats.org/officeDocument/2006/relationships/tableStyles" Target="tableStyles.xml"/><Relationship Id="rId264" Type="http://schemas.microsoft.com/office/2016/11/relationships/changesInfo" Target="changesInfos/changesInfo1.xml"/><Relationship Id="rId26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1F8CCD4D-F71B-57B1-9867-406FCF685594}"/>
    <pc:docChg chg="custSel modSld modMainMaster">
      <pc:chgData name="Dr. Robert Butscher" userId="61bc653898ddc2e0" providerId="LiveId" clId="{1F8CCD4D-F71B-57B1-9867-406FCF685594}" dt="2026-04-04T09:53:23.849" v="95" actId="299"/>
      <pc:docMkLst>
        <pc:docMk/>
      </pc:docMkLst>
      <pc:sldChg chg="modSp mod">
        <pc:chgData name="Dr. Robert Butscher" userId="61bc653898ddc2e0" providerId="LiveId" clId="{1F8CCD4D-F71B-57B1-9867-406FCF685594}" dt="2026-04-04T09:52:43.517" v="3" actId="20577"/>
        <pc:sldMkLst>
          <pc:docMk/>
          <pc:sldMk cId="4082944879" sldId="1682"/>
        </pc:sldMkLst>
        <pc:graphicFrameChg chg="modGraphic">
          <ac:chgData name="Dr. Robert Butscher" userId="61bc653898ddc2e0" providerId="LiveId" clId="{1F8CCD4D-F71B-57B1-9867-406FCF685594}" dt="2026-04-04T09:52:43.517" v="3" actId="20577"/>
          <ac:graphicFrameMkLst>
            <pc:docMk/>
            <pc:sldMk cId="4082944879" sldId="1682"/>
            <ac:graphicFrameMk id="10" creationId="{0E28EF6B-F745-4094-A0D1-976DCF50C9AA}"/>
          </ac:graphicFrameMkLst>
        </pc:graphicFrameChg>
      </pc:sldChg>
      <pc:sldChg chg="addSp modSp mod">
        <pc:chgData name="Dr. Robert Butscher" userId="61bc653898ddc2e0" providerId="LiveId" clId="{1F8CCD4D-F71B-57B1-9867-406FCF685594}" dt="2026-04-04T09:53:23.849" v="95" actId="299"/>
        <pc:sldMkLst>
          <pc:docMk/>
          <pc:sldMk cId="1304808375" sldId="5983"/>
        </pc:sldMkLst>
        <pc:spChg chg="mod">
          <ac:chgData name="Dr. Robert Butscher" userId="61bc653898ddc2e0" providerId="LiveId" clId="{1F8CCD4D-F71B-57B1-9867-406FCF685594}" dt="2026-04-04T09:53:23.849" v="95" actId="299"/>
          <ac:spMkLst>
            <pc:docMk/>
            <pc:sldMk cId="1304808375" sldId="5983"/>
            <ac:spMk id="8" creationId="{6DEE792D-283C-4642-A892-D42F87877A68}"/>
          </ac:spMkLst>
        </pc:spChg>
        <pc:graphicFrameChg chg="add mod modVis">
          <ac:chgData name="Dr. Robert Butscher" userId="61bc653898ddc2e0" providerId="LiveId" clId="{1F8CCD4D-F71B-57B1-9867-406FCF685594}" dt="2026-04-04T09:53:15.321" v="25"/>
          <ac:graphicFrameMkLst>
            <pc:docMk/>
            <pc:sldMk cId="1304808375" sldId="5983"/>
            <ac:graphicFrameMk id="3" creationId="{952C99EC-F97E-349D-8356-66AB18F6ADAA}"/>
          </ac:graphicFrameMkLst>
        </pc:graphicFrameChg>
      </pc:sldChg>
      <pc:sldMasterChg chg="addSp modSp mod">
        <pc:chgData name="Dr. Robert Butscher" userId="61bc653898ddc2e0" providerId="LiveId" clId="{1F8CCD4D-F71B-57B1-9867-406FCF685594}" dt="2026-04-04T09:53:15.344" v="38"/>
        <pc:sldMasterMkLst>
          <pc:docMk/>
          <pc:sldMasterMk cId="1550380779" sldId="2147483660"/>
        </pc:sldMasterMkLst>
        <pc:graphicFrameChg chg="add mod modVis">
          <ac:chgData name="Dr. Robert Butscher" userId="61bc653898ddc2e0" providerId="LiveId" clId="{1F8CCD4D-F71B-57B1-9867-406FCF685594}" dt="2026-04-04T09:53:15.344" v="38"/>
          <ac:graphicFrameMkLst>
            <pc:docMk/>
            <pc:sldMasterMk cId="1550380779" sldId="2147483660"/>
            <ac:graphicFrameMk id="4" creationId="{6F471703-A648-F145-39A8-BE1DBE102523}"/>
          </ac:graphicFrameMkLst>
        </pc:graphicFrameChg>
      </pc:sldMasterChg>
      <pc:sldMasterChg chg="addSp modSp mod">
        <pc:chgData name="Dr. Robert Butscher" userId="61bc653898ddc2e0" providerId="LiveId" clId="{1F8CCD4D-F71B-57B1-9867-406FCF685594}" dt="2026-04-04T09:53:15.355" v="51"/>
        <pc:sldMasterMkLst>
          <pc:docMk/>
          <pc:sldMasterMk cId="152667289" sldId="2147483674"/>
        </pc:sldMasterMkLst>
        <pc:graphicFrameChg chg="add mod modVis">
          <ac:chgData name="Dr. Robert Butscher" userId="61bc653898ddc2e0" providerId="LiveId" clId="{1F8CCD4D-F71B-57B1-9867-406FCF685594}" dt="2026-04-04T09:53:15.355" v="51"/>
          <ac:graphicFrameMkLst>
            <pc:docMk/>
            <pc:sldMasterMk cId="152667289" sldId="2147483674"/>
            <ac:graphicFrameMk id="4" creationId="{FBC7FB1C-2DC6-CB34-34F7-7D3CF72597C0}"/>
          </ac:graphicFrameMkLst>
        </pc:graphicFrame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75EE47-E890-4C1A-82B7-6B37BDF6C47D}" type="datetimeFigureOut">
              <a:rPr lang="de-DE" smtClean="0"/>
              <a:t>04.04.26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2748F90-A264-4F79-ABD8-9E88FC0E9DDF}" type="slidenum">
              <a:rPr lang="de-DE" smtClean="0"/>
              <a:t>‹Nr.›</a:t>
            </a:fld>
            <a:endParaRPr lang="de-DE"/>
          </a:p>
        </p:txBody>
      </p:sp>
    </p:spTree>
    <p:extLst>
      <p:ext uri="{BB962C8B-B14F-4D97-AF65-F5344CB8AC3E}">
        <p14:creationId xmlns:p14="http://schemas.microsoft.com/office/powerpoint/2010/main" val="3922953902"/>
      </p:ext>
    </p:extLst>
  </p:cSld>
  <p:clrMap bg1="lt1" tx1="dk1" bg2="lt2" tx2="dk2" accent1="accent1" accent2="accent2" accent3="accent3" accent4="accent4" accent5="accent5" accent6="accent6" hlink="hlink" folHlink="folHlink"/>
  <p:notesStyle>
    <a:lvl1pPr marL="0" algn="l" defTabSz="975299" rtl="0" eaLnBrk="1" latinLnBrk="0" hangingPunct="1">
      <a:defRPr sz="1280" kern="1200">
        <a:solidFill>
          <a:schemeClr val="tx1"/>
        </a:solidFill>
        <a:latin typeface="+mn-lt"/>
        <a:ea typeface="+mn-ea"/>
        <a:cs typeface="+mn-cs"/>
      </a:defRPr>
    </a:lvl1pPr>
    <a:lvl2pPr marL="487650" algn="l" defTabSz="975299" rtl="0" eaLnBrk="1" latinLnBrk="0" hangingPunct="1">
      <a:defRPr sz="1280" kern="1200">
        <a:solidFill>
          <a:schemeClr val="tx1"/>
        </a:solidFill>
        <a:latin typeface="+mn-lt"/>
        <a:ea typeface="+mn-ea"/>
        <a:cs typeface="+mn-cs"/>
      </a:defRPr>
    </a:lvl2pPr>
    <a:lvl3pPr marL="975299" algn="l" defTabSz="975299" rtl="0" eaLnBrk="1" latinLnBrk="0" hangingPunct="1">
      <a:defRPr sz="1280" kern="1200">
        <a:solidFill>
          <a:schemeClr val="tx1"/>
        </a:solidFill>
        <a:latin typeface="+mn-lt"/>
        <a:ea typeface="+mn-ea"/>
        <a:cs typeface="+mn-cs"/>
      </a:defRPr>
    </a:lvl3pPr>
    <a:lvl4pPr marL="1462949" algn="l" defTabSz="975299" rtl="0" eaLnBrk="1" latinLnBrk="0" hangingPunct="1">
      <a:defRPr sz="1280" kern="1200">
        <a:solidFill>
          <a:schemeClr val="tx1"/>
        </a:solidFill>
        <a:latin typeface="+mn-lt"/>
        <a:ea typeface="+mn-ea"/>
        <a:cs typeface="+mn-cs"/>
      </a:defRPr>
    </a:lvl4pPr>
    <a:lvl5pPr marL="1950598" algn="l" defTabSz="975299" rtl="0" eaLnBrk="1" latinLnBrk="0" hangingPunct="1">
      <a:defRPr sz="1280" kern="1200">
        <a:solidFill>
          <a:schemeClr val="tx1"/>
        </a:solidFill>
        <a:latin typeface="+mn-lt"/>
        <a:ea typeface="+mn-ea"/>
        <a:cs typeface="+mn-cs"/>
      </a:defRPr>
    </a:lvl5pPr>
    <a:lvl6pPr marL="2438248" algn="l" defTabSz="975299" rtl="0" eaLnBrk="1" latinLnBrk="0" hangingPunct="1">
      <a:defRPr sz="1280" kern="1200">
        <a:solidFill>
          <a:schemeClr val="tx1"/>
        </a:solidFill>
        <a:latin typeface="+mn-lt"/>
        <a:ea typeface="+mn-ea"/>
        <a:cs typeface="+mn-cs"/>
      </a:defRPr>
    </a:lvl6pPr>
    <a:lvl7pPr marL="2925897" algn="l" defTabSz="975299" rtl="0" eaLnBrk="1" latinLnBrk="0" hangingPunct="1">
      <a:defRPr sz="1280" kern="1200">
        <a:solidFill>
          <a:schemeClr val="tx1"/>
        </a:solidFill>
        <a:latin typeface="+mn-lt"/>
        <a:ea typeface="+mn-ea"/>
        <a:cs typeface="+mn-cs"/>
      </a:defRPr>
    </a:lvl7pPr>
    <a:lvl8pPr marL="3413547" algn="l" defTabSz="975299" rtl="0" eaLnBrk="1" latinLnBrk="0" hangingPunct="1">
      <a:defRPr sz="1280" kern="1200">
        <a:solidFill>
          <a:schemeClr val="tx1"/>
        </a:solidFill>
        <a:latin typeface="+mn-lt"/>
        <a:ea typeface="+mn-ea"/>
        <a:cs typeface="+mn-cs"/>
      </a:defRPr>
    </a:lvl8pPr>
    <a:lvl9pPr marL="3901196" algn="l" defTabSz="975299" rtl="0" eaLnBrk="1" latinLnBrk="0" hangingPunct="1">
      <a:defRPr sz="128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entwerfen in dieser Einheit eine Datenhaltung von Grund auf. Kein vorhandenes Schema, kein Umbau: ein Unternehmen kommt mit einem Auftrag. Damit das nicht abstrakt bleibt, hängen wir alles an EINEN Fall — an eine einzige Fahrt. Die begleitet uns bis zur letzten Folie.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Zahlen sind echt: 61 Minuten, E-Bike, Studententarif mit Rabatt. Am Ende der Einheit können wir jeden Cent begründen. Die Zwischenbeträge 6,20 und 4,00 sind die beiden naheliegenden Fehler — der eine ignoriert den Tarif, der andere dreht die Reihenfolge um.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die Landkarte. Ich komme nach jedem Kapitel kurz darauf zurück und hake ab.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Bevor irgendetwas modelliert wird, muss das Geschäft verstanden sein. Anforderungen werden in Substantiven und Regeln notiert, nicht in Tabellen.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Wichtig ist die zweite Kachel: Free-Floating heißt, dass ein Rad auch ohne Station eine Position haben muss. Das entscheidet später über die Struktur der Positionsdaten.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von zehn. Rechts steht schon, wo die Regel später landet — das ist der rote Faden durch die Umsetzung. GR7 bis GR13 folgen im physischen Entwurf.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Entitäten, Beziehungen, Kardinalitäten. Noch keine Datentypen, keine Schlüsselstrategie, keine Datenbank.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Bewusst ohne Attribute. Auf dieser Stufe interessiert nur, welche Dinge es gibt und wie viele davon auf jeder Seite stehen. „Ein Kunde hat höchstens einen gültigen Tarif“ ist eine Entscheidung des Fachbereichs, keine technische Festlegung.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Spalte ist die wichtige. Jede Kardinalität muss man gegen die Wirklichkeit prüfen, nicht aus dem Bauch setzen.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Kunde, Station, Lieferant und Lager brauchen dieselbe Adressstruktur — vier Mal dieselben fünf Spalten wären Redundanz auf Schemaebene.</a:t>
            </a:r>
          </a:p>
          <a:p/>
          <a:p>
            <a:r>
              <a:t>Auffällig: keine Passwortspalte. Die Anmeldung liegt vollständig bei Supabase Auth, verbunden über auth_uid. Und hausnummer ist NOT NULL mit leerem Vorgabewert — sonst greift der fachliche Schlüssel nicht, weil zwei NULL-Werte in einem UNIQUE-Index als verschieden gelten.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Rad ändert seine Stammdaten fast nie und seine Position ständig — die 1:1-Trennung hält die Stammdatentabelle ruhig.</a:t>
            </a:r>
          </a:p>
          <a:p/>
          <a:p>
            <a:r>
              <a:t>station_id IS NULL bedeutet eindeutig: frei abgestellt. Zwischen Typ und Rad steht das Modell — das wirkt zunächst überflüssig, ist aber die Brücke zur Warenwirtschaft: Ersatzteile hängen am Modell, nicht am Einzelrad.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Preis gilt für einen Zeitraum, nicht für immer — der EXCLUDE-Constraint verhindert Überschneidungen in der Datenbank, nicht in der Anwendung.</a:t>
            </a:r>
          </a:p>
          <a:p/>
          <a:p>
            <a:r>
              <a:t>freiminuten_periode ist der Kern: statt eines Zählers, der heruntergezählt wird, stehen Kontingent und Verbrauch je Monat nebeneinander. Bestand und Bewegung bleiben unterscheidbar, jeder Stand ist rekonstruierbar.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einzelner Kostenbetrag verrät nicht, wie er zustande kam — jede Zeile der Abrechnung bleibt sichtbar und trägt ihren Beleg.</a:t>
            </a:r>
          </a:p>
          <a:p/>
          <a:p>
            <a:r>
              <a:t>Der Fremdschlüssel von entgeltposition auf nutzungspreis ist der wichtigste Pfeil im ganzen Modell: er dokumentiert, welcher Preissatz tatsächlich angewandt wurde. Ohne ihn wäre eine Altrechnung nach einer Preisänderung nicht mehr erklärbar.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ergänzt um die Zahlung — gespeichert wird nur das Token des Dienstleisters, weder IBAN noch Kartennummer.</a:t>
            </a:r>
          </a:p>
          <a:p/>
          <a:p>
            <a:r>
              <a:t>Was nicht gespeichert wird, kann nicht abfließen. Das ist keine Bequemlichkeit, sondern die wirksamste Schutzmaßnahme überhaupt.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FAQ, Nutzungsschritte und Kennzahlen könnten in einer generischen Schlüssel-Wert-Tabelle liegen — das wäre flexibler und schlechter.</a:t>
            </a:r>
          </a:p>
          <a:p/>
          <a:p>
            <a:r>
              <a:t>Ein Entity-Attribute-Value-Modell wäre in dritter Normalform und trotzdem falsch: keine Typsicherheit, keine Fremdschlüssel, keine Constraints, unlesbare Abfragen. Normalform ist notwendig, nicht hinreichend.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Prüfverfahren, kein Entwurfsverfahren. Es findet Redundanz — es sagt nicht, ob das Modell die Wirklichkeit trifft.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Erst die Anomalien zeigen, dann zerlegen. Wer sofort zerlegt, weiß hinterher nicht, welches Problem er gelöst hat.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Kopf-Positionen-Muster kennen die meisten aus der Praxis. Hier sehen sie zum ersten Mal, dass es formal begründbar ist und nicht bloß Konvention.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zentrale Botschaft des Blocks und eine gute Prüfungsfrage: Nennen Sie eine Stelle, an der ein Modell in dritter Normalform trotzdem fachlich falsch ist.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 Relationen statt einer klingt nach mehr Aufwand. Der Aufwand entsteht einmal beim Entwurf und spart sich bei jeder Änderung wieder ein.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der Blick ins Data Dictionary: die Begründung steht als Kommentar direkt an der Spalte adresse.ort und veraltet nicht.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Regelbasiert und damit prüfbar. Wer eine 1:N-Beziehung auf der Eins-Seite verankert, hat nicht anders entworfen, sondern falsch abgebildet.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1:1-Abbildung ist die elegante: fahrrad_id ist in fahrrad_position zugleich Primär- und Fremdschlüssel. Damit ist „höchstens eine Position je Rad“ ohne zusätzlichen Constraint erzwungen.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Zeile ist der häufigste Anfängerfehler: den sprechenden Schlüssel zum Primärschlüssel machen. Er ist eindeutig und sprechend — aber eben nicht stabil.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eine Geschäftsregel entweder erzwungen oder nur gewünscht. Jede Regel, die nicht in einem Constraint steht, wird früher oder später verletzt.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Zeitzonenfalle ist real und teuer: eine Fahrt in der Nacht der Umstellung lässt sich mit timestamp ohne Zone nicht eindeutig einordnen.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Unterschied in der dritten Spalte ist der eigentliche Inhalt dieser Folie. Constraints sind unbestechlich, Funktionen kann man umgehen — deshalb muss die Fachlogik von außen unerreichbar sein.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Fallstricke sind beim Bauen tatsächlich aufgetreten. Der erste hat die Anlage abgebrochen, der zweite wäre bei einem nahtlosen Tarifwechsel aufgefallen.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Gute Prüfungsfrage: Warum ist eine CHECK-Bedingung mit current_date gefährlich, obwohl die Datenbank sie annimmt?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lösen wir die Frage vom Anfang auf. Jeder Cent muss begründbar sein.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die Reihenfolge dieser Vorlesung. Wer 0004 vor 0003 ausführt, bekommt einen Fremdschlüsselfehler — die Abhängigkeiten sind im Schema selbst dokumentiert.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Auflösung des roten Fadens. Neun Testfälle sichern die Berechnung ab; einer prüft ausdrücklich die Reihenfolge, weil genau dort der teure Fehler sitzt.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Trick ist der Test, nicht der Kommentar. Ohne ihn schreibt man die ersten zwanzig Kommentare und vergisst die restlichen zweihundert.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Schutz liegt in der Datenbank. Auf den Browser ist grundsätzlich kein Verlass.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Schema velocity_demo liegt eine Tabelle mit erfundenen Daten, an der die Studierenden das Antipattern live ausprobieren dürfen — ohne den echten Bestand zu öffnen.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untere rote Kasten ist der Kern: fn_ausleihe_beenden bekommt die kunde_id als Parameter und glaubt sie. Wäre die Funktion von außen aufrufbar, könnte jeder fremde Ausleihen abrechnen.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zweite Anweisung verhindert den Rückfall bei künftig angelegten Funktionen. Ohne sie schnappt die Falle beim nächsten CREATE FUNCTION wieder zu.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mir die wichtigste des Blocks. Der häufigste Fehler bei Sicherheitstests ist nicht der fehlende Test, sondern der Test, der aus dem falschen Grund grün wird.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Sichten sind der Vertrag zwischen Datenbank und Oberfläche.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Auch die Inhalte der Seite kommen aus der Datenbank: Tarifkarten, FAQ, die Schritte der Anleitung und die Kennzahlen. Vorher standen sie fest im HTML und mussten bei jeder Preisänderung von Hand nachgezogen werden.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Sätze zum Mitnehmen — und ein Blick auf die Warenwirtschaft.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 jedem Satz gibt es eine Folie in dieser Einheit und eine Stelle im Modell. Das eignet sich als Prüfungsvorbereitung.</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Lehrpunkt beim Lager ist derselbe wie bei den Freiminuten: Bestand gegen Bewegung. Wer den Lagerbestand als Zahl pflegt, kann ihn nicht mehr erklären.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3"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4" Type="http://schemas.openxmlformats.org/officeDocument/2006/relationships/slideMaster" Target="../slideMasters/slideMaster1.xml"/><Relationship Id="rId5"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10.svg"/></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3" Type="http://schemas.openxmlformats.org/officeDocument/2006/relationships/image" Target="../media/image5.jpe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7.svg"/></Relationships>
</file>

<file path=ppt/slideLayouts/_rels/slideLayout14.xml.rels><?xml version='1.0' encoding='UTF-8' standalone='yes'?>
<Relationships xmlns="http://schemas.openxmlformats.org/package/2006/relationships"><Relationship Id="rId4" Type="http://schemas.openxmlformats.org/officeDocument/2006/relationships/slideMaster" Target="../slideMasters/slideMaster2.xml"/><Relationship Id="rId5" Type="http://schemas.openxmlformats.org/officeDocument/2006/relationships/image" Target="../media/image8.svg"/></Relationships>
</file>

<file path=ppt/slideLayouts/_rels/slideLayout15.xml.rels><?xml version='1.0' encoding='UTF-8' standalone='yes'?>
<Relationships xmlns="http://schemas.openxmlformats.org/package/2006/relationships"><Relationship Id="rId4"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1384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BINT · Wintersemester 2026/27 | Business </a:t>
            </a:r>
            <a:r>
              <a:rPr lang="de-DE" sz="900" dirty="0" err="1">
                <a:solidFill>
                  <a:schemeClr val="bg1"/>
                </a:solidFill>
                <a:latin typeface="GT Planar Light" pitchFamily="50" charset="0"/>
                <a:ea typeface="GT Planar Light" pitchFamily="50" charset="0"/>
              </a:rPr>
              <a:t>Intelligence</a:t>
            </a:r>
            <a:endParaRPr lang="de-DE" sz="1800" dirty="0">
              <a:solidFill>
                <a:schemeClr val="bg1"/>
              </a:solidFill>
              <a:latin typeface="GT Planar Light" pitchFamily="50" charset="0"/>
              <a:ea typeface="GT Planar Light" pitchFamily="50" charset="0"/>
            </a:endParaRPr>
          </a:p>
        </p:txBody>
      </p:sp>
      <p:pic>
        <p:nvPicPr>
          <p:cNvPr id="7" name="Grafik 6">
            <a:extLst>
              <a:ext uri="{FF2B5EF4-FFF2-40B4-BE49-F238E27FC236}">
                <a16:creationId xmlns:a16="http://schemas.microsoft.com/office/drawing/2014/main" id="{8838BC99-B0DB-3286-2378-25F871BC4A9B}"/>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9067566" y="344016"/>
            <a:ext cx="3603061" cy="1406962"/>
          </a:xfrm>
          <a:prstGeom prst="rect">
            <a:avLst/>
          </a:prstGeom>
        </p:spPr>
      </p:pic>
    </p:spTree>
    <p:extLst>
      <p:ext uri="{BB962C8B-B14F-4D97-AF65-F5344CB8AC3E}">
        <p14:creationId xmlns:p14="http://schemas.microsoft.com/office/powerpoint/2010/main" val="664360292"/>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426620255"/>
      </p:ext>
    </p:extLst>
  </p:cSld>
  <p:clrMapOvr>
    <a:masterClrMapping/>
  </p:clrMapOvr>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6002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168610649"/>
      </p:ext>
    </p:extLst>
  </p:cSld>
  <p:clrMapOvr>
    <a:masterClrMapping/>
  </p:clrMapOvr>
  <p:extLst>
    <p:ext uri="{DCECCB84-F9BA-43D5-87BE-67443E8EF086}">
      <p15:sldGuideLst xmlns:p15="http://schemas.microsoft.com/office/powerpoint/2012/main">
        <p15:guide id="1" orient="horz" pos="4164" userDrawn="1">
          <p15:clr>
            <a:srgbClr val="FBAE40"/>
          </p15:clr>
        </p15:guide>
        <p15:guide id="2" orient="horz" pos="807" userDrawn="1">
          <p15:clr>
            <a:srgbClr val="FBAE40"/>
          </p15:clr>
        </p15:guide>
        <p15:guide id="3" pos="4096" userDrawn="1">
          <p15:clr>
            <a:srgbClr val="FBAE40"/>
          </p15:clr>
        </p15:guide>
        <p15:guide id="4" pos="7952"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3682261692"/>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379203904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3066684223"/>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43925911"/>
      </p:ext>
    </p:extLst>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6"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70"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3786975"/>
            <a:ext cx="13004800" cy="3547019"/>
          </a:xfrm>
          <a:prstGeom prst="rect">
            <a:avLst/>
          </a:prstGeom>
          <a:solidFill>
            <a:srgbClr val="FF6A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522288" y="2290177"/>
            <a:ext cx="12101512"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522288" y="2862578"/>
            <a:ext cx="12101512" cy="722384"/>
          </a:xfrm>
          <a:prstGeom prst="rect">
            <a:avLst/>
          </a:prstGeom>
        </p:spPr>
        <p:txBody>
          <a:bodyPr wrap="none" lIns="0" tIns="0" rIns="0" bIns="0">
            <a:noAutofit/>
          </a:bodyPr>
          <a:lstStyle>
            <a:lvl1pPr marL="0">
              <a:spcBef>
                <a:spcPct val="0"/>
              </a:spcBef>
              <a:defRPr sz="4500" b="1">
                <a:solidFill>
                  <a:srgbClr val="003E6E"/>
                </a:solidFill>
                <a:latin typeface="GT Planar Medium" pitchFamily="50" charset="0"/>
                <a:ea typeface="GT Planar Medium" pitchFamily="50" charset="0"/>
              </a:defRPr>
            </a:lvl1pPr>
            <a:lvl2pPr marL="486015"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4" y="3786975"/>
            <a:ext cx="5799695" cy="3547018"/>
          </a:xfrm>
          <a:prstGeom prst="rect">
            <a:avLst/>
          </a:prstGeom>
        </p:spPr>
      </p:pic>
      <p:sp>
        <p:nvSpPr>
          <p:cNvPr id="6" name="Textfeld 5">
            <a:extLst>
              <a:ext uri="{FF2B5EF4-FFF2-40B4-BE49-F238E27FC236}">
                <a16:creationId xmlns:a16="http://schemas.microsoft.com/office/drawing/2014/main" id="{39C60F51-8387-C0D5-DF9F-07BA20577BC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dirty="0">
                <a:solidFill>
                  <a:schemeClr val="bg1"/>
                </a:solidFill>
                <a:latin typeface="GT Planar Light" pitchFamily="50" charset="0"/>
                <a:ea typeface="GT Planar Light" pitchFamily="50" charset="0"/>
              </a:rPr>
              <a:t>Prof. Dr. Robert Butscher | Fallstudie "Customer </a:t>
            </a:r>
            <a:r>
              <a:rPr lang="de-DE" sz="900" dirty="0" err="1">
                <a:solidFill>
                  <a:schemeClr val="bg1"/>
                </a:solidFill>
                <a:latin typeface="GT Planar Light" pitchFamily="50" charset="0"/>
                <a:ea typeface="GT Planar Light" pitchFamily="50" charset="0"/>
              </a:rPr>
              <a:t>Chirn</a:t>
            </a:r>
            <a:r>
              <a:rPr lang="de-DE" sz="900" dirty="0">
                <a:solidFill>
                  <a:schemeClr val="bg1"/>
                </a:solidFill>
                <a:latin typeface="GT Planar Light" pitchFamily="50" charset="0"/>
                <a:ea typeface="GT Planar Light" pitchFamily="50" charset="0"/>
              </a:rPr>
              <a:t> Prevention" | Wintersemester </a:t>
            </a:r>
            <a:r>
              <a:rPr lang="de-DE" sz="1800" dirty="0">
                <a:solidFill>
                  <a:schemeClr val="bg1"/>
                </a:solidFill>
                <a:latin typeface="GT Planar Medium" pitchFamily="50" charset="0"/>
                <a:ea typeface="GT Planar Medium" pitchFamily="50" charset="0"/>
              </a:rPr>
              <a:t>2024/25</a:t>
            </a:r>
            <a:endParaRPr lang="de-DE" sz="1800" dirty="0">
              <a:solidFill>
                <a:schemeClr val="bg1"/>
              </a:solidFill>
              <a:latin typeface="GT Planar Light" pitchFamily="50" charset="0"/>
              <a:ea typeface="GT Planar Light" pitchFamily="50" charset="0"/>
            </a:endParaRPr>
          </a:p>
        </p:txBody>
      </p:sp>
      <p:pic>
        <p:nvPicPr>
          <p:cNvPr id="3" name="Grafik 2">
            <a:extLst>
              <a:ext uri="{FF2B5EF4-FFF2-40B4-BE49-F238E27FC236}">
                <a16:creationId xmlns:a16="http://schemas.microsoft.com/office/drawing/2014/main" id="{4D5A3314-F113-CC11-5AE8-B52EB10184B6}"/>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268495893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Motivation">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CH" sz="1600">
              <a:solidFill>
                <a:schemeClr val="tx1"/>
              </a:solidFill>
            </a:endParaRPr>
          </a:p>
        </p:txBody>
      </p:sp>
      <p:grpSp>
        <p:nvGrpSpPr>
          <p:cNvPr id="3" name="Gruppieren 2">
            <a:extLst>
              <a:ext uri="{FF2B5EF4-FFF2-40B4-BE49-F238E27FC236}">
                <a16:creationId xmlns:a16="http://schemas.microsoft.com/office/drawing/2014/main" id="{1A8E55D1-0D4A-F200-934F-7C0436D8D7F4}"/>
              </a:ext>
            </a:extLst>
          </p:cNvPr>
          <p:cNvGrpSpPr/>
          <p:nvPr userDrawn="1"/>
        </p:nvGrpSpPr>
        <p:grpSpPr>
          <a:xfrm>
            <a:off x="-15191" y="2"/>
            <a:ext cx="13009294" cy="7315199"/>
            <a:chOff x="576428" y="884863"/>
            <a:chExt cx="7898501" cy="4441371"/>
          </a:xfrm>
        </p:grpSpPr>
        <p:pic>
          <p:nvPicPr>
            <p:cNvPr id="4" name="Grafik 3">
              <a:extLst>
                <a:ext uri="{FF2B5EF4-FFF2-40B4-BE49-F238E27FC236}">
                  <a16:creationId xmlns:a16="http://schemas.microsoft.com/office/drawing/2014/main" id="{9F0D2DC9-DBB7-4D60-E4EA-59AF35F6A60F}"/>
                </a:ext>
              </a:extLst>
            </p:cNvPr>
            <p:cNvPicPr>
              <a:picLocks noChangeAspect="1"/>
            </p:cNvPicPr>
            <p:nvPr/>
          </p:nvPicPr>
          <p:blipFill rotWithShape="1">
            <a:blip r:embed="rId3"/>
            <a:srcRect l="7079"/>
            <a:stretch/>
          </p:blipFill>
          <p:spPr>
            <a:xfrm>
              <a:off x="576428" y="884863"/>
              <a:ext cx="3967668" cy="4441371"/>
            </a:xfrm>
            <a:prstGeom prst="rect">
              <a:avLst/>
            </a:prstGeom>
          </p:spPr>
        </p:pic>
        <p:pic>
          <p:nvPicPr>
            <p:cNvPr id="5" name="Grafik 4">
              <a:extLst>
                <a:ext uri="{FF2B5EF4-FFF2-40B4-BE49-F238E27FC236}">
                  <a16:creationId xmlns:a16="http://schemas.microsoft.com/office/drawing/2014/main" id="{4BE3F585-D73C-4EC2-849B-F32CD9D978A5}"/>
                </a:ext>
              </a:extLst>
            </p:cNvPr>
            <p:cNvPicPr>
              <a:picLocks noChangeAspect="1"/>
            </p:cNvPicPr>
            <p:nvPr/>
          </p:nvPicPr>
          <p:blipFill rotWithShape="1">
            <a:blip r:embed="rId3"/>
            <a:srcRect l="95737"/>
            <a:stretch/>
          </p:blipFill>
          <p:spPr>
            <a:xfrm>
              <a:off x="4228955" y="884863"/>
              <a:ext cx="233097" cy="4441371"/>
            </a:xfrm>
            <a:prstGeom prst="rect">
              <a:avLst/>
            </a:prstGeom>
          </p:spPr>
        </p:pic>
        <p:pic>
          <p:nvPicPr>
            <p:cNvPr id="6" name="Grafik 5">
              <a:extLst>
                <a:ext uri="{FF2B5EF4-FFF2-40B4-BE49-F238E27FC236}">
                  <a16:creationId xmlns:a16="http://schemas.microsoft.com/office/drawing/2014/main" id="{7D90520F-5293-C803-3EBD-9A8558BC60C8}"/>
                </a:ext>
              </a:extLst>
            </p:cNvPr>
            <p:cNvPicPr>
              <a:picLocks noChangeAspect="1"/>
            </p:cNvPicPr>
            <p:nvPr/>
          </p:nvPicPr>
          <p:blipFill rotWithShape="1">
            <a:blip r:embed="rId3"/>
            <a:srcRect l="95737"/>
            <a:stretch/>
          </p:blipFill>
          <p:spPr>
            <a:xfrm>
              <a:off x="4428574" y="884863"/>
              <a:ext cx="182044" cy="4441371"/>
            </a:xfrm>
            <a:prstGeom prst="rect">
              <a:avLst/>
            </a:prstGeom>
          </p:spPr>
        </p:pic>
        <p:pic>
          <p:nvPicPr>
            <p:cNvPr id="7" name="Grafik 6">
              <a:extLst>
                <a:ext uri="{FF2B5EF4-FFF2-40B4-BE49-F238E27FC236}">
                  <a16:creationId xmlns:a16="http://schemas.microsoft.com/office/drawing/2014/main" id="{495A01E3-94C6-65F2-91C2-4825C7CEA7DE}"/>
                </a:ext>
              </a:extLst>
            </p:cNvPr>
            <p:cNvPicPr>
              <a:picLocks noChangeAspect="1"/>
            </p:cNvPicPr>
            <p:nvPr/>
          </p:nvPicPr>
          <p:blipFill rotWithShape="1">
            <a:blip r:embed="rId3"/>
            <a:srcRect l="95737"/>
            <a:stretch/>
          </p:blipFill>
          <p:spPr>
            <a:xfrm>
              <a:off x="4572000" y="884863"/>
              <a:ext cx="182044" cy="4441371"/>
            </a:xfrm>
            <a:prstGeom prst="rect">
              <a:avLst/>
            </a:prstGeom>
          </p:spPr>
        </p:pic>
        <p:pic>
          <p:nvPicPr>
            <p:cNvPr id="8" name="Grafik 7">
              <a:extLst>
                <a:ext uri="{FF2B5EF4-FFF2-40B4-BE49-F238E27FC236}">
                  <a16:creationId xmlns:a16="http://schemas.microsoft.com/office/drawing/2014/main" id="{772E2087-4CDC-AA3D-17E4-5FC15FD1197F}"/>
                </a:ext>
              </a:extLst>
            </p:cNvPr>
            <p:cNvPicPr>
              <a:picLocks noChangeAspect="1"/>
            </p:cNvPicPr>
            <p:nvPr/>
          </p:nvPicPr>
          <p:blipFill rotWithShape="1">
            <a:blip r:embed="rId3"/>
            <a:srcRect l="95737"/>
            <a:stretch/>
          </p:blipFill>
          <p:spPr>
            <a:xfrm>
              <a:off x="4745174" y="884863"/>
              <a:ext cx="182044" cy="4441371"/>
            </a:xfrm>
            <a:prstGeom prst="rect">
              <a:avLst/>
            </a:prstGeom>
          </p:spPr>
        </p:pic>
        <p:pic>
          <p:nvPicPr>
            <p:cNvPr id="9" name="Grafik 8">
              <a:extLst>
                <a:ext uri="{FF2B5EF4-FFF2-40B4-BE49-F238E27FC236}">
                  <a16:creationId xmlns:a16="http://schemas.microsoft.com/office/drawing/2014/main" id="{16979421-1F8C-8423-B83F-F1586E6BA8BE}"/>
                </a:ext>
              </a:extLst>
            </p:cNvPr>
            <p:cNvPicPr>
              <a:picLocks noChangeAspect="1"/>
            </p:cNvPicPr>
            <p:nvPr/>
          </p:nvPicPr>
          <p:blipFill rotWithShape="1">
            <a:blip r:embed="rId3"/>
            <a:srcRect l="95737"/>
            <a:stretch/>
          </p:blipFill>
          <p:spPr>
            <a:xfrm>
              <a:off x="4866931" y="884863"/>
              <a:ext cx="182044" cy="4441371"/>
            </a:xfrm>
            <a:prstGeom prst="rect">
              <a:avLst/>
            </a:prstGeom>
          </p:spPr>
        </p:pic>
        <p:pic>
          <p:nvPicPr>
            <p:cNvPr id="10" name="Grafik 9">
              <a:extLst>
                <a:ext uri="{FF2B5EF4-FFF2-40B4-BE49-F238E27FC236}">
                  <a16:creationId xmlns:a16="http://schemas.microsoft.com/office/drawing/2014/main" id="{3E611D0A-757A-AAC6-C9DE-FD6F5997E7B0}"/>
                </a:ext>
              </a:extLst>
            </p:cNvPr>
            <p:cNvPicPr>
              <a:picLocks noChangeAspect="1"/>
            </p:cNvPicPr>
            <p:nvPr/>
          </p:nvPicPr>
          <p:blipFill rotWithShape="1">
            <a:blip r:embed="rId3"/>
            <a:srcRect l="95737"/>
            <a:stretch/>
          </p:blipFill>
          <p:spPr>
            <a:xfrm>
              <a:off x="5019093" y="884863"/>
              <a:ext cx="182044" cy="4441371"/>
            </a:xfrm>
            <a:prstGeom prst="rect">
              <a:avLst/>
            </a:prstGeom>
          </p:spPr>
        </p:pic>
        <p:pic>
          <p:nvPicPr>
            <p:cNvPr id="11" name="Grafik 10">
              <a:extLst>
                <a:ext uri="{FF2B5EF4-FFF2-40B4-BE49-F238E27FC236}">
                  <a16:creationId xmlns:a16="http://schemas.microsoft.com/office/drawing/2014/main" id="{3ECD5553-768B-2C7B-DF9A-EB146E0F7CD3}"/>
                </a:ext>
              </a:extLst>
            </p:cNvPr>
            <p:cNvPicPr>
              <a:picLocks noChangeAspect="1"/>
            </p:cNvPicPr>
            <p:nvPr/>
          </p:nvPicPr>
          <p:blipFill rotWithShape="1">
            <a:blip r:embed="rId3"/>
            <a:srcRect l="95737"/>
            <a:stretch/>
          </p:blipFill>
          <p:spPr>
            <a:xfrm>
              <a:off x="5201990" y="884863"/>
              <a:ext cx="182044" cy="4441371"/>
            </a:xfrm>
            <a:prstGeom prst="rect">
              <a:avLst/>
            </a:prstGeom>
          </p:spPr>
        </p:pic>
        <p:pic>
          <p:nvPicPr>
            <p:cNvPr id="12" name="Grafik 11">
              <a:extLst>
                <a:ext uri="{FF2B5EF4-FFF2-40B4-BE49-F238E27FC236}">
                  <a16:creationId xmlns:a16="http://schemas.microsoft.com/office/drawing/2014/main" id="{565AF008-0AA7-0A44-4F23-6CE900E5FBCC}"/>
                </a:ext>
              </a:extLst>
            </p:cNvPr>
            <p:cNvPicPr>
              <a:picLocks noChangeAspect="1"/>
            </p:cNvPicPr>
            <p:nvPr/>
          </p:nvPicPr>
          <p:blipFill rotWithShape="1">
            <a:blip r:embed="rId3"/>
            <a:srcRect l="95737"/>
            <a:stretch/>
          </p:blipFill>
          <p:spPr>
            <a:xfrm>
              <a:off x="5350556" y="884863"/>
              <a:ext cx="182044" cy="4441371"/>
            </a:xfrm>
            <a:prstGeom prst="rect">
              <a:avLst/>
            </a:prstGeom>
          </p:spPr>
        </p:pic>
        <p:pic>
          <p:nvPicPr>
            <p:cNvPr id="13" name="Grafik 12">
              <a:extLst>
                <a:ext uri="{FF2B5EF4-FFF2-40B4-BE49-F238E27FC236}">
                  <a16:creationId xmlns:a16="http://schemas.microsoft.com/office/drawing/2014/main" id="{3F02DD51-A4C3-B214-9880-B80FB8AA8ADF}"/>
                </a:ext>
              </a:extLst>
            </p:cNvPr>
            <p:cNvPicPr>
              <a:picLocks noChangeAspect="1"/>
            </p:cNvPicPr>
            <p:nvPr/>
          </p:nvPicPr>
          <p:blipFill rotWithShape="1">
            <a:blip r:embed="rId3"/>
            <a:srcRect l="95737"/>
            <a:stretch/>
          </p:blipFill>
          <p:spPr>
            <a:xfrm>
              <a:off x="5474250" y="884863"/>
              <a:ext cx="182044" cy="4441371"/>
            </a:xfrm>
            <a:prstGeom prst="rect">
              <a:avLst/>
            </a:prstGeom>
          </p:spPr>
        </p:pic>
        <p:pic>
          <p:nvPicPr>
            <p:cNvPr id="14" name="Grafik 13">
              <a:extLst>
                <a:ext uri="{FF2B5EF4-FFF2-40B4-BE49-F238E27FC236}">
                  <a16:creationId xmlns:a16="http://schemas.microsoft.com/office/drawing/2014/main" id="{40C9B79F-7B47-868D-15B5-4727A0AC59FF}"/>
                </a:ext>
              </a:extLst>
            </p:cNvPr>
            <p:cNvPicPr>
              <a:picLocks noChangeAspect="1"/>
            </p:cNvPicPr>
            <p:nvPr/>
          </p:nvPicPr>
          <p:blipFill rotWithShape="1">
            <a:blip r:embed="rId3"/>
            <a:srcRect l="95737"/>
            <a:stretch/>
          </p:blipFill>
          <p:spPr>
            <a:xfrm>
              <a:off x="5590144" y="884863"/>
              <a:ext cx="182044" cy="4441371"/>
            </a:xfrm>
            <a:prstGeom prst="rect">
              <a:avLst/>
            </a:prstGeom>
          </p:spPr>
        </p:pic>
        <p:pic>
          <p:nvPicPr>
            <p:cNvPr id="15" name="Grafik 14">
              <a:extLst>
                <a:ext uri="{FF2B5EF4-FFF2-40B4-BE49-F238E27FC236}">
                  <a16:creationId xmlns:a16="http://schemas.microsoft.com/office/drawing/2014/main" id="{1D1BB127-7BB5-2D72-535F-47E74AD5FD57}"/>
                </a:ext>
              </a:extLst>
            </p:cNvPr>
            <p:cNvPicPr>
              <a:picLocks noChangeAspect="1"/>
            </p:cNvPicPr>
            <p:nvPr/>
          </p:nvPicPr>
          <p:blipFill rotWithShape="1">
            <a:blip r:embed="rId3"/>
            <a:srcRect l="95737"/>
            <a:stretch/>
          </p:blipFill>
          <p:spPr>
            <a:xfrm>
              <a:off x="5713838" y="884863"/>
              <a:ext cx="182044" cy="4441371"/>
            </a:xfrm>
            <a:prstGeom prst="rect">
              <a:avLst/>
            </a:prstGeom>
          </p:spPr>
        </p:pic>
        <p:pic>
          <p:nvPicPr>
            <p:cNvPr id="16" name="Grafik 15">
              <a:extLst>
                <a:ext uri="{FF2B5EF4-FFF2-40B4-BE49-F238E27FC236}">
                  <a16:creationId xmlns:a16="http://schemas.microsoft.com/office/drawing/2014/main" id="{433F80C7-0D67-8609-31F8-6D486A3C7C0B}"/>
                </a:ext>
              </a:extLst>
            </p:cNvPr>
            <p:cNvPicPr>
              <a:picLocks noChangeAspect="1"/>
            </p:cNvPicPr>
            <p:nvPr/>
          </p:nvPicPr>
          <p:blipFill rotWithShape="1">
            <a:blip r:embed="rId3"/>
            <a:srcRect l="95737"/>
            <a:stretch/>
          </p:blipFill>
          <p:spPr>
            <a:xfrm>
              <a:off x="5866000" y="884863"/>
              <a:ext cx="182044" cy="4441371"/>
            </a:xfrm>
            <a:prstGeom prst="rect">
              <a:avLst/>
            </a:prstGeom>
          </p:spPr>
        </p:pic>
        <p:pic>
          <p:nvPicPr>
            <p:cNvPr id="17" name="Grafik 16">
              <a:extLst>
                <a:ext uri="{FF2B5EF4-FFF2-40B4-BE49-F238E27FC236}">
                  <a16:creationId xmlns:a16="http://schemas.microsoft.com/office/drawing/2014/main" id="{08BB41E1-B3D0-70A3-6756-DA624EF3E22A}"/>
                </a:ext>
              </a:extLst>
            </p:cNvPr>
            <p:cNvPicPr>
              <a:picLocks noChangeAspect="1"/>
            </p:cNvPicPr>
            <p:nvPr/>
          </p:nvPicPr>
          <p:blipFill rotWithShape="1">
            <a:blip r:embed="rId3"/>
            <a:srcRect l="95737"/>
            <a:stretch/>
          </p:blipFill>
          <p:spPr>
            <a:xfrm>
              <a:off x="6048897" y="884863"/>
              <a:ext cx="182044" cy="4441371"/>
            </a:xfrm>
            <a:prstGeom prst="rect">
              <a:avLst/>
            </a:prstGeom>
          </p:spPr>
        </p:pic>
        <p:pic>
          <p:nvPicPr>
            <p:cNvPr id="18" name="Grafik 17">
              <a:extLst>
                <a:ext uri="{FF2B5EF4-FFF2-40B4-BE49-F238E27FC236}">
                  <a16:creationId xmlns:a16="http://schemas.microsoft.com/office/drawing/2014/main" id="{1D93F8A3-8E7F-08AB-1A74-313804E373BA}"/>
                </a:ext>
              </a:extLst>
            </p:cNvPr>
            <p:cNvPicPr>
              <a:picLocks noChangeAspect="1"/>
            </p:cNvPicPr>
            <p:nvPr/>
          </p:nvPicPr>
          <p:blipFill rotWithShape="1">
            <a:blip r:embed="rId3"/>
            <a:srcRect l="95737"/>
            <a:stretch/>
          </p:blipFill>
          <p:spPr>
            <a:xfrm>
              <a:off x="6205897" y="884863"/>
              <a:ext cx="182044" cy="4441371"/>
            </a:xfrm>
            <a:prstGeom prst="rect">
              <a:avLst/>
            </a:prstGeom>
          </p:spPr>
        </p:pic>
        <p:pic>
          <p:nvPicPr>
            <p:cNvPr id="19" name="Grafik 18">
              <a:extLst>
                <a:ext uri="{FF2B5EF4-FFF2-40B4-BE49-F238E27FC236}">
                  <a16:creationId xmlns:a16="http://schemas.microsoft.com/office/drawing/2014/main" id="{3B3F6A7F-EA16-3861-9A90-AF6D6D13AD15}"/>
                </a:ext>
              </a:extLst>
            </p:cNvPr>
            <p:cNvPicPr>
              <a:picLocks noChangeAspect="1"/>
            </p:cNvPicPr>
            <p:nvPr/>
          </p:nvPicPr>
          <p:blipFill rotWithShape="1">
            <a:blip r:embed="rId3"/>
            <a:srcRect l="95737"/>
            <a:stretch/>
          </p:blipFill>
          <p:spPr>
            <a:xfrm>
              <a:off x="6375579" y="884863"/>
              <a:ext cx="182044" cy="4441371"/>
            </a:xfrm>
            <a:prstGeom prst="rect">
              <a:avLst/>
            </a:prstGeom>
          </p:spPr>
        </p:pic>
        <p:pic>
          <p:nvPicPr>
            <p:cNvPr id="20" name="Grafik 19">
              <a:extLst>
                <a:ext uri="{FF2B5EF4-FFF2-40B4-BE49-F238E27FC236}">
                  <a16:creationId xmlns:a16="http://schemas.microsoft.com/office/drawing/2014/main" id="{BA0395ED-F0EE-365B-F996-5E3EB46ACB4F}"/>
                </a:ext>
              </a:extLst>
            </p:cNvPr>
            <p:cNvPicPr>
              <a:picLocks noChangeAspect="1"/>
            </p:cNvPicPr>
            <p:nvPr/>
          </p:nvPicPr>
          <p:blipFill rotWithShape="1">
            <a:blip r:embed="rId3"/>
            <a:srcRect l="95737"/>
            <a:stretch/>
          </p:blipFill>
          <p:spPr>
            <a:xfrm>
              <a:off x="6233801" y="884863"/>
              <a:ext cx="182044" cy="4441371"/>
            </a:xfrm>
            <a:prstGeom prst="rect">
              <a:avLst/>
            </a:prstGeom>
          </p:spPr>
        </p:pic>
        <p:pic>
          <p:nvPicPr>
            <p:cNvPr id="21" name="Grafik 20">
              <a:extLst>
                <a:ext uri="{FF2B5EF4-FFF2-40B4-BE49-F238E27FC236}">
                  <a16:creationId xmlns:a16="http://schemas.microsoft.com/office/drawing/2014/main" id="{EBDDF9BA-FD27-1D1C-54AA-68E618FEE0DC}"/>
                </a:ext>
              </a:extLst>
            </p:cNvPr>
            <p:cNvPicPr>
              <a:picLocks noChangeAspect="1"/>
            </p:cNvPicPr>
            <p:nvPr/>
          </p:nvPicPr>
          <p:blipFill rotWithShape="1">
            <a:blip r:embed="rId3"/>
            <a:srcRect l="95737"/>
            <a:stretch/>
          </p:blipFill>
          <p:spPr>
            <a:xfrm>
              <a:off x="6506061" y="884863"/>
              <a:ext cx="182044" cy="4441371"/>
            </a:xfrm>
            <a:prstGeom prst="rect">
              <a:avLst/>
            </a:prstGeom>
          </p:spPr>
        </p:pic>
        <p:pic>
          <p:nvPicPr>
            <p:cNvPr id="22" name="Grafik 21">
              <a:extLst>
                <a:ext uri="{FF2B5EF4-FFF2-40B4-BE49-F238E27FC236}">
                  <a16:creationId xmlns:a16="http://schemas.microsoft.com/office/drawing/2014/main" id="{7A61B321-AD15-D339-D7A8-B3C604BC0E41}"/>
                </a:ext>
              </a:extLst>
            </p:cNvPr>
            <p:cNvPicPr>
              <a:picLocks noChangeAspect="1"/>
            </p:cNvPicPr>
            <p:nvPr/>
          </p:nvPicPr>
          <p:blipFill rotWithShape="1">
            <a:blip r:embed="rId3"/>
            <a:srcRect l="95737"/>
            <a:stretch/>
          </p:blipFill>
          <p:spPr>
            <a:xfrm>
              <a:off x="6684177" y="884863"/>
              <a:ext cx="182044" cy="4441371"/>
            </a:xfrm>
            <a:prstGeom prst="rect">
              <a:avLst/>
            </a:prstGeom>
          </p:spPr>
        </p:pic>
        <p:pic>
          <p:nvPicPr>
            <p:cNvPr id="23" name="Grafik 22">
              <a:extLst>
                <a:ext uri="{FF2B5EF4-FFF2-40B4-BE49-F238E27FC236}">
                  <a16:creationId xmlns:a16="http://schemas.microsoft.com/office/drawing/2014/main" id="{3B21975B-983D-ACE4-5C7C-5A87BE9A41E8}"/>
                </a:ext>
              </a:extLst>
            </p:cNvPr>
            <p:cNvPicPr>
              <a:picLocks noChangeAspect="1"/>
            </p:cNvPicPr>
            <p:nvPr/>
          </p:nvPicPr>
          <p:blipFill rotWithShape="1">
            <a:blip r:embed="rId3"/>
            <a:srcRect l="95737"/>
            <a:stretch/>
          </p:blipFill>
          <p:spPr>
            <a:xfrm>
              <a:off x="6867075" y="884863"/>
              <a:ext cx="182044" cy="4441371"/>
            </a:xfrm>
            <a:prstGeom prst="rect">
              <a:avLst/>
            </a:prstGeom>
          </p:spPr>
        </p:pic>
        <p:pic>
          <p:nvPicPr>
            <p:cNvPr id="24" name="Grafik 23">
              <a:extLst>
                <a:ext uri="{FF2B5EF4-FFF2-40B4-BE49-F238E27FC236}">
                  <a16:creationId xmlns:a16="http://schemas.microsoft.com/office/drawing/2014/main" id="{14423975-0886-1E5E-871F-8F47865D8ADD}"/>
                </a:ext>
              </a:extLst>
            </p:cNvPr>
            <p:cNvPicPr>
              <a:picLocks noChangeAspect="1"/>
            </p:cNvPicPr>
            <p:nvPr/>
          </p:nvPicPr>
          <p:blipFill rotWithShape="1">
            <a:blip r:embed="rId3"/>
            <a:srcRect l="95737"/>
            <a:stretch/>
          </p:blipFill>
          <p:spPr>
            <a:xfrm>
              <a:off x="7049972" y="884863"/>
              <a:ext cx="182044" cy="4441371"/>
            </a:xfrm>
            <a:prstGeom prst="rect">
              <a:avLst/>
            </a:prstGeom>
          </p:spPr>
        </p:pic>
        <p:pic>
          <p:nvPicPr>
            <p:cNvPr id="25" name="Grafik 24">
              <a:extLst>
                <a:ext uri="{FF2B5EF4-FFF2-40B4-BE49-F238E27FC236}">
                  <a16:creationId xmlns:a16="http://schemas.microsoft.com/office/drawing/2014/main" id="{CB6177F5-C4B7-1561-D0A4-1969BB79D868}"/>
                </a:ext>
              </a:extLst>
            </p:cNvPr>
            <p:cNvPicPr>
              <a:picLocks noChangeAspect="1"/>
            </p:cNvPicPr>
            <p:nvPr/>
          </p:nvPicPr>
          <p:blipFill rotWithShape="1">
            <a:blip r:embed="rId3"/>
            <a:srcRect l="95737"/>
            <a:stretch/>
          </p:blipFill>
          <p:spPr>
            <a:xfrm>
              <a:off x="7230024" y="884863"/>
              <a:ext cx="182044" cy="4441371"/>
            </a:xfrm>
            <a:prstGeom prst="rect">
              <a:avLst/>
            </a:prstGeom>
          </p:spPr>
        </p:pic>
        <p:pic>
          <p:nvPicPr>
            <p:cNvPr id="26" name="Grafik 25">
              <a:extLst>
                <a:ext uri="{FF2B5EF4-FFF2-40B4-BE49-F238E27FC236}">
                  <a16:creationId xmlns:a16="http://schemas.microsoft.com/office/drawing/2014/main" id="{4559C700-2672-7986-6861-42BFA4AAD03C}"/>
                </a:ext>
              </a:extLst>
            </p:cNvPr>
            <p:cNvPicPr>
              <a:picLocks noChangeAspect="1"/>
            </p:cNvPicPr>
            <p:nvPr/>
          </p:nvPicPr>
          <p:blipFill rotWithShape="1">
            <a:blip r:embed="rId3"/>
            <a:srcRect l="95737"/>
            <a:stretch/>
          </p:blipFill>
          <p:spPr>
            <a:xfrm>
              <a:off x="7407390" y="884863"/>
              <a:ext cx="182044" cy="4441371"/>
            </a:xfrm>
            <a:prstGeom prst="rect">
              <a:avLst/>
            </a:prstGeom>
          </p:spPr>
        </p:pic>
        <p:pic>
          <p:nvPicPr>
            <p:cNvPr id="27" name="Grafik 26">
              <a:extLst>
                <a:ext uri="{FF2B5EF4-FFF2-40B4-BE49-F238E27FC236}">
                  <a16:creationId xmlns:a16="http://schemas.microsoft.com/office/drawing/2014/main" id="{81E52A9C-6EA1-2276-D105-2B02D692BD64}"/>
                </a:ext>
              </a:extLst>
            </p:cNvPr>
            <p:cNvPicPr>
              <a:picLocks noChangeAspect="1"/>
            </p:cNvPicPr>
            <p:nvPr/>
          </p:nvPicPr>
          <p:blipFill rotWithShape="1">
            <a:blip r:embed="rId3"/>
            <a:srcRect l="95737"/>
            <a:stretch/>
          </p:blipFill>
          <p:spPr>
            <a:xfrm>
              <a:off x="7570299" y="884863"/>
              <a:ext cx="182044" cy="4441371"/>
            </a:xfrm>
            <a:prstGeom prst="rect">
              <a:avLst/>
            </a:prstGeom>
          </p:spPr>
        </p:pic>
        <p:pic>
          <p:nvPicPr>
            <p:cNvPr id="28" name="Grafik 27">
              <a:extLst>
                <a:ext uri="{FF2B5EF4-FFF2-40B4-BE49-F238E27FC236}">
                  <a16:creationId xmlns:a16="http://schemas.microsoft.com/office/drawing/2014/main" id="{D049F4B3-E01D-2A6D-1508-2ADF08818005}"/>
                </a:ext>
              </a:extLst>
            </p:cNvPr>
            <p:cNvPicPr>
              <a:picLocks noChangeAspect="1"/>
            </p:cNvPicPr>
            <p:nvPr/>
          </p:nvPicPr>
          <p:blipFill rotWithShape="1">
            <a:blip r:embed="rId3"/>
            <a:srcRect l="95737"/>
            <a:stretch/>
          </p:blipFill>
          <p:spPr>
            <a:xfrm>
              <a:off x="7747095" y="884863"/>
              <a:ext cx="182044" cy="4441371"/>
            </a:xfrm>
            <a:prstGeom prst="rect">
              <a:avLst/>
            </a:prstGeom>
          </p:spPr>
        </p:pic>
        <p:pic>
          <p:nvPicPr>
            <p:cNvPr id="29" name="Grafik 28">
              <a:extLst>
                <a:ext uri="{FF2B5EF4-FFF2-40B4-BE49-F238E27FC236}">
                  <a16:creationId xmlns:a16="http://schemas.microsoft.com/office/drawing/2014/main" id="{D3EDF536-608A-8AED-9273-88BE62276844}"/>
                </a:ext>
              </a:extLst>
            </p:cNvPr>
            <p:cNvPicPr>
              <a:picLocks noChangeAspect="1"/>
            </p:cNvPicPr>
            <p:nvPr/>
          </p:nvPicPr>
          <p:blipFill rotWithShape="1">
            <a:blip r:embed="rId3"/>
            <a:srcRect l="95737"/>
            <a:stretch/>
          </p:blipFill>
          <p:spPr>
            <a:xfrm>
              <a:off x="7235685" y="884863"/>
              <a:ext cx="1239244" cy="4441371"/>
            </a:xfrm>
            <a:prstGeom prst="rect">
              <a:avLst/>
            </a:prstGeom>
          </p:spPr>
        </p:pic>
        <p:sp>
          <p:nvSpPr>
            <p:cNvPr id="30" name="Textfeld 29">
              <a:extLst>
                <a:ext uri="{FF2B5EF4-FFF2-40B4-BE49-F238E27FC236}">
                  <a16:creationId xmlns:a16="http://schemas.microsoft.com/office/drawing/2014/main" id="{AF4A4A59-5BF6-2C40-A8B6-D007EBEA7B99}"/>
                </a:ext>
              </a:extLst>
            </p:cNvPr>
            <p:cNvSpPr txBox="1"/>
            <p:nvPr/>
          </p:nvSpPr>
          <p:spPr bwMode="auto">
            <a:xfrm>
              <a:off x="3391112" y="1995741"/>
              <a:ext cx="4762151" cy="1416676"/>
            </a:xfrm>
            <a:prstGeom prst="rect">
              <a:avLst/>
            </a:prstGeom>
            <a:noFill/>
            <a:ln w="12700">
              <a:noFill/>
            </a:ln>
            <a:effectLst/>
          </p:spPr>
          <p:txBody>
            <a:bodyPr vert="horz" wrap="square" lIns="0" tIns="46080" rIns="0" bIns="46080" numCol="1" rtlCol="0" anchor="t" anchorCtr="0" compatLnSpc="1">
              <a:prstTxWarp prst="textNoShape">
                <a:avLst/>
              </a:prstTxWarp>
              <a:noAutofit/>
            </a:bodyPr>
            <a:lstStyle/>
            <a:p>
              <a:pPr algn="just"/>
              <a:r>
                <a:rPr lang="de-DE" sz="4000" dirty="0">
                  <a:solidFill>
                    <a:schemeClr val="bg2">
                      <a:lumMod val="25000"/>
                    </a:schemeClr>
                  </a:solidFill>
                  <a:latin typeface="Garamond" panose="02020404030301010803" pitchFamily="18" charset="0"/>
                </a:rPr>
                <a:t>Gib nicht auf! Leide jetzt und lebe den Rest deines Lebens wie ein Champion!	</a:t>
              </a:r>
            </a:p>
          </p:txBody>
        </p:sp>
        <p:sp>
          <p:nvSpPr>
            <p:cNvPr id="31" name="Rechteck 30">
              <a:extLst>
                <a:ext uri="{FF2B5EF4-FFF2-40B4-BE49-F238E27FC236}">
                  <a16:creationId xmlns:a16="http://schemas.microsoft.com/office/drawing/2014/main" id="{E5237470-DDA9-78DF-BB2B-9DC5974AE9EB}"/>
                </a:ext>
              </a:extLst>
            </p:cNvPr>
            <p:cNvSpPr/>
            <p:nvPr/>
          </p:nvSpPr>
          <p:spPr>
            <a:xfrm>
              <a:off x="6489356" y="2946714"/>
              <a:ext cx="1692680" cy="317669"/>
            </a:xfrm>
            <a:prstGeom prst="rect">
              <a:avLst/>
            </a:prstGeom>
          </p:spPr>
          <p:txBody>
            <a:bodyPr wrap="none">
              <a:spAutoFit/>
            </a:bodyPr>
            <a:lstStyle/>
            <a:p>
              <a:pPr algn="r"/>
              <a:r>
                <a:rPr lang="de-DE" sz="2800" b="1">
                  <a:solidFill>
                    <a:schemeClr val="accent6"/>
                  </a:solidFill>
                </a:rPr>
                <a:t>Muhammad Ali</a:t>
              </a:r>
            </a:p>
          </p:txBody>
        </p:sp>
      </p:grpSp>
    </p:spTree>
    <p:extLst>
      <p:ext uri="{BB962C8B-B14F-4D97-AF65-F5344CB8AC3E}">
        <p14:creationId xmlns:p14="http://schemas.microsoft.com/office/powerpoint/2010/main" val="2557963176"/>
      </p:ext>
    </p:extLst>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1"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906256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201141256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435176349"/>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12" name="Grafik 11" descr="Roboter Silhouette">
            <a:extLst>
              <a:ext uri="{FF2B5EF4-FFF2-40B4-BE49-F238E27FC236}">
                <a16:creationId xmlns:a16="http://schemas.microsoft.com/office/drawing/2014/main" id="{7E573DBE-2C6B-11B7-2F89-6A5786407288}"/>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1498378894"/>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488951" y="6429600"/>
            <a:ext cx="12131269"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Tree>
    <p:extLst>
      <p:ext uri="{BB962C8B-B14F-4D97-AF65-F5344CB8AC3E}">
        <p14:creationId xmlns:p14="http://schemas.microsoft.com/office/powerpoint/2010/main" val="1802826635"/>
      </p:ext>
    </p:extLst>
  </p:cSld>
  <p:clrMapOvr>
    <a:masterClrMapping/>
  </p:clrMapOvr>
  <p:extLst>
    <p:ext uri="{DCECCB84-F9BA-43D5-87BE-67443E8EF086}">
      <p15:sldGuideLst xmlns:p15="http://schemas.microsoft.com/office/powerpoint/2012/main">
        <p15:guide id="1" orient="horz" pos="4164">
          <p15:clr>
            <a:srgbClr val="FBAE40"/>
          </p15:clr>
        </p15:guide>
        <p15:guide id="2" orient="horz" pos="807">
          <p15:clr>
            <a:srgbClr val="FBAE40"/>
          </p15:clr>
        </p15:guide>
        <p15:guide id="3" pos="4096">
          <p15:clr>
            <a:srgbClr val="FBAE40"/>
          </p15:clr>
        </p15:guide>
        <p15:guide id="4" pos="7952">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4" Type="http://schemas.openxmlformats.org/officeDocument/2006/relationships/oleObject" Target="../embeddings/oleObject1.bin"/><Relationship Id="rId15" Type="http://schemas.openxmlformats.org/officeDocument/2006/relationships/image" Target="../media/image1.emf"/><Relationship Id="rId16" Type="http://schemas.openxmlformats.org/officeDocument/2006/relationships/image" Target="../media/image2.gi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slideLayout" Target="../slideLayouts/slideLayout10.xml"/><Relationship Id="rId3" Type="http://schemas.openxmlformats.org/officeDocument/2006/relationships/slideLayout" Target="../slideLayouts/slideLayout11.xml"/><Relationship Id="rId4" Type="http://schemas.openxmlformats.org/officeDocument/2006/relationships/slideLayout" Target="../slideLayouts/slideLayout12.xml"/><Relationship Id="rId5" Type="http://schemas.openxmlformats.org/officeDocument/2006/relationships/slideLayout" Target="../slideLayouts/slideLayout13.xml"/><Relationship Id="rId6" Type="http://schemas.openxmlformats.org/officeDocument/2006/relationships/slideLayout" Target="../slideLayouts/slideLayout14.xml"/><Relationship Id="rId7" Type="http://schemas.openxmlformats.org/officeDocument/2006/relationships/slideLayout" Target="../slideLayouts/slideLayout15.xml"/><Relationship Id="rId8" Type="http://schemas.openxmlformats.org/officeDocument/2006/relationships/theme" Target="../theme/theme2.xml"/><Relationship Id="rId13" Type="http://schemas.openxmlformats.org/officeDocument/2006/relationships/oleObject" Target="../embeddings/oleObject2.bin"/><Relationship Id="rId14" Type="http://schemas.openxmlformats.org/officeDocument/2006/relationships/image" Target="../media/image9.emf"/><Relationship Id="rId15" Type="http://schemas.openxmlformats.org/officeDocument/2006/relationships/image" Target="../media/image2.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6F471703-A648-F145-39A8-BE1DBE102523}"/>
              </a:ext>
            </a:extLst>
          </p:cNvPr>
          <p:cNvGraphicFramePr>
            <a:graphicFrameLocks/>
          </p:cNvGraphicFramePr>
          <p:nvPr userDrawn="1">
            <p:extLst>
              <p:ext uri="{D42A27DB-BD31-4B8C-83A1-F6EECF244321}">
                <p14:modId xmlns:p14="http://schemas.microsoft.com/office/powerpoint/2010/main" val="2006554117"/>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4" imgW="7772400" imgH="10058400" progId="TCLayout.ActiveDocument.1">
                  <p:embed/>
                </p:oleObj>
              </mc:Choice>
              <mc:Fallback>
                <p:oleObj name="think-cell Folie" r:id="rId14" imgW="7772400" imgH="10058400" progId="TCLayout.ActiveDocument.1">
                  <p:embed/>
                  <p:pic>
                    <p:nvPicPr>
                      <p:cNvPr id="4" name="think-cell data - do not delete" hidden="1">
                        <a:extLst>
                          <a:ext uri="{FF2B5EF4-FFF2-40B4-BE49-F238E27FC236}">
                            <a16:creationId xmlns:a16="http://schemas.microsoft.com/office/drawing/2014/main" id="{6F471703-A648-F145-39A8-BE1DBE102523}"/>
                          </a:ext>
                        </a:extLst>
                      </p:cNvPr>
                      <p:cNvPicPr/>
                      <p:nvPr/>
                    </p:nvPicPr>
                    <p:blipFill>
                      <a:blip r:embed="rId15"/>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BINT · Wintersemester 2026/27 | Business </a:t>
            </a:r>
            <a:r>
              <a:rPr lang="de-DE" sz="900" dirty="0" err="1">
                <a:solidFill>
                  <a:schemeClr val="tx1">
                    <a:lumMod val="60000"/>
                    <a:lumOff val="40000"/>
                  </a:schemeClr>
                </a:solidFill>
                <a:latin typeface="GT Planar Light" pitchFamily="50" charset="0"/>
                <a:ea typeface="GT Planar Light" pitchFamily="50" charset="0"/>
              </a:rPr>
              <a:t>Intelligence</a:t>
            </a:r>
            <a:endParaRPr lang="de-DE" sz="900" dirty="0">
              <a:solidFill>
                <a:schemeClr val="tx1">
                  <a:lumMod val="60000"/>
                  <a:lumOff val="40000"/>
                </a:schemeClr>
              </a:solidFill>
              <a:latin typeface="GT Planar Light" pitchFamily="50" charset="0"/>
              <a:ea typeface="GT Planar Light" pitchFamily="50" charset="0"/>
            </a:endParaRPr>
          </a:p>
        </p:txBody>
      </p:sp>
    </p:spTree>
    <p:extLst>
      <p:ext uri="{BB962C8B-B14F-4D97-AF65-F5344CB8AC3E}">
        <p14:creationId xmlns:p14="http://schemas.microsoft.com/office/powerpoint/2010/main" val="1550380779"/>
      </p:ext>
    </p:extLst>
  </p:cSld>
  <p:clrMap bg1="lt1" tx1="dk1" bg2="lt2" tx2="dk2" accent1="accent1" accent2="accent2" accent3="accent3" accent4="accent4" accent5="accent5" accent6="accent6" hlink="hlink" folHlink="folHlink"/>
  <p:sldLayoutIdLst>
    <p:sldLayoutId id="2147483661" r:id="rId1"/>
    <p:sldLayoutId id="2147483668" r:id="rId2"/>
    <p:sldLayoutId id="2147483662" r:id="rId3"/>
    <p:sldLayoutId id="2147483663" r:id="rId4"/>
    <p:sldLayoutId id="2147483671" r:id="rId5"/>
    <p:sldLayoutId id="2147483672" r:id="rId6"/>
    <p:sldLayoutId id="2147483673" r:id="rId7"/>
    <p:sldLayoutId id="2147483670" r:id="rId8"/>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6"/>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6"/>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6"/>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userDrawn="1">
          <p15:clr>
            <a:srgbClr val="A4A3A4"/>
          </p15:clr>
        </p15:guide>
        <p15:guide id="4" pos="7952" userDrawn="1">
          <p15:clr>
            <a:srgbClr val="A4A3A4"/>
          </p15:clr>
        </p15:guide>
        <p15:guide id="7" orient="horz" pos="4442"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4" name="think-cell data - do not delete" hidden="1">
            <a:extLst>
              <a:ext uri="{FF2B5EF4-FFF2-40B4-BE49-F238E27FC236}">
                <a16:creationId xmlns:a16="http://schemas.microsoft.com/office/drawing/2014/main" id="{FBC7FB1C-2DC6-CB34-34F7-7D3CF72597C0}"/>
              </a:ext>
            </a:extLst>
          </p:cNvPr>
          <p:cNvGraphicFramePr>
            <a:graphicFrameLocks noChangeAspect="1"/>
          </p:cNvGraphicFramePr>
          <p:nvPr userDrawn="1">
            <p:extLst>
              <p:ext uri="{D42A27DB-BD31-4B8C-83A1-F6EECF244321}">
                <p14:modId xmlns:p14="http://schemas.microsoft.com/office/powerpoint/2010/main" val="145836259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13" imgW="7772400" imgH="10058400" progId="TCLayout.ActiveDocument.1">
                  <p:embed/>
                </p:oleObj>
              </mc:Choice>
              <mc:Fallback>
                <p:oleObj name="think-cell Folie" r:id="rId13" imgW="7772400" imgH="10058400" progId="TCLayout.ActiveDocument.1">
                  <p:embed/>
                  <p:pic>
                    <p:nvPicPr>
                      <p:cNvPr id="4" name="think-cell data - do not delete" hidden="1">
                        <a:extLst>
                          <a:ext uri="{FF2B5EF4-FFF2-40B4-BE49-F238E27FC236}">
                            <a16:creationId xmlns:a16="http://schemas.microsoft.com/office/drawing/2014/main" id="{FBC7FB1C-2DC6-CB34-34F7-7D3CF72597C0}"/>
                          </a:ext>
                        </a:extLst>
                      </p:cNvPr>
                      <p:cNvPicPr/>
                      <p:nvPr/>
                    </p:nvPicPr>
                    <p:blipFill>
                      <a:blip r:embed="rId14"/>
                      <a:stretch>
                        <a:fillRect/>
                      </a:stretch>
                    </p:blipFill>
                    <p:spPr>
                      <a:xfrm>
                        <a:off x="1588" y="1588"/>
                        <a:ext cx="1227" cy="1588"/>
                      </a:xfrm>
                      <a:prstGeom prst="rect">
                        <a:avLst/>
                      </a:prstGeom>
                    </p:spPr>
                  </p:pic>
                </p:oleObj>
              </mc:Fallback>
            </mc:AlternateContent>
          </a:graphicData>
        </a:graphic>
      </p:graphicFrame>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1" y="6780215"/>
            <a:ext cx="1582420" cy="388938"/>
          </a:xfrm>
          <a:prstGeom prst="rect">
            <a:avLst/>
          </a:prstGeom>
          <a:noFill/>
        </p:spPr>
        <p:txBody>
          <a:bodyPr wrap="none" lIns="0" tIns="0" rIns="0" bIns="0" rtlCol="0" anchor="ctr">
            <a:noAutofit/>
          </a:bodyPr>
          <a:lstStyle/>
          <a:p>
            <a:pPr marL="0" marR="0" lvl="0" indent="0" algn="r" defTabSz="650251"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pPr marL="0" marR="0" lvl="0" indent="0" algn="r" defTabSz="650251" rtl="0" eaLnBrk="1" fontAlgn="auto" latinLnBrk="0" hangingPunct="1">
                <a:lnSpc>
                  <a:spcPct val="100000"/>
                </a:lnSpc>
                <a:spcBef>
                  <a:spcPts val="0"/>
                </a:spcBef>
                <a:spcAft>
                  <a:spcPts val="0"/>
                </a:spcAft>
                <a:buClrTx/>
                <a:buSzTx/>
                <a:buFontTx/>
                <a:buNone/>
                <a:tabLst/>
                <a:defRPr/>
              </a:pPr>
              <a:t>‹Nr.›</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1" rIns="91440" bIns="45721"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nvSpPr>
        <p:spPr>
          <a:xfrm>
            <a:off x="488954" y="6780215"/>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04.04.26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
        <p:nvSpPr>
          <p:cNvPr id="3" name="Textfeld 2">
            <a:extLst>
              <a:ext uri="{FF2B5EF4-FFF2-40B4-BE49-F238E27FC236}">
                <a16:creationId xmlns:a16="http://schemas.microsoft.com/office/drawing/2014/main" id="{E15E451F-3A59-682D-7060-F8418D8F8831}"/>
              </a:ext>
            </a:extLst>
          </p:cNvPr>
          <p:cNvSpPr txBox="1">
            <a:spLocks/>
          </p:cNvSpPr>
          <p:nvPr userDrawn="1"/>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dirty="0">
                <a:solidFill>
                  <a:schemeClr val="tx1">
                    <a:lumMod val="60000"/>
                    <a:lumOff val="40000"/>
                  </a:schemeClr>
                </a:solidFill>
                <a:latin typeface="GT Planar Light" pitchFamily="50" charset="0"/>
                <a:ea typeface="GT Planar Light" pitchFamily="50" charset="0"/>
              </a:rPr>
              <a:t>Prof. Dr. Robert Butscher | Fallstudie "Customer Churn Prevention" | Wintersemester 2024/25</a:t>
            </a:r>
          </a:p>
        </p:txBody>
      </p:sp>
    </p:spTree>
    <p:extLst>
      <p:ext uri="{BB962C8B-B14F-4D97-AF65-F5344CB8AC3E}">
        <p14:creationId xmlns:p14="http://schemas.microsoft.com/office/powerpoint/2010/main" val="152667289"/>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Lst>
  <p:hf hdr="0"/>
  <p:txStyles>
    <p:titleStyle>
      <a:lvl1pPr algn="ctr" defTabSz="1300500" rtl="0" eaLnBrk="1" latinLnBrk="0" hangingPunct="1">
        <a:lnSpc>
          <a:spcPts val="4000"/>
        </a:lnSpc>
        <a:spcBef>
          <a:spcPct val="0"/>
        </a:spcBef>
        <a:buNone/>
        <a:defRPr sz="3401" kern="1200">
          <a:solidFill>
            <a:schemeClr val="tx1"/>
          </a:solidFill>
          <a:latin typeface="+mj-lt"/>
          <a:ea typeface="+mj-ea"/>
          <a:cs typeface="Segoe UI" pitchFamily="34" charset="0"/>
        </a:defRPr>
      </a:lvl1pPr>
    </p:titleStyle>
    <p:bodyStyle>
      <a:lvl1pPr marL="127367" indent="0" algn="l" defTabSz="130050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26" indent="-360011" algn="l" defTabSz="130050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38"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49" indent="-360011" algn="l" defTabSz="1300500" rtl="0" eaLnBrk="1" latinLnBrk="0" hangingPunct="1">
        <a:spcBef>
          <a:spcPct val="20000"/>
        </a:spcBef>
        <a:buClr>
          <a:srgbClr val="90D033"/>
        </a:buClr>
        <a:buSzPct val="65000"/>
        <a:buFontTx/>
        <a:buBlip>
          <a:blip r:embed="rId15"/>
        </a:buBlip>
        <a:defRPr sz="2400" kern="1200">
          <a:solidFill>
            <a:schemeClr val="tx1"/>
          </a:solidFill>
          <a:latin typeface="Segoe UI" pitchFamily="34" charset="0"/>
          <a:ea typeface="+mn-ea"/>
          <a:cs typeface="Segoe UI" pitchFamily="34" charset="0"/>
        </a:defRPr>
      </a:lvl4pPr>
      <a:lvl5pPr marL="1926060" indent="-360011" algn="l" defTabSz="130050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71"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6pPr>
      <a:lvl7pPr marL="2646083"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7pPr>
      <a:lvl8pPr marL="3006094" indent="-342011" algn="l" defTabSz="1300500" rtl="0" eaLnBrk="1" latinLnBrk="0" hangingPunct="1">
        <a:spcBef>
          <a:spcPct val="20000"/>
        </a:spcBef>
        <a:buClr>
          <a:srgbClr val="8CD250"/>
        </a:buClr>
        <a:buFontTx/>
        <a:buBlip>
          <a:blip r:embed="rId15"/>
        </a:buBlip>
        <a:defRPr sz="2601" kern="1200">
          <a:solidFill>
            <a:schemeClr val="tx1"/>
          </a:solidFill>
          <a:latin typeface="Segoe UI"/>
          <a:ea typeface="+mn-ea"/>
          <a:cs typeface="Segoe UI"/>
        </a:defRPr>
      </a:lvl8pPr>
      <a:lvl9pPr marL="3366105" indent="-342011" algn="l" defTabSz="1300500" rtl="0" eaLnBrk="1" latinLnBrk="0" hangingPunct="1">
        <a:spcBef>
          <a:spcPct val="20000"/>
        </a:spcBef>
        <a:buClr>
          <a:srgbClr val="8CD250"/>
        </a:buClr>
        <a:buFontTx/>
        <a:buBlip>
          <a:blip r:embed="rId15"/>
        </a:buBlip>
        <a:defRPr sz="2601" kern="1200" baseline="0">
          <a:solidFill>
            <a:schemeClr val="tx1"/>
          </a:solidFill>
          <a:latin typeface="Segoe UI"/>
          <a:ea typeface="+mn-ea"/>
          <a:cs typeface="Segoe UI"/>
        </a:defRPr>
      </a:lvl9pPr>
    </p:bodyStyle>
    <p:otherStyle>
      <a:defPPr>
        <a:defRPr lang="de-DE"/>
      </a:defPPr>
      <a:lvl1pPr marL="0" algn="l" defTabSz="1300500" rtl="0" eaLnBrk="1" latinLnBrk="0" hangingPunct="1">
        <a:defRPr sz="2601" kern="1200">
          <a:solidFill>
            <a:schemeClr val="tx1"/>
          </a:solidFill>
          <a:latin typeface="+mn-lt"/>
          <a:ea typeface="+mn-ea"/>
          <a:cs typeface="+mn-cs"/>
        </a:defRPr>
      </a:lvl1pPr>
      <a:lvl2pPr marL="650251" algn="l" defTabSz="1300500" rtl="0" eaLnBrk="1" latinLnBrk="0" hangingPunct="1">
        <a:defRPr sz="2601" kern="1200">
          <a:solidFill>
            <a:schemeClr val="tx1"/>
          </a:solidFill>
          <a:latin typeface="+mn-lt"/>
          <a:ea typeface="+mn-ea"/>
          <a:cs typeface="+mn-cs"/>
        </a:defRPr>
      </a:lvl2pPr>
      <a:lvl3pPr marL="1300500" algn="l" defTabSz="1300500" rtl="0" eaLnBrk="1" latinLnBrk="0" hangingPunct="1">
        <a:defRPr sz="2601" kern="1200">
          <a:solidFill>
            <a:schemeClr val="tx1"/>
          </a:solidFill>
          <a:latin typeface="+mn-lt"/>
          <a:ea typeface="+mn-ea"/>
          <a:cs typeface="+mn-cs"/>
        </a:defRPr>
      </a:lvl3pPr>
      <a:lvl4pPr marL="1950751" algn="l" defTabSz="1300500" rtl="0" eaLnBrk="1" latinLnBrk="0" hangingPunct="1">
        <a:defRPr sz="2601" kern="1200">
          <a:solidFill>
            <a:schemeClr val="tx1"/>
          </a:solidFill>
          <a:latin typeface="+mn-lt"/>
          <a:ea typeface="+mn-ea"/>
          <a:cs typeface="+mn-cs"/>
        </a:defRPr>
      </a:lvl4pPr>
      <a:lvl5pPr marL="2601001" algn="l" defTabSz="1300500" rtl="0" eaLnBrk="1" latinLnBrk="0" hangingPunct="1">
        <a:defRPr sz="2601" kern="1200">
          <a:solidFill>
            <a:schemeClr val="tx1"/>
          </a:solidFill>
          <a:latin typeface="+mn-lt"/>
          <a:ea typeface="+mn-ea"/>
          <a:cs typeface="+mn-cs"/>
        </a:defRPr>
      </a:lvl5pPr>
      <a:lvl6pPr marL="3251250" algn="l" defTabSz="1300500" rtl="0" eaLnBrk="1" latinLnBrk="0" hangingPunct="1">
        <a:defRPr sz="2601" kern="1200">
          <a:solidFill>
            <a:schemeClr val="tx1"/>
          </a:solidFill>
          <a:latin typeface="+mn-lt"/>
          <a:ea typeface="+mn-ea"/>
          <a:cs typeface="+mn-cs"/>
        </a:defRPr>
      </a:lvl6pPr>
      <a:lvl7pPr marL="3901501" algn="l" defTabSz="1300500" rtl="0" eaLnBrk="1" latinLnBrk="0" hangingPunct="1">
        <a:defRPr sz="2601" kern="1200">
          <a:solidFill>
            <a:schemeClr val="tx1"/>
          </a:solidFill>
          <a:latin typeface="+mn-lt"/>
          <a:ea typeface="+mn-ea"/>
          <a:cs typeface="+mn-cs"/>
        </a:defRPr>
      </a:lvl7pPr>
      <a:lvl8pPr marL="4551751" algn="l" defTabSz="1300500" rtl="0" eaLnBrk="1" latinLnBrk="0" hangingPunct="1">
        <a:defRPr sz="2601" kern="1200">
          <a:solidFill>
            <a:schemeClr val="tx1"/>
          </a:solidFill>
          <a:latin typeface="+mn-lt"/>
          <a:ea typeface="+mn-ea"/>
          <a:cs typeface="+mn-cs"/>
        </a:defRPr>
      </a:lvl8pPr>
      <a:lvl9pPr marL="5202001" algn="l" defTabSz="1300500" rtl="0" eaLnBrk="1" latinLnBrk="0" hangingPunct="1">
        <a:defRPr sz="2601"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442">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Datenbankentwurf am Fallbeispiel VeloCity</a:t>
            </a:r>
          </a:p>
        </p:txBody>
      </p:sp>
      <p:sp>
        <p:nvSpPr>
          <p:cNvPr id="3" name="Text Placeholder 2"/>
          <p:cNvSpPr>
            <a:spLocks noGrp="1"/>
          </p:cNvSpPr>
          <p:nvPr>
            <p:ph type="body" idx="11" sz="quarter"/>
          </p:nvPr>
        </p:nvSpPr>
        <p:spPr/>
        <p:txBody>
          <a:bodyPr/>
          <a:lstStyle/>
          <a:p>
            <a:r>
              <a:t>Eine Fahrt, 61 Minuten, 4,96 Euro — und alles, was eine Datenbank dafür wissen und garantieren muss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 fährt 61 Minuten. Das ist alles, was wir wissen.</a:t>
            </a:r>
          </a:p>
        </p:txBody>
      </p:sp>
      <p:sp>
        <p:nvSpPr>
          <p:cNvPr id="3" name="Text Placeholder 2"/>
          <p:cNvSpPr>
            <a:spLocks noGrp="1"/>
          </p:cNvSpPr>
          <p:nvPr>
            <p:ph type="body" idx="12" sz="quarter"/>
          </p:nvPr>
        </p:nvSpPr>
        <p:spPr/>
        <p:txBody>
          <a:bodyPr/>
          <a:lstStyle/>
          <a:p>
            <a:r>
              <a:t>Der Fall</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Aus diesem einen Satz entsteht das gesamte Datenmodell. Jede Frage, die diese Fahrt aufwirft, beantwortet ein Kapitel dieser Einheit — und am Ende steht eine Datenbank, die Annas Rechnung selbst berechnet und ihre Regeln erzwingt.</a:t>
            </a:r>
          </a:p>
        </p:txBody>
      </p:sp>
      <p:sp>
        <p:nvSpPr>
          <p:cNvPr id="6" name="Rectangle 5"/>
          <p:cNvSpPr/>
          <p:nvPr/>
        </p:nvSpPr>
        <p:spPr>
          <a:xfrm>
            <a:off x="1170788" y="1778000"/>
            <a:ext cx="11439193"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faden-annas-fahrt.png"/>
          <p:cNvPicPr>
            <a:picLocks noChangeAspect="1"/>
          </p:cNvPicPr>
          <p:nvPr/>
        </p:nvPicPr>
        <p:blipFill>
          <a:blip r:embed="rId2"/>
          <a:stretch>
            <a:fillRect/>
          </a:stretch>
        </p:blipFill>
        <p:spPr>
          <a:xfrm>
            <a:off x="1272388" y="1879600"/>
            <a:ext cx="11235993" cy="2413000"/>
          </a:xfrm>
          <a:prstGeom prst="rect">
            <a:avLst/>
          </a:prstGeom>
        </p:spPr>
      </p:pic>
      <p:sp>
        <p:nvSpPr>
          <p:cNvPr id="8" name="Rectangle 7"/>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Sie im Verlauf mit: Woher weiß die Datenbank am Ende, dass Anna genau 4,96 Euro zahlt — und nicht 6,20 oder 4,00?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Kapitel, neun Fragen an Annas Fahrt</a:t>
            </a:r>
          </a:p>
        </p:txBody>
      </p:sp>
      <p:sp>
        <p:nvSpPr>
          <p:cNvPr id="3" name="Text Placeholder 2"/>
          <p:cNvSpPr>
            <a:spLocks noGrp="1"/>
          </p:cNvSpPr>
          <p:nvPr>
            <p:ph type="body" idx="12" sz="quarter"/>
          </p:nvPr>
        </p:nvSpPr>
        <p:spPr/>
        <p:txBody>
          <a:bodyPr/>
          <a:lstStyle/>
          <a:p>
            <a:r>
              <a:t>Orientierung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Reihenfolge ist zwingend. Anforderungen vor Modell, Modell vor Relationen, Relationen vor DDL. Wer sie umdreht, bindet sich an eine Umsetzung, bevor er weiß, was umzusetzen ist.</a:t>
            </a:r>
          </a:p>
        </p:txBody>
      </p:sp>
      <p:sp>
        <p:nvSpPr>
          <p:cNvPr id="6" name="Rectangle 5"/>
          <p:cNvSpPr/>
          <p:nvPr/>
        </p:nvSpPr>
        <p:spPr>
          <a:xfrm>
            <a:off x="1153160" y="2311400"/>
            <a:ext cx="279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Kapitel</a:t>
            </a:r>
          </a:p>
        </p:txBody>
      </p:sp>
      <p:sp>
        <p:nvSpPr>
          <p:cNvPr id="7" name="Rectangle 6"/>
          <p:cNvSpPr/>
          <p:nvPr/>
        </p:nvSpPr>
        <p:spPr>
          <a:xfrm>
            <a:off x="3947160" y="2311400"/>
            <a:ext cx="8680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Die Frage, die Annas Fahrt aufwirft</a:t>
            </a:r>
          </a:p>
        </p:txBody>
      </p:sp>
      <p:sp>
        <p:nvSpPr>
          <p:cNvPr id="8" name="Rectangle 7"/>
          <p:cNvSpPr/>
          <p:nvPr/>
        </p:nvSpPr>
        <p:spPr>
          <a:xfrm>
            <a:off x="1153160" y="2692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Fallstudie</a:t>
            </a:r>
          </a:p>
        </p:txBody>
      </p:sp>
      <p:sp>
        <p:nvSpPr>
          <p:cNvPr id="9" name="Rectangle 8"/>
          <p:cNvSpPr/>
          <p:nvPr/>
        </p:nvSpPr>
        <p:spPr>
          <a:xfrm>
            <a:off x="3947160" y="2692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muss die Datenbank über diese Fahrt überhaupt wissen?</a:t>
            </a:r>
          </a:p>
        </p:txBody>
      </p:sp>
      <p:sp>
        <p:nvSpPr>
          <p:cNvPr id="10" name="Rectangle 9"/>
          <p:cNvSpPr/>
          <p:nvPr/>
        </p:nvSpPr>
        <p:spPr>
          <a:xfrm>
            <a:off x="1153160" y="3073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Konzeptionell</a:t>
            </a:r>
          </a:p>
        </p:txBody>
      </p:sp>
      <p:sp>
        <p:nvSpPr>
          <p:cNvPr id="11" name="Rectangle 10"/>
          <p:cNvSpPr/>
          <p:nvPr/>
        </p:nvSpPr>
        <p:spPr>
          <a:xfrm>
            <a:off x="3947160" y="3073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Dinge sind das — und wie hängen sie zusammen?</a:t>
            </a:r>
          </a:p>
        </p:txBody>
      </p:sp>
      <p:sp>
        <p:nvSpPr>
          <p:cNvPr id="12" name="Rectangle 11"/>
          <p:cNvSpPr/>
          <p:nvPr/>
        </p:nvSpPr>
        <p:spPr>
          <a:xfrm>
            <a:off x="1153160" y="3454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Normalisierung</a:t>
            </a:r>
          </a:p>
        </p:txBody>
      </p:sp>
      <p:sp>
        <p:nvSpPr>
          <p:cNvPr id="13" name="Rectangle 12"/>
          <p:cNvSpPr/>
          <p:nvPr/>
        </p:nvSpPr>
        <p:spPr>
          <a:xfrm>
            <a:off x="3947160" y="3454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Warum reicht dafür nicht eine einzige Tabelle?</a:t>
            </a:r>
          </a:p>
        </p:txBody>
      </p:sp>
      <p:sp>
        <p:nvSpPr>
          <p:cNvPr id="14" name="Rectangle 13"/>
          <p:cNvSpPr/>
          <p:nvPr/>
        </p:nvSpPr>
        <p:spPr>
          <a:xfrm>
            <a:off x="1153160" y="3835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Logisch</a:t>
            </a:r>
          </a:p>
        </p:txBody>
      </p:sp>
      <p:sp>
        <p:nvSpPr>
          <p:cNvPr id="15" name="Rectangle 14"/>
          <p:cNvSpPr/>
          <p:nvPr/>
        </p:nvSpPr>
        <p:spPr>
          <a:xfrm>
            <a:off x="3947160" y="3835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wird aus dem Bild ein Satz von Relationen?</a:t>
            </a:r>
          </a:p>
        </p:txBody>
      </p:sp>
      <p:sp>
        <p:nvSpPr>
          <p:cNvPr id="16" name="Rectangle 15"/>
          <p:cNvSpPr/>
          <p:nvPr/>
        </p:nvSpPr>
        <p:spPr>
          <a:xfrm>
            <a:off x="1153160" y="4216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Physisch</a:t>
            </a:r>
          </a:p>
        </p:txBody>
      </p:sp>
      <p:sp>
        <p:nvSpPr>
          <p:cNvPr id="17" name="Rectangle 16"/>
          <p:cNvSpPr/>
          <p:nvPr/>
        </p:nvSpPr>
        <p:spPr>
          <a:xfrm>
            <a:off x="3947160" y="4216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erzwingt die Datenbank, dass Annas Rechnung stimmt?</a:t>
            </a:r>
          </a:p>
        </p:txBody>
      </p:sp>
      <p:sp>
        <p:nvSpPr>
          <p:cNvPr id="18" name="Rectangle 17"/>
          <p:cNvSpPr/>
          <p:nvPr/>
        </p:nvSpPr>
        <p:spPr>
          <a:xfrm>
            <a:off x="1153160" y="4597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Implementierung</a:t>
            </a:r>
          </a:p>
        </p:txBody>
      </p:sp>
      <p:sp>
        <p:nvSpPr>
          <p:cNvPr id="19" name="Rectangle 18"/>
          <p:cNvSpPr/>
          <p:nvPr/>
        </p:nvSpPr>
        <p:spPr>
          <a:xfrm>
            <a:off x="3947160" y="4597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kostet die Fahrt genau — und warum?</a:t>
            </a:r>
          </a:p>
        </p:txBody>
      </p:sp>
      <p:sp>
        <p:nvSpPr>
          <p:cNvPr id="20" name="Rectangle 19"/>
          <p:cNvSpPr/>
          <p:nvPr/>
        </p:nvSpPr>
        <p:spPr>
          <a:xfrm>
            <a:off x="1153160" y="4978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7 Sicherheit</a:t>
            </a:r>
          </a:p>
        </p:txBody>
      </p:sp>
      <p:sp>
        <p:nvSpPr>
          <p:cNvPr id="21" name="Rectangle 20"/>
          <p:cNvSpPr/>
          <p:nvPr/>
        </p:nvSpPr>
        <p:spPr>
          <a:xfrm>
            <a:off x="3947160" y="4978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außer Anna darf ihre Daten sehen?</a:t>
            </a:r>
          </a:p>
        </p:txBody>
      </p:sp>
      <p:sp>
        <p:nvSpPr>
          <p:cNvPr id="22" name="Rectangle 21"/>
          <p:cNvSpPr/>
          <p:nvPr/>
        </p:nvSpPr>
        <p:spPr>
          <a:xfrm>
            <a:off x="1153160" y="5359400"/>
            <a:ext cx="279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8 Anbindung</a:t>
            </a:r>
          </a:p>
        </p:txBody>
      </p:sp>
      <p:sp>
        <p:nvSpPr>
          <p:cNvPr id="23" name="Rectangle 22"/>
          <p:cNvSpPr/>
          <p:nvPr/>
        </p:nvSpPr>
        <p:spPr>
          <a:xfrm>
            <a:off x="3947160" y="5359400"/>
            <a:ext cx="8680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kommt das alles in die Web-Anwendung?</a:t>
            </a:r>
          </a:p>
        </p:txBody>
      </p:sp>
      <p:sp>
        <p:nvSpPr>
          <p:cNvPr id="24" name="Rectangle 23"/>
          <p:cNvSpPr/>
          <p:nvPr/>
        </p:nvSpPr>
        <p:spPr>
          <a:xfrm>
            <a:off x="1153160" y="5740400"/>
            <a:ext cx="279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9 Ausblick</a:t>
            </a:r>
          </a:p>
        </p:txBody>
      </p:sp>
      <p:sp>
        <p:nvSpPr>
          <p:cNvPr id="25" name="Rectangle 24"/>
          <p:cNvSpPr/>
          <p:nvPr/>
        </p:nvSpPr>
        <p:spPr>
          <a:xfrm>
            <a:off x="3947160" y="5740400"/>
            <a:ext cx="8680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fehlt noch, damit die Räder gewartet werden?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Die Fallstudie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muss die Datenbank über Annas Fahrt überhaupt wissen?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VeloCity vermietet Räder minutengenau</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Bike-Sharing-System in Würzburg. Kunden finden freie Räder auf einer Karte, entleihen sie, fahren und stellen sie wieder ab. Vielfahrer schließen einen Tarif ab, der Freiminuten und Rabatt mitbringt.</a:t>
            </a:r>
          </a:p>
        </p:txBody>
      </p:sp>
      <p:sp>
        <p:nvSpPr>
          <p:cNvPr id="6" name="Rectangle 5"/>
          <p:cNvSpPr/>
          <p:nvPr/>
        </p:nvSpPr>
        <p:spPr>
          <a:xfrm>
            <a:off x="115316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Drei Fahrzeugklassen</a:t>
            </a:r>
          </a:p>
          <a:p>
            <a:pPr algn="l">
              <a:lnSpc>
                <a:spcPct val="95000"/>
              </a:lnSpc>
              <a:spcBef>
                <a:spcPts val="500"/>
              </a:spcBef>
            </a:pPr>
            <a:r>
              <a:rPr sz="1300" b="0">
                <a:solidFill>
                  <a:srgbClr val="404040"/>
                </a:solidFill>
              </a:rPr>
              <a:t>City-Bike, Stadtrad ohne Motor</a:t>
            </a:r>
          </a:p>
          <a:p>
            <a:pPr algn="l">
              <a:lnSpc>
                <a:spcPct val="95000"/>
              </a:lnSpc>
              <a:spcBef>
                <a:spcPts val="500"/>
              </a:spcBef>
            </a:pPr>
            <a:r>
              <a:rPr sz="1300" b="0">
                <a:solidFill>
                  <a:srgbClr val="404040"/>
                </a:solidFill>
              </a:rPr>
              <a:t>E-Bike Sport, Pedelec bis 25 km/h</a:t>
            </a:r>
          </a:p>
          <a:p>
            <a:pPr algn="l">
              <a:lnSpc>
                <a:spcPct val="95000"/>
              </a:lnSpc>
              <a:spcBef>
                <a:spcPts val="500"/>
              </a:spcBef>
            </a:pPr>
            <a:r>
              <a:rPr sz="1300" b="0">
                <a:solidFill>
                  <a:srgbClr val="404040"/>
                </a:solidFill>
              </a:rPr>
              <a:t>E-Cargo Loader, bis 100 kg Zuladung</a:t>
            </a:r>
          </a:p>
        </p:txBody>
      </p:sp>
      <p:sp>
        <p:nvSpPr>
          <p:cNvPr id="9" name="Rectangle 8"/>
          <p:cNvSpPr/>
          <p:nvPr/>
        </p:nvSpPr>
        <p:spPr>
          <a:xfrm>
            <a:off x="511302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Zwei Abstellarten</a:t>
            </a:r>
          </a:p>
          <a:p>
            <a:pPr algn="l">
              <a:lnSpc>
                <a:spcPct val="95000"/>
              </a:lnSpc>
              <a:spcBef>
                <a:spcPts val="500"/>
              </a:spcBef>
            </a:pPr>
            <a:r>
              <a:rPr sz="1300" b="0">
                <a:solidFill>
                  <a:srgbClr val="404040"/>
                </a:solidFill>
              </a:rPr>
              <a:t>An einer festen Station, kostenfrei</a:t>
            </a:r>
          </a:p>
          <a:p>
            <a:pPr algn="l">
              <a:lnSpc>
                <a:spcPct val="95000"/>
              </a:lnSpc>
              <a:spcBef>
                <a:spcPts val="500"/>
              </a:spcBef>
            </a:pPr>
            <a:r>
              <a:rPr sz="1300" b="0">
                <a:solidFill>
                  <a:srgbClr val="404040"/>
                </a:solidFill>
              </a:rPr>
              <a:t>Frei im Stadtgebiet gegen Zuschlag</a:t>
            </a:r>
          </a:p>
          <a:p>
            <a:pPr algn="l">
              <a:lnSpc>
                <a:spcPct val="95000"/>
              </a:lnSpc>
              <a:spcBef>
                <a:spcPts val="500"/>
              </a:spcBef>
            </a:pPr>
            <a:r>
              <a:rPr sz="1300" b="0">
                <a:solidFill>
                  <a:srgbClr val="404040"/>
                </a:solidFill>
              </a:rPr>
              <a:t>Beides muss das Modell abbilden</a:t>
            </a:r>
          </a:p>
        </p:txBody>
      </p:sp>
      <p:sp>
        <p:nvSpPr>
          <p:cNvPr id="12" name="Rectangle 11"/>
          <p:cNvSpPr/>
          <p:nvPr/>
        </p:nvSpPr>
        <p:spPr>
          <a:xfrm>
            <a:off x="9081770" y="2311400"/>
            <a:ext cx="3545840" cy="190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2311400"/>
            <a:ext cx="50800" cy="1905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438400"/>
            <a:ext cx="3215640" cy="1651000"/>
          </a:xfrm>
          <a:prstGeom prst="rect">
            <a:avLst/>
          </a:prstGeom>
          <a:noFill/>
        </p:spPr>
        <p:txBody>
          <a:bodyPr wrap="square" lIns="0" tIns="0" rIns="0" bIns="0">
            <a:spAutoFit/>
          </a:bodyPr>
          <a:lstStyle/>
          <a:p>
            <a:pPr algn="l">
              <a:lnSpc>
                <a:spcPct val="95000"/>
              </a:lnSpc>
            </a:pPr>
            <a:r>
              <a:rPr sz="1500" b="1">
                <a:solidFill>
                  <a:srgbClr val="003E6E"/>
                </a:solidFill>
              </a:rPr>
              <a:t>Vier Tarife</a:t>
            </a:r>
          </a:p>
          <a:p>
            <a:pPr algn="l">
              <a:lnSpc>
                <a:spcPct val="95000"/>
              </a:lnSpc>
              <a:spcBef>
                <a:spcPts val="500"/>
              </a:spcBef>
            </a:pPr>
            <a:r>
              <a:rPr sz="1300" b="0">
                <a:solidFill>
                  <a:srgbClr val="404040"/>
                </a:solidFill>
              </a:rPr>
              <a:t>Basis ohne Freiminuten</a:t>
            </a:r>
          </a:p>
          <a:p>
            <a:pPr algn="l">
              <a:lnSpc>
                <a:spcPct val="95000"/>
              </a:lnSpc>
              <a:spcBef>
                <a:spcPts val="500"/>
              </a:spcBef>
            </a:pPr>
            <a:r>
              <a:rPr sz="1300" b="0">
                <a:solidFill>
                  <a:srgbClr val="404040"/>
                </a:solidFill>
              </a:rPr>
              <a:t>Student und ÖPNV mit Kontingent</a:t>
            </a:r>
          </a:p>
          <a:p>
            <a:pPr algn="l">
              <a:lnSpc>
                <a:spcPct val="95000"/>
              </a:lnSpc>
              <a:spcBef>
                <a:spcPts val="500"/>
              </a:spcBef>
            </a:pPr>
            <a:r>
              <a:rPr sz="1300" b="0">
                <a:solidFill>
                  <a:srgbClr val="404040"/>
                </a:solidFill>
              </a:rPr>
              <a:t>Premium mit Rabatt und Monatspreis</a:t>
            </a:r>
          </a:p>
        </p:txBody>
      </p:sp>
      <p:sp>
        <p:nvSpPr>
          <p:cNvPr id="15" name="Rectangle 14"/>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fährt ein E-Bike und hat den Studententarif — 300 Freiminuten im Monat.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Zehn Geschäftsregeln — jede muss erzwungen werden</a:t>
            </a:r>
          </a:p>
        </p:txBody>
      </p:sp>
      <p:sp>
        <p:nvSpPr>
          <p:cNvPr id="3" name="Text Placeholder 2"/>
          <p:cNvSpPr>
            <a:spLocks noGrp="1"/>
          </p:cNvSpPr>
          <p:nvPr>
            <p:ph type="body" idx="12" sz="quarter"/>
          </p:nvPr>
        </p:nvSpPr>
        <p:spPr/>
        <p:txBody>
          <a:bodyPr/>
          <a:lstStyle/>
          <a:p>
            <a:r>
              <a:t>1 · Die Fallstudie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 Regeln sind die fachliche Substanz. Entscheidend ist nicht, sie zu notieren, sondern dass jede einzelne am Ende erzwungen wird — von der Datenbank, nicht von der Anwendung.</a:t>
            </a:r>
          </a:p>
        </p:txBody>
      </p:sp>
      <p:sp>
        <p:nvSpPr>
          <p:cNvPr id="6" name="Rectangle 5"/>
          <p:cNvSpPr/>
          <p:nvPr/>
        </p:nvSpPr>
        <p:spPr>
          <a:xfrm>
            <a:off x="1153160" y="22098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098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2860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GR1  </a:t>
            </a:r>
            <a:r>
              <a:rPr sz="1300">
                <a:solidFill>
                  <a:srgbClr val="404040"/>
                </a:solidFill>
              </a:rPr>
              <a:t>Ein Rad ist höchstens einmal gleichzeitig ausgeliehen</a:t>
            </a:r>
          </a:p>
        </p:txBody>
      </p:sp>
      <p:sp>
        <p:nvSpPr>
          <p:cNvPr id="10" name="Rounded Rectangle 9"/>
          <p:cNvSpPr/>
          <p:nvPr/>
        </p:nvSpPr>
        <p:spPr>
          <a:xfrm>
            <a:off x="9300210" y="23241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partieller UNIQUE-Index</a:t>
            </a:r>
          </a:p>
        </p:txBody>
      </p:sp>
      <p:sp>
        <p:nvSpPr>
          <p:cNvPr id="11" name="Rectangle 10"/>
          <p:cNvSpPr/>
          <p:nvPr/>
        </p:nvSpPr>
        <p:spPr>
          <a:xfrm>
            <a:off x="1153160" y="28067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28067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2908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28829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GR2  </a:t>
            </a:r>
            <a:r>
              <a:rPr sz="1300">
                <a:solidFill>
                  <a:srgbClr val="404040"/>
                </a:solidFill>
              </a:rPr>
              <a:t>Ein Kunde hat höchstens vier aktive Ausleihen</a:t>
            </a:r>
          </a:p>
        </p:txBody>
      </p:sp>
      <p:sp>
        <p:nvSpPr>
          <p:cNvPr id="15" name="Rounded Rectangle 14"/>
          <p:cNvSpPr/>
          <p:nvPr/>
        </p:nvSpPr>
        <p:spPr>
          <a:xfrm>
            <a:off x="9300210" y="29210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Prüfung in der Funktion</a:t>
            </a:r>
          </a:p>
        </p:txBody>
      </p:sp>
      <p:sp>
        <p:nvSpPr>
          <p:cNvPr id="16" name="Rectangle 15"/>
          <p:cNvSpPr/>
          <p:nvPr/>
        </p:nvSpPr>
        <p:spPr>
          <a:xfrm>
            <a:off x="1153160" y="34036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4036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3505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4798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GR3  </a:t>
            </a:r>
            <a:r>
              <a:rPr sz="1300">
                <a:solidFill>
                  <a:srgbClr val="404040"/>
                </a:solidFill>
              </a:rPr>
              <a:t>Ein Kunde hat zu einem Zeitpunkt einen Tarif</a:t>
            </a:r>
          </a:p>
        </p:txBody>
      </p:sp>
      <p:sp>
        <p:nvSpPr>
          <p:cNvPr id="20" name="Rounded Rectangle 19"/>
          <p:cNvSpPr/>
          <p:nvPr/>
        </p:nvSpPr>
        <p:spPr>
          <a:xfrm>
            <a:off x="9300210" y="35179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1" name="Rectangle 20"/>
          <p:cNvSpPr/>
          <p:nvPr/>
        </p:nvSpPr>
        <p:spPr>
          <a:xfrm>
            <a:off x="1153160" y="40005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0005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4102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4" name="TextBox 23"/>
          <p:cNvSpPr txBox="1"/>
          <p:nvPr/>
        </p:nvSpPr>
        <p:spPr>
          <a:xfrm>
            <a:off x="1788160" y="40767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GR4  </a:t>
            </a:r>
            <a:r>
              <a:rPr sz="1300">
                <a:solidFill>
                  <a:srgbClr val="404040"/>
                </a:solidFill>
              </a:rPr>
              <a:t>Preise und Konditionen überlappen sich nie</a:t>
            </a:r>
          </a:p>
        </p:txBody>
      </p:sp>
      <p:sp>
        <p:nvSpPr>
          <p:cNvPr id="25" name="Rounded Rectangle 24"/>
          <p:cNvSpPr/>
          <p:nvPr/>
        </p:nvSpPr>
        <p:spPr>
          <a:xfrm>
            <a:off x="9300210" y="41148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EXCLUDE-Constraint</a:t>
            </a:r>
          </a:p>
        </p:txBody>
      </p:sp>
      <p:sp>
        <p:nvSpPr>
          <p:cNvPr id="26" name="Rectangle 25"/>
          <p:cNvSpPr/>
          <p:nvPr/>
        </p:nvSpPr>
        <p:spPr>
          <a:xfrm>
            <a:off x="1153160" y="45974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45974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4699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9" name="TextBox 28"/>
          <p:cNvSpPr txBox="1"/>
          <p:nvPr/>
        </p:nvSpPr>
        <p:spPr>
          <a:xfrm>
            <a:off x="1788160" y="46736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GR5  </a:t>
            </a:r>
            <a:r>
              <a:rPr sz="1300">
                <a:solidFill>
                  <a:srgbClr val="404040"/>
                </a:solidFill>
              </a:rPr>
              <a:t>Bepreist wird mit dem Preis zur Startzeit</a:t>
            </a:r>
          </a:p>
        </p:txBody>
      </p:sp>
      <p:sp>
        <p:nvSpPr>
          <p:cNvPr id="30" name="Rounded Rectangle 29"/>
          <p:cNvSpPr/>
          <p:nvPr/>
        </p:nvSpPr>
        <p:spPr>
          <a:xfrm>
            <a:off x="9300210" y="47117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in fn_ausleihe_beenden</a:t>
            </a:r>
          </a:p>
        </p:txBody>
      </p:sp>
      <p:sp>
        <p:nvSpPr>
          <p:cNvPr id="31" name="Rectangle 30"/>
          <p:cNvSpPr/>
          <p:nvPr/>
        </p:nvSpPr>
        <p:spPr>
          <a:xfrm>
            <a:off x="1153160" y="5194300"/>
            <a:ext cx="11474450" cy="533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1153160" y="5194300"/>
            <a:ext cx="508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1330960" y="5295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34" name="TextBox 33"/>
          <p:cNvSpPr txBox="1"/>
          <p:nvPr/>
        </p:nvSpPr>
        <p:spPr>
          <a:xfrm>
            <a:off x="1788160" y="5270500"/>
            <a:ext cx="7283450" cy="381000"/>
          </a:xfrm>
          <a:prstGeom prst="rect">
            <a:avLst/>
          </a:prstGeom>
          <a:noFill/>
        </p:spPr>
        <p:txBody>
          <a:bodyPr wrap="square" lIns="0" tIns="0" rIns="0" bIns="0" anchor="ctr">
            <a:spAutoFit/>
          </a:bodyPr>
          <a:lstStyle/>
          <a:p>
            <a:pPr>
              <a:lnSpc>
                <a:spcPct val="95000"/>
              </a:lnSpc>
            </a:pPr>
            <a:r>
              <a:rPr sz="1300" b="1">
                <a:solidFill>
                  <a:srgbClr val="003E6E"/>
                </a:solidFill>
              </a:rPr>
              <a:t>GR6  </a:t>
            </a:r>
            <a:r>
              <a:rPr sz="1300">
                <a:solidFill>
                  <a:srgbClr val="404040"/>
                </a:solidFill>
              </a:rPr>
              <a:t>Angefangene Minuten werden aufgerundet</a:t>
            </a:r>
          </a:p>
        </p:txBody>
      </p:sp>
      <p:sp>
        <p:nvSpPr>
          <p:cNvPr id="35" name="Rounded Rectangle 34"/>
          <p:cNvSpPr/>
          <p:nvPr/>
        </p:nvSpPr>
        <p:spPr>
          <a:xfrm>
            <a:off x="9300210" y="5308600"/>
            <a:ext cx="3175000" cy="304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GENERATED-Spalte</a:t>
            </a:r>
          </a:p>
        </p:txBody>
      </p:sp>
      <p:sp>
        <p:nvSpPr>
          <p:cNvPr id="36" name="Rectangle 3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GR5 entscheidet über Annas Rechnung: es gilt der Preis um 10:00 Uhr, nicht der von heute.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Konzeptioneller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Dinge sind das — und wie hängen sie zusammen?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Substantive werden Entitäten, Verben werden Beziehungen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Heuristik zum Einstieg, kein Automatismus — die eigentliche Arbeit steckt in den Kardinalitäten.</a:t>
            </a:r>
          </a:p>
        </p:txBody>
      </p:sp>
      <p:sp>
        <p:nvSpPr>
          <p:cNvPr id="6" name="Rectangle 5"/>
          <p:cNvSpPr/>
          <p:nvPr/>
        </p:nvSpPr>
        <p:spPr>
          <a:xfrm>
            <a:off x="3454753" y="1549400"/>
            <a:ext cx="6871262"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erm-konzeptionell.png"/>
          <p:cNvPicPr>
            <a:picLocks noChangeAspect="1"/>
          </p:cNvPicPr>
          <p:nvPr/>
        </p:nvPicPr>
        <p:blipFill>
          <a:blip r:embed="rId2"/>
          <a:stretch>
            <a:fillRect/>
          </a:stretch>
        </p:blipFill>
        <p:spPr>
          <a:xfrm>
            <a:off x="3556353" y="1651000"/>
            <a:ext cx="6668062" cy="44704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Kardinalitäten lesen und prüfen</a:t>
            </a:r>
          </a:p>
        </p:txBody>
      </p:sp>
      <p:sp>
        <p:nvSpPr>
          <p:cNvPr id="3" name="Text Placeholder 2"/>
          <p:cNvSpPr>
            <a:spLocks noGrp="1"/>
          </p:cNvSpPr>
          <p:nvPr>
            <p:ph type="body" idx="12" sz="quarter"/>
          </p:nvPr>
        </p:nvSpPr>
        <p:spPr/>
        <p:txBody>
          <a:bodyPr/>
          <a:lstStyle/>
          <a:p>
            <a:r>
              <a:t>2 · Konzeptioneller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Notation ist schnell gelernt. Die Frage dahinter ist die schwierige: Stimmt die Aussage über die Wirklichkeit?</a:t>
            </a:r>
          </a:p>
        </p:txBody>
      </p:sp>
      <p:sp>
        <p:nvSpPr>
          <p:cNvPr id="6" name="Rectangle 5"/>
          <p:cNvSpPr/>
          <p:nvPr/>
        </p:nvSpPr>
        <p:spPr>
          <a:xfrm>
            <a:off x="1153160" y="2438400"/>
            <a:ext cx="1397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Zeichen</a:t>
            </a:r>
          </a:p>
        </p:txBody>
      </p:sp>
      <p:sp>
        <p:nvSpPr>
          <p:cNvPr id="7" name="Rectangle 6"/>
          <p:cNvSpPr/>
          <p:nvPr/>
        </p:nvSpPr>
        <p:spPr>
          <a:xfrm>
            <a:off x="2550160" y="2438400"/>
            <a:ext cx="2921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8" name="Rectangle 7"/>
          <p:cNvSpPr/>
          <p:nvPr/>
        </p:nvSpPr>
        <p:spPr>
          <a:xfrm>
            <a:off x="5471160" y="2438400"/>
            <a:ext cx="330200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8773160" y="2438400"/>
            <a:ext cx="3854450" cy="431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Ist das wirklich so?</a:t>
            </a:r>
          </a:p>
        </p:txBody>
      </p:sp>
      <p:sp>
        <p:nvSpPr>
          <p:cNvPr id="10" name="Rectangle 9"/>
          <p:cNvSpPr/>
          <p:nvPr/>
        </p:nvSpPr>
        <p:spPr>
          <a:xfrm>
            <a:off x="1153160" y="28702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11" name="Rectangle 10"/>
          <p:cNvSpPr/>
          <p:nvPr/>
        </p:nvSpPr>
        <p:spPr>
          <a:xfrm>
            <a:off x="2550160" y="28702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viele</a:t>
            </a:r>
          </a:p>
        </p:txBody>
      </p:sp>
      <p:sp>
        <p:nvSpPr>
          <p:cNvPr id="12" name="Rectangle 11"/>
          <p:cNvSpPr/>
          <p:nvPr/>
        </p:nvSpPr>
        <p:spPr>
          <a:xfrm>
            <a:off x="5471160" y="28702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tätigt AUSLEIHE</a:t>
            </a:r>
          </a:p>
        </p:txBody>
      </p:sp>
      <p:sp>
        <p:nvSpPr>
          <p:cNvPr id="13" name="Rectangle 12"/>
          <p:cNvSpPr/>
          <p:nvPr/>
        </p:nvSpPr>
        <p:spPr>
          <a:xfrm>
            <a:off x="8773160" y="28702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Neukunde ohne Fahrt: ja</a:t>
            </a:r>
          </a:p>
        </p:txBody>
      </p:sp>
      <p:sp>
        <p:nvSpPr>
          <p:cNvPr id="14" name="Rectangle 13"/>
          <p:cNvSpPr/>
          <p:nvPr/>
        </p:nvSpPr>
        <p:spPr>
          <a:xfrm>
            <a:off x="1153160" y="33020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5" name="Rectangle 14"/>
          <p:cNvSpPr/>
          <p:nvPr/>
        </p:nvSpPr>
        <p:spPr>
          <a:xfrm>
            <a:off x="2550160" y="33020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 oder viele</a:t>
            </a:r>
          </a:p>
        </p:txBody>
      </p:sp>
      <p:sp>
        <p:nvSpPr>
          <p:cNvPr id="16" name="Rectangle 15"/>
          <p:cNvSpPr/>
          <p:nvPr/>
        </p:nvSpPr>
        <p:spPr>
          <a:xfrm>
            <a:off x="5471160" y="33020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hat POSITION</a:t>
            </a:r>
          </a:p>
        </p:txBody>
      </p:sp>
      <p:sp>
        <p:nvSpPr>
          <p:cNvPr id="17" name="Rectangle 16"/>
          <p:cNvSpPr/>
          <p:nvPr/>
        </p:nvSpPr>
        <p:spPr>
          <a:xfrm>
            <a:off x="8773160" y="33020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Rechnung ohne Posten wäre sinnlos</a:t>
            </a:r>
          </a:p>
        </p:txBody>
      </p:sp>
      <p:sp>
        <p:nvSpPr>
          <p:cNvPr id="18" name="Rectangle 17"/>
          <p:cNvSpPr/>
          <p:nvPr/>
        </p:nvSpPr>
        <p:spPr>
          <a:xfrm>
            <a:off x="1153160" y="3733800"/>
            <a:ext cx="1397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
            </a:r>
          </a:p>
        </p:txBody>
      </p:sp>
      <p:sp>
        <p:nvSpPr>
          <p:cNvPr id="19" name="Rectangle 18"/>
          <p:cNvSpPr/>
          <p:nvPr/>
        </p:nvSpPr>
        <p:spPr>
          <a:xfrm>
            <a:off x="2550160" y="3733800"/>
            <a:ext cx="2921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eins</a:t>
            </a:r>
          </a:p>
        </p:txBody>
      </p:sp>
      <p:sp>
        <p:nvSpPr>
          <p:cNvPr id="20" name="Rectangle 19"/>
          <p:cNvSpPr/>
          <p:nvPr/>
        </p:nvSpPr>
        <p:spPr>
          <a:xfrm>
            <a:off x="5471160" y="3733800"/>
            <a:ext cx="330200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 hat POSITION</a:t>
            </a:r>
          </a:p>
        </p:txBody>
      </p:sp>
      <p:sp>
        <p:nvSpPr>
          <p:cNvPr id="21" name="Rectangle 20"/>
          <p:cNvSpPr/>
          <p:nvPr/>
        </p:nvSpPr>
        <p:spPr>
          <a:xfrm>
            <a:off x="8773160" y="3733800"/>
            <a:ext cx="3854450" cy="431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genau eine Position je Rad</a:t>
            </a:r>
          </a:p>
        </p:txBody>
      </p:sp>
      <p:sp>
        <p:nvSpPr>
          <p:cNvPr id="22" name="Rectangle 21"/>
          <p:cNvSpPr/>
          <p:nvPr/>
        </p:nvSpPr>
        <p:spPr>
          <a:xfrm>
            <a:off x="1153160" y="4165600"/>
            <a:ext cx="1397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||--o|</a:t>
            </a:r>
          </a:p>
        </p:txBody>
      </p:sp>
      <p:sp>
        <p:nvSpPr>
          <p:cNvPr id="23" name="Rectangle 22"/>
          <p:cNvSpPr/>
          <p:nvPr/>
        </p:nvSpPr>
        <p:spPr>
          <a:xfrm>
            <a:off x="2550160" y="4165600"/>
            <a:ext cx="2921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eins zu null oder eins</a:t>
            </a:r>
          </a:p>
        </p:txBody>
      </p:sp>
      <p:sp>
        <p:nvSpPr>
          <p:cNvPr id="24" name="Rectangle 23"/>
          <p:cNvSpPr/>
          <p:nvPr/>
        </p:nvSpPr>
        <p:spPr>
          <a:xfrm>
            <a:off x="5471160" y="4165600"/>
            <a:ext cx="330200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 zu POSITION</a:t>
            </a:r>
          </a:p>
        </p:txBody>
      </p:sp>
      <p:sp>
        <p:nvSpPr>
          <p:cNvPr id="25" name="Rectangle 24"/>
          <p:cNvSpPr/>
          <p:nvPr/>
        </p:nvSpPr>
        <p:spPr>
          <a:xfrm>
            <a:off x="8773160" y="4165600"/>
            <a:ext cx="3854450" cy="431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noch nicht fakturiert: ja</a:t>
            </a:r>
          </a:p>
        </p:txBody>
      </p:sp>
      <p:sp>
        <p:nvSpPr>
          <p:cNvPr id="26" name="Rectangle 25"/>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ist eine AUSLEIHE — sie verbindet Kunde, Rad, Station und Tarif in einem Vorgang.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Geschäftspartner: Adresse als eigene Entität</a:t>
            </a:r>
          </a:p>
        </p:txBody>
      </p:sp>
      <p:sp>
        <p:nvSpPr>
          <p:cNvPr id="3" name="Text Placeholder 2"/>
          <p:cNvSpPr>
            <a:spLocks noGrp="1"/>
          </p:cNvSpPr>
          <p:nvPr>
            <p:ph type="body" idx="12" sz="quarter"/>
          </p:nvPr>
        </p:nvSpPr>
        <p:spPr/>
        <p:txBody>
          <a:bodyPr/>
          <a:lstStyle/>
          <a:p>
            <a:r>
              <a:t>2 · Bereich A</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ist ein Satz in kunde — mit Kundennummer, aber ohne Passwort.</a:t>
            </a:r>
          </a:p>
        </p:txBody>
      </p:sp>
      <p:sp>
        <p:nvSpPr>
          <p:cNvPr id="8" name="Rectangle 7"/>
          <p:cNvSpPr/>
          <p:nvPr/>
        </p:nvSpPr>
        <p:spPr>
          <a:xfrm>
            <a:off x="5118525" y="1600200"/>
            <a:ext cx="354371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a-geschaeftspartner.png"/>
          <p:cNvPicPr>
            <a:picLocks noChangeAspect="1"/>
          </p:cNvPicPr>
          <p:nvPr/>
        </p:nvPicPr>
        <p:blipFill>
          <a:blip r:embed="rId2"/>
          <a:stretch>
            <a:fillRect/>
          </a:stretch>
        </p:blipFill>
        <p:spPr>
          <a:xfrm>
            <a:off x="5220125" y="1701800"/>
            <a:ext cx="3340518" cy="44704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Netz und Flotte: Stammdaten und Bewegungsdaten getrennt</a:t>
            </a:r>
          </a:p>
        </p:txBody>
      </p:sp>
      <p:sp>
        <p:nvSpPr>
          <p:cNvPr id="3" name="Text Placeholder 2"/>
          <p:cNvSpPr>
            <a:spLocks noGrp="1"/>
          </p:cNvSpPr>
          <p:nvPr>
            <p:ph type="body" idx="12" sz="quarter"/>
          </p:nvPr>
        </p:nvSpPr>
        <p:spPr/>
        <p:txBody>
          <a:bodyPr/>
          <a:lstStyle/>
          <a:p>
            <a:r>
              <a:t>2 · Bereich B</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E-Bike steht vor der Fahrt an einer Station, danach vielleicht frei im Stadtgebiet.</a:t>
            </a:r>
          </a:p>
        </p:txBody>
      </p:sp>
      <p:sp>
        <p:nvSpPr>
          <p:cNvPr id="8" name="Rectangle 7"/>
          <p:cNvSpPr/>
          <p:nvPr/>
        </p:nvSpPr>
        <p:spPr>
          <a:xfrm>
            <a:off x="4566878" y="1600200"/>
            <a:ext cx="4647013"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b-netz-und-flotte.png"/>
          <p:cNvPicPr>
            <a:picLocks noChangeAspect="1"/>
          </p:cNvPicPr>
          <p:nvPr/>
        </p:nvPicPr>
        <p:blipFill>
          <a:blip r:embed="rId2"/>
          <a:stretch>
            <a:fillRect/>
          </a:stretch>
        </p:blipFill>
        <p:spPr>
          <a:xfrm>
            <a:off x="4668478" y="1701800"/>
            <a:ext cx="4443813" cy="44704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Tarif und Preis: alles ist zeitabhängig</a:t>
            </a:r>
          </a:p>
        </p:txBody>
      </p:sp>
      <p:sp>
        <p:nvSpPr>
          <p:cNvPr id="3" name="Text Placeholder 2"/>
          <p:cNvSpPr>
            <a:spLocks noGrp="1"/>
          </p:cNvSpPr>
          <p:nvPr>
            <p:ph type="body" idx="12" sz="quarter"/>
          </p:nvPr>
        </p:nvSpPr>
        <p:spPr/>
        <p:txBody>
          <a:bodyPr/>
          <a:lstStyle/>
          <a:p>
            <a:r>
              <a:t>2 · Bereich C</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Studententarif bringt 300 Freiminuten im Monat und wird beim Start ihrer Fahrt fixiert.</a:t>
            </a:r>
          </a:p>
        </p:txBody>
      </p:sp>
      <p:sp>
        <p:nvSpPr>
          <p:cNvPr id="8" name="Rectangle 7"/>
          <p:cNvSpPr/>
          <p:nvPr/>
        </p:nvSpPr>
        <p:spPr>
          <a:xfrm>
            <a:off x="1859747" y="1600200"/>
            <a:ext cx="10061275"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c-tarif-und-preis.png"/>
          <p:cNvPicPr>
            <a:picLocks noChangeAspect="1"/>
          </p:cNvPicPr>
          <p:nvPr/>
        </p:nvPicPr>
        <p:blipFill>
          <a:blip r:embed="rId2"/>
          <a:stretch>
            <a:fillRect/>
          </a:stretch>
        </p:blipFill>
        <p:spPr>
          <a:xfrm>
            <a:off x="1961347" y="1701800"/>
            <a:ext cx="9858075" cy="44704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Nutzung: die Ausleihe und ihre Abrechnung</a:t>
            </a:r>
          </a:p>
        </p:txBody>
      </p:sp>
      <p:sp>
        <p:nvSpPr>
          <p:cNvPr id="3" name="Text Placeholder 2"/>
          <p:cNvSpPr>
            <a:spLocks noGrp="1"/>
          </p:cNvSpPr>
          <p:nvPr>
            <p:ph type="body" idx="12" sz="quarter"/>
          </p:nvPr>
        </p:nvSpPr>
        <p:spPr/>
        <p:txBody>
          <a:bodyPr/>
          <a:lstStyle/>
          <a:p>
            <a:r>
              <a:t>2 · Bereich D</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erzeugt fünf Entgeltpositionen — jede einzeln nachvollziehbar.</a:t>
            </a:r>
          </a:p>
        </p:txBody>
      </p:sp>
      <p:sp>
        <p:nvSpPr>
          <p:cNvPr id="8" name="Rectangle 7"/>
          <p:cNvSpPr/>
          <p:nvPr/>
        </p:nvSpPr>
        <p:spPr>
          <a:xfrm>
            <a:off x="3355620" y="1600200"/>
            <a:ext cx="7069528"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d-nutzung.png"/>
          <p:cNvPicPr>
            <a:picLocks noChangeAspect="1"/>
          </p:cNvPicPr>
          <p:nvPr/>
        </p:nvPicPr>
        <p:blipFill>
          <a:blip r:embed="rId2"/>
          <a:stretch>
            <a:fillRect/>
          </a:stretch>
        </p:blipFill>
        <p:spPr>
          <a:xfrm>
            <a:off x="3457220" y="1701800"/>
            <a:ext cx="6866328" cy="44704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Abrechnung: Beleg, Positionen, Zahlung</a:t>
            </a:r>
          </a:p>
        </p:txBody>
      </p:sp>
      <p:sp>
        <p:nvSpPr>
          <p:cNvPr id="3" name="Text Placeholder 2"/>
          <p:cNvSpPr>
            <a:spLocks noGrp="1"/>
          </p:cNvSpPr>
          <p:nvPr>
            <p:ph type="body" idx="12" sz="quarter"/>
          </p:nvPr>
        </p:nvSpPr>
        <p:spPr/>
        <p:txBody>
          <a:bodyPr/>
          <a:lstStyle/>
          <a:p>
            <a:r>
              <a:t>2 · Bereich E</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erscheint am Monatsende als eine Zeile auf einer Rechnung.</a:t>
            </a:r>
          </a:p>
        </p:txBody>
      </p:sp>
      <p:sp>
        <p:nvSpPr>
          <p:cNvPr id="8" name="Rectangle 7"/>
          <p:cNvSpPr/>
          <p:nvPr/>
        </p:nvSpPr>
        <p:spPr>
          <a:xfrm>
            <a:off x="2790201" y="1600200"/>
            <a:ext cx="8200366" cy="4673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e-abrechnung.png"/>
          <p:cNvPicPr>
            <a:picLocks noChangeAspect="1"/>
          </p:cNvPicPr>
          <p:nvPr/>
        </p:nvPicPr>
        <p:blipFill>
          <a:blip r:embed="rId2"/>
          <a:stretch>
            <a:fillRect/>
          </a:stretch>
        </p:blipFill>
        <p:spPr>
          <a:xfrm>
            <a:off x="2891801" y="1701800"/>
            <a:ext cx="7997166" cy="44704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Redaktionsinhalte: warum drei Tabellen und nicht eine</a:t>
            </a:r>
          </a:p>
        </p:txBody>
      </p:sp>
      <p:sp>
        <p:nvSpPr>
          <p:cNvPr id="3" name="Text Placeholder 2"/>
          <p:cNvSpPr>
            <a:spLocks noGrp="1"/>
          </p:cNvSpPr>
          <p:nvPr>
            <p:ph type="body" idx="12" sz="quarter"/>
          </p:nvPr>
        </p:nvSpPr>
        <p:spPr/>
        <p:txBody>
          <a:bodyPr/>
          <a:lstStyle/>
          <a:p>
            <a:r>
              <a:t>2 · Bereich 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Rectangle 4"/>
          <p:cNvSpPr/>
          <p:nvPr/>
        </p:nvSpPr>
        <p:spPr>
          <a:xfrm>
            <a:off x="1153160" y="11176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1176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56360" y="11684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Der Preis, den Anna auf der Tarifkarte sieht, wird aus nutzungspreis gerechnet — nicht getippt.</a:t>
            </a:r>
          </a:p>
        </p:txBody>
      </p:sp>
      <p:sp>
        <p:nvSpPr>
          <p:cNvPr id="8" name="Rectangle 7"/>
          <p:cNvSpPr/>
          <p:nvPr/>
        </p:nvSpPr>
        <p:spPr>
          <a:xfrm>
            <a:off x="1051560" y="1898155"/>
            <a:ext cx="11677650" cy="4077689"/>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el-f-inhalte.png"/>
          <p:cNvPicPr>
            <a:picLocks noChangeAspect="1"/>
          </p:cNvPicPr>
          <p:nvPr/>
        </p:nvPicPr>
        <p:blipFill>
          <a:blip r:embed="rId2"/>
          <a:stretch>
            <a:fillRect/>
          </a:stretch>
        </p:blipFill>
        <p:spPr>
          <a:xfrm>
            <a:off x="1153160" y="1999755"/>
            <a:ext cx="11474450" cy="387448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Normalisierung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reicht für Annas Fahrt nicht eine einzige Tabelle?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naive Versuch: alles in eine Tabelle</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So würde jemand Annas Fahrt aufschreiben, der noch nicht normalisiert hat. Die Tabelle funktioniert — bis zur ersten Änderung.</a:t>
            </a:r>
          </a:p>
        </p:txBody>
      </p:sp>
      <p:sp>
        <p:nvSpPr>
          <p:cNvPr id="6" name="Rectangle 5"/>
          <p:cNvSpPr/>
          <p:nvPr/>
        </p:nvSpPr>
        <p:spPr>
          <a:xfrm>
            <a:off x="2097325" y="2133600"/>
            <a:ext cx="3064668" cy="375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vorher.png"/>
          <p:cNvPicPr>
            <a:picLocks noChangeAspect="1"/>
          </p:cNvPicPr>
          <p:nvPr/>
        </p:nvPicPr>
        <p:blipFill>
          <a:blip r:embed="rId2"/>
          <a:stretch>
            <a:fillRect/>
          </a:stretch>
        </p:blipFill>
        <p:spPr>
          <a:xfrm>
            <a:off x="2198925" y="2235200"/>
            <a:ext cx="2861468" cy="3556000"/>
          </a:xfrm>
          <a:prstGeom prst="rect">
            <a:avLst/>
          </a:prstGeom>
        </p:spPr>
      </p:pic>
      <p:sp>
        <p:nvSpPr>
          <p:cNvPr id="8" name="Rectangle 7"/>
          <p:cNvSpPr/>
          <p:nvPr/>
        </p:nvSpPr>
        <p:spPr>
          <a:xfrm>
            <a:off x="6487160" y="2540000"/>
            <a:ext cx="6140450" cy="20701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6487160" y="2540000"/>
            <a:ext cx="50800" cy="20701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90359" y="2667000"/>
            <a:ext cx="5759450" cy="1816100"/>
          </a:xfrm>
          <a:prstGeom prst="rect">
            <a:avLst/>
          </a:prstGeom>
          <a:noFill/>
        </p:spPr>
        <p:txBody>
          <a:bodyPr wrap="square" lIns="0" tIns="0" rIns="0" bIns="0">
            <a:spAutoFit/>
          </a:bodyPr>
          <a:lstStyle/>
          <a:p>
            <a:pPr algn="l">
              <a:lnSpc>
                <a:spcPct val="95000"/>
              </a:lnSpc>
            </a:pPr>
            <a:r>
              <a:rPr sz="1500" b="1">
                <a:solidFill>
                  <a:srgbClr val="003E6E"/>
                </a:solidFill>
              </a:rPr>
              <a:t>Drei Anomalien, die daraus folgen</a:t>
            </a:r>
          </a:p>
          <a:p>
            <a:pPr algn="l">
              <a:lnSpc>
                <a:spcPct val="95000"/>
              </a:lnSpc>
              <a:spcBef>
                <a:spcPts val="500"/>
              </a:spcBef>
            </a:pPr>
            <a:r>
              <a:rPr sz="1300" b="0">
                <a:solidFill>
                  <a:srgbClr val="404040"/>
                </a:solidFill>
              </a:rPr>
              <a:t>Einfügen: ein neuer Fahrradtyp lässt sich ohne Ausleihe gar nicht anlegen.</a:t>
            </a:r>
          </a:p>
          <a:p>
            <a:pPr algn="l">
              <a:lnSpc>
                <a:spcPct val="95000"/>
              </a:lnSpc>
              <a:spcBef>
                <a:spcPts val="500"/>
              </a:spcBef>
            </a:pPr>
            <a:r>
              <a:rPr sz="1300" b="0">
                <a:solidFill>
                  <a:srgbClr val="404040"/>
                </a:solidFill>
              </a:rPr>
              <a:t>Ändern: eine Preisanpassung müsste in jeder einzelnen Ausleihzeile nachgezogen werden.</a:t>
            </a:r>
          </a:p>
          <a:p>
            <a:pPr algn="l">
              <a:lnSpc>
                <a:spcPct val="95000"/>
              </a:lnSpc>
              <a:spcBef>
                <a:spcPts val="500"/>
              </a:spcBef>
            </a:pPr>
            <a:r>
              <a:rPr sz="1300" b="0">
                <a:solidFill>
                  <a:srgbClr val="404040"/>
                </a:solidFill>
              </a:rPr>
              <a:t>Löschen: mit der letzten Ausleihe eines Typs verschwindet auch dessen Preis.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1NF und 2NF: atomar, und alles hängt am ganzen Schlüssel</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1NF verlangt atomare Attribute. Der lehrreichere Fall ist die wiederholende Gruppe: sie wird zu einer eigenen Relation, nicht zu mehreren Spalten.</a:t>
            </a:r>
          </a:p>
        </p:txBody>
      </p:sp>
      <p:sp>
        <p:nvSpPr>
          <p:cNvPr id="6" name="Rectangle 5"/>
          <p:cNvSpPr/>
          <p:nvPr/>
        </p:nvSpPr>
        <p:spPr>
          <a:xfrm>
            <a:off x="1153160"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verletzt</a:t>
            </a:r>
          </a:p>
        </p:txBody>
      </p:sp>
      <p:sp>
        <p:nvSpPr>
          <p:cNvPr id="9" name="TextBox 8"/>
          <p:cNvSpPr txBox="1"/>
          <p:nvPr/>
        </p:nvSpPr>
        <p:spPr>
          <a:xfrm>
            <a:off x="1330960" y="2743200"/>
            <a:ext cx="5194300" cy="1778000"/>
          </a:xfrm>
          <a:prstGeom prst="rect">
            <a:avLst/>
          </a:prstGeom>
          <a:noFill/>
        </p:spPr>
        <p:txBody>
          <a:bodyPr wrap="square" lIns="0" tIns="0" rIns="0" bIns="0">
            <a:spAutoFit/>
          </a:bodyPr>
          <a:lstStyle/>
          <a:p>
            <a:pPr algn="l">
              <a:lnSpc>
                <a:spcPct val="95000"/>
              </a:lnSpc>
            </a:pPr>
            <a:r>
              <a:rPr sz="1400" b="1">
                <a:solidFill>
                  <a:srgbClr val="A32638"/>
                </a:solidFill>
              </a:rPr>
              <a:t>1NF · nicht atomar</a:t>
            </a:r>
          </a:p>
          <a:p>
            <a:pPr algn="l">
              <a:lnSpc>
                <a:spcPct val="95000"/>
              </a:lnSpc>
              <a:spcBef>
                <a:spcPts val="300"/>
              </a:spcBef>
            </a:pPr>
            <a:r>
              <a:rPr sz="1300" b="0">
                <a:solidFill>
                  <a:srgbClr val="404040"/>
                </a:solidFill>
                <a:latin typeface="Consolas"/>
              </a:rPr>
              <a:t>kunde_name  = „Anna Beispiel“</a:t>
            </a:r>
          </a:p>
          <a:p>
            <a:pPr algn="l">
              <a:lnSpc>
                <a:spcPct val="95000"/>
              </a:lnSpc>
              <a:spcBef>
                <a:spcPts val="300"/>
              </a:spcBef>
            </a:pPr>
            <a:r>
              <a:rPr sz="1300" b="0">
                <a:solidFill>
                  <a:srgbClr val="404040"/>
                </a:solidFill>
                <a:latin typeface="Consolas"/>
              </a:rPr>
              <a:t>positionen  = „Start 0,10; Zeit 6,10; …“</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Falsche Reparatur:</a:t>
            </a:r>
          </a:p>
          <a:p>
            <a:pPr algn="l">
              <a:lnSpc>
                <a:spcPct val="95000"/>
              </a:lnSpc>
              <a:spcBef>
                <a:spcPts val="300"/>
              </a:spcBef>
            </a:pPr>
            <a:r>
              <a:rPr sz="1300" b="0">
                <a:solidFill>
                  <a:srgbClr val="404040"/>
                </a:solidFill>
                <a:latin typeface="Consolas"/>
              </a:rPr>
              <a:t>position1, position2, position3</a:t>
            </a:r>
          </a:p>
          <a:p>
            <a:pPr algn="l">
              <a:lnSpc>
                <a:spcPct val="95000"/>
              </a:lnSpc>
              <a:spcBef>
                <a:spcPts val="300"/>
              </a:spcBef>
            </a:pPr>
            <a:r>
              <a:rPr sz="1300" b="0">
                <a:solidFill>
                  <a:srgbClr val="404040"/>
                </a:solidFill>
                <a:latin typeface="Consolas"/>
              </a:rPr>
              <a:t>→ legt die Anzahl im Schema fest</a:t>
            </a:r>
          </a:p>
        </p:txBody>
      </p:sp>
      <p:sp>
        <p:nvSpPr>
          <p:cNvPr id="10" name="Rectangle 9"/>
          <p:cNvSpPr/>
          <p:nvPr/>
        </p:nvSpPr>
        <p:spPr>
          <a:xfrm>
            <a:off x="7096759" y="2235200"/>
            <a:ext cx="552450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erfüllt</a:t>
            </a:r>
          </a:p>
        </p:txBody>
      </p:sp>
      <p:sp>
        <p:nvSpPr>
          <p:cNvPr id="13" name="TextBox 12"/>
          <p:cNvSpPr txBox="1"/>
          <p:nvPr/>
        </p:nvSpPr>
        <p:spPr>
          <a:xfrm>
            <a:off x="7274559" y="2743200"/>
            <a:ext cx="5194300" cy="1778000"/>
          </a:xfrm>
          <a:prstGeom prst="rect">
            <a:avLst/>
          </a:prstGeom>
          <a:noFill/>
        </p:spPr>
        <p:txBody>
          <a:bodyPr wrap="square" lIns="0" tIns="0" rIns="0" bIns="0">
            <a:spAutoFit/>
          </a:bodyPr>
          <a:lstStyle/>
          <a:p>
            <a:pPr algn="l">
              <a:lnSpc>
                <a:spcPct val="95000"/>
              </a:lnSpc>
            </a:pPr>
            <a:r>
              <a:rPr sz="1400" b="1">
                <a:solidFill>
                  <a:srgbClr val="55801C"/>
                </a:solidFill>
              </a:rPr>
              <a:t>1NF · zerlegt</a:t>
            </a:r>
          </a:p>
          <a:p>
            <a:pPr algn="l">
              <a:lnSpc>
                <a:spcPct val="95000"/>
              </a:lnSpc>
              <a:spcBef>
                <a:spcPts val="300"/>
              </a:spcBef>
            </a:pPr>
            <a:r>
              <a:rPr sz="1300" b="0">
                <a:solidFill>
                  <a:srgbClr val="404040"/>
                </a:solidFill>
                <a:latin typeface="Consolas"/>
              </a:rPr>
              <a:t>vorname     = „Anna“</a:t>
            </a:r>
          </a:p>
          <a:p>
            <a:pPr algn="l">
              <a:lnSpc>
                <a:spcPct val="95000"/>
              </a:lnSpc>
              <a:spcBef>
                <a:spcPts val="300"/>
              </a:spcBef>
            </a:pPr>
            <a:r>
              <a:rPr sz="1300" b="0">
                <a:solidFill>
                  <a:srgbClr val="404040"/>
                </a:solidFill>
                <a:latin typeface="Consolas"/>
              </a:rPr>
              <a:t>nachname    = „Beispiel“</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entgeltposition als eigene Relation,</a:t>
            </a:r>
          </a:p>
          <a:p>
            <a:pPr algn="l">
              <a:lnSpc>
                <a:spcPct val="95000"/>
              </a:lnSpc>
              <a:spcBef>
                <a:spcPts val="300"/>
              </a:spcBef>
            </a:pPr>
            <a:r>
              <a:rPr sz="1300" b="0">
                <a:solidFill>
                  <a:srgbClr val="404040"/>
                </a:solidFill>
                <a:latin typeface="Consolas"/>
              </a:rPr>
              <a:t>eine Zeile je Preisbestandteil</a:t>
            </a:r>
          </a:p>
          <a:p>
            <a:pPr algn="l">
              <a:lnSpc>
                <a:spcPct val="95000"/>
              </a:lnSpc>
              <a:spcBef>
                <a:spcPts val="300"/>
              </a:spcBef>
            </a:pPr>
            <a:r>
              <a:rPr sz="1300" b="0">
                <a:solidFill>
                  <a:srgbClr val="404040"/>
                </a:solidFill>
                <a:latin typeface="Consolas"/>
              </a:rPr>
              <a:t>→ die Anzahl ist offen</a:t>
            </a:r>
          </a:p>
        </p:txBody>
      </p:sp>
      <p:sp>
        <p:nvSpPr>
          <p:cNvPr id="14" name="Rectangle 13"/>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2NF: bei zusammengesetztem Schlüssel (ausleihe_id, position_nr) hängt kunde_email nur an ausleihe_id — daraus folgt die Trennung in Kopf und Positionen.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3NF — und warum sie hier nicht genügt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transitive Kette vom Rad über den Typ zum Preis ist der klassische 3NF-Verstoß. Sie aufzulösen ist notwendig, reicht aber fachlich nicht aus.</a:t>
            </a:r>
          </a:p>
        </p:txBody>
      </p:sp>
      <p:sp>
        <p:nvSpPr>
          <p:cNvPr id="6" name="Rectangle 5"/>
          <p:cNvSpPr/>
          <p:nvPr/>
        </p:nvSpPr>
        <p:spPr>
          <a:xfrm>
            <a:off x="1153160"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verletzt</a:t>
            </a:r>
          </a:p>
        </p:txBody>
      </p:sp>
      <p:sp>
        <p:nvSpPr>
          <p:cNvPr id="9" name="TextBox 8"/>
          <p:cNvSpPr txBox="1"/>
          <p:nvPr/>
        </p:nvSpPr>
        <p:spPr>
          <a:xfrm>
            <a:off x="1330960" y="27432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Die transitive Kette</a:t>
            </a:r>
          </a:p>
          <a:p>
            <a:pPr algn="l">
              <a:lnSpc>
                <a:spcPct val="95000"/>
              </a:lnSpc>
              <a:spcBef>
                <a:spcPts val="300"/>
              </a:spcBef>
            </a:pPr>
            <a:r>
              <a:rPr sz="1300" b="0">
                <a:solidFill>
                  <a:srgbClr val="404040"/>
                </a:solidFill>
                <a:latin typeface="Consolas"/>
              </a:rPr>
              <a:t>ausleihe_id</a:t>
            </a:r>
          </a:p>
          <a:p>
            <a:pPr algn="l">
              <a:lnSpc>
                <a:spcPct val="95000"/>
              </a:lnSpc>
              <a:spcBef>
                <a:spcPts val="300"/>
              </a:spcBef>
            </a:pPr>
            <a:r>
              <a:rPr sz="1300" b="0">
                <a:solidFill>
                  <a:srgbClr val="404040"/>
                </a:solidFill>
                <a:latin typeface="Consolas"/>
              </a:rPr>
              <a:t>  → rahmennummer</a:t>
            </a:r>
          </a:p>
          <a:p>
            <a:pPr algn="l">
              <a:lnSpc>
                <a:spcPct val="95000"/>
              </a:lnSpc>
              <a:spcBef>
                <a:spcPts val="300"/>
              </a:spcBef>
            </a:pPr>
            <a:r>
              <a:rPr sz="1300" b="0">
                <a:solidFill>
                  <a:srgbClr val="404040"/>
                </a:solidFill>
                <a:latin typeface="Consolas"/>
              </a:rPr>
              <a:t>     → typ_bezeichnung</a:t>
            </a:r>
          </a:p>
          <a:p>
            <a:pPr algn="l">
              <a:lnSpc>
                <a:spcPct val="95000"/>
              </a:lnSpc>
              <a:spcBef>
                <a:spcPts val="300"/>
              </a:spcBef>
            </a:pPr>
            <a:r>
              <a:rPr sz="1300" b="0">
                <a:solidFill>
                  <a:srgbClr val="404040"/>
                </a:solidFill>
                <a:latin typeface="Consolas"/>
              </a:rPr>
              <a:t>        → preis_pro_minute</a:t>
            </a:r>
          </a:p>
          <a:p>
            <a:pPr algn="l">
              <a:lnSpc>
                <a:spcPct val="95000"/>
              </a:lnSpc>
              <a:spcBef>
                <a:spcPts val="300"/>
              </a:spcBef>
            </a:pPr>
            <a:r>
              <a:rPr sz="1300" b="0">
                <a:solidFill>
                  <a:srgbClr val="404040"/>
                </a:solidFill>
                <a:latin typeface="Consolas"/>
              </a:rPr>
              <a:t/>
            </a:r>
          </a:p>
          <a:p>
            <a:pPr algn="l">
              <a:lnSpc>
                <a:spcPct val="95000"/>
              </a:lnSpc>
              <a:spcBef>
                <a:spcPts val="300"/>
              </a:spcBef>
            </a:pPr>
            <a:r>
              <a:rPr sz="1300" b="0">
                <a:solidFill>
                  <a:srgbClr val="404040"/>
                </a:solidFill>
                <a:latin typeface="Consolas"/>
              </a:rPr>
              <a:t>Eine Preisänderung müsste in jeder</a:t>
            </a:r>
          </a:p>
          <a:p>
            <a:pPr algn="l">
              <a:lnSpc>
                <a:spcPct val="95000"/>
              </a:lnSpc>
              <a:spcBef>
                <a:spcPts val="300"/>
              </a:spcBef>
            </a:pPr>
            <a:r>
              <a:rPr sz="1300" b="0">
                <a:solidFill>
                  <a:srgbClr val="404040"/>
                </a:solidFill>
                <a:latin typeface="Consolas"/>
              </a:rPr>
              <a:t>Ausleihzeile nachgezogen werden.</a:t>
            </a:r>
          </a:p>
        </p:txBody>
      </p:sp>
      <p:sp>
        <p:nvSpPr>
          <p:cNvPr id="10" name="Rectangle 9"/>
          <p:cNvSpPr/>
          <p:nvPr/>
        </p:nvSpPr>
        <p:spPr>
          <a:xfrm>
            <a:off x="7096759" y="22352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3NF erfüllt — reicht trotzdem nicht</a:t>
            </a:r>
          </a:p>
        </p:txBody>
      </p:sp>
      <p:sp>
        <p:nvSpPr>
          <p:cNvPr id="13" name="TextBox 12"/>
          <p:cNvSpPr txBox="1"/>
          <p:nvPr/>
        </p:nvSpPr>
        <p:spPr>
          <a:xfrm>
            <a:off x="7274559" y="27432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Zerlegt, aber immer noch falsch</a:t>
            </a:r>
          </a:p>
          <a:p>
            <a:pPr algn="l">
              <a:lnSpc>
                <a:spcPct val="95000"/>
              </a:lnSpc>
              <a:spcBef>
                <a:spcPts val="300"/>
              </a:spcBef>
            </a:pPr>
            <a:r>
              <a:rPr sz="1300" b="0">
                <a:solidFill>
                  <a:srgbClr val="404040"/>
                </a:solidFill>
              </a:rPr>
              <a:t>fahrradtyp und nutzungspreis</a:t>
            </a:r>
          </a:p>
          <a:p>
            <a:pPr algn="l">
              <a:lnSpc>
                <a:spcPct val="95000"/>
              </a:lnSpc>
              <a:spcBef>
                <a:spcPts val="300"/>
              </a:spcBef>
            </a:pPr>
            <a:r>
              <a:rPr sz="1300" b="0">
                <a:solidFill>
                  <a:srgbClr val="404040"/>
                </a:solidFill>
              </a:rPr>
              <a:t>werden eigene Relationen.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ABER: liegt der Preis am Typ, ändert</a:t>
            </a:r>
          </a:p>
          <a:p>
            <a:pPr algn="l">
              <a:lnSpc>
                <a:spcPct val="95000"/>
              </a:lnSpc>
              <a:spcBef>
                <a:spcPts val="300"/>
              </a:spcBef>
            </a:pPr>
            <a:r>
              <a:rPr sz="1300" b="0">
                <a:solidFill>
                  <a:srgbClr val="404040"/>
                </a:solidFill>
              </a:rPr>
              <a:t>eine Anpassung weiterhin rückwirkend</a:t>
            </a:r>
          </a:p>
          <a:p>
            <a:pPr algn="l">
              <a:lnSpc>
                <a:spcPct val="95000"/>
              </a:lnSpc>
              <a:spcBef>
                <a:spcPts val="300"/>
              </a:spcBef>
            </a:pPr>
            <a:r>
              <a:rPr sz="1300" b="0">
                <a:solidFill>
                  <a:srgbClr val="404040"/>
                </a:solidFill>
              </a:rPr>
              <a:t>ALLE Altrechnungen — auch Annas.</a:t>
            </a:r>
          </a:p>
        </p:txBody>
      </p:sp>
      <p:sp>
        <p:nvSpPr>
          <p:cNvPr id="14" name="Rectangle 13"/>
          <p:cNvSpPr/>
          <p:nvPr/>
        </p:nvSpPr>
        <p:spPr>
          <a:xfrm>
            <a:off x="1153160" y="4953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029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Erst der Gültigkeitszeitraum in nutzungspreis macht das Modell fachlich richtig. Normalisierung beseitigt Redundanz — sie ersetzt keine fachliche Analyse.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 der Zerlegung</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Tabelle sind acht geworden — jede mit genau einer Aufgabe.</a:t>
            </a:r>
          </a:p>
        </p:txBody>
      </p:sp>
      <p:sp>
        <p:nvSpPr>
          <p:cNvPr id="6" name="Rectangle 5"/>
          <p:cNvSpPr/>
          <p:nvPr/>
        </p:nvSpPr>
        <p:spPr>
          <a:xfrm>
            <a:off x="4012565" y="1549400"/>
            <a:ext cx="5755640" cy="431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orm-nachher.png"/>
          <p:cNvPicPr>
            <a:picLocks noChangeAspect="1"/>
          </p:cNvPicPr>
          <p:nvPr/>
        </p:nvPicPr>
        <p:blipFill>
          <a:blip r:embed="rId2"/>
          <a:stretch>
            <a:fillRect/>
          </a:stretch>
        </p:blipFill>
        <p:spPr>
          <a:xfrm>
            <a:off x="4114165" y="1651000"/>
            <a:ext cx="5552440" cy="41148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liegt jetzt in ausleihe — ihr Preis in nutzungspreis, ihre Abrechnung in entgeltposition.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Exkurs: aus der Postleitzahl folgt nicht der Ort</a:t>
            </a:r>
          </a:p>
        </p:txBody>
      </p:sp>
      <p:sp>
        <p:nvSpPr>
          <p:cNvPr id="3" name="Text Placeholder 2"/>
          <p:cNvSpPr>
            <a:spLocks noGrp="1"/>
          </p:cNvSpPr>
          <p:nvPr>
            <p:ph type="body" idx="12" sz="quarter"/>
          </p:nvPr>
        </p:nvSpPr>
        <p:spPr/>
        <p:txBody>
          <a:bodyPr/>
          <a:lstStyle/>
          <a:p>
            <a:r>
              <a:t>3 · Normalisierung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Lehrbuchklassiker lautet, plz bestimme ort, also gehöre ort in eine eigene Relation. In Deutschland stimmt das nicht — und der scheinbar saubere Zerlegungsschritt wäre fachlich falsch.</a:t>
            </a:r>
          </a:p>
        </p:txBody>
      </p:sp>
      <p:sp>
        <p:nvSpPr>
          <p:cNvPr id="6" name="TextBox 5"/>
          <p:cNvSpPr txBox="1"/>
          <p:nvPr/>
        </p:nvSpPr>
        <p:spPr>
          <a:xfrm>
            <a:off x="5648960" y="2286000"/>
            <a:ext cx="1016000" cy="304800"/>
          </a:xfrm>
          <a:prstGeom prst="rect">
            <a:avLst/>
          </a:prstGeom>
          <a:noFill/>
        </p:spPr>
        <p:txBody>
          <a:bodyPr wrap="square" lIns="0" tIns="0" rIns="0" bIns="0">
            <a:spAutoFit/>
          </a:bodyPr>
          <a:lstStyle/>
          <a:p>
            <a:pPr algn="ctr">
              <a:lnSpc>
                <a:spcPct val="95000"/>
              </a:lnSpc>
            </a:pPr>
            <a:r>
              <a:rPr sz="1300" b="1">
                <a:solidFill>
                  <a:srgbClr val="555148"/>
                </a:solidFill>
              </a:rPr>
              <a:t>gilt</a:t>
            </a:r>
          </a:p>
        </p:txBody>
      </p:sp>
      <p:sp>
        <p:nvSpPr>
          <p:cNvPr id="7" name="Rectangle 6"/>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679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Eine PLZ hat genau einen Ort</a:t>
            </a:r>
          </a:p>
        </p:txBody>
      </p:sp>
      <p:sp>
        <p:nvSpPr>
          <p:cNvPr id="10" name="Rounded Rectangle 9"/>
          <p:cNvSpPr/>
          <p:nvPr/>
        </p:nvSpPr>
        <p:spPr>
          <a:xfrm>
            <a:off x="5648960" y="2768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68159" y="2679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Ländliche Sammel-PLZ umfassen mehrere Orte</a:t>
            </a:r>
          </a:p>
        </p:txBody>
      </p:sp>
      <p:sp>
        <p:nvSpPr>
          <p:cNvPr id="12" name="Rectangle 11"/>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3441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Ein Ort hat genau eine PLZ</a:t>
            </a:r>
          </a:p>
        </p:txBody>
      </p:sp>
      <p:sp>
        <p:nvSpPr>
          <p:cNvPr id="15" name="Rounded Rectangle 14"/>
          <p:cNvSpPr/>
          <p:nvPr/>
        </p:nvSpPr>
        <p:spPr>
          <a:xfrm>
            <a:off x="5648960" y="3530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68159" y="3441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Großstädte haben Dutzende</a:t>
            </a:r>
          </a:p>
        </p:txBody>
      </p:sp>
      <p:sp>
        <p:nvSpPr>
          <p:cNvPr id="17" name="Rectangle 16"/>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203700"/>
            <a:ext cx="4064000" cy="533400"/>
          </a:xfrm>
          <a:prstGeom prst="rect">
            <a:avLst/>
          </a:prstGeom>
          <a:noFill/>
        </p:spPr>
        <p:txBody>
          <a:bodyPr wrap="square" lIns="0" tIns="0" rIns="0" bIns="0" anchor="ctr">
            <a:spAutoFit/>
          </a:bodyPr>
          <a:lstStyle/>
          <a:p>
            <a:pPr algn="l">
              <a:lnSpc>
                <a:spcPct val="95000"/>
              </a:lnSpc>
            </a:pPr>
            <a:r>
              <a:rPr sz="1300" b="1">
                <a:solidFill>
                  <a:srgbClr val="003E6E"/>
                </a:solidFill>
              </a:rPr>
              <a:t>plz → ort ist funktional</a:t>
            </a:r>
          </a:p>
        </p:txBody>
      </p:sp>
      <p:sp>
        <p:nvSpPr>
          <p:cNvPr id="20" name="Rounded Rectangle 19"/>
          <p:cNvSpPr/>
          <p:nvPr/>
        </p:nvSpPr>
        <p:spPr>
          <a:xfrm>
            <a:off x="5648960" y="4292600"/>
            <a:ext cx="10160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68159" y="4203700"/>
            <a:ext cx="5632450" cy="533400"/>
          </a:xfrm>
          <a:prstGeom prst="rect">
            <a:avLst/>
          </a:prstGeom>
          <a:noFill/>
        </p:spPr>
        <p:txBody>
          <a:bodyPr wrap="square" lIns="0" tIns="0" rIns="0" bIns="0" anchor="ctr">
            <a:spAutoFit/>
          </a:bodyPr>
          <a:lstStyle/>
          <a:p>
            <a:pPr algn="l">
              <a:lnSpc>
                <a:spcPct val="95000"/>
              </a:lnSpc>
            </a:pPr>
            <a:r>
              <a:rPr sz="1300" b="0">
                <a:solidFill>
                  <a:srgbClr val="555148"/>
                </a:solidFill>
              </a:rPr>
              <a:t>Also keine transitive Abhängigkeit, kein Split</a:t>
            </a:r>
          </a:p>
        </p:txBody>
      </p:sp>
      <p:sp>
        <p:nvSpPr>
          <p:cNvPr id="22" name="Rectangle 21"/>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funktionale Abhängigkeit ist eine Behauptung über die Wirklichkeit und muss geprüft werden — nicht aus Namensähnlichkeit geschlossen.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Logischer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wird aus dem Bild ein Satz von Relationen?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Abbildung folgt festen Regeln</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Dieser Schritt ist mechanisch — und genau deshalb korrigierbar. Ein Fehler hier ist kein Geschmacksurteil, sondern ein Regelverstoß.</a:t>
            </a:r>
          </a:p>
        </p:txBody>
      </p:sp>
      <p:sp>
        <p:nvSpPr>
          <p:cNvPr id="6" name="Rectangle 5"/>
          <p:cNvSpPr/>
          <p:nvPr/>
        </p:nvSpPr>
        <p:spPr>
          <a:xfrm>
            <a:off x="1153160" y="2362200"/>
            <a:ext cx="2667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ERM-Konstrukt</a:t>
            </a:r>
          </a:p>
        </p:txBody>
      </p:sp>
      <p:sp>
        <p:nvSpPr>
          <p:cNvPr id="7" name="Rectangle 6"/>
          <p:cNvSpPr/>
          <p:nvPr/>
        </p:nvSpPr>
        <p:spPr>
          <a:xfrm>
            <a:off x="3820160" y="2362200"/>
            <a:ext cx="508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Abbildung ins Relationenmodell</a:t>
            </a:r>
          </a:p>
        </p:txBody>
      </p:sp>
      <p:sp>
        <p:nvSpPr>
          <p:cNvPr id="8" name="Rectangle 7"/>
          <p:cNvSpPr/>
          <p:nvPr/>
        </p:nvSpPr>
        <p:spPr>
          <a:xfrm>
            <a:off x="8900160" y="2362200"/>
            <a:ext cx="3727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Beispiel im Modell</a:t>
            </a:r>
          </a:p>
        </p:txBody>
      </p:sp>
      <p:sp>
        <p:nvSpPr>
          <p:cNvPr id="9" name="Rectangle 8"/>
          <p:cNvSpPr/>
          <p:nvPr/>
        </p:nvSpPr>
        <p:spPr>
          <a:xfrm>
            <a:off x="1153160" y="27686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Entitätstyp</a:t>
            </a:r>
          </a:p>
        </p:txBody>
      </p:sp>
      <p:sp>
        <p:nvSpPr>
          <p:cNvPr id="10" name="Rectangle 9"/>
          <p:cNvSpPr/>
          <p:nvPr/>
        </p:nvSpPr>
        <p:spPr>
          <a:xfrm>
            <a:off x="3820160" y="27686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11" name="Rectangle 10"/>
          <p:cNvSpPr/>
          <p:nvPr/>
        </p:nvSpPr>
        <p:spPr>
          <a:xfrm>
            <a:off x="8900160" y="27686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kunde, station, ausleihe</a:t>
            </a:r>
          </a:p>
        </p:txBody>
      </p:sp>
      <p:sp>
        <p:nvSpPr>
          <p:cNvPr id="12" name="Rectangle 11"/>
          <p:cNvSpPr/>
          <p:nvPr/>
        </p:nvSpPr>
        <p:spPr>
          <a:xfrm>
            <a:off x="1153160" y="31750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Attribut</a:t>
            </a:r>
          </a:p>
        </p:txBody>
      </p:sp>
      <p:sp>
        <p:nvSpPr>
          <p:cNvPr id="13" name="Rectangle 12"/>
          <p:cNvSpPr/>
          <p:nvPr/>
        </p:nvSpPr>
        <p:spPr>
          <a:xfrm>
            <a:off x="3820160" y="31750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Spalte</a:t>
            </a:r>
          </a:p>
        </p:txBody>
      </p:sp>
      <p:sp>
        <p:nvSpPr>
          <p:cNvPr id="14" name="Rectangle 13"/>
          <p:cNvSpPr/>
          <p:nvPr/>
        </p:nvSpPr>
        <p:spPr>
          <a:xfrm>
            <a:off x="8900160" y="31750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vorname, kapazitaet</a:t>
            </a:r>
          </a:p>
        </p:txBody>
      </p:sp>
      <p:sp>
        <p:nvSpPr>
          <p:cNvPr id="15" name="Rectangle 14"/>
          <p:cNvSpPr/>
          <p:nvPr/>
        </p:nvSpPr>
        <p:spPr>
          <a:xfrm>
            <a:off x="1153160" y="35814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1:N-Beziehung</a:t>
            </a:r>
          </a:p>
        </p:txBody>
      </p:sp>
      <p:sp>
        <p:nvSpPr>
          <p:cNvPr id="16" name="Rectangle 15"/>
          <p:cNvSpPr/>
          <p:nvPr/>
        </p:nvSpPr>
        <p:spPr>
          <a:xfrm>
            <a:off x="3820160" y="35814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Fremdschlüssel auf der N-Seite</a:t>
            </a:r>
          </a:p>
        </p:txBody>
      </p:sp>
      <p:sp>
        <p:nvSpPr>
          <p:cNvPr id="17" name="Rectangle 16"/>
          <p:cNvSpPr/>
          <p:nvPr/>
        </p:nvSpPr>
        <p:spPr>
          <a:xfrm>
            <a:off x="8900160" y="35814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ausleihe.kunde_id</a:t>
            </a:r>
          </a:p>
        </p:txBody>
      </p:sp>
      <p:sp>
        <p:nvSpPr>
          <p:cNvPr id="18" name="Rectangle 17"/>
          <p:cNvSpPr/>
          <p:nvPr/>
        </p:nvSpPr>
        <p:spPr>
          <a:xfrm>
            <a:off x="1153160" y="39878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1:1-Beziehung</a:t>
            </a:r>
          </a:p>
        </p:txBody>
      </p:sp>
      <p:sp>
        <p:nvSpPr>
          <p:cNvPr id="19" name="Rectangle 18"/>
          <p:cNvSpPr/>
          <p:nvPr/>
        </p:nvSpPr>
        <p:spPr>
          <a:xfrm>
            <a:off x="3820160" y="39878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FK auf der optionalen Seite, dort zugleich PK</a:t>
            </a:r>
          </a:p>
        </p:txBody>
      </p:sp>
      <p:sp>
        <p:nvSpPr>
          <p:cNvPr id="20" name="Rectangle 19"/>
          <p:cNvSpPr/>
          <p:nvPr/>
        </p:nvSpPr>
        <p:spPr>
          <a:xfrm>
            <a:off x="8900160" y="39878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fahrrad_position.fahrrad_id</a:t>
            </a:r>
          </a:p>
        </p:txBody>
      </p:sp>
      <p:sp>
        <p:nvSpPr>
          <p:cNvPr id="21" name="Rectangle 20"/>
          <p:cNvSpPr/>
          <p:nvPr/>
        </p:nvSpPr>
        <p:spPr>
          <a:xfrm>
            <a:off x="1153160" y="4394200"/>
            <a:ext cx="2667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M:N-Beziehung</a:t>
            </a:r>
          </a:p>
        </p:txBody>
      </p:sp>
      <p:sp>
        <p:nvSpPr>
          <p:cNvPr id="22" name="Rectangle 21"/>
          <p:cNvSpPr/>
          <p:nvPr/>
        </p:nvSpPr>
        <p:spPr>
          <a:xfrm>
            <a:off x="3820160" y="4394200"/>
            <a:ext cx="508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Verknüpfungsrelation</a:t>
            </a:r>
          </a:p>
        </p:txBody>
      </p:sp>
      <p:sp>
        <p:nvSpPr>
          <p:cNvPr id="23" name="Rectangle 22"/>
          <p:cNvSpPr/>
          <p:nvPr/>
        </p:nvSpPr>
        <p:spPr>
          <a:xfrm>
            <a:off x="8900160" y="4394200"/>
            <a:ext cx="3727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2: wartungsposition</a:t>
            </a:r>
          </a:p>
        </p:txBody>
      </p:sp>
      <p:sp>
        <p:nvSpPr>
          <p:cNvPr id="24" name="Rectangle 23"/>
          <p:cNvSpPr/>
          <p:nvPr/>
        </p:nvSpPr>
        <p:spPr>
          <a:xfrm>
            <a:off x="1153160" y="4800600"/>
            <a:ext cx="2667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Mehrwertiges Attribut</a:t>
            </a:r>
          </a:p>
        </p:txBody>
      </p:sp>
      <p:sp>
        <p:nvSpPr>
          <p:cNvPr id="25" name="Rectangle 24"/>
          <p:cNvSpPr/>
          <p:nvPr/>
        </p:nvSpPr>
        <p:spPr>
          <a:xfrm>
            <a:off x="3820160" y="4800600"/>
            <a:ext cx="508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eigene Relation</a:t>
            </a:r>
          </a:p>
        </p:txBody>
      </p:sp>
      <p:sp>
        <p:nvSpPr>
          <p:cNvPr id="26" name="Rectangle 25"/>
          <p:cNvSpPr/>
          <p:nvPr/>
        </p:nvSpPr>
        <p:spPr>
          <a:xfrm>
            <a:off x="8900160" y="4800600"/>
            <a:ext cx="3727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fahrradtyp_merkmal</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Fahrt bekommt vier Fremdschlüssel: Kunde, Rad, Mitgliedschaft, Startstation.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Jede Relation trägt zwei Schlüssel</a:t>
            </a:r>
          </a:p>
        </p:txBody>
      </p:sp>
      <p:sp>
        <p:nvSpPr>
          <p:cNvPr id="3" name="Text Placeholder 2"/>
          <p:cNvSpPr>
            <a:spLocks noGrp="1"/>
          </p:cNvSpPr>
          <p:nvPr>
            <p:ph type="body" idx="12" sz="quarter"/>
          </p:nvPr>
        </p:nvSpPr>
        <p:spPr/>
        <p:txBody>
          <a:bodyPr/>
          <a:lstStyle/>
          <a:p>
            <a:r>
              <a:t>4 · Logischer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Surrogatschlüssel als Primärschlüssel, fachlicher Schlüssel als Eindeutigkeitsbedingung. Beide haben eine Aufgabe, keiner ersetzt den anderen.</a:t>
            </a:r>
          </a:p>
        </p:txBody>
      </p:sp>
      <p:sp>
        <p:nvSpPr>
          <p:cNvPr id="6" name="TextBox 5"/>
          <p:cNvSpPr txBox="1"/>
          <p:nvPr/>
        </p:nvSpPr>
        <p:spPr>
          <a:xfrm>
            <a:off x="51409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stabil</a:t>
            </a:r>
          </a:p>
        </p:txBody>
      </p:sp>
      <p:sp>
        <p:nvSpPr>
          <p:cNvPr id="7" name="TextBox 6"/>
          <p:cNvSpPr txBox="1"/>
          <p:nvPr/>
        </p:nvSpPr>
        <p:spPr>
          <a:xfrm>
            <a:off x="6360160"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eindeutig</a:t>
            </a:r>
          </a:p>
        </p:txBody>
      </p:sp>
      <p:sp>
        <p:nvSpPr>
          <p:cNvPr id="8" name="TextBox 7"/>
          <p:cNvSpPr txBox="1"/>
          <p:nvPr/>
        </p:nvSpPr>
        <p:spPr>
          <a:xfrm>
            <a:off x="7579359" y="2286000"/>
            <a:ext cx="1092200" cy="304800"/>
          </a:xfrm>
          <a:prstGeom prst="rect">
            <a:avLst/>
          </a:prstGeom>
          <a:noFill/>
        </p:spPr>
        <p:txBody>
          <a:bodyPr wrap="square" lIns="0" tIns="0" rIns="0" bIns="0">
            <a:spAutoFit/>
          </a:bodyPr>
          <a:lstStyle/>
          <a:p>
            <a:pPr algn="ctr">
              <a:lnSpc>
                <a:spcPct val="95000"/>
              </a:lnSpc>
            </a:pPr>
            <a:r>
              <a:rPr sz="1300" b="1">
                <a:solidFill>
                  <a:srgbClr val="555148"/>
                </a:solidFill>
              </a:rPr>
              <a:t>sprechend</a:t>
            </a:r>
          </a:p>
        </p:txBody>
      </p:sp>
      <p:sp>
        <p:nvSpPr>
          <p:cNvPr id="9" name="Rectangle 8"/>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616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56360" y="2679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Surrogatschlüssel  kunde_id</a:t>
            </a:r>
          </a:p>
        </p:txBody>
      </p:sp>
      <p:sp>
        <p:nvSpPr>
          <p:cNvPr id="12" name="Rounded Rectangle 11"/>
          <p:cNvSpPr/>
          <p:nvPr/>
        </p:nvSpPr>
        <p:spPr>
          <a:xfrm>
            <a:off x="51409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3" name="Rounded Rectangle 12"/>
          <p:cNvSpPr/>
          <p:nvPr/>
        </p:nvSpPr>
        <p:spPr>
          <a:xfrm>
            <a:off x="6360160" y="2768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4" name="Rounded Rectangle 13"/>
          <p:cNvSpPr/>
          <p:nvPr/>
        </p:nvSpPr>
        <p:spPr>
          <a:xfrm>
            <a:off x="7579359" y="2768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5" name="TextBox 14"/>
          <p:cNvSpPr txBox="1"/>
          <p:nvPr/>
        </p:nvSpPr>
        <p:spPr>
          <a:xfrm>
            <a:off x="8874760" y="2679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Primärschlüssel</a:t>
            </a:r>
          </a:p>
        </p:txBody>
      </p:sp>
      <p:sp>
        <p:nvSpPr>
          <p:cNvPr id="16" name="Rectangle 15"/>
          <p:cNvSpPr/>
          <p:nvPr/>
        </p:nvSpPr>
        <p:spPr>
          <a:xfrm>
            <a:off x="1153160" y="3378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378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56360" y="3441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kundennummer</a:t>
            </a:r>
          </a:p>
        </p:txBody>
      </p:sp>
      <p:sp>
        <p:nvSpPr>
          <p:cNvPr id="19" name="Rounded Rectangle 18"/>
          <p:cNvSpPr/>
          <p:nvPr/>
        </p:nvSpPr>
        <p:spPr>
          <a:xfrm>
            <a:off x="5140960" y="3530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0" name="Rounded Rectangle 19"/>
          <p:cNvSpPr/>
          <p:nvPr/>
        </p:nvSpPr>
        <p:spPr>
          <a:xfrm>
            <a:off x="6360160"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Rounded Rectangle 20"/>
          <p:cNvSpPr/>
          <p:nvPr/>
        </p:nvSpPr>
        <p:spPr>
          <a:xfrm>
            <a:off x="7579359" y="3530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2" name="TextBox 21"/>
          <p:cNvSpPr txBox="1"/>
          <p:nvPr/>
        </p:nvSpPr>
        <p:spPr>
          <a:xfrm>
            <a:off x="8874760" y="3441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UNIQUE-Bedingung</a:t>
            </a:r>
          </a:p>
        </p:txBody>
      </p:sp>
      <p:sp>
        <p:nvSpPr>
          <p:cNvPr id="23" name="Rectangle 22"/>
          <p:cNvSpPr/>
          <p:nvPr/>
        </p:nvSpPr>
        <p:spPr>
          <a:xfrm>
            <a:off x="1153160" y="4140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1153160" y="41402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203700"/>
            <a:ext cx="3556000" cy="533400"/>
          </a:xfrm>
          <a:prstGeom prst="rect">
            <a:avLst/>
          </a:prstGeom>
          <a:noFill/>
        </p:spPr>
        <p:txBody>
          <a:bodyPr wrap="square" lIns="0" tIns="0" rIns="0" bIns="0" anchor="ctr">
            <a:spAutoFit/>
          </a:bodyPr>
          <a:lstStyle/>
          <a:p>
            <a:pPr algn="l">
              <a:lnSpc>
                <a:spcPct val="95000"/>
              </a:lnSpc>
            </a:pPr>
            <a:r>
              <a:rPr sz="1300" b="1">
                <a:solidFill>
                  <a:srgbClr val="003E6E"/>
                </a:solidFill>
              </a:rPr>
              <a:t>Fachschlüssel als Primärschlüssel</a:t>
            </a:r>
          </a:p>
        </p:txBody>
      </p:sp>
      <p:sp>
        <p:nvSpPr>
          <p:cNvPr id="26" name="Rounded Rectangle 25"/>
          <p:cNvSpPr/>
          <p:nvPr/>
        </p:nvSpPr>
        <p:spPr>
          <a:xfrm>
            <a:off x="5140960" y="4292600"/>
            <a:ext cx="10922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7" name="Rounded Rectangle 26"/>
          <p:cNvSpPr/>
          <p:nvPr/>
        </p:nvSpPr>
        <p:spPr>
          <a:xfrm>
            <a:off x="6360160"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8" name="Rounded Rectangle 27"/>
          <p:cNvSpPr/>
          <p:nvPr/>
        </p:nvSpPr>
        <p:spPr>
          <a:xfrm>
            <a:off x="7579359" y="4292600"/>
            <a:ext cx="10922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9" name="TextBox 28"/>
          <p:cNvSpPr txBox="1"/>
          <p:nvPr/>
        </p:nvSpPr>
        <p:spPr>
          <a:xfrm>
            <a:off x="8874760" y="4203700"/>
            <a:ext cx="3625850" cy="533400"/>
          </a:xfrm>
          <a:prstGeom prst="rect">
            <a:avLst/>
          </a:prstGeom>
          <a:noFill/>
        </p:spPr>
        <p:txBody>
          <a:bodyPr wrap="square" lIns="0" tIns="0" rIns="0" bIns="0" anchor="ctr">
            <a:spAutoFit/>
          </a:bodyPr>
          <a:lstStyle/>
          <a:p>
            <a:pPr algn="l">
              <a:lnSpc>
                <a:spcPct val="95000"/>
              </a:lnSpc>
            </a:pPr>
            <a:r>
              <a:rPr sz="1300" b="0">
                <a:solidFill>
                  <a:srgbClr val="555148"/>
                </a:solidFill>
              </a:rPr>
              <a:t>Änderung zieht durch alle Verweise</a:t>
            </a:r>
          </a:p>
        </p:txBody>
      </p:sp>
      <p:sp>
        <p:nvSpPr>
          <p:cNvPr id="30" name="Rectangle 29"/>
          <p:cNvSpPr/>
          <p:nvPr/>
        </p:nvSpPr>
        <p:spPr>
          <a:xfrm>
            <a:off x="1153160" y="5029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5105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Eine Rahmennummer wird beim Rahmentausch neu vergeben. Ein Primärschlüssel, der sich ändert, zieht die Änderung durch jede verweisende Relation.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Physischer Entwurf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erzwingt die Datenbank, dass Annas Rechnung stimmt?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Datentypen sind fachliche Entscheidungen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Zeile hat einen Grund, der über Geschmack hinausgeht. Die beiden ersten sind die, an denen in der Praxis am meisten schiefgeht.</a:t>
            </a:r>
          </a:p>
        </p:txBody>
      </p:sp>
      <p:sp>
        <p:nvSpPr>
          <p:cNvPr id="6" name="Rectangle 5"/>
          <p:cNvSpPr/>
          <p:nvPr/>
        </p:nvSpPr>
        <p:spPr>
          <a:xfrm>
            <a:off x="1153160" y="2362200"/>
            <a:ext cx="228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Zweck</a:t>
            </a:r>
          </a:p>
        </p:txBody>
      </p:sp>
      <p:sp>
        <p:nvSpPr>
          <p:cNvPr id="7" name="Rectangle 6"/>
          <p:cNvSpPr/>
          <p:nvPr/>
        </p:nvSpPr>
        <p:spPr>
          <a:xfrm>
            <a:off x="3439160" y="2362200"/>
            <a:ext cx="2159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Typ</a:t>
            </a:r>
          </a:p>
        </p:txBody>
      </p:sp>
      <p:sp>
        <p:nvSpPr>
          <p:cNvPr id="8" name="Rectangle 7"/>
          <p:cNvSpPr/>
          <p:nvPr/>
        </p:nvSpPr>
        <p:spPr>
          <a:xfrm>
            <a:off x="5598160" y="2362200"/>
            <a:ext cx="7029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genau dieser</a:t>
            </a:r>
          </a:p>
        </p:txBody>
      </p:sp>
      <p:sp>
        <p:nvSpPr>
          <p:cNvPr id="9" name="Rectangle 8"/>
          <p:cNvSpPr/>
          <p:nvPr/>
        </p:nvSpPr>
        <p:spPr>
          <a:xfrm>
            <a:off x="1153160" y="27686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Zeitpunkt</a:t>
            </a:r>
          </a:p>
        </p:txBody>
      </p:sp>
      <p:sp>
        <p:nvSpPr>
          <p:cNvPr id="10" name="Rectangle 9"/>
          <p:cNvSpPr/>
          <p:nvPr/>
        </p:nvSpPr>
        <p:spPr>
          <a:xfrm>
            <a:off x="3439160" y="27686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timestamptz</a:t>
            </a:r>
          </a:p>
        </p:txBody>
      </p:sp>
      <p:sp>
        <p:nvSpPr>
          <p:cNvPr id="11" name="Rectangle 10"/>
          <p:cNvSpPr/>
          <p:nvPr/>
        </p:nvSpPr>
        <p:spPr>
          <a:xfrm>
            <a:off x="5598160" y="27686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timestamp ohne Zone verliert den Bezug; Sommerzeit wird doppeldeutig</a:t>
            </a:r>
          </a:p>
        </p:txBody>
      </p:sp>
      <p:sp>
        <p:nvSpPr>
          <p:cNvPr id="12" name="Rectangle 11"/>
          <p:cNvSpPr/>
          <p:nvPr/>
        </p:nvSpPr>
        <p:spPr>
          <a:xfrm>
            <a:off x="1153160" y="31750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Geldbetrag</a:t>
            </a:r>
          </a:p>
        </p:txBody>
      </p:sp>
      <p:sp>
        <p:nvSpPr>
          <p:cNvPr id="13" name="Rectangle 12"/>
          <p:cNvSpPr/>
          <p:nvPr/>
        </p:nvSpPr>
        <p:spPr>
          <a:xfrm>
            <a:off x="3439160" y="31750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numeric(10,2)</a:t>
            </a:r>
          </a:p>
        </p:txBody>
      </p:sp>
      <p:sp>
        <p:nvSpPr>
          <p:cNvPr id="14" name="Rectangle 13"/>
          <p:cNvSpPr/>
          <p:nvPr/>
        </p:nvSpPr>
        <p:spPr>
          <a:xfrm>
            <a:off x="5598160" y="31750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exakte Dezimalarithmetik; float trifft 0,10 nicht genau</a:t>
            </a:r>
          </a:p>
        </p:txBody>
      </p:sp>
      <p:sp>
        <p:nvSpPr>
          <p:cNvPr id="15" name="Rectangle 14"/>
          <p:cNvSpPr/>
          <p:nvPr/>
        </p:nvSpPr>
        <p:spPr>
          <a:xfrm>
            <a:off x="1153160" y="35814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Zeitraum</a:t>
            </a:r>
          </a:p>
        </p:txBody>
      </p:sp>
      <p:sp>
        <p:nvSpPr>
          <p:cNvPr id="16" name="Rectangle 15"/>
          <p:cNvSpPr/>
          <p:nvPr/>
        </p:nvSpPr>
        <p:spPr>
          <a:xfrm>
            <a:off x="3439160" y="35814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daterange</a:t>
            </a:r>
          </a:p>
        </p:txBody>
      </p:sp>
      <p:sp>
        <p:nvSpPr>
          <p:cNvPr id="17" name="Rectangle 16"/>
          <p:cNvSpPr/>
          <p:nvPr/>
        </p:nvSpPr>
        <p:spPr>
          <a:xfrm>
            <a:off x="5598160" y="35814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Zeitraum ist ein Wert, kein Spaltenpaar — erst so prüfbar</a:t>
            </a:r>
          </a:p>
        </p:txBody>
      </p:sp>
      <p:sp>
        <p:nvSpPr>
          <p:cNvPr id="18" name="Rectangle 17"/>
          <p:cNvSpPr/>
          <p:nvPr/>
        </p:nvSpPr>
        <p:spPr>
          <a:xfrm>
            <a:off x="1153160" y="39878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Surrogatschlüssel</a:t>
            </a:r>
          </a:p>
        </p:txBody>
      </p:sp>
      <p:sp>
        <p:nvSpPr>
          <p:cNvPr id="19" name="Rectangle 18"/>
          <p:cNvSpPr/>
          <p:nvPr/>
        </p:nvSpPr>
        <p:spPr>
          <a:xfrm>
            <a:off x="3439160" y="39878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bigint IDENTITY</a:t>
            </a:r>
          </a:p>
        </p:txBody>
      </p:sp>
      <p:sp>
        <p:nvSpPr>
          <p:cNvPr id="20" name="Rectangle 19"/>
          <p:cNvSpPr/>
          <p:nvPr/>
        </p:nvSpPr>
        <p:spPr>
          <a:xfrm>
            <a:off x="5598160" y="39878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standardkonform; ALWAYS verhindert Setzen von außen</a:t>
            </a:r>
          </a:p>
        </p:txBody>
      </p:sp>
      <p:sp>
        <p:nvSpPr>
          <p:cNvPr id="21" name="Rectangle 20"/>
          <p:cNvSpPr/>
          <p:nvPr/>
        </p:nvSpPr>
        <p:spPr>
          <a:xfrm>
            <a:off x="1153160" y="4394200"/>
            <a:ext cx="228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Koordinate</a:t>
            </a:r>
          </a:p>
        </p:txBody>
      </p:sp>
      <p:sp>
        <p:nvSpPr>
          <p:cNvPr id="22" name="Rectangle 21"/>
          <p:cNvSpPr/>
          <p:nvPr/>
        </p:nvSpPr>
        <p:spPr>
          <a:xfrm>
            <a:off x="3439160" y="4394200"/>
            <a:ext cx="2159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numeric(9,6)</a:t>
            </a:r>
          </a:p>
        </p:txBody>
      </p:sp>
      <p:sp>
        <p:nvSpPr>
          <p:cNvPr id="23" name="Rectangle 22"/>
          <p:cNvSpPr/>
          <p:nvPr/>
        </p:nvSpPr>
        <p:spPr>
          <a:xfrm>
            <a:off x="5598160" y="4394200"/>
            <a:ext cx="7029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Nachkommastellen entsprechen etwa elf Zentimetern</a:t>
            </a:r>
          </a:p>
        </p:txBody>
      </p:sp>
      <p:sp>
        <p:nvSpPr>
          <p:cNvPr id="24" name="Rectangle 23"/>
          <p:cNvSpPr/>
          <p:nvPr/>
        </p:nvSpPr>
        <p:spPr>
          <a:xfrm>
            <a:off x="1153160" y="4800600"/>
            <a:ext cx="228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Text</a:t>
            </a:r>
          </a:p>
        </p:txBody>
      </p:sp>
      <p:sp>
        <p:nvSpPr>
          <p:cNvPr id="25" name="Rectangle 24"/>
          <p:cNvSpPr/>
          <p:nvPr/>
        </p:nvSpPr>
        <p:spPr>
          <a:xfrm>
            <a:off x="3439160" y="4800600"/>
            <a:ext cx="2159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text</a:t>
            </a:r>
          </a:p>
        </p:txBody>
      </p:sp>
      <p:sp>
        <p:nvSpPr>
          <p:cNvPr id="26" name="Rectangle 25"/>
          <p:cNvSpPr/>
          <p:nvPr/>
        </p:nvSpPr>
        <p:spPr>
          <a:xfrm>
            <a:off x="5598160" y="4800600"/>
            <a:ext cx="7029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PostgreSQL speichert text und varchar(n) identisch</a:t>
            </a:r>
          </a:p>
        </p:txBody>
      </p:sp>
      <p:sp>
        <p:nvSpPr>
          <p:cNvPr id="27" name="Rectangle 26"/>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Annas Startzeit als timestamp ohne Zone wäre in der Nacht der Zeitumstellung nicht eindeutig.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Neun von dreizehn Regeln erzwingt die Datenbank</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oberen sieben gelten immer, auch bei direktem SQL-Zugriff. Die unteren drei nur, wenn man den vorgesehenen Weg nimmt — sie brauchen Kontext, den ein Constraint nicht hat.</a:t>
            </a:r>
          </a:p>
        </p:txBody>
      </p:sp>
      <p:sp>
        <p:nvSpPr>
          <p:cNvPr id="6" name="Rectangle 5"/>
          <p:cNvSpPr/>
          <p:nvPr/>
        </p:nvSpPr>
        <p:spPr>
          <a:xfrm>
            <a:off x="1153160" y="2362200"/>
            <a:ext cx="165100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a:t>
            </a:r>
          </a:p>
        </p:txBody>
      </p:sp>
      <p:sp>
        <p:nvSpPr>
          <p:cNvPr id="7" name="Rectangle 6"/>
          <p:cNvSpPr/>
          <p:nvPr/>
        </p:nvSpPr>
        <p:spPr>
          <a:xfrm>
            <a:off x="2804160" y="2362200"/>
            <a:ext cx="660400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Umsetzung</a:t>
            </a:r>
          </a:p>
        </p:txBody>
      </p:sp>
      <p:sp>
        <p:nvSpPr>
          <p:cNvPr id="8" name="Rectangle 7"/>
          <p:cNvSpPr/>
          <p:nvPr/>
        </p:nvSpPr>
        <p:spPr>
          <a:xfrm>
            <a:off x="9408160" y="2362200"/>
            <a:ext cx="3219450" cy="342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Wirkt</a:t>
            </a:r>
          </a:p>
        </p:txBody>
      </p:sp>
      <p:sp>
        <p:nvSpPr>
          <p:cNvPr id="9" name="Rectangle 8"/>
          <p:cNvSpPr/>
          <p:nvPr/>
        </p:nvSpPr>
        <p:spPr>
          <a:xfrm>
            <a:off x="1153160" y="27051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a:t>
            </a:r>
          </a:p>
        </p:txBody>
      </p:sp>
      <p:sp>
        <p:nvSpPr>
          <p:cNvPr id="10" name="Rectangle 9"/>
          <p:cNvSpPr/>
          <p:nvPr/>
        </p:nvSpPr>
        <p:spPr>
          <a:xfrm>
            <a:off x="2804160" y="27051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CREATE UNIQUE INDEX … WHERE status = 'aktiv'</a:t>
            </a:r>
          </a:p>
        </p:txBody>
      </p:sp>
      <p:sp>
        <p:nvSpPr>
          <p:cNvPr id="11" name="Rectangle 10"/>
          <p:cNvSpPr/>
          <p:nvPr/>
        </p:nvSpPr>
        <p:spPr>
          <a:xfrm>
            <a:off x="9408160" y="27051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2" name="Rectangle 11"/>
          <p:cNvSpPr/>
          <p:nvPr/>
        </p:nvSpPr>
        <p:spPr>
          <a:xfrm>
            <a:off x="1153160" y="30480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GR3, GR4</a:t>
            </a:r>
          </a:p>
        </p:txBody>
      </p:sp>
      <p:sp>
        <p:nvSpPr>
          <p:cNvPr id="13" name="Rectangle 12"/>
          <p:cNvSpPr/>
          <p:nvPr/>
        </p:nvSpPr>
        <p:spPr>
          <a:xfrm>
            <a:off x="2804160" y="30480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EXCLUDE USING gist (… WITH =, … WITH &amp;&amp;)</a:t>
            </a:r>
          </a:p>
        </p:txBody>
      </p:sp>
      <p:sp>
        <p:nvSpPr>
          <p:cNvPr id="14" name="Rectangle 13"/>
          <p:cNvSpPr/>
          <p:nvPr/>
        </p:nvSpPr>
        <p:spPr>
          <a:xfrm>
            <a:off x="9408160" y="30480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5" name="Rectangle 14"/>
          <p:cNvSpPr/>
          <p:nvPr/>
        </p:nvSpPr>
        <p:spPr>
          <a:xfrm>
            <a:off x="1153160" y="33909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GR6</a:t>
            </a:r>
          </a:p>
        </p:txBody>
      </p:sp>
      <p:sp>
        <p:nvSpPr>
          <p:cNvPr id="16" name="Rectangle 15"/>
          <p:cNvSpPr/>
          <p:nvPr/>
        </p:nvSpPr>
        <p:spPr>
          <a:xfrm>
            <a:off x="2804160" y="33909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GENERATED ALWAYS AS (ceil(…)) STORED</a:t>
            </a:r>
          </a:p>
        </p:txBody>
      </p:sp>
      <p:sp>
        <p:nvSpPr>
          <p:cNvPr id="17" name="Rectangle 16"/>
          <p:cNvSpPr/>
          <p:nvPr/>
        </p:nvSpPr>
        <p:spPr>
          <a:xfrm>
            <a:off x="9408160" y="33909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18" name="Rectangle 17"/>
          <p:cNvSpPr/>
          <p:nvPr/>
        </p:nvSpPr>
        <p:spPr>
          <a:xfrm>
            <a:off x="1153160" y="37338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GR7</a:t>
            </a:r>
          </a:p>
        </p:txBody>
      </p:sp>
      <p:sp>
        <p:nvSpPr>
          <p:cNvPr id="19" name="Rectangle 18"/>
          <p:cNvSpPr/>
          <p:nvPr/>
        </p:nvSpPr>
        <p:spPr>
          <a:xfrm>
            <a:off x="2804160" y="37338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(verbraucht &lt;= kontingent)</a:t>
            </a:r>
          </a:p>
        </p:txBody>
      </p:sp>
      <p:sp>
        <p:nvSpPr>
          <p:cNvPr id="20" name="Rectangle 19"/>
          <p:cNvSpPr/>
          <p:nvPr/>
        </p:nvSpPr>
        <p:spPr>
          <a:xfrm>
            <a:off x="9408160" y="37338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1" name="Rectangle 20"/>
          <p:cNvSpPr/>
          <p:nvPr/>
        </p:nvSpPr>
        <p:spPr>
          <a:xfrm>
            <a:off x="1153160" y="40767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GR10</a:t>
            </a:r>
          </a:p>
        </p:txBody>
      </p:sp>
      <p:sp>
        <p:nvSpPr>
          <p:cNvPr id="22" name="Rectangle 21"/>
          <p:cNvSpPr/>
          <p:nvPr/>
        </p:nvSpPr>
        <p:spPr>
          <a:xfrm>
            <a:off x="2804160" y="40767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UNIQUE (kunde_id, periode_jahr, periode_monat)</a:t>
            </a:r>
          </a:p>
        </p:txBody>
      </p:sp>
      <p:sp>
        <p:nvSpPr>
          <p:cNvPr id="23" name="Rectangle 22"/>
          <p:cNvSpPr/>
          <p:nvPr/>
        </p:nvSpPr>
        <p:spPr>
          <a:xfrm>
            <a:off x="9408160" y="40767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4" name="Rectangle 23"/>
          <p:cNvSpPr/>
          <p:nvPr/>
        </p:nvSpPr>
        <p:spPr>
          <a:xfrm>
            <a:off x="1153160" y="44196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GR11</a:t>
            </a:r>
          </a:p>
        </p:txBody>
      </p:sp>
      <p:sp>
        <p:nvSpPr>
          <p:cNvPr id="25" name="Rectangle 24"/>
          <p:cNvSpPr/>
          <p:nvPr/>
        </p:nvSpPr>
        <p:spPr>
          <a:xfrm>
            <a:off x="2804160" y="44196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Station oder Koordinaten, nie beides</a:t>
            </a:r>
          </a:p>
        </p:txBody>
      </p:sp>
      <p:sp>
        <p:nvSpPr>
          <p:cNvPr id="26" name="Rectangle 25"/>
          <p:cNvSpPr/>
          <p:nvPr/>
        </p:nvSpPr>
        <p:spPr>
          <a:xfrm>
            <a:off x="9408160" y="44196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27" name="Rectangle 26"/>
          <p:cNvSpPr/>
          <p:nvPr/>
        </p:nvSpPr>
        <p:spPr>
          <a:xfrm>
            <a:off x="1153160" y="47625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GR13</a:t>
            </a:r>
          </a:p>
        </p:txBody>
      </p:sp>
      <p:sp>
        <p:nvSpPr>
          <p:cNvPr id="28" name="Rectangle 27"/>
          <p:cNvSpPr/>
          <p:nvPr/>
        </p:nvSpPr>
        <p:spPr>
          <a:xfrm>
            <a:off x="2804160" y="47625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latin typeface="Consolas"/>
              </a:rPr>
              <a:t>CHECK + Constraint-Trigger (braucht den Radstatus)</a:t>
            </a:r>
          </a:p>
        </p:txBody>
      </p:sp>
      <p:sp>
        <p:nvSpPr>
          <p:cNvPr id="29" name="Rectangle 28"/>
          <p:cNvSpPr/>
          <p:nvPr/>
        </p:nvSpPr>
        <p:spPr>
          <a:xfrm>
            <a:off x="9408160" y="47625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immer</a:t>
            </a:r>
          </a:p>
        </p:txBody>
      </p:sp>
      <p:sp>
        <p:nvSpPr>
          <p:cNvPr id="30" name="Rectangle 29"/>
          <p:cNvSpPr/>
          <p:nvPr/>
        </p:nvSpPr>
        <p:spPr>
          <a:xfrm>
            <a:off x="1153160" y="51054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GR2, GR5</a:t>
            </a:r>
          </a:p>
        </p:txBody>
      </p:sp>
      <p:sp>
        <p:nvSpPr>
          <p:cNvPr id="31" name="Rectangle 30"/>
          <p:cNvSpPr/>
          <p:nvPr/>
        </p:nvSpPr>
        <p:spPr>
          <a:xfrm>
            <a:off x="2804160" y="51054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 und _beenden</a:t>
            </a:r>
          </a:p>
        </p:txBody>
      </p:sp>
      <p:sp>
        <p:nvSpPr>
          <p:cNvPr id="32" name="Rectangle 31"/>
          <p:cNvSpPr/>
          <p:nvPr/>
        </p:nvSpPr>
        <p:spPr>
          <a:xfrm>
            <a:off x="9408160" y="51054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3" name="Rectangle 32"/>
          <p:cNvSpPr/>
          <p:nvPr/>
        </p:nvSpPr>
        <p:spPr>
          <a:xfrm>
            <a:off x="1153160" y="5448300"/>
            <a:ext cx="1651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GR8, GR9</a:t>
            </a:r>
          </a:p>
        </p:txBody>
      </p:sp>
      <p:sp>
        <p:nvSpPr>
          <p:cNvPr id="34" name="Rectangle 33"/>
          <p:cNvSpPr/>
          <p:nvPr/>
        </p:nvSpPr>
        <p:spPr>
          <a:xfrm>
            <a:off x="2804160" y="5448300"/>
            <a:ext cx="660400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der api_-Schicht</a:t>
            </a:r>
          </a:p>
        </p:txBody>
      </p:sp>
      <p:sp>
        <p:nvSpPr>
          <p:cNvPr id="35" name="Rectangle 34"/>
          <p:cNvSpPr/>
          <p:nvPr/>
        </p:nvSpPr>
        <p:spPr>
          <a:xfrm>
            <a:off x="9408160" y="5448300"/>
            <a:ext cx="3219450" cy="3429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
        <p:nvSpPr>
          <p:cNvPr id="36" name="Rectangle 35"/>
          <p:cNvSpPr/>
          <p:nvPr/>
        </p:nvSpPr>
        <p:spPr>
          <a:xfrm>
            <a:off x="1153160" y="5791200"/>
            <a:ext cx="1651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GR12</a:t>
            </a:r>
          </a:p>
        </p:txBody>
      </p:sp>
      <p:sp>
        <p:nvSpPr>
          <p:cNvPr id="37" name="Rectangle 36"/>
          <p:cNvSpPr/>
          <p:nvPr/>
        </p:nvSpPr>
        <p:spPr>
          <a:xfrm>
            <a:off x="2804160" y="5791200"/>
            <a:ext cx="660400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in fn_ausleihe_starten</a:t>
            </a:r>
          </a:p>
        </p:txBody>
      </p:sp>
      <p:sp>
        <p:nvSpPr>
          <p:cNvPr id="38" name="Rectangle 37"/>
          <p:cNvSpPr/>
          <p:nvPr/>
        </p:nvSpPr>
        <p:spPr>
          <a:xfrm>
            <a:off x="9408160" y="5791200"/>
            <a:ext cx="3219450" cy="3429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die Funktion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EXCLUDE verhindert, was UNIQUE nicht kann</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UNIQUE kennt nur Gleichheit. Für „diese Zeiträume dürfen sich nicht überschneiden“ braucht es einen Operator, der Überlappung prüfen kann.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Der Constraint</a:t>
            </a:r>
          </a:p>
          <a:p>
            <a:pPr algn="l">
              <a:lnSpc>
                <a:spcPct val="95000"/>
              </a:lnSpc>
              <a:spcBef>
                <a:spcPts val="200"/>
              </a:spcBef>
            </a:pPr>
            <a:r>
              <a:rPr sz="1300" b="0">
                <a:solidFill>
                  <a:srgbClr val="404040"/>
                </a:solidFill>
                <a:latin typeface="Consolas"/>
              </a:rPr>
              <a:t>constraint nutzungspreis_ueberschneidung_ex</a:t>
            </a:r>
          </a:p>
          <a:p>
            <a:pPr algn="l">
              <a:lnSpc>
                <a:spcPct val="95000"/>
              </a:lnSpc>
              <a:spcBef>
                <a:spcPts val="200"/>
              </a:spcBef>
            </a:pPr>
            <a:r>
              <a:rPr sz="1300" b="0">
                <a:solidFill>
                  <a:srgbClr val="404040"/>
                </a:solidFill>
                <a:latin typeface="Consolas"/>
              </a:rPr>
              <a:t>  exclude using gist (</a:t>
            </a:r>
          </a:p>
          <a:p>
            <a:pPr algn="l">
              <a:lnSpc>
                <a:spcPct val="95000"/>
              </a:lnSpc>
              <a:spcBef>
                <a:spcPts val="200"/>
              </a:spcBef>
            </a:pPr>
            <a:r>
              <a:rPr sz="1300" b="0">
                <a:solidFill>
                  <a:srgbClr val="404040"/>
                </a:solidFill>
                <a:latin typeface="Consolas"/>
              </a:rPr>
              <a:t>    typ_id      with =,</a:t>
            </a:r>
          </a:p>
          <a:p>
            <a:pPr algn="l">
              <a:lnSpc>
                <a:spcPct val="95000"/>
              </a:lnSpc>
              <a:spcBef>
                <a:spcPts val="200"/>
              </a:spcBef>
            </a:pPr>
            <a:r>
              <a:rPr sz="1300" b="0">
                <a:solidFill>
                  <a:srgbClr val="404040"/>
                </a:solidFill>
                <a:latin typeface="Consolas"/>
              </a:rPr>
              <a:t>    gueltigkeit with &amp;&amp;</a:t>
            </a:r>
          </a:p>
          <a:p>
            <a:pPr algn="l">
              <a:lnSpc>
                <a:spcPct val="95000"/>
              </a:lnSpc>
              <a:spcBef>
                <a:spcPts val="200"/>
              </a:spcBef>
            </a:pPr>
            <a:r>
              <a:rPr sz="1300" b="0">
                <a:solidFill>
                  <a:srgbClr val="404040"/>
                </a:solidFill>
                <a:latin typeface="Consolas"/>
              </a:rPr>
              <a:t>  )</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Keine zwei Zeilen mit gleichem typ_id</a:t>
            </a:r>
          </a:p>
          <a:p>
            <a:pPr algn="l">
              <a:lnSpc>
                <a:spcPct val="95000"/>
              </a:lnSpc>
              <a:spcBef>
                <a:spcPts val="200"/>
              </a:spcBef>
            </a:pPr>
            <a:r>
              <a:rPr sz="1300" b="0">
                <a:solidFill>
                  <a:srgbClr val="404040"/>
                </a:solidFill>
                <a:latin typeface="Consolas"/>
              </a:rPr>
              <a:t>UND überlappenden Zeiträumen.</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ED7004"/>
                </a:solidFill>
              </a:rPr>
              <a:t>Zwei Fallstricke</a:t>
            </a:r>
          </a:p>
          <a:p>
            <a:pPr algn="l">
              <a:lnSpc>
                <a:spcPct val="95000"/>
              </a:lnSpc>
              <a:spcBef>
                <a:spcPts val="200"/>
              </a:spcBef>
            </a:pPr>
            <a:r>
              <a:rPr sz="1300" b="0">
                <a:solidFill>
                  <a:srgbClr val="404040"/>
                </a:solidFill>
                <a:latin typeface="Consolas"/>
              </a:rPr>
              <a:t>1  Voraussetzung btree_gist</a:t>
            </a:r>
          </a:p>
          <a:p>
            <a:pPr algn="l">
              <a:lnSpc>
                <a:spcPct val="95000"/>
              </a:lnSpc>
              <a:spcBef>
                <a:spcPts val="200"/>
              </a:spcBef>
            </a:pPr>
            <a:r>
              <a:rPr sz="1300" b="0">
                <a:solidFill>
                  <a:srgbClr val="404040"/>
                </a:solidFill>
                <a:latin typeface="Consolas"/>
              </a:rPr>
              <a:t>   Ohne die Erweiterung fehlt bigint</a:t>
            </a:r>
          </a:p>
          <a:p>
            <a:pPr algn="l">
              <a:lnSpc>
                <a:spcPct val="95000"/>
              </a:lnSpc>
              <a:spcBef>
                <a:spcPts val="200"/>
              </a:spcBef>
            </a:pPr>
            <a:r>
              <a:rPr sz="1300" b="0">
                <a:solidFill>
                  <a:srgbClr val="404040"/>
                </a:solidFill>
                <a:latin typeface="Consolas"/>
              </a:rPr>
              <a:t>   die Operatorklasse für gist:</a:t>
            </a:r>
          </a:p>
          <a:p>
            <a:pPr algn="l">
              <a:lnSpc>
                <a:spcPct val="95000"/>
              </a:lnSpc>
              <a:spcBef>
                <a:spcPts val="200"/>
              </a:spcBef>
            </a:pPr>
            <a:r>
              <a:rPr sz="1300" b="0">
                <a:solidFill>
                  <a:srgbClr val="404040"/>
                </a:solidFill>
                <a:latin typeface="Consolas"/>
              </a:rPr>
              <a:t>   „data type bigint has no default</a:t>
            </a:r>
          </a:p>
          <a:p>
            <a:pPr algn="l">
              <a:lnSpc>
                <a:spcPct val="95000"/>
              </a:lnSpc>
              <a:spcBef>
                <a:spcPts val="200"/>
              </a:spcBef>
            </a:pPr>
            <a:r>
              <a:rPr sz="1300" b="0">
                <a:solidFill>
                  <a:srgbClr val="404040"/>
                </a:solidFill>
                <a:latin typeface="Consolas"/>
              </a:rPr>
              <a:t>    operator class for access method</a:t>
            </a:r>
          </a:p>
          <a:p>
            <a:pPr algn="l">
              <a:lnSpc>
                <a:spcPct val="95000"/>
              </a:lnSpc>
              <a:spcBef>
                <a:spcPts val="200"/>
              </a:spcBef>
            </a:pPr>
            <a:r>
              <a:rPr sz="1300" b="0">
                <a:solidFill>
                  <a:srgbClr val="404040"/>
                </a:solidFill>
                <a:latin typeface="Consolas"/>
              </a:rPr>
              <a:t>    gist“</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2  Halboffene Grenzen '[)'</a:t>
            </a:r>
          </a:p>
          <a:p>
            <a:pPr algn="l">
              <a:lnSpc>
                <a:spcPct val="95000"/>
              </a:lnSpc>
              <a:spcBef>
                <a:spcPts val="200"/>
              </a:spcBef>
            </a:pPr>
            <a:r>
              <a:rPr sz="1300" b="0">
                <a:solidFill>
                  <a:srgbClr val="404040"/>
                </a:solidFill>
                <a:latin typeface="Consolas"/>
              </a:rPr>
              <a:t>   Sonst ist der Wechseltag doppelt</a:t>
            </a:r>
          </a:p>
          <a:p>
            <a:pPr algn="l">
              <a:lnSpc>
                <a:spcPct val="95000"/>
              </a:lnSpc>
              <a:spcBef>
                <a:spcPts val="200"/>
              </a:spcBef>
            </a:pPr>
            <a:r>
              <a:rPr sz="1300" b="0">
                <a:solidFill>
                  <a:srgbClr val="404040"/>
                </a:solidFill>
                <a:latin typeface="Consolas"/>
              </a:rPr>
              <a:t>   belegt.</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Ohne GR4 könnte es für Annas Fahrtzeitpunkt zwei gültige Preise geben — die Rechnung wäre nicht bestimmt.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Mindestalter kein CHECK sein darf</a:t>
            </a:r>
          </a:p>
        </p:txBody>
      </p:sp>
      <p:sp>
        <p:nvSpPr>
          <p:cNvPr id="3" name="Text Placeholder 2"/>
          <p:cNvSpPr>
            <a:spLocks noGrp="1"/>
          </p:cNvSpPr>
          <p:nvPr>
            <p:ph type="body" idx="12" sz="quarter"/>
          </p:nvPr>
        </p:nvSpPr>
        <p:spPr/>
        <p:txBody>
          <a:bodyPr/>
          <a:lstStyle/>
          <a:p>
            <a:r>
              <a:t>5 · Physischer Entwurf</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Naheliegend wäre eine Bedingung mit current_date. PostgreSQL akzeptiert sie sogar. Trotzdem ist sie falsch — und der Grund zeigt, was ein CHECK eigentlich ist.</a:t>
            </a:r>
          </a:p>
        </p:txBody>
      </p:sp>
      <p:sp>
        <p:nvSpPr>
          <p:cNvPr id="6" name="Rectangle 5"/>
          <p:cNvSpPr/>
          <p:nvPr/>
        </p:nvSpPr>
        <p:spPr>
          <a:xfrm>
            <a:off x="1153160"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verlockend und falsch</a:t>
            </a:r>
          </a:p>
        </p:txBody>
      </p:sp>
      <p:sp>
        <p:nvSpPr>
          <p:cNvPr id="9" name="TextBox 8"/>
          <p:cNvSpPr txBox="1"/>
          <p:nvPr/>
        </p:nvSpPr>
        <p:spPr>
          <a:xfrm>
            <a:off x="1330960" y="2743200"/>
            <a:ext cx="5194300" cy="2286000"/>
          </a:xfrm>
          <a:prstGeom prst="rect">
            <a:avLst/>
          </a:prstGeom>
          <a:noFill/>
        </p:spPr>
        <p:txBody>
          <a:bodyPr wrap="square" lIns="0" tIns="0" rIns="0" bIns="0">
            <a:spAutoFit/>
          </a:bodyPr>
          <a:lstStyle/>
          <a:p>
            <a:pPr algn="l">
              <a:lnSpc>
                <a:spcPct val="95000"/>
              </a:lnSpc>
            </a:pPr>
            <a:r>
              <a:rPr sz="1400" b="1">
                <a:solidFill>
                  <a:srgbClr val="A32638"/>
                </a:solidFill>
              </a:rPr>
              <a:t>CHECK mit current_date</a:t>
            </a:r>
          </a:p>
          <a:p>
            <a:pPr algn="l">
              <a:lnSpc>
                <a:spcPct val="95000"/>
              </a:lnSpc>
              <a:spcBef>
                <a:spcPts val="300"/>
              </a:spcBef>
            </a:pPr>
            <a:r>
              <a:rPr sz="1300" b="0">
                <a:solidFill>
                  <a:srgbClr val="404040"/>
                </a:solidFill>
              </a:rPr>
              <a:t>check (geburtsdatum &lt;=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current_date ist nicht IMMUTABLE.</a:t>
            </a:r>
          </a:p>
          <a:p>
            <a:pPr algn="l">
              <a:lnSpc>
                <a:spcPct val="95000"/>
              </a:lnSpc>
              <a:spcBef>
                <a:spcPts val="300"/>
              </a:spcBef>
            </a:pPr>
            <a:r>
              <a:rPr sz="1300" b="0">
                <a:solidFill>
                  <a:srgbClr val="404040"/>
                </a:solidFill>
              </a:rPr>
              <a:t>Ein CHECK wird beim Schreiben geprüft</a:t>
            </a:r>
          </a:p>
          <a:p>
            <a:pPr algn="l">
              <a:lnSpc>
                <a:spcPct val="95000"/>
              </a:lnSpc>
              <a:spcBef>
                <a:spcPts val="300"/>
              </a:spcBef>
            </a:pPr>
            <a:r>
              <a:rPr sz="1300" b="0">
                <a:solidFill>
                  <a:srgbClr val="404040"/>
                </a:solidFill>
              </a:rPr>
              <a:t>UND beim Wiedereinspielen eines Dumps.</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Ein Kunde, der bei der Anmeldung 16 war,</a:t>
            </a:r>
          </a:p>
          <a:p>
            <a:pPr algn="l">
              <a:lnSpc>
                <a:spcPct val="95000"/>
              </a:lnSpc>
              <a:spcBef>
                <a:spcPts val="300"/>
              </a:spcBef>
            </a:pPr>
            <a:r>
              <a:rPr sz="1300" b="0">
                <a:solidFill>
                  <a:srgbClr val="404040"/>
                </a:solidFill>
              </a:rPr>
              <a:t>bleibt es — der Restore bricht trotzdem ab.</a:t>
            </a:r>
          </a:p>
        </p:txBody>
      </p:sp>
      <p:sp>
        <p:nvSpPr>
          <p:cNvPr id="10" name="Rectangle 9"/>
          <p:cNvSpPr/>
          <p:nvPr/>
        </p:nvSpPr>
        <p:spPr>
          <a:xfrm>
            <a:off x="7096759" y="2235200"/>
            <a:ext cx="5524500" cy="292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743200"/>
            <a:ext cx="5194300" cy="2286000"/>
          </a:xfrm>
          <a:prstGeom prst="rect">
            <a:avLst/>
          </a:prstGeom>
          <a:noFill/>
        </p:spPr>
        <p:txBody>
          <a:bodyPr wrap="square" lIns="0" tIns="0" rIns="0" bIns="0">
            <a:spAutoFit/>
          </a:bodyPr>
          <a:lstStyle/>
          <a:p>
            <a:pPr algn="l">
              <a:lnSpc>
                <a:spcPct val="95000"/>
              </a:lnSpc>
            </a:pPr>
            <a:r>
              <a:rPr sz="1400" b="1">
                <a:solidFill>
                  <a:srgbClr val="55801C"/>
                </a:solidFill>
              </a:rPr>
              <a:t>Immutable auf der Tabelle, Regel in der Funktion</a:t>
            </a:r>
          </a:p>
          <a:p>
            <a:pPr algn="l">
              <a:lnSpc>
                <a:spcPct val="95000"/>
              </a:lnSpc>
              <a:spcBef>
                <a:spcPts val="300"/>
              </a:spcBef>
            </a:pPr>
            <a:r>
              <a:rPr sz="1300" b="0">
                <a:solidFill>
                  <a:srgbClr val="404040"/>
                </a:solidFill>
              </a:rPr>
              <a:t>check (geburtsdatum is null</a:t>
            </a:r>
          </a:p>
          <a:p>
            <a:pPr algn="l">
              <a:lnSpc>
                <a:spcPct val="95000"/>
              </a:lnSpc>
              <a:spcBef>
                <a:spcPts val="300"/>
              </a:spcBef>
            </a:pPr>
            <a:r>
              <a:rPr sz="1300" b="0">
                <a:solidFill>
                  <a:srgbClr val="404040"/>
                </a:solidFill>
              </a:rPr>
              <a:t>   or geburtsdatum between</a:t>
            </a:r>
          </a:p>
          <a:p>
            <a:pPr algn="l">
              <a:lnSpc>
                <a:spcPct val="95000"/>
              </a:lnSpc>
              <a:spcBef>
                <a:spcPts val="300"/>
              </a:spcBef>
            </a:pPr>
            <a:r>
              <a:rPr sz="1300" b="0">
                <a:solidFill>
                  <a:srgbClr val="404040"/>
                </a:solidFill>
              </a:rPr>
              <a:t>      date '1900-01-01'</a:t>
            </a:r>
          </a:p>
          <a:p>
            <a:pPr algn="l">
              <a:lnSpc>
                <a:spcPct val="95000"/>
              </a:lnSpc>
              <a:spcBef>
                <a:spcPts val="300"/>
              </a:spcBef>
            </a:pPr>
            <a:r>
              <a:rPr sz="1300" b="0">
                <a:solidFill>
                  <a:srgbClr val="404040"/>
                </a:solidFill>
              </a:rPr>
              <a:t>  and date '2100-01-01')</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die Altersregel in api_profil_aktualisieren:</a:t>
            </a:r>
          </a:p>
          <a:p>
            <a:pPr algn="l">
              <a:lnSpc>
                <a:spcPct val="95000"/>
              </a:lnSpc>
              <a:spcBef>
                <a:spcPts val="300"/>
              </a:spcBef>
            </a:pPr>
            <a:r>
              <a:rPr sz="1300" b="0">
                <a:solidFill>
                  <a:srgbClr val="404040"/>
                </a:solidFill>
              </a:rPr>
              <a:t>if p_geburtsdatum &gt;</a:t>
            </a:r>
          </a:p>
          <a:p>
            <a:pPr algn="l">
              <a:lnSpc>
                <a:spcPct val="95000"/>
              </a:lnSpc>
              <a:spcBef>
                <a:spcPts val="300"/>
              </a:spcBef>
            </a:pPr>
            <a:r>
              <a:rPr sz="1300" b="0">
                <a:solidFill>
                  <a:srgbClr val="404040"/>
                </a:solidFill>
              </a:rPr>
              <a:t>   current_date - interval '16 years'</a:t>
            </a:r>
          </a:p>
          <a:p>
            <a:pPr algn="l">
              <a:lnSpc>
                <a:spcPct val="95000"/>
              </a:lnSpc>
              <a:spcBef>
                <a:spcPts val="300"/>
              </a:spcBef>
            </a:pPr>
            <a:r>
              <a:rPr sz="1300" b="0">
                <a:solidFill>
                  <a:srgbClr val="404040"/>
                </a:solidFill>
              </a:rPr>
              <a:t>then return 'Mindestalter nicht erreicht';</a:t>
            </a:r>
          </a:p>
        </p:txBody>
      </p:sp>
      <p:sp>
        <p:nvSpPr>
          <p:cNvPr id="14" name="Rectangle 13"/>
          <p:cNvSpPr/>
          <p:nvPr/>
        </p:nvSpPr>
        <p:spPr>
          <a:xfrm>
            <a:off x="1153160" y="5334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410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Merksatz: Ein CHECK darf nur von der Zeile selbst abhängen — und von nichts, was sich mit der Zeit ändert.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Implementierung</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Annas Fahrt genau — und warum?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Zwölf Aufbauschritte, jeder für sich lauffähig</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Jede Datei ist idempotent: sie läuft zweimal hintereinander fehlerfrei. Das ist die Voraussetzung dafür, dass man einen Aufbau gefahrlos wiederholen kann.</a:t>
            </a:r>
          </a:p>
        </p:txBody>
      </p:sp>
      <p:sp>
        <p:nvSpPr>
          <p:cNvPr id="6" name="Rectangle 5"/>
          <p:cNvSpPr/>
          <p:nvPr/>
        </p:nvSpPr>
        <p:spPr>
          <a:xfrm>
            <a:off x="1153160" y="23622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0001 Schema, Erweiterungen, Aufzählungstypen, Audit-Mechanik</a:t>
            </a:r>
          </a:p>
        </p:txBody>
      </p:sp>
      <p:sp>
        <p:nvSpPr>
          <p:cNvPr id="7" name="Isosceles Triangle 6"/>
          <p:cNvSpPr/>
          <p:nvPr/>
        </p:nvSpPr>
        <p:spPr>
          <a:xfrm rot="10800000">
            <a:off x="6801484" y="29845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30988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0002 bis 0007 · die sechs Fachbereiche A bis F, 25 Tabellen</a:t>
            </a:r>
          </a:p>
        </p:txBody>
      </p:sp>
      <p:sp>
        <p:nvSpPr>
          <p:cNvPr id="9" name="Isosceles Triangle 8"/>
          <p:cNvSpPr/>
          <p:nvPr/>
        </p:nvSpPr>
        <p:spPr>
          <a:xfrm rot="10800000">
            <a:off x="6801484" y="37211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835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0008 Referenzdaten: Entgeltarten, Preise, Tarife, Inhalte</a:t>
            </a:r>
          </a:p>
        </p:txBody>
      </p:sp>
      <p:sp>
        <p:nvSpPr>
          <p:cNvPr id="11" name="Isosceles Triangle 10"/>
          <p:cNvSpPr/>
          <p:nvPr/>
        </p:nvSpPr>
        <p:spPr>
          <a:xfrm rot="10800000">
            <a:off x="6801484" y="44577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0009 Geschäftslogik: fn_-Fachlogik und api_-Zugriffsschicht</a:t>
            </a:r>
          </a:p>
        </p:txBody>
      </p:sp>
      <p:sp>
        <p:nvSpPr>
          <p:cNvPr id="13" name="Isosceles Triangle 12"/>
          <p:cNvSpPr/>
          <p:nvPr/>
        </p:nvSpPr>
        <p:spPr>
          <a:xfrm rot="10800000">
            <a:off x="6801484" y="5194300"/>
            <a:ext cx="177800" cy="1016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5308600"/>
            <a:ext cx="11474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0010 Sichten · 0011 Zugriffsschutz · 0012 Data Dictionary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Annas Rechnung: 4,96 Euro, Zeile für Zeile</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Zeitentgelt wird über ALLE Minuten gebildet und die Freiminuten als eigene Gutschrift abgezogen. So ist auf der Rechnung ablesbar, was der Tarifvorteil wert war.</a:t>
            </a:r>
          </a:p>
        </p:txBody>
      </p:sp>
      <p:sp>
        <p:nvSpPr>
          <p:cNvPr id="6" name="Rectangle 5"/>
          <p:cNvSpPr/>
          <p:nvPr/>
        </p:nvSpPr>
        <p:spPr>
          <a:xfrm>
            <a:off x="1153160" y="2260600"/>
            <a:ext cx="241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Position</a:t>
            </a:r>
          </a:p>
        </p:txBody>
      </p:sp>
      <p:sp>
        <p:nvSpPr>
          <p:cNvPr id="7" name="Rectangle 6"/>
          <p:cNvSpPr/>
          <p:nvPr/>
        </p:nvSpPr>
        <p:spPr>
          <a:xfrm>
            <a:off x="3566160" y="2260600"/>
            <a:ext cx="1143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Menge</a:t>
            </a:r>
          </a:p>
        </p:txBody>
      </p:sp>
      <p:sp>
        <p:nvSpPr>
          <p:cNvPr id="8" name="Rectangle 7"/>
          <p:cNvSpPr/>
          <p:nvPr/>
        </p:nvSpPr>
        <p:spPr>
          <a:xfrm>
            <a:off x="4709160" y="2260600"/>
            <a:ext cx="1651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Einzelbetrag</a:t>
            </a:r>
          </a:p>
        </p:txBody>
      </p:sp>
      <p:sp>
        <p:nvSpPr>
          <p:cNvPr id="9" name="Rectangle 8"/>
          <p:cNvSpPr/>
          <p:nvPr/>
        </p:nvSpPr>
        <p:spPr>
          <a:xfrm>
            <a:off x="6360160" y="2260600"/>
            <a:ext cx="152400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Betrag</a:t>
            </a:r>
          </a:p>
        </p:txBody>
      </p:sp>
      <p:sp>
        <p:nvSpPr>
          <p:cNvPr id="10" name="Rectangle 9"/>
          <p:cNvSpPr/>
          <p:nvPr/>
        </p:nvSpPr>
        <p:spPr>
          <a:xfrm>
            <a:off x="7884159" y="2260600"/>
            <a:ext cx="4743450" cy="381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Woher der Wert kommt</a:t>
            </a:r>
          </a:p>
        </p:txBody>
      </p:sp>
      <p:sp>
        <p:nvSpPr>
          <p:cNvPr id="11" name="Rectangle 10"/>
          <p:cNvSpPr/>
          <p:nvPr/>
        </p:nvSpPr>
        <p:spPr>
          <a:xfrm>
            <a:off x="1153160" y="2641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STARTGEBUEHR</a:t>
            </a:r>
          </a:p>
        </p:txBody>
      </p:sp>
      <p:sp>
        <p:nvSpPr>
          <p:cNvPr id="12" name="Rectangle 11"/>
          <p:cNvSpPr/>
          <p:nvPr/>
        </p:nvSpPr>
        <p:spPr>
          <a:xfrm>
            <a:off x="3566160" y="2641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13" name="Rectangle 12"/>
          <p:cNvSpPr/>
          <p:nvPr/>
        </p:nvSpPr>
        <p:spPr>
          <a:xfrm>
            <a:off x="4709160" y="2641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4" name="Rectangle 13"/>
          <p:cNvSpPr/>
          <p:nvPr/>
        </p:nvSpPr>
        <p:spPr>
          <a:xfrm>
            <a:off x="6360160" y="2641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+ 0,10</a:t>
            </a:r>
          </a:p>
        </p:txBody>
      </p:sp>
      <p:sp>
        <p:nvSpPr>
          <p:cNvPr id="15" name="Rectangle 14"/>
          <p:cNvSpPr/>
          <p:nvPr/>
        </p:nvSpPr>
        <p:spPr>
          <a:xfrm>
            <a:off x="7884159" y="2641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nutzungspreis, gültig um 10:00 Uhr</a:t>
            </a:r>
          </a:p>
        </p:txBody>
      </p:sp>
      <p:sp>
        <p:nvSpPr>
          <p:cNvPr id="16" name="Rectangle 15"/>
          <p:cNvSpPr/>
          <p:nvPr/>
        </p:nvSpPr>
        <p:spPr>
          <a:xfrm>
            <a:off x="1153160" y="3022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ZEITENTGELT</a:t>
            </a:r>
          </a:p>
        </p:txBody>
      </p:sp>
      <p:sp>
        <p:nvSpPr>
          <p:cNvPr id="17" name="Rectangle 16"/>
          <p:cNvSpPr/>
          <p:nvPr/>
        </p:nvSpPr>
        <p:spPr>
          <a:xfrm>
            <a:off x="3566160" y="3022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a:t>
            </a:r>
          </a:p>
        </p:txBody>
      </p:sp>
      <p:sp>
        <p:nvSpPr>
          <p:cNvPr id="18" name="Rectangle 17"/>
          <p:cNvSpPr/>
          <p:nvPr/>
        </p:nvSpPr>
        <p:spPr>
          <a:xfrm>
            <a:off x="4709160" y="3022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19" name="Rectangle 18"/>
          <p:cNvSpPr/>
          <p:nvPr/>
        </p:nvSpPr>
        <p:spPr>
          <a:xfrm>
            <a:off x="6360160" y="3022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+ 6,10</a:t>
            </a:r>
          </a:p>
        </p:txBody>
      </p:sp>
      <p:sp>
        <p:nvSpPr>
          <p:cNvPr id="20" name="Rectangle 19"/>
          <p:cNvSpPr/>
          <p:nvPr/>
        </p:nvSpPr>
        <p:spPr>
          <a:xfrm>
            <a:off x="7884159" y="3022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dauer_minuten, aufgerundet</a:t>
            </a:r>
          </a:p>
        </p:txBody>
      </p:sp>
      <p:sp>
        <p:nvSpPr>
          <p:cNvPr id="21" name="Rectangle 20"/>
          <p:cNvSpPr/>
          <p:nvPr/>
        </p:nvSpPr>
        <p:spPr>
          <a:xfrm>
            <a:off x="1153160" y="3403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FREIMINUTEN</a:t>
            </a:r>
          </a:p>
        </p:txBody>
      </p:sp>
      <p:sp>
        <p:nvSpPr>
          <p:cNvPr id="22" name="Rectangle 21"/>
          <p:cNvSpPr/>
          <p:nvPr/>
        </p:nvSpPr>
        <p:spPr>
          <a:xfrm>
            <a:off x="3566160" y="3403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23" name="Rectangle 22"/>
          <p:cNvSpPr/>
          <p:nvPr/>
        </p:nvSpPr>
        <p:spPr>
          <a:xfrm>
            <a:off x="4709160" y="3403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0,10</a:t>
            </a:r>
          </a:p>
        </p:txBody>
      </p:sp>
      <p:sp>
        <p:nvSpPr>
          <p:cNvPr id="24" name="Rectangle 23"/>
          <p:cNvSpPr/>
          <p:nvPr/>
        </p:nvSpPr>
        <p:spPr>
          <a:xfrm>
            <a:off x="6360160" y="3403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25" name="Rectangle 24"/>
          <p:cNvSpPr/>
          <p:nvPr/>
        </p:nvSpPr>
        <p:spPr>
          <a:xfrm>
            <a:off x="7884159" y="3403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Kontingent im Monat schon verbraucht</a:t>
            </a:r>
          </a:p>
        </p:txBody>
      </p:sp>
      <p:sp>
        <p:nvSpPr>
          <p:cNvPr id="26" name="Rectangle 25"/>
          <p:cNvSpPr/>
          <p:nvPr/>
        </p:nvSpPr>
        <p:spPr>
          <a:xfrm>
            <a:off x="1153160" y="3784600"/>
            <a:ext cx="241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TARIFRABATT</a:t>
            </a:r>
          </a:p>
        </p:txBody>
      </p:sp>
      <p:sp>
        <p:nvSpPr>
          <p:cNvPr id="27" name="Rectangle 26"/>
          <p:cNvSpPr/>
          <p:nvPr/>
        </p:nvSpPr>
        <p:spPr>
          <a:xfrm>
            <a:off x="3566160" y="3784600"/>
            <a:ext cx="1143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28" name="Rectangle 27"/>
          <p:cNvSpPr/>
          <p:nvPr/>
        </p:nvSpPr>
        <p:spPr>
          <a:xfrm>
            <a:off x="4709160" y="3784600"/>
            <a:ext cx="1651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29" name="Rectangle 28"/>
          <p:cNvSpPr/>
          <p:nvPr/>
        </p:nvSpPr>
        <p:spPr>
          <a:xfrm>
            <a:off x="6360160" y="3784600"/>
            <a:ext cx="152400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- 1,24</a:t>
            </a:r>
          </a:p>
        </p:txBody>
      </p:sp>
      <p:sp>
        <p:nvSpPr>
          <p:cNvPr id="30" name="Rectangle 29"/>
          <p:cNvSpPr/>
          <p:nvPr/>
        </p:nvSpPr>
        <p:spPr>
          <a:xfrm>
            <a:off x="7884159" y="3784600"/>
            <a:ext cx="4743450" cy="381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tarif_kondition zum Startzeitpunkt</a:t>
            </a:r>
          </a:p>
        </p:txBody>
      </p:sp>
      <p:sp>
        <p:nvSpPr>
          <p:cNvPr id="31" name="Rectangle 30"/>
          <p:cNvSpPr/>
          <p:nvPr/>
        </p:nvSpPr>
        <p:spPr>
          <a:xfrm>
            <a:off x="1153160" y="4165600"/>
            <a:ext cx="241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HOECHSTPREIS</a:t>
            </a:r>
          </a:p>
        </p:txBody>
      </p:sp>
      <p:sp>
        <p:nvSpPr>
          <p:cNvPr id="32" name="Rectangle 31"/>
          <p:cNvSpPr/>
          <p:nvPr/>
        </p:nvSpPr>
        <p:spPr>
          <a:xfrm>
            <a:off x="3566160" y="4165600"/>
            <a:ext cx="1143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a:t>
            </a:r>
          </a:p>
        </p:txBody>
      </p:sp>
      <p:sp>
        <p:nvSpPr>
          <p:cNvPr id="33" name="Rectangle 32"/>
          <p:cNvSpPr/>
          <p:nvPr/>
        </p:nvSpPr>
        <p:spPr>
          <a:xfrm>
            <a:off x="4709160" y="4165600"/>
            <a:ext cx="1651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34" name="Rectangle 33"/>
          <p:cNvSpPr/>
          <p:nvPr/>
        </p:nvSpPr>
        <p:spPr>
          <a:xfrm>
            <a:off x="6360160" y="4165600"/>
            <a:ext cx="152400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- 0,00</a:t>
            </a:r>
          </a:p>
        </p:txBody>
      </p:sp>
      <p:sp>
        <p:nvSpPr>
          <p:cNvPr id="35" name="Rectangle 34"/>
          <p:cNvSpPr/>
          <p:nvPr/>
        </p:nvSpPr>
        <p:spPr>
          <a:xfrm>
            <a:off x="7884159" y="4165600"/>
            <a:ext cx="4743450" cy="381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6,20 liegt unter der Obergrenze 15,00</a:t>
            </a:r>
          </a:p>
        </p:txBody>
      </p:sp>
      <p:sp>
        <p:nvSpPr>
          <p:cNvPr id="36" name="Rectangle 35"/>
          <p:cNvSpPr/>
          <p:nvPr/>
        </p:nvSpPr>
        <p:spPr>
          <a:xfrm>
            <a:off x="1153160" y="4622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356360" y="4699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6,20 - 1,24 = 4,96 Euro. Reihenfolge: Rabatt VOR der Kappung — umgekehrt käme 4,00 heraus, weil der Rabatt den bereits gedeckelten Betrag ein zweites Mal senken würde.</a:t>
            </a:r>
          </a:p>
        </p:txBody>
      </p:sp>
      <p:sp>
        <p:nvSpPr>
          <p:cNvPr id="38" name="Rectangle 3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Damit ist die Frage vom Anfang beantwortet: 4,96 Euro, und jede Zeile ist belegt.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Dokumentation, die nicht veralten kann</a:t>
            </a:r>
          </a:p>
        </p:txBody>
      </p:sp>
      <p:sp>
        <p:nvSpPr>
          <p:cNvPr id="3" name="Text Placeholder 2"/>
          <p:cNvSpPr>
            <a:spLocks noGrp="1"/>
          </p:cNvSpPr>
          <p:nvPr>
            <p:ph type="body" idx="12" sz="quarter"/>
          </p:nvPr>
        </p:nvSpPr>
        <p:spPr/>
        <p:txBody>
          <a:bodyPr/>
          <a:lstStyle/>
          <a:p>
            <a:r>
              <a:t>6 · Implementierung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Data Dictionary, das von Hand gepflegt wird, ist nach dem zweiten Release falsch. Die Lösung ist, es aus dem Systemkatalog zu erzeugen — und die Vollständigkeit maschinell zu erzwingen.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Beschreibung an das Objekt</a:t>
            </a:r>
          </a:p>
          <a:p>
            <a:pPr algn="l">
              <a:lnSpc>
                <a:spcPct val="95000"/>
              </a:lnSpc>
              <a:spcBef>
                <a:spcPts val="200"/>
              </a:spcBef>
            </a:pPr>
            <a:r>
              <a:rPr sz="1300" b="0">
                <a:solidFill>
                  <a:srgbClr val="404040"/>
                </a:solidFill>
                <a:latin typeface="Consolas"/>
              </a:rPr>
              <a:t>comment on column</a:t>
            </a:r>
          </a:p>
          <a:p>
            <a:pPr algn="l">
              <a:lnSpc>
                <a:spcPct val="95000"/>
              </a:lnSpc>
              <a:spcBef>
                <a:spcPts val="200"/>
              </a:spcBef>
            </a:pPr>
            <a:r>
              <a:rPr sz="1300" b="0">
                <a:solidFill>
                  <a:srgbClr val="404040"/>
                </a:solidFill>
                <a:latin typeface="Consolas"/>
              </a:rPr>
              <a:t>  velocity.fahrrad_position.station_id is</a:t>
            </a:r>
          </a:p>
          <a:p>
            <a:pPr algn="l">
              <a:lnSpc>
                <a:spcPct val="95000"/>
              </a:lnSpc>
              <a:spcBef>
                <a:spcPts val="200"/>
              </a:spcBef>
            </a:pPr>
            <a:r>
              <a:rPr sz="1300" b="0">
                <a:solidFill>
                  <a:srgbClr val="404040"/>
                </a:solidFill>
                <a:latin typeface="Consolas"/>
              </a:rPr>
              <a:t>  'NULL bedeutet: das Rad steht frei</a:t>
            </a:r>
          </a:p>
          <a:p>
            <a:pPr algn="l">
              <a:lnSpc>
                <a:spcPct val="95000"/>
              </a:lnSpc>
              <a:spcBef>
                <a:spcPts val="200"/>
              </a:spcBef>
            </a:pPr>
            <a:r>
              <a:rPr sz="1300" b="0">
                <a:solidFill>
                  <a:srgbClr val="404040"/>
                </a:solidFill>
                <a:latin typeface="Consolas"/>
              </a:rPr>
              <a:t>   abgestellt, nicht an einer Station';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Der Kommentar erklärt, was NULL</a:t>
            </a:r>
          </a:p>
          <a:p>
            <a:pPr algn="l">
              <a:lnSpc>
                <a:spcPct val="95000"/>
              </a:lnSpc>
              <a:spcBef>
                <a:spcPts val="200"/>
              </a:spcBef>
            </a:pPr>
            <a:r>
              <a:rPr sz="1300" b="0">
                <a:solidFill>
                  <a:srgbClr val="404040"/>
                </a:solidFill>
                <a:latin typeface="Consolas"/>
              </a:rPr>
              <a:t>bedeutet — nicht, wie die Spalte heißt.</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Vollständigkeit erzwingen</a:t>
            </a:r>
          </a:p>
          <a:p>
            <a:pPr algn="l">
              <a:lnSpc>
                <a:spcPct val="95000"/>
              </a:lnSpc>
              <a:spcBef>
                <a:spcPts val="200"/>
              </a:spcBef>
            </a:pPr>
            <a:r>
              <a:rPr sz="1300" b="0">
                <a:solidFill>
                  <a:srgbClr val="404040"/>
                </a:solidFill>
                <a:latin typeface="Consolas"/>
              </a:rPr>
              <a:t>-- Test schlägt fehl, solange eine</a:t>
            </a:r>
          </a:p>
          <a:p>
            <a:pPr algn="l">
              <a:lnSpc>
                <a:spcPct val="95000"/>
              </a:lnSpc>
              <a:spcBef>
                <a:spcPts val="200"/>
              </a:spcBef>
            </a:pPr>
            <a:r>
              <a:rPr sz="1300" b="0">
                <a:solidFill>
                  <a:srgbClr val="404040"/>
                </a:solidFill>
                <a:latin typeface="Consolas"/>
              </a:rPr>
              <a:t>-- Fachspalte ohne Kommentar ist</a:t>
            </a:r>
          </a:p>
          <a:p>
            <a:pPr algn="l">
              <a:lnSpc>
                <a:spcPct val="95000"/>
              </a:lnSpc>
              <a:spcBef>
                <a:spcPts val="200"/>
              </a:spcBef>
            </a:pPr>
            <a:r>
              <a:rPr sz="1300" b="0">
                <a:solidFill>
                  <a:srgbClr val="404040"/>
                </a:solidFill>
                <a:latin typeface="Consolas"/>
              </a:rPr>
              <a:t>where col_description(c.oid, a.attnum)</a:t>
            </a:r>
          </a:p>
          <a:p>
            <a:pPr algn="l">
              <a:lnSpc>
                <a:spcPct val="95000"/>
              </a:lnSpc>
              <a:spcBef>
                <a:spcPts val="200"/>
              </a:spcBef>
            </a:pPr>
            <a:r>
              <a:rPr sz="1300" b="0">
                <a:solidFill>
                  <a:srgbClr val="404040"/>
                </a:solidFill>
                <a:latin typeface="Consolas"/>
              </a:rPr>
              <a:t>      is null</a:t>
            </a:r>
          </a:p>
          <a:p>
            <a:pPr algn="l">
              <a:lnSpc>
                <a:spcPct val="95000"/>
              </a:lnSpc>
              <a:spcBef>
                <a:spcPts val="200"/>
              </a:spcBef>
            </a:pPr>
            <a:r>
              <a:rPr sz="1300" b="0">
                <a:solidFill>
                  <a:srgbClr val="404040"/>
                </a:solidFill>
                <a:latin typeface="Consolas"/>
              </a:rPr>
              <a:t>  and a.attname not in</a:t>
            </a:r>
          </a:p>
          <a:p>
            <a:pPr algn="l">
              <a:lnSpc>
                <a:spcPct val="95000"/>
              </a:lnSpc>
              <a:spcBef>
                <a:spcPts val="200"/>
              </a:spcBef>
            </a:pPr>
            <a:r>
              <a:rPr sz="1300" b="0">
                <a:solidFill>
                  <a:srgbClr val="404040"/>
                </a:solidFill>
                <a:latin typeface="Consolas"/>
              </a:rPr>
              <a:t>      ('erstellt_am','geaendert_am');</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316 Spalten, 264 beschrieben,</a:t>
            </a:r>
          </a:p>
          <a:p>
            <a:pPr algn="l">
              <a:lnSpc>
                <a:spcPct val="95000"/>
              </a:lnSpc>
              <a:spcBef>
                <a:spcPts val="200"/>
              </a:spcBef>
            </a:pPr>
            <a:r>
              <a:rPr sz="1300" b="0">
                <a:solidFill>
                  <a:srgbClr val="404040"/>
                </a:solidFill>
                <a:latin typeface="Consolas"/>
              </a:rPr>
              <a:t>52 technische Audit-Spalten ausgenommen.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Zugriffsschutz</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Wer außer Anna darf Annas Daten sehen?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Schlüssel im Browser ist kein Geheimnis</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Supabase liefert den anon-Key an jeden Besucher aus. Er steht im Quelltext der Seite. Jeder kann damit beliebige Anfragen stellen — mit curl, ohne die Website je zu öffnen.</a:t>
            </a:r>
          </a:p>
        </p:txBody>
      </p:sp>
      <p:sp>
        <p:nvSpPr>
          <p:cNvPr id="6" name="Rectangle 5"/>
          <p:cNvSpPr/>
          <p:nvPr/>
        </p:nvSpPr>
        <p:spPr>
          <a:xfrm>
            <a:off x="1153160"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das Antipattern</a:t>
            </a:r>
          </a:p>
        </p:txBody>
      </p:sp>
      <p:sp>
        <p:nvSpPr>
          <p:cNvPr id="9" name="TextBox 8"/>
          <p:cNvSpPr txBox="1"/>
          <p:nvPr/>
        </p:nvSpPr>
        <p:spPr>
          <a:xfrm>
            <a:off x="1330960" y="2743200"/>
            <a:ext cx="5194300" cy="2159000"/>
          </a:xfrm>
          <a:prstGeom prst="rect">
            <a:avLst/>
          </a:prstGeom>
          <a:noFill/>
        </p:spPr>
        <p:txBody>
          <a:bodyPr wrap="square" lIns="0" tIns="0" rIns="0" bIns="0">
            <a:spAutoFit/>
          </a:bodyPr>
          <a:lstStyle/>
          <a:p>
            <a:pPr algn="l">
              <a:lnSpc>
                <a:spcPct val="95000"/>
              </a:lnSpc>
            </a:pPr>
            <a:r>
              <a:rPr sz="1400" b="1">
                <a:solidFill>
                  <a:srgbClr val="A32638"/>
                </a:solidFill>
              </a:rPr>
              <a:t>Der häufigste Supabase-Anfängerfehler</a:t>
            </a:r>
          </a:p>
          <a:p>
            <a:pPr algn="l">
              <a:lnSpc>
                <a:spcPct val="95000"/>
              </a:lnSpc>
              <a:spcBef>
                <a:spcPts val="300"/>
              </a:spcBef>
            </a:pPr>
            <a:r>
              <a:rPr sz="1300" b="0">
                <a:solidFill>
                  <a:srgbClr val="404040"/>
                </a:solidFill>
              </a:rPr>
              <a:t>create policy "alles fuer alle"</a:t>
            </a:r>
          </a:p>
          <a:p>
            <a:pPr algn="l">
              <a:lnSpc>
                <a:spcPct val="95000"/>
              </a:lnSpc>
              <a:spcBef>
                <a:spcPts val="300"/>
              </a:spcBef>
            </a:pPr>
            <a:r>
              <a:rPr sz="1300" b="0">
                <a:solidFill>
                  <a:srgbClr val="404040"/>
                </a:solidFill>
              </a:rPr>
              <a:t>  on kunde for all</a:t>
            </a:r>
          </a:p>
          <a:p>
            <a:pPr algn="l">
              <a:lnSpc>
                <a:spcPct val="95000"/>
              </a:lnSpc>
              <a:spcBef>
                <a:spcPts val="300"/>
              </a:spcBef>
            </a:pPr>
            <a:r>
              <a:rPr sz="1300" b="0">
                <a:solidFill>
                  <a:srgbClr val="404040"/>
                </a:solidFill>
              </a:rPr>
              <a:t>  to anon, authenticated</a:t>
            </a:r>
          </a:p>
          <a:p>
            <a:pPr algn="l">
              <a:lnSpc>
                <a:spcPct val="95000"/>
              </a:lnSpc>
              <a:spcBef>
                <a:spcPts val="300"/>
              </a:spcBef>
            </a:pPr>
            <a:r>
              <a:rPr sz="1300" b="0">
                <a:solidFill>
                  <a:srgbClr val="404040"/>
                </a:solidFill>
              </a:rPr>
              <a:t>  using (true) with check (true);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Folge: jeder mit dem öffentlichen</a:t>
            </a:r>
          </a:p>
          <a:p>
            <a:pPr algn="l">
              <a:lnSpc>
                <a:spcPct val="95000"/>
              </a:lnSpc>
              <a:spcBef>
                <a:spcPts val="300"/>
              </a:spcBef>
            </a:pPr>
            <a:r>
              <a:rPr sz="1300" b="0">
                <a:solidFill>
                  <a:srgbClr val="404040"/>
                </a:solidFill>
              </a:rPr>
              <a:t>Schlüssel liest UND ändert sämtliche</a:t>
            </a:r>
          </a:p>
          <a:p>
            <a:pPr algn="l">
              <a:lnSpc>
                <a:spcPct val="95000"/>
              </a:lnSpc>
              <a:spcBef>
                <a:spcPts val="300"/>
              </a:spcBef>
            </a:pPr>
            <a:r>
              <a:rPr sz="1300" b="0">
                <a:solidFill>
                  <a:srgbClr val="404040"/>
                </a:solidFill>
              </a:rPr>
              <a:t>Kundendaten — auch Annas.</a:t>
            </a:r>
          </a:p>
        </p:txBody>
      </p:sp>
      <p:sp>
        <p:nvSpPr>
          <p:cNvPr id="10" name="Rectangle 9"/>
          <p:cNvSpPr/>
          <p:nvPr/>
        </p:nvSpPr>
        <p:spPr>
          <a:xfrm>
            <a:off x="7096759" y="2235200"/>
            <a:ext cx="5524500" cy="2794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default deny</a:t>
            </a:r>
          </a:p>
        </p:txBody>
      </p:sp>
      <p:sp>
        <p:nvSpPr>
          <p:cNvPr id="13" name="TextBox 12"/>
          <p:cNvSpPr txBox="1"/>
          <p:nvPr/>
        </p:nvSpPr>
        <p:spPr>
          <a:xfrm>
            <a:off x="7274559" y="2743200"/>
            <a:ext cx="5194300" cy="2159000"/>
          </a:xfrm>
          <a:prstGeom prst="rect">
            <a:avLst/>
          </a:prstGeom>
          <a:noFill/>
        </p:spPr>
        <p:txBody>
          <a:bodyPr wrap="square" lIns="0" tIns="0" rIns="0" bIns="0">
            <a:spAutoFit/>
          </a:bodyPr>
          <a:lstStyle/>
          <a:p>
            <a:pPr algn="l">
              <a:lnSpc>
                <a:spcPct val="95000"/>
              </a:lnSpc>
            </a:pPr>
            <a:r>
              <a:rPr sz="1400" b="1">
                <a:solidFill>
                  <a:srgbClr val="55801C"/>
                </a:solidFill>
              </a:rPr>
              <a:t>Was nicht erlaubt ist, ist verboten</a:t>
            </a:r>
          </a:p>
          <a:p>
            <a:pPr algn="l">
              <a:lnSpc>
                <a:spcPct val="95000"/>
              </a:lnSpc>
              <a:spcBef>
                <a:spcPts val="300"/>
              </a:spcBef>
            </a:pPr>
            <a:r>
              <a:rPr sz="1300" b="0">
                <a:solidFill>
                  <a:srgbClr val="404040"/>
                </a:solidFill>
              </a:rPr>
              <a:t>-- RLS auf jeder Basistabelle</a:t>
            </a:r>
          </a:p>
          <a:p>
            <a:pPr algn="l">
              <a:lnSpc>
                <a:spcPct val="95000"/>
              </a:lnSpc>
              <a:spcBef>
                <a:spcPts val="300"/>
              </a:spcBef>
            </a:pPr>
            <a:r>
              <a:rPr sz="1300" b="0">
                <a:solidFill>
                  <a:srgbClr val="404040"/>
                </a:solidFill>
              </a:rPr>
              <a:t>alter table … enable row level security;</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 keine Policy für anon</a:t>
            </a:r>
          </a:p>
          <a:p>
            <a:pPr algn="l">
              <a:lnSpc>
                <a:spcPct val="95000"/>
              </a:lnSpc>
              <a:spcBef>
                <a:spcPts val="300"/>
              </a:spcBef>
            </a:pPr>
            <a:r>
              <a:rPr sz="1300" b="0">
                <a:solidFill>
                  <a:srgbClr val="404040"/>
                </a:solidFill>
              </a:rPr>
              <a:t>-- Lesen nur über v_-Sichten</a:t>
            </a:r>
          </a:p>
          <a:p>
            <a:pPr algn="l">
              <a:lnSpc>
                <a:spcPct val="95000"/>
              </a:lnSpc>
              <a:spcBef>
                <a:spcPts val="300"/>
              </a:spcBef>
            </a:pPr>
            <a:r>
              <a:rPr sz="1300" b="0">
                <a:solidFill>
                  <a:srgbClr val="404040"/>
                </a:solidFill>
              </a:rPr>
              <a:t>-- Schreiben nur über api_-Funktionen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Anna sieht ihre Fahrt, sonst niemand.</a:t>
            </a:r>
          </a:p>
        </p:txBody>
      </p:sp>
      <p:sp>
        <p:nvSpPr>
          <p:cNvPr id="14" name="Rectangle 13"/>
          <p:cNvSpPr/>
          <p:nvPr/>
        </p:nvSpPr>
        <p:spPr>
          <a:xfrm>
            <a:off x="1153160" y="5207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283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 Zugriffsbeschränkung, die im JavaScript steht, ist wirkungslos.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der Browser erreicht — und was nicht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Schichten trennen die Anwendung von den Tabellen — die Fachlogik dazwischen prüft selbst nicht auf den angemeldeten Nutzer.</a:t>
            </a:r>
          </a:p>
        </p:txBody>
      </p:sp>
      <p:sp>
        <p:nvSpPr>
          <p:cNvPr id="6" name="Rectangle 5"/>
          <p:cNvSpPr/>
          <p:nvPr/>
        </p:nvSpPr>
        <p:spPr>
          <a:xfrm>
            <a:off x="4369714" y="1778000"/>
            <a:ext cx="5041341" cy="4445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sicherheit-schichten.png"/>
          <p:cNvPicPr>
            <a:picLocks noChangeAspect="1"/>
          </p:cNvPicPr>
          <p:nvPr/>
        </p:nvPicPr>
        <p:blipFill>
          <a:blip r:embed="rId2"/>
          <a:stretch>
            <a:fillRect/>
          </a:stretch>
        </p:blipFill>
        <p:spPr>
          <a:xfrm>
            <a:off x="4471314" y="1879600"/>
            <a:ext cx="4838141" cy="42418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Falle, die fast jeder übersieht</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PostgreSQL vergibt das Ausführungsrecht auf jede neu angelegte Funktion automatisch an die Rolle PUBLIC. Ein Entzug gegen einzelne Rollen greift deshalb nicht.</a:t>
            </a:r>
          </a:p>
        </p:txBody>
      </p:sp>
      <p:sp>
        <p:nvSpPr>
          <p:cNvPr id="6" name="Rectangle 5"/>
          <p:cNvSpPr/>
          <p:nvPr/>
        </p:nvSpPr>
        <p:spPr>
          <a:xfrm>
            <a:off x="1153160"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wirkungslos</a:t>
            </a:r>
          </a:p>
        </p:txBody>
      </p:sp>
      <p:sp>
        <p:nvSpPr>
          <p:cNvPr id="9" name="TextBox 8"/>
          <p:cNvSpPr txBox="1"/>
          <p:nvPr/>
        </p:nvSpPr>
        <p:spPr>
          <a:xfrm>
            <a:off x="1330960" y="27432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REVOKE gegen die Rollen allein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Beide erben das Recht weiterhin</a:t>
            </a:r>
          </a:p>
          <a:p>
            <a:pPr algn="l">
              <a:lnSpc>
                <a:spcPct val="95000"/>
              </a:lnSpc>
              <a:spcBef>
                <a:spcPts val="300"/>
              </a:spcBef>
            </a:pPr>
            <a:r>
              <a:rPr sz="1300" b="0">
                <a:solidFill>
                  <a:srgbClr val="404040"/>
                </a:solidFill>
              </a:rPr>
              <a:t>über PUBLIC. Die Fachlogik bleibt</a:t>
            </a:r>
          </a:p>
          <a:p>
            <a:pPr algn="l">
              <a:lnSpc>
                <a:spcPct val="95000"/>
              </a:lnSpc>
              <a:spcBef>
                <a:spcPts val="300"/>
              </a:spcBef>
            </a:pPr>
            <a:r>
              <a:rPr sz="1300" b="0">
                <a:solidFill>
                  <a:srgbClr val="404040"/>
                </a:solidFill>
              </a:rPr>
              <a:t>aufrufbar.</a:t>
            </a:r>
          </a:p>
        </p:txBody>
      </p:sp>
      <p:sp>
        <p:nvSpPr>
          <p:cNvPr id="10" name="Rectangle 9"/>
          <p:cNvSpPr/>
          <p:nvPr/>
        </p:nvSpPr>
        <p:spPr>
          <a:xfrm>
            <a:off x="7096759" y="22352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2235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2286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wirksam</a:t>
            </a:r>
          </a:p>
        </p:txBody>
      </p:sp>
      <p:sp>
        <p:nvSpPr>
          <p:cNvPr id="13" name="TextBox 12"/>
          <p:cNvSpPr txBox="1"/>
          <p:nvPr/>
        </p:nvSpPr>
        <p:spPr>
          <a:xfrm>
            <a:off x="7274559" y="27432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PUBLIC ausdrücklich mit entziehen</a:t>
            </a:r>
          </a:p>
          <a:p>
            <a:pPr algn="l">
              <a:lnSpc>
                <a:spcPct val="95000"/>
              </a:lnSpc>
              <a:spcBef>
                <a:spcPts val="300"/>
              </a:spcBef>
            </a:pPr>
            <a:r>
              <a:rPr sz="1300" b="0">
                <a:solidFill>
                  <a:srgbClr val="404040"/>
                </a:solidFill>
              </a:rPr>
              <a:t>revoke all on all functions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from public, anon, authenticated;</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alter default privileges</a:t>
            </a:r>
          </a:p>
          <a:p>
            <a:pPr algn="l">
              <a:lnSpc>
                <a:spcPct val="95000"/>
              </a:lnSpc>
              <a:spcBef>
                <a:spcPts val="300"/>
              </a:spcBef>
            </a:pPr>
            <a:r>
              <a:rPr sz="1300" b="0">
                <a:solidFill>
                  <a:srgbClr val="404040"/>
                </a:solidFill>
              </a:rPr>
              <a:t>  in schema velocity</a:t>
            </a:r>
          </a:p>
          <a:p>
            <a:pPr algn="l">
              <a:lnSpc>
                <a:spcPct val="95000"/>
              </a:lnSpc>
              <a:spcBef>
                <a:spcPts val="300"/>
              </a:spcBef>
            </a:pPr>
            <a:r>
              <a:rPr sz="1300" b="0">
                <a:solidFill>
                  <a:srgbClr val="404040"/>
                </a:solidFill>
              </a:rPr>
              <a:t>  revoke execute on functions</a:t>
            </a:r>
          </a:p>
          <a:p>
            <a:pPr algn="l">
              <a:lnSpc>
                <a:spcPct val="95000"/>
              </a:lnSpc>
              <a:spcBef>
                <a:spcPts val="300"/>
              </a:spcBef>
            </a:pPr>
            <a:r>
              <a:rPr sz="1300" b="0">
                <a:solidFill>
                  <a:srgbClr val="404040"/>
                </a:solidFill>
              </a:rPr>
              <a:t>  from public;</a:t>
            </a:r>
          </a:p>
        </p:txBody>
      </p:sp>
      <p:sp>
        <p:nvSpPr>
          <p:cNvPr id="14" name="Rectangle 13"/>
          <p:cNvSpPr/>
          <p:nvPr/>
        </p:nvSpPr>
        <p:spPr>
          <a:xfrm>
            <a:off x="1153160" y="50800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51562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Aufgedeckt hat das ein Test, nicht Nachdenken. Rechte werden geprüft, nicht angenommen.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Nachweis statt Behauptung — auf drei Wegen</a:t>
            </a:r>
          </a:p>
        </p:txBody>
      </p:sp>
      <p:sp>
        <p:nvSpPr>
          <p:cNvPr id="3" name="Text Placeholder 2"/>
          <p:cNvSpPr>
            <a:spLocks noGrp="1"/>
          </p:cNvSpPr>
          <p:nvPr>
            <p:ph type="body" idx="12" sz="quarter"/>
          </p:nvPr>
        </p:nvSpPr>
        <p:spPr/>
        <p:txBody>
          <a:bodyPr/>
          <a:lstStyle/>
          <a:p>
            <a:r>
              <a:t>7 · Zugriffsschutz</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Sicherheitskonzept, das nur beschrieben ist, ist wertlos. Geprüft wird in der Datenbank, über die Schnittstelle und im Browser.</a:t>
            </a:r>
          </a:p>
        </p:txBody>
      </p:sp>
      <p:sp>
        <p:nvSpPr>
          <p:cNvPr id="6" name="Rectangle 5"/>
          <p:cNvSpPr/>
          <p:nvPr/>
        </p:nvSpPr>
        <p:spPr>
          <a:xfrm>
            <a:off x="1153160" y="2387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387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55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463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In der Datenbank  </a:t>
            </a:r>
            <a:r>
              <a:rPr sz="1300">
                <a:solidFill>
                  <a:srgbClr val="404040"/>
                </a:solidFill>
              </a:rPr>
              <a:t>RLS überall aktiv, anon ohne Tabellenrechte, Rollenwechsel-Probe</a:t>
            </a:r>
          </a:p>
        </p:txBody>
      </p:sp>
      <p:sp>
        <p:nvSpPr>
          <p:cNvPr id="10" name="Rounded Rectangle 9"/>
          <p:cNvSpPr/>
          <p:nvPr/>
        </p:nvSpPr>
        <p:spPr>
          <a:xfrm>
            <a:off x="9935210" y="2501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pgTAP, t0011</a:t>
            </a:r>
          </a:p>
        </p:txBody>
      </p:sp>
      <p:sp>
        <p:nvSpPr>
          <p:cNvPr id="11" name="Rectangle 10"/>
          <p:cNvSpPr/>
          <p:nvPr/>
        </p:nvSpPr>
        <p:spPr>
          <a:xfrm>
            <a:off x="1153160" y="3149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149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330960" y="3314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4" name="TextBox 13"/>
          <p:cNvSpPr txBox="1"/>
          <p:nvPr/>
        </p:nvSpPr>
        <p:spPr>
          <a:xfrm>
            <a:off x="1788160" y="3225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Über die Schnittstelle  </a:t>
            </a:r>
            <a:r>
              <a:rPr sz="1300">
                <a:solidFill>
                  <a:srgbClr val="404040"/>
                </a:solidFill>
              </a:rPr>
              <a:t>13 gesperrte Ressourcen, 7 öffentliche Sichten</a:t>
            </a:r>
          </a:p>
        </p:txBody>
      </p:sp>
      <p:sp>
        <p:nvSpPr>
          <p:cNvPr id="15" name="Rounded Rectangle 14"/>
          <p:cNvSpPr/>
          <p:nvPr/>
        </p:nvSpPr>
        <p:spPr>
          <a:xfrm>
            <a:off x="9935210" y="3263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HTTP 401 gegen 200</a:t>
            </a:r>
          </a:p>
        </p:txBody>
      </p:sp>
      <p:sp>
        <p:nvSpPr>
          <p:cNvPr id="16" name="Rectangle 15"/>
          <p:cNvSpPr/>
          <p:nvPr/>
        </p:nvSpPr>
        <p:spPr>
          <a:xfrm>
            <a:off x="1153160" y="3911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1153160" y="3911600"/>
            <a:ext cx="5080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1330960" y="4076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9" name="TextBox 18"/>
          <p:cNvSpPr txBox="1"/>
          <p:nvPr/>
        </p:nvSpPr>
        <p:spPr>
          <a:xfrm>
            <a:off x="1788160" y="3987800"/>
            <a:ext cx="7918450" cy="508000"/>
          </a:xfrm>
          <a:prstGeom prst="rect">
            <a:avLst/>
          </a:prstGeom>
          <a:noFill/>
        </p:spPr>
        <p:txBody>
          <a:bodyPr wrap="square" lIns="0" tIns="0" rIns="0" bIns="0" anchor="ctr">
            <a:spAutoFit/>
          </a:bodyPr>
          <a:lstStyle/>
          <a:p>
            <a:pPr>
              <a:lnSpc>
                <a:spcPct val="95000"/>
              </a:lnSpc>
            </a:pPr>
            <a:r>
              <a:rPr sz="1300" b="1">
                <a:solidFill>
                  <a:srgbClr val="003E6E"/>
                </a:solidFill>
              </a:rPr>
              <a:t>Im Browser  </a:t>
            </a:r>
            <a:r>
              <a:rPr sz="1300">
                <a:solidFill>
                  <a:srgbClr val="404040"/>
                </a:solidFill>
              </a:rPr>
              <a:t>Aufrufe der abgemeldeten Seite in der Konsole</a:t>
            </a:r>
          </a:p>
        </p:txBody>
      </p:sp>
      <p:sp>
        <p:nvSpPr>
          <p:cNvPr id="20" name="Rounded Rectangle 19"/>
          <p:cNvSpPr/>
          <p:nvPr/>
        </p:nvSpPr>
        <p:spPr>
          <a:xfrm>
            <a:off x="9935210" y="4025900"/>
            <a:ext cx="2540000" cy="431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555148"/>
                </a:solidFill>
                <a:latin typeface="Consolas"/>
              </a:rPr>
              <a:t>permission denied</a:t>
            </a:r>
          </a:p>
        </p:txBody>
      </p:sp>
      <p:sp>
        <p:nvSpPr>
          <p:cNvPr id="21" name="Rectangle 20"/>
          <p:cNvSpPr/>
          <p:nvPr/>
        </p:nvSpPr>
        <p:spPr>
          <a:xfrm>
            <a:off x="1153160" y="4673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4673600"/>
            <a:ext cx="50800" cy="13462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800600"/>
            <a:ext cx="11093450" cy="1092200"/>
          </a:xfrm>
          <a:prstGeom prst="rect">
            <a:avLst/>
          </a:prstGeom>
          <a:noFill/>
        </p:spPr>
        <p:txBody>
          <a:bodyPr wrap="square" lIns="0" tIns="0" rIns="0" bIns="0">
            <a:spAutoFit/>
          </a:bodyPr>
          <a:lstStyle/>
          <a:p>
            <a:pPr algn="l">
              <a:lnSpc>
                <a:spcPct val="95000"/>
              </a:lnSpc>
            </a:pPr>
            <a:r>
              <a:rPr sz="1500" b="1">
                <a:solidFill>
                  <a:srgbClr val="A32638"/>
                </a:solidFill>
              </a:rPr>
              <a:t>Eine Falle im Prüfwerkzeug selbst</a:t>
            </a:r>
          </a:p>
          <a:p>
            <a:pPr algn="l">
              <a:lnSpc>
                <a:spcPct val="95000"/>
              </a:lnSpc>
              <a:spcBef>
                <a:spcPts val="500"/>
              </a:spcBef>
            </a:pPr>
            <a:r>
              <a:rPr sz="1300" b="0">
                <a:solidFill>
                  <a:srgbClr val="404040"/>
                </a:solidFill>
              </a:rPr>
              <a:t>Der erste Entwurf meldete alle 13 gesperrten Ressourcen als bestanden — obwohl er nichts geprüft hatte: das Schema war gar nicht exponiert, also war alles unerreichbar, Sicheres wie Unsicheres.</a:t>
            </a:r>
          </a:p>
          <a:p>
            <a:pPr algn="l">
              <a:lnSpc>
                <a:spcPct val="95000"/>
              </a:lnSpc>
              <a:spcBef>
                <a:spcPts val="500"/>
              </a:spcBef>
            </a:pPr>
            <a:r>
              <a:rPr sz="1300" b="0">
                <a:solidFill>
                  <a:srgbClr val="404040"/>
                </a:solidFill>
              </a:rPr>
              <a:t>Ein Test, der „abgesichert“ nicht von „gar nicht erreichbar“ unterscheidet, ist gefährlicher als kein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Anwendung anbinden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kommt Annas Fahrt in die Web-Anwendung?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Nur Sichten lesen, nur Funktionen schreiben</a:t>
            </a:r>
          </a:p>
        </p:txBody>
      </p:sp>
      <p:sp>
        <p:nvSpPr>
          <p:cNvPr id="3" name="Text Placeholder 2"/>
          <p:cNvSpPr>
            <a:spLocks noGrp="1"/>
          </p:cNvSpPr>
          <p:nvPr>
            <p:ph type="body" idx="12" sz="quarter"/>
          </p:nvPr>
        </p:nvSpPr>
        <p:spPr/>
        <p:txBody>
          <a:bodyPr/>
          <a:lstStyle/>
          <a:p>
            <a:r>
              <a:t>8 · Anwendung anbinden</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Anwendung kennt keine einzige Basistabelle. Das ist keine Konvention, sondern erzwungen: sie käme gar nicht an sie heran.</a:t>
            </a:r>
          </a:p>
        </p:txBody>
      </p:sp>
      <p:sp>
        <p:nvSpPr>
          <p:cNvPr id="6" name="Rectangle 5"/>
          <p:cNvSpPr/>
          <p:nvPr/>
        </p:nvSpPr>
        <p:spPr>
          <a:xfrm>
            <a:off x="1153160"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35200"/>
            <a:ext cx="50800" cy="304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349500"/>
            <a:ext cx="5194300" cy="2819400"/>
          </a:xfrm>
          <a:prstGeom prst="rect">
            <a:avLst/>
          </a:prstGeom>
          <a:noFill/>
        </p:spPr>
        <p:txBody>
          <a:bodyPr wrap="square" lIns="0" tIns="0" rIns="0" bIns="0">
            <a:spAutoFit/>
          </a:bodyPr>
          <a:lstStyle/>
          <a:p>
            <a:pPr algn="l">
              <a:lnSpc>
                <a:spcPct val="95000"/>
              </a:lnSpc>
            </a:pPr>
            <a:r>
              <a:rPr sz="1400" b="1">
                <a:solidFill>
                  <a:srgbClr val="003E6E"/>
                </a:solidFill>
              </a:rPr>
              <a:t>Lesen — ausschließlich Sichten</a:t>
            </a:r>
          </a:p>
          <a:p>
            <a:pPr algn="l">
              <a:lnSpc>
                <a:spcPct val="95000"/>
              </a:lnSpc>
              <a:spcBef>
                <a:spcPts val="200"/>
              </a:spcBef>
            </a:pPr>
            <a:r>
              <a:rPr sz="1300" b="0">
                <a:solidFill>
                  <a:srgbClr val="404040"/>
                </a:solidFill>
                <a:latin typeface="Consolas"/>
              </a:rPr>
              <a:t>from('v_station')</a:t>
            </a:r>
          </a:p>
          <a:p>
            <a:pPr algn="l">
              <a:lnSpc>
                <a:spcPct val="95000"/>
              </a:lnSpc>
              <a:spcBef>
                <a:spcPts val="200"/>
              </a:spcBef>
            </a:pPr>
            <a:r>
              <a:rPr sz="1300" b="0">
                <a:solidFill>
                  <a:srgbClr val="404040"/>
                </a:solidFill>
                <a:latin typeface="Consolas"/>
              </a:rPr>
              <a:t>from('v_verfuegbares_fahrrad')</a:t>
            </a:r>
          </a:p>
          <a:p>
            <a:pPr algn="l">
              <a:lnSpc>
                <a:spcPct val="95000"/>
              </a:lnSpc>
              <a:spcBef>
                <a:spcPts val="200"/>
              </a:spcBef>
            </a:pPr>
            <a:r>
              <a:rPr sz="1300" b="0">
                <a:solidFill>
                  <a:srgbClr val="404040"/>
                </a:solidFill>
                <a:latin typeface="Consolas"/>
              </a:rPr>
              <a:t>from('v_tarifkarte')</a:t>
            </a:r>
          </a:p>
          <a:p>
            <a:pPr algn="l">
              <a:lnSpc>
                <a:spcPct val="95000"/>
              </a:lnSpc>
              <a:spcBef>
                <a:spcPts val="200"/>
              </a:spcBef>
            </a:pPr>
            <a:r>
              <a:rPr sz="1300" b="0">
                <a:solidFill>
                  <a:srgbClr val="404040"/>
                </a:solidFill>
                <a:latin typeface="Consolas"/>
              </a:rPr>
              <a:t>from('v_faq')</a:t>
            </a:r>
          </a:p>
          <a:p>
            <a:pPr algn="l">
              <a:lnSpc>
                <a:spcPct val="95000"/>
              </a:lnSpc>
              <a:spcBef>
                <a:spcPts val="200"/>
              </a:spcBef>
            </a:pPr>
            <a:r>
              <a:rPr sz="1300" b="0">
                <a:solidFill>
                  <a:srgbClr val="404040"/>
                </a:solidFill>
                <a:latin typeface="Consolas"/>
              </a:rPr>
              <a:t>from('v_kennzahl')</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angemeldet:</a:t>
            </a:r>
          </a:p>
          <a:p>
            <a:pPr algn="l">
              <a:lnSpc>
                <a:spcPct val="95000"/>
              </a:lnSpc>
              <a:spcBef>
                <a:spcPts val="200"/>
              </a:spcBef>
            </a:pPr>
            <a:r>
              <a:rPr sz="1300" b="0">
                <a:solidFill>
                  <a:srgbClr val="404040"/>
                </a:solidFill>
                <a:latin typeface="Consolas"/>
              </a:rPr>
              <a:t>from('v_meine_ausleihe')</a:t>
            </a:r>
          </a:p>
          <a:p>
            <a:pPr algn="l">
              <a:lnSpc>
                <a:spcPct val="95000"/>
              </a:lnSpc>
              <a:spcBef>
                <a:spcPts val="200"/>
              </a:spcBef>
            </a:pPr>
            <a:r>
              <a:rPr sz="1300" b="0">
                <a:solidFill>
                  <a:srgbClr val="404040"/>
                </a:solidFill>
                <a:latin typeface="Consolas"/>
              </a:rPr>
              <a:t>from('v_mein_profil')</a:t>
            </a:r>
          </a:p>
        </p:txBody>
      </p:sp>
      <p:sp>
        <p:nvSpPr>
          <p:cNvPr id="9" name="Rectangle 8"/>
          <p:cNvSpPr/>
          <p:nvPr/>
        </p:nvSpPr>
        <p:spPr>
          <a:xfrm>
            <a:off x="7096759" y="2235200"/>
            <a:ext cx="5524500" cy="304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2235200"/>
            <a:ext cx="50800" cy="3048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2349500"/>
            <a:ext cx="5194300" cy="2819400"/>
          </a:xfrm>
          <a:prstGeom prst="rect">
            <a:avLst/>
          </a:prstGeom>
          <a:noFill/>
        </p:spPr>
        <p:txBody>
          <a:bodyPr wrap="square" lIns="0" tIns="0" rIns="0" bIns="0">
            <a:spAutoFit/>
          </a:bodyPr>
          <a:lstStyle/>
          <a:p>
            <a:pPr algn="l">
              <a:lnSpc>
                <a:spcPct val="95000"/>
              </a:lnSpc>
            </a:pPr>
            <a:r>
              <a:rPr sz="1400" b="1">
                <a:solidFill>
                  <a:srgbClr val="55801C"/>
                </a:solidFill>
              </a:rPr>
              <a:t>Schreiben — ausschließlich Funktionen</a:t>
            </a:r>
          </a:p>
          <a:p>
            <a:pPr algn="l">
              <a:lnSpc>
                <a:spcPct val="95000"/>
              </a:lnSpc>
              <a:spcBef>
                <a:spcPts val="200"/>
              </a:spcBef>
            </a:pPr>
            <a:r>
              <a:rPr sz="1300" b="0">
                <a:solidFill>
                  <a:srgbClr val="404040"/>
                </a:solidFill>
                <a:latin typeface="Consolas"/>
              </a:rPr>
              <a:t>rpc('api_kunde_sicherstellen')</a:t>
            </a:r>
          </a:p>
          <a:p>
            <a:pPr algn="l">
              <a:lnSpc>
                <a:spcPct val="95000"/>
              </a:lnSpc>
              <a:spcBef>
                <a:spcPts val="200"/>
              </a:spcBef>
            </a:pPr>
            <a:r>
              <a:rPr sz="1300" b="0">
                <a:solidFill>
                  <a:srgbClr val="404040"/>
                </a:solidFill>
                <a:latin typeface="Consolas"/>
              </a:rPr>
              <a:t>rpc('api_ausleihe_starten')</a:t>
            </a:r>
          </a:p>
          <a:p>
            <a:pPr algn="l">
              <a:lnSpc>
                <a:spcPct val="95000"/>
              </a:lnSpc>
              <a:spcBef>
                <a:spcPts val="200"/>
              </a:spcBef>
            </a:pPr>
            <a:r>
              <a:rPr sz="1300" b="0">
                <a:solidFill>
                  <a:srgbClr val="404040"/>
                </a:solidFill>
                <a:latin typeface="Consolas"/>
              </a:rPr>
              <a:t>rpc('api_ausleihe_beenden')</a:t>
            </a:r>
          </a:p>
          <a:p>
            <a:pPr algn="l">
              <a:lnSpc>
                <a:spcPct val="95000"/>
              </a:lnSpc>
              <a:spcBef>
                <a:spcPts val="200"/>
              </a:spcBef>
            </a:pPr>
            <a:r>
              <a:rPr sz="1300" b="0">
                <a:solidFill>
                  <a:srgbClr val="404040"/>
                </a:solidFill>
                <a:latin typeface="Consolas"/>
              </a:rPr>
              <a:t>rpc('api_profil_aktualisieren')</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 nicht erreichbar:</a:t>
            </a:r>
          </a:p>
          <a:p>
            <a:pPr algn="l">
              <a:lnSpc>
                <a:spcPct val="95000"/>
              </a:lnSpc>
              <a:spcBef>
                <a:spcPts val="200"/>
              </a:spcBef>
            </a:pPr>
            <a:r>
              <a:rPr sz="1300" b="0">
                <a:solidFill>
                  <a:srgbClr val="404040"/>
                </a:solidFill>
                <a:latin typeface="Consolas"/>
              </a:rPr>
              <a:t>from('kunde')      permission denied</a:t>
            </a:r>
          </a:p>
          <a:p>
            <a:pPr algn="l">
              <a:lnSpc>
                <a:spcPct val="95000"/>
              </a:lnSpc>
              <a:spcBef>
                <a:spcPts val="200"/>
              </a:spcBef>
            </a:pPr>
            <a:r>
              <a:rPr sz="1300" b="0">
                <a:solidFill>
                  <a:srgbClr val="404040"/>
                </a:solidFill>
                <a:latin typeface="Consolas"/>
              </a:rPr>
              <a:t>from('ausleihe')   permission denied</a:t>
            </a:r>
          </a:p>
          <a:p>
            <a:pPr algn="l">
              <a:lnSpc>
                <a:spcPct val="95000"/>
              </a:lnSpc>
              <a:spcBef>
                <a:spcPts val="200"/>
              </a:spcBef>
            </a:pPr>
            <a:r>
              <a:rPr sz="1300" b="0">
                <a:solidFill>
                  <a:srgbClr val="404040"/>
                </a:solidFill>
                <a:latin typeface="Consolas"/>
              </a:rPr>
              <a:t>rpc('fn_…')        permission denied</a:t>
            </a:r>
          </a:p>
        </p:txBody>
      </p:sp>
      <p:sp>
        <p:nvSpPr>
          <p:cNvPr id="12" name="Rectangle 11"/>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Anna sieht ihre Fahrt über v_meine_ausleihe — begrenzt durch RLS auf ihre eigenen Zeilen.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Zusammenfassung und Ausblick</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fehlt noch, damit Annas Rad auch gewartet wird?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Sätze, die diese Einheit tragen</a:t>
            </a:r>
          </a:p>
        </p:txBody>
      </p:sp>
      <p:sp>
        <p:nvSpPr>
          <p:cNvPr id="3" name="Text Placeholder 2"/>
          <p:cNvSpPr>
            <a:spLocks noGrp="1"/>
          </p:cNvSpPr>
          <p:nvPr>
            <p:ph type="body" idx="12" sz="quarter"/>
          </p:nvPr>
        </p:nvSpPr>
        <p:spPr/>
        <p:txBody>
          <a:bodyPr/>
          <a:lstStyle/>
          <a:p>
            <a:r>
              <a:t>9 · Zusammenfassung</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Wenn Sie nichts anderes mitnehmen, dann diese sechs. Zu jedem sollten Sie ein Beispiel aus Annas Fahrt nennen können.</a:t>
            </a:r>
          </a:p>
        </p:txBody>
      </p:sp>
      <p:sp>
        <p:nvSpPr>
          <p:cNvPr id="6" name="Rectangle 5"/>
          <p:cNvSpPr/>
          <p:nvPr/>
        </p:nvSpPr>
        <p:spPr>
          <a:xfrm>
            <a:off x="1153160" y="22606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22606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387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23368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Reihenfolge  </a:t>
            </a:r>
            <a:r>
              <a:rPr sz="1300">
                <a:solidFill>
                  <a:srgbClr val="404040"/>
                </a:solidFill>
              </a:rPr>
              <a:t>Anforderungen vor Modell, Modell vor Relationen, Relationen vor DDL</a:t>
            </a:r>
          </a:p>
        </p:txBody>
      </p:sp>
      <p:sp>
        <p:nvSpPr>
          <p:cNvPr id="10" name="Rectangle 9"/>
          <p:cNvSpPr/>
          <p:nvPr/>
        </p:nvSpPr>
        <p:spPr>
          <a:xfrm>
            <a:off x="1153160" y="29083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9083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35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9845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Kardinalität  </a:t>
            </a:r>
            <a:r>
              <a:rPr sz="1300">
                <a:solidFill>
                  <a:srgbClr val="404040"/>
                </a:solidFill>
              </a:rPr>
              <a:t>ist eine fachliche Aussage, keine technische Festlegung</a:t>
            </a:r>
          </a:p>
        </p:txBody>
      </p:sp>
      <p:sp>
        <p:nvSpPr>
          <p:cNvPr id="14" name="Rectangle 13"/>
          <p:cNvSpPr/>
          <p:nvPr/>
        </p:nvSpPr>
        <p:spPr>
          <a:xfrm>
            <a:off x="1153160" y="35560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5560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683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6322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Normalform  </a:t>
            </a:r>
            <a:r>
              <a:rPr sz="1300">
                <a:solidFill>
                  <a:srgbClr val="404040"/>
                </a:solidFill>
              </a:rPr>
              <a:t>ist notwendig, aber nicht hinreichend</a:t>
            </a:r>
          </a:p>
        </p:txBody>
      </p:sp>
      <p:sp>
        <p:nvSpPr>
          <p:cNvPr id="18" name="Rectangle 17"/>
          <p:cNvSpPr/>
          <p:nvPr/>
        </p:nvSpPr>
        <p:spPr>
          <a:xfrm>
            <a:off x="1153160" y="42037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2037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33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2799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Constraint  </a:t>
            </a:r>
            <a:r>
              <a:rPr sz="1300">
                <a:solidFill>
                  <a:srgbClr val="404040"/>
                </a:solidFill>
              </a:rPr>
              <a:t>was nicht erzwungen wird, wird verletzt</a:t>
            </a:r>
          </a:p>
        </p:txBody>
      </p:sp>
      <p:sp>
        <p:nvSpPr>
          <p:cNvPr id="22" name="Rectangle 21"/>
          <p:cNvSpPr/>
          <p:nvPr/>
        </p:nvSpPr>
        <p:spPr>
          <a:xfrm>
            <a:off x="1153160" y="48514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8514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4978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276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Schutz  </a:t>
            </a:r>
            <a:r>
              <a:rPr sz="1300">
                <a:solidFill>
                  <a:srgbClr val="404040"/>
                </a:solidFill>
              </a:rPr>
              <a:t>liegt in der Datenbank, nie im Browser</a:t>
            </a:r>
          </a:p>
        </p:txBody>
      </p:sp>
      <p:sp>
        <p:nvSpPr>
          <p:cNvPr id="26" name="Rectangle 25"/>
          <p:cNvSpPr/>
          <p:nvPr/>
        </p:nvSpPr>
        <p:spPr>
          <a:xfrm>
            <a:off x="1153160" y="5499100"/>
            <a:ext cx="11474450" cy="584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1153160" y="5499100"/>
            <a:ext cx="508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1330960" y="5626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9" name="TextBox 28"/>
          <p:cNvSpPr txBox="1"/>
          <p:nvPr/>
        </p:nvSpPr>
        <p:spPr>
          <a:xfrm>
            <a:off x="1788160" y="5575300"/>
            <a:ext cx="10458450" cy="431800"/>
          </a:xfrm>
          <a:prstGeom prst="rect">
            <a:avLst/>
          </a:prstGeom>
          <a:noFill/>
        </p:spPr>
        <p:txBody>
          <a:bodyPr wrap="square" lIns="0" tIns="0" rIns="0" bIns="0" anchor="ctr">
            <a:spAutoFit/>
          </a:bodyPr>
          <a:lstStyle/>
          <a:p>
            <a:pPr>
              <a:lnSpc>
                <a:spcPct val="95000"/>
              </a:lnSpc>
            </a:pPr>
            <a:r>
              <a:rPr sz="1300" b="1">
                <a:solidFill>
                  <a:srgbClr val="003E6E"/>
                </a:solidFill>
              </a:rPr>
              <a:t>Nachweis  </a:t>
            </a:r>
            <a:r>
              <a:rPr sz="1300">
                <a:solidFill>
                  <a:srgbClr val="404040"/>
                </a:solidFill>
              </a:rPr>
              <a:t>Rechte werden geprüft, nicht angenommen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Warenwirtschaft hängt an denselben Entitäten</a:t>
            </a:r>
          </a:p>
        </p:txBody>
      </p:sp>
      <p:sp>
        <p:nvSpPr>
          <p:cNvPr id="3" name="Text Placeholder 2"/>
          <p:cNvSpPr>
            <a:spLocks noGrp="1"/>
          </p:cNvSpPr>
          <p:nvPr>
            <p:ph type="body" idx="12" sz="quarter"/>
          </p:nvPr>
        </p:nvSpPr>
        <p:spPr/>
        <p:txBody>
          <a:bodyPr/>
          <a:lstStyle/>
          <a:p>
            <a:r>
              <a:t>9 · Ausblick</a:t>
            </a:r>
          </a:p>
        </p:txBody>
      </p:sp>
      <p:sp>
        <p:nvSpPr>
          <p:cNvPr id="4" name="Text Placeholder 3"/>
          <p:cNvSpPr>
            <a:spLocks noGrp="1"/>
          </p:cNvSpPr>
          <p:nvPr>
            <p:ph type="body" idx="13" sz="quarter"/>
          </p:nvPr>
        </p:nvSpPr>
        <p:spPr/>
        <p:txBody>
          <a:bodyPr/>
          <a:lstStyle/>
          <a:p>
            <a:r>
              <a:t>Fallstudie VeloCity, Schema velocity auf supabase.butscher.cloud. Quellen und Diagramme im Repository unter doku/datenmodell/.</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Vier weitere Fachbereiche sind bereits entworfen — deshalb war es richtig, hersteller und fahrradmodell schon jetzt einzuziehen.</a:t>
            </a:r>
          </a:p>
        </p:txBody>
      </p:sp>
      <p:sp>
        <p:nvSpPr>
          <p:cNvPr id="6" name="Rectangle 5"/>
          <p:cNvSpPr/>
          <p:nvPr/>
        </p:nvSpPr>
        <p:spPr>
          <a:xfrm>
            <a:off x="3146645" y="1778000"/>
            <a:ext cx="7487478" cy="408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wawi-anschluss.png"/>
          <p:cNvPicPr>
            <a:picLocks noChangeAspect="1"/>
          </p:cNvPicPr>
          <p:nvPr/>
        </p:nvPicPr>
        <p:blipFill>
          <a:blip r:embed="rId2"/>
          <a:stretch>
            <a:fillRect/>
          </a:stretch>
        </p:blipFill>
        <p:spPr>
          <a:xfrm>
            <a:off x="3248245" y="1879600"/>
            <a:ext cx="7284278" cy="3886200"/>
          </a:xfrm>
          <a:prstGeom prst="rect">
            <a:avLst/>
          </a:prstGeom>
        </p:spPr>
      </p:pic>
      <p:sp>
        <p:nvSpPr>
          <p:cNvPr id="8" name="Rectangle 7"/>
          <p:cNvSpPr/>
          <p:nvPr/>
        </p:nvSpPr>
        <p:spPr>
          <a:xfrm>
            <a:off x="1153160" y="5842000"/>
            <a:ext cx="11474450" cy="431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5842000"/>
            <a:ext cx="50800" cy="4318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5892800"/>
            <a:ext cx="11068050" cy="330200"/>
          </a:xfrm>
          <a:prstGeom prst="rect">
            <a:avLst/>
          </a:prstGeom>
          <a:noFill/>
        </p:spPr>
        <p:txBody>
          <a:bodyPr wrap="square" lIns="0" tIns="0" rIns="0" bIns="0" anchor="ctr">
            <a:spAutoFit/>
          </a:bodyPr>
          <a:lstStyle/>
          <a:p>
            <a:pPr>
              <a:lnSpc>
                <a:spcPct val="95000"/>
              </a:lnSpc>
            </a:pPr>
            <a:r>
              <a:rPr sz="1300" b="1">
                <a:solidFill>
                  <a:srgbClr val="A32638"/>
                </a:solidFill>
              </a:rPr>
              <a:t>Annas Fahrt:  </a:t>
            </a:r>
            <a:r>
              <a:rPr sz="1300">
                <a:solidFill>
                  <a:srgbClr val="404040"/>
                </a:solidFill>
              </a:rPr>
              <a:t>Meldet Anna einen Defekt, entsteht daraus ein Wartungsauftrag und eine Lagerbewegung.</a:t>
            </a:r>
          </a:p>
        </p:txBody>
      </p:sp>
    </p:spTree>
  </p:cSld>
  <p:clrMapOvr>
    <a:masterClrMapping/>
  </p:clrMapOvr>
</p:sld>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2.xml><?xml version="1.0" encoding="utf-8"?>
<a:theme xmlns:a="http://schemas.openxmlformats.org/drawingml/2006/main" name="1_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Template.potx" id="{7D4CAB56-644B-4620-9DBD-B3DC4FAD0B62}" vid="{2FC5F2A7-6CC2-403A-823C-2B7F53869712}"/>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THWS_Template</Template>
  <TotalTime>0</TotalTime>
  <Words>30506</Words>
  <Application>Microsoft Macintosh PowerPoint</Application>
  <PresentationFormat>Benutzerdefiniert</PresentationFormat>
  <Paragraphs>3605</Paragraphs>
  <Slides>223</Slides>
  <Notes>187</Notes>
  <HiddenSlides>0</HiddenSlides>
  <MMClips>2</MMClips>
  <ScaleCrop>false</ScaleCrop>
  <HeadingPairs>
    <vt:vector size="8" baseType="variant">
      <vt:variant>
        <vt:lpstr>Verwendete Schriftarten</vt:lpstr>
      </vt:variant>
      <vt:variant>
        <vt:i4>20</vt:i4>
      </vt:variant>
      <vt:variant>
        <vt:lpstr>Design</vt:lpstr>
      </vt:variant>
      <vt:variant>
        <vt:i4>2</vt:i4>
      </vt:variant>
      <vt:variant>
        <vt:lpstr>Eingebettete OLE-Server</vt:lpstr>
      </vt:variant>
      <vt:variant>
        <vt:i4>1</vt:i4>
      </vt:variant>
      <vt:variant>
        <vt:lpstr>Folientitel</vt:lpstr>
      </vt:variant>
      <vt:variant>
        <vt:i4>223</vt:i4>
      </vt:variant>
    </vt:vector>
  </HeadingPairs>
  <TitlesOfParts>
    <vt:vector size="246" baseType="lpstr">
      <vt:lpstr>Lucida Bright</vt:lpstr>
      <vt:lpstr>League Spartan</vt:lpstr>
      <vt:lpstr>GT Planar Medium</vt:lpstr>
      <vt:lpstr>Segoe UI</vt:lpstr>
      <vt:lpstr>Aptos</vt:lpstr>
      <vt:lpstr>Arial Narrow</vt:lpstr>
      <vt:lpstr>Verdana</vt:lpstr>
      <vt:lpstr>Courier New</vt:lpstr>
      <vt:lpstr>Arial</vt:lpstr>
      <vt:lpstr>Wingdings</vt:lpstr>
      <vt:lpstr>Segoe UI Light</vt:lpstr>
      <vt:lpstr>Cambria Math</vt:lpstr>
      <vt:lpstr>Wingdings 2</vt:lpstr>
      <vt:lpstr>Calibri</vt:lpstr>
      <vt:lpstr>Arial Black</vt:lpstr>
      <vt:lpstr>Segoe Script</vt:lpstr>
      <vt:lpstr>Segoe UI Black</vt:lpstr>
      <vt:lpstr>Garamond</vt:lpstr>
      <vt:lpstr>GT Planar Light</vt:lpstr>
      <vt:lpstr>Chalkboy</vt:lpstr>
      <vt:lpstr>Charts</vt:lpstr>
      <vt:lpstr>1_Charts</vt:lpstr>
      <vt:lpstr>think-cell Folie</vt:lpstr>
      <vt:lpstr>PowerPoint-Präsentation</vt:lpstr>
      <vt:lpstr>PowerPoint-Präsentation</vt:lpstr>
      <vt:lpstr>Vorwort</vt:lpstr>
      <vt:lpstr>Über mich</vt:lpstr>
      <vt:lpstr>Literaturempfehlungen (Auswahl)</vt:lpstr>
      <vt:lpstr>Literaturempfehlungen (Auswahl)</vt:lpstr>
      <vt:lpstr>Literaturempfehlungen (Auswahl)</vt:lpstr>
      <vt:lpstr>Literaturempfehlungen (Auswahl)</vt:lpstr>
      <vt:lpstr>Literaturempfehlungen (Auswahl)</vt:lpstr>
      <vt:lpstr>Themenfelder von Business Intelligence </vt:lpstr>
      <vt:lpstr>Inhalte (Auswahl)</vt:lpstr>
      <vt:lpstr>Lernziele (Auswahl)</vt:lpstr>
      <vt:lpstr>Berührungspunkte zwischen den Veranstaltungen BINT und DABA ("Datenbanken")</vt:lpstr>
      <vt:lpstr>Inhaltsverzeichnis</vt:lpstr>
      <vt:lpstr>Einstieg und Motivation</vt:lpstr>
      <vt:lpstr>Business Intelligence | Hinführung</vt:lpstr>
      <vt:lpstr>Business Intelligence | Wortzerlegung und -bedeutung</vt:lpstr>
      <vt:lpstr>Begriffswirrwarr im Kontext von Business Intelligence  </vt:lpstr>
      <vt:lpstr>Vorabbemerkung und Motivation</vt:lpstr>
      <vt:lpstr>Google Trends | Entwicklung der Suchbegriffe zu "BI", "BA" und "DS" | 2004..2024 | Weltweit</vt:lpstr>
      <vt:lpstr>Assoziationen im Kontext mit "Business Intelligence"</vt:lpstr>
      <vt:lpstr>Treiber und Motivation für Business Intelligence (Auswahl) </vt:lpstr>
      <vt:lpstr>Motivation zum Speichern von Daten in Unternehmen | 2022</vt:lpstr>
      <vt:lpstr>Analytische Dimension | Potenziale im Allgemeinen (Auswahl)</vt:lpstr>
      <vt:lpstr>Spannweite | Nutzung von Daten und deren Monetarisierung</vt:lpstr>
      <vt:lpstr>Digitale Transformation (und potenzielle Einsatzgebiete von BI) | "Big Picture" nach Holger Schmidt</vt:lpstr>
      <vt:lpstr>"Virtuos cycle of data, AI and digital transformation" als "Perpetuum mobile"</vt:lpstr>
      <vt:lpstr>Exkurs | Digitalisierung als Oberbegriff | Zusammensetzung</vt:lpstr>
      <vt:lpstr>Berührungspunkte von Business Intelligence zu anderen Bereichen (Auswahl)</vt:lpstr>
      <vt:lpstr>BARC: Data, BI and Analytics Trend Monitor 2023 | n = 1.823 befragte Personen</vt:lpstr>
      <vt:lpstr>Weltweiter Umsatz mit BI-Software | 2016 bis 2028 (*Prognose) | Werte in Mrd. EUR</vt:lpstr>
      <vt:lpstr>Links: Hersteller von BI-Software nach Marktanteilen (2021) | Gartner's Magic Quadrant…</vt:lpstr>
      <vt:lpstr>Use Case "Superstore Sales" | BI-Auswertungen im Zusammenspiel mit ChatGPT</vt:lpstr>
      <vt:lpstr>Exkurs | Der wahre Nutzen generativer KI 😉 </vt:lpstr>
      <vt:lpstr>Exkurs | Zeitraum in Tagen, die online-Dienste für eine Million Nutzer:innen benötigt haben</vt:lpstr>
      <vt:lpstr>Use Case | BI-Auswertungen im Zusammenspiel mit ChatGPT | Auswahl an Forschungsfragen</vt:lpstr>
      <vt:lpstr>Use Case | BI-Auswertungen im Zusammenspiel mit ChatGPT | Generische BI-/ Analytics-Architektur</vt:lpstr>
      <vt:lpstr>Use Case | Typische BI-Fragestellungen (Auswahl) und Datensatz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Cases | Struktur des Datensatzes für den Anwendungsfall (Musterdaten)</vt:lpstr>
      <vt:lpstr>Use Case | BI-Auswertungen im Zusammenspiel mit ChatGPT | Fazit (Auswahl)</vt:lpstr>
      <vt:lpstr>Diskussion </vt:lpstr>
      <vt:lpstr>Diskussion</vt:lpstr>
      <vt:lpstr>Exkurs | The economic potential of generative AI | Studie von McKinsey &amp; Company (2023)</vt:lpstr>
      <vt:lpstr>Diskussion | Future Skills im Kontext von KI (Auswahl)</vt:lpstr>
      <vt:lpstr>Interview mit Jensen Huang, Founder and CEO of NVIDIA</vt:lpstr>
      <vt:lpstr>Aussage 1: "[…] such nobody has to program […]" (Jensen Huang)</vt:lpstr>
      <vt:lpstr>Aussage 2: "[…] everybody in the world is now a programmer […]" (Jensen Huang)</vt:lpstr>
      <vt:lpstr>Diskussion | Einsatzgebiete von ChatGPT bzw. generativer KI</vt:lpstr>
      <vt:lpstr>Programmierfähigkeiten | Diskussion</vt:lpstr>
      <vt:lpstr>BI-Auswertungen im Zusammenspiel mit generativer KI | Diskussionspunkte</vt:lpstr>
      <vt:lpstr>Diskussion | Will AI fix work? (Microsoft) | Diskussion</vt:lpstr>
      <vt:lpstr>Diskussion</vt:lpstr>
      <vt:lpstr>Diskussion</vt:lpstr>
      <vt:lpstr>Exkurs | Diskussion anhand der 10 Thesen für einen Berufsstand im Wandel </vt:lpstr>
      <vt:lpstr>Diskussion</vt:lpstr>
      <vt:lpstr>Diskussion</vt:lpstr>
      <vt:lpstr>Grundlagen und Definitionen</vt:lpstr>
      <vt:lpstr>Business Intelligence (BI) und weitere Begriffe im Umfeld von Analytics</vt:lpstr>
      <vt:lpstr>Überblick | Overview of buzzwords in the data and AI sphere</vt:lpstr>
      <vt:lpstr>Historische Entwicklung analytischer Anwendungen</vt:lpstr>
      <vt:lpstr>Historische Entwicklung analytischer Anwendungen</vt:lpstr>
      <vt:lpstr>Entwicklung analytischer Informationssysteme: 1960-er Jahre (Management-Informations-System)</vt:lpstr>
      <vt:lpstr>Entwicklung analytischer Informationssysteme: 1960-er Jahre (Management-Informations-System)</vt:lpstr>
      <vt:lpstr>Entwicklung analytischer Informationssysteme: 1970-er Jahre (Decision Support System)</vt:lpstr>
      <vt:lpstr>Entwicklung analytischer Informationssysteme: 1980-er Jahre (Executive-Information-System)</vt:lpstr>
      <vt:lpstr>Schlagworte im BI-Umfeld ab den 1990er-Jahren</vt:lpstr>
      <vt:lpstr>Entwicklung analytischer Informationssysteme: ab 1990-er Jahre (Data Warehouse)</vt:lpstr>
      <vt:lpstr>Schlagworte im BI-Umfeld ab den 2000er-Jahren</vt:lpstr>
      <vt:lpstr>Entwicklung der analytischen Informationssysteme: ab 1990-er Jahre (Begriff BI kommt auf)</vt:lpstr>
      <vt:lpstr>Entwicklung analytischer Informationssysteme: ab 1990-er Jahre (BI als Sammelbegriff)</vt:lpstr>
      <vt:lpstr>Schlagworte im BI-Umfeld ab den 2010er-Jahren bis heute (2020)</vt:lpstr>
      <vt:lpstr>Business Intelligence | Spannweite der Definitionsansätze</vt:lpstr>
      <vt:lpstr>Business Intelligence | Spannweite der Definitionsansätze</vt:lpstr>
      <vt:lpstr>Exkurs | Beitrag von Informationssystemen zur Erreichung betrieblicher Ziele</vt:lpstr>
      <vt:lpstr>Ziele und Aufgaben eines Informationssystems (Auswahl)</vt:lpstr>
      <vt:lpstr>BI als spezielle Klasse von Informationssystemen | Arten betrieblicher Informationssysteme</vt:lpstr>
      <vt:lpstr>BI als spezielle Klasse von Informationssystemen | Arten betrieblicher Informationssysteme</vt:lpstr>
      <vt:lpstr>BI als spezielle Klasse von Informationssystemen | Arten betrieblicher Informationssysteme</vt:lpstr>
      <vt:lpstr>Evolution of enterprise data | Evolution of data technology over time</vt:lpstr>
      <vt:lpstr>Abgrenzung zwischen operativen und entscheidungsorientierten/ analytischen Daten</vt:lpstr>
      <vt:lpstr>Business Intelligence | Spannweite der Definitionsansätze</vt:lpstr>
      <vt:lpstr>Business Intelligence | Übersicht ausgewählter Definitionsansätze</vt:lpstr>
      <vt:lpstr>Business Intelligence | Definitionsansatz nach Howard Dresner</vt:lpstr>
      <vt:lpstr>Business Intelligence | Business Intelligence Platforms &amp; Business Intelligence Services | Gartner</vt:lpstr>
      <vt:lpstr>Business Intelligence | Business Intelligence | Forrester</vt:lpstr>
      <vt:lpstr>Business Intelligence | Definitionsansatz nach Adis Terzić</vt:lpstr>
      <vt:lpstr>Business Intelligence | Definitionsansatz nach Dietmar Schön</vt:lpstr>
      <vt:lpstr>Exkurs | Management | PDCA-Zyklus (nach Shewhart und Deming)</vt:lpstr>
      <vt:lpstr>PDCA-Managementregelkreis im Zusammenhang mit der Datenanalyse nach Schön</vt:lpstr>
      <vt:lpstr>Konzept der integrierten Unternehmensplanung | BI und Performance Management im Zusammenspiel</vt:lpstr>
      <vt:lpstr>Exkurs | Generische Prozesse in Unternehmen oder Wertschöpfungsnetzwerken</vt:lpstr>
      <vt:lpstr>Exkurs | Generische Prozesse in Unternehmen oder Wertschöpfungsnetzwerken</vt:lpstr>
      <vt:lpstr>Exkurs | Digitalisierung  Prozesse  Analytik</vt:lpstr>
      <vt:lpstr>Exkurs | Digitalisierung  Prozesse</vt:lpstr>
      <vt:lpstr>Exkurs | Digitalisierung  Prozesse | Wirkungszusammenhang</vt:lpstr>
      <vt:lpstr>Business Intelligence als Prozess und unternehmerischer Gesamtansatz | Arbeitsdefinition</vt:lpstr>
      <vt:lpstr>Business Intelligence als Prozess | Arbeitsdefinition und Zielsetzung </vt:lpstr>
      <vt:lpstr>Studie zur Nutzung von Daten nach Datenarten und -kategorien (2016) | Bitkom und KPMG</vt:lpstr>
      <vt:lpstr>Treiber für das (massenhafte) Datenaufkommen bzw. für "Datafication" (Auswahl)</vt:lpstr>
      <vt:lpstr>Business Intelligence als Prozess | Arbeitsdefinition und Zielsetzung</vt:lpstr>
      <vt:lpstr>Business Intelligence als Prozess | Arbeitsdefinition und (erweiterte) Zielsetzung</vt:lpstr>
      <vt:lpstr>Business Intelligence als Prozess | Arbeitsdefinition und (erweiterte) Zielsetzung</vt:lpstr>
      <vt:lpstr>Business Intelligence als Prozess am Beispiel einer Supermarkt-Kette</vt:lpstr>
      <vt:lpstr>Business Intelligence als Prozess am Beispiel einer Supermarkt-Kette</vt:lpstr>
      <vt:lpstr>Aufbereitung | Arten von Analysen zur Informationsgenerierung</vt:lpstr>
      <vt:lpstr>Praxisbeispiele für BI-Aufbereitungen</vt:lpstr>
      <vt:lpstr>Praxisbeispiele für BI-Aufbereitungen | Dashboard</vt:lpstr>
      <vt:lpstr>Praxisbeispiele für BI-Aufbereitungen | Dashboard (diesmal kein Business-Kontext)</vt:lpstr>
      <vt:lpstr>Business Intelligence als ein Input unter mehreren für die Entscheidungsfindung </vt:lpstr>
      <vt:lpstr>Business Intelligence | Spannweite der Definitionsansätze</vt:lpstr>
      <vt:lpstr>Business Intelligence zur Unterstützung des Managementregelkreises</vt:lpstr>
      <vt:lpstr>Einsatzfeld analytischer Informationssysteme | BI als integrierter Gesamtansatz</vt:lpstr>
      <vt:lpstr>Einsatzfeld analytischer Informationssysteme | BI als integrierter Gesamtansatz</vt:lpstr>
      <vt:lpstr>Die operative und analytische Dimension von Daten</vt:lpstr>
      <vt:lpstr>Die operative und analytische Dimension von Daten</vt:lpstr>
      <vt:lpstr>Zur operativen und analytischen Dimension gesellt sich noch die strategische hinzu</vt:lpstr>
      <vt:lpstr>BI als integrierter Gesamtansatz und als Ordnungsrahmen | Beispiel Wertschöpfungskette im E-Business</vt:lpstr>
      <vt:lpstr>BI als integrierter Gesamtansatz und als Ordnungsrahmen</vt:lpstr>
      <vt:lpstr>BI als integrierter Gesamtansatz und Ordnungsrahmen | Beispiel einer technischen Umsetzung </vt:lpstr>
      <vt:lpstr>BI als integrierter Gesamtansatz und Ordnungsrahmen | Beispiel einer technischen Umsetzung </vt:lpstr>
      <vt:lpstr>Perspektiven einer Business-Intelligence-Strategie (Auswahl)</vt:lpstr>
      <vt:lpstr>Nutzen und Einsatzfelder</vt:lpstr>
      <vt:lpstr>Analytische Dimension | Potenzielle Wettbewerbsvorteile (Auswahl)</vt:lpstr>
      <vt:lpstr>Auswahl an Einsatzfeldern für BI und Analysemöglichkeiten (Auswahl)</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Einsatzfelder von Business Intelligence (Auswahl) | Am Beispiel einer Supermarkt-Kette</vt:lpstr>
      <vt:lpstr>Nutzen von Business Intelligence (BI) | Schematische Darstellung</vt:lpstr>
      <vt:lpstr>Nutzen von Business Intelligence (BI) | Schematische Darstellung</vt:lpstr>
      <vt:lpstr>Nutzen von Business Intelligence | Beispiele</vt:lpstr>
      <vt:lpstr>Nutzen von Business Intelligence | Kategorisierung</vt:lpstr>
      <vt:lpstr>Nutzen von Business Intelligence | Sammlung von "Werbeversprechen" (Auswahl)</vt:lpstr>
      <vt:lpstr>Nutzen von Datenanalyse im Generellen | Werbefilm der IBM™, aber keine Werbung 😉</vt:lpstr>
      <vt:lpstr>Job Profile | Business Intelligence und Data Science am Beispiel Flaschenpost.de </vt:lpstr>
      <vt:lpstr>Stellenannonce "Senior Analyst (m/w/d)" am Beispiel Flaschenpost.de </vt:lpstr>
      <vt:lpstr>Stellenannonce "Senior Analyst (m/w/d)" am Beispiel Flaschenpost.de </vt:lpstr>
      <vt:lpstr>Business Intelligence im Kontext mit anderen Analytics-Begriffen</vt:lpstr>
      <vt:lpstr>Überblick | Overview of buzzwords in the data and AI sphere</vt:lpstr>
      <vt:lpstr>Knowledge Discovery in Databases (KDD) | Definition</vt:lpstr>
      <vt:lpstr>Knowledge Discovery in Databases (KDD) | Überblick der Einzelschritte mit Fokus auf "Data-Mining"</vt:lpstr>
      <vt:lpstr>Knowledge Discovery in Databases (KDD) | Prozessschritt "Data-Mining"</vt:lpstr>
      <vt:lpstr>Knowledge Discovery in Databases (KDD) | Prozessschritt "Data-Mining"</vt:lpstr>
      <vt:lpstr>Data-Mining | Zwei Dimensionen in der Bedeutung</vt:lpstr>
      <vt:lpstr>Data-Mining | Definition nach Fayyad et al. (1996)</vt:lpstr>
      <vt:lpstr>Data-Mining | Definition nach Roiger (2017)</vt:lpstr>
      <vt:lpstr>Data-Mining | "Datenmustererkennung"</vt:lpstr>
      <vt:lpstr>Data-Mining | Grundsätzliche Unterscheidung in zwei Klassen </vt:lpstr>
      <vt:lpstr>Data-Mining | Charakterisierung und Aufgabenfelder (Auswahl) </vt:lpstr>
      <vt:lpstr>Data-Mining | Verschiedene Arten von "Machine Learning"</vt:lpstr>
      <vt:lpstr>Data-Mining | Unterschiede zwischen Klassifikation und Clustering (Auswahl)</vt:lpstr>
      <vt:lpstr>Data-Mining | Charakterisierung und Aufgabenfelder (Auswahl) </vt:lpstr>
      <vt:lpstr>Data-Mining | Aufgabenfelder, Anwendungsfelder und Verfahren/ Algorithmen (Auswahl)</vt:lpstr>
      <vt:lpstr>Einordnung und Verständnisweisen von Business Intelligence </vt:lpstr>
      <vt:lpstr>Unterschiede zwischen "Reporting", "multidimensionaler Analyse" und "Data Mining"</vt:lpstr>
      <vt:lpstr>Überblick | Overview of buzzwords in the data and AI sphere</vt:lpstr>
      <vt:lpstr>Data Science | Definitionsansatz</vt:lpstr>
      <vt:lpstr>PowerPoint-Präsentation</vt:lpstr>
      <vt:lpstr>PowerPoint-Präsentation</vt:lpstr>
      <vt:lpstr>Data Science | (Typical) selected Data Science tasks and examples </vt:lpstr>
      <vt:lpstr>Data Science | Berührungspunkte zu anderen Disziplinen</vt:lpstr>
      <vt:lpstr>Überblick | Overview of buzzwords in the data and AI sphere</vt:lpstr>
      <vt:lpstr>Business Analytics | Definitionsansatz nach Gartner</vt:lpstr>
      <vt:lpstr>Business Analytics | Definitionsansatz nach Gartner</vt:lpstr>
      <vt:lpstr>Business Analytics | Definition und Verständnis von "Analytics" </vt:lpstr>
      <vt:lpstr>Business Analytics | Herleitung einer Arbeitsdefinition </vt:lpstr>
      <vt:lpstr>Business Analytics | Arbeitsdefinition </vt:lpstr>
      <vt:lpstr>Business Analytics | Evolutionsstufen und Charakteristika </vt:lpstr>
      <vt:lpstr>Berührungspunkte zwischen Business Intelligence und Business Analytics </vt:lpstr>
      <vt:lpstr>Überschneidungen zwischen "Business Intelligence" und "Business Analytics" </vt:lpstr>
      <vt:lpstr>Verschiedene Formen der Analyse aus zeitlicher Perspektive</vt:lpstr>
      <vt:lpstr>"Business Analytics" mit seinen Abstufungen (nach AT Kearney)</vt:lpstr>
      <vt:lpstr>Verständnis und Dimensionen von "Business Analytics (BA)" | Kategorien von Definitionen</vt:lpstr>
      <vt:lpstr>Überblick | Overview of buzzwords in the data and AI sphere</vt:lpstr>
      <vt:lpstr>Exkurs | Kategorisierung von Big-Data-Definitionen</vt:lpstr>
      <vt:lpstr>Exkurs | Big Data | Die "klassischen" drei Vs</vt:lpstr>
      <vt:lpstr>Exkurs | Taxonomie von Big-Data-Systemen</vt:lpstr>
      <vt:lpstr>Daten | Unterteilt nach Aufkommen und Menge</vt:lpstr>
      <vt:lpstr>Unterschiede zwischen "Non Big Data" und "Big Data"</vt:lpstr>
      <vt:lpstr>Big Data | Die "klassischen" drei Vs | Merkmal "Volume"</vt:lpstr>
      <vt:lpstr>Big Data | Das Wachstum des weltweiten Datenvolumens</vt:lpstr>
      <vt:lpstr>Big Data | Die "klassischen" drei Vs | Merkmal "Velocity"</vt:lpstr>
      <vt:lpstr>Big Data | Die "klassischen" drei Vs | Merkmal "Velocity"</vt:lpstr>
      <vt:lpstr>Big Data | Die "klassischen" drei Vs | Merkmal "Variety"</vt:lpstr>
      <vt:lpstr>Berührungspunkte zwischen "Big Data" und "Business Intelligence"</vt:lpstr>
      <vt:lpstr>Big Data | Die "klassischen" drei Vs und weitere Vs (Auswahl)</vt:lpstr>
      <vt:lpstr>Big Data | Merkmal "Veracity"</vt:lpstr>
      <vt:lpstr>Big Data | Merkmal "Value"</vt:lpstr>
      <vt:lpstr>Big Data | Merkmal "Validity"</vt:lpstr>
      <vt:lpstr>Big Data | Merkmale "Variability", "Volatility", "Visualization" &amp; "Vulnerability"</vt:lpstr>
      <vt:lpstr>Big Data | Beispiele für "Vulnerability": "World's Biggest Data Breaches &amp; Hacks" </vt:lpstr>
      <vt:lpstr>Big Data | Verständnis von Daten im Kontext von Big Data</vt:lpstr>
      <vt:lpstr>Big Data | Beispiel | Ursprünglichkeit von Daten am Beispiel minutengenauer Aktienkurse</vt:lpstr>
      <vt:lpstr>Big Data | Big Data resultiert aus…</vt:lpstr>
      <vt:lpstr>Big Data | Mooresches Gesetz als Treiber</vt:lpstr>
      <vt:lpstr>Big Data | Mobile Computing"/ "Ubiquitous Computing als Treiber</vt:lpstr>
      <vt:lpstr>Big Data | Social Networking bzw. Social Media als Treiber</vt:lpstr>
      <vt:lpstr>Big Data | Cloud-Computing als Treiber</vt:lpstr>
      <vt:lpstr>Big Data | Folgen</vt:lpstr>
      <vt:lpstr>Big Data | Diskussion</vt:lpstr>
      <vt:lpstr>Gegenüberstellung von "Business Intelligence", "Big Data (Analytics)" und "Data-Mining"</vt:lpstr>
      <vt:lpstr>Anwendungen im Bereich "Künstlicher Intelligenz" | Einordnung und Anknüpfungspunkte </vt:lpstr>
      <vt:lpstr>Facetten der Künstlichen Intelligenz</vt:lpstr>
      <vt:lpstr>Facetten der Künstlichen Intelligenz</vt:lpstr>
      <vt:lpstr>Facetten und Anwendungsbereiche Maschinellen Lernens</vt:lpstr>
      <vt:lpstr>Grundsätzliche Funktionsweise</vt:lpstr>
      <vt:lpstr>KI-basierte Entscheidungen "Computer sagt Nein"</vt:lpstr>
      <vt:lpstr>Facetten der Künstlichen Intelligenz</vt:lpstr>
      <vt:lpstr>Künstliche Intelligenz ("Artificial Intelligence") | Definitionsansatz</vt:lpstr>
      <vt:lpstr>Fazit | (Vorschlag einer) Systematisierung und Verständnis in der Lehrveranstaltung</vt:lpstr>
      <vt:lpstr>Kontrollfragen</vt:lpstr>
      <vt:lpstr>Kontrollfragen</vt:lpstr>
      <vt:lpstr>Kontrollfragen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Robert Butscher</dc:creator>
  <cp:lastModifiedBy>Robert Butscher</cp:lastModifiedBy>
  <cp:revision>1</cp:revision>
  <dcterms:created xsi:type="dcterms:W3CDTF">2023-09-30T09:34:49Z</dcterms:created>
  <dcterms:modified xsi:type="dcterms:W3CDTF">2026-04-04T09:53:24Z</dcterms:modified>
</cp:coreProperties>
</file>