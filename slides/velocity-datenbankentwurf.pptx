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media/image10.svg" ContentType="image/svg+xml"/>
  <Override PartName="/ppt/media/image4.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74" r:id="rId2"/>
  </p:sldMasterIdLst>
  <p:notesMasterIdLst>
    <p:notesMasterId r:id="rId226"/>
  </p:notesMasterIdLst>
  <p:sldIdLst>
    <p:sldId id="256" r:id="rId43"/>
    <p:sldId id="257" r:id="rId44"/>
    <p:sldId id="258" r:id="rId45"/>
    <p:sldId id="259" r:id="rId46"/>
    <p:sldId id="260" r:id="rId47"/>
    <p:sldId id="261" r:id="rId48"/>
    <p:sldId id="262" r:id="rId49"/>
    <p:sldId id="263" r:id="rId50"/>
    <p:sldId id="264" r:id="rId51"/>
    <p:sldId id="265" r:id="rId52"/>
    <p:sldId id="266" r:id="rId53"/>
    <p:sldId id="267" r:id="rId54"/>
    <p:sldId id="268" r:id="rId55"/>
    <p:sldId id="269" r:id="rId56"/>
    <p:sldId id="270" r:id="rId57"/>
    <p:sldId id="271" r:id="rId58"/>
    <p:sldId id="272" r:id="rId59"/>
    <p:sldId id="273" r:id="rId60"/>
    <p:sldId id="274" r:id="rId61"/>
    <p:sldId id="275" r:id="rId62"/>
    <p:sldId id="276" r:id="rId63"/>
    <p:sldId id="277" r:id="rId64"/>
    <p:sldId id="278" r:id="rId65"/>
    <p:sldId id="279" r:id="rId66"/>
    <p:sldId id="280" r:id="rId67"/>
    <p:sldId id="281" r:id="rId68"/>
    <p:sldId id="282" r:id="rId69"/>
    <p:sldId id="283" r:id="rId70"/>
    <p:sldId id="284" r:id="rId71"/>
    <p:sldId id="285" r:id="rId72"/>
    <p:sldId id="286" r:id="rId73"/>
    <p:sldId id="287" r:id="rId74"/>
    <p:sldId id="288" r:id="rId75"/>
    <p:sldId id="289" r:id="rId76"/>
    <p:sldId id="290" r:id="rId77"/>
    <p:sldId id="291" r:id="rId78"/>
    <p:sldId id="292" r:id="rId79"/>
    <p:sldId id="293" r:id="rId80"/>
    <p:sldId id="294" r:id="rId81"/>
    <p:sldId id="295" r:id="rId82"/>
    <p:sldId id="296" r:id="rId83"/>
    <p:sldId id="297" r:id="rId84"/>
    <p:sldId id="298" r:id="rId85"/>
  </p:sldIdLst>
  <p:sldSz cx="13004800" cy="7315200"/>
  <p:notesSz cx="6858000" cy="9144000"/>
  <p:embeddedFontLst>
    <p:embeddedFont>
      <p:font typeface="Arial Black" panose="020B0604020202020204" pitchFamily="34" charset="0"/>
      <p:bold r:id="rId227"/>
    </p:embeddedFont>
    <p:embeddedFont>
      <p:font typeface="Arial Narrow" panose="020B0604020202020204" pitchFamily="34" charset="0"/>
      <p:regular r:id="rId228"/>
      <p:bold r:id="rId229"/>
      <p:italic r:id="rId230"/>
      <p:boldItalic r:id="rId231"/>
    </p:embeddedFont>
    <p:embeddedFont>
      <p:font typeface="Cambria Math" panose="02040503050406030204" pitchFamily="18" charset="0"/>
      <p:regular r:id="rId232"/>
    </p:embeddedFont>
    <p:embeddedFont>
      <p:font typeface="Chalkboy" pitchFamily="2" charset="0"/>
      <p:regular r:id="rId233"/>
    </p:embeddedFont>
    <p:embeddedFont>
      <p:font typeface="Garamond" panose="02020404030301010803" pitchFamily="18" charset="0"/>
      <p:regular r:id="rId234"/>
      <p:bold r:id="rId235"/>
      <p:italic r:id="rId236"/>
      <p:boldItalic r:id="rId237"/>
    </p:embeddedFont>
    <p:embeddedFont>
      <p:font typeface="GT Planar Light" pitchFamily="2" charset="77"/>
      <p:regular r:id="rId238"/>
    </p:embeddedFont>
    <p:embeddedFont>
      <p:font typeface="GT Planar Medium" pitchFamily="2" charset="77"/>
      <p:regular r:id="rId239"/>
    </p:embeddedFont>
    <p:embeddedFont>
      <p:font typeface="Lucida Bright" panose="02040602050505020304" pitchFamily="18" charset="77"/>
      <p:regular r:id="rId240"/>
      <p:bold r:id="rId241"/>
      <p:italic r:id="rId242"/>
      <p:boldItalic r:id="rId243"/>
    </p:embeddedFont>
    <p:embeddedFont>
      <p:font typeface="Segoe Script" panose="020B0804020000000003" pitchFamily="34" charset="0"/>
      <p:regular r:id="rId244"/>
      <p:bold r:id="rId245"/>
    </p:embeddedFont>
    <p:embeddedFont>
      <p:font typeface="Segoe UI" panose="020B0502040204020203" pitchFamily="34" charset="0"/>
      <p:regular r:id="rId246"/>
      <p:bold r:id="rId247"/>
      <p:italic r:id="rId248"/>
      <p:boldItalic r:id="rId249"/>
    </p:embeddedFont>
    <p:embeddedFont>
      <p:font typeface="Segoe UI Black" panose="020B0A02040204020203" pitchFamily="34" charset="0"/>
      <p:bold r:id="rId250"/>
      <p:italic r:id="rId251"/>
      <p:boldItalic r:id="rId252"/>
    </p:embeddedFont>
    <p:embeddedFont>
      <p:font typeface="Segoe UI Light" panose="020B0502040204020203" pitchFamily="34" charset="0"/>
      <p:regular r:id="rId253"/>
      <p:italic r:id="rId254"/>
    </p:embeddedFont>
    <p:embeddedFont>
      <p:font typeface="Verdana" panose="020B0604030504040204" pitchFamily="34" charset="0"/>
      <p:regular r:id="rId255"/>
      <p:bold r:id="rId256"/>
      <p:italic r:id="rId257"/>
      <p:boldItalic r:id="rId258"/>
    </p:embeddedFont>
    <p:embeddedFont>
      <p:font typeface="Wingdings 2" pitchFamily="2" charset="2"/>
      <p:regular r:id="rId259"/>
    </p:embeddedFont>
  </p:embeddedFontLst>
  <p:defaultTextStyle>
    <a:defPPr>
      <a:defRPr lang="de-DE"/>
    </a:defPPr>
    <a:lvl1pPr marL="0" algn="l" defTabSz="975299" rtl="0" eaLnBrk="1" latinLnBrk="0" hangingPunct="1">
      <a:defRPr sz="1920" kern="1200">
        <a:solidFill>
          <a:schemeClr val="tx1"/>
        </a:solidFill>
        <a:latin typeface="+mn-lt"/>
        <a:ea typeface="+mn-ea"/>
        <a:cs typeface="+mn-cs"/>
      </a:defRPr>
    </a:lvl1pPr>
    <a:lvl2pPr marL="487650" algn="l" defTabSz="975299" rtl="0" eaLnBrk="1" latinLnBrk="0" hangingPunct="1">
      <a:defRPr sz="1920" kern="1200">
        <a:solidFill>
          <a:schemeClr val="tx1"/>
        </a:solidFill>
        <a:latin typeface="+mn-lt"/>
        <a:ea typeface="+mn-ea"/>
        <a:cs typeface="+mn-cs"/>
      </a:defRPr>
    </a:lvl2pPr>
    <a:lvl3pPr marL="975299" algn="l" defTabSz="975299" rtl="0" eaLnBrk="1" latinLnBrk="0" hangingPunct="1">
      <a:defRPr sz="1920" kern="1200">
        <a:solidFill>
          <a:schemeClr val="tx1"/>
        </a:solidFill>
        <a:latin typeface="+mn-lt"/>
        <a:ea typeface="+mn-ea"/>
        <a:cs typeface="+mn-cs"/>
      </a:defRPr>
    </a:lvl3pPr>
    <a:lvl4pPr marL="1462949" algn="l" defTabSz="975299" rtl="0" eaLnBrk="1" latinLnBrk="0" hangingPunct="1">
      <a:defRPr sz="1920" kern="1200">
        <a:solidFill>
          <a:schemeClr val="tx1"/>
        </a:solidFill>
        <a:latin typeface="+mn-lt"/>
        <a:ea typeface="+mn-ea"/>
        <a:cs typeface="+mn-cs"/>
      </a:defRPr>
    </a:lvl4pPr>
    <a:lvl5pPr marL="1950598" algn="l" defTabSz="975299" rtl="0" eaLnBrk="1" latinLnBrk="0" hangingPunct="1">
      <a:defRPr sz="1920" kern="1200">
        <a:solidFill>
          <a:schemeClr val="tx1"/>
        </a:solidFill>
        <a:latin typeface="+mn-lt"/>
        <a:ea typeface="+mn-ea"/>
        <a:cs typeface="+mn-cs"/>
      </a:defRPr>
    </a:lvl5pPr>
    <a:lvl6pPr marL="2438248" algn="l" defTabSz="975299" rtl="0" eaLnBrk="1" latinLnBrk="0" hangingPunct="1">
      <a:defRPr sz="1920" kern="1200">
        <a:solidFill>
          <a:schemeClr val="tx1"/>
        </a:solidFill>
        <a:latin typeface="+mn-lt"/>
        <a:ea typeface="+mn-ea"/>
        <a:cs typeface="+mn-cs"/>
      </a:defRPr>
    </a:lvl6pPr>
    <a:lvl7pPr marL="2925897" algn="l" defTabSz="975299" rtl="0" eaLnBrk="1" latinLnBrk="0" hangingPunct="1">
      <a:defRPr sz="1920" kern="1200">
        <a:solidFill>
          <a:schemeClr val="tx1"/>
        </a:solidFill>
        <a:latin typeface="+mn-lt"/>
        <a:ea typeface="+mn-ea"/>
        <a:cs typeface="+mn-cs"/>
      </a:defRPr>
    </a:lvl7pPr>
    <a:lvl8pPr marL="3413547" algn="l" defTabSz="975299" rtl="0" eaLnBrk="1" latinLnBrk="0" hangingPunct="1">
      <a:defRPr sz="1920" kern="1200">
        <a:solidFill>
          <a:schemeClr val="tx1"/>
        </a:solidFill>
        <a:latin typeface="+mn-lt"/>
        <a:ea typeface="+mn-ea"/>
        <a:cs typeface="+mn-cs"/>
      </a:defRPr>
    </a:lvl8pPr>
    <a:lvl9pPr marL="3901196" algn="l" defTabSz="975299" rtl="0" eaLnBrk="1" latinLnBrk="0" hangingPunct="1">
      <a:defRPr sz="192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8848C7F6-97E6-4B11-A118-863CB7CF828E}">
          <p14:sldIdLst>
            <p14:sldId id="5982"/>
            <p14:sldId id="5683"/>
            <p14:sldId id="260"/>
            <p14:sldId id="1682"/>
            <p14:sldId id="4449"/>
            <p14:sldId id="4450"/>
            <p14:sldId id="4451"/>
            <p14:sldId id="4452"/>
            <p14:sldId id="5197"/>
            <p14:sldId id="5983"/>
            <p14:sldId id="275"/>
            <p14:sldId id="270"/>
            <p14:sldId id="5775"/>
            <p14:sldId id="5978"/>
          </p14:sldIdLst>
        </p14:section>
        <p14:section name="Einstieg und Motivation" id="{E1BB6230-C30E-4B68-9C80-D89944B25E87}">
          <p14:sldIdLst>
            <p14:sldId id="1676"/>
            <p14:sldId id="4716"/>
            <p14:sldId id="5168"/>
            <p14:sldId id="5211"/>
            <p14:sldId id="3976"/>
            <p14:sldId id="5226"/>
            <p14:sldId id="4841"/>
            <p14:sldId id="4888"/>
            <p14:sldId id="5213"/>
            <p14:sldId id="5223"/>
            <p14:sldId id="5212"/>
            <p14:sldId id="5181"/>
            <p14:sldId id="4009"/>
            <p14:sldId id="4856"/>
            <p14:sldId id="5169"/>
            <p14:sldId id="5090"/>
            <p14:sldId id="5088"/>
            <p14:sldId id="5089"/>
          </p14:sldIdLst>
        </p14:section>
        <p14:section name="Einstieg und Motivation | ChatGPT" id="{5E958211-3E23-4A26-95D5-38212114F2A8}">
          <p14:sldIdLst>
            <p14:sldId id="329"/>
            <p14:sldId id="4906"/>
            <p14:sldId id="5234"/>
            <p14:sldId id="325"/>
            <p14:sldId id="328"/>
            <p14:sldId id="259"/>
            <p14:sldId id="322"/>
            <p14:sldId id="5985"/>
            <p14:sldId id="5984"/>
            <p14:sldId id="5986"/>
            <p14:sldId id="5987"/>
            <p14:sldId id="5988"/>
            <p14:sldId id="5989"/>
            <p14:sldId id="5990"/>
            <p14:sldId id="5991"/>
            <p14:sldId id="311"/>
            <p14:sldId id="6464"/>
            <p14:sldId id="5240"/>
            <p14:sldId id="5239"/>
            <p14:sldId id="6466"/>
            <p14:sldId id="6461"/>
            <p14:sldId id="6462"/>
            <p14:sldId id="5686"/>
            <p14:sldId id="4861"/>
            <p14:sldId id="5692"/>
            <p14:sldId id="5010"/>
            <p14:sldId id="6465"/>
            <p14:sldId id="5241"/>
            <p14:sldId id="5242"/>
            <p14:sldId id="6467"/>
            <p14:sldId id="5773"/>
            <p14:sldId id="5772"/>
          </p14:sldIdLst>
        </p14:section>
        <p14:section name="Grundlagen und Definitionen" id="{4D67702E-8488-4CF1-870D-360128A90968}">
          <p14:sldIdLst>
            <p14:sldId id="4715"/>
            <p14:sldId id="3908"/>
            <p14:sldId id="4031"/>
            <p14:sldId id="5126"/>
            <p14:sldId id="5127"/>
            <p14:sldId id="5203"/>
            <p14:sldId id="5204"/>
            <p14:sldId id="5199"/>
            <p14:sldId id="5200"/>
            <p14:sldId id="5588"/>
            <p14:sldId id="265"/>
            <p14:sldId id="5589"/>
            <p14:sldId id="5201"/>
            <p14:sldId id="5202"/>
            <p14:sldId id="5590"/>
            <p14:sldId id="5215"/>
            <p14:sldId id="5216"/>
            <p14:sldId id="4245"/>
            <p14:sldId id="1729"/>
            <p14:sldId id="5182"/>
            <p14:sldId id="5183"/>
            <p14:sldId id="5184"/>
            <p14:sldId id="5198"/>
            <p14:sldId id="5205"/>
            <p14:sldId id="5217"/>
            <p14:sldId id="5114"/>
            <p14:sldId id="5730"/>
            <p14:sldId id="5166"/>
            <p14:sldId id="5167"/>
            <p14:sldId id="5115"/>
            <p14:sldId id="5117"/>
            <p14:sldId id="5119"/>
            <p14:sldId id="5214"/>
            <p14:sldId id="5208"/>
            <p14:sldId id="3928"/>
            <p14:sldId id="3728"/>
            <p14:sldId id="5188"/>
            <p14:sldId id="5190"/>
            <p14:sldId id="5191"/>
            <p14:sldId id="5120"/>
            <p14:sldId id="5122"/>
            <p14:sldId id="3819"/>
            <p14:sldId id="4911"/>
            <p14:sldId id="5170"/>
            <p14:sldId id="5193"/>
            <p14:sldId id="5195"/>
            <p14:sldId id="5178"/>
            <p14:sldId id="5179"/>
            <p14:sldId id="5132"/>
            <p14:sldId id="5192"/>
            <p14:sldId id="386"/>
            <p14:sldId id="5194"/>
            <p14:sldId id="5171"/>
            <p14:sldId id="5186"/>
            <p14:sldId id="5210"/>
            <p14:sldId id="3923"/>
            <p14:sldId id="3924"/>
            <p14:sldId id="5220"/>
            <p14:sldId id="5221"/>
            <p14:sldId id="5224"/>
            <p14:sldId id="5189"/>
            <p14:sldId id="5187"/>
            <p14:sldId id="4355"/>
            <p14:sldId id="4363"/>
            <p14:sldId id="3989"/>
          </p14:sldIdLst>
        </p14:section>
        <p14:section name="Nutzen und Einsatzfelder" id="{3822B21B-C9E1-4B2A-AF1F-0DD1C54AA3B2}">
          <p14:sldIdLst>
            <p14:sldId id="5218"/>
            <p14:sldId id="5222"/>
            <p14:sldId id="5371"/>
            <p14:sldId id="5172"/>
            <p14:sldId id="5173"/>
            <p14:sldId id="5174"/>
            <p14:sldId id="5175"/>
            <p14:sldId id="5176"/>
            <p14:sldId id="5177"/>
            <p14:sldId id="5123"/>
            <p14:sldId id="5124"/>
            <p14:sldId id="5263"/>
            <p14:sldId id="5196"/>
            <p14:sldId id="5125"/>
            <p14:sldId id="3932"/>
            <p14:sldId id="5979"/>
            <p14:sldId id="5980"/>
            <p14:sldId id="5981"/>
          </p14:sldIdLst>
        </p14:section>
        <p14:section name="BI im Kontext mit anderen Analytics-Begriffen" id="{3EEE2EE8-ED70-45D3-B7D4-A9E9E2171866}">
          <p14:sldIdLst>
            <p14:sldId id="5219"/>
            <p14:sldId id="5229"/>
            <p14:sldId id="5139"/>
            <p14:sldId id="5140"/>
            <p14:sldId id="5141"/>
            <p14:sldId id="5142"/>
            <p14:sldId id="5146"/>
            <p14:sldId id="5143"/>
            <p14:sldId id="5144"/>
            <p14:sldId id="5145"/>
            <p14:sldId id="5147"/>
            <p14:sldId id="3956"/>
            <p14:sldId id="4014"/>
            <p14:sldId id="3955"/>
            <p14:sldId id="3982"/>
            <p14:sldId id="3951"/>
            <p14:sldId id="276"/>
            <p14:sldId id="5206"/>
            <p14:sldId id="5230"/>
            <p14:sldId id="3948"/>
            <p14:sldId id="3977"/>
            <p14:sldId id="3971"/>
            <p14:sldId id="1159"/>
            <p14:sldId id="1293"/>
            <p14:sldId id="5231"/>
            <p14:sldId id="5104"/>
            <p14:sldId id="5105"/>
            <p14:sldId id="5108"/>
            <p14:sldId id="5106"/>
            <p14:sldId id="5107"/>
            <p14:sldId id="5109"/>
            <p14:sldId id="5128"/>
            <p14:sldId id="5136"/>
            <p14:sldId id="5130"/>
            <p14:sldId id="5129"/>
            <p14:sldId id="5112"/>
            <p14:sldId id="5232"/>
            <p14:sldId id="5767"/>
            <p14:sldId id="3917"/>
            <p14:sldId id="5768"/>
            <p14:sldId id="1309"/>
            <p14:sldId id="1311"/>
            <p14:sldId id="3916"/>
            <p14:sldId id="3912"/>
            <p14:sldId id="3919"/>
            <p14:sldId id="3910"/>
            <p14:sldId id="3915"/>
            <p14:sldId id="5209"/>
            <p14:sldId id="3920"/>
            <p14:sldId id="1496"/>
            <p14:sldId id="1497"/>
            <p14:sldId id="1498"/>
            <p14:sldId id="1499"/>
            <p14:sldId id="1500"/>
            <p14:sldId id="1381"/>
            <p14:sldId id="1501"/>
            <p14:sldId id="4690"/>
            <p14:sldId id="4689"/>
            <p14:sldId id="4682"/>
            <p14:sldId id="4699"/>
            <p14:sldId id="4710"/>
            <p14:sldId id="4686"/>
            <p14:sldId id="4688"/>
            <p14:sldId id="5148"/>
            <p14:sldId id="5153"/>
            <p14:sldId id="5154"/>
            <p14:sldId id="5155"/>
            <p14:sldId id="4964"/>
            <p14:sldId id="4965"/>
            <p14:sldId id="5045"/>
            <p14:sldId id="5156"/>
            <p14:sldId id="5157"/>
            <p14:sldId id="5162"/>
            <p14:sldId id="4459"/>
            <p14:sldId id="5164"/>
            <p14:sldId id="5165"/>
          </p14:sldIdLst>
        </p14:section>
      </p14:sectionLst>
    </p:ext>
    <p:ext uri="{EFAFB233-063F-42B5-8137-9DF3F51BA10A}">
      <p15:sldGuideLst xmlns:p15="http://schemas.microsoft.com/office/powerpoint/2012/main">
        <p15:guide id="1" orient="horz" pos="2304" userDrawn="1">
          <p15:clr>
            <a:srgbClr val="A4A3A4"/>
          </p15:clr>
        </p15:guide>
        <p15:guide id="2" pos="728" userDrawn="1">
          <p15:clr>
            <a:srgbClr val="A4A3A4"/>
          </p15:clr>
        </p15:guide>
        <p15:guide id="3" orient="horz" pos="80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E6E"/>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4E1EBB-E92D-FB4D-8CFE-13DB06CD02BD}" v="24" dt="2026-04-04T09:53:15.3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49" autoAdjust="0"/>
    <p:restoredTop sz="96244"/>
  </p:normalViewPr>
  <p:slideViewPr>
    <p:cSldViewPr snapToGrid="0" showGuides="1">
      <p:cViewPr varScale="1">
        <p:scale>
          <a:sx n="164" d="100"/>
          <a:sy n="164" d="100"/>
        </p:scale>
        <p:origin x="408" y="472"/>
      </p:cViewPr>
      <p:guideLst>
        <p:guide orient="horz" pos="2304"/>
        <p:guide pos="728"/>
        <p:guide orient="horz" pos="807"/>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3" Type="http://schemas.openxmlformats.org/officeDocument/2006/relationships/slide" Target="slides/slide1.xml"/><Relationship Id="rId44" Type="http://schemas.openxmlformats.org/officeDocument/2006/relationships/slide" Target="slides/slide2.xml"/><Relationship Id="rId45" Type="http://schemas.openxmlformats.org/officeDocument/2006/relationships/slide" Target="slides/slide3.xml"/><Relationship Id="rId46" Type="http://schemas.openxmlformats.org/officeDocument/2006/relationships/slide" Target="slides/slide4.xml"/><Relationship Id="rId47" Type="http://schemas.openxmlformats.org/officeDocument/2006/relationships/slide" Target="slides/slide5.xml"/><Relationship Id="rId48" Type="http://schemas.openxmlformats.org/officeDocument/2006/relationships/slide" Target="slides/slide6.xml"/><Relationship Id="rId49" Type="http://schemas.openxmlformats.org/officeDocument/2006/relationships/slide" Target="slides/slide7.xml"/><Relationship Id="rId50" Type="http://schemas.openxmlformats.org/officeDocument/2006/relationships/slide" Target="slides/slide8.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4.xml"/><Relationship Id="rId57" Type="http://schemas.openxmlformats.org/officeDocument/2006/relationships/slide" Target="slides/slide15.xml"/><Relationship Id="rId58" Type="http://schemas.openxmlformats.org/officeDocument/2006/relationships/slide" Target="slides/slide16.xml"/><Relationship Id="rId59" Type="http://schemas.openxmlformats.org/officeDocument/2006/relationships/slide" Target="slides/slide17.xml"/><Relationship Id="rId60" Type="http://schemas.openxmlformats.org/officeDocument/2006/relationships/slide" Target="slides/slide18.xml"/><Relationship Id="rId61" Type="http://schemas.openxmlformats.org/officeDocument/2006/relationships/slide" Target="slides/slide19.xml"/><Relationship Id="rId62" Type="http://schemas.openxmlformats.org/officeDocument/2006/relationships/slide" Target="slides/slide20.xml"/><Relationship Id="rId63" Type="http://schemas.openxmlformats.org/officeDocument/2006/relationships/slide" Target="slides/slide21.xml"/><Relationship Id="rId64" Type="http://schemas.openxmlformats.org/officeDocument/2006/relationships/slide" Target="slides/slide22.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 Id="rId68" Type="http://schemas.openxmlformats.org/officeDocument/2006/relationships/slide" Target="slides/slide26.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29.xml"/><Relationship Id="rId72" Type="http://schemas.openxmlformats.org/officeDocument/2006/relationships/slide" Target="slides/slide30.xml"/><Relationship Id="rId73" Type="http://schemas.openxmlformats.org/officeDocument/2006/relationships/slide" Target="slides/slide31.xml"/><Relationship Id="rId74" Type="http://schemas.openxmlformats.org/officeDocument/2006/relationships/slide" Target="slides/slide32.xml"/><Relationship Id="rId75" Type="http://schemas.openxmlformats.org/officeDocument/2006/relationships/slide" Target="slides/slide33.xml"/><Relationship Id="rId76" Type="http://schemas.openxmlformats.org/officeDocument/2006/relationships/slide" Target="slides/slide34.xml"/><Relationship Id="rId77" Type="http://schemas.openxmlformats.org/officeDocument/2006/relationships/slide" Target="slides/slide35.xml"/><Relationship Id="rId78" Type="http://schemas.openxmlformats.org/officeDocument/2006/relationships/slide" Target="slides/slide36.xml"/><Relationship Id="rId79" Type="http://schemas.openxmlformats.org/officeDocument/2006/relationships/slide" Target="slides/slide37.xml"/><Relationship Id="rId80" Type="http://schemas.openxmlformats.org/officeDocument/2006/relationships/slide" Target="slides/slide38.xml"/><Relationship Id="rId81" Type="http://schemas.openxmlformats.org/officeDocument/2006/relationships/slide" Target="slides/slide39.xml"/><Relationship Id="rId82" Type="http://schemas.openxmlformats.org/officeDocument/2006/relationships/slide" Target="slides/slide40.xml"/><Relationship Id="rId83" Type="http://schemas.openxmlformats.org/officeDocument/2006/relationships/slide" Target="slides/slide41.xml"/><Relationship Id="rId84" Type="http://schemas.openxmlformats.org/officeDocument/2006/relationships/slide" Target="slides/slide42.xml"/><Relationship Id="rId85" Type="http://schemas.openxmlformats.org/officeDocument/2006/relationships/slide" Target="slides/slide43.xml"/><Relationship Id="rId226" Type="http://schemas.openxmlformats.org/officeDocument/2006/relationships/notesMaster" Target="notesMasters/notesMaster1.xml"/><Relationship Id="rId227" Type="http://schemas.openxmlformats.org/officeDocument/2006/relationships/font" Target="fonts/font1.fntdata"/><Relationship Id="rId228" Type="http://schemas.openxmlformats.org/officeDocument/2006/relationships/font" Target="fonts/font2.fntdata"/><Relationship Id="rId229" Type="http://schemas.openxmlformats.org/officeDocument/2006/relationships/font" Target="fonts/font3.fntdata"/><Relationship Id="rId230" Type="http://schemas.openxmlformats.org/officeDocument/2006/relationships/font" Target="fonts/font4.fntdata"/><Relationship Id="rId231" Type="http://schemas.openxmlformats.org/officeDocument/2006/relationships/font" Target="fonts/font5.fntdata"/><Relationship Id="rId232" Type="http://schemas.openxmlformats.org/officeDocument/2006/relationships/font" Target="fonts/font6.fntdata"/><Relationship Id="rId233" Type="http://schemas.openxmlformats.org/officeDocument/2006/relationships/font" Target="fonts/font7.fntdata"/><Relationship Id="rId234" Type="http://schemas.openxmlformats.org/officeDocument/2006/relationships/font" Target="fonts/font8.fntdata"/><Relationship Id="rId235" Type="http://schemas.openxmlformats.org/officeDocument/2006/relationships/font" Target="fonts/font9.fntdata"/><Relationship Id="rId236" Type="http://schemas.openxmlformats.org/officeDocument/2006/relationships/font" Target="fonts/font10.fntdata"/><Relationship Id="rId237" Type="http://schemas.openxmlformats.org/officeDocument/2006/relationships/font" Target="fonts/font11.fntdata"/><Relationship Id="rId238" Type="http://schemas.openxmlformats.org/officeDocument/2006/relationships/font" Target="fonts/font12.fntdata"/><Relationship Id="rId239" Type="http://schemas.openxmlformats.org/officeDocument/2006/relationships/font" Target="fonts/font13.fntdata"/><Relationship Id="rId240" Type="http://schemas.openxmlformats.org/officeDocument/2006/relationships/font" Target="fonts/font14.fntdata"/><Relationship Id="rId241" Type="http://schemas.openxmlformats.org/officeDocument/2006/relationships/font" Target="fonts/font15.fntdata"/><Relationship Id="rId242" Type="http://schemas.openxmlformats.org/officeDocument/2006/relationships/font" Target="fonts/font16.fntdata"/><Relationship Id="rId243" Type="http://schemas.openxmlformats.org/officeDocument/2006/relationships/font" Target="fonts/font17.fntdata"/><Relationship Id="rId244" Type="http://schemas.openxmlformats.org/officeDocument/2006/relationships/font" Target="fonts/font18.fntdata"/><Relationship Id="rId245" Type="http://schemas.openxmlformats.org/officeDocument/2006/relationships/font" Target="fonts/font19.fntdata"/><Relationship Id="rId246" Type="http://schemas.openxmlformats.org/officeDocument/2006/relationships/font" Target="fonts/font20.fntdata"/><Relationship Id="rId247" Type="http://schemas.openxmlformats.org/officeDocument/2006/relationships/font" Target="fonts/font21.fntdata"/><Relationship Id="rId248" Type="http://schemas.openxmlformats.org/officeDocument/2006/relationships/font" Target="fonts/font22.fntdata"/><Relationship Id="rId249" Type="http://schemas.openxmlformats.org/officeDocument/2006/relationships/font" Target="fonts/font23.fntdata"/><Relationship Id="rId250" Type="http://schemas.openxmlformats.org/officeDocument/2006/relationships/font" Target="fonts/font24.fntdata"/><Relationship Id="rId251" Type="http://schemas.openxmlformats.org/officeDocument/2006/relationships/font" Target="fonts/font25.fntdata"/><Relationship Id="rId252" Type="http://schemas.openxmlformats.org/officeDocument/2006/relationships/font" Target="fonts/font26.fntdata"/><Relationship Id="rId253" Type="http://schemas.openxmlformats.org/officeDocument/2006/relationships/font" Target="fonts/font27.fntdata"/><Relationship Id="rId254" Type="http://schemas.openxmlformats.org/officeDocument/2006/relationships/font" Target="fonts/font28.fntdata"/><Relationship Id="rId255" Type="http://schemas.openxmlformats.org/officeDocument/2006/relationships/font" Target="fonts/font29.fntdata"/><Relationship Id="rId256" Type="http://schemas.openxmlformats.org/officeDocument/2006/relationships/font" Target="fonts/font30.fntdata"/><Relationship Id="rId257" Type="http://schemas.openxmlformats.org/officeDocument/2006/relationships/font" Target="fonts/font31.fntdata"/><Relationship Id="rId258" Type="http://schemas.openxmlformats.org/officeDocument/2006/relationships/font" Target="fonts/font32.fntdata"/><Relationship Id="rId259" Type="http://schemas.openxmlformats.org/officeDocument/2006/relationships/font" Target="fonts/font33.fntdata"/><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 Id="rId264" Type="http://schemas.microsoft.com/office/2016/11/relationships/changesInfo" Target="changesInfos/changesInfo1.xml"/><Relationship Id="rId26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1F8CCD4D-F71B-57B1-9867-406FCF685594}"/>
    <pc:docChg chg="custSel modSld modMainMaster">
      <pc:chgData name="Dr. Robert Butscher" userId="61bc653898ddc2e0" providerId="LiveId" clId="{1F8CCD4D-F71B-57B1-9867-406FCF685594}" dt="2026-04-04T09:53:23.849" v="95" actId="299"/>
      <pc:docMkLst>
        <pc:docMk/>
      </pc:docMkLst>
      <pc:sldChg chg="modSp mod">
        <pc:chgData name="Dr. Robert Butscher" userId="61bc653898ddc2e0" providerId="LiveId" clId="{1F8CCD4D-F71B-57B1-9867-406FCF685594}" dt="2026-04-04T09:52:43.517" v="3" actId="20577"/>
        <pc:sldMkLst>
          <pc:docMk/>
          <pc:sldMk cId="4082944879" sldId="1682"/>
        </pc:sldMkLst>
        <pc:graphicFrameChg chg="modGraphic">
          <ac:chgData name="Dr. Robert Butscher" userId="61bc653898ddc2e0" providerId="LiveId" clId="{1F8CCD4D-F71B-57B1-9867-406FCF685594}" dt="2026-04-04T09:52:43.517" v="3" actId="20577"/>
          <ac:graphicFrameMkLst>
            <pc:docMk/>
            <pc:sldMk cId="4082944879" sldId="1682"/>
            <ac:graphicFrameMk id="10" creationId="{0E28EF6B-F745-4094-A0D1-976DCF50C9AA}"/>
          </ac:graphicFrameMkLst>
        </pc:graphicFrameChg>
      </pc:sldChg>
      <pc:sldChg chg="addSp modSp mod">
        <pc:chgData name="Dr. Robert Butscher" userId="61bc653898ddc2e0" providerId="LiveId" clId="{1F8CCD4D-F71B-57B1-9867-406FCF685594}" dt="2026-04-04T09:53:23.849" v="95" actId="299"/>
        <pc:sldMkLst>
          <pc:docMk/>
          <pc:sldMk cId="1304808375" sldId="5983"/>
        </pc:sldMkLst>
        <pc:spChg chg="mod">
          <ac:chgData name="Dr. Robert Butscher" userId="61bc653898ddc2e0" providerId="LiveId" clId="{1F8CCD4D-F71B-57B1-9867-406FCF685594}" dt="2026-04-04T09:53:23.849" v="95" actId="299"/>
          <ac:spMkLst>
            <pc:docMk/>
            <pc:sldMk cId="1304808375" sldId="5983"/>
            <ac:spMk id="8" creationId="{6DEE792D-283C-4642-A892-D42F87877A68}"/>
          </ac:spMkLst>
        </pc:spChg>
        <pc:graphicFrameChg chg="add mod modVis">
          <ac:chgData name="Dr. Robert Butscher" userId="61bc653898ddc2e0" providerId="LiveId" clId="{1F8CCD4D-F71B-57B1-9867-406FCF685594}" dt="2026-04-04T09:53:15.321" v="25"/>
          <ac:graphicFrameMkLst>
            <pc:docMk/>
            <pc:sldMk cId="1304808375" sldId="5983"/>
            <ac:graphicFrameMk id="3" creationId="{952C99EC-F97E-349D-8356-66AB18F6ADAA}"/>
          </ac:graphicFrameMkLst>
        </pc:graphicFrameChg>
      </pc:sldChg>
      <pc:sldMasterChg chg="addSp modSp mod">
        <pc:chgData name="Dr. Robert Butscher" userId="61bc653898ddc2e0" providerId="LiveId" clId="{1F8CCD4D-F71B-57B1-9867-406FCF685594}" dt="2026-04-04T09:53:15.344" v="38"/>
        <pc:sldMasterMkLst>
          <pc:docMk/>
          <pc:sldMasterMk cId="1550380779" sldId="2147483660"/>
        </pc:sldMasterMkLst>
        <pc:graphicFrameChg chg="add mod modVis">
          <ac:chgData name="Dr. Robert Butscher" userId="61bc653898ddc2e0" providerId="LiveId" clId="{1F8CCD4D-F71B-57B1-9867-406FCF685594}" dt="2026-04-04T09:53:15.344" v="38"/>
          <ac:graphicFrameMkLst>
            <pc:docMk/>
            <pc:sldMasterMk cId="1550380779" sldId="2147483660"/>
            <ac:graphicFrameMk id="4" creationId="{6F471703-A648-F145-39A8-BE1DBE102523}"/>
          </ac:graphicFrameMkLst>
        </pc:graphicFrameChg>
      </pc:sldMasterChg>
      <pc:sldMasterChg chg="addSp modSp mod">
        <pc:chgData name="Dr. Robert Butscher" userId="61bc653898ddc2e0" providerId="LiveId" clId="{1F8CCD4D-F71B-57B1-9867-406FCF685594}" dt="2026-04-04T09:53:15.355" v="51"/>
        <pc:sldMasterMkLst>
          <pc:docMk/>
          <pc:sldMasterMk cId="152667289" sldId="2147483674"/>
        </pc:sldMasterMkLst>
        <pc:graphicFrameChg chg="add mod modVis">
          <ac:chgData name="Dr. Robert Butscher" userId="61bc653898ddc2e0" providerId="LiveId" clId="{1F8CCD4D-F71B-57B1-9867-406FCF685594}" dt="2026-04-04T09:53:15.355" v="51"/>
          <ac:graphicFrameMkLst>
            <pc:docMk/>
            <pc:sldMasterMk cId="152667289" sldId="2147483674"/>
            <ac:graphicFrameMk id="4" creationId="{FBC7FB1C-2DC6-CB34-34F7-7D3CF72597C0}"/>
          </ac:graphicFrameMkLst>
        </pc:graphicFrame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75EE47-E890-4C1A-82B7-6B37BDF6C47D}" type="datetimeFigureOut">
              <a:rPr lang="de-DE" smtClean="0"/>
              <a:t>04.04.26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748F90-A264-4F79-ABD8-9E88FC0E9DDF}" type="slidenum">
              <a:rPr lang="de-DE" smtClean="0"/>
              <a:t>‹Nr.›</a:t>
            </a:fld>
            <a:endParaRPr lang="de-DE"/>
          </a:p>
        </p:txBody>
      </p:sp>
    </p:spTree>
    <p:extLst>
      <p:ext uri="{BB962C8B-B14F-4D97-AF65-F5344CB8AC3E}">
        <p14:creationId xmlns:p14="http://schemas.microsoft.com/office/powerpoint/2010/main" val="3922953902"/>
      </p:ext>
    </p:extLst>
  </p:cSld>
  <p:clrMap bg1="lt1" tx1="dk1" bg2="lt2" tx2="dk2" accent1="accent1" accent2="accent2" accent3="accent3" accent4="accent4" accent5="accent5" accent6="accent6" hlink="hlink" folHlink="folHlink"/>
  <p:notesStyle>
    <a:lvl1pPr marL="0" algn="l" defTabSz="975299" rtl="0" eaLnBrk="1" latinLnBrk="0" hangingPunct="1">
      <a:defRPr sz="1280" kern="1200">
        <a:solidFill>
          <a:schemeClr val="tx1"/>
        </a:solidFill>
        <a:latin typeface="+mn-lt"/>
        <a:ea typeface="+mn-ea"/>
        <a:cs typeface="+mn-cs"/>
      </a:defRPr>
    </a:lvl1pPr>
    <a:lvl2pPr marL="487650" algn="l" defTabSz="975299" rtl="0" eaLnBrk="1" latinLnBrk="0" hangingPunct="1">
      <a:defRPr sz="1280" kern="1200">
        <a:solidFill>
          <a:schemeClr val="tx1"/>
        </a:solidFill>
        <a:latin typeface="+mn-lt"/>
        <a:ea typeface="+mn-ea"/>
        <a:cs typeface="+mn-cs"/>
      </a:defRPr>
    </a:lvl2pPr>
    <a:lvl3pPr marL="975299" algn="l" defTabSz="975299" rtl="0" eaLnBrk="1" latinLnBrk="0" hangingPunct="1">
      <a:defRPr sz="1280" kern="1200">
        <a:solidFill>
          <a:schemeClr val="tx1"/>
        </a:solidFill>
        <a:latin typeface="+mn-lt"/>
        <a:ea typeface="+mn-ea"/>
        <a:cs typeface="+mn-cs"/>
      </a:defRPr>
    </a:lvl3pPr>
    <a:lvl4pPr marL="1462949" algn="l" defTabSz="975299" rtl="0" eaLnBrk="1" latinLnBrk="0" hangingPunct="1">
      <a:defRPr sz="1280" kern="1200">
        <a:solidFill>
          <a:schemeClr val="tx1"/>
        </a:solidFill>
        <a:latin typeface="+mn-lt"/>
        <a:ea typeface="+mn-ea"/>
        <a:cs typeface="+mn-cs"/>
      </a:defRPr>
    </a:lvl4pPr>
    <a:lvl5pPr marL="1950598" algn="l" defTabSz="975299" rtl="0" eaLnBrk="1" latinLnBrk="0" hangingPunct="1">
      <a:defRPr sz="1280" kern="1200">
        <a:solidFill>
          <a:schemeClr val="tx1"/>
        </a:solidFill>
        <a:latin typeface="+mn-lt"/>
        <a:ea typeface="+mn-ea"/>
        <a:cs typeface="+mn-cs"/>
      </a:defRPr>
    </a:lvl5pPr>
    <a:lvl6pPr marL="2438248" algn="l" defTabSz="975299" rtl="0" eaLnBrk="1" latinLnBrk="0" hangingPunct="1">
      <a:defRPr sz="1280" kern="1200">
        <a:solidFill>
          <a:schemeClr val="tx1"/>
        </a:solidFill>
        <a:latin typeface="+mn-lt"/>
        <a:ea typeface="+mn-ea"/>
        <a:cs typeface="+mn-cs"/>
      </a:defRPr>
    </a:lvl6pPr>
    <a:lvl7pPr marL="2925897" algn="l" defTabSz="975299" rtl="0" eaLnBrk="1" latinLnBrk="0" hangingPunct="1">
      <a:defRPr sz="1280" kern="1200">
        <a:solidFill>
          <a:schemeClr val="tx1"/>
        </a:solidFill>
        <a:latin typeface="+mn-lt"/>
        <a:ea typeface="+mn-ea"/>
        <a:cs typeface="+mn-cs"/>
      </a:defRPr>
    </a:lvl7pPr>
    <a:lvl8pPr marL="3413547" algn="l" defTabSz="975299" rtl="0" eaLnBrk="1" latinLnBrk="0" hangingPunct="1">
      <a:defRPr sz="1280" kern="1200">
        <a:solidFill>
          <a:schemeClr val="tx1"/>
        </a:solidFill>
        <a:latin typeface="+mn-lt"/>
        <a:ea typeface="+mn-ea"/>
        <a:cs typeface="+mn-cs"/>
      </a:defRPr>
    </a:lvl8pPr>
    <a:lvl9pPr marL="3901196" algn="l" defTabSz="975299" rtl="0" eaLnBrk="1" latinLnBrk="0" hangingPunct="1">
      <a:defRPr sz="12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 Anweisung verhindert den Rückfall bei künftig angelegten Funktionen. Ohne sie schnappt die Falle beim nächsten CREATE FUNCTION wieder zu.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Sätze zum Mitnehmen — und ein Blick auf die Warenwirtschaft.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2.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7.svg"/></Relationships>
</file>

<file path=ppt/slideLayouts/_rels/slideLayout14.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4"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1384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BINT · Wintersemester 2026/27 | Business </a:t>
            </a:r>
            <a:r>
              <a:rPr lang="de-DE" sz="900" dirty="0" err="1">
                <a:solidFill>
                  <a:schemeClr val="bg1"/>
                </a:solidFill>
                <a:latin typeface="GT Planar Light" pitchFamily="50" charset="0"/>
                <a:ea typeface="GT Planar Light" pitchFamily="50" charset="0"/>
              </a:rPr>
              <a:t>Intelligence</a:t>
            </a:r>
            <a:endParaRPr lang="de-DE" sz="1800" dirty="0">
              <a:solidFill>
                <a:schemeClr val="bg1"/>
              </a:solidFill>
              <a:latin typeface="GT Planar Light" pitchFamily="50" charset="0"/>
              <a:ea typeface="GT Planar Light" pitchFamily="50" charset="0"/>
            </a:endParaRPr>
          </a:p>
        </p:txBody>
      </p:sp>
      <p:pic>
        <p:nvPicPr>
          <p:cNvPr id="7" name="Grafik 6">
            <a:extLst>
              <a:ext uri="{FF2B5EF4-FFF2-40B4-BE49-F238E27FC236}">
                <a16:creationId xmlns:a16="http://schemas.microsoft.com/office/drawing/2014/main" id="{8838BC99-B0DB-3286-2378-25F871BC4A9B}"/>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9067566" y="344016"/>
            <a:ext cx="3603061" cy="1406962"/>
          </a:xfrm>
          <a:prstGeom prst="rect">
            <a:avLst/>
          </a:prstGeom>
        </p:spPr>
      </p:pic>
    </p:spTree>
    <p:extLst>
      <p:ext uri="{BB962C8B-B14F-4D97-AF65-F5344CB8AC3E}">
        <p14:creationId xmlns:p14="http://schemas.microsoft.com/office/powerpoint/2010/main" val="66436029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426620255"/>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6002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168610649"/>
      </p:ext>
    </p:extLst>
  </p:cSld>
  <p:clrMapOvr>
    <a:masterClrMapping/>
  </p:clrMapOvr>
  <p:extLst>
    <p:ext uri="{DCECCB84-F9BA-43D5-87BE-67443E8EF086}">
      <p15:sldGuideLst xmlns:p15="http://schemas.microsoft.com/office/powerpoint/2012/main">
        <p15:guide id="1" orient="horz" pos="4164" userDrawn="1">
          <p15:clr>
            <a:srgbClr val="FBAE40"/>
          </p15:clr>
        </p15:guide>
        <p15:guide id="2" orient="horz" pos="807" userDrawn="1">
          <p15:clr>
            <a:srgbClr val="FBAE40"/>
          </p15:clr>
        </p15:guide>
        <p15:guide id="3" pos="4096" userDrawn="1">
          <p15:clr>
            <a:srgbClr val="FBAE40"/>
          </p15:clr>
        </p15:guide>
        <p15:guide id="4" pos="795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3682261692"/>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379203904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3066684223"/>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43925911"/>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Fallstudie "Customer </a:t>
            </a:r>
            <a:r>
              <a:rPr lang="de-DE" sz="900" dirty="0" err="1">
                <a:solidFill>
                  <a:schemeClr val="bg1"/>
                </a:solidFill>
                <a:latin typeface="GT Planar Light" pitchFamily="50" charset="0"/>
                <a:ea typeface="GT Planar Light" pitchFamily="50" charset="0"/>
              </a:rPr>
              <a:t>Chirn</a:t>
            </a:r>
            <a:r>
              <a:rPr lang="de-DE" sz="900" dirty="0">
                <a:solidFill>
                  <a:schemeClr val="bg1"/>
                </a:solidFill>
                <a:latin typeface="GT Planar Light" pitchFamily="50" charset="0"/>
                <a:ea typeface="GT Planar Light" pitchFamily="50" charset="0"/>
              </a:rPr>
              <a:t> Prevention" | Wintersemester </a:t>
            </a:r>
            <a:r>
              <a:rPr lang="de-DE" sz="1800" dirty="0">
                <a:solidFill>
                  <a:schemeClr val="bg1"/>
                </a:solidFill>
                <a:latin typeface="GT Planar Medium" pitchFamily="50" charset="0"/>
                <a:ea typeface="GT Planar Medium" pitchFamily="50" charset="0"/>
              </a:rPr>
              <a:t>2024/25</a:t>
            </a:r>
            <a:endParaRPr lang="de-DE" sz="1800" dirty="0">
              <a:solidFill>
                <a:schemeClr val="bg1"/>
              </a:solidFill>
              <a:latin typeface="GT Planar Light" pitchFamily="50" charset="0"/>
              <a:ea typeface="GT Planar Light" pitchFamily="50" charset="0"/>
            </a:endParaRPr>
          </a:p>
        </p:txBody>
      </p:sp>
      <p:pic>
        <p:nvPicPr>
          <p:cNvPr id="3" name="Grafik 2">
            <a:extLst>
              <a:ext uri="{FF2B5EF4-FFF2-40B4-BE49-F238E27FC236}">
                <a16:creationId xmlns:a16="http://schemas.microsoft.com/office/drawing/2014/main" id="{4D5A3314-F113-CC11-5AE8-B52EB10184B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268495893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2557963176"/>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906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201141256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435176349"/>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12" name="Grafik 11" descr="Roboter Silhouette">
            <a:extLst>
              <a:ext uri="{FF2B5EF4-FFF2-40B4-BE49-F238E27FC236}">
                <a16:creationId xmlns:a16="http://schemas.microsoft.com/office/drawing/2014/main" id="{7E573DBE-2C6B-11B7-2F89-6A5786407288}"/>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1498378894"/>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802826635"/>
      </p:ext>
    </p:extLst>
  </p:cSld>
  <p:clrMapOvr>
    <a:masterClrMapping/>
  </p:clrMapOvr>
  <p:extLst>
    <p:ext uri="{DCECCB84-F9BA-43D5-87BE-67443E8EF086}">
      <p15:sldGuideLst xmlns:p15="http://schemas.microsoft.com/office/powerpoint/2012/main">
        <p15:guide id="1" orient="horz" pos="4164">
          <p15:clr>
            <a:srgbClr val="FBAE40"/>
          </p15:clr>
        </p15:guide>
        <p15:guide id="2" orient="horz" pos="807">
          <p15:clr>
            <a:srgbClr val="FBAE40"/>
          </p15:clr>
        </p15:guide>
        <p15:guide id="3" pos="4096">
          <p15:clr>
            <a:srgbClr val="FBAE40"/>
          </p15:clr>
        </p15:guide>
        <p15:guide id="4" pos="79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gi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theme" Target="../theme/theme2.xml"/><Relationship Id="rId13" Type="http://schemas.openxmlformats.org/officeDocument/2006/relationships/oleObject" Target="../embeddings/oleObject2.bin"/><Relationship Id="rId14" Type="http://schemas.openxmlformats.org/officeDocument/2006/relationships/image" Target="../media/image9.emf"/><Relationship Id="rId15" Type="http://schemas.openxmlformats.org/officeDocument/2006/relationships/image" Target="../media/image2.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6F471703-A648-F145-39A8-BE1DBE102523}"/>
              </a:ext>
            </a:extLst>
          </p:cNvPr>
          <p:cNvGraphicFramePr>
            <a:graphicFrameLocks/>
          </p:cNvGraphicFramePr>
          <p:nvPr userDrawn="1">
            <p:extLst>
              <p:ext uri="{D42A27DB-BD31-4B8C-83A1-F6EECF244321}">
                <p14:modId xmlns:p14="http://schemas.microsoft.com/office/powerpoint/2010/main" val="2006554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4" imgW="7772400" imgH="10058400" progId="TCLayout.ActiveDocument.1">
                  <p:embed/>
                </p:oleObj>
              </mc:Choice>
              <mc:Fallback>
                <p:oleObj name="think-cell Folie" r:id="rId14" imgW="7772400" imgH="10058400" progId="TCLayout.ActiveDocument.1">
                  <p:embed/>
                  <p:pic>
                    <p:nvPicPr>
                      <p:cNvPr id="4" name="think-cell data - do not delete" hidden="1">
                        <a:extLst>
                          <a:ext uri="{FF2B5EF4-FFF2-40B4-BE49-F238E27FC236}">
                            <a16:creationId xmlns:a16="http://schemas.microsoft.com/office/drawing/2014/main" id="{6F471703-A648-F145-39A8-BE1DBE102523}"/>
                          </a:ext>
                        </a:extLst>
                      </p:cNvPr>
                      <p:cNvPicPr/>
                      <p:nvPr/>
                    </p:nvPicPr>
                    <p:blipFill>
                      <a:blip r:embed="rId15"/>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BINT · Wintersemester 2026/27 | Business </a:t>
            </a:r>
            <a:r>
              <a:rPr lang="de-DE" sz="900" dirty="0" err="1">
                <a:solidFill>
                  <a:schemeClr val="tx1">
                    <a:lumMod val="60000"/>
                    <a:lumOff val="40000"/>
                  </a:schemeClr>
                </a:solidFill>
                <a:latin typeface="GT Planar Light" pitchFamily="50" charset="0"/>
                <a:ea typeface="GT Planar Light" pitchFamily="50" charset="0"/>
              </a:rPr>
              <a:t>Intelligence</a:t>
            </a:r>
            <a:endParaRPr lang="de-DE" sz="900" dirty="0">
              <a:solidFill>
                <a:schemeClr val="tx1">
                  <a:lumMod val="60000"/>
                  <a:lumOff val="40000"/>
                </a:schemeClr>
              </a:solidFill>
              <a:latin typeface="GT Planar Light" pitchFamily="50" charset="0"/>
              <a:ea typeface="GT Planar Light" pitchFamily="50" charset="0"/>
            </a:endParaRPr>
          </a:p>
        </p:txBody>
      </p:sp>
    </p:spTree>
    <p:extLst>
      <p:ext uri="{BB962C8B-B14F-4D97-AF65-F5344CB8AC3E}">
        <p14:creationId xmlns:p14="http://schemas.microsoft.com/office/powerpoint/2010/main" val="1550380779"/>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2" r:id="rId3"/>
    <p:sldLayoutId id="2147483663" r:id="rId4"/>
    <p:sldLayoutId id="2147483671" r:id="rId5"/>
    <p:sldLayoutId id="2147483672" r:id="rId6"/>
    <p:sldLayoutId id="2147483673" r:id="rId7"/>
    <p:sldLayoutId id="2147483670" r:id="rId8"/>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6"/>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userDrawn="1">
          <p15:clr>
            <a:srgbClr val="A4A3A4"/>
          </p15:clr>
        </p15:guide>
        <p15:guide id="4" pos="7952" userDrawn="1">
          <p15:clr>
            <a:srgbClr val="A4A3A4"/>
          </p15:clr>
        </p15:guide>
        <p15:guide id="7" orient="horz" pos="4442"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BC7FB1C-2DC6-CB34-34F7-7D3CF72597C0}"/>
              </a:ext>
            </a:extLst>
          </p:cNvPr>
          <p:cNvGraphicFramePr>
            <a:graphicFrameLocks noChangeAspect="1"/>
          </p:cNvGraphicFramePr>
          <p:nvPr userDrawn="1">
            <p:extLst>
              <p:ext uri="{D42A27DB-BD31-4B8C-83A1-F6EECF244321}">
                <p14:modId xmlns:p14="http://schemas.microsoft.com/office/powerpoint/2010/main" val="145836259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3" imgW="7772400" imgH="10058400" progId="TCLayout.ActiveDocument.1">
                  <p:embed/>
                </p:oleObj>
              </mc:Choice>
              <mc:Fallback>
                <p:oleObj name="think-cell Folie" r:id="rId13" imgW="7772400" imgH="10058400" progId="TCLayout.ActiveDocument.1">
                  <p:embed/>
                  <p:pic>
                    <p:nvPicPr>
                      <p:cNvPr id="4" name="think-cell data - do not delete" hidden="1">
                        <a:extLst>
                          <a:ext uri="{FF2B5EF4-FFF2-40B4-BE49-F238E27FC236}">
                            <a16:creationId xmlns:a16="http://schemas.microsoft.com/office/drawing/2014/main" id="{FBC7FB1C-2DC6-CB34-34F7-7D3CF72597C0}"/>
                          </a:ext>
                        </a:extLst>
                      </p:cNvPr>
                      <p:cNvPicPr/>
                      <p:nvPr/>
                    </p:nvPicPr>
                    <p:blipFill>
                      <a:blip r:embed="rId14"/>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Fallstudie "Customer Churn Prevention" | Wintersemester 2024/25</a:t>
            </a:r>
          </a:p>
        </p:txBody>
      </p:sp>
    </p:spTree>
    <p:extLst>
      <p:ext uri="{BB962C8B-B14F-4D97-AF65-F5344CB8AC3E}">
        <p14:creationId xmlns:p14="http://schemas.microsoft.com/office/powerpoint/2010/main" val="15266728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5"/>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442">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Kapitel, neun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311400"/>
            <a:ext cx="279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311400"/>
            <a:ext cx="8680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692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692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3073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3073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454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454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835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835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4216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4216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597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597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978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978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5359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5359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5740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Ausblick</a:t>
            </a:r>
          </a:p>
        </p:txBody>
      </p:sp>
      <p:sp>
        <p:nvSpPr>
          <p:cNvPr id="25" name="Rectangle 24"/>
          <p:cNvSpPr/>
          <p:nvPr/>
        </p:nvSpPr>
        <p:spPr>
          <a:xfrm>
            <a:off x="3947160" y="5740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fehlt noch, damit die Räder gewartet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100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fn_ausleihe_beenden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98155"/>
            <a:ext cx="11677650" cy="407768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99755"/>
            <a:ext cx="11474450" cy="38744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_beenden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15,00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a:t>
            </a:r>
          </a:p>
        </p:txBody>
      </p:sp>
      <p:sp>
        <p:nvSpPr>
          <p:cNvPr id="13" name="TextBox 12"/>
          <p:cNvSpPr txBox="1"/>
          <p:nvPr/>
        </p:nvSpPr>
        <p:spPr>
          <a:xfrm>
            <a:off x="7274559" y="2743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alter default privileges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revoke execute on functions</a:t>
            </a:r>
          </a:p>
          <a:p>
            <a:pPr algn="l">
              <a:lnSpc>
                <a:spcPct val="95000"/>
              </a:lnSpc>
              <a:spcBef>
                <a:spcPts val="300"/>
              </a:spcBef>
            </a:pPr>
            <a:r>
              <a:rPr sz="1300" b="0">
                <a:solidFill>
                  <a:srgbClr val="404040"/>
                </a:solidFill>
              </a:rPr>
              <a:t>  from public;</a:t>
            </a:r>
          </a:p>
        </p:txBody>
      </p:sp>
      <p:sp>
        <p:nvSpPr>
          <p:cNvPr id="14" name="Rectangle 13"/>
          <p:cNvSpPr/>
          <p:nvPr/>
        </p:nvSpPr>
        <p:spPr>
          <a:xfrm>
            <a:off x="1153160" y="5080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156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Aufgedeckt hat das ein Test, nicht Nachdenken. Rechte werden geprüft, nicht angenommen.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7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fehlt noch, damit Annas Rad auch gewartet wird?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Sätze, die diese Einheit tragen</a:t>
            </a:r>
          </a:p>
        </p:txBody>
      </p:sp>
      <p:sp>
        <p:nvSpPr>
          <p:cNvPr id="3" name="Text Placeholder 2"/>
          <p:cNvSpPr>
            <a:spLocks noGrp="1"/>
          </p:cNvSpPr>
          <p:nvPr>
            <p:ph type="body" idx="12" sz="quarter"/>
          </p:nvPr>
        </p:nvSpPr>
        <p:spPr/>
        <p:txBody>
          <a:bodyPr/>
          <a:lstStyle/>
          <a:p>
            <a:r>
              <a:t>9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sechs. Zu jedem sollten Sie ein Beispiel aus Annas Fahrt nennen können.</a:t>
            </a:r>
          </a:p>
        </p:txBody>
      </p:sp>
      <p:sp>
        <p:nvSpPr>
          <p:cNvPr id="6" name="Rectangle 5"/>
          <p:cNvSpPr/>
          <p:nvPr/>
        </p:nvSpPr>
        <p:spPr>
          <a:xfrm>
            <a:off x="1153160" y="22606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606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8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368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9083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083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35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9845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5560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5560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6322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42037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2037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33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2799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8514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8514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978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276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54991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4991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5626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55753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Warenwirtschaft hängt an denselben Entitäten</a:t>
            </a:r>
          </a:p>
        </p:txBody>
      </p:sp>
      <p:sp>
        <p:nvSpPr>
          <p:cNvPr id="3" name="Text Placeholder 2"/>
          <p:cNvSpPr>
            <a:spLocks noGrp="1"/>
          </p:cNvSpPr>
          <p:nvPr>
            <p:ph type="body" idx="12" sz="quarter"/>
          </p:nvPr>
        </p:nvSpPr>
        <p:spPr/>
        <p:txBody>
          <a:bodyPr/>
          <a:lstStyle/>
          <a:p>
            <a:r>
              <a:t>9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Vier weitere Fachbereiche sind bereits entworfen — deshalb war es richtig, hersteller und fahrradmodell schon jetzt einzuziehen.</a:t>
            </a:r>
          </a:p>
        </p:txBody>
      </p:sp>
      <p:sp>
        <p:nvSpPr>
          <p:cNvPr id="6" name="Rectangle 5"/>
          <p:cNvSpPr/>
          <p:nvPr/>
        </p:nvSpPr>
        <p:spPr>
          <a:xfrm>
            <a:off x="3146645" y="1778000"/>
            <a:ext cx="7487478"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3248245" y="1879600"/>
            <a:ext cx="7284278"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daraus ein Wartungsauftrag und eine Lagerbewegung.</a:t>
            </a:r>
          </a:p>
        </p:txBody>
      </p:sp>
    </p:spTree>
  </p:cSld>
  <p:clrMapOvr>
    <a:masterClrMapping/>
  </p:clrMapOvr>
</p:sld>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2.xml><?xml version="1.0" encoding="utf-8"?>
<a:theme xmlns:a="http://schemas.openxmlformats.org/drawingml/2006/main" name="1_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THWS_Template</Template>
  <TotalTime>0</TotalTime>
  <Words>30506</Words>
  <Application>Microsoft Macintosh PowerPoint</Application>
  <PresentationFormat>Benutzerdefiniert</PresentationFormat>
  <Paragraphs>3605</Paragraphs>
  <Slides>223</Slides>
  <Notes>187</Notes>
  <HiddenSlides>0</HiddenSlides>
  <MMClips>2</MMClips>
  <ScaleCrop>false</ScaleCrop>
  <HeadingPairs>
    <vt:vector size="8" baseType="variant">
      <vt:variant>
        <vt:lpstr>Verwendete Schriftarten</vt:lpstr>
      </vt:variant>
      <vt:variant>
        <vt:i4>20</vt:i4>
      </vt:variant>
      <vt:variant>
        <vt:lpstr>Design</vt:lpstr>
      </vt:variant>
      <vt:variant>
        <vt:i4>2</vt:i4>
      </vt:variant>
      <vt:variant>
        <vt:lpstr>Eingebettete OLE-Server</vt:lpstr>
      </vt:variant>
      <vt:variant>
        <vt:i4>1</vt:i4>
      </vt:variant>
      <vt:variant>
        <vt:lpstr>Folientitel</vt:lpstr>
      </vt:variant>
      <vt:variant>
        <vt:i4>223</vt:i4>
      </vt:variant>
    </vt:vector>
  </HeadingPairs>
  <TitlesOfParts>
    <vt:vector size="246" baseType="lpstr">
      <vt:lpstr>Lucida Bright</vt:lpstr>
      <vt:lpstr>League Spartan</vt:lpstr>
      <vt:lpstr>GT Planar Medium</vt:lpstr>
      <vt:lpstr>Segoe UI</vt:lpstr>
      <vt:lpstr>Aptos</vt:lpstr>
      <vt:lpstr>Arial Narrow</vt:lpstr>
      <vt:lpstr>Verdana</vt:lpstr>
      <vt:lpstr>Courier New</vt:lpstr>
      <vt:lpstr>Arial</vt:lpstr>
      <vt:lpstr>Wingdings</vt:lpstr>
      <vt:lpstr>Segoe UI Light</vt:lpstr>
      <vt:lpstr>Cambria Math</vt:lpstr>
      <vt:lpstr>Wingdings 2</vt:lpstr>
      <vt:lpstr>Calibri</vt:lpstr>
      <vt:lpstr>Arial Black</vt:lpstr>
      <vt:lpstr>Segoe Script</vt:lpstr>
      <vt:lpstr>Segoe UI Black</vt:lpstr>
      <vt:lpstr>Garamond</vt:lpstr>
      <vt:lpstr>GT Planar Light</vt:lpstr>
      <vt:lpstr>Chalkboy</vt:lpstr>
      <vt:lpstr>Charts</vt:lpstr>
      <vt:lpstr>1_Charts</vt:lpstr>
      <vt:lpstr>think-cell Folie</vt:lpstr>
      <vt:lpstr>PowerPoint-Präsentation</vt:lpstr>
      <vt:lpstr>PowerPoint-Präsentation</vt:lpstr>
      <vt:lpstr>Vorwort</vt:lpstr>
      <vt:lpstr>Über mich</vt:lpstr>
      <vt:lpstr>Literaturempfehlungen (Auswahl)</vt:lpstr>
      <vt:lpstr>Literaturempfehlungen (Auswahl)</vt:lpstr>
      <vt:lpstr>Literaturempfehlungen (Auswahl)</vt:lpstr>
      <vt:lpstr>Literaturempfehlungen (Auswahl)</vt:lpstr>
      <vt:lpstr>Literaturempfehlungen (Auswahl)</vt:lpstr>
      <vt:lpstr>Themenfelder von Business Intelligence </vt:lpstr>
      <vt:lpstr>Inhalte (Auswahl)</vt:lpstr>
      <vt:lpstr>Lernziele (Auswahl)</vt:lpstr>
      <vt:lpstr>Berührungspunkte zwischen den Veranstaltungen BINT und DABA ("Datenbanken")</vt:lpstr>
      <vt:lpstr>Inhaltsverzeichnis</vt:lpstr>
      <vt:lpstr>Einstieg und Motivation</vt:lpstr>
      <vt:lpstr>Business Intelligence | Hinführung</vt:lpstr>
      <vt:lpstr>Business Intelligence | Wortzerlegung und -bedeutung</vt:lpstr>
      <vt:lpstr>Begriffswirrwarr im Kontext von Business Intelligence  </vt:lpstr>
      <vt:lpstr>Vorabbemerkung und Motivation</vt:lpstr>
      <vt:lpstr>Google Trends | Entwicklung der Suchbegriffe zu "BI", "BA" und "DS" | 2004..2024 | Weltweit</vt:lpstr>
      <vt:lpstr>Assoziationen im Kontext mit "Business Intelligence"</vt:lpstr>
      <vt:lpstr>Treiber und Motivation für Business Intelligence (Auswahl) </vt:lpstr>
      <vt:lpstr>Motivation zum Speichern von Daten in Unternehmen | 2022</vt:lpstr>
      <vt:lpstr>Analytische Dimension | Potenziale im Allgemeinen (Auswahl)</vt:lpstr>
      <vt:lpstr>Spannweite | Nutzung von Daten und deren Monetarisierung</vt:lpstr>
      <vt:lpstr>Digitale Transformation (und potenzielle Einsatzgebiete von BI) | "Big Picture" nach Holger Schmidt</vt:lpstr>
      <vt:lpstr>"Virtuos cycle of data, AI and digital transformation" als "Perpetuum mobile"</vt:lpstr>
      <vt:lpstr>Exkurs | Digitalisierung als Oberbegriff | Zusammensetzung</vt:lpstr>
      <vt:lpstr>Berührungspunkte von Business Intelligence zu anderen Bereichen (Auswahl)</vt:lpstr>
      <vt:lpstr>BARC: Data, BI and Analytics Trend Monitor 2023 | n = 1.823 befragte Personen</vt:lpstr>
      <vt:lpstr>Weltweiter Umsatz mit BI-Software | 2016 bis 2028 (*Prognose) | Werte in Mrd. EUR</vt:lpstr>
      <vt:lpstr>Links: Hersteller von BI-Software nach Marktanteilen (2021) | Gartner's Magic Quadrant…</vt:lpstr>
      <vt:lpstr>Use Case "Superstore Sales" | BI-Auswertungen im Zusammenspiel mit ChatGPT</vt:lpstr>
      <vt:lpstr>Exkurs | Der wahre Nutzen generativer KI 😉 </vt:lpstr>
      <vt:lpstr>Exkurs | Zeitraum in Tagen, die online-Dienste für eine Million Nutzer:innen benötigt haben</vt:lpstr>
      <vt:lpstr>Use Case | BI-Auswertungen im Zusammenspiel mit ChatGPT | Auswahl an Forschungsfragen</vt:lpstr>
      <vt:lpstr>Use Case | BI-Auswertungen im Zusammenspiel mit ChatGPT | Generische BI-/ Analytics-Architektur</vt:lpstr>
      <vt:lpstr>Use Case | Typische BI-Fragestellungen (Auswahl) und Datensatz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 | BI-Auswertungen im Zusammenspiel mit ChatGPT | Fazit (Auswahl)</vt:lpstr>
      <vt:lpstr>Diskussion </vt:lpstr>
      <vt:lpstr>Diskussion</vt:lpstr>
      <vt:lpstr>Exkurs | The economic potential of generative AI | Studie von McKinsey &amp; Company (2023)</vt:lpstr>
      <vt:lpstr>Diskussion | Future Skills im Kontext von KI (Auswahl)</vt:lpstr>
      <vt:lpstr>Interview mit Jensen Huang, Founder and CEO of NVIDIA</vt:lpstr>
      <vt:lpstr>Aussage 1: "[…] such nobody has to program […]" (Jensen Huang)</vt:lpstr>
      <vt:lpstr>Aussage 2: "[…] everybody in the world is now a programmer […]" (Jensen Huang)</vt:lpstr>
      <vt:lpstr>Diskussion | Einsatzgebiete von ChatGPT bzw. generativer KI</vt:lpstr>
      <vt:lpstr>Programmierfähigkeiten | Diskussion</vt:lpstr>
      <vt:lpstr>BI-Auswertungen im Zusammenspiel mit generativer KI | Diskussionspunkte</vt:lpstr>
      <vt:lpstr>Diskussion | Will AI fix work? (Microsoft) | Diskussion</vt:lpstr>
      <vt:lpstr>Diskussion</vt:lpstr>
      <vt:lpstr>Diskussion</vt:lpstr>
      <vt:lpstr>Exkurs | Diskussion anhand der 10 Thesen für einen Berufsstand im Wandel </vt:lpstr>
      <vt:lpstr>Diskussion</vt:lpstr>
      <vt:lpstr>Diskussion</vt:lpstr>
      <vt:lpstr>Grundlagen und Definitionen</vt:lpstr>
      <vt:lpstr>Business Intelligence (BI) und weitere Begriffe im Umfeld von Analytics</vt:lpstr>
      <vt:lpstr>Überblick | Overview of buzzwords in the data and AI sphere</vt:lpstr>
      <vt:lpstr>Historische Entwicklung analytischer Anwendungen</vt:lpstr>
      <vt:lpstr>Historische Entwicklung analytischer Anwendungen</vt:lpstr>
      <vt:lpstr>Entwicklung analytischer Informationssysteme: 1960-er Jahre (Management-Informations-System)</vt:lpstr>
      <vt:lpstr>Entwicklung analytischer Informationssysteme: 1960-er Jahre (Management-Informations-System)</vt:lpstr>
      <vt:lpstr>Entwicklung analytischer Informationssysteme: 1970-er Jahre (Decision Support System)</vt:lpstr>
      <vt:lpstr>Entwicklung analytischer Informationssysteme: 1980-er Jahre (Executive-Information-System)</vt:lpstr>
      <vt:lpstr>Schlagworte im BI-Umfeld ab den 1990er-Jahren</vt:lpstr>
      <vt:lpstr>Entwicklung analytischer Informationssysteme: ab 1990-er Jahre (Data Warehouse)</vt:lpstr>
      <vt:lpstr>Schlagworte im BI-Umfeld ab den 2000er-Jahren</vt:lpstr>
      <vt:lpstr>Entwicklung der analytischen Informationssysteme: ab 1990-er Jahre (Begriff BI kommt auf)</vt:lpstr>
      <vt:lpstr>Entwicklung analytischer Informationssysteme: ab 1990-er Jahre (BI als Sammelbegriff)</vt:lpstr>
      <vt:lpstr>Schlagworte im BI-Umfeld ab den 2010er-Jahren bis heute (2020)</vt:lpstr>
      <vt:lpstr>Business Intelligence | Spannweite der Definitionsansätze</vt:lpstr>
      <vt:lpstr>Business Intelligence | Spannweite der Definitionsansätze</vt:lpstr>
      <vt:lpstr>Exkurs | Beitrag von Informationssystemen zur Erreichung betrieblicher Ziele</vt:lpstr>
      <vt:lpstr>Ziele und Aufgaben eines Informationssystems (Auswahl)</vt:lpstr>
      <vt:lpstr>BI als spezielle Klasse von Informationssystemen | Arten betrieblicher Informationssysteme</vt:lpstr>
      <vt:lpstr>BI als spezielle Klasse von Informationssystemen | Arten betrieblicher Informationssysteme</vt:lpstr>
      <vt:lpstr>BI als spezielle Klasse von Informationssystemen | Arten betrieblicher Informationssysteme</vt:lpstr>
      <vt:lpstr>Evolution of enterprise data | Evolution of data technology over time</vt:lpstr>
      <vt:lpstr>Abgrenzung zwischen operativen und entscheidungsorientierten/ analytischen Daten</vt:lpstr>
      <vt:lpstr>Business Intelligence | Spannweite der Definitionsansätze</vt:lpstr>
      <vt:lpstr>Business Intelligence | Übersicht ausgewählter Definitionsansätze</vt:lpstr>
      <vt:lpstr>Business Intelligence | Definitionsansatz nach Howard Dresner</vt:lpstr>
      <vt:lpstr>Business Intelligence | Business Intelligence Platforms &amp; Business Intelligence Services | Gartner</vt:lpstr>
      <vt:lpstr>Business Intelligence | Business Intelligence | Forrester</vt:lpstr>
      <vt:lpstr>Business Intelligence | Definitionsansatz nach Adis Terzić</vt:lpstr>
      <vt:lpstr>Business Intelligence | Definitionsansatz nach Dietmar Schön</vt:lpstr>
      <vt:lpstr>Exkurs | Management | PDCA-Zyklus (nach Shewhart und Deming)</vt:lpstr>
      <vt:lpstr>PDCA-Managementregelkreis im Zusammenhang mit der Datenanalyse nach Schön</vt:lpstr>
      <vt:lpstr>Konzept der integrierten Unternehmensplanung | BI und Performance Management im Zusammenspiel</vt:lpstr>
      <vt:lpstr>Exkurs | Generische Prozesse in Unternehmen oder Wertschöpfungsnetzwerken</vt:lpstr>
      <vt:lpstr>Exkurs | Generische Prozesse in Unternehmen oder Wertschöpfungsnetzwerken</vt:lpstr>
      <vt:lpstr>Exkurs | Digitalisierung  Prozesse  Analytik</vt:lpstr>
      <vt:lpstr>Exkurs | Digitalisierung  Prozesse</vt:lpstr>
      <vt:lpstr>Exkurs | Digitalisierung  Prozesse | Wirkungszusammenhang</vt:lpstr>
      <vt:lpstr>Business Intelligence als Prozess und unternehmerischer Gesamtansatz | Arbeitsdefinition</vt:lpstr>
      <vt:lpstr>Business Intelligence als Prozess | Arbeitsdefinition und Zielsetzung </vt:lpstr>
      <vt:lpstr>Studie zur Nutzung von Daten nach Datenarten und -kategorien (2016) | Bitkom und KPMG</vt:lpstr>
      <vt:lpstr>Treiber für das (massenhafte) Datenaufkommen bzw. für "Datafication" (Auswahl)</vt:lpstr>
      <vt:lpstr>Business Intelligence als Prozess | Arbeitsdefinition und Zielsetzung</vt:lpstr>
      <vt:lpstr>Business Intelligence als Prozess | Arbeitsdefinition und (erweiterte) Zielsetzung</vt:lpstr>
      <vt:lpstr>Business Intelligence als Prozess | Arbeitsdefinition und (erweiterte) Zielsetzung</vt:lpstr>
      <vt:lpstr>Business Intelligence als Prozess am Beispiel einer Supermarkt-Kette</vt:lpstr>
      <vt:lpstr>Business Intelligence als Prozess am Beispiel einer Supermarkt-Kette</vt:lpstr>
      <vt:lpstr>Aufbereitung | Arten von Analysen zur Informationsgenerierung</vt:lpstr>
      <vt:lpstr>Praxisbeispiele für BI-Aufbereitungen</vt:lpstr>
      <vt:lpstr>Praxisbeispiele für BI-Aufbereitungen | Dashboard</vt:lpstr>
      <vt:lpstr>Praxisbeispiele für BI-Aufbereitungen | Dashboard (diesmal kein Business-Kontext)</vt:lpstr>
      <vt:lpstr>Business Intelligence als ein Input unter mehreren für die Entscheidungsfindung </vt:lpstr>
      <vt:lpstr>Business Intelligence | Spannweite der Definitionsansätze</vt:lpstr>
      <vt:lpstr>Business Intelligence zur Unterstützung des Managementregelkreises</vt:lpstr>
      <vt:lpstr>Einsatzfeld analytischer Informationssysteme | BI als integrierter Gesamtansatz</vt:lpstr>
      <vt:lpstr>Einsatzfeld analytischer Informationssysteme | BI als integrierter Gesamtansatz</vt:lpstr>
      <vt:lpstr>Die operative und analytische Dimension von Daten</vt:lpstr>
      <vt:lpstr>Die operative und analytische Dimension von Daten</vt:lpstr>
      <vt:lpstr>Zur operativen und analytischen Dimension gesellt sich noch die strategische hinzu</vt:lpstr>
      <vt:lpstr>BI als integrierter Gesamtansatz und als Ordnungsrahmen | Beispiel Wertschöpfungskette im E-Business</vt:lpstr>
      <vt:lpstr>BI als integrierter Gesamtansatz und als Ordnungsrahmen</vt:lpstr>
      <vt:lpstr>BI als integrierter Gesamtansatz und Ordnungsrahmen | Beispiel einer technischen Umsetzung </vt:lpstr>
      <vt:lpstr>BI als integrierter Gesamtansatz und Ordnungsrahmen | Beispiel einer technischen Umsetzung </vt:lpstr>
      <vt:lpstr>Perspektiven einer Business-Intelligence-Strategie (Auswahl)</vt:lpstr>
      <vt:lpstr>Nutzen und Einsatzfelder</vt:lpstr>
      <vt:lpstr>Analytische Dimension | Potenzielle Wettbewerbsvorteile (Auswahl)</vt:lpstr>
      <vt:lpstr>Auswahl an Einsatzfeldern für BI und Analysemöglichkeiten (Auswahl)</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Nutzen von Business Intelligence (BI) | Schematische Darstellung</vt:lpstr>
      <vt:lpstr>Nutzen von Business Intelligence (BI) | Schematische Darstellung</vt:lpstr>
      <vt:lpstr>Nutzen von Business Intelligence | Beispiele</vt:lpstr>
      <vt:lpstr>Nutzen von Business Intelligence | Kategorisierung</vt:lpstr>
      <vt:lpstr>Nutzen von Business Intelligence | Sammlung von "Werbeversprechen" (Auswahl)</vt:lpstr>
      <vt:lpstr>Nutzen von Datenanalyse im Generellen | Werbefilm der IBM™, aber keine Werbung 😉</vt:lpstr>
      <vt:lpstr>Job Profile | Business Intelligence und Data Science am Beispiel Flaschenpost.de </vt:lpstr>
      <vt:lpstr>Stellenannonce "Senior Analyst (m/w/d)" am Beispiel Flaschenpost.de </vt:lpstr>
      <vt:lpstr>Stellenannonce "Senior Analyst (m/w/d)" am Beispiel Flaschenpost.de </vt:lpstr>
      <vt:lpstr>Business Intelligence im Kontext mit anderen Analytics-Begriffen</vt:lpstr>
      <vt:lpstr>Überblick | Overview of buzzwords in the data and AI sphere</vt:lpstr>
      <vt:lpstr>Knowledge Discovery in Databases (KDD) | Definition</vt:lpstr>
      <vt:lpstr>Knowledge Discovery in Databases (KDD) | Überblick der Einzelschritte mit Fokus auf "Data-Mining"</vt:lpstr>
      <vt:lpstr>Knowledge Discovery in Databases (KDD) | Prozessschritt "Data-Mining"</vt:lpstr>
      <vt:lpstr>Knowledge Discovery in Databases (KDD) | Prozessschritt "Data-Mining"</vt:lpstr>
      <vt:lpstr>Data-Mining | Zwei Dimensionen in der Bedeutung</vt:lpstr>
      <vt:lpstr>Data-Mining | Definition nach Fayyad et al. (1996)</vt:lpstr>
      <vt:lpstr>Data-Mining | Definition nach Roiger (2017)</vt:lpstr>
      <vt:lpstr>Data-Mining | "Datenmustererkennung"</vt:lpstr>
      <vt:lpstr>Data-Mining | Grundsätzliche Unterscheidung in zwei Klassen </vt:lpstr>
      <vt:lpstr>Data-Mining | Charakterisierung und Aufgabenfelder (Auswahl) </vt:lpstr>
      <vt:lpstr>Data-Mining | Verschiedene Arten von "Machine Learning"</vt:lpstr>
      <vt:lpstr>Data-Mining | Unterschiede zwischen Klassifikation und Clustering (Auswahl)</vt:lpstr>
      <vt:lpstr>Data-Mining | Charakterisierung und Aufgabenfelder (Auswahl) </vt:lpstr>
      <vt:lpstr>Data-Mining | Aufgabenfelder, Anwendungsfelder und Verfahren/ Algorithmen (Auswahl)</vt:lpstr>
      <vt:lpstr>Einordnung und Verständnisweisen von Business Intelligence </vt:lpstr>
      <vt:lpstr>Unterschiede zwischen "Reporting", "multidimensionaler Analyse" und "Data Mining"</vt:lpstr>
      <vt:lpstr>Überblick | Overview of buzzwords in the data and AI sphere</vt:lpstr>
      <vt:lpstr>Data Science | Definitionsansatz</vt:lpstr>
      <vt:lpstr>PowerPoint-Präsentation</vt:lpstr>
      <vt:lpstr>PowerPoint-Präsentation</vt:lpstr>
      <vt:lpstr>Data Science | (Typical) selected Data Science tasks and examples </vt:lpstr>
      <vt:lpstr>Data Science | Berührungspunkte zu anderen Disziplinen</vt:lpstr>
      <vt:lpstr>Überblick | Overview of buzzwords in the data and AI sphere</vt:lpstr>
      <vt:lpstr>Business Analytics | Definitionsansatz nach Gartner</vt:lpstr>
      <vt:lpstr>Business Analytics | Definitionsansatz nach Gartner</vt:lpstr>
      <vt:lpstr>Business Analytics | Definition und Verständnis von "Analytics" </vt:lpstr>
      <vt:lpstr>Business Analytics | Herleitung einer Arbeitsdefinition </vt:lpstr>
      <vt:lpstr>Business Analytics | Arbeitsdefinition </vt:lpstr>
      <vt:lpstr>Business Analytics | Evolutionsstufen und Charakteristika </vt:lpstr>
      <vt:lpstr>Berührungspunkte zwischen Business Intelligence und Business Analytics </vt:lpstr>
      <vt:lpstr>Überschneidungen zwischen "Business Intelligence" und "Business Analytics" </vt:lpstr>
      <vt:lpstr>Verschiedene Formen der Analyse aus zeitlicher Perspektive</vt:lpstr>
      <vt:lpstr>"Business Analytics" mit seinen Abstufungen (nach AT Kearney)</vt:lpstr>
      <vt:lpstr>Verständnis und Dimensionen von "Business Analytics (BA)" | Kategorien von Definitionen</vt:lpstr>
      <vt:lpstr>Überblick | Overview of buzzwords in the data and AI sphere</vt:lpstr>
      <vt:lpstr>Exkurs | Kategorisierung von Big-Data-Definitionen</vt:lpstr>
      <vt:lpstr>Exkurs | Big Data | Die "klassischen" drei Vs</vt:lpstr>
      <vt:lpstr>Exkurs | Taxonomie von Big-Data-Systemen</vt:lpstr>
      <vt:lpstr>Daten | Unterteilt nach Aufkommen und Menge</vt:lpstr>
      <vt:lpstr>Unterschiede zwischen "Non Big Data" und "Big Data"</vt:lpstr>
      <vt:lpstr>Big Data | Die "klassischen" drei Vs | Merkmal "Volume"</vt:lpstr>
      <vt:lpstr>Big Data | Das Wachstum des weltweiten Datenvolumens</vt:lpstr>
      <vt:lpstr>Big Data | Die "klassischen" drei Vs | Merkmal "Velocity"</vt:lpstr>
      <vt:lpstr>Big Data | Die "klassischen" drei Vs | Merkmal "Velocity"</vt:lpstr>
      <vt:lpstr>Big Data | Die "klassischen" drei Vs | Merkmal "Variety"</vt:lpstr>
      <vt:lpstr>Berührungspunkte zwischen "Big Data" und "Business Intelligence"</vt:lpstr>
      <vt:lpstr>Big Data | Die "klassischen" drei Vs und weitere Vs (Auswahl)</vt:lpstr>
      <vt:lpstr>Big Data | Merkmal "Veracity"</vt:lpstr>
      <vt:lpstr>Big Data | Merkmal "Value"</vt:lpstr>
      <vt:lpstr>Big Data | Merkmal "Validity"</vt:lpstr>
      <vt:lpstr>Big Data | Merkmale "Variability", "Volatility", "Visualization" &amp; "Vulnerability"</vt:lpstr>
      <vt:lpstr>Big Data | Beispiele für "Vulnerability": "World's Biggest Data Breaches &amp; Hacks" </vt:lpstr>
      <vt:lpstr>Big Data | Verständnis von Daten im Kontext von Big Data</vt:lpstr>
      <vt:lpstr>Big Data | Beispiel | Ursprünglichkeit von Daten am Beispiel minutengenauer Aktienkurse</vt:lpstr>
      <vt:lpstr>Big Data | Big Data resultiert aus…</vt:lpstr>
      <vt:lpstr>Big Data | Mooresches Gesetz als Treiber</vt:lpstr>
      <vt:lpstr>Big Data | Mobile Computing"/ "Ubiquitous Computing als Treiber</vt:lpstr>
      <vt:lpstr>Big Data | Social Networking bzw. Social Media als Treiber</vt:lpstr>
      <vt:lpstr>Big Data | Cloud-Computing als Treiber</vt:lpstr>
      <vt:lpstr>Big Data | Folgen</vt:lpstr>
      <vt:lpstr>Big Data | Diskussion</vt:lpstr>
      <vt:lpstr>Gegenüberstellung von "Business Intelligence", "Big Data (Analytics)" und "Data-Mining"</vt:lpstr>
      <vt:lpstr>Anwendungen im Bereich "Künstlicher Intelligenz" | Einordnung und Anknüpfungspunkte </vt:lpstr>
      <vt:lpstr>Facetten der Künstlichen Intelligenz</vt:lpstr>
      <vt:lpstr>Facetten der Künstlichen Intelligenz</vt:lpstr>
      <vt:lpstr>Facetten und Anwendungsbereiche Maschinellen Lernens</vt:lpstr>
      <vt:lpstr>Grundsätzliche Funktionsweise</vt:lpstr>
      <vt:lpstr>KI-basierte Entscheidungen "Computer sagt Nein"</vt:lpstr>
      <vt:lpstr>Facetten der Künstlichen Intelligenz</vt:lpstr>
      <vt:lpstr>Künstliche Intelligenz ("Artificial Intelligence") | Definitionsansatz</vt:lpstr>
      <vt:lpstr>Fazit | (Vorschlag einer) Systematisierung und Verständnis in der Lehrveranstaltung</vt:lpstr>
      <vt:lpstr>Kontrollfragen</vt:lpstr>
      <vt:lpstr>Kontrollfragen</vt:lpstr>
      <vt:lpstr>Kontrollfragen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Robert Butscher</dc:creator>
  <cp:lastModifiedBy>Robert Butscher</cp:lastModifiedBy>
  <cp:revision>1</cp:revision>
  <dcterms:created xsi:type="dcterms:W3CDTF">2023-09-30T09:34:49Z</dcterms:created>
  <dcterms:modified xsi:type="dcterms:W3CDTF">2026-04-04T09:53:24Z</dcterms:modified>
</cp:coreProperties>
</file>