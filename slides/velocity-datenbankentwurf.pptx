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media/image10.svg" ContentType="image/svg+xml"/>
  <Override PartName="/ppt/media/image4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  <p:sldMasterId id="2147483674" r:id="rId2"/>
  </p:sldMasterIdLst>
  <p:notesMasterIdLst>
    <p:notesMasterId r:id="rId226"/>
  </p:notesMasterIdLst>
  <p:sldIdLst>
    <p:sldId id="256" r:id="rId43"/>
    <p:sldId id="257" r:id="rId44"/>
    <p:sldId id="258" r:id="rId45"/>
    <p:sldId id="259" r:id="rId46"/>
    <p:sldId id="260" r:id="rId47"/>
    <p:sldId id="261" r:id="rId48"/>
    <p:sldId id="262" r:id="rId49"/>
    <p:sldId id="263" r:id="rId50"/>
    <p:sldId id="264" r:id="rId51"/>
    <p:sldId id="265" r:id="rId52"/>
    <p:sldId id="266" r:id="rId53"/>
    <p:sldId id="267" r:id="rId54"/>
    <p:sldId id="268" r:id="rId55"/>
    <p:sldId id="269" r:id="rId56"/>
    <p:sldId id="270" r:id="rId57"/>
    <p:sldId id="271" r:id="rId58"/>
    <p:sldId id="272" r:id="rId59"/>
    <p:sldId id="273" r:id="rId60"/>
    <p:sldId id="274" r:id="rId61"/>
    <p:sldId id="275" r:id="rId62"/>
    <p:sldId id="276" r:id="rId63"/>
    <p:sldId id="277" r:id="rId64"/>
    <p:sldId id="278" r:id="rId65"/>
    <p:sldId id="279" r:id="rId66"/>
    <p:sldId id="280" r:id="rId67"/>
    <p:sldId id="281" r:id="rId68"/>
    <p:sldId id="282" r:id="rId69"/>
    <p:sldId id="283" r:id="rId70"/>
    <p:sldId id="284" r:id="rId71"/>
    <p:sldId id="285" r:id="rId72"/>
    <p:sldId id="286" r:id="rId73"/>
    <p:sldId id="287" r:id="rId74"/>
    <p:sldId id="288" r:id="rId75"/>
    <p:sldId id="289" r:id="rId76"/>
    <p:sldId id="290" r:id="rId77"/>
    <p:sldId id="291" r:id="rId78"/>
    <p:sldId id="292" r:id="rId79"/>
    <p:sldId id="293" r:id="rId80"/>
    <p:sldId id="294" r:id="rId81"/>
  </p:sldIdLst>
  <p:sldSz cx="13004800" cy="7315200"/>
  <p:notesSz cx="6858000" cy="9144000"/>
  <p:embeddedFontLst>
    <p:embeddedFont>
      <p:font typeface="Arial Black" panose="020B0604020202020204" pitchFamily="34" charset="0"/>
      <p:bold r:id="rId227"/>
    </p:embeddedFont>
    <p:embeddedFont>
      <p:font typeface="Arial Narrow" panose="020B0604020202020204" pitchFamily="34" charset="0"/>
      <p:regular r:id="rId228"/>
      <p:bold r:id="rId229"/>
      <p:italic r:id="rId230"/>
      <p:boldItalic r:id="rId231"/>
    </p:embeddedFont>
    <p:embeddedFont>
      <p:font typeface="Cambria Math" panose="02040503050406030204" pitchFamily="18" charset="0"/>
      <p:regular r:id="rId232"/>
    </p:embeddedFont>
    <p:embeddedFont>
      <p:font typeface="Chalkboy" pitchFamily="2" charset="0"/>
      <p:regular r:id="rId233"/>
    </p:embeddedFont>
    <p:embeddedFont>
      <p:font typeface="Garamond" panose="02020404030301010803" pitchFamily="18" charset="0"/>
      <p:regular r:id="rId234"/>
      <p:bold r:id="rId235"/>
      <p:italic r:id="rId236"/>
      <p:boldItalic r:id="rId237"/>
    </p:embeddedFont>
    <p:embeddedFont>
      <p:font typeface="GT Planar Light" pitchFamily="2" charset="77"/>
      <p:regular r:id="rId238"/>
    </p:embeddedFont>
    <p:embeddedFont>
      <p:font typeface="GT Planar Medium" pitchFamily="2" charset="77"/>
      <p:regular r:id="rId239"/>
    </p:embeddedFont>
    <p:embeddedFont>
      <p:font typeface="Lucida Bright" panose="02040602050505020304" pitchFamily="18" charset="77"/>
      <p:regular r:id="rId240"/>
      <p:bold r:id="rId241"/>
      <p:italic r:id="rId242"/>
      <p:boldItalic r:id="rId243"/>
    </p:embeddedFont>
    <p:embeddedFont>
      <p:font typeface="Segoe Script" panose="020B0804020000000003" pitchFamily="34" charset="0"/>
      <p:regular r:id="rId244"/>
      <p:bold r:id="rId245"/>
    </p:embeddedFont>
    <p:embeddedFont>
      <p:font typeface="Segoe UI" panose="020B0502040204020203" pitchFamily="34" charset="0"/>
      <p:regular r:id="rId246"/>
      <p:bold r:id="rId247"/>
      <p:italic r:id="rId248"/>
      <p:boldItalic r:id="rId249"/>
    </p:embeddedFont>
    <p:embeddedFont>
      <p:font typeface="Segoe UI Black" panose="020B0A02040204020203" pitchFamily="34" charset="0"/>
      <p:bold r:id="rId250"/>
      <p:italic r:id="rId251"/>
      <p:boldItalic r:id="rId252"/>
    </p:embeddedFont>
    <p:embeddedFont>
      <p:font typeface="Segoe UI Light" panose="020B0502040204020203" pitchFamily="34" charset="0"/>
      <p:regular r:id="rId253"/>
      <p:italic r:id="rId254"/>
    </p:embeddedFont>
    <p:embeddedFont>
      <p:font typeface="Verdana" panose="020B0604030504040204" pitchFamily="34" charset="0"/>
      <p:regular r:id="rId255"/>
      <p:bold r:id="rId256"/>
      <p:italic r:id="rId257"/>
      <p:boldItalic r:id="rId258"/>
    </p:embeddedFont>
    <p:embeddedFont>
      <p:font typeface="Wingdings 2" pitchFamily="2" charset="2"/>
      <p:regular r:id="rId259"/>
    </p:embeddedFont>
  </p:embeddedFontLst>
  <p:defaultTextStyle>
    <a:defPPr>
      <a:defRPr lang="de-DE"/>
    </a:defPPr>
    <a:lvl1pPr marL="0" algn="l" defTabSz="975299" rtl="0" eaLnBrk="1" latinLnBrk="0" hangingPunct="1">
      <a:defRPr sz="1920" kern="1200">
        <a:solidFill>
          <a:schemeClr val="tx1"/>
        </a:solidFill>
        <a:latin typeface="+mn-lt"/>
        <a:ea typeface="+mn-ea"/>
        <a:cs typeface="+mn-cs"/>
      </a:defRPr>
    </a:lvl1pPr>
    <a:lvl2pPr marL="487650" algn="l" defTabSz="975299" rtl="0" eaLnBrk="1" latinLnBrk="0" hangingPunct="1">
      <a:defRPr sz="1920" kern="1200">
        <a:solidFill>
          <a:schemeClr val="tx1"/>
        </a:solidFill>
        <a:latin typeface="+mn-lt"/>
        <a:ea typeface="+mn-ea"/>
        <a:cs typeface="+mn-cs"/>
      </a:defRPr>
    </a:lvl2pPr>
    <a:lvl3pPr marL="975299" algn="l" defTabSz="975299" rtl="0" eaLnBrk="1" latinLnBrk="0" hangingPunct="1">
      <a:defRPr sz="1920" kern="1200">
        <a:solidFill>
          <a:schemeClr val="tx1"/>
        </a:solidFill>
        <a:latin typeface="+mn-lt"/>
        <a:ea typeface="+mn-ea"/>
        <a:cs typeface="+mn-cs"/>
      </a:defRPr>
    </a:lvl3pPr>
    <a:lvl4pPr marL="1462949" algn="l" defTabSz="975299" rtl="0" eaLnBrk="1" latinLnBrk="0" hangingPunct="1">
      <a:defRPr sz="1920" kern="1200">
        <a:solidFill>
          <a:schemeClr val="tx1"/>
        </a:solidFill>
        <a:latin typeface="+mn-lt"/>
        <a:ea typeface="+mn-ea"/>
        <a:cs typeface="+mn-cs"/>
      </a:defRPr>
    </a:lvl4pPr>
    <a:lvl5pPr marL="1950598" algn="l" defTabSz="975299" rtl="0" eaLnBrk="1" latinLnBrk="0" hangingPunct="1">
      <a:defRPr sz="1920" kern="1200">
        <a:solidFill>
          <a:schemeClr val="tx1"/>
        </a:solidFill>
        <a:latin typeface="+mn-lt"/>
        <a:ea typeface="+mn-ea"/>
        <a:cs typeface="+mn-cs"/>
      </a:defRPr>
    </a:lvl5pPr>
    <a:lvl6pPr marL="2438248" algn="l" defTabSz="975299" rtl="0" eaLnBrk="1" latinLnBrk="0" hangingPunct="1">
      <a:defRPr sz="1920" kern="1200">
        <a:solidFill>
          <a:schemeClr val="tx1"/>
        </a:solidFill>
        <a:latin typeface="+mn-lt"/>
        <a:ea typeface="+mn-ea"/>
        <a:cs typeface="+mn-cs"/>
      </a:defRPr>
    </a:lvl6pPr>
    <a:lvl7pPr marL="2925897" algn="l" defTabSz="975299" rtl="0" eaLnBrk="1" latinLnBrk="0" hangingPunct="1">
      <a:defRPr sz="1920" kern="1200">
        <a:solidFill>
          <a:schemeClr val="tx1"/>
        </a:solidFill>
        <a:latin typeface="+mn-lt"/>
        <a:ea typeface="+mn-ea"/>
        <a:cs typeface="+mn-cs"/>
      </a:defRPr>
    </a:lvl7pPr>
    <a:lvl8pPr marL="3413547" algn="l" defTabSz="975299" rtl="0" eaLnBrk="1" latinLnBrk="0" hangingPunct="1">
      <a:defRPr sz="1920" kern="1200">
        <a:solidFill>
          <a:schemeClr val="tx1"/>
        </a:solidFill>
        <a:latin typeface="+mn-lt"/>
        <a:ea typeface="+mn-ea"/>
        <a:cs typeface="+mn-cs"/>
      </a:defRPr>
    </a:lvl8pPr>
    <a:lvl9pPr marL="3901196" algn="l" defTabSz="975299" rtl="0" eaLnBrk="1" latinLnBrk="0" hangingPunct="1">
      <a:defRPr sz="192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8848C7F6-97E6-4B11-A118-863CB7CF828E}">
          <p14:sldIdLst>
            <p14:sldId id="5982"/>
            <p14:sldId id="5683"/>
            <p14:sldId id="260"/>
            <p14:sldId id="1682"/>
            <p14:sldId id="4449"/>
            <p14:sldId id="4450"/>
            <p14:sldId id="4451"/>
            <p14:sldId id="4452"/>
            <p14:sldId id="5197"/>
            <p14:sldId id="5983"/>
            <p14:sldId id="275"/>
            <p14:sldId id="270"/>
            <p14:sldId id="5775"/>
            <p14:sldId id="5978"/>
          </p14:sldIdLst>
        </p14:section>
        <p14:section name="Einstieg und Motivation" id="{E1BB6230-C30E-4B68-9C80-D89944B25E87}">
          <p14:sldIdLst>
            <p14:sldId id="1676"/>
            <p14:sldId id="4716"/>
            <p14:sldId id="5168"/>
            <p14:sldId id="5211"/>
            <p14:sldId id="3976"/>
            <p14:sldId id="5226"/>
            <p14:sldId id="4841"/>
            <p14:sldId id="4888"/>
            <p14:sldId id="5213"/>
            <p14:sldId id="5223"/>
            <p14:sldId id="5212"/>
            <p14:sldId id="5181"/>
            <p14:sldId id="4009"/>
            <p14:sldId id="4856"/>
            <p14:sldId id="5169"/>
            <p14:sldId id="5090"/>
            <p14:sldId id="5088"/>
            <p14:sldId id="5089"/>
          </p14:sldIdLst>
        </p14:section>
        <p14:section name="Einstieg und Motivation | ChatGPT" id="{5E958211-3E23-4A26-95D5-38212114F2A8}">
          <p14:sldIdLst>
            <p14:sldId id="329"/>
            <p14:sldId id="4906"/>
            <p14:sldId id="5234"/>
            <p14:sldId id="325"/>
            <p14:sldId id="328"/>
            <p14:sldId id="259"/>
            <p14:sldId id="322"/>
            <p14:sldId id="5985"/>
            <p14:sldId id="5984"/>
            <p14:sldId id="5986"/>
            <p14:sldId id="5987"/>
            <p14:sldId id="5988"/>
            <p14:sldId id="5989"/>
            <p14:sldId id="5990"/>
            <p14:sldId id="5991"/>
            <p14:sldId id="311"/>
            <p14:sldId id="6464"/>
            <p14:sldId id="5240"/>
            <p14:sldId id="5239"/>
            <p14:sldId id="6466"/>
            <p14:sldId id="6461"/>
            <p14:sldId id="6462"/>
            <p14:sldId id="5686"/>
            <p14:sldId id="4861"/>
            <p14:sldId id="5692"/>
            <p14:sldId id="5010"/>
            <p14:sldId id="6465"/>
            <p14:sldId id="5241"/>
            <p14:sldId id="5242"/>
            <p14:sldId id="6467"/>
            <p14:sldId id="5773"/>
            <p14:sldId id="5772"/>
          </p14:sldIdLst>
        </p14:section>
        <p14:section name="Grundlagen und Definitionen" id="{4D67702E-8488-4CF1-870D-360128A90968}">
          <p14:sldIdLst>
            <p14:sldId id="4715"/>
            <p14:sldId id="3908"/>
            <p14:sldId id="4031"/>
            <p14:sldId id="5126"/>
            <p14:sldId id="5127"/>
            <p14:sldId id="5203"/>
            <p14:sldId id="5204"/>
            <p14:sldId id="5199"/>
            <p14:sldId id="5200"/>
            <p14:sldId id="5588"/>
            <p14:sldId id="265"/>
            <p14:sldId id="5589"/>
            <p14:sldId id="5201"/>
            <p14:sldId id="5202"/>
            <p14:sldId id="5590"/>
            <p14:sldId id="5215"/>
            <p14:sldId id="5216"/>
            <p14:sldId id="4245"/>
            <p14:sldId id="1729"/>
            <p14:sldId id="5182"/>
            <p14:sldId id="5183"/>
            <p14:sldId id="5184"/>
            <p14:sldId id="5198"/>
            <p14:sldId id="5205"/>
            <p14:sldId id="5217"/>
            <p14:sldId id="5114"/>
            <p14:sldId id="5730"/>
            <p14:sldId id="5166"/>
            <p14:sldId id="5167"/>
            <p14:sldId id="5115"/>
            <p14:sldId id="5117"/>
            <p14:sldId id="5119"/>
            <p14:sldId id="5214"/>
            <p14:sldId id="5208"/>
            <p14:sldId id="3928"/>
            <p14:sldId id="3728"/>
            <p14:sldId id="5188"/>
            <p14:sldId id="5190"/>
            <p14:sldId id="5191"/>
            <p14:sldId id="5120"/>
            <p14:sldId id="5122"/>
            <p14:sldId id="3819"/>
            <p14:sldId id="4911"/>
            <p14:sldId id="5170"/>
            <p14:sldId id="5193"/>
            <p14:sldId id="5195"/>
            <p14:sldId id="5178"/>
            <p14:sldId id="5179"/>
            <p14:sldId id="5132"/>
            <p14:sldId id="5192"/>
            <p14:sldId id="386"/>
            <p14:sldId id="5194"/>
            <p14:sldId id="5171"/>
            <p14:sldId id="5186"/>
            <p14:sldId id="5210"/>
            <p14:sldId id="3923"/>
            <p14:sldId id="3924"/>
            <p14:sldId id="5220"/>
            <p14:sldId id="5221"/>
            <p14:sldId id="5224"/>
            <p14:sldId id="5189"/>
            <p14:sldId id="5187"/>
            <p14:sldId id="4355"/>
            <p14:sldId id="4363"/>
            <p14:sldId id="3989"/>
          </p14:sldIdLst>
        </p14:section>
        <p14:section name="Nutzen und Einsatzfelder" id="{3822B21B-C9E1-4B2A-AF1F-0DD1C54AA3B2}">
          <p14:sldIdLst>
            <p14:sldId id="5218"/>
            <p14:sldId id="5222"/>
            <p14:sldId id="5371"/>
            <p14:sldId id="5172"/>
            <p14:sldId id="5173"/>
            <p14:sldId id="5174"/>
            <p14:sldId id="5175"/>
            <p14:sldId id="5176"/>
            <p14:sldId id="5177"/>
            <p14:sldId id="5123"/>
            <p14:sldId id="5124"/>
            <p14:sldId id="5263"/>
            <p14:sldId id="5196"/>
            <p14:sldId id="5125"/>
            <p14:sldId id="3932"/>
            <p14:sldId id="5979"/>
            <p14:sldId id="5980"/>
            <p14:sldId id="5981"/>
          </p14:sldIdLst>
        </p14:section>
        <p14:section name="BI im Kontext mit anderen Analytics-Begriffen" id="{3EEE2EE8-ED70-45D3-B7D4-A9E9E2171866}">
          <p14:sldIdLst>
            <p14:sldId id="5219"/>
            <p14:sldId id="5229"/>
            <p14:sldId id="5139"/>
            <p14:sldId id="5140"/>
            <p14:sldId id="5141"/>
            <p14:sldId id="5142"/>
            <p14:sldId id="5146"/>
            <p14:sldId id="5143"/>
            <p14:sldId id="5144"/>
            <p14:sldId id="5145"/>
            <p14:sldId id="5147"/>
            <p14:sldId id="3956"/>
            <p14:sldId id="4014"/>
            <p14:sldId id="3955"/>
            <p14:sldId id="3982"/>
            <p14:sldId id="3951"/>
            <p14:sldId id="276"/>
            <p14:sldId id="5206"/>
            <p14:sldId id="5230"/>
            <p14:sldId id="3948"/>
            <p14:sldId id="3977"/>
            <p14:sldId id="3971"/>
            <p14:sldId id="1159"/>
            <p14:sldId id="1293"/>
            <p14:sldId id="5231"/>
            <p14:sldId id="5104"/>
            <p14:sldId id="5105"/>
            <p14:sldId id="5108"/>
            <p14:sldId id="5106"/>
            <p14:sldId id="5107"/>
            <p14:sldId id="5109"/>
            <p14:sldId id="5128"/>
            <p14:sldId id="5136"/>
            <p14:sldId id="5130"/>
            <p14:sldId id="5129"/>
            <p14:sldId id="5112"/>
            <p14:sldId id="5232"/>
            <p14:sldId id="5767"/>
            <p14:sldId id="3917"/>
            <p14:sldId id="5768"/>
            <p14:sldId id="1309"/>
            <p14:sldId id="1311"/>
            <p14:sldId id="3916"/>
            <p14:sldId id="3912"/>
            <p14:sldId id="3919"/>
            <p14:sldId id="3910"/>
            <p14:sldId id="3915"/>
            <p14:sldId id="5209"/>
            <p14:sldId id="3920"/>
            <p14:sldId id="1496"/>
            <p14:sldId id="1497"/>
            <p14:sldId id="1498"/>
            <p14:sldId id="1499"/>
            <p14:sldId id="1500"/>
            <p14:sldId id="1381"/>
            <p14:sldId id="1501"/>
            <p14:sldId id="4690"/>
            <p14:sldId id="4689"/>
            <p14:sldId id="4682"/>
            <p14:sldId id="4699"/>
            <p14:sldId id="4710"/>
            <p14:sldId id="4686"/>
            <p14:sldId id="4688"/>
            <p14:sldId id="5148"/>
            <p14:sldId id="5153"/>
            <p14:sldId id="5154"/>
            <p14:sldId id="5155"/>
            <p14:sldId id="4964"/>
            <p14:sldId id="4965"/>
            <p14:sldId id="5045"/>
            <p14:sldId id="5156"/>
            <p14:sldId id="5157"/>
            <p14:sldId id="5162"/>
            <p14:sldId id="4459"/>
            <p14:sldId id="5164"/>
            <p14:sldId id="51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304" userDrawn="1">
          <p15:clr>
            <a:srgbClr val="A4A3A4"/>
          </p15:clr>
        </p15:guide>
        <p15:guide id="2" pos="728" userDrawn="1">
          <p15:clr>
            <a:srgbClr val="A4A3A4"/>
          </p15:clr>
        </p15:guide>
        <p15:guide id="3" orient="horz" pos="80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E6E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B4E1EBB-E92D-FB4D-8CFE-13DB06CD02BD}" v="24" dt="2026-04-04T09:53:15.3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49" autoAdjust="0"/>
    <p:restoredTop sz="96244"/>
  </p:normalViewPr>
  <p:slideViewPr>
    <p:cSldViewPr snapToGrid="0" showGuides="1">
      <p:cViewPr varScale="1">
        <p:scale>
          <a:sx n="164" d="100"/>
          <a:sy n="164" d="100"/>
        </p:scale>
        <p:origin x="408" y="472"/>
      </p:cViewPr>
      <p:guideLst>
        <p:guide orient="horz" pos="2304"/>
        <p:guide pos="728"/>
        <p:guide orient="horz" pos="807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43" Type="http://schemas.openxmlformats.org/officeDocument/2006/relationships/slide" Target="slides/slide1.xml"/><Relationship Id="rId44" Type="http://schemas.openxmlformats.org/officeDocument/2006/relationships/slide" Target="slides/slide2.xml"/><Relationship Id="rId45" Type="http://schemas.openxmlformats.org/officeDocument/2006/relationships/slide" Target="slides/slide3.xml"/><Relationship Id="rId46" Type="http://schemas.openxmlformats.org/officeDocument/2006/relationships/slide" Target="slides/slide4.xml"/><Relationship Id="rId47" Type="http://schemas.openxmlformats.org/officeDocument/2006/relationships/slide" Target="slides/slide5.xml"/><Relationship Id="rId48" Type="http://schemas.openxmlformats.org/officeDocument/2006/relationships/slide" Target="slides/slide6.xml"/><Relationship Id="rId49" Type="http://schemas.openxmlformats.org/officeDocument/2006/relationships/slide" Target="slides/slide7.xml"/><Relationship Id="rId50" Type="http://schemas.openxmlformats.org/officeDocument/2006/relationships/slide" Target="slides/slide8.xml"/><Relationship Id="rId51" Type="http://schemas.openxmlformats.org/officeDocument/2006/relationships/slide" Target="slides/slide9.xml"/><Relationship Id="rId52" Type="http://schemas.openxmlformats.org/officeDocument/2006/relationships/slide" Target="slides/slide10.xml"/><Relationship Id="rId53" Type="http://schemas.openxmlformats.org/officeDocument/2006/relationships/slide" Target="slides/slide11.xml"/><Relationship Id="rId54" Type="http://schemas.openxmlformats.org/officeDocument/2006/relationships/slide" Target="slides/slide12.xml"/><Relationship Id="rId55" Type="http://schemas.openxmlformats.org/officeDocument/2006/relationships/slide" Target="slides/slide13.xml"/><Relationship Id="rId56" Type="http://schemas.openxmlformats.org/officeDocument/2006/relationships/slide" Target="slides/slide14.xml"/><Relationship Id="rId57" Type="http://schemas.openxmlformats.org/officeDocument/2006/relationships/slide" Target="slides/slide15.xml"/><Relationship Id="rId58" Type="http://schemas.openxmlformats.org/officeDocument/2006/relationships/slide" Target="slides/slide16.xml"/><Relationship Id="rId59" Type="http://schemas.openxmlformats.org/officeDocument/2006/relationships/slide" Target="slides/slide17.xml"/><Relationship Id="rId60" Type="http://schemas.openxmlformats.org/officeDocument/2006/relationships/slide" Target="slides/slide18.xml"/><Relationship Id="rId61" Type="http://schemas.openxmlformats.org/officeDocument/2006/relationships/slide" Target="slides/slide19.xml"/><Relationship Id="rId62" Type="http://schemas.openxmlformats.org/officeDocument/2006/relationships/slide" Target="slides/slide20.xml"/><Relationship Id="rId63" Type="http://schemas.openxmlformats.org/officeDocument/2006/relationships/slide" Target="slides/slide21.xml"/><Relationship Id="rId64" Type="http://schemas.openxmlformats.org/officeDocument/2006/relationships/slide" Target="slides/slide22.xml"/><Relationship Id="rId65" Type="http://schemas.openxmlformats.org/officeDocument/2006/relationships/slide" Target="slides/slide23.xml"/><Relationship Id="rId66" Type="http://schemas.openxmlformats.org/officeDocument/2006/relationships/slide" Target="slides/slide24.xml"/><Relationship Id="rId67" Type="http://schemas.openxmlformats.org/officeDocument/2006/relationships/slide" Target="slides/slide25.xml"/><Relationship Id="rId68" Type="http://schemas.openxmlformats.org/officeDocument/2006/relationships/slide" Target="slides/slide26.xml"/><Relationship Id="rId69" Type="http://schemas.openxmlformats.org/officeDocument/2006/relationships/slide" Target="slides/slide27.xml"/><Relationship Id="rId70" Type="http://schemas.openxmlformats.org/officeDocument/2006/relationships/slide" Target="slides/slide28.xml"/><Relationship Id="rId71" Type="http://schemas.openxmlformats.org/officeDocument/2006/relationships/slide" Target="slides/slide29.xml"/><Relationship Id="rId72" Type="http://schemas.openxmlformats.org/officeDocument/2006/relationships/slide" Target="slides/slide30.xml"/><Relationship Id="rId73" Type="http://schemas.openxmlformats.org/officeDocument/2006/relationships/slide" Target="slides/slide31.xml"/><Relationship Id="rId74" Type="http://schemas.openxmlformats.org/officeDocument/2006/relationships/slide" Target="slides/slide32.xml"/><Relationship Id="rId75" Type="http://schemas.openxmlformats.org/officeDocument/2006/relationships/slide" Target="slides/slide33.xml"/><Relationship Id="rId76" Type="http://schemas.openxmlformats.org/officeDocument/2006/relationships/slide" Target="slides/slide34.xml"/><Relationship Id="rId77" Type="http://schemas.openxmlformats.org/officeDocument/2006/relationships/slide" Target="slides/slide35.xml"/><Relationship Id="rId78" Type="http://schemas.openxmlformats.org/officeDocument/2006/relationships/slide" Target="slides/slide36.xml"/><Relationship Id="rId79" Type="http://schemas.openxmlformats.org/officeDocument/2006/relationships/slide" Target="slides/slide37.xml"/><Relationship Id="rId80" Type="http://schemas.openxmlformats.org/officeDocument/2006/relationships/slide" Target="slides/slide38.xml"/><Relationship Id="rId81" Type="http://schemas.openxmlformats.org/officeDocument/2006/relationships/slide" Target="slides/slide39.xml"/><Relationship Id="rId226" Type="http://schemas.openxmlformats.org/officeDocument/2006/relationships/notesMaster" Target="notesMasters/notesMaster1.xml"/><Relationship Id="rId227" Type="http://schemas.openxmlformats.org/officeDocument/2006/relationships/font" Target="fonts/font1.fntdata"/><Relationship Id="rId228" Type="http://schemas.openxmlformats.org/officeDocument/2006/relationships/font" Target="fonts/font2.fntdata"/><Relationship Id="rId229" Type="http://schemas.openxmlformats.org/officeDocument/2006/relationships/font" Target="fonts/font3.fntdata"/><Relationship Id="rId230" Type="http://schemas.openxmlformats.org/officeDocument/2006/relationships/font" Target="fonts/font4.fntdata"/><Relationship Id="rId231" Type="http://schemas.openxmlformats.org/officeDocument/2006/relationships/font" Target="fonts/font5.fntdata"/><Relationship Id="rId232" Type="http://schemas.openxmlformats.org/officeDocument/2006/relationships/font" Target="fonts/font6.fntdata"/><Relationship Id="rId233" Type="http://schemas.openxmlformats.org/officeDocument/2006/relationships/font" Target="fonts/font7.fntdata"/><Relationship Id="rId234" Type="http://schemas.openxmlformats.org/officeDocument/2006/relationships/font" Target="fonts/font8.fntdata"/><Relationship Id="rId235" Type="http://schemas.openxmlformats.org/officeDocument/2006/relationships/font" Target="fonts/font9.fntdata"/><Relationship Id="rId236" Type="http://schemas.openxmlformats.org/officeDocument/2006/relationships/font" Target="fonts/font10.fntdata"/><Relationship Id="rId237" Type="http://schemas.openxmlformats.org/officeDocument/2006/relationships/font" Target="fonts/font11.fntdata"/><Relationship Id="rId238" Type="http://schemas.openxmlformats.org/officeDocument/2006/relationships/font" Target="fonts/font12.fntdata"/><Relationship Id="rId239" Type="http://schemas.openxmlformats.org/officeDocument/2006/relationships/font" Target="fonts/font13.fntdata"/><Relationship Id="rId240" Type="http://schemas.openxmlformats.org/officeDocument/2006/relationships/font" Target="fonts/font14.fntdata"/><Relationship Id="rId241" Type="http://schemas.openxmlformats.org/officeDocument/2006/relationships/font" Target="fonts/font15.fntdata"/><Relationship Id="rId242" Type="http://schemas.openxmlformats.org/officeDocument/2006/relationships/font" Target="fonts/font16.fntdata"/><Relationship Id="rId243" Type="http://schemas.openxmlformats.org/officeDocument/2006/relationships/font" Target="fonts/font17.fntdata"/><Relationship Id="rId244" Type="http://schemas.openxmlformats.org/officeDocument/2006/relationships/font" Target="fonts/font18.fntdata"/><Relationship Id="rId245" Type="http://schemas.openxmlformats.org/officeDocument/2006/relationships/font" Target="fonts/font19.fntdata"/><Relationship Id="rId246" Type="http://schemas.openxmlformats.org/officeDocument/2006/relationships/font" Target="fonts/font20.fntdata"/><Relationship Id="rId247" Type="http://schemas.openxmlformats.org/officeDocument/2006/relationships/font" Target="fonts/font21.fntdata"/><Relationship Id="rId248" Type="http://schemas.openxmlformats.org/officeDocument/2006/relationships/font" Target="fonts/font22.fntdata"/><Relationship Id="rId249" Type="http://schemas.openxmlformats.org/officeDocument/2006/relationships/font" Target="fonts/font23.fntdata"/><Relationship Id="rId250" Type="http://schemas.openxmlformats.org/officeDocument/2006/relationships/font" Target="fonts/font24.fntdata"/><Relationship Id="rId251" Type="http://schemas.openxmlformats.org/officeDocument/2006/relationships/font" Target="fonts/font25.fntdata"/><Relationship Id="rId252" Type="http://schemas.openxmlformats.org/officeDocument/2006/relationships/font" Target="fonts/font26.fntdata"/><Relationship Id="rId253" Type="http://schemas.openxmlformats.org/officeDocument/2006/relationships/font" Target="fonts/font27.fntdata"/><Relationship Id="rId254" Type="http://schemas.openxmlformats.org/officeDocument/2006/relationships/font" Target="fonts/font28.fntdata"/><Relationship Id="rId255" Type="http://schemas.openxmlformats.org/officeDocument/2006/relationships/font" Target="fonts/font29.fntdata"/><Relationship Id="rId256" Type="http://schemas.openxmlformats.org/officeDocument/2006/relationships/font" Target="fonts/font30.fntdata"/><Relationship Id="rId257" Type="http://schemas.openxmlformats.org/officeDocument/2006/relationships/font" Target="fonts/font31.fntdata"/><Relationship Id="rId258" Type="http://schemas.openxmlformats.org/officeDocument/2006/relationships/font" Target="fonts/font32.fntdata"/><Relationship Id="rId259" Type="http://schemas.openxmlformats.org/officeDocument/2006/relationships/font" Target="fonts/font33.fntdata"/><Relationship Id="rId260" Type="http://schemas.openxmlformats.org/officeDocument/2006/relationships/presProps" Target="presProps.xml"/><Relationship Id="rId261" Type="http://schemas.openxmlformats.org/officeDocument/2006/relationships/viewProps" Target="viewProps.xml"/><Relationship Id="rId262" Type="http://schemas.openxmlformats.org/officeDocument/2006/relationships/theme" Target="theme/theme1.xml"/><Relationship Id="rId263" Type="http://schemas.openxmlformats.org/officeDocument/2006/relationships/tableStyles" Target="tableStyles.xml"/><Relationship Id="rId264" Type="http://schemas.microsoft.com/office/2016/11/relationships/changesInfo" Target="changesInfos/changesInfo1.xml"/><Relationship Id="rId26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r. Robert Butscher" userId="61bc653898ddc2e0" providerId="LiveId" clId="{1F8CCD4D-F71B-57B1-9867-406FCF685594}"/>
    <pc:docChg chg="custSel modSld modMainMaster">
      <pc:chgData name="Dr. Robert Butscher" userId="61bc653898ddc2e0" providerId="LiveId" clId="{1F8CCD4D-F71B-57B1-9867-406FCF685594}" dt="2026-04-04T09:53:23.849" v="95" actId="299"/>
      <pc:docMkLst>
        <pc:docMk/>
      </pc:docMkLst>
      <pc:sldChg chg="modSp mod">
        <pc:chgData name="Dr. Robert Butscher" userId="61bc653898ddc2e0" providerId="LiveId" clId="{1F8CCD4D-F71B-57B1-9867-406FCF685594}" dt="2026-04-04T09:52:43.517" v="3" actId="20577"/>
        <pc:sldMkLst>
          <pc:docMk/>
          <pc:sldMk cId="4082944879" sldId="1682"/>
        </pc:sldMkLst>
        <pc:graphicFrameChg chg="modGraphic">
          <ac:chgData name="Dr. Robert Butscher" userId="61bc653898ddc2e0" providerId="LiveId" clId="{1F8CCD4D-F71B-57B1-9867-406FCF685594}" dt="2026-04-04T09:52:43.517" v="3" actId="20577"/>
          <ac:graphicFrameMkLst>
            <pc:docMk/>
            <pc:sldMk cId="4082944879" sldId="1682"/>
            <ac:graphicFrameMk id="10" creationId="{0E28EF6B-F745-4094-A0D1-976DCF50C9AA}"/>
          </ac:graphicFrameMkLst>
        </pc:graphicFrameChg>
      </pc:sldChg>
      <pc:sldChg chg="addSp modSp mod">
        <pc:chgData name="Dr. Robert Butscher" userId="61bc653898ddc2e0" providerId="LiveId" clId="{1F8CCD4D-F71B-57B1-9867-406FCF685594}" dt="2026-04-04T09:53:23.849" v="95" actId="299"/>
        <pc:sldMkLst>
          <pc:docMk/>
          <pc:sldMk cId="1304808375" sldId="5983"/>
        </pc:sldMkLst>
        <pc:spChg chg="mod">
          <ac:chgData name="Dr. Robert Butscher" userId="61bc653898ddc2e0" providerId="LiveId" clId="{1F8CCD4D-F71B-57B1-9867-406FCF685594}" dt="2026-04-04T09:53:23.849" v="95" actId="299"/>
          <ac:spMkLst>
            <pc:docMk/>
            <pc:sldMk cId="1304808375" sldId="5983"/>
            <ac:spMk id="8" creationId="{6DEE792D-283C-4642-A892-D42F87877A68}"/>
          </ac:spMkLst>
        </pc:spChg>
        <pc:graphicFrameChg chg="add mod modVis">
          <ac:chgData name="Dr. Robert Butscher" userId="61bc653898ddc2e0" providerId="LiveId" clId="{1F8CCD4D-F71B-57B1-9867-406FCF685594}" dt="2026-04-04T09:53:15.321" v="25"/>
          <ac:graphicFrameMkLst>
            <pc:docMk/>
            <pc:sldMk cId="1304808375" sldId="5983"/>
            <ac:graphicFrameMk id="3" creationId="{952C99EC-F97E-349D-8356-66AB18F6ADAA}"/>
          </ac:graphicFrameMkLst>
        </pc:graphicFrameChg>
      </pc:sldChg>
      <pc:sldMasterChg chg="addSp modSp mod">
        <pc:chgData name="Dr. Robert Butscher" userId="61bc653898ddc2e0" providerId="LiveId" clId="{1F8CCD4D-F71B-57B1-9867-406FCF685594}" dt="2026-04-04T09:53:15.344" v="38"/>
        <pc:sldMasterMkLst>
          <pc:docMk/>
          <pc:sldMasterMk cId="1550380779" sldId="2147483660"/>
        </pc:sldMasterMkLst>
        <pc:graphicFrameChg chg="add mod modVis">
          <ac:chgData name="Dr. Robert Butscher" userId="61bc653898ddc2e0" providerId="LiveId" clId="{1F8CCD4D-F71B-57B1-9867-406FCF685594}" dt="2026-04-04T09:53:15.344" v="38"/>
          <ac:graphicFrameMkLst>
            <pc:docMk/>
            <pc:sldMasterMk cId="1550380779" sldId="2147483660"/>
            <ac:graphicFrameMk id="4" creationId="{6F471703-A648-F145-39A8-BE1DBE102523}"/>
          </ac:graphicFrameMkLst>
        </pc:graphicFrameChg>
      </pc:sldMasterChg>
      <pc:sldMasterChg chg="addSp modSp mod">
        <pc:chgData name="Dr. Robert Butscher" userId="61bc653898ddc2e0" providerId="LiveId" clId="{1F8CCD4D-F71B-57B1-9867-406FCF685594}" dt="2026-04-04T09:53:15.355" v="51"/>
        <pc:sldMasterMkLst>
          <pc:docMk/>
          <pc:sldMasterMk cId="152667289" sldId="2147483674"/>
        </pc:sldMasterMkLst>
        <pc:graphicFrameChg chg="add mod modVis">
          <ac:chgData name="Dr. Robert Butscher" userId="61bc653898ddc2e0" providerId="LiveId" clId="{1F8CCD4D-F71B-57B1-9867-406FCF685594}" dt="2026-04-04T09:53:15.355" v="51"/>
          <ac:graphicFrameMkLst>
            <pc:docMk/>
            <pc:sldMasterMk cId="152667289" sldId="2147483674"/>
            <ac:graphicFrameMk id="4" creationId="{FBC7FB1C-2DC6-CB34-34F7-7D3CF72597C0}"/>
          </ac:graphicFrameMkLst>
        </pc:graphicFrame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75EE47-E890-4C1A-82B7-6B37BDF6C47D}" type="datetimeFigureOut">
              <a:rPr lang="de-DE" smtClean="0"/>
              <a:t>04.04.26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748F90-A264-4F79-ABD8-9E88FC0E9DD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22953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75299" rtl="0" eaLnBrk="1" latinLnBrk="0" hangingPunct="1">
      <a:defRPr sz="1280" kern="1200">
        <a:solidFill>
          <a:schemeClr val="tx1"/>
        </a:solidFill>
        <a:latin typeface="+mn-lt"/>
        <a:ea typeface="+mn-ea"/>
        <a:cs typeface="+mn-cs"/>
      </a:defRPr>
    </a:lvl1pPr>
    <a:lvl2pPr marL="487650" algn="l" defTabSz="975299" rtl="0" eaLnBrk="1" latinLnBrk="0" hangingPunct="1">
      <a:defRPr sz="1280" kern="1200">
        <a:solidFill>
          <a:schemeClr val="tx1"/>
        </a:solidFill>
        <a:latin typeface="+mn-lt"/>
        <a:ea typeface="+mn-ea"/>
        <a:cs typeface="+mn-cs"/>
      </a:defRPr>
    </a:lvl2pPr>
    <a:lvl3pPr marL="975299" algn="l" defTabSz="975299" rtl="0" eaLnBrk="1" latinLnBrk="0" hangingPunct="1">
      <a:defRPr sz="1280" kern="1200">
        <a:solidFill>
          <a:schemeClr val="tx1"/>
        </a:solidFill>
        <a:latin typeface="+mn-lt"/>
        <a:ea typeface="+mn-ea"/>
        <a:cs typeface="+mn-cs"/>
      </a:defRPr>
    </a:lvl3pPr>
    <a:lvl4pPr marL="1462949" algn="l" defTabSz="975299" rtl="0" eaLnBrk="1" latinLnBrk="0" hangingPunct="1">
      <a:defRPr sz="1280" kern="1200">
        <a:solidFill>
          <a:schemeClr val="tx1"/>
        </a:solidFill>
        <a:latin typeface="+mn-lt"/>
        <a:ea typeface="+mn-ea"/>
        <a:cs typeface="+mn-cs"/>
      </a:defRPr>
    </a:lvl4pPr>
    <a:lvl5pPr marL="1950598" algn="l" defTabSz="975299" rtl="0" eaLnBrk="1" latinLnBrk="0" hangingPunct="1">
      <a:defRPr sz="1280" kern="1200">
        <a:solidFill>
          <a:schemeClr val="tx1"/>
        </a:solidFill>
        <a:latin typeface="+mn-lt"/>
        <a:ea typeface="+mn-ea"/>
        <a:cs typeface="+mn-cs"/>
      </a:defRPr>
    </a:lvl5pPr>
    <a:lvl6pPr marL="2438248" algn="l" defTabSz="975299" rtl="0" eaLnBrk="1" latinLnBrk="0" hangingPunct="1">
      <a:defRPr sz="1280" kern="1200">
        <a:solidFill>
          <a:schemeClr val="tx1"/>
        </a:solidFill>
        <a:latin typeface="+mn-lt"/>
        <a:ea typeface="+mn-ea"/>
        <a:cs typeface="+mn-cs"/>
      </a:defRPr>
    </a:lvl6pPr>
    <a:lvl7pPr marL="2925897" algn="l" defTabSz="975299" rtl="0" eaLnBrk="1" latinLnBrk="0" hangingPunct="1">
      <a:defRPr sz="1280" kern="1200">
        <a:solidFill>
          <a:schemeClr val="tx1"/>
        </a:solidFill>
        <a:latin typeface="+mn-lt"/>
        <a:ea typeface="+mn-ea"/>
        <a:cs typeface="+mn-cs"/>
      </a:defRPr>
    </a:lvl7pPr>
    <a:lvl8pPr marL="3413547" algn="l" defTabSz="975299" rtl="0" eaLnBrk="1" latinLnBrk="0" hangingPunct="1">
      <a:defRPr sz="1280" kern="1200">
        <a:solidFill>
          <a:schemeClr val="tx1"/>
        </a:solidFill>
        <a:latin typeface="+mn-lt"/>
        <a:ea typeface="+mn-ea"/>
        <a:cs typeface="+mn-cs"/>
      </a:defRPr>
    </a:lvl8pPr>
    <a:lvl9pPr marL="3901196" algn="l" defTabSz="975299" rtl="0" eaLnBrk="1" latinLnBrk="0" hangingPunct="1">
      <a:defRPr sz="128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Wir entwerfen in dieser Einheit eine Datenhaltung von Grund auf. Kein vorhandenes Schema, kein Umbau: ein Unternehmen kommt mit einem Auftrag, und am Ende steht eine Datenbank, die ihre Geschäftsregeln selbst durchsetzt. Das Beispiel ist ein Bike-Sharing-System in Würzburg.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Drei Ebenen: modellieren, prüfen, umsetzen. Die dritte ist die, die in Lehrbüchern oft fehlt — ein Modell ist erst fertig, wenn die Regeln auch erzwungen werden.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Sechs Schritte. Rechts steht die Anwendung — sie ist Abnehmer, nicht Ausgangspunkt. Die Datenbank wird nicht für eine Oberfläche entworfen, sondern für das Geschäft.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Bevor irgendetwas modelliert wird, muss das Geschäft verstanden sein.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Wichtig ist die zweite Kachel: Free-Floating heisst, dass ein Rad auch ohne Station eine Position haben muss. Das entscheidet später über die Struktur der Positionsdaten.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Fünf von zehn. Rechts steht schon, wo die Regel später landet — das ist der rote Faden durch die ganze Einheit.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GR8 ist der interessante Fall: das Mindestalter wäre als CHECK verlockend, ist aber falsch. Warum, klaeren wir im physischen Entwurf.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Entitäten, Beziehungen, Kardinalitäten — noch keine Datenbank.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Merksatz: Substantive werden Entitäten, Verben werden Beziehungen. Das ist eine Heuristik zum Einstieg, kein Automatismus.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Blau hervorgehoben sind die beiden Bereiche, die den fachlichen Kern tragen: die zeitabhaengige Bepreisung und der Nutzungsvorgang selbst. Vier weitere Bereiche G bis J bilden später die Warenwirtschaft.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zweite Entscheidung ist die folgenreichste. Läge der Preis am Typ, würde jede Preisanpassung rückwirkend alle Altrechnungen neu bewerten.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letzte Entscheidung ist der Kern der Abrechnung: Startgebühr, Zeitentgelt, Freiminuten, Rabatt und Kappung stehen als eigene Zeilen auf der Rechnung. Der Kunde sieht, was sein Tarif wert war.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 Prüfverfahren, kein Entwurfsverfahren.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Erst die Befunde sammeln, dann zerlegen. Wer sofort zerlegt, weiss hinterher nicht, welches Problem er geloest 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Kopf-Positionen-Muster kennen die meisten aus der Praxis. Hier sehen sie zum ersten Mal, dass es formal begründbar 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ist die zentrale Botschaft des Blocks. Die Normalform ist notwendig, nicht hinreichend.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Hier lohnt es sich, im Data Dictionary den Spaltenkommentar zu zeigen: die Begründung steht direkt an der Spalte und veraltet nicht.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Vom ERM zum Relationenmodell — regelbasiert und damit prüfbar.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1:1-Abbildung ist die elegante: fahrrad_id ist in fahrrad_position zugleich Primär- und Fremdschlüssel. Damit ist „höchstens eine Position je Rad“ ohne zusätzlichen Constraint erzwungen.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dritte Zeile ist der häufigste Anfängerfehler: den sprechenden Schlüssel zum Primärschlüssel machen. Er ist eindeutig und sprechend — aber eben nicht stabil.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Hier wird eine Geschäftsregel entweder erzwungen oder nur gewuenscht.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Zeitzonenfalle ist real: eine Ausleihe in der Nacht der Zeitumstellung lässt sich mit timestamp ohne Zone nicht eindeutig einordnen.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Preis des ENUM: Erweitern nur mit ALTER TYPE, Umbenennen aufwendig, Sortierreihenfolge nachtraeglich nicht änderbar.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Unterschied zwischen den oberen fünf und den unteren zwei Zeilen ist wichtig: die oberen gelten immer, auch bei direktem SQL-Zugriff. Die unteren nur, wenn man den vorgesehenen Weg nimmt.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Beide Fallstricke sind uns tatsächlich begegnet. Der erste hat die Anlage abgebrochen, der zweite wäre bei nahtlosen Tarifwechseln aufgefallen.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Gute Prüfungsfrage: Warum ist eine CHECK-Bedingung mit current_date gefährlich, obwohl die Datenbank sie annimmt?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Aufbauschritte, Sichten als Vertrag, Preisfindung, Dokumentation.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Reihenfolge ist die Reihenfolge dieser Vorlesung. Wer 0004 vor 0003 ausführt, bekommt einen Fremdschlüsselfehler — die Abhängigkeiten sind im Schema selbst dokumentiert.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Neun Testfälle sichern das ab. Der wichtigste prüft die Reihenfolge: bei Höchstpreis 5,00 und 20 Prozent Rabatt kommt 4,96 heraus — bei umgekehrter Reihenfolge wären es 4,00.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Trick ist der Test, nicht der Kommentar. Ohne ihn schreibt man die ersten zwanzig Kommentare und vergisst die restlichen zweihundert.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Schutz liegt in der Datenbank. Auf den Browser ist kein Verlass.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Antipattern ist der häufigste Supabase-Anfängerfehler. Es gibt im Schema velocity_demo eine Tabelle mit erfundenen Daten, an der die Studierenden das live ausprobieren dürfen.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Ohne diesen Entzug hätte jeder mit dem öffentlichen Schlüssel fremde Ausleihen abrechnen können. Der Test test_s_api_rechte hat es gefunden.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Diese Folie ist mir wichtig. Der häufigste Fehler bei Sicherheitstests ist nicht der fehlende Test, sondern der Test, der aus dem falschen Grund grün wird.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Sichten sind der Vertrag zwischen Datenbank und Oberfläche.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Auch die Inhalte der Seite kommen aus der Datenbank: Tarifkarten, FAQ, die Schritte der Anleitung und die Kennzahlen. Vorher standen sie fest im HTML und mussten bei jeder Preisänderung von Hand nachgezogen werden.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Was bleibt, und was die Warenwirtschaft ergänzt.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sechs Sätze eignen sich als Prüfungsvorbereitung: zu jedem sollte man ein Beispiel aus dem Modell nennen können.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Lehrpunkt bei H ist derselbe wie bei den Freiminuten: Bestand gegen Bewegung. Wer den Lagerbestand als Zahl pflegt, kann ihn nicht mehr erklären.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5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4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4" Type="http://schemas.openxmlformats.org/officeDocument/2006/relationships/slideMaster" Target="../slideMasters/slideMaster1.xml"/><Relationship Id="rId5" Type="http://schemas.openxmlformats.org/officeDocument/2006/relationships/image" Target="../media/image6.svg"/></Relationships>
</file>

<file path=ppt/slideLayouts/_rels/slideLayout6.xml.rels><?xml version='1.0' encoding='UTF-8' standalone='yes'?>
<Relationships xmlns="http://schemas.openxmlformats.org/package/2006/relationships"><Relationship Id="rId4" Type="http://schemas.openxmlformats.org/officeDocument/2006/relationships/slideMaster" Target="../slideMasters/slideMaster1.xml"/><Relationship Id="rId5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4" Type="http://schemas.openxmlformats.org/officeDocument/2006/relationships/slideMaster" Target="../slideMasters/slideMaster1.xml"/><Relationship Id="rId5" Type="http://schemas.openxmlformats.org/officeDocument/2006/relationships/image" Target="../media/image8.svg"/></Relationships>
</file>

<file path=ppt/slideLayouts/_rels/slideLayout8.xml.rels><?xml version='1.0' encoding='UTF-8' standalone='yes'?>
<Relationships xmlns="http://schemas.openxmlformats.org/package/2006/relationships"><Relationship Id="rId2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10.svg"/></Relationships>
</file>

<file path=ppt/slideLayouts/_rels/slideLayout10.xml.rels><?xml version='1.0' encoding='UTF-8' standalone='yes'?>
<Relationships xmlns="http://schemas.openxmlformats.org/package/2006/relationships"><Relationship Id="rId2" Type="http://schemas.openxmlformats.org/officeDocument/2006/relationships/slideMaster" Target="../slideMasters/slideMaster2.xml"/><Relationship Id="rId3" Type="http://schemas.openxmlformats.org/officeDocument/2006/relationships/image" Target="../media/image5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4" Type="http://schemas.openxmlformats.org/officeDocument/2006/relationships/slideMaster" Target="../slideMasters/slideMaster2.xml"/><Relationship Id="rId5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4" Type="http://schemas.openxmlformats.org/officeDocument/2006/relationships/slideMaster" Target="../slideMasters/slideMaster2.xml"/><Relationship Id="rId5" Type="http://schemas.openxmlformats.org/officeDocument/2006/relationships/image" Target="../media/image7.svg"/></Relationships>
</file>

<file path=ppt/slideLayouts/_rels/slideLayout14.xml.rels><?xml version='1.0' encoding='UTF-8' standalone='yes'?>
<Relationships xmlns="http://schemas.openxmlformats.org/package/2006/relationships"><Relationship Id="rId4" Type="http://schemas.openxmlformats.org/officeDocument/2006/relationships/slideMaster" Target="../slideMasters/slideMaster2.xml"/><Relationship Id="rId5" Type="http://schemas.openxmlformats.org/officeDocument/2006/relationships/image" Target="../media/image8.svg"/></Relationships>
</file>

<file path=ppt/slideLayouts/_rels/slideLayout15.xml.rels><?xml version='1.0' encoding='UTF-8' standalone='yes'?>
<Relationships xmlns="http://schemas.openxmlformats.org/package/2006/relationships"><Relationship Id="rId4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page_Digital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feld 17">
            <a:extLst>
              <a:ext uri="{FF2B5EF4-FFF2-40B4-BE49-F238E27FC236}">
                <a16:creationId xmlns:a16="http://schemas.microsoft.com/office/drawing/2014/main" id="{82F72504-C6A4-4470-ADDB-7433834FA233}"/>
              </a:ext>
            </a:extLst>
          </p:cNvPr>
          <p:cNvSpPr txBox="1"/>
          <p:nvPr userDrawn="1"/>
        </p:nvSpPr>
        <p:spPr>
          <a:xfrm>
            <a:off x="3717926" y="3828733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sz="2400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DE34105A-6F50-468D-8CF7-9D52E49981CC}"/>
              </a:ext>
            </a:extLst>
          </p:cNvPr>
          <p:cNvSpPr/>
          <p:nvPr userDrawn="1"/>
        </p:nvSpPr>
        <p:spPr>
          <a:xfrm>
            <a:off x="352270" y="6693109"/>
            <a:ext cx="12449331" cy="562131"/>
          </a:xfrm>
          <a:prstGeom prst="rect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1" rIns="91440" bIns="4572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DC89D101-F44A-1A73-2ECC-371C966E4AA6}"/>
              </a:ext>
            </a:extLst>
          </p:cNvPr>
          <p:cNvSpPr/>
          <p:nvPr userDrawn="1"/>
        </p:nvSpPr>
        <p:spPr>
          <a:xfrm>
            <a:off x="0" y="0"/>
            <a:ext cx="13004800" cy="4396740"/>
          </a:xfrm>
          <a:prstGeom prst="rect">
            <a:avLst/>
          </a:prstGeom>
          <a:solidFill>
            <a:srgbClr val="FEFB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1" rIns="91440" bIns="4572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E71BD18-DF01-46F7-BE1B-0A3FA49A49DC}"/>
              </a:ext>
            </a:extLst>
          </p:cNvPr>
          <p:cNvSpPr/>
          <p:nvPr userDrawn="1"/>
        </p:nvSpPr>
        <p:spPr>
          <a:xfrm>
            <a:off x="0" y="3786975"/>
            <a:ext cx="13004800" cy="3547019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1" rIns="91440" bIns="4572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E1A5861-9721-4D31-8EAE-C0F695D2C84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22288" y="2290177"/>
            <a:ext cx="12101512" cy="442394"/>
          </a:xfrm>
          <a:prstGeom prst="rect">
            <a:avLst/>
          </a:prstGeom>
        </p:spPr>
        <p:txBody>
          <a:bodyPr wrap="none" lIns="0" tIns="0" rIns="0" bIns="0" anchor="b"/>
          <a:lstStyle>
            <a:lvl1pPr marL="0">
              <a:spcBef>
                <a:spcPct val="0"/>
              </a:spcBef>
              <a:defRPr sz="2500">
                <a:solidFill>
                  <a:srgbClr val="FF6A00"/>
                </a:solidFill>
                <a:latin typeface="GT Planar Light" pitchFamily="50" charset="0"/>
                <a:ea typeface="GT Planar Light" pitchFamily="50" charset="0"/>
                <a:cs typeface="Segoe UI Semilight" panose="020B0402040204020203" pitchFamily="34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DA75D82C-4435-4B5E-BD1D-78484DE5038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22288" y="2862578"/>
            <a:ext cx="12101512" cy="722384"/>
          </a:xfrm>
          <a:prstGeom prst="rect">
            <a:avLst/>
          </a:prstGeom>
        </p:spPr>
        <p:txBody>
          <a:bodyPr wrap="none" lIns="0" tIns="0" rIns="0" bIns="0">
            <a:noAutofit/>
          </a:bodyPr>
          <a:lstStyle>
            <a:lvl1pPr marL="0">
              <a:spcBef>
                <a:spcPct val="0"/>
              </a:spcBef>
              <a:defRPr sz="4500" b="1">
                <a:solidFill>
                  <a:srgbClr val="003E6E"/>
                </a:solidFill>
                <a:latin typeface="GT Planar Medium" pitchFamily="50" charset="0"/>
                <a:ea typeface="GT Planar Medium" pitchFamily="50" charset="0"/>
              </a:defRPr>
            </a:lvl1pPr>
            <a:lvl2pPr marL="486015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6601639C-449A-EAF8-13F9-1EC60C02ECA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clrChange>
              <a:clrFrom>
                <a:srgbClr val="191919"/>
              </a:clrFrom>
              <a:clrTo>
                <a:srgbClr val="191919">
                  <a:alpha val="0"/>
                </a:srgbClr>
              </a:clrTo>
            </a:clrChange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435"/>
          <a:stretch/>
        </p:blipFill>
        <p:spPr>
          <a:xfrm flipH="1">
            <a:off x="-4" y="3786975"/>
            <a:ext cx="5799695" cy="3547018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39C60F51-8387-C0D5-DF9F-07BA20577BC1}"/>
              </a:ext>
            </a:extLst>
          </p:cNvPr>
          <p:cNvSpPr txBox="1"/>
          <p:nvPr userDrawn="1"/>
        </p:nvSpPr>
        <p:spPr>
          <a:xfrm>
            <a:off x="488950" y="6904563"/>
            <a:ext cx="121348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900" dirty="0">
                <a:solidFill>
                  <a:schemeClr val="bg1"/>
                </a:solidFill>
                <a:latin typeface="GT Planar Light" pitchFamily="50" charset="0"/>
                <a:ea typeface="GT Planar Light" pitchFamily="50" charset="0"/>
              </a:rPr>
              <a:t>Prof. Dr. Robert Butscher | BINT · Wintersemester 2026/27 | Business </a:t>
            </a:r>
            <a:r>
              <a:rPr lang="de-DE" sz="900" dirty="0" err="1">
                <a:solidFill>
                  <a:schemeClr val="bg1"/>
                </a:solidFill>
                <a:latin typeface="GT Planar Light" pitchFamily="50" charset="0"/>
                <a:ea typeface="GT Planar Light" pitchFamily="50" charset="0"/>
              </a:rPr>
              <a:t>Intelligence</a:t>
            </a:r>
            <a:endParaRPr lang="de-DE" sz="1800" dirty="0">
              <a:solidFill>
                <a:schemeClr val="bg1"/>
              </a:solidFill>
              <a:latin typeface="GT Planar Light" pitchFamily="50" charset="0"/>
              <a:ea typeface="GT Planar Light" pitchFamily="50" charset="0"/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8838BC99-B0DB-3286-2378-25F871BC4A9B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5978"/>
          <a:stretch/>
        </p:blipFill>
        <p:spPr>
          <a:xfrm>
            <a:off x="9067566" y="344016"/>
            <a:ext cx="3603061" cy="1406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436029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otiv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6218275D-4364-40DB-8ADE-3B2A339CA9DE}"/>
              </a:ext>
            </a:extLst>
          </p:cNvPr>
          <p:cNvSpPr/>
          <p:nvPr userDrawn="1"/>
        </p:nvSpPr>
        <p:spPr>
          <a:xfrm>
            <a:off x="0" y="0"/>
            <a:ext cx="13004800" cy="7315200"/>
          </a:xfrm>
          <a:prstGeom prst="rect">
            <a:avLst/>
          </a:prstGeom>
          <a:solidFill>
            <a:srgbClr val="D6510B"/>
          </a:solidFill>
          <a:ln>
            <a:solidFill>
              <a:srgbClr val="D651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1" rIns="91440" bIns="4572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CH" sz="1600">
              <a:solidFill>
                <a:schemeClr val="tx1"/>
              </a:solidFill>
            </a:endParaRP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1A8E55D1-0D4A-F200-934F-7C0436D8D7F4}"/>
              </a:ext>
            </a:extLst>
          </p:cNvPr>
          <p:cNvGrpSpPr/>
          <p:nvPr userDrawn="1"/>
        </p:nvGrpSpPr>
        <p:grpSpPr>
          <a:xfrm>
            <a:off x="-15191" y="2"/>
            <a:ext cx="13009294" cy="7315199"/>
            <a:chOff x="576428" y="884863"/>
            <a:chExt cx="7898501" cy="4441371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9F0D2DC9-DBB7-4D60-E4EA-59AF35F6A60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7079"/>
            <a:stretch/>
          </p:blipFill>
          <p:spPr>
            <a:xfrm>
              <a:off x="576428" y="884863"/>
              <a:ext cx="3967668" cy="4441371"/>
            </a:xfrm>
            <a:prstGeom prst="rect">
              <a:avLst/>
            </a:prstGeom>
          </p:spPr>
        </p:pic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4BE3F585-D73C-4EC2-849B-F32CD9D978A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4228955" y="884863"/>
              <a:ext cx="233097" cy="4441371"/>
            </a:xfrm>
            <a:prstGeom prst="rect">
              <a:avLst/>
            </a:prstGeom>
          </p:spPr>
        </p:pic>
        <p:pic>
          <p:nvPicPr>
            <p:cNvPr id="6" name="Grafik 5">
              <a:extLst>
                <a:ext uri="{FF2B5EF4-FFF2-40B4-BE49-F238E27FC236}">
                  <a16:creationId xmlns:a16="http://schemas.microsoft.com/office/drawing/2014/main" id="{7D90520F-5293-C803-3EBD-9A8558BC60C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4428574" y="884863"/>
              <a:ext cx="182044" cy="4441371"/>
            </a:xfrm>
            <a:prstGeom prst="rect">
              <a:avLst/>
            </a:prstGeom>
          </p:spPr>
        </p:pic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495A01E3-94C6-65F2-91C2-4825C7CEA7D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4572000" y="884863"/>
              <a:ext cx="182044" cy="4441371"/>
            </a:xfrm>
            <a:prstGeom prst="rect">
              <a:avLst/>
            </a:prstGeom>
          </p:spPr>
        </p:pic>
        <p:pic>
          <p:nvPicPr>
            <p:cNvPr id="8" name="Grafik 7">
              <a:extLst>
                <a:ext uri="{FF2B5EF4-FFF2-40B4-BE49-F238E27FC236}">
                  <a16:creationId xmlns:a16="http://schemas.microsoft.com/office/drawing/2014/main" id="{772E2087-4CDC-AA3D-17E4-5FC15FD1197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4745174" y="884863"/>
              <a:ext cx="182044" cy="4441371"/>
            </a:xfrm>
            <a:prstGeom prst="rect">
              <a:avLst/>
            </a:prstGeom>
          </p:spPr>
        </p:pic>
        <p:pic>
          <p:nvPicPr>
            <p:cNvPr id="9" name="Grafik 8">
              <a:extLst>
                <a:ext uri="{FF2B5EF4-FFF2-40B4-BE49-F238E27FC236}">
                  <a16:creationId xmlns:a16="http://schemas.microsoft.com/office/drawing/2014/main" id="{16979421-1F8C-8423-B83F-F1586E6BA8B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4866931" y="884863"/>
              <a:ext cx="182044" cy="4441371"/>
            </a:xfrm>
            <a:prstGeom prst="rect">
              <a:avLst/>
            </a:prstGeom>
          </p:spPr>
        </p:pic>
        <p:pic>
          <p:nvPicPr>
            <p:cNvPr id="10" name="Grafik 9">
              <a:extLst>
                <a:ext uri="{FF2B5EF4-FFF2-40B4-BE49-F238E27FC236}">
                  <a16:creationId xmlns:a16="http://schemas.microsoft.com/office/drawing/2014/main" id="{3E611D0A-757A-AAC6-C9DE-FD6F5997E7B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5019093" y="884863"/>
              <a:ext cx="182044" cy="4441371"/>
            </a:xfrm>
            <a:prstGeom prst="rect">
              <a:avLst/>
            </a:prstGeom>
          </p:spPr>
        </p:pic>
        <p:pic>
          <p:nvPicPr>
            <p:cNvPr id="11" name="Grafik 10">
              <a:extLst>
                <a:ext uri="{FF2B5EF4-FFF2-40B4-BE49-F238E27FC236}">
                  <a16:creationId xmlns:a16="http://schemas.microsoft.com/office/drawing/2014/main" id="{3ECD5553-768B-2C7B-DF9A-EB146E0F7CD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5201990" y="884863"/>
              <a:ext cx="182044" cy="4441371"/>
            </a:xfrm>
            <a:prstGeom prst="rect">
              <a:avLst/>
            </a:prstGeom>
          </p:spPr>
        </p:pic>
        <p:pic>
          <p:nvPicPr>
            <p:cNvPr id="12" name="Grafik 11">
              <a:extLst>
                <a:ext uri="{FF2B5EF4-FFF2-40B4-BE49-F238E27FC236}">
                  <a16:creationId xmlns:a16="http://schemas.microsoft.com/office/drawing/2014/main" id="{565AF008-0AA7-0A44-4F23-6CE900E5FBC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5350556" y="884863"/>
              <a:ext cx="182044" cy="4441371"/>
            </a:xfrm>
            <a:prstGeom prst="rect">
              <a:avLst/>
            </a:prstGeom>
          </p:spPr>
        </p:pic>
        <p:pic>
          <p:nvPicPr>
            <p:cNvPr id="13" name="Grafik 12">
              <a:extLst>
                <a:ext uri="{FF2B5EF4-FFF2-40B4-BE49-F238E27FC236}">
                  <a16:creationId xmlns:a16="http://schemas.microsoft.com/office/drawing/2014/main" id="{3F02DD51-A4C3-B214-9880-B80FB8AA8A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5474250" y="884863"/>
              <a:ext cx="182044" cy="4441371"/>
            </a:xfrm>
            <a:prstGeom prst="rect">
              <a:avLst/>
            </a:prstGeom>
          </p:spPr>
        </p:pic>
        <p:pic>
          <p:nvPicPr>
            <p:cNvPr id="14" name="Grafik 13">
              <a:extLst>
                <a:ext uri="{FF2B5EF4-FFF2-40B4-BE49-F238E27FC236}">
                  <a16:creationId xmlns:a16="http://schemas.microsoft.com/office/drawing/2014/main" id="{40C9B79F-7B47-868D-15B5-4727A0AC59F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5590144" y="884863"/>
              <a:ext cx="182044" cy="4441371"/>
            </a:xfrm>
            <a:prstGeom prst="rect">
              <a:avLst/>
            </a:prstGeom>
          </p:spPr>
        </p:pic>
        <p:pic>
          <p:nvPicPr>
            <p:cNvPr id="15" name="Grafik 14">
              <a:extLst>
                <a:ext uri="{FF2B5EF4-FFF2-40B4-BE49-F238E27FC236}">
                  <a16:creationId xmlns:a16="http://schemas.microsoft.com/office/drawing/2014/main" id="{1D1BB127-7BB5-2D72-535F-47E74AD5FD5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5713838" y="884863"/>
              <a:ext cx="182044" cy="4441371"/>
            </a:xfrm>
            <a:prstGeom prst="rect">
              <a:avLst/>
            </a:prstGeom>
          </p:spPr>
        </p:pic>
        <p:pic>
          <p:nvPicPr>
            <p:cNvPr id="16" name="Grafik 15">
              <a:extLst>
                <a:ext uri="{FF2B5EF4-FFF2-40B4-BE49-F238E27FC236}">
                  <a16:creationId xmlns:a16="http://schemas.microsoft.com/office/drawing/2014/main" id="{433F80C7-0D67-8609-31F8-6D486A3C7C0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5866000" y="884863"/>
              <a:ext cx="182044" cy="4441371"/>
            </a:xfrm>
            <a:prstGeom prst="rect">
              <a:avLst/>
            </a:prstGeom>
          </p:spPr>
        </p:pic>
        <p:pic>
          <p:nvPicPr>
            <p:cNvPr id="17" name="Grafik 16">
              <a:extLst>
                <a:ext uri="{FF2B5EF4-FFF2-40B4-BE49-F238E27FC236}">
                  <a16:creationId xmlns:a16="http://schemas.microsoft.com/office/drawing/2014/main" id="{08BB41E1-B3D0-70A3-6756-DA624EF3E22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6048897" y="884863"/>
              <a:ext cx="182044" cy="4441371"/>
            </a:xfrm>
            <a:prstGeom prst="rect">
              <a:avLst/>
            </a:prstGeom>
          </p:spPr>
        </p:pic>
        <p:pic>
          <p:nvPicPr>
            <p:cNvPr id="18" name="Grafik 17">
              <a:extLst>
                <a:ext uri="{FF2B5EF4-FFF2-40B4-BE49-F238E27FC236}">
                  <a16:creationId xmlns:a16="http://schemas.microsoft.com/office/drawing/2014/main" id="{1D93F8A3-8E7F-08AB-1A74-313804E373B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6205897" y="884863"/>
              <a:ext cx="182044" cy="4441371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3B3F6A7F-EA16-3861-9A90-AF6D6D13AD1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6375579" y="884863"/>
              <a:ext cx="182044" cy="4441371"/>
            </a:xfrm>
            <a:prstGeom prst="rect">
              <a:avLst/>
            </a:prstGeom>
          </p:spPr>
        </p:pic>
        <p:pic>
          <p:nvPicPr>
            <p:cNvPr id="20" name="Grafik 19">
              <a:extLst>
                <a:ext uri="{FF2B5EF4-FFF2-40B4-BE49-F238E27FC236}">
                  <a16:creationId xmlns:a16="http://schemas.microsoft.com/office/drawing/2014/main" id="{BA0395ED-F0EE-365B-F996-5E3EB46ACB4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6233801" y="884863"/>
              <a:ext cx="182044" cy="4441371"/>
            </a:xfrm>
            <a:prstGeom prst="rect">
              <a:avLst/>
            </a:prstGeom>
          </p:spPr>
        </p:pic>
        <p:pic>
          <p:nvPicPr>
            <p:cNvPr id="21" name="Grafik 20">
              <a:extLst>
                <a:ext uri="{FF2B5EF4-FFF2-40B4-BE49-F238E27FC236}">
                  <a16:creationId xmlns:a16="http://schemas.microsoft.com/office/drawing/2014/main" id="{EBDDF9BA-FD27-1D1C-54AA-68E618FEE0D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6506061" y="884863"/>
              <a:ext cx="182044" cy="4441371"/>
            </a:xfrm>
            <a:prstGeom prst="rect">
              <a:avLst/>
            </a:prstGeom>
          </p:spPr>
        </p:pic>
        <p:pic>
          <p:nvPicPr>
            <p:cNvPr id="22" name="Grafik 21">
              <a:extLst>
                <a:ext uri="{FF2B5EF4-FFF2-40B4-BE49-F238E27FC236}">
                  <a16:creationId xmlns:a16="http://schemas.microsoft.com/office/drawing/2014/main" id="{7A61B321-AD15-D339-D7A8-B3C604BC0E4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6684177" y="884863"/>
              <a:ext cx="182044" cy="4441371"/>
            </a:xfrm>
            <a:prstGeom prst="rect">
              <a:avLst/>
            </a:prstGeom>
          </p:spPr>
        </p:pic>
        <p:pic>
          <p:nvPicPr>
            <p:cNvPr id="23" name="Grafik 22">
              <a:extLst>
                <a:ext uri="{FF2B5EF4-FFF2-40B4-BE49-F238E27FC236}">
                  <a16:creationId xmlns:a16="http://schemas.microsoft.com/office/drawing/2014/main" id="{3B21975B-983D-ACE4-5C7C-5A87BE9A41E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6867075" y="884863"/>
              <a:ext cx="182044" cy="4441371"/>
            </a:xfrm>
            <a:prstGeom prst="rect">
              <a:avLst/>
            </a:prstGeom>
          </p:spPr>
        </p:pic>
        <p:pic>
          <p:nvPicPr>
            <p:cNvPr id="24" name="Grafik 23">
              <a:extLst>
                <a:ext uri="{FF2B5EF4-FFF2-40B4-BE49-F238E27FC236}">
                  <a16:creationId xmlns:a16="http://schemas.microsoft.com/office/drawing/2014/main" id="{14423975-0886-1E5E-871F-8F47865D8AD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7049972" y="884863"/>
              <a:ext cx="182044" cy="4441371"/>
            </a:xfrm>
            <a:prstGeom prst="rect">
              <a:avLst/>
            </a:prstGeom>
          </p:spPr>
        </p:pic>
        <p:pic>
          <p:nvPicPr>
            <p:cNvPr id="25" name="Grafik 24">
              <a:extLst>
                <a:ext uri="{FF2B5EF4-FFF2-40B4-BE49-F238E27FC236}">
                  <a16:creationId xmlns:a16="http://schemas.microsoft.com/office/drawing/2014/main" id="{CB6177F5-C4B7-1561-D0A4-1969BB79D8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7230024" y="884863"/>
              <a:ext cx="182044" cy="4441371"/>
            </a:xfrm>
            <a:prstGeom prst="rect">
              <a:avLst/>
            </a:prstGeom>
          </p:spPr>
        </p:pic>
        <p:pic>
          <p:nvPicPr>
            <p:cNvPr id="26" name="Grafik 25">
              <a:extLst>
                <a:ext uri="{FF2B5EF4-FFF2-40B4-BE49-F238E27FC236}">
                  <a16:creationId xmlns:a16="http://schemas.microsoft.com/office/drawing/2014/main" id="{4559C700-2672-7986-6861-42BFA4AAD03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7407390" y="884863"/>
              <a:ext cx="182044" cy="4441371"/>
            </a:xfrm>
            <a:prstGeom prst="rect">
              <a:avLst/>
            </a:prstGeom>
          </p:spPr>
        </p:pic>
        <p:pic>
          <p:nvPicPr>
            <p:cNvPr id="27" name="Grafik 26">
              <a:extLst>
                <a:ext uri="{FF2B5EF4-FFF2-40B4-BE49-F238E27FC236}">
                  <a16:creationId xmlns:a16="http://schemas.microsoft.com/office/drawing/2014/main" id="{81E52A9C-6EA1-2276-D105-2B02D692BD6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7570299" y="884863"/>
              <a:ext cx="182044" cy="4441371"/>
            </a:xfrm>
            <a:prstGeom prst="rect">
              <a:avLst/>
            </a:prstGeom>
          </p:spPr>
        </p:pic>
        <p:pic>
          <p:nvPicPr>
            <p:cNvPr id="28" name="Grafik 27">
              <a:extLst>
                <a:ext uri="{FF2B5EF4-FFF2-40B4-BE49-F238E27FC236}">
                  <a16:creationId xmlns:a16="http://schemas.microsoft.com/office/drawing/2014/main" id="{D049F4B3-E01D-2A6D-1508-2ADF0881800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7747095" y="884863"/>
              <a:ext cx="182044" cy="4441371"/>
            </a:xfrm>
            <a:prstGeom prst="rect">
              <a:avLst/>
            </a:prstGeom>
          </p:spPr>
        </p:pic>
        <p:pic>
          <p:nvPicPr>
            <p:cNvPr id="29" name="Grafik 28">
              <a:extLst>
                <a:ext uri="{FF2B5EF4-FFF2-40B4-BE49-F238E27FC236}">
                  <a16:creationId xmlns:a16="http://schemas.microsoft.com/office/drawing/2014/main" id="{D3EDF536-608A-8AED-9273-88BE6227684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7235685" y="884863"/>
              <a:ext cx="1239244" cy="4441371"/>
            </a:xfrm>
            <a:prstGeom prst="rect">
              <a:avLst/>
            </a:prstGeom>
          </p:spPr>
        </p:pic>
        <p:sp>
          <p:nvSpPr>
            <p:cNvPr id="30" name="Textfeld 29">
              <a:extLst>
                <a:ext uri="{FF2B5EF4-FFF2-40B4-BE49-F238E27FC236}">
                  <a16:creationId xmlns:a16="http://schemas.microsoft.com/office/drawing/2014/main" id="{AF4A4A59-5BF6-2C40-A8B6-D007EBEA7B99}"/>
                </a:ext>
              </a:extLst>
            </p:cNvPr>
            <p:cNvSpPr txBox="1"/>
            <p:nvPr/>
          </p:nvSpPr>
          <p:spPr bwMode="auto">
            <a:xfrm>
              <a:off x="3391112" y="1995741"/>
              <a:ext cx="4762151" cy="1416676"/>
            </a:xfrm>
            <a:prstGeom prst="rect">
              <a:avLst/>
            </a:prstGeom>
            <a:noFill/>
            <a:ln w="12700">
              <a:noFill/>
            </a:ln>
            <a:effectLst/>
          </p:spPr>
          <p:txBody>
            <a:bodyPr vert="horz" wrap="square" lIns="0" tIns="46080" rIns="0" bIns="46080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pPr algn="just"/>
              <a:r>
                <a:rPr lang="de-DE" sz="4000" dirty="0">
                  <a:solidFill>
                    <a:schemeClr val="bg2">
                      <a:lumMod val="25000"/>
                    </a:schemeClr>
                  </a:solidFill>
                  <a:latin typeface="Garamond" panose="02020404030301010803" pitchFamily="18" charset="0"/>
                </a:rPr>
                <a:t>Gib nicht auf! Leide jetzt und lebe den Rest deines Lebens wie ein Champion!	</a:t>
              </a:r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E5237470-DDA9-78DF-BB2B-9DC5974AE9EB}"/>
                </a:ext>
              </a:extLst>
            </p:cNvPr>
            <p:cNvSpPr/>
            <p:nvPr/>
          </p:nvSpPr>
          <p:spPr>
            <a:xfrm>
              <a:off x="6489356" y="2946714"/>
              <a:ext cx="1692680" cy="31766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/>
              <a:r>
                <a:rPr lang="de-DE" sz="2800" b="1">
                  <a:solidFill>
                    <a:schemeClr val="accent6"/>
                  </a:solidFill>
                </a:rPr>
                <a:t>Muhammad Ali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6620255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18">
            <a:extLst>
              <a:ext uri="{FF2B5EF4-FFF2-40B4-BE49-F238E27FC236}">
                <a16:creationId xmlns:a16="http://schemas.microsoft.com/office/drawing/2014/main" id="{2C50B4E3-9F06-4238-9569-03EBE7812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600" y="270112"/>
            <a:ext cx="12134201" cy="622086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lnSpc>
                <a:spcPct val="100000"/>
              </a:lnSpc>
              <a:defRPr sz="2900" b="1">
                <a:solidFill>
                  <a:srgbClr val="003E6E"/>
                </a:solidFill>
                <a:latin typeface="GT Planar Medium" pitchFamily="50" charset="0"/>
                <a:ea typeface="GT Planar Medium" pitchFamily="50" charset="0"/>
                <a:cs typeface="Segoe UI" panose="020B0502040204020203" pitchFamily="34" charset="0"/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C2D42809-64B2-4533-AA2A-3D1483F493B6}"/>
              </a:ext>
            </a:extLst>
          </p:cNvPr>
          <p:cNvCxnSpPr>
            <a:cxnSpLocks/>
          </p:cNvCxnSpPr>
          <p:nvPr userDrawn="1"/>
        </p:nvCxnSpPr>
        <p:spPr>
          <a:xfrm>
            <a:off x="405644" y="269784"/>
            <a:ext cx="0" cy="622086"/>
          </a:xfrm>
          <a:prstGeom prst="line">
            <a:avLst/>
          </a:prstGeom>
          <a:ln w="28575">
            <a:solidFill>
              <a:srgbClr val="FF6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60029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5">
            <a:extLst>
              <a:ext uri="{FF2B5EF4-FFF2-40B4-BE49-F238E27FC236}">
                <a16:creationId xmlns:a16="http://schemas.microsoft.com/office/drawing/2014/main" id="{2AA8AC17-FF5F-4D51-A17A-29980F454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951" y="544107"/>
            <a:ext cx="12131271" cy="340206"/>
          </a:xfrm>
          <a:prstGeom prst="rect">
            <a:avLst/>
          </a:prstGeom>
        </p:spPr>
        <p:txBody>
          <a:bodyPr wrap="square" lIns="0" tIns="0" rIns="108000" bIns="0" anchor="t">
            <a:noAutofit/>
          </a:bodyPr>
          <a:lstStyle>
            <a:lvl1pPr algn="l">
              <a:lnSpc>
                <a:spcPct val="100000"/>
              </a:lnSpc>
              <a:defRPr sz="2100" b="1">
                <a:solidFill>
                  <a:srgbClr val="003E6E"/>
                </a:solidFill>
                <a:latin typeface="GT Planar Medium" pitchFamily="50" charset="0"/>
                <a:ea typeface="GT Planar Medium" pitchFamily="50" charset="0"/>
                <a:cs typeface="Segoe UI" panose="020B0502040204020203" pitchFamily="34" charset="0"/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641DDCC9-ACAE-48DF-92D6-0F2995E784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88951" y="277342"/>
            <a:ext cx="12131269" cy="249523"/>
          </a:xfrm>
          <a:prstGeom prst="rect">
            <a:avLst/>
          </a:prstGeom>
        </p:spPr>
        <p:txBody>
          <a:bodyPr lIns="0" tIns="0" rIns="108000" bIns="0" anchor="ctr">
            <a:noAutofit/>
          </a:bodyPr>
          <a:lstStyle>
            <a:lvl1pPr marL="0" indent="0">
              <a:buFontTx/>
              <a:buNone/>
              <a:defRPr sz="1500">
                <a:solidFill>
                  <a:schemeClr val="tx1">
                    <a:lumMod val="75000"/>
                    <a:lumOff val="25000"/>
                  </a:schemeClr>
                </a:solidFill>
                <a:latin typeface="GT Planar Light" pitchFamily="50" charset="0"/>
                <a:ea typeface="GT Planar Light" pitchFamily="50" charset="0"/>
                <a:cs typeface="Segoe UI" panose="020B0502040204020203" pitchFamily="34" charset="0"/>
              </a:defRPr>
            </a:lvl1pPr>
            <a:lvl2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r>
              <a:rPr lang="de-DE"/>
              <a:t>Mastertitelformat bearbeiten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DBA8DF52-2489-4834-98FA-20DCD2BBB18F}"/>
              </a:ext>
            </a:extLst>
          </p:cNvPr>
          <p:cNvCxnSpPr>
            <a:cxnSpLocks/>
          </p:cNvCxnSpPr>
          <p:nvPr userDrawn="1"/>
        </p:nvCxnSpPr>
        <p:spPr>
          <a:xfrm>
            <a:off x="405644" y="269784"/>
            <a:ext cx="0" cy="622086"/>
          </a:xfrm>
          <a:prstGeom prst="line">
            <a:avLst/>
          </a:prstGeom>
          <a:ln w="28575">
            <a:solidFill>
              <a:srgbClr val="FF6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platzhalter 21">
            <a:extLst>
              <a:ext uri="{FF2B5EF4-FFF2-40B4-BE49-F238E27FC236}">
                <a16:creationId xmlns:a16="http://schemas.microsoft.com/office/drawing/2014/main" id="{CA74BDFA-5F0B-4148-BC15-04AA8E5912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8951" y="6429600"/>
            <a:ext cx="12131269" cy="180750"/>
          </a:xfrm>
          <a:prstGeom prst="rect">
            <a:avLst/>
          </a:prstGeom>
        </p:spPr>
        <p:txBody>
          <a:bodyPr lIns="0" tIns="0" rIns="0" bIns="0" anchor="b"/>
          <a:lstStyle>
            <a:lvl1pPr marL="127367" indent="0" algn="r">
              <a:buFontTx/>
              <a:buNone/>
              <a:defRPr sz="900">
                <a:solidFill>
                  <a:srgbClr val="404040"/>
                </a:solidFill>
                <a:latin typeface="GT Planar Light" pitchFamily="50" charset="0"/>
                <a:ea typeface="GT Planar Light" pitchFamily="50" charset="0"/>
              </a:defRPr>
            </a:lvl1pPr>
            <a:lvl2pPr marL="486015" indent="0">
              <a:buNone/>
              <a:defRPr/>
            </a:lvl2pPr>
            <a:lvl3pPr marL="846026" indent="0">
              <a:buNone/>
              <a:defRPr/>
            </a:lvl3pPr>
            <a:lvl4pPr marL="1206038" indent="0">
              <a:buNone/>
              <a:defRPr/>
            </a:lvl4pPr>
            <a:lvl5pPr marL="1566049" indent="0">
              <a:buNone/>
              <a:defRPr/>
            </a:lvl5pPr>
          </a:lstStyle>
          <a:p>
            <a:pPr lvl="0"/>
            <a:r>
              <a:rPr lang="de-DE"/>
              <a:t>Quelle:</a:t>
            </a:r>
          </a:p>
        </p:txBody>
      </p:sp>
    </p:spTree>
    <p:extLst>
      <p:ext uri="{BB962C8B-B14F-4D97-AF65-F5344CB8AC3E}">
        <p14:creationId xmlns:p14="http://schemas.microsoft.com/office/powerpoint/2010/main" val="11686106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64" userDrawn="1">
          <p15:clr>
            <a:srgbClr val="FBAE40"/>
          </p15:clr>
        </p15:guide>
        <p15:guide id="2" orient="horz" pos="807" userDrawn="1">
          <p15:clr>
            <a:srgbClr val="FBAE40"/>
          </p15:clr>
        </p15:guide>
        <p15:guide id="3" pos="4096" userDrawn="1">
          <p15:clr>
            <a:srgbClr val="FBAE40"/>
          </p15:clr>
        </p15:guide>
        <p15:guide id="4" pos="7952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sa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5">
            <a:extLst>
              <a:ext uri="{FF2B5EF4-FFF2-40B4-BE49-F238E27FC236}">
                <a16:creationId xmlns:a16="http://schemas.microsoft.com/office/drawing/2014/main" id="{2AA8AC17-FF5F-4D51-A17A-29980F454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951" y="544107"/>
            <a:ext cx="12131271" cy="340206"/>
          </a:xfrm>
          <a:prstGeom prst="rect">
            <a:avLst/>
          </a:prstGeom>
        </p:spPr>
        <p:txBody>
          <a:bodyPr wrap="square" lIns="0" tIns="0" rIns="108000" bIns="0" anchor="t">
            <a:noAutofit/>
          </a:bodyPr>
          <a:lstStyle>
            <a:lvl1pPr algn="l">
              <a:lnSpc>
                <a:spcPct val="100000"/>
              </a:lnSpc>
              <a:defRPr sz="2100" b="1">
                <a:solidFill>
                  <a:srgbClr val="003E6E"/>
                </a:solidFill>
                <a:latin typeface="GT Planar Medium" pitchFamily="50" charset="0"/>
                <a:ea typeface="GT Planar Medium" pitchFamily="50" charset="0"/>
                <a:cs typeface="Segoe UI" panose="020B0502040204020203" pitchFamily="34" charset="0"/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641DDCC9-ACAE-48DF-92D6-0F2995E784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88951" y="277342"/>
            <a:ext cx="12131269" cy="249523"/>
          </a:xfrm>
          <a:prstGeom prst="rect">
            <a:avLst/>
          </a:prstGeom>
        </p:spPr>
        <p:txBody>
          <a:bodyPr lIns="0" tIns="0" rIns="108000" bIns="0" anchor="ctr">
            <a:noAutofit/>
          </a:bodyPr>
          <a:lstStyle>
            <a:lvl1pPr marL="0" indent="0">
              <a:buFontTx/>
              <a:buNone/>
              <a:defRPr sz="1500">
                <a:solidFill>
                  <a:schemeClr val="tx1">
                    <a:lumMod val="75000"/>
                    <a:lumOff val="25000"/>
                  </a:schemeClr>
                </a:solidFill>
                <a:latin typeface="GT Planar Light" pitchFamily="50" charset="0"/>
                <a:ea typeface="GT Planar Light" pitchFamily="50" charset="0"/>
                <a:cs typeface="Segoe UI" panose="020B0502040204020203" pitchFamily="34" charset="0"/>
              </a:defRPr>
            </a:lvl1pPr>
            <a:lvl2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r>
              <a:rPr lang="de-DE"/>
              <a:t>Mastertitelformat bearbeiten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DBA8DF52-2489-4834-98FA-20DCD2BBB18F}"/>
              </a:ext>
            </a:extLst>
          </p:cNvPr>
          <p:cNvCxnSpPr>
            <a:cxnSpLocks/>
          </p:cNvCxnSpPr>
          <p:nvPr userDrawn="1"/>
        </p:nvCxnSpPr>
        <p:spPr>
          <a:xfrm>
            <a:off x="405644" y="269784"/>
            <a:ext cx="0" cy="622086"/>
          </a:xfrm>
          <a:prstGeom prst="line">
            <a:avLst/>
          </a:prstGeom>
          <a:ln w="28575">
            <a:solidFill>
              <a:srgbClr val="FF6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platzhalter 21">
            <a:extLst>
              <a:ext uri="{FF2B5EF4-FFF2-40B4-BE49-F238E27FC236}">
                <a16:creationId xmlns:a16="http://schemas.microsoft.com/office/drawing/2014/main" id="{CA74BDFA-5F0B-4148-BC15-04AA8E5912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2288" y="6429600"/>
            <a:ext cx="12097932" cy="180750"/>
          </a:xfrm>
          <a:prstGeom prst="rect">
            <a:avLst/>
          </a:prstGeom>
        </p:spPr>
        <p:txBody>
          <a:bodyPr lIns="0" tIns="0" rIns="0" bIns="0" anchor="b"/>
          <a:lstStyle>
            <a:lvl1pPr marL="127367" indent="0" algn="r">
              <a:buFontTx/>
              <a:buNone/>
              <a:defRPr sz="900">
                <a:solidFill>
                  <a:srgbClr val="404040"/>
                </a:solidFill>
                <a:latin typeface="GT Planar Light" pitchFamily="50" charset="0"/>
                <a:ea typeface="GT Planar Light" pitchFamily="50" charset="0"/>
              </a:defRPr>
            </a:lvl1pPr>
            <a:lvl2pPr marL="486015" indent="0">
              <a:buNone/>
              <a:defRPr/>
            </a:lvl2pPr>
            <a:lvl3pPr marL="846026" indent="0">
              <a:buNone/>
              <a:defRPr/>
            </a:lvl3pPr>
            <a:lvl4pPr marL="1206038" indent="0">
              <a:buNone/>
              <a:defRPr/>
            </a:lvl4pPr>
            <a:lvl5pPr marL="1566049" indent="0">
              <a:buNone/>
              <a:defRPr/>
            </a:lvl5pPr>
          </a:lstStyle>
          <a:p>
            <a:pPr lvl="0"/>
            <a:r>
              <a:rPr lang="de-DE"/>
              <a:t>Quelle: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C28D40FA-AA8E-1D8F-9289-A10897B52F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1000" y="1189323"/>
            <a:ext cx="609206" cy="609206"/>
          </a:xfrm>
          <a:prstGeom prst="rect">
            <a:avLst/>
          </a:prstGeom>
        </p:spPr>
      </p:pic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6D3A58E9-4AE4-01B6-57E1-4C8880F86C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60602" y="1146175"/>
            <a:ext cx="11560175" cy="652462"/>
          </a:xfrm>
          <a:prstGeom prst="rect">
            <a:avLst/>
          </a:prstGeom>
        </p:spPr>
        <p:txBody>
          <a:bodyPr rIns="0"/>
          <a:lstStyle>
            <a:lvl1pPr marL="0" algn="just">
              <a:lnSpc>
                <a:spcPts val="2100"/>
              </a:lnSpc>
              <a:spcBef>
                <a:spcPts val="600"/>
              </a:spcBef>
              <a:defRPr sz="1600"/>
            </a:lvl1pPr>
            <a:lvl2pPr marL="719138" indent="-233363" algn="just">
              <a:lnSpc>
                <a:spcPts val="2100"/>
              </a:lnSpc>
              <a:spcBef>
                <a:spcPts val="600"/>
              </a:spcBef>
              <a:buClr>
                <a:schemeClr val="accent3"/>
              </a:buClr>
              <a:defRPr sz="1600"/>
            </a:lvl2pPr>
            <a:lvl3pPr marL="1074738" indent="-228600" algn="just">
              <a:lnSpc>
                <a:spcPts val="2100"/>
              </a:lnSpc>
              <a:spcBef>
                <a:spcPts val="6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600"/>
            </a:lvl3pPr>
            <a:lvl4pPr marL="1436688" indent="-230188" algn="just">
              <a:lnSpc>
                <a:spcPts val="2100"/>
              </a:lnSpc>
              <a:spcBef>
                <a:spcPts val="600"/>
              </a:spcBef>
              <a:buClr>
                <a:schemeClr val="accent3"/>
              </a:buClr>
              <a:buFont typeface="Courier New" panose="02070309020205020404" pitchFamily="49" charset="0"/>
              <a:buChar char="o"/>
              <a:defRPr sz="1600"/>
            </a:lvl4pPr>
            <a:lvl5pPr marL="1566049" indent="0">
              <a:lnSpc>
                <a:spcPts val="2100"/>
              </a:lnSpc>
              <a:spcBef>
                <a:spcPts val="600"/>
              </a:spcBef>
              <a:buNone/>
              <a:defRPr sz="16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</p:spTree>
    <p:extLst>
      <p:ext uri="{BB962C8B-B14F-4D97-AF65-F5344CB8AC3E}">
        <p14:creationId xmlns:p14="http://schemas.microsoft.com/office/powerpoint/2010/main" val="36822616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04">
          <p15:clr>
            <a:srgbClr val="FBAE40"/>
          </p15:clr>
        </p15:guide>
        <p15:guide id="2" orient="horz" pos="807">
          <p15:clr>
            <a:srgbClr val="FBAE40"/>
          </p15:clr>
        </p15:guide>
        <p15:guide id="3" orient="horz" pos="4169">
          <p15:clr>
            <a:srgbClr val="FBAE40"/>
          </p15:clr>
        </p15:guide>
        <p15:guide id="4" pos="4096">
          <p15:clr>
            <a:srgbClr val="FBAE40"/>
          </p15:clr>
        </p15:guide>
        <p15:guide id="5" pos="7952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ol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5">
            <a:extLst>
              <a:ext uri="{FF2B5EF4-FFF2-40B4-BE49-F238E27FC236}">
                <a16:creationId xmlns:a16="http://schemas.microsoft.com/office/drawing/2014/main" id="{2AA8AC17-FF5F-4D51-A17A-29980F454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951" y="544107"/>
            <a:ext cx="12131271" cy="340206"/>
          </a:xfrm>
          <a:prstGeom prst="rect">
            <a:avLst/>
          </a:prstGeom>
        </p:spPr>
        <p:txBody>
          <a:bodyPr wrap="square" lIns="0" tIns="0" rIns="108000" bIns="0" anchor="t">
            <a:noAutofit/>
          </a:bodyPr>
          <a:lstStyle>
            <a:lvl1pPr algn="l">
              <a:lnSpc>
                <a:spcPct val="100000"/>
              </a:lnSpc>
              <a:defRPr sz="2100" b="1">
                <a:solidFill>
                  <a:srgbClr val="003E6E"/>
                </a:solidFill>
                <a:latin typeface="GT Planar Medium" pitchFamily="50" charset="0"/>
                <a:ea typeface="GT Planar Medium" pitchFamily="50" charset="0"/>
                <a:cs typeface="Segoe UI" panose="020B0502040204020203" pitchFamily="34" charset="0"/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641DDCC9-ACAE-48DF-92D6-0F2995E784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88951" y="277342"/>
            <a:ext cx="12131269" cy="249523"/>
          </a:xfrm>
          <a:prstGeom prst="rect">
            <a:avLst/>
          </a:prstGeom>
        </p:spPr>
        <p:txBody>
          <a:bodyPr lIns="0" tIns="0" rIns="108000" bIns="0" anchor="ctr">
            <a:noAutofit/>
          </a:bodyPr>
          <a:lstStyle>
            <a:lvl1pPr marL="0" indent="0">
              <a:buFontTx/>
              <a:buNone/>
              <a:defRPr sz="1500">
                <a:solidFill>
                  <a:schemeClr val="tx1">
                    <a:lumMod val="75000"/>
                    <a:lumOff val="25000"/>
                  </a:schemeClr>
                </a:solidFill>
                <a:latin typeface="GT Planar Light" pitchFamily="50" charset="0"/>
                <a:ea typeface="GT Planar Light" pitchFamily="50" charset="0"/>
                <a:cs typeface="Segoe UI" panose="020B0502040204020203" pitchFamily="34" charset="0"/>
              </a:defRPr>
            </a:lvl1pPr>
            <a:lvl2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r>
              <a:rPr lang="de-DE"/>
              <a:t>Mastertitelformat bearbeiten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DBA8DF52-2489-4834-98FA-20DCD2BBB18F}"/>
              </a:ext>
            </a:extLst>
          </p:cNvPr>
          <p:cNvCxnSpPr>
            <a:cxnSpLocks/>
          </p:cNvCxnSpPr>
          <p:nvPr userDrawn="1"/>
        </p:nvCxnSpPr>
        <p:spPr>
          <a:xfrm>
            <a:off x="405644" y="269784"/>
            <a:ext cx="0" cy="622086"/>
          </a:xfrm>
          <a:prstGeom prst="line">
            <a:avLst/>
          </a:prstGeom>
          <a:ln w="28575">
            <a:solidFill>
              <a:srgbClr val="FF6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platzhalter 21">
            <a:extLst>
              <a:ext uri="{FF2B5EF4-FFF2-40B4-BE49-F238E27FC236}">
                <a16:creationId xmlns:a16="http://schemas.microsoft.com/office/drawing/2014/main" id="{CA74BDFA-5F0B-4148-BC15-04AA8E5912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2288" y="6429600"/>
            <a:ext cx="12097932" cy="180750"/>
          </a:xfrm>
          <a:prstGeom prst="rect">
            <a:avLst/>
          </a:prstGeom>
        </p:spPr>
        <p:txBody>
          <a:bodyPr lIns="0" tIns="0" rIns="0" bIns="0" anchor="b"/>
          <a:lstStyle>
            <a:lvl1pPr marL="127367" indent="0" algn="r">
              <a:buFontTx/>
              <a:buNone/>
              <a:defRPr sz="900">
                <a:solidFill>
                  <a:srgbClr val="404040"/>
                </a:solidFill>
                <a:latin typeface="GT Planar Light" pitchFamily="50" charset="0"/>
                <a:ea typeface="GT Planar Light" pitchFamily="50" charset="0"/>
              </a:defRPr>
            </a:lvl1pPr>
            <a:lvl2pPr marL="486015" indent="0">
              <a:buNone/>
              <a:defRPr/>
            </a:lvl2pPr>
            <a:lvl3pPr marL="846026" indent="0">
              <a:buNone/>
              <a:defRPr/>
            </a:lvl3pPr>
            <a:lvl4pPr marL="1206038" indent="0">
              <a:buNone/>
              <a:defRPr/>
            </a:lvl4pPr>
            <a:lvl5pPr marL="1566049" indent="0">
              <a:buNone/>
              <a:defRPr/>
            </a:lvl5pPr>
          </a:lstStyle>
          <a:p>
            <a:pPr lvl="0"/>
            <a:r>
              <a:rPr lang="de-DE"/>
              <a:t>Quelle: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6D3A58E9-4AE4-01B6-57E1-4C8880F86C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60602" y="1146175"/>
            <a:ext cx="11560175" cy="652462"/>
          </a:xfrm>
          <a:prstGeom prst="rect">
            <a:avLst/>
          </a:prstGeom>
        </p:spPr>
        <p:txBody>
          <a:bodyPr rIns="0"/>
          <a:lstStyle>
            <a:lvl1pPr marL="0" algn="just">
              <a:lnSpc>
                <a:spcPts val="2100"/>
              </a:lnSpc>
              <a:spcBef>
                <a:spcPts val="600"/>
              </a:spcBef>
              <a:defRPr sz="1600"/>
            </a:lvl1pPr>
            <a:lvl2pPr marL="719138" indent="-233363" algn="just">
              <a:lnSpc>
                <a:spcPts val="2100"/>
              </a:lnSpc>
              <a:spcBef>
                <a:spcPts val="600"/>
              </a:spcBef>
              <a:buClr>
                <a:schemeClr val="accent3"/>
              </a:buClr>
              <a:defRPr sz="1600"/>
            </a:lvl2pPr>
            <a:lvl3pPr marL="1074738" indent="-228600" algn="just">
              <a:lnSpc>
                <a:spcPts val="2100"/>
              </a:lnSpc>
              <a:spcBef>
                <a:spcPts val="6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600"/>
            </a:lvl3pPr>
            <a:lvl4pPr marL="1436688" indent="-230188" algn="just">
              <a:lnSpc>
                <a:spcPts val="2100"/>
              </a:lnSpc>
              <a:spcBef>
                <a:spcPts val="600"/>
              </a:spcBef>
              <a:buClr>
                <a:schemeClr val="accent3"/>
              </a:buClr>
              <a:buFont typeface="Courier New" panose="02070309020205020404" pitchFamily="49" charset="0"/>
              <a:buChar char="o"/>
              <a:defRPr sz="1600"/>
            </a:lvl4pPr>
            <a:lvl5pPr marL="1566049" indent="0">
              <a:lnSpc>
                <a:spcPts val="2100"/>
              </a:lnSpc>
              <a:spcBef>
                <a:spcPts val="600"/>
              </a:spcBef>
              <a:buNone/>
              <a:defRPr sz="16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pic>
        <p:nvPicPr>
          <p:cNvPr id="4" name="Grafik 3" descr="Tools Silhouette">
            <a:extLst>
              <a:ext uri="{FF2B5EF4-FFF2-40B4-BE49-F238E27FC236}">
                <a16:creationId xmlns:a16="http://schemas.microsoft.com/office/drawing/2014/main" id="{7AFBD869-C1D0-8A6A-DB68-DDB86046F2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72361" y="1189324"/>
            <a:ext cx="561100" cy="56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0390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04">
          <p15:clr>
            <a:srgbClr val="FBAE40"/>
          </p15:clr>
        </p15:guide>
        <p15:guide id="2" orient="horz" pos="807">
          <p15:clr>
            <a:srgbClr val="FBAE40"/>
          </p15:clr>
        </p15:guide>
        <p15:guide id="3" orient="horz" pos="4164">
          <p15:clr>
            <a:srgbClr val="FBAE40"/>
          </p15:clr>
        </p15:guide>
        <p15:guide id="4" pos="4096">
          <p15:clr>
            <a:srgbClr val="FBAE40"/>
          </p15:clr>
        </p15:guide>
        <p15:guide id="5" pos="7952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t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5">
            <a:extLst>
              <a:ext uri="{FF2B5EF4-FFF2-40B4-BE49-F238E27FC236}">
                <a16:creationId xmlns:a16="http://schemas.microsoft.com/office/drawing/2014/main" id="{2AA8AC17-FF5F-4D51-A17A-29980F454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951" y="544107"/>
            <a:ext cx="12131271" cy="340206"/>
          </a:xfrm>
          <a:prstGeom prst="rect">
            <a:avLst/>
          </a:prstGeom>
        </p:spPr>
        <p:txBody>
          <a:bodyPr wrap="square" lIns="0" tIns="0" rIns="108000" bIns="0" anchor="t">
            <a:noAutofit/>
          </a:bodyPr>
          <a:lstStyle>
            <a:lvl1pPr algn="l">
              <a:lnSpc>
                <a:spcPct val="100000"/>
              </a:lnSpc>
              <a:defRPr sz="2100" b="1">
                <a:solidFill>
                  <a:srgbClr val="003E6E"/>
                </a:solidFill>
                <a:latin typeface="GT Planar Medium" pitchFamily="50" charset="0"/>
                <a:ea typeface="GT Planar Medium" pitchFamily="50" charset="0"/>
                <a:cs typeface="Segoe UI" panose="020B0502040204020203" pitchFamily="34" charset="0"/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641DDCC9-ACAE-48DF-92D6-0F2995E784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88951" y="277342"/>
            <a:ext cx="12131269" cy="249523"/>
          </a:xfrm>
          <a:prstGeom prst="rect">
            <a:avLst/>
          </a:prstGeom>
        </p:spPr>
        <p:txBody>
          <a:bodyPr lIns="0" tIns="0" rIns="108000" bIns="0" anchor="ctr">
            <a:noAutofit/>
          </a:bodyPr>
          <a:lstStyle>
            <a:lvl1pPr marL="0" indent="0">
              <a:buFontTx/>
              <a:buNone/>
              <a:defRPr sz="1500">
                <a:solidFill>
                  <a:schemeClr val="tx1">
                    <a:lumMod val="75000"/>
                    <a:lumOff val="25000"/>
                  </a:schemeClr>
                </a:solidFill>
                <a:latin typeface="GT Planar Light" pitchFamily="50" charset="0"/>
                <a:ea typeface="GT Planar Light" pitchFamily="50" charset="0"/>
                <a:cs typeface="Segoe UI" panose="020B0502040204020203" pitchFamily="34" charset="0"/>
              </a:defRPr>
            </a:lvl1pPr>
            <a:lvl2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r>
              <a:rPr lang="de-DE"/>
              <a:t>Mastertitelformat bearbeiten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DBA8DF52-2489-4834-98FA-20DCD2BBB18F}"/>
              </a:ext>
            </a:extLst>
          </p:cNvPr>
          <p:cNvCxnSpPr>
            <a:cxnSpLocks/>
          </p:cNvCxnSpPr>
          <p:nvPr userDrawn="1"/>
        </p:nvCxnSpPr>
        <p:spPr>
          <a:xfrm>
            <a:off x="405644" y="269784"/>
            <a:ext cx="0" cy="622086"/>
          </a:xfrm>
          <a:prstGeom prst="line">
            <a:avLst/>
          </a:prstGeom>
          <a:ln w="28575">
            <a:solidFill>
              <a:srgbClr val="FF6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platzhalter 21">
            <a:extLst>
              <a:ext uri="{FF2B5EF4-FFF2-40B4-BE49-F238E27FC236}">
                <a16:creationId xmlns:a16="http://schemas.microsoft.com/office/drawing/2014/main" id="{CA74BDFA-5F0B-4148-BC15-04AA8E5912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2288" y="6429600"/>
            <a:ext cx="12097932" cy="180750"/>
          </a:xfrm>
          <a:prstGeom prst="rect">
            <a:avLst/>
          </a:prstGeom>
        </p:spPr>
        <p:txBody>
          <a:bodyPr lIns="0" tIns="0" rIns="0" bIns="0" anchor="b"/>
          <a:lstStyle>
            <a:lvl1pPr marL="127367" indent="0" algn="r">
              <a:buFontTx/>
              <a:buNone/>
              <a:defRPr sz="900">
                <a:solidFill>
                  <a:srgbClr val="404040"/>
                </a:solidFill>
                <a:latin typeface="GT Planar Light" pitchFamily="50" charset="0"/>
                <a:ea typeface="GT Planar Light" pitchFamily="50" charset="0"/>
              </a:defRPr>
            </a:lvl1pPr>
            <a:lvl2pPr marL="486015" indent="0">
              <a:buNone/>
              <a:defRPr/>
            </a:lvl2pPr>
            <a:lvl3pPr marL="846026" indent="0">
              <a:buNone/>
              <a:defRPr/>
            </a:lvl3pPr>
            <a:lvl4pPr marL="1206038" indent="0">
              <a:buNone/>
              <a:defRPr/>
            </a:lvl4pPr>
            <a:lvl5pPr marL="1566049" indent="0">
              <a:buNone/>
              <a:defRPr/>
            </a:lvl5pPr>
          </a:lstStyle>
          <a:p>
            <a:pPr lvl="0"/>
            <a:r>
              <a:rPr lang="de-DE"/>
              <a:t>Quelle: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6D3A58E9-4AE4-01B6-57E1-4C8880F86C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60602" y="1146175"/>
            <a:ext cx="11560175" cy="652462"/>
          </a:xfrm>
          <a:prstGeom prst="rect">
            <a:avLst/>
          </a:prstGeom>
        </p:spPr>
        <p:txBody>
          <a:bodyPr rIns="0"/>
          <a:lstStyle>
            <a:lvl1pPr marL="0" algn="just">
              <a:lnSpc>
                <a:spcPts val="2100"/>
              </a:lnSpc>
              <a:spcBef>
                <a:spcPts val="600"/>
              </a:spcBef>
              <a:defRPr sz="1600"/>
            </a:lvl1pPr>
            <a:lvl2pPr marL="719138" indent="-233363" algn="just">
              <a:lnSpc>
                <a:spcPts val="2100"/>
              </a:lnSpc>
              <a:spcBef>
                <a:spcPts val="600"/>
              </a:spcBef>
              <a:buClr>
                <a:schemeClr val="accent3"/>
              </a:buClr>
              <a:defRPr sz="1600"/>
            </a:lvl2pPr>
            <a:lvl3pPr marL="1074738" indent="-228600" algn="just">
              <a:lnSpc>
                <a:spcPts val="2100"/>
              </a:lnSpc>
              <a:spcBef>
                <a:spcPts val="6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600"/>
            </a:lvl3pPr>
            <a:lvl4pPr marL="1436688" indent="-230188" algn="just">
              <a:lnSpc>
                <a:spcPts val="2100"/>
              </a:lnSpc>
              <a:spcBef>
                <a:spcPts val="600"/>
              </a:spcBef>
              <a:buClr>
                <a:schemeClr val="accent3"/>
              </a:buClr>
              <a:buFont typeface="Courier New" panose="02070309020205020404" pitchFamily="49" charset="0"/>
              <a:buChar char="o"/>
              <a:defRPr sz="1600"/>
            </a:lvl4pPr>
            <a:lvl5pPr marL="1566049" indent="0">
              <a:lnSpc>
                <a:spcPts val="2100"/>
              </a:lnSpc>
              <a:spcBef>
                <a:spcPts val="600"/>
              </a:spcBef>
              <a:buNone/>
              <a:defRPr sz="16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pic>
        <p:nvPicPr>
          <p:cNvPr id="2" name="Grafik 1" descr="Roboter Silhouette">
            <a:extLst>
              <a:ext uri="{FF2B5EF4-FFF2-40B4-BE49-F238E27FC236}">
                <a16:creationId xmlns:a16="http://schemas.microsoft.com/office/drawing/2014/main" id="{217B98FA-02D7-8133-3DA7-AF89B9A5903E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7456" y="1121960"/>
            <a:ext cx="845399" cy="772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66842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04">
          <p15:clr>
            <a:srgbClr val="FBAE40"/>
          </p15:clr>
        </p15:guide>
        <p15:guide id="2" orient="horz" pos="807">
          <p15:clr>
            <a:srgbClr val="FBAE40"/>
          </p15:clr>
        </p15:guide>
        <p15:guide id="3" orient="horz" pos="4164">
          <p15:clr>
            <a:srgbClr val="FBAE40"/>
          </p15:clr>
        </p15:guide>
        <p15:guide id="4" pos="4096">
          <p15:clr>
            <a:srgbClr val="FBAE40"/>
          </p15:clr>
        </p15:guide>
        <p15:guide id="5" pos="795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Full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6218275D-4364-40DB-8ADE-3B2A339CA9DE}"/>
              </a:ext>
            </a:extLst>
          </p:cNvPr>
          <p:cNvSpPr/>
          <p:nvPr userDrawn="1"/>
        </p:nvSpPr>
        <p:spPr>
          <a:xfrm>
            <a:off x="0" y="0"/>
            <a:ext cx="13004800" cy="7315200"/>
          </a:xfrm>
          <a:prstGeom prst="rect">
            <a:avLst/>
          </a:prstGeom>
          <a:solidFill>
            <a:srgbClr val="D6510B"/>
          </a:solidFill>
          <a:ln>
            <a:solidFill>
              <a:srgbClr val="D651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CH" sz="16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925911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page_Digital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feld 17">
            <a:extLst>
              <a:ext uri="{FF2B5EF4-FFF2-40B4-BE49-F238E27FC236}">
                <a16:creationId xmlns:a16="http://schemas.microsoft.com/office/drawing/2014/main" id="{82F72504-C6A4-4470-ADDB-7433834FA233}"/>
              </a:ext>
            </a:extLst>
          </p:cNvPr>
          <p:cNvSpPr txBox="1"/>
          <p:nvPr userDrawn="1"/>
        </p:nvSpPr>
        <p:spPr>
          <a:xfrm>
            <a:off x="3717926" y="3828733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sz="2400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DE34105A-6F50-468D-8CF7-9D52E49981CC}"/>
              </a:ext>
            </a:extLst>
          </p:cNvPr>
          <p:cNvSpPr/>
          <p:nvPr userDrawn="1"/>
        </p:nvSpPr>
        <p:spPr>
          <a:xfrm>
            <a:off x="352270" y="6693109"/>
            <a:ext cx="12449331" cy="562131"/>
          </a:xfrm>
          <a:prstGeom prst="rect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1" rIns="91440" bIns="4572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DC89D101-F44A-1A73-2ECC-371C966E4AA6}"/>
              </a:ext>
            </a:extLst>
          </p:cNvPr>
          <p:cNvSpPr/>
          <p:nvPr userDrawn="1"/>
        </p:nvSpPr>
        <p:spPr>
          <a:xfrm>
            <a:off x="0" y="0"/>
            <a:ext cx="13004800" cy="4396740"/>
          </a:xfrm>
          <a:prstGeom prst="rect">
            <a:avLst/>
          </a:prstGeom>
          <a:solidFill>
            <a:srgbClr val="FEFB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1" rIns="91440" bIns="4572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E71BD18-DF01-46F7-BE1B-0A3FA49A49DC}"/>
              </a:ext>
            </a:extLst>
          </p:cNvPr>
          <p:cNvSpPr/>
          <p:nvPr userDrawn="1"/>
        </p:nvSpPr>
        <p:spPr>
          <a:xfrm>
            <a:off x="0" y="3786975"/>
            <a:ext cx="13004800" cy="3547019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1" rIns="91440" bIns="4572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E1A5861-9721-4D31-8EAE-C0F695D2C84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22288" y="2290177"/>
            <a:ext cx="12101512" cy="442394"/>
          </a:xfrm>
          <a:prstGeom prst="rect">
            <a:avLst/>
          </a:prstGeom>
        </p:spPr>
        <p:txBody>
          <a:bodyPr wrap="none" lIns="0" tIns="0" rIns="0" bIns="0" anchor="b"/>
          <a:lstStyle>
            <a:lvl1pPr marL="0">
              <a:spcBef>
                <a:spcPct val="0"/>
              </a:spcBef>
              <a:defRPr sz="2500">
                <a:solidFill>
                  <a:srgbClr val="FF6A00"/>
                </a:solidFill>
                <a:latin typeface="GT Planar Light" pitchFamily="50" charset="0"/>
                <a:ea typeface="GT Planar Light" pitchFamily="50" charset="0"/>
                <a:cs typeface="Segoe UI Semilight" panose="020B0402040204020203" pitchFamily="34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DA75D82C-4435-4B5E-BD1D-78484DE5038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22288" y="2862578"/>
            <a:ext cx="12101512" cy="722384"/>
          </a:xfrm>
          <a:prstGeom prst="rect">
            <a:avLst/>
          </a:prstGeom>
        </p:spPr>
        <p:txBody>
          <a:bodyPr wrap="none" lIns="0" tIns="0" rIns="0" bIns="0">
            <a:noAutofit/>
          </a:bodyPr>
          <a:lstStyle>
            <a:lvl1pPr marL="0">
              <a:spcBef>
                <a:spcPct val="0"/>
              </a:spcBef>
              <a:defRPr sz="4500" b="1">
                <a:solidFill>
                  <a:srgbClr val="003E6E"/>
                </a:solidFill>
                <a:latin typeface="GT Planar Medium" pitchFamily="50" charset="0"/>
                <a:ea typeface="GT Planar Medium" pitchFamily="50" charset="0"/>
              </a:defRPr>
            </a:lvl1pPr>
            <a:lvl2pPr marL="486015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6601639C-449A-EAF8-13F9-1EC60C02ECA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clrChange>
              <a:clrFrom>
                <a:srgbClr val="191919"/>
              </a:clrFrom>
              <a:clrTo>
                <a:srgbClr val="191919">
                  <a:alpha val="0"/>
                </a:srgbClr>
              </a:clrTo>
            </a:clrChange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435"/>
          <a:stretch/>
        </p:blipFill>
        <p:spPr>
          <a:xfrm flipH="1">
            <a:off x="-4" y="3786975"/>
            <a:ext cx="5799695" cy="3547018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39C60F51-8387-C0D5-DF9F-07BA20577BC1}"/>
              </a:ext>
            </a:extLst>
          </p:cNvPr>
          <p:cNvSpPr txBox="1"/>
          <p:nvPr userDrawn="1"/>
        </p:nvSpPr>
        <p:spPr>
          <a:xfrm>
            <a:off x="488950" y="6904563"/>
            <a:ext cx="1213484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900" dirty="0">
                <a:solidFill>
                  <a:schemeClr val="bg1"/>
                </a:solidFill>
                <a:latin typeface="GT Planar Light" pitchFamily="50" charset="0"/>
                <a:ea typeface="GT Planar Light" pitchFamily="50" charset="0"/>
              </a:rPr>
              <a:t>Prof. Dr. Robert Butscher | Fallstudie "Customer </a:t>
            </a:r>
            <a:r>
              <a:rPr lang="de-DE" sz="900" dirty="0" err="1">
                <a:solidFill>
                  <a:schemeClr val="bg1"/>
                </a:solidFill>
                <a:latin typeface="GT Planar Light" pitchFamily="50" charset="0"/>
                <a:ea typeface="GT Planar Light" pitchFamily="50" charset="0"/>
              </a:rPr>
              <a:t>Chirn</a:t>
            </a:r>
            <a:r>
              <a:rPr lang="de-DE" sz="900" dirty="0">
                <a:solidFill>
                  <a:schemeClr val="bg1"/>
                </a:solidFill>
                <a:latin typeface="GT Planar Light" pitchFamily="50" charset="0"/>
                <a:ea typeface="GT Planar Light" pitchFamily="50" charset="0"/>
              </a:rPr>
              <a:t> Prevention" | Wintersemester </a:t>
            </a:r>
            <a:r>
              <a:rPr lang="de-DE" sz="1800" dirty="0">
                <a:solidFill>
                  <a:schemeClr val="bg1"/>
                </a:solidFill>
                <a:latin typeface="GT Planar Medium" pitchFamily="50" charset="0"/>
                <a:ea typeface="GT Planar Medium" pitchFamily="50" charset="0"/>
              </a:rPr>
              <a:t>2024/25</a:t>
            </a:r>
            <a:endParaRPr lang="de-DE" sz="1800" dirty="0">
              <a:solidFill>
                <a:schemeClr val="bg1"/>
              </a:solidFill>
              <a:latin typeface="GT Planar Light" pitchFamily="50" charset="0"/>
              <a:ea typeface="GT Planar Light" pitchFamily="50" charset="0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4D5A3314-F113-CC11-5AE8-B52EB10184B6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5978"/>
          <a:stretch/>
        </p:blipFill>
        <p:spPr>
          <a:xfrm>
            <a:off x="10462846" y="344016"/>
            <a:ext cx="2207781" cy="862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9589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otiv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6218275D-4364-40DB-8ADE-3B2A339CA9DE}"/>
              </a:ext>
            </a:extLst>
          </p:cNvPr>
          <p:cNvSpPr/>
          <p:nvPr userDrawn="1"/>
        </p:nvSpPr>
        <p:spPr>
          <a:xfrm>
            <a:off x="0" y="0"/>
            <a:ext cx="13004800" cy="7315200"/>
          </a:xfrm>
          <a:prstGeom prst="rect">
            <a:avLst/>
          </a:prstGeom>
          <a:solidFill>
            <a:srgbClr val="D6510B"/>
          </a:solidFill>
          <a:ln>
            <a:solidFill>
              <a:srgbClr val="D651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1" rIns="91440" bIns="4572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CH" sz="1600">
              <a:solidFill>
                <a:schemeClr val="tx1"/>
              </a:solidFill>
            </a:endParaRP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1A8E55D1-0D4A-F200-934F-7C0436D8D7F4}"/>
              </a:ext>
            </a:extLst>
          </p:cNvPr>
          <p:cNvGrpSpPr/>
          <p:nvPr userDrawn="1"/>
        </p:nvGrpSpPr>
        <p:grpSpPr>
          <a:xfrm>
            <a:off x="-15191" y="2"/>
            <a:ext cx="13009294" cy="7315199"/>
            <a:chOff x="576428" y="884863"/>
            <a:chExt cx="7898501" cy="4441371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9F0D2DC9-DBB7-4D60-E4EA-59AF35F6A60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7079"/>
            <a:stretch/>
          </p:blipFill>
          <p:spPr>
            <a:xfrm>
              <a:off x="576428" y="884863"/>
              <a:ext cx="3967668" cy="4441371"/>
            </a:xfrm>
            <a:prstGeom prst="rect">
              <a:avLst/>
            </a:prstGeom>
          </p:spPr>
        </p:pic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4BE3F585-D73C-4EC2-849B-F32CD9D978A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4228955" y="884863"/>
              <a:ext cx="233097" cy="4441371"/>
            </a:xfrm>
            <a:prstGeom prst="rect">
              <a:avLst/>
            </a:prstGeom>
          </p:spPr>
        </p:pic>
        <p:pic>
          <p:nvPicPr>
            <p:cNvPr id="6" name="Grafik 5">
              <a:extLst>
                <a:ext uri="{FF2B5EF4-FFF2-40B4-BE49-F238E27FC236}">
                  <a16:creationId xmlns:a16="http://schemas.microsoft.com/office/drawing/2014/main" id="{7D90520F-5293-C803-3EBD-9A8558BC60C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4428574" y="884863"/>
              <a:ext cx="182044" cy="4441371"/>
            </a:xfrm>
            <a:prstGeom prst="rect">
              <a:avLst/>
            </a:prstGeom>
          </p:spPr>
        </p:pic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495A01E3-94C6-65F2-91C2-4825C7CEA7D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4572000" y="884863"/>
              <a:ext cx="182044" cy="4441371"/>
            </a:xfrm>
            <a:prstGeom prst="rect">
              <a:avLst/>
            </a:prstGeom>
          </p:spPr>
        </p:pic>
        <p:pic>
          <p:nvPicPr>
            <p:cNvPr id="8" name="Grafik 7">
              <a:extLst>
                <a:ext uri="{FF2B5EF4-FFF2-40B4-BE49-F238E27FC236}">
                  <a16:creationId xmlns:a16="http://schemas.microsoft.com/office/drawing/2014/main" id="{772E2087-4CDC-AA3D-17E4-5FC15FD1197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4745174" y="884863"/>
              <a:ext cx="182044" cy="4441371"/>
            </a:xfrm>
            <a:prstGeom prst="rect">
              <a:avLst/>
            </a:prstGeom>
          </p:spPr>
        </p:pic>
        <p:pic>
          <p:nvPicPr>
            <p:cNvPr id="9" name="Grafik 8">
              <a:extLst>
                <a:ext uri="{FF2B5EF4-FFF2-40B4-BE49-F238E27FC236}">
                  <a16:creationId xmlns:a16="http://schemas.microsoft.com/office/drawing/2014/main" id="{16979421-1F8C-8423-B83F-F1586E6BA8B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4866931" y="884863"/>
              <a:ext cx="182044" cy="4441371"/>
            </a:xfrm>
            <a:prstGeom prst="rect">
              <a:avLst/>
            </a:prstGeom>
          </p:spPr>
        </p:pic>
        <p:pic>
          <p:nvPicPr>
            <p:cNvPr id="10" name="Grafik 9">
              <a:extLst>
                <a:ext uri="{FF2B5EF4-FFF2-40B4-BE49-F238E27FC236}">
                  <a16:creationId xmlns:a16="http://schemas.microsoft.com/office/drawing/2014/main" id="{3E611D0A-757A-AAC6-C9DE-FD6F5997E7B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5019093" y="884863"/>
              <a:ext cx="182044" cy="4441371"/>
            </a:xfrm>
            <a:prstGeom prst="rect">
              <a:avLst/>
            </a:prstGeom>
          </p:spPr>
        </p:pic>
        <p:pic>
          <p:nvPicPr>
            <p:cNvPr id="11" name="Grafik 10">
              <a:extLst>
                <a:ext uri="{FF2B5EF4-FFF2-40B4-BE49-F238E27FC236}">
                  <a16:creationId xmlns:a16="http://schemas.microsoft.com/office/drawing/2014/main" id="{3ECD5553-768B-2C7B-DF9A-EB146E0F7CD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5201990" y="884863"/>
              <a:ext cx="182044" cy="4441371"/>
            </a:xfrm>
            <a:prstGeom prst="rect">
              <a:avLst/>
            </a:prstGeom>
          </p:spPr>
        </p:pic>
        <p:pic>
          <p:nvPicPr>
            <p:cNvPr id="12" name="Grafik 11">
              <a:extLst>
                <a:ext uri="{FF2B5EF4-FFF2-40B4-BE49-F238E27FC236}">
                  <a16:creationId xmlns:a16="http://schemas.microsoft.com/office/drawing/2014/main" id="{565AF008-0AA7-0A44-4F23-6CE900E5FBC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5350556" y="884863"/>
              <a:ext cx="182044" cy="4441371"/>
            </a:xfrm>
            <a:prstGeom prst="rect">
              <a:avLst/>
            </a:prstGeom>
          </p:spPr>
        </p:pic>
        <p:pic>
          <p:nvPicPr>
            <p:cNvPr id="13" name="Grafik 12">
              <a:extLst>
                <a:ext uri="{FF2B5EF4-FFF2-40B4-BE49-F238E27FC236}">
                  <a16:creationId xmlns:a16="http://schemas.microsoft.com/office/drawing/2014/main" id="{3F02DD51-A4C3-B214-9880-B80FB8AA8A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5474250" y="884863"/>
              <a:ext cx="182044" cy="4441371"/>
            </a:xfrm>
            <a:prstGeom prst="rect">
              <a:avLst/>
            </a:prstGeom>
          </p:spPr>
        </p:pic>
        <p:pic>
          <p:nvPicPr>
            <p:cNvPr id="14" name="Grafik 13">
              <a:extLst>
                <a:ext uri="{FF2B5EF4-FFF2-40B4-BE49-F238E27FC236}">
                  <a16:creationId xmlns:a16="http://schemas.microsoft.com/office/drawing/2014/main" id="{40C9B79F-7B47-868D-15B5-4727A0AC59F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5590144" y="884863"/>
              <a:ext cx="182044" cy="4441371"/>
            </a:xfrm>
            <a:prstGeom prst="rect">
              <a:avLst/>
            </a:prstGeom>
          </p:spPr>
        </p:pic>
        <p:pic>
          <p:nvPicPr>
            <p:cNvPr id="15" name="Grafik 14">
              <a:extLst>
                <a:ext uri="{FF2B5EF4-FFF2-40B4-BE49-F238E27FC236}">
                  <a16:creationId xmlns:a16="http://schemas.microsoft.com/office/drawing/2014/main" id="{1D1BB127-7BB5-2D72-535F-47E74AD5FD5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5713838" y="884863"/>
              <a:ext cx="182044" cy="4441371"/>
            </a:xfrm>
            <a:prstGeom prst="rect">
              <a:avLst/>
            </a:prstGeom>
          </p:spPr>
        </p:pic>
        <p:pic>
          <p:nvPicPr>
            <p:cNvPr id="16" name="Grafik 15">
              <a:extLst>
                <a:ext uri="{FF2B5EF4-FFF2-40B4-BE49-F238E27FC236}">
                  <a16:creationId xmlns:a16="http://schemas.microsoft.com/office/drawing/2014/main" id="{433F80C7-0D67-8609-31F8-6D486A3C7C0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5866000" y="884863"/>
              <a:ext cx="182044" cy="4441371"/>
            </a:xfrm>
            <a:prstGeom prst="rect">
              <a:avLst/>
            </a:prstGeom>
          </p:spPr>
        </p:pic>
        <p:pic>
          <p:nvPicPr>
            <p:cNvPr id="17" name="Grafik 16">
              <a:extLst>
                <a:ext uri="{FF2B5EF4-FFF2-40B4-BE49-F238E27FC236}">
                  <a16:creationId xmlns:a16="http://schemas.microsoft.com/office/drawing/2014/main" id="{08BB41E1-B3D0-70A3-6756-DA624EF3E22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6048897" y="884863"/>
              <a:ext cx="182044" cy="4441371"/>
            </a:xfrm>
            <a:prstGeom prst="rect">
              <a:avLst/>
            </a:prstGeom>
          </p:spPr>
        </p:pic>
        <p:pic>
          <p:nvPicPr>
            <p:cNvPr id="18" name="Grafik 17">
              <a:extLst>
                <a:ext uri="{FF2B5EF4-FFF2-40B4-BE49-F238E27FC236}">
                  <a16:creationId xmlns:a16="http://schemas.microsoft.com/office/drawing/2014/main" id="{1D93F8A3-8E7F-08AB-1A74-313804E373B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6205897" y="884863"/>
              <a:ext cx="182044" cy="4441371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3B3F6A7F-EA16-3861-9A90-AF6D6D13AD1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6375579" y="884863"/>
              <a:ext cx="182044" cy="4441371"/>
            </a:xfrm>
            <a:prstGeom prst="rect">
              <a:avLst/>
            </a:prstGeom>
          </p:spPr>
        </p:pic>
        <p:pic>
          <p:nvPicPr>
            <p:cNvPr id="20" name="Grafik 19">
              <a:extLst>
                <a:ext uri="{FF2B5EF4-FFF2-40B4-BE49-F238E27FC236}">
                  <a16:creationId xmlns:a16="http://schemas.microsoft.com/office/drawing/2014/main" id="{BA0395ED-F0EE-365B-F996-5E3EB46ACB4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6233801" y="884863"/>
              <a:ext cx="182044" cy="4441371"/>
            </a:xfrm>
            <a:prstGeom prst="rect">
              <a:avLst/>
            </a:prstGeom>
          </p:spPr>
        </p:pic>
        <p:pic>
          <p:nvPicPr>
            <p:cNvPr id="21" name="Grafik 20">
              <a:extLst>
                <a:ext uri="{FF2B5EF4-FFF2-40B4-BE49-F238E27FC236}">
                  <a16:creationId xmlns:a16="http://schemas.microsoft.com/office/drawing/2014/main" id="{EBDDF9BA-FD27-1D1C-54AA-68E618FEE0D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6506061" y="884863"/>
              <a:ext cx="182044" cy="4441371"/>
            </a:xfrm>
            <a:prstGeom prst="rect">
              <a:avLst/>
            </a:prstGeom>
          </p:spPr>
        </p:pic>
        <p:pic>
          <p:nvPicPr>
            <p:cNvPr id="22" name="Grafik 21">
              <a:extLst>
                <a:ext uri="{FF2B5EF4-FFF2-40B4-BE49-F238E27FC236}">
                  <a16:creationId xmlns:a16="http://schemas.microsoft.com/office/drawing/2014/main" id="{7A61B321-AD15-D339-D7A8-B3C604BC0E4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6684177" y="884863"/>
              <a:ext cx="182044" cy="4441371"/>
            </a:xfrm>
            <a:prstGeom prst="rect">
              <a:avLst/>
            </a:prstGeom>
          </p:spPr>
        </p:pic>
        <p:pic>
          <p:nvPicPr>
            <p:cNvPr id="23" name="Grafik 22">
              <a:extLst>
                <a:ext uri="{FF2B5EF4-FFF2-40B4-BE49-F238E27FC236}">
                  <a16:creationId xmlns:a16="http://schemas.microsoft.com/office/drawing/2014/main" id="{3B21975B-983D-ACE4-5C7C-5A87BE9A41E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6867075" y="884863"/>
              <a:ext cx="182044" cy="4441371"/>
            </a:xfrm>
            <a:prstGeom prst="rect">
              <a:avLst/>
            </a:prstGeom>
          </p:spPr>
        </p:pic>
        <p:pic>
          <p:nvPicPr>
            <p:cNvPr id="24" name="Grafik 23">
              <a:extLst>
                <a:ext uri="{FF2B5EF4-FFF2-40B4-BE49-F238E27FC236}">
                  <a16:creationId xmlns:a16="http://schemas.microsoft.com/office/drawing/2014/main" id="{14423975-0886-1E5E-871F-8F47865D8AD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7049972" y="884863"/>
              <a:ext cx="182044" cy="4441371"/>
            </a:xfrm>
            <a:prstGeom prst="rect">
              <a:avLst/>
            </a:prstGeom>
          </p:spPr>
        </p:pic>
        <p:pic>
          <p:nvPicPr>
            <p:cNvPr id="25" name="Grafik 24">
              <a:extLst>
                <a:ext uri="{FF2B5EF4-FFF2-40B4-BE49-F238E27FC236}">
                  <a16:creationId xmlns:a16="http://schemas.microsoft.com/office/drawing/2014/main" id="{CB6177F5-C4B7-1561-D0A4-1969BB79D8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7230024" y="884863"/>
              <a:ext cx="182044" cy="4441371"/>
            </a:xfrm>
            <a:prstGeom prst="rect">
              <a:avLst/>
            </a:prstGeom>
          </p:spPr>
        </p:pic>
        <p:pic>
          <p:nvPicPr>
            <p:cNvPr id="26" name="Grafik 25">
              <a:extLst>
                <a:ext uri="{FF2B5EF4-FFF2-40B4-BE49-F238E27FC236}">
                  <a16:creationId xmlns:a16="http://schemas.microsoft.com/office/drawing/2014/main" id="{4559C700-2672-7986-6861-42BFA4AAD03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7407390" y="884863"/>
              <a:ext cx="182044" cy="4441371"/>
            </a:xfrm>
            <a:prstGeom prst="rect">
              <a:avLst/>
            </a:prstGeom>
          </p:spPr>
        </p:pic>
        <p:pic>
          <p:nvPicPr>
            <p:cNvPr id="27" name="Grafik 26">
              <a:extLst>
                <a:ext uri="{FF2B5EF4-FFF2-40B4-BE49-F238E27FC236}">
                  <a16:creationId xmlns:a16="http://schemas.microsoft.com/office/drawing/2014/main" id="{81E52A9C-6EA1-2276-D105-2B02D692BD6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7570299" y="884863"/>
              <a:ext cx="182044" cy="4441371"/>
            </a:xfrm>
            <a:prstGeom prst="rect">
              <a:avLst/>
            </a:prstGeom>
          </p:spPr>
        </p:pic>
        <p:pic>
          <p:nvPicPr>
            <p:cNvPr id="28" name="Grafik 27">
              <a:extLst>
                <a:ext uri="{FF2B5EF4-FFF2-40B4-BE49-F238E27FC236}">
                  <a16:creationId xmlns:a16="http://schemas.microsoft.com/office/drawing/2014/main" id="{D049F4B3-E01D-2A6D-1508-2ADF0881800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7747095" y="884863"/>
              <a:ext cx="182044" cy="4441371"/>
            </a:xfrm>
            <a:prstGeom prst="rect">
              <a:avLst/>
            </a:prstGeom>
          </p:spPr>
        </p:pic>
        <p:pic>
          <p:nvPicPr>
            <p:cNvPr id="29" name="Grafik 28">
              <a:extLst>
                <a:ext uri="{FF2B5EF4-FFF2-40B4-BE49-F238E27FC236}">
                  <a16:creationId xmlns:a16="http://schemas.microsoft.com/office/drawing/2014/main" id="{D3EDF536-608A-8AED-9273-88BE6227684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95737"/>
            <a:stretch/>
          </p:blipFill>
          <p:spPr>
            <a:xfrm>
              <a:off x="7235685" y="884863"/>
              <a:ext cx="1239244" cy="4441371"/>
            </a:xfrm>
            <a:prstGeom prst="rect">
              <a:avLst/>
            </a:prstGeom>
          </p:spPr>
        </p:pic>
        <p:sp>
          <p:nvSpPr>
            <p:cNvPr id="30" name="Textfeld 29">
              <a:extLst>
                <a:ext uri="{FF2B5EF4-FFF2-40B4-BE49-F238E27FC236}">
                  <a16:creationId xmlns:a16="http://schemas.microsoft.com/office/drawing/2014/main" id="{AF4A4A59-5BF6-2C40-A8B6-D007EBEA7B99}"/>
                </a:ext>
              </a:extLst>
            </p:cNvPr>
            <p:cNvSpPr txBox="1"/>
            <p:nvPr/>
          </p:nvSpPr>
          <p:spPr bwMode="auto">
            <a:xfrm>
              <a:off x="3391112" y="1995741"/>
              <a:ext cx="4762151" cy="1416676"/>
            </a:xfrm>
            <a:prstGeom prst="rect">
              <a:avLst/>
            </a:prstGeom>
            <a:noFill/>
            <a:ln w="12700">
              <a:noFill/>
            </a:ln>
            <a:effectLst/>
          </p:spPr>
          <p:txBody>
            <a:bodyPr vert="horz" wrap="square" lIns="0" tIns="46080" rIns="0" bIns="46080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pPr algn="just"/>
              <a:r>
                <a:rPr lang="de-DE" sz="4000" dirty="0">
                  <a:solidFill>
                    <a:schemeClr val="bg2">
                      <a:lumMod val="25000"/>
                    </a:schemeClr>
                  </a:solidFill>
                  <a:latin typeface="Garamond" panose="02020404030301010803" pitchFamily="18" charset="0"/>
                </a:rPr>
                <a:t>Gib nicht auf! Leide jetzt und lebe den Rest deines Lebens wie ein Champion!	</a:t>
              </a:r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E5237470-DDA9-78DF-BB2B-9DC5974AE9EB}"/>
                </a:ext>
              </a:extLst>
            </p:cNvPr>
            <p:cNvSpPr/>
            <p:nvPr/>
          </p:nvSpPr>
          <p:spPr>
            <a:xfrm>
              <a:off x="6489356" y="2946714"/>
              <a:ext cx="1692680" cy="31766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/>
              <a:r>
                <a:rPr lang="de-DE" sz="2800" b="1">
                  <a:solidFill>
                    <a:schemeClr val="accent6"/>
                  </a:solidFill>
                </a:rPr>
                <a:t>Muhammad Ali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7963176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18">
            <a:extLst>
              <a:ext uri="{FF2B5EF4-FFF2-40B4-BE49-F238E27FC236}">
                <a16:creationId xmlns:a16="http://schemas.microsoft.com/office/drawing/2014/main" id="{2C50B4E3-9F06-4238-9569-03EBE7812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600" y="270112"/>
            <a:ext cx="12134201" cy="622086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lnSpc>
                <a:spcPct val="100000"/>
              </a:lnSpc>
              <a:defRPr sz="2900" b="1">
                <a:solidFill>
                  <a:srgbClr val="003E6E"/>
                </a:solidFill>
                <a:latin typeface="GT Planar Medium" pitchFamily="50" charset="0"/>
                <a:ea typeface="GT Planar Medium" pitchFamily="50" charset="0"/>
                <a:cs typeface="Segoe UI" panose="020B0502040204020203" pitchFamily="34" charset="0"/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C2D42809-64B2-4533-AA2A-3D1483F493B6}"/>
              </a:ext>
            </a:extLst>
          </p:cNvPr>
          <p:cNvCxnSpPr>
            <a:cxnSpLocks/>
          </p:cNvCxnSpPr>
          <p:nvPr userDrawn="1"/>
        </p:nvCxnSpPr>
        <p:spPr>
          <a:xfrm>
            <a:off x="405644" y="269784"/>
            <a:ext cx="0" cy="622086"/>
          </a:xfrm>
          <a:prstGeom prst="line">
            <a:avLst/>
          </a:prstGeom>
          <a:ln w="28575">
            <a:solidFill>
              <a:srgbClr val="FF6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90625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sa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5">
            <a:extLst>
              <a:ext uri="{FF2B5EF4-FFF2-40B4-BE49-F238E27FC236}">
                <a16:creationId xmlns:a16="http://schemas.microsoft.com/office/drawing/2014/main" id="{2AA8AC17-FF5F-4D51-A17A-29980F454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951" y="544107"/>
            <a:ext cx="12131271" cy="340206"/>
          </a:xfrm>
          <a:prstGeom prst="rect">
            <a:avLst/>
          </a:prstGeom>
        </p:spPr>
        <p:txBody>
          <a:bodyPr wrap="square" lIns="0" tIns="0" rIns="108000" bIns="0" anchor="t">
            <a:noAutofit/>
          </a:bodyPr>
          <a:lstStyle>
            <a:lvl1pPr algn="l">
              <a:lnSpc>
                <a:spcPct val="100000"/>
              </a:lnSpc>
              <a:defRPr sz="2100" b="1">
                <a:solidFill>
                  <a:srgbClr val="003E6E"/>
                </a:solidFill>
                <a:latin typeface="GT Planar Medium" pitchFamily="50" charset="0"/>
                <a:ea typeface="GT Planar Medium" pitchFamily="50" charset="0"/>
                <a:cs typeface="Segoe UI" panose="020B0502040204020203" pitchFamily="34" charset="0"/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641DDCC9-ACAE-48DF-92D6-0F2995E784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88951" y="277342"/>
            <a:ext cx="12131269" cy="249523"/>
          </a:xfrm>
          <a:prstGeom prst="rect">
            <a:avLst/>
          </a:prstGeom>
        </p:spPr>
        <p:txBody>
          <a:bodyPr lIns="0" tIns="0" rIns="108000" bIns="0" anchor="ctr">
            <a:noAutofit/>
          </a:bodyPr>
          <a:lstStyle>
            <a:lvl1pPr marL="0" indent="0">
              <a:buFontTx/>
              <a:buNone/>
              <a:defRPr sz="1500">
                <a:solidFill>
                  <a:schemeClr val="tx1">
                    <a:lumMod val="75000"/>
                    <a:lumOff val="25000"/>
                  </a:schemeClr>
                </a:solidFill>
                <a:latin typeface="GT Planar Light" pitchFamily="50" charset="0"/>
                <a:ea typeface="GT Planar Light" pitchFamily="50" charset="0"/>
                <a:cs typeface="Segoe UI" panose="020B0502040204020203" pitchFamily="34" charset="0"/>
              </a:defRPr>
            </a:lvl1pPr>
            <a:lvl2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r>
              <a:rPr lang="de-DE"/>
              <a:t>Mastertitelformat bearbeiten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DBA8DF52-2489-4834-98FA-20DCD2BBB18F}"/>
              </a:ext>
            </a:extLst>
          </p:cNvPr>
          <p:cNvCxnSpPr>
            <a:cxnSpLocks/>
          </p:cNvCxnSpPr>
          <p:nvPr userDrawn="1"/>
        </p:nvCxnSpPr>
        <p:spPr>
          <a:xfrm>
            <a:off x="405644" y="269784"/>
            <a:ext cx="0" cy="622086"/>
          </a:xfrm>
          <a:prstGeom prst="line">
            <a:avLst/>
          </a:prstGeom>
          <a:ln w="28575">
            <a:solidFill>
              <a:srgbClr val="FF6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platzhalter 21">
            <a:extLst>
              <a:ext uri="{FF2B5EF4-FFF2-40B4-BE49-F238E27FC236}">
                <a16:creationId xmlns:a16="http://schemas.microsoft.com/office/drawing/2014/main" id="{CA74BDFA-5F0B-4148-BC15-04AA8E5912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2288" y="6429600"/>
            <a:ext cx="12097932" cy="180750"/>
          </a:xfrm>
          <a:prstGeom prst="rect">
            <a:avLst/>
          </a:prstGeom>
        </p:spPr>
        <p:txBody>
          <a:bodyPr lIns="0" tIns="0" rIns="0" bIns="0" anchor="b"/>
          <a:lstStyle>
            <a:lvl1pPr marL="127367" indent="0" algn="r">
              <a:buFontTx/>
              <a:buNone/>
              <a:defRPr sz="900">
                <a:solidFill>
                  <a:srgbClr val="404040"/>
                </a:solidFill>
                <a:latin typeface="GT Planar Light" pitchFamily="50" charset="0"/>
                <a:ea typeface="GT Planar Light" pitchFamily="50" charset="0"/>
              </a:defRPr>
            </a:lvl1pPr>
            <a:lvl2pPr marL="486015" indent="0">
              <a:buNone/>
              <a:defRPr/>
            </a:lvl2pPr>
            <a:lvl3pPr marL="846026" indent="0">
              <a:buNone/>
              <a:defRPr/>
            </a:lvl3pPr>
            <a:lvl4pPr marL="1206038" indent="0">
              <a:buNone/>
              <a:defRPr/>
            </a:lvl4pPr>
            <a:lvl5pPr marL="1566049" indent="0">
              <a:buNone/>
              <a:defRPr/>
            </a:lvl5pPr>
          </a:lstStyle>
          <a:p>
            <a:pPr lvl="0"/>
            <a:r>
              <a:rPr lang="de-DE"/>
              <a:t>Quelle: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C28D40FA-AA8E-1D8F-9289-A10897B52F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1000" y="1189323"/>
            <a:ext cx="609206" cy="609206"/>
          </a:xfrm>
          <a:prstGeom prst="rect">
            <a:avLst/>
          </a:prstGeom>
        </p:spPr>
      </p:pic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6D3A58E9-4AE4-01B6-57E1-4C8880F86C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60602" y="1146175"/>
            <a:ext cx="11560175" cy="652462"/>
          </a:xfrm>
          <a:prstGeom prst="rect">
            <a:avLst/>
          </a:prstGeom>
        </p:spPr>
        <p:txBody>
          <a:bodyPr rIns="0"/>
          <a:lstStyle>
            <a:lvl1pPr marL="0" algn="just">
              <a:lnSpc>
                <a:spcPts val="2100"/>
              </a:lnSpc>
              <a:spcBef>
                <a:spcPts val="600"/>
              </a:spcBef>
              <a:defRPr sz="1600"/>
            </a:lvl1pPr>
            <a:lvl2pPr marL="719138" indent="-233363" algn="just">
              <a:lnSpc>
                <a:spcPts val="2100"/>
              </a:lnSpc>
              <a:spcBef>
                <a:spcPts val="600"/>
              </a:spcBef>
              <a:buClr>
                <a:schemeClr val="accent3"/>
              </a:buClr>
              <a:defRPr sz="1600"/>
            </a:lvl2pPr>
            <a:lvl3pPr marL="1074738" indent="-228600" algn="just">
              <a:lnSpc>
                <a:spcPts val="2100"/>
              </a:lnSpc>
              <a:spcBef>
                <a:spcPts val="6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600"/>
            </a:lvl3pPr>
            <a:lvl4pPr marL="1436688" indent="-230188" algn="just">
              <a:lnSpc>
                <a:spcPts val="2100"/>
              </a:lnSpc>
              <a:spcBef>
                <a:spcPts val="600"/>
              </a:spcBef>
              <a:buClr>
                <a:schemeClr val="accent3"/>
              </a:buClr>
              <a:buFont typeface="Courier New" panose="02070309020205020404" pitchFamily="49" charset="0"/>
              <a:buChar char="o"/>
              <a:defRPr sz="1600"/>
            </a:lvl4pPr>
            <a:lvl5pPr marL="1566049" indent="0">
              <a:lnSpc>
                <a:spcPts val="2100"/>
              </a:lnSpc>
              <a:spcBef>
                <a:spcPts val="600"/>
              </a:spcBef>
              <a:buNone/>
              <a:defRPr sz="16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</p:spTree>
    <p:extLst>
      <p:ext uri="{BB962C8B-B14F-4D97-AF65-F5344CB8AC3E}">
        <p14:creationId xmlns:p14="http://schemas.microsoft.com/office/powerpoint/2010/main" val="20114125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04">
          <p15:clr>
            <a:srgbClr val="FBAE40"/>
          </p15:clr>
        </p15:guide>
        <p15:guide id="2" orient="horz" pos="807">
          <p15:clr>
            <a:srgbClr val="FBAE40"/>
          </p15:clr>
        </p15:guide>
        <p15:guide id="3" orient="horz" pos="4169">
          <p15:clr>
            <a:srgbClr val="FBAE40"/>
          </p15:clr>
        </p15:guide>
        <p15:guide id="4" pos="4096">
          <p15:clr>
            <a:srgbClr val="FBAE40"/>
          </p15:clr>
        </p15:guide>
        <p15:guide id="5" pos="795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ol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5">
            <a:extLst>
              <a:ext uri="{FF2B5EF4-FFF2-40B4-BE49-F238E27FC236}">
                <a16:creationId xmlns:a16="http://schemas.microsoft.com/office/drawing/2014/main" id="{2AA8AC17-FF5F-4D51-A17A-29980F454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951" y="544107"/>
            <a:ext cx="12131271" cy="340206"/>
          </a:xfrm>
          <a:prstGeom prst="rect">
            <a:avLst/>
          </a:prstGeom>
        </p:spPr>
        <p:txBody>
          <a:bodyPr wrap="square" lIns="0" tIns="0" rIns="108000" bIns="0" anchor="t">
            <a:noAutofit/>
          </a:bodyPr>
          <a:lstStyle>
            <a:lvl1pPr algn="l">
              <a:lnSpc>
                <a:spcPct val="100000"/>
              </a:lnSpc>
              <a:defRPr sz="2100" b="1">
                <a:solidFill>
                  <a:srgbClr val="003E6E"/>
                </a:solidFill>
                <a:latin typeface="GT Planar Medium" pitchFamily="50" charset="0"/>
                <a:ea typeface="GT Planar Medium" pitchFamily="50" charset="0"/>
                <a:cs typeface="Segoe UI" panose="020B0502040204020203" pitchFamily="34" charset="0"/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641DDCC9-ACAE-48DF-92D6-0F2995E784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88951" y="277342"/>
            <a:ext cx="12131269" cy="249523"/>
          </a:xfrm>
          <a:prstGeom prst="rect">
            <a:avLst/>
          </a:prstGeom>
        </p:spPr>
        <p:txBody>
          <a:bodyPr lIns="0" tIns="0" rIns="108000" bIns="0" anchor="ctr">
            <a:noAutofit/>
          </a:bodyPr>
          <a:lstStyle>
            <a:lvl1pPr marL="0" indent="0">
              <a:buFontTx/>
              <a:buNone/>
              <a:defRPr sz="1500">
                <a:solidFill>
                  <a:schemeClr val="tx1">
                    <a:lumMod val="75000"/>
                    <a:lumOff val="25000"/>
                  </a:schemeClr>
                </a:solidFill>
                <a:latin typeface="GT Planar Light" pitchFamily="50" charset="0"/>
                <a:ea typeface="GT Planar Light" pitchFamily="50" charset="0"/>
                <a:cs typeface="Segoe UI" panose="020B0502040204020203" pitchFamily="34" charset="0"/>
              </a:defRPr>
            </a:lvl1pPr>
            <a:lvl2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r>
              <a:rPr lang="de-DE"/>
              <a:t>Mastertitelformat bearbeiten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DBA8DF52-2489-4834-98FA-20DCD2BBB18F}"/>
              </a:ext>
            </a:extLst>
          </p:cNvPr>
          <p:cNvCxnSpPr>
            <a:cxnSpLocks/>
          </p:cNvCxnSpPr>
          <p:nvPr userDrawn="1"/>
        </p:nvCxnSpPr>
        <p:spPr>
          <a:xfrm>
            <a:off x="405644" y="269784"/>
            <a:ext cx="0" cy="622086"/>
          </a:xfrm>
          <a:prstGeom prst="line">
            <a:avLst/>
          </a:prstGeom>
          <a:ln w="28575">
            <a:solidFill>
              <a:srgbClr val="FF6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platzhalter 21">
            <a:extLst>
              <a:ext uri="{FF2B5EF4-FFF2-40B4-BE49-F238E27FC236}">
                <a16:creationId xmlns:a16="http://schemas.microsoft.com/office/drawing/2014/main" id="{CA74BDFA-5F0B-4148-BC15-04AA8E5912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2288" y="6429600"/>
            <a:ext cx="12097932" cy="180750"/>
          </a:xfrm>
          <a:prstGeom prst="rect">
            <a:avLst/>
          </a:prstGeom>
        </p:spPr>
        <p:txBody>
          <a:bodyPr lIns="0" tIns="0" rIns="0" bIns="0" anchor="b"/>
          <a:lstStyle>
            <a:lvl1pPr marL="127367" indent="0" algn="r">
              <a:buFontTx/>
              <a:buNone/>
              <a:defRPr sz="900">
                <a:solidFill>
                  <a:srgbClr val="404040"/>
                </a:solidFill>
                <a:latin typeface="GT Planar Light" pitchFamily="50" charset="0"/>
                <a:ea typeface="GT Planar Light" pitchFamily="50" charset="0"/>
              </a:defRPr>
            </a:lvl1pPr>
            <a:lvl2pPr marL="486015" indent="0">
              <a:buNone/>
              <a:defRPr/>
            </a:lvl2pPr>
            <a:lvl3pPr marL="846026" indent="0">
              <a:buNone/>
              <a:defRPr/>
            </a:lvl3pPr>
            <a:lvl4pPr marL="1206038" indent="0">
              <a:buNone/>
              <a:defRPr/>
            </a:lvl4pPr>
            <a:lvl5pPr marL="1566049" indent="0">
              <a:buNone/>
              <a:defRPr/>
            </a:lvl5pPr>
          </a:lstStyle>
          <a:p>
            <a:pPr lvl="0"/>
            <a:r>
              <a:rPr lang="de-DE"/>
              <a:t>Quelle: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6D3A58E9-4AE4-01B6-57E1-4C8880F86C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60602" y="1146175"/>
            <a:ext cx="11560175" cy="652462"/>
          </a:xfrm>
          <a:prstGeom prst="rect">
            <a:avLst/>
          </a:prstGeom>
        </p:spPr>
        <p:txBody>
          <a:bodyPr rIns="0"/>
          <a:lstStyle>
            <a:lvl1pPr marL="0" algn="just">
              <a:lnSpc>
                <a:spcPts val="2100"/>
              </a:lnSpc>
              <a:spcBef>
                <a:spcPts val="600"/>
              </a:spcBef>
              <a:defRPr sz="1600"/>
            </a:lvl1pPr>
            <a:lvl2pPr marL="719138" indent="-233363" algn="just">
              <a:lnSpc>
                <a:spcPts val="2100"/>
              </a:lnSpc>
              <a:spcBef>
                <a:spcPts val="600"/>
              </a:spcBef>
              <a:buClr>
                <a:schemeClr val="accent3"/>
              </a:buClr>
              <a:defRPr sz="1600"/>
            </a:lvl2pPr>
            <a:lvl3pPr marL="1074738" indent="-228600" algn="just">
              <a:lnSpc>
                <a:spcPts val="2100"/>
              </a:lnSpc>
              <a:spcBef>
                <a:spcPts val="6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600"/>
            </a:lvl3pPr>
            <a:lvl4pPr marL="1436688" indent="-230188" algn="just">
              <a:lnSpc>
                <a:spcPts val="2100"/>
              </a:lnSpc>
              <a:spcBef>
                <a:spcPts val="600"/>
              </a:spcBef>
              <a:buClr>
                <a:schemeClr val="accent3"/>
              </a:buClr>
              <a:buFont typeface="Courier New" panose="02070309020205020404" pitchFamily="49" charset="0"/>
              <a:buChar char="o"/>
              <a:defRPr sz="1600"/>
            </a:lvl4pPr>
            <a:lvl5pPr marL="1566049" indent="0">
              <a:lnSpc>
                <a:spcPts val="2100"/>
              </a:lnSpc>
              <a:spcBef>
                <a:spcPts val="600"/>
              </a:spcBef>
              <a:buNone/>
              <a:defRPr sz="16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pic>
        <p:nvPicPr>
          <p:cNvPr id="4" name="Grafik 3" descr="Tools Silhouette">
            <a:extLst>
              <a:ext uri="{FF2B5EF4-FFF2-40B4-BE49-F238E27FC236}">
                <a16:creationId xmlns:a16="http://schemas.microsoft.com/office/drawing/2014/main" id="{7AFBD869-C1D0-8A6A-DB68-DDB86046F2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72361" y="1189324"/>
            <a:ext cx="561100" cy="56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1763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04">
          <p15:clr>
            <a:srgbClr val="FBAE40"/>
          </p15:clr>
        </p15:guide>
        <p15:guide id="2" orient="horz" pos="807">
          <p15:clr>
            <a:srgbClr val="FBAE40"/>
          </p15:clr>
        </p15:guide>
        <p15:guide id="3" orient="horz" pos="4164">
          <p15:clr>
            <a:srgbClr val="FBAE40"/>
          </p15:clr>
        </p15:guide>
        <p15:guide id="4" pos="4096">
          <p15:clr>
            <a:srgbClr val="FBAE40"/>
          </p15:clr>
        </p15:guide>
        <p15:guide id="5" pos="795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t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5">
            <a:extLst>
              <a:ext uri="{FF2B5EF4-FFF2-40B4-BE49-F238E27FC236}">
                <a16:creationId xmlns:a16="http://schemas.microsoft.com/office/drawing/2014/main" id="{2AA8AC17-FF5F-4D51-A17A-29980F454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951" y="544107"/>
            <a:ext cx="12131271" cy="340206"/>
          </a:xfrm>
          <a:prstGeom prst="rect">
            <a:avLst/>
          </a:prstGeom>
        </p:spPr>
        <p:txBody>
          <a:bodyPr wrap="square" lIns="0" tIns="0" rIns="108000" bIns="0" anchor="t">
            <a:noAutofit/>
          </a:bodyPr>
          <a:lstStyle>
            <a:lvl1pPr algn="l">
              <a:lnSpc>
                <a:spcPct val="100000"/>
              </a:lnSpc>
              <a:defRPr sz="2100" b="1">
                <a:solidFill>
                  <a:srgbClr val="003E6E"/>
                </a:solidFill>
                <a:latin typeface="GT Planar Medium" pitchFamily="50" charset="0"/>
                <a:ea typeface="GT Planar Medium" pitchFamily="50" charset="0"/>
                <a:cs typeface="Segoe UI" panose="020B0502040204020203" pitchFamily="34" charset="0"/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641DDCC9-ACAE-48DF-92D6-0F2995E784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88951" y="277342"/>
            <a:ext cx="12131269" cy="249523"/>
          </a:xfrm>
          <a:prstGeom prst="rect">
            <a:avLst/>
          </a:prstGeom>
        </p:spPr>
        <p:txBody>
          <a:bodyPr lIns="0" tIns="0" rIns="108000" bIns="0" anchor="ctr">
            <a:noAutofit/>
          </a:bodyPr>
          <a:lstStyle>
            <a:lvl1pPr marL="0" indent="0">
              <a:buFontTx/>
              <a:buNone/>
              <a:defRPr sz="1500">
                <a:solidFill>
                  <a:schemeClr val="tx1">
                    <a:lumMod val="75000"/>
                    <a:lumOff val="25000"/>
                  </a:schemeClr>
                </a:solidFill>
                <a:latin typeface="GT Planar Light" pitchFamily="50" charset="0"/>
                <a:ea typeface="GT Planar Light" pitchFamily="50" charset="0"/>
                <a:cs typeface="Segoe UI" panose="020B0502040204020203" pitchFamily="34" charset="0"/>
              </a:defRPr>
            </a:lvl1pPr>
            <a:lvl2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r>
              <a:rPr lang="de-DE"/>
              <a:t>Mastertitelformat bearbeiten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DBA8DF52-2489-4834-98FA-20DCD2BBB18F}"/>
              </a:ext>
            </a:extLst>
          </p:cNvPr>
          <p:cNvCxnSpPr>
            <a:cxnSpLocks/>
          </p:cNvCxnSpPr>
          <p:nvPr userDrawn="1"/>
        </p:nvCxnSpPr>
        <p:spPr>
          <a:xfrm>
            <a:off x="405644" y="269784"/>
            <a:ext cx="0" cy="622086"/>
          </a:xfrm>
          <a:prstGeom prst="line">
            <a:avLst/>
          </a:prstGeom>
          <a:ln w="28575">
            <a:solidFill>
              <a:srgbClr val="FF6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platzhalter 21">
            <a:extLst>
              <a:ext uri="{FF2B5EF4-FFF2-40B4-BE49-F238E27FC236}">
                <a16:creationId xmlns:a16="http://schemas.microsoft.com/office/drawing/2014/main" id="{CA74BDFA-5F0B-4148-BC15-04AA8E5912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2288" y="6429600"/>
            <a:ext cx="12097932" cy="180750"/>
          </a:xfrm>
          <a:prstGeom prst="rect">
            <a:avLst/>
          </a:prstGeom>
        </p:spPr>
        <p:txBody>
          <a:bodyPr lIns="0" tIns="0" rIns="0" bIns="0" anchor="b"/>
          <a:lstStyle>
            <a:lvl1pPr marL="127367" indent="0" algn="r">
              <a:buFontTx/>
              <a:buNone/>
              <a:defRPr sz="900">
                <a:solidFill>
                  <a:srgbClr val="404040"/>
                </a:solidFill>
                <a:latin typeface="GT Planar Light" pitchFamily="50" charset="0"/>
                <a:ea typeface="GT Planar Light" pitchFamily="50" charset="0"/>
              </a:defRPr>
            </a:lvl1pPr>
            <a:lvl2pPr marL="486015" indent="0">
              <a:buNone/>
              <a:defRPr/>
            </a:lvl2pPr>
            <a:lvl3pPr marL="846026" indent="0">
              <a:buNone/>
              <a:defRPr/>
            </a:lvl3pPr>
            <a:lvl4pPr marL="1206038" indent="0">
              <a:buNone/>
              <a:defRPr/>
            </a:lvl4pPr>
            <a:lvl5pPr marL="1566049" indent="0">
              <a:buNone/>
              <a:defRPr/>
            </a:lvl5pPr>
          </a:lstStyle>
          <a:p>
            <a:pPr lvl="0"/>
            <a:r>
              <a:rPr lang="de-DE"/>
              <a:t>Quelle: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6D3A58E9-4AE4-01B6-57E1-4C8880F86C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60602" y="1146175"/>
            <a:ext cx="11560175" cy="652462"/>
          </a:xfrm>
          <a:prstGeom prst="rect">
            <a:avLst/>
          </a:prstGeom>
        </p:spPr>
        <p:txBody>
          <a:bodyPr rIns="0"/>
          <a:lstStyle>
            <a:lvl1pPr marL="0" algn="just">
              <a:lnSpc>
                <a:spcPts val="2100"/>
              </a:lnSpc>
              <a:spcBef>
                <a:spcPts val="600"/>
              </a:spcBef>
              <a:defRPr sz="1600"/>
            </a:lvl1pPr>
            <a:lvl2pPr marL="719138" indent="-233363" algn="just">
              <a:lnSpc>
                <a:spcPts val="2100"/>
              </a:lnSpc>
              <a:spcBef>
                <a:spcPts val="600"/>
              </a:spcBef>
              <a:buClr>
                <a:schemeClr val="accent3"/>
              </a:buClr>
              <a:defRPr sz="1600"/>
            </a:lvl2pPr>
            <a:lvl3pPr marL="1074738" indent="-228600" algn="just">
              <a:lnSpc>
                <a:spcPts val="2100"/>
              </a:lnSpc>
              <a:spcBef>
                <a:spcPts val="6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600"/>
            </a:lvl3pPr>
            <a:lvl4pPr marL="1436688" indent="-230188" algn="just">
              <a:lnSpc>
                <a:spcPts val="2100"/>
              </a:lnSpc>
              <a:spcBef>
                <a:spcPts val="600"/>
              </a:spcBef>
              <a:buClr>
                <a:schemeClr val="accent3"/>
              </a:buClr>
              <a:buFont typeface="Courier New" panose="02070309020205020404" pitchFamily="49" charset="0"/>
              <a:buChar char="o"/>
              <a:defRPr sz="1600"/>
            </a:lvl4pPr>
            <a:lvl5pPr marL="1566049" indent="0">
              <a:lnSpc>
                <a:spcPts val="2100"/>
              </a:lnSpc>
              <a:spcBef>
                <a:spcPts val="600"/>
              </a:spcBef>
              <a:buNone/>
              <a:defRPr sz="16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pic>
        <p:nvPicPr>
          <p:cNvPr id="12" name="Grafik 11" descr="Roboter Silhouette">
            <a:extLst>
              <a:ext uri="{FF2B5EF4-FFF2-40B4-BE49-F238E27FC236}">
                <a16:creationId xmlns:a16="http://schemas.microsoft.com/office/drawing/2014/main" id="{7E573DBE-2C6B-11B7-2F89-6A5786407288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7456" y="1121960"/>
            <a:ext cx="845399" cy="772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83788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04">
          <p15:clr>
            <a:srgbClr val="FBAE40"/>
          </p15:clr>
        </p15:guide>
        <p15:guide id="2" orient="horz" pos="807">
          <p15:clr>
            <a:srgbClr val="FBAE40"/>
          </p15:clr>
        </p15:guide>
        <p15:guide id="3" orient="horz" pos="4164">
          <p15:clr>
            <a:srgbClr val="FBAE40"/>
          </p15:clr>
        </p15:guide>
        <p15:guide id="4" pos="4096">
          <p15:clr>
            <a:srgbClr val="FBAE40"/>
          </p15:clr>
        </p15:guide>
        <p15:guide id="5" pos="7952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5">
            <a:extLst>
              <a:ext uri="{FF2B5EF4-FFF2-40B4-BE49-F238E27FC236}">
                <a16:creationId xmlns:a16="http://schemas.microsoft.com/office/drawing/2014/main" id="{2AA8AC17-FF5F-4D51-A17A-29980F454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951" y="544107"/>
            <a:ext cx="12131271" cy="340206"/>
          </a:xfrm>
          <a:prstGeom prst="rect">
            <a:avLst/>
          </a:prstGeom>
        </p:spPr>
        <p:txBody>
          <a:bodyPr wrap="square" lIns="0" tIns="0" rIns="108000" bIns="0" anchor="t">
            <a:noAutofit/>
          </a:bodyPr>
          <a:lstStyle>
            <a:lvl1pPr algn="l">
              <a:lnSpc>
                <a:spcPct val="100000"/>
              </a:lnSpc>
              <a:defRPr sz="2100" b="1">
                <a:solidFill>
                  <a:srgbClr val="003E6E"/>
                </a:solidFill>
                <a:latin typeface="GT Planar Medium" pitchFamily="50" charset="0"/>
                <a:ea typeface="GT Planar Medium" pitchFamily="50" charset="0"/>
                <a:cs typeface="Segoe UI" panose="020B0502040204020203" pitchFamily="34" charset="0"/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641DDCC9-ACAE-48DF-92D6-0F2995E784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88951" y="277342"/>
            <a:ext cx="12131269" cy="249523"/>
          </a:xfrm>
          <a:prstGeom prst="rect">
            <a:avLst/>
          </a:prstGeom>
        </p:spPr>
        <p:txBody>
          <a:bodyPr lIns="0" tIns="0" rIns="108000" bIns="0" anchor="ctr">
            <a:noAutofit/>
          </a:bodyPr>
          <a:lstStyle>
            <a:lvl1pPr marL="0" indent="0">
              <a:buFontTx/>
              <a:buNone/>
              <a:defRPr sz="1500">
                <a:solidFill>
                  <a:schemeClr val="tx1">
                    <a:lumMod val="75000"/>
                    <a:lumOff val="25000"/>
                  </a:schemeClr>
                </a:solidFill>
                <a:latin typeface="GT Planar Light" pitchFamily="50" charset="0"/>
                <a:ea typeface="GT Planar Light" pitchFamily="50" charset="0"/>
                <a:cs typeface="Segoe UI" panose="020B0502040204020203" pitchFamily="34" charset="0"/>
              </a:defRPr>
            </a:lvl1pPr>
            <a:lvl2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r>
              <a:rPr lang="de-DE"/>
              <a:t>Mastertitelformat bearbeiten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DBA8DF52-2489-4834-98FA-20DCD2BBB18F}"/>
              </a:ext>
            </a:extLst>
          </p:cNvPr>
          <p:cNvCxnSpPr>
            <a:cxnSpLocks/>
          </p:cNvCxnSpPr>
          <p:nvPr userDrawn="1"/>
        </p:nvCxnSpPr>
        <p:spPr>
          <a:xfrm>
            <a:off x="405644" y="269784"/>
            <a:ext cx="0" cy="622086"/>
          </a:xfrm>
          <a:prstGeom prst="line">
            <a:avLst/>
          </a:prstGeom>
          <a:ln w="28575">
            <a:solidFill>
              <a:srgbClr val="FF6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platzhalter 21">
            <a:extLst>
              <a:ext uri="{FF2B5EF4-FFF2-40B4-BE49-F238E27FC236}">
                <a16:creationId xmlns:a16="http://schemas.microsoft.com/office/drawing/2014/main" id="{CA74BDFA-5F0B-4148-BC15-04AA8E5912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8951" y="6429600"/>
            <a:ext cx="12131269" cy="180750"/>
          </a:xfrm>
          <a:prstGeom prst="rect">
            <a:avLst/>
          </a:prstGeom>
        </p:spPr>
        <p:txBody>
          <a:bodyPr lIns="0" tIns="0" rIns="0" bIns="0" anchor="b"/>
          <a:lstStyle>
            <a:lvl1pPr marL="127367" indent="0" algn="r">
              <a:buFontTx/>
              <a:buNone/>
              <a:defRPr sz="900">
                <a:solidFill>
                  <a:srgbClr val="404040"/>
                </a:solidFill>
                <a:latin typeface="GT Planar Light" pitchFamily="50" charset="0"/>
                <a:ea typeface="GT Planar Light" pitchFamily="50" charset="0"/>
              </a:defRPr>
            </a:lvl1pPr>
            <a:lvl2pPr marL="486015" indent="0">
              <a:buNone/>
              <a:defRPr/>
            </a:lvl2pPr>
            <a:lvl3pPr marL="846026" indent="0">
              <a:buNone/>
              <a:defRPr/>
            </a:lvl3pPr>
            <a:lvl4pPr marL="1206038" indent="0">
              <a:buNone/>
              <a:defRPr/>
            </a:lvl4pPr>
            <a:lvl5pPr marL="1566049" indent="0">
              <a:buNone/>
              <a:defRPr/>
            </a:lvl5pPr>
          </a:lstStyle>
          <a:p>
            <a:pPr lvl="0"/>
            <a:r>
              <a:rPr lang="de-DE"/>
              <a:t>Quelle:</a:t>
            </a:r>
          </a:p>
        </p:txBody>
      </p:sp>
    </p:spTree>
    <p:extLst>
      <p:ext uri="{BB962C8B-B14F-4D97-AF65-F5344CB8AC3E}">
        <p14:creationId xmlns:p14="http://schemas.microsoft.com/office/powerpoint/2010/main" val="18028266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64">
          <p15:clr>
            <a:srgbClr val="FBAE40"/>
          </p15:clr>
        </p15:guide>
        <p15:guide id="2" orient="horz" pos="807">
          <p15:clr>
            <a:srgbClr val="FBAE40"/>
          </p15:clr>
        </p15:guide>
        <p15:guide id="3" pos="4096">
          <p15:clr>
            <a:srgbClr val="FBAE40"/>
          </p15:clr>
        </p15:guide>
        <p15:guide id="4" pos="7952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Relationship Id="rId14" Type="http://schemas.openxmlformats.org/officeDocument/2006/relationships/oleObject" Target="../embeddings/oleObject1.bin"/><Relationship Id="rId15" Type="http://schemas.openxmlformats.org/officeDocument/2006/relationships/image" Target="../media/image1.emf"/><Relationship Id="rId16" Type="http://schemas.openxmlformats.org/officeDocument/2006/relationships/image" Target="../media/image2.gi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slideLayout" Target="../slideLayouts/slideLayout10.xml"/><Relationship Id="rId3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5.xml"/><Relationship Id="rId8" Type="http://schemas.openxmlformats.org/officeDocument/2006/relationships/theme" Target="../theme/theme2.xml"/><Relationship Id="rId13" Type="http://schemas.openxmlformats.org/officeDocument/2006/relationships/oleObject" Target="../embeddings/oleObject2.bin"/><Relationship Id="rId14" Type="http://schemas.openxmlformats.org/officeDocument/2006/relationships/image" Target="../media/image9.emf"/><Relationship Id="rId15" Type="http://schemas.openxmlformats.org/officeDocument/2006/relationships/image" Target="../media/image2.gi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6F471703-A648-F145-39A8-BE1DBE102523}"/>
              </a:ext>
            </a:extLst>
          </p:cNvPr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200655411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14" imgW="7772400" imgH="10058400" progId="TCLayout.ActiveDocument.1">
                  <p:embed/>
                </p:oleObj>
              </mc:Choice>
              <mc:Fallback>
                <p:oleObj name="think-cell Folie" r:id="rId14" imgW="7772400" imgH="1005840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F471703-A648-F145-39A8-BE1DBE10252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feld 5">
            <a:extLst>
              <a:ext uri="{FF2B5EF4-FFF2-40B4-BE49-F238E27FC236}">
                <a16:creationId xmlns:a16="http://schemas.microsoft.com/office/drawing/2014/main" id="{BC3CFE55-A1C6-48D9-9699-AFBE36FEC75D}"/>
              </a:ext>
            </a:extLst>
          </p:cNvPr>
          <p:cNvSpPr txBox="1">
            <a:spLocks/>
          </p:cNvSpPr>
          <p:nvPr userDrawn="1"/>
        </p:nvSpPr>
        <p:spPr>
          <a:xfrm>
            <a:off x="11041381" y="6780215"/>
            <a:ext cx="1582420" cy="38893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r" defTabSz="65025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C860507-29B6-496C-BEDA-15D4EE3885EC}" type="slidenum">
              <a:rPr lang="de-DE" sz="2100" b="0" smtClean="0">
                <a:solidFill>
                  <a:srgbClr val="FF6A00"/>
                </a:solidFill>
                <a:latin typeface="GT Planar Medium" pitchFamily="50" charset="0"/>
                <a:ea typeface="GT Planar Medium" pitchFamily="50" charset="0"/>
              </a:rPr>
              <a:pPr marL="0" marR="0" lvl="0" indent="0" algn="r" defTabSz="650251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de-DE" sz="2100" b="0">
              <a:solidFill>
                <a:srgbClr val="FF6A00"/>
              </a:solidFill>
              <a:latin typeface="GT Planar Medium" pitchFamily="50" charset="0"/>
              <a:ea typeface="GT Planar Medium" pitchFamily="50" charset="0"/>
            </a:endParaRPr>
          </a:p>
        </p:txBody>
      </p:sp>
      <p:sp>
        <p:nvSpPr>
          <p:cNvPr id="2" name="empower - DO NOT DELETE!!!" hidden="1">
            <a:extLst>
              <a:ext uri="{FF2B5EF4-FFF2-40B4-BE49-F238E27FC236}">
                <a16:creationId xmlns:a16="http://schemas.microsoft.com/office/drawing/2014/main" id="{754EF810-7F57-46D8-A069-D4A74C5C1B42}"/>
              </a:ext>
            </a:extLst>
          </p:cNvPr>
          <p:cNvSpPr/>
          <p:nvPr userDrawn="1"/>
        </p:nvSpPr>
        <p:spPr>
          <a:xfrm>
            <a:off x="0" y="0"/>
            <a:ext cx="0" cy="0"/>
          </a:xfrm>
          <a:prstGeom prst="ellipse">
            <a:avLst/>
          </a:prstGeom>
          <a:solidFill>
            <a:schemeClr val="accent3">
              <a:lumMod val="40000"/>
              <a:lumOff val="60000"/>
              <a:alpha val="5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1" rIns="91440" bIns="4572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3C6B9F3-A2CC-4951-8BA3-704D29E6CD61}"/>
              </a:ext>
            </a:extLst>
          </p:cNvPr>
          <p:cNvSpPr txBox="1"/>
          <p:nvPr userDrawn="1"/>
        </p:nvSpPr>
        <p:spPr>
          <a:xfrm>
            <a:off x="488954" y="6780215"/>
            <a:ext cx="827614" cy="38893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fld id="{D1676114-34E2-4D99-8B9A-DD4156C5F75C}" type="datetime1">
              <a:rPr lang="de-DE" sz="900" kern="1200" smtClean="0">
                <a:solidFill>
                  <a:schemeClr val="tx1">
                    <a:lumMod val="60000"/>
                    <a:lumOff val="40000"/>
                  </a:schemeClr>
                </a:solidFill>
                <a:latin typeface="GT Planar Light" pitchFamily="50" charset="0"/>
                <a:ea typeface="GT Planar Light" pitchFamily="50" charset="0"/>
                <a:cs typeface="+mn-cs"/>
              </a:rPr>
              <a:t>04.04.26</a:t>
            </a:fld>
            <a:endParaRPr lang="de-DE" sz="900" kern="1200">
              <a:solidFill>
                <a:schemeClr val="tx1">
                  <a:lumMod val="60000"/>
                  <a:lumOff val="40000"/>
                </a:schemeClr>
              </a:solidFill>
              <a:latin typeface="GT Planar Light" pitchFamily="50" charset="0"/>
              <a:ea typeface="GT Planar Light" pitchFamily="50" charset="0"/>
              <a:cs typeface="+mn-cs"/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E15E451F-3A59-682D-7060-F8418D8F8831}"/>
              </a:ext>
            </a:extLst>
          </p:cNvPr>
          <p:cNvSpPr txBox="1">
            <a:spLocks/>
          </p:cNvSpPr>
          <p:nvPr userDrawn="1"/>
        </p:nvSpPr>
        <p:spPr>
          <a:xfrm>
            <a:off x="1137229" y="6780214"/>
            <a:ext cx="9776460" cy="38893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l" defTabSz="6502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900" dirty="0">
                <a:solidFill>
                  <a:schemeClr val="tx1">
                    <a:lumMod val="60000"/>
                    <a:lumOff val="40000"/>
                  </a:schemeClr>
                </a:solidFill>
                <a:latin typeface="GT Planar Light" pitchFamily="50" charset="0"/>
                <a:ea typeface="GT Planar Light" pitchFamily="50" charset="0"/>
              </a:rPr>
              <a:t>Prof. Dr. Robert Butscher | BINT · Wintersemester 2026/27 | Business </a:t>
            </a:r>
            <a:r>
              <a:rPr lang="de-DE" sz="900" dirty="0" err="1">
                <a:solidFill>
                  <a:schemeClr val="tx1">
                    <a:lumMod val="60000"/>
                    <a:lumOff val="40000"/>
                  </a:schemeClr>
                </a:solidFill>
                <a:latin typeface="GT Planar Light" pitchFamily="50" charset="0"/>
                <a:ea typeface="GT Planar Light" pitchFamily="50" charset="0"/>
              </a:rPr>
              <a:t>Intelligence</a:t>
            </a:r>
            <a:endParaRPr lang="de-DE" sz="900" dirty="0">
              <a:solidFill>
                <a:schemeClr val="tx1">
                  <a:lumMod val="60000"/>
                  <a:lumOff val="40000"/>
                </a:schemeClr>
              </a:solidFill>
              <a:latin typeface="GT Planar Light" pitchFamily="50" charset="0"/>
              <a:ea typeface="GT Planar Light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03807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8" r:id="rId2"/>
    <p:sldLayoutId id="2147483662" r:id="rId3"/>
    <p:sldLayoutId id="2147483663" r:id="rId4"/>
    <p:sldLayoutId id="2147483671" r:id="rId5"/>
    <p:sldLayoutId id="2147483672" r:id="rId6"/>
    <p:sldLayoutId id="2147483673" r:id="rId7"/>
    <p:sldLayoutId id="2147483670" r:id="rId8"/>
  </p:sldLayoutIdLst>
  <p:hf hdr="0"/>
  <p:txStyles>
    <p:titleStyle>
      <a:lvl1pPr algn="ctr" defTabSz="1300500" rtl="0" eaLnBrk="1" latinLnBrk="0" hangingPunct="1">
        <a:lnSpc>
          <a:spcPts val="4000"/>
        </a:lnSpc>
        <a:spcBef>
          <a:spcPct val="0"/>
        </a:spcBef>
        <a:buNone/>
        <a:defRPr sz="3401" kern="1200">
          <a:solidFill>
            <a:schemeClr val="tx1"/>
          </a:solidFill>
          <a:latin typeface="+mj-lt"/>
          <a:ea typeface="+mj-ea"/>
          <a:cs typeface="Segoe UI" pitchFamily="34" charset="0"/>
        </a:defRPr>
      </a:lvl1pPr>
    </p:titleStyle>
    <p:bodyStyle>
      <a:lvl1pPr marL="127367" indent="0" algn="l" defTabSz="1300500" rtl="0" eaLnBrk="1" latinLnBrk="0" hangingPunct="1">
        <a:spcBef>
          <a:spcPct val="20000"/>
        </a:spcBef>
        <a:buClr>
          <a:srgbClr val="90D033"/>
        </a:buClr>
        <a:buSzPct val="100000"/>
        <a:buFontTx/>
        <a:buNone/>
        <a:defRPr sz="2000" b="0" kern="1200">
          <a:solidFill>
            <a:schemeClr val="tx1"/>
          </a:solidFill>
          <a:latin typeface="Segoe UI" pitchFamily="34" charset="0"/>
          <a:ea typeface="+mn-ea"/>
          <a:cs typeface="Segoe UI" pitchFamily="34" charset="0"/>
        </a:defRPr>
      </a:lvl1pPr>
      <a:lvl2pPr marL="846026" indent="-360011" algn="l" defTabSz="1300500" rtl="0" eaLnBrk="1" latinLnBrk="0" hangingPunct="1">
        <a:spcBef>
          <a:spcPct val="20000"/>
        </a:spcBef>
        <a:buClr>
          <a:srgbClr val="90D033"/>
        </a:buClr>
        <a:buSzPct val="65000"/>
        <a:buFont typeface="Wingdings" panose="05000000000000000000" pitchFamily="2" charset="2"/>
        <a:buChar char=""/>
        <a:defRPr sz="2400" kern="1200">
          <a:solidFill>
            <a:schemeClr val="tx1"/>
          </a:solidFill>
          <a:latin typeface="Segoe UI" pitchFamily="34" charset="0"/>
          <a:ea typeface="+mn-ea"/>
          <a:cs typeface="Segoe UI" pitchFamily="34" charset="0"/>
        </a:defRPr>
      </a:lvl2pPr>
      <a:lvl3pPr marL="1206038" indent="-360011" algn="l" defTabSz="1300500" rtl="0" eaLnBrk="1" latinLnBrk="0" hangingPunct="1">
        <a:spcBef>
          <a:spcPct val="20000"/>
        </a:spcBef>
        <a:buClr>
          <a:srgbClr val="90D033"/>
        </a:buClr>
        <a:buFont typeface="Segoe UI" panose="020B0502040204020203" pitchFamily="34" charset="0"/>
        <a:buChar char="–"/>
        <a:defRPr sz="2400" kern="1200">
          <a:solidFill>
            <a:schemeClr val="tx1"/>
          </a:solidFill>
          <a:latin typeface="Segoe UI" pitchFamily="34" charset="0"/>
          <a:ea typeface="+mn-ea"/>
          <a:cs typeface="Segoe UI" pitchFamily="34" charset="0"/>
        </a:defRPr>
      </a:lvl3pPr>
      <a:lvl4pPr marL="1566049" indent="-360011" algn="l" defTabSz="1300500" rtl="0" eaLnBrk="1" latinLnBrk="0" hangingPunct="1">
        <a:spcBef>
          <a:spcPct val="20000"/>
        </a:spcBef>
        <a:buClr>
          <a:srgbClr val="90D033"/>
        </a:buClr>
        <a:buSzPct val="65000"/>
        <a:buFontTx/>
        <a:buBlip>
          <a:blip r:embed="rId16"/>
        </a:buBlip>
        <a:defRPr sz="2400" kern="1200">
          <a:solidFill>
            <a:schemeClr val="tx1"/>
          </a:solidFill>
          <a:latin typeface="Segoe UI" pitchFamily="34" charset="0"/>
          <a:ea typeface="+mn-ea"/>
          <a:cs typeface="Segoe UI" pitchFamily="34" charset="0"/>
        </a:defRPr>
      </a:lvl4pPr>
      <a:lvl5pPr marL="1926060" indent="-360011" algn="l" defTabSz="1300500" rtl="0" eaLnBrk="1" latinLnBrk="0" hangingPunct="1">
        <a:spcBef>
          <a:spcPct val="20000"/>
        </a:spcBef>
        <a:buClr>
          <a:srgbClr val="90D033"/>
        </a:buClr>
        <a:buFont typeface="Segoe UI" panose="020B0502040204020203" pitchFamily="34" charset="0"/>
        <a:buChar char="•"/>
        <a:defRPr sz="2400" kern="1200">
          <a:solidFill>
            <a:schemeClr val="tx1"/>
          </a:solidFill>
          <a:latin typeface="Segoe UI" pitchFamily="34" charset="0"/>
          <a:ea typeface="Segoe UI" panose="020B0502040204020203" pitchFamily="34" charset="0"/>
          <a:cs typeface="Segoe UI" pitchFamily="34" charset="0"/>
        </a:defRPr>
      </a:lvl5pPr>
      <a:lvl6pPr marL="2286071" indent="-342011" algn="l" defTabSz="1300500" rtl="0" eaLnBrk="1" latinLnBrk="0" hangingPunct="1">
        <a:spcBef>
          <a:spcPct val="20000"/>
        </a:spcBef>
        <a:buClr>
          <a:srgbClr val="8CD250"/>
        </a:buClr>
        <a:buFontTx/>
        <a:buBlip>
          <a:blip r:embed="rId16"/>
        </a:buBlip>
        <a:defRPr sz="2601" kern="1200" baseline="0">
          <a:solidFill>
            <a:schemeClr val="tx1"/>
          </a:solidFill>
          <a:latin typeface="Segoe UI"/>
          <a:ea typeface="+mn-ea"/>
          <a:cs typeface="Segoe UI"/>
        </a:defRPr>
      </a:lvl6pPr>
      <a:lvl7pPr marL="2646083" indent="-342011" algn="l" defTabSz="1300500" rtl="0" eaLnBrk="1" latinLnBrk="0" hangingPunct="1">
        <a:spcBef>
          <a:spcPct val="20000"/>
        </a:spcBef>
        <a:buClr>
          <a:srgbClr val="8CD250"/>
        </a:buClr>
        <a:buFontTx/>
        <a:buBlip>
          <a:blip r:embed="rId16"/>
        </a:buBlip>
        <a:defRPr sz="2601" kern="1200">
          <a:solidFill>
            <a:schemeClr val="tx1"/>
          </a:solidFill>
          <a:latin typeface="Segoe UI"/>
          <a:ea typeface="+mn-ea"/>
          <a:cs typeface="Segoe UI"/>
        </a:defRPr>
      </a:lvl7pPr>
      <a:lvl8pPr marL="3006094" indent="-342011" algn="l" defTabSz="1300500" rtl="0" eaLnBrk="1" latinLnBrk="0" hangingPunct="1">
        <a:spcBef>
          <a:spcPct val="20000"/>
        </a:spcBef>
        <a:buClr>
          <a:srgbClr val="8CD250"/>
        </a:buClr>
        <a:buFontTx/>
        <a:buBlip>
          <a:blip r:embed="rId16"/>
        </a:buBlip>
        <a:defRPr sz="2601" kern="1200">
          <a:solidFill>
            <a:schemeClr val="tx1"/>
          </a:solidFill>
          <a:latin typeface="Segoe UI"/>
          <a:ea typeface="+mn-ea"/>
          <a:cs typeface="Segoe UI"/>
        </a:defRPr>
      </a:lvl8pPr>
      <a:lvl9pPr marL="3366105" indent="-342011" algn="l" defTabSz="1300500" rtl="0" eaLnBrk="1" latinLnBrk="0" hangingPunct="1">
        <a:spcBef>
          <a:spcPct val="20000"/>
        </a:spcBef>
        <a:buClr>
          <a:srgbClr val="8CD250"/>
        </a:buClr>
        <a:buFontTx/>
        <a:buBlip>
          <a:blip r:embed="rId16"/>
        </a:buBlip>
        <a:defRPr sz="2601" kern="1200" baseline="0">
          <a:solidFill>
            <a:schemeClr val="tx1"/>
          </a:solidFill>
          <a:latin typeface="Segoe UI"/>
          <a:ea typeface="+mn-ea"/>
          <a:cs typeface="Segoe UI"/>
        </a:defRPr>
      </a:lvl9pPr>
    </p:bodyStyle>
    <p:otherStyle>
      <a:defPPr>
        <a:defRPr lang="de-DE"/>
      </a:defPPr>
      <a:lvl1pPr marL="0" algn="l" defTabSz="1300500" rtl="0" eaLnBrk="1" latinLnBrk="0" hangingPunct="1">
        <a:defRPr sz="2601" kern="1200">
          <a:solidFill>
            <a:schemeClr val="tx1"/>
          </a:solidFill>
          <a:latin typeface="+mn-lt"/>
          <a:ea typeface="+mn-ea"/>
          <a:cs typeface="+mn-cs"/>
        </a:defRPr>
      </a:lvl1pPr>
      <a:lvl2pPr marL="650251" algn="l" defTabSz="1300500" rtl="0" eaLnBrk="1" latinLnBrk="0" hangingPunct="1">
        <a:defRPr sz="2601" kern="1200">
          <a:solidFill>
            <a:schemeClr val="tx1"/>
          </a:solidFill>
          <a:latin typeface="+mn-lt"/>
          <a:ea typeface="+mn-ea"/>
          <a:cs typeface="+mn-cs"/>
        </a:defRPr>
      </a:lvl2pPr>
      <a:lvl3pPr marL="1300500" algn="l" defTabSz="1300500" rtl="0" eaLnBrk="1" latinLnBrk="0" hangingPunct="1">
        <a:defRPr sz="2601" kern="1200">
          <a:solidFill>
            <a:schemeClr val="tx1"/>
          </a:solidFill>
          <a:latin typeface="+mn-lt"/>
          <a:ea typeface="+mn-ea"/>
          <a:cs typeface="+mn-cs"/>
        </a:defRPr>
      </a:lvl3pPr>
      <a:lvl4pPr marL="1950751" algn="l" defTabSz="1300500" rtl="0" eaLnBrk="1" latinLnBrk="0" hangingPunct="1">
        <a:defRPr sz="2601" kern="1200">
          <a:solidFill>
            <a:schemeClr val="tx1"/>
          </a:solidFill>
          <a:latin typeface="+mn-lt"/>
          <a:ea typeface="+mn-ea"/>
          <a:cs typeface="+mn-cs"/>
        </a:defRPr>
      </a:lvl4pPr>
      <a:lvl5pPr marL="2601001" algn="l" defTabSz="1300500" rtl="0" eaLnBrk="1" latinLnBrk="0" hangingPunct="1">
        <a:defRPr sz="2601" kern="1200">
          <a:solidFill>
            <a:schemeClr val="tx1"/>
          </a:solidFill>
          <a:latin typeface="+mn-lt"/>
          <a:ea typeface="+mn-ea"/>
          <a:cs typeface="+mn-cs"/>
        </a:defRPr>
      </a:lvl5pPr>
      <a:lvl6pPr marL="3251250" algn="l" defTabSz="1300500" rtl="0" eaLnBrk="1" latinLnBrk="0" hangingPunct="1">
        <a:defRPr sz="2601" kern="1200">
          <a:solidFill>
            <a:schemeClr val="tx1"/>
          </a:solidFill>
          <a:latin typeface="+mn-lt"/>
          <a:ea typeface="+mn-ea"/>
          <a:cs typeface="+mn-cs"/>
        </a:defRPr>
      </a:lvl6pPr>
      <a:lvl7pPr marL="3901501" algn="l" defTabSz="1300500" rtl="0" eaLnBrk="1" latinLnBrk="0" hangingPunct="1">
        <a:defRPr sz="2601" kern="1200">
          <a:solidFill>
            <a:schemeClr val="tx1"/>
          </a:solidFill>
          <a:latin typeface="+mn-lt"/>
          <a:ea typeface="+mn-ea"/>
          <a:cs typeface="+mn-cs"/>
        </a:defRPr>
      </a:lvl7pPr>
      <a:lvl8pPr marL="4551751" algn="l" defTabSz="1300500" rtl="0" eaLnBrk="1" latinLnBrk="0" hangingPunct="1">
        <a:defRPr sz="2601" kern="1200">
          <a:solidFill>
            <a:schemeClr val="tx1"/>
          </a:solidFill>
          <a:latin typeface="+mn-lt"/>
          <a:ea typeface="+mn-ea"/>
          <a:cs typeface="+mn-cs"/>
        </a:defRPr>
      </a:lvl8pPr>
      <a:lvl9pPr marL="5202001" algn="l" defTabSz="1300500" rtl="0" eaLnBrk="1" latinLnBrk="0" hangingPunct="1">
        <a:defRPr sz="26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308" userDrawn="1">
          <p15:clr>
            <a:srgbClr val="A4A3A4"/>
          </p15:clr>
        </p15:guide>
        <p15:guide id="4" pos="7952" userDrawn="1">
          <p15:clr>
            <a:srgbClr val="A4A3A4"/>
          </p15:clr>
        </p15:guide>
        <p15:guide id="7" orient="horz" pos="4442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FBC7FB1C-2DC6-CB34-34F7-7D3CF72597C0}"/>
              </a:ext>
            </a:extLst>
          </p:cNvPr>
          <p:cNvGraphicFramePr>
            <a:graphicFrameLocks noChangeAspect="1"/>
          </p:cNvGraphicFramePr>
          <p:nvPr userDrawn="1">
            <p:extLst>
              <p:ext uri="{D42A27DB-BD31-4B8C-83A1-F6EECF244321}">
                <p14:modId xmlns:p14="http://schemas.microsoft.com/office/powerpoint/2010/main" val="145836259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13" imgW="7772400" imgH="10058400" progId="TCLayout.ActiveDocument.1">
                  <p:embed/>
                </p:oleObj>
              </mc:Choice>
              <mc:Fallback>
                <p:oleObj name="think-cell Folie" r:id="rId13" imgW="7772400" imgH="1005840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BC7FB1C-2DC6-CB34-34F7-7D3CF72597C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feld 5">
            <a:extLst>
              <a:ext uri="{FF2B5EF4-FFF2-40B4-BE49-F238E27FC236}">
                <a16:creationId xmlns:a16="http://schemas.microsoft.com/office/drawing/2014/main" id="{BC3CFE55-A1C6-48D9-9699-AFBE36FEC75D}"/>
              </a:ext>
            </a:extLst>
          </p:cNvPr>
          <p:cNvSpPr txBox="1">
            <a:spLocks/>
          </p:cNvSpPr>
          <p:nvPr userDrawn="1"/>
        </p:nvSpPr>
        <p:spPr>
          <a:xfrm>
            <a:off x="11041381" y="6780215"/>
            <a:ext cx="1582420" cy="38893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r" defTabSz="65025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C860507-29B6-496C-BEDA-15D4EE3885EC}" type="slidenum">
              <a:rPr lang="de-DE" sz="2100" b="0" smtClean="0">
                <a:solidFill>
                  <a:srgbClr val="FF6A00"/>
                </a:solidFill>
                <a:latin typeface="GT Planar Medium" pitchFamily="50" charset="0"/>
                <a:ea typeface="GT Planar Medium" pitchFamily="50" charset="0"/>
              </a:rPr>
              <a:pPr marL="0" marR="0" lvl="0" indent="0" algn="r" defTabSz="650251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de-DE" sz="2100" b="0">
              <a:solidFill>
                <a:srgbClr val="FF6A00"/>
              </a:solidFill>
              <a:latin typeface="GT Planar Medium" pitchFamily="50" charset="0"/>
              <a:ea typeface="GT Planar Medium" pitchFamily="50" charset="0"/>
            </a:endParaRPr>
          </a:p>
        </p:txBody>
      </p:sp>
      <p:sp>
        <p:nvSpPr>
          <p:cNvPr id="2" name="empower - DO NOT DELETE!!!" hidden="1">
            <a:extLst>
              <a:ext uri="{FF2B5EF4-FFF2-40B4-BE49-F238E27FC236}">
                <a16:creationId xmlns:a16="http://schemas.microsoft.com/office/drawing/2014/main" id="{754EF810-7F57-46D8-A069-D4A74C5C1B42}"/>
              </a:ext>
            </a:extLst>
          </p:cNvPr>
          <p:cNvSpPr/>
          <p:nvPr userDrawn="1"/>
        </p:nvSpPr>
        <p:spPr>
          <a:xfrm>
            <a:off x="0" y="0"/>
            <a:ext cx="0" cy="0"/>
          </a:xfrm>
          <a:prstGeom prst="ellipse">
            <a:avLst/>
          </a:prstGeom>
          <a:solidFill>
            <a:schemeClr val="accent3">
              <a:lumMod val="40000"/>
              <a:lumOff val="60000"/>
              <a:alpha val="5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1" rIns="91440" bIns="4572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3C6B9F3-A2CC-4951-8BA3-704D29E6CD61}"/>
              </a:ext>
            </a:extLst>
          </p:cNvPr>
          <p:cNvSpPr txBox="1"/>
          <p:nvPr userDrawn="1"/>
        </p:nvSpPr>
        <p:spPr>
          <a:xfrm>
            <a:off x="488954" y="6780215"/>
            <a:ext cx="827614" cy="38893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fld id="{D1676114-34E2-4D99-8B9A-DD4156C5F75C}" type="datetime1">
              <a:rPr lang="de-DE" sz="900" kern="1200" smtClean="0">
                <a:solidFill>
                  <a:schemeClr val="tx1">
                    <a:lumMod val="60000"/>
                    <a:lumOff val="40000"/>
                  </a:schemeClr>
                </a:solidFill>
                <a:latin typeface="GT Planar Light" pitchFamily="50" charset="0"/>
                <a:ea typeface="GT Planar Light" pitchFamily="50" charset="0"/>
                <a:cs typeface="+mn-cs"/>
              </a:rPr>
              <a:t>04.04.26</a:t>
            </a:fld>
            <a:endParaRPr lang="de-DE" sz="900" kern="1200">
              <a:solidFill>
                <a:schemeClr val="tx1">
                  <a:lumMod val="60000"/>
                  <a:lumOff val="40000"/>
                </a:schemeClr>
              </a:solidFill>
              <a:latin typeface="GT Planar Light" pitchFamily="50" charset="0"/>
              <a:ea typeface="GT Planar Light" pitchFamily="50" charset="0"/>
              <a:cs typeface="+mn-cs"/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E15E451F-3A59-682D-7060-F8418D8F8831}"/>
              </a:ext>
            </a:extLst>
          </p:cNvPr>
          <p:cNvSpPr txBox="1">
            <a:spLocks/>
          </p:cNvSpPr>
          <p:nvPr userDrawn="1"/>
        </p:nvSpPr>
        <p:spPr>
          <a:xfrm>
            <a:off x="1137229" y="6780214"/>
            <a:ext cx="9776460" cy="38893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l" defTabSz="6502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900" dirty="0">
                <a:solidFill>
                  <a:schemeClr val="tx1">
                    <a:lumMod val="60000"/>
                    <a:lumOff val="40000"/>
                  </a:schemeClr>
                </a:solidFill>
                <a:latin typeface="GT Planar Light" pitchFamily="50" charset="0"/>
                <a:ea typeface="GT Planar Light" pitchFamily="50" charset="0"/>
              </a:rPr>
              <a:t>Prof. Dr. Robert Butscher | Fallstudie "Customer Churn Prevention" | Wintersemester 2024/25</a:t>
            </a:r>
          </a:p>
        </p:txBody>
      </p:sp>
    </p:spTree>
    <p:extLst>
      <p:ext uri="{BB962C8B-B14F-4D97-AF65-F5344CB8AC3E}">
        <p14:creationId xmlns:p14="http://schemas.microsoft.com/office/powerpoint/2010/main" val="152667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</p:sldLayoutIdLst>
  <p:hf hdr="0"/>
  <p:txStyles>
    <p:titleStyle>
      <a:lvl1pPr algn="ctr" defTabSz="1300500" rtl="0" eaLnBrk="1" latinLnBrk="0" hangingPunct="1">
        <a:lnSpc>
          <a:spcPts val="4000"/>
        </a:lnSpc>
        <a:spcBef>
          <a:spcPct val="0"/>
        </a:spcBef>
        <a:buNone/>
        <a:defRPr sz="3401" kern="1200">
          <a:solidFill>
            <a:schemeClr val="tx1"/>
          </a:solidFill>
          <a:latin typeface="+mj-lt"/>
          <a:ea typeface="+mj-ea"/>
          <a:cs typeface="Segoe UI" pitchFamily="34" charset="0"/>
        </a:defRPr>
      </a:lvl1pPr>
    </p:titleStyle>
    <p:bodyStyle>
      <a:lvl1pPr marL="127367" indent="0" algn="l" defTabSz="1300500" rtl="0" eaLnBrk="1" latinLnBrk="0" hangingPunct="1">
        <a:spcBef>
          <a:spcPct val="20000"/>
        </a:spcBef>
        <a:buClr>
          <a:srgbClr val="90D033"/>
        </a:buClr>
        <a:buSzPct val="100000"/>
        <a:buFontTx/>
        <a:buNone/>
        <a:defRPr sz="2000" b="0" kern="1200">
          <a:solidFill>
            <a:schemeClr val="tx1"/>
          </a:solidFill>
          <a:latin typeface="Segoe UI" pitchFamily="34" charset="0"/>
          <a:ea typeface="+mn-ea"/>
          <a:cs typeface="Segoe UI" pitchFamily="34" charset="0"/>
        </a:defRPr>
      </a:lvl1pPr>
      <a:lvl2pPr marL="846026" indent="-360011" algn="l" defTabSz="1300500" rtl="0" eaLnBrk="1" latinLnBrk="0" hangingPunct="1">
        <a:spcBef>
          <a:spcPct val="20000"/>
        </a:spcBef>
        <a:buClr>
          <a:srgbClr val="90D033"/>
        </a:buClr>
        <a:buSzPct val="65000"/>
        <a:buFont typeface="Wingdings" panose="05000000000000000000" pitchFamily="2" charset="2"/>
        <a:buChar char=""/>
        <a:defRPr sz="2400" kern="1200">
          <a:solidFill>
            <a:schemeClr val="tx1"/>
          </a:solidFill>
          <a:latin typeface="Segoe UI" pitchFamily="34" charset="0"/>
          <a:ea typeface="+mn-ea"/>
          <a:cs typeface="Segoe UI" pitchFamily="34" charset="0"/>
        </a:defRPr>
      </a:lvl2pPr>
      <a:lvl3pPr marL="1206038" indent="-360011" algn="l" defTabSz="1300500" rtl="0" eaLnBrk="1" latinLnBrk="0" hangingPunct="1">
        <a:spcBef>
          <a:spcPct val="20000"/>
        </a:spcBef>
        <a:buClr>
          <a:srgbClr val="90D033"/>
        </a:buClr>
        <a:buFont typeface="Segoe UI" panose="020B0502040204020203" pitchFamily="34" charset="0"/>
        <a:buChar char="–"/>
        <a:defRPr sz="2400" kern="1200">
          <a:solidFill>
            <a:schemeClr val="tx1"/>
          </a:solidFill>
          <a:latin typeface="Segoe UI" pitchFamily="34" charset="0"/>
          <a:ea typeface="+mn-ea"/>
          <a:cs typeface="Segoe UI" pitchFamily="34" charset="0"/>
        </a:defRPr>
      </a:lvl3pPr>
      <a:lvl4pPr marL="1566049" indent="-360011" algn="l" defTabSz="1300500" rtl="0" eaLnBrk="1" latinLnBrk="0" hangingPunct="1">
        <a:spcBef>
          <a:spcPct val="20000"/>
        </a:spcBef>
        <a:buClr>
          <a:srgbClr val="90D033"/>
        </a:buClr>
        <a:buSzPct val="65000"/>
        <a:buFontTx/>
        <a:buBlip>
          <a:blip r:embed="rId15"/>
        </a:buBlip>
        <a:defRPr sz="2400" kern="1200">
          <a:solidFill>
            <a:schemeClr val="tx1"/>
          </a:solidFill>
          <a:latin typeface="Segoe UI" pitchFamily="34" charset="0"/>
          <a:ea typeface="+mn-ea"/>
          <a:cs typeface="Segoe UI" pitchFamily="34" charset="0"/>
        </a:defRPr>
      </a:lvl4pPr>
      <a:lvl5pPr marL="1926060" indent="-360011" algn="l" defTabSz="1300500" rtl="0" eaLnBrk="1" latinLnBrk="0" hangingPunct="1">
        <a:spcBef>
          <a:spcPct val="20000"/>
        </a:spcBef>
        <a:buClr>
          <a:srgbClr val="90D033"/>
        </a:buClr>
        <a:buFont typeface="Segoe UI" panose="020B0502040204020203" pitchFamily="34" charset="0"/>
        <a:buChar char="•"/>
        <a:defRPr sz="2400" kern="1200">
          <a:solidFill>
            <a:schemeClr val="tx1"/>
          </a:solidFill>
          <a:latin typeface="Segoe UI" pitchFamily="34" charset="0"/>
          <a:ea typeface="Segoe UI" panose="020B0502040204020203" pitchFamily="34" charset="0"/>
          <a:cs typeface="Segoe UI" pitchFamily="34" charset="0"/>
        </a:defRPr>
      </a:lvl5pPr>
      <a:lvl6pPr marL="2286071" indent="-342011" algn="l" defTabSz="1300500" rtl="0" eaLnBrk="1" latinLnBrk="0" hangingPunct="1">
        <a:spcBef>
          <a:spcPct val="20000"/>
        </a:spcBef>
        <a:buClr>
          <a:srgbClr val="8CD250"/>
        </a:buClr>
        <a:buFontTx/>
        <a:buBlip>
          <a:blip r:embed="rId15"/>
        </a:buBlip>
        <a:defRPr sz="2601" kern="1200" baseline="0">
          <a:solidFill>
            <a:schemeClr val="tx1"/>
          </a:solidFill>
          <a:latin typeface="Segoe UI"/>
          <a:ea typeface="+mn-ea"/>
          <a:cs typeface="Segoe UI"/>
        </a:defRPr>
      </a:lvl6pPr>
      <a:lvl7pPr marL="2646083" indent="-342011" algn="l" defTabSz="1300500" rtl="0" eaLnBrk="1" latinLnBrk="0" hangingPunct="1">
        <a:spcBef>
          <a:spcPct val="20000"/>
        </a:spcBef>
        <a:buClr>
          <a:srgbClr val="8CD250"/>
        </a:buClr>
        <a:buFontTx/>
        <a:buBlip>
          <a:blip r:embed="rId15"/>
        </a:buBlip>
        <a:defRPr sz="2601" kern="1200">
          <a:solidFill>
            <a:schemeClr val="tx1"/>
          </a:solidFill>
          <a:latin typeface="Segoe UI"/>
          <a:ea typeface="+mn-ea"/>
          <a:cs typeface="Segoe UI"/>
        </a:defRPr>
      </a:lvl7pPr>
      <a:lvl8pPr marL="3006094" indent="-342011" algn="l" defTabSz="1300500" rtl="0" eaLnBrk="1" latinLnBrk="0" hangingPunct="1">
        <a:spcBef>
          <a:spcPct val="20000"/>
        </a:spcBef>
        <a:buClr>
          <a:srgbClr val="8CD250"/>
        </a:buClr>
        <a:buFontTx/>
        <a:buBlip>
          <a:blip r:embed="rId15"/>
        </a:buBlip>
        <a:defRPr sz="2601" kern="1200">
          <a:solidFill>
            <a:schemeClr val="tx1"/>
          </a:solidFill>
          <a:latin typeface="Segoe UI"/>
          <a:ea typeface="+mn-ea"/>
          <a:cs typeface="Segoe UI"/>
        </a:defRPr>
      </a:lvl8pPr>
      <a:lvl9pPr marL="3366105" indent="-342011" algn="l" defTabSz="1300500" rtl="0" eaLnBrk="1" latinLnBrk="0" hangingPunct="1">
        <a:spcBef>
          <a:spcPct val="20000"/>
        </a:spcBef>
        <a:buClr>
          <a:srgbClr val="8CD250"/>
        </a:buClr>
        <a:buFontTx/>
        <a:buBlip>
          <a:blip r:embed="rId15"/>
        </a:buBlip>
        <a:defRPr sz="2601" kern="1200" baseline="0">
          <a:solidFill>
            <a:schemeClr val="tx1"/>
          </a:solidFill>
          <a:latin typeface="Segoe UI"/>
          <a:ea typeface="+mn-ea"/>
          <a:cs typeface="Segoe UI"/>
        </a:defRPr>
      </a:lvl9pPr>
    </p:bodyStyle>
    <p:otherStyle>
      <a:defPPr>
        <a:defRPr lang="de-DE"/>
      </a:defPPr>
      <a:lvl1pPr marL="0" algn="l" defTabSz="1300500" rtl="0" eaLnBrk="1" latinLnBrk="0" hangingPunct="1">
        <a:defRPr sz="2601" kern="1200">
          <a:solidFill>
            <a:schemeClr val="tx1"/>
          </a:solidFill>
          <a:latin typeface="+mn-lt"/>
          <a:ea typeface="+mn-ea"/>
          <a:cs typeface="+mn-cs"/>
        </a:defRPr>
      </a:lvl1pPr>
      <a:lvl2pPr marL="650251" algn="l" defTabSz="1300500" rtl="0" eaLnBrk="1" latinLnBrk="0" hangingPunct="1">
        <a:defRPr sz="2601" kern="1200">
          <a:solidFill>
            <a:schemeClr val="tx1"/>
          </a:solidFill>
          <a:latin typeface="+mn-lt"/>
          <a:ea typeface="+mn-ea"/>
          <a:cs typeface="+mn-cs"/>
        </a:defRPr>
      </a:lvl2pPr>
      <a:lvl3pPr marL="1300500" algn="l" defTabSz="1300500" rtl="0" eaLnBrk="1" latinLnBrk="0" hangingPunct="1">
        <a:defRPr sz="2601" kern="1200">
          <a:solidFill>
            <a:schemeClr val="tx1"/>
          </a:solidFill>
          <a:latin typeface="+mn-lt"/>
          <a:ea typeface="+mn-ea"/>
          <a:cs typeface="+mn-cs"/>
        </a:defRPr>
      </a:lvl3pPr>
      <a:lvl4pPr marL="1950751" algn="l" defTabSz="1300500" rtl="0" eaLnBrk="1" latinLnBrk="0" hangingPunct="1">
        <a:defRPr sz="2601" kern="1200">
          <a:solidFill>
            <a:schemeClr val="tx1"/>
          </a:solidFill>
          <a:latin typeface="+mn-lt"/>
          <a:ea typeface="+mn-ea"/>
          <a:cs typeface="+mn-cs"/>
        </a:defRPr>
      </a:lvl4pPr>
      <a:lvl5pPr marL="2601001" algn="l" defTabSz="1300500" rtl="0" eaLnBrk="1" latinLnBrk="0" hangingPunct="1">
        <a:defRPr sz="2601" kern="1200">
          <a:solidFill>
            <a:schemeClr val="tx1"/>
          </a:solidFill>
          <a:latin typeface="+mn-lt"/>
          <a:ea typeface="+mn-ea"/>
          <a:cs typeface="+mn-cs"/>
        </a:defRPr>
      </a:lvl5pPr>
      <a:lvl6pPr marL="3251250" algn="l" defTabSz="1300500" rtl="0" eaLnBrk="1" latinLnBrk="0" hangingPunct="1">
        <a:defRPr sz="2601" kern="1200">
          <a:solidFill>
            <a:schemeClr val="tx1"/>
          </a:solidFill>
          <a:latin typeface="+mn-lt"/>
          <a:ea typeface="+mn-ea"/>
          <a:cs typeface="+mn-cs"/>
        </a:defRPr>
      </a:lvl6pPr>
      <a:lvl7pPr marL="3901501" algn="l" defTabSz="1300500" rtl="0" eaLnBrk="1" latinLnBrk="0" hangingPunct="1">
        <a:defRPr sz="2601" kern="1200">
          <a:solidFill>
            <a:schemeClr val="tx1"/>
          </a:solidFill>
          <a:latin typeface="+mn-lt"/>
          <a:ea typeface="+mn-ea"/>
          <a:cs typeface="+mn-cs"/>
        </a:defRPr>
      </a:lvl7pPr>
      <a:lvl8pPr marL="4551751" algn="l" defTabSz="1300500" rtl="0" eaLnBrk="1" latinLnBrk="0" hangingPunct="1">
        <a:defRPr sz="2601" kern="1200">
          <a:solidFill>
            <a:schemeClr val="tx1"/>
          </a:solidFill>
          <a:latin typeface="+mn-lt"/>
          <a:ea typeface="+mn-ea"/>
          <a:cs typeface="+mn-cs"/>
        </a:defRPr>
      </a:lvl8pPr>
      <a:lvl9pPr marL="5202001" algn="l" defTabSz="1300500" rtl="0" eaLnBrk="1" latinLnBrk="0" hangingPunct="1">
        <a:defRPr sz="26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308">
          <p15:clr>
            <a:srgbClr val="A4A3A4"/>
          </p15:clr>
        </p15:guide>
        <p15:guide id="4" pos="7952">
          <p15:clr>
            <a:srgbClr val="A4A3A4"/>
          </p15:clr>
        </p15:guide>
        <p15:guide id="7" orient="horz" pos="4442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sz="3000" b="1">
                <a:solidFill>
                  <a:srgbClr val="003E6E"/>
                </a:solidFill>
              </a:rPr>
              <a:t>Datenbankentwurf am Fallbeispiel VeloCity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sz="1500">
                <a:solidFill>
                  <a:srgbClr val="555148"/>
                </a:solidFill>
              </a:rPr>
              <a:t>Vom Fachkonzept zur abgesicherten Datenhaltung — Anforderungen, ERM, Normalisierung, Relationenmodell, DDL, Zugriffsschutz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Was Sie nach dieser Einheit können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Orientierung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Fallstudie VeloCity, Schema velocity auf supabase.butscher.cloud. Quellen im Repository unter doku/datenmodell/.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1143000"/>
            <a:ext cx="11557000" cy="939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Der Entwurfszyklus ist kein Ritual, sondern eine Reihenfolge mit Grund: jeder Schritt trifft Entscheidungen, die der nächste voraussetzt. Wer Spalten entwirft, bevor die Geschäftsregeln stehen, baut ein Modell für eine Wirklichkeit, die er nicht geprüft hat.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3160" y="2235200"/>
            <a:ext cx="3545840" cy="2159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1153160" y="2235200"/>
            <a:ext cx="50800" cy="21590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330960" y="2362200"/>
            <a:ext cx="3215640" cy="1905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003E6E"/>
                </a:solidFill>
              </a:rPr>
              <a:t>Modellieren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Aus einem Fachtext ein ERM ableiten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Kardinalitäten als prüfbare Aussagen formulieren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Surrogat- und Fachschlüssel unterscheiden</a:t>
            </a:r>
          </a:p>
        </p:txBody>
      </p:sp>
      <p:sp>
        <p:nvSpPr>
          <p:cNvPr id="9" name="Rectangle 8"/>
          <p:cNvSpPr/>
          <p:nvPr/>
        </p:nvSpPr>
        <p:spPr>
          <a:xfrm>
            <a:off x="5113020" y="2235200"/>
            <a:ext cx="3545840" cy="2159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113020" y="2235200"/>
            <a:ext cx="50800" cy="21590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290820" y="2362200"/>
            <a:ext cx="3215640" cy="1905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003E6E"/>
                </a:solidFill>
              </a:rPr>
              <a:t>Prüfen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Funktionale Abhängigkeiten benennen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1NF bis 3NF am Beispiel durchführen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Erkennen, wo Normalisierung nicht genügt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81770" y="2235200"/>
            <a:ext cx="3545840" cy="2159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9081770" y="2235200"/>
            <a:ext cx="50800" cy="21590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259570" y="2362200"/>
            <a:ext cx="3215640" cy="1905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003E6E"/>
                </a:solidFill>
              </a:rPr>
              <a:t>Umsetzen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Geschäftsregeln in Constraints übersetzen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Zugriffsschutz in der Datenbank verankern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Die Umsetzung nachweisen statt behaupten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Der Entwurfszyklus gibt die Gliederung vor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Orientierung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Fallstudie VeloCity, Schema velocity auf supabase.butscher.cloud. Quellen im Repository unter doku/datenmodell/.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1143000"/>
            <a:ext cx="11557000" cy="939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Die Reihenfolge ist zwingend. Anforderungen vor Modell, Modell vor Relationen, Relationen vor DDL. Wer sie umdreht, bindet sich an eine Umsetzung, bevor er weiss, was umzusetzen ist.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53160" y="3429000"/>
            <a:ext cx="1651000" cy="1016000"/>
          </a:xfrm>
          <a:prstGeom prst="roundRect">
            <a:avLst/>
          </a:prstGeom>
          <a:solidFill>
            <a:srgbClr val="E3D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76200" rIns="101600" bIns="76200"/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404040"/>
                </a:solidFill>
              </a:rPr>
              <a:t>Fachkonzept</a:t>
            </a:r>
          </a:p>
        </p:txBody>
      </p:sp>
      <p:sp>
        <p:nvSpPr>
          <p:cNvPr id="7" name="Pentagon 6"/>
          <p:cNvSpPr/>
          <p:nvPr/>
        </p:nvSpPr>
        <p:spPr>
          <a:xfrm>
            <a:off x="2880360" y="3429000"/>
            <a:ext cx="1273175" cy="1016000"/>
          </a:xfrm>
          <a:prstGeom prst="homePlate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 rIns="330200" bIns="762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1 · Anforderungen</a:t>
            </a:r>
          </a:p>
        </p:txBody>
      </p:sp>
      <p:sp>
        <p:nvSpPr>
          <p:cNvPr id="8" name="Pentagon 7"/>
          <p:cNvSpPr/>
          <p:nvPr/>
        </p:nvSpPr>
        <p:spPr>
          <a:xfrm>
            <a:off x="4229735" y="3429000"/>
            <a:ext cx="1273175" cy="1016000"/>
          </a:xfrm>
          <a:prstGeom prst="homePlate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 rIns="330200" bIns="762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2 · ERM</a:t>
            </a:r>
          </a:p>
        </p:txBody>
      </p:sp>
      <p:sp>
        <p:nvSpPr>
          <p:cNvPr id="9" name="Pentagon 8"/>
          <p:cNvSpPr/>
          <p:nvPr/>
        </p:nvSpPr>
        <p:spPr>
          <a:xfrm>
            <a:off x="5579110" y="3429000"/>
            <a:ext cx="1273175" cy="1016000"/>
          </a:xfrm>
          <a:prstGeom prst="homePlate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 rIns="330200" bIns="762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3 · Normal-formen</a:t>
            </a:r>
          </a:p>
        </p:txBody>
      </p:sp>
      <p:sp>
        <p:nvSpPr>
          <p:cNvPr id="10" name="Pentagon 9"/>
          <p:cNvSpPr/>
          <p:nvPr/>
        </p:nvSpPr>
        <p:spPr>
          <a:xfrm>
            <a:off x="6928484" y="3429000"/>
            <a:ext cx="1273175" cy="1016000"/>
          </a:xfrm>
          <a:prstGeom prst="homePlate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 rIns="330200" bIns="762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4 · Relationen</a:t>
            </a:r>
          </a:p>
        </p:txBody>
      </p:sp>
      <p:sp>
        <p:nvSpPr>
          <p:cNvPr id="11" name="Pentagon 10"/>
          <p:cNvSpPr/>
          <p:nvPr/>
        </p:nvSpPr>
        <p:spPr>
          <a:xfrm>
            <a:off x="8277859" y="3429000"/>
            <a:ext cx="1273175" cy="1016000"/>
          </a:xfrm>
          <a:prstGeom prst="homePlate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 rIns="330200" bIns="762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5 · DDL</a:t>
            </a:r>
          </a:p>
        </p:txBody>
      </p:sp>
      <p:sp>
        <p:nvSpPr>
          <p:cNvPr id="12" name="Pentagon 11"/>
          <p:cNvSpPr/>
          <p:nvPr/>
        </p:nvSpPr>
        <p:spPr>
          <a:xfrm>
            <a:off x="9627235" y="3429000"/>
            <a:ext cx="1273175" cy="1016000"/>
          </a:xfrm>
          <a:prstGeom prst="homePlate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 rIns="330200" bIns="762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6 · Zugriffs-schutz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6610" y="3429000"/>
            <a:ext cx="1651000" cy="1016000"/>
          </a:xfrm>
          <a:prstGeom prst="round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76200" rIns="101600" bIns="76200"/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Anwendung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 · Die Fallstudie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VeloCity vermietet Räder minutengenau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1 · Die Fallstudie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Fallstudie VeloCity, Schema velocity auf supabase.butscher.cloud. Quellen im Repository unter doku/datenmodell/.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1143000"/>
            <a:ext cx="11557000" cy="939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Ein Bike-Sharing-System in Würzburg. Kunden finden freie Räder auf einer Karte, entleihen sie, fahren und stellen sie wieder ab. Vielfahrer schliessen einen Tarif ab, der Freiminuten und Rabatt mitbringt.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3160" y="2235200"/>
            <a:ext cx="3545840" cy="2159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1153160" y="2235200"/>
            <a:ext cx="50800" cy="21590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330960" y="2362200"/>
            <a:ext cx="3215640" cy="1905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003E6E"/>
                </a:solidFill>
              </a:rPr>
              <a:t>Drei Fahrzeugklassen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City-Bike, Stadtrad ohne Motor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E-Bike Sport, Pedelec bis 25 km/h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E-Cargo Loader, Lastenrad bis 100 kg</a:t>
            </a:r>
          </a:p>
        </p:txBody>
      </p:sp>
      <p:sp>
        <p:nvSpPr>
          <p:cNvPr id="9" name="Rectangle 8"/>
          <p:cNvSpPr/>
          <p:nvPr/>
        </p:nvSpPr>
        <p:spPr>
          <a:xfrm>
            <a:off x="5113020" y="2235200"/>
            <a:ext cx="3545840" cy="2159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113020" y="2235200"/>
            <a:ext cx="50800" cy="21590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290820" y="2362200"/>
            <a:ext cx="3215640" cy="1905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003E6E"/>
                </a:solidFill>
              </a:rPr>
              <a:t>Zwei Abstellarten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An einer festen Station, kostenfrei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Frei im Stadtgebiet gegen Zuschlag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Beides muss das Modell abbilden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81770" y="2235200"/>
            <a:ext cx="3545840" cy="2159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9081770" y="2235200"/>
            <a:ext cx="50800" cy="21590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259570" y="2362200"/>
            <a:ext cx="3215640" cy="1905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003E6E"/>
                </a:solidFill>
              </a:rPr>
              <a:t>Vier Tarife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Basis ohne Freiminuten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Student und OEPNV mit Kontingent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Premium mit Rabatt und Monatspreis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Zehn Geschäftsregeln, die das Modell tragen müssen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1 · Die Fallstudie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Fallstudie VeloCity, Schema velocity auf supabase.butscher.cloud. Quellen im Repository unter doku/datenmodell/.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1143000"/>
            <a:ext cx="11557000" cy="939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Diese Regeln sind die fachliche Substanz. Entscheidend ist nicht, sie zu notieren, sondern dass jede einzelne am Ende erzwungen wird — von der Datenbank, nicht von der Anwendung.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3160" y="2413000"/>
            <a:ext cx="1147445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1153160" y="2413000"/>
            <a:ext cx="50800" cy="6096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330960" y="2552700"/>
            <a:ext cx="330200" cy="330200"/>
          </a:xfrm>
          <a:prstGeom prst="ellipse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8160" y="2489200"/>
            <a:ext cx="728345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GR1  </a:t>
            </a:r>
            <a:r>
              <a:rPr sz="1300">
                <a:solidFill>
                  <a:srgbClr val="404040"/>
                </a:solidFill>
              </a:rPr>
              <a:t>Ein Rad ist höchstens einmal gleichzeitig ausgeliehen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00210" y="2527300"/>
            <a:ext cx="3175000" cy="381000"/>
          </a:xfrm>
          <a:prstGeom prst="roundRect">
            <a:avLst/>
          </a:prstGeom>
          <a:solidFill>
            <a:srgbClr val="E3D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55148"/>
                </a:solidFill>
                <a:latin typeface="Consolas"/>
              </a:rPr>
              <a:t>partieller UNIQUE-Index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53160" y="3124200"/>
            <a:ext cx="1147445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153160" y="3124200"/>
            <a:ext cx="50800" cy="6096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330960" y="3263900"/>
            <a:ext cx="330200" cy="330200"/>
          </a:xfrm>
          <a:prstGeom prst="ellipse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8160" y="3200400"/>
            <a:ext cx="728345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GR2  </a:t>
            </a:r>
            <a:r>
              <a:rPr sz="1300">
                <a:solidFill>
                  <a:srgbClr val="404040"/>
                </a:solidFill>
              </a:rPr>
              <a:t>Ein Kunde hat höchstens vier aktive Ausleihen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00210" y="3238500"/>
            <a:ext cx="3175000" cy="381000"/>
          </a:xfrm>
          <a:prstGeom prst="roundRect">
            <a:avLst/>
          </a:prstGeom>
          <a:solidFill>
            <a:srgbClr val="E3D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55148"/>
                </a:solidFill>
                <a:latin typeface="Consolas"/>
              </a:rPr>
              <a:t>Prüfung in der Funktion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53160" y="3835400"/>
            <a:ext cx="1147445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153160" y="3835400"/>
            <a:ext cx="50800" cy="6096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1330960" y="3975100"/>
            <a:ext cx="330200" cy="330200"/>
          </a:xfrm>
          <a:prstGeom prst="ellipse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8160" y="3911600"/>
            <a:ext cx="728345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GR3  </a:t>
            </a:r>
            <a:r>
              <a:rPr sz="1300">
                <a:solidFill>
                  <a:srgbClr val="404040"/>
                </a:solidFill>
              </a:rPr>
              <a:t>Ein Kunde hat zu einem Zeitpunkt einen Tarif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00210" y="3949700"/>
            <a:ext cx="3175000" cy="381000"/>
          </a:xfrm>
          <a:prstGeom prst="roundRect">
            <a:avLst/>
          </a:prstGeom>
          <a:solidFill>
            <a:srgbClr val="E3D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55148"/>
                </a:solidFill>
                <a:latin typeface="Consolas"/>
              </a:rPr>
              <a:t>EXCLUDE-Constraint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53160" y="4546600"/>
            <a:ext cx="1147445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1153160" y="4546600"/>
            <a:ext cx="50800" cy="6096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1330960" y="4686300"/>
            <a:ext cx="330200" cy="330200"/>
          </a:xfrm>
          <a:prstGeom prst="ellipse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8160" y="4622800"/>
            <a:ext cx="728345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GR4  </a:t>
            </a:r>
            <a:r>
              <a:rPr sz="1300">
                <a:solidFill>
                  <a:srgbClr val="404040"/>
                </a:solidFill>
              </a:rPr>
              <a:t>Preise und Konditionen überlappen sich nie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00210" y="4660900"/>
            <a:ext cx="3175000" cy="381000"/>
          </a:xfrm>
          <a:prstGeom prst="roundRect">
            <a:avLst/>
          </a:prstGeom>
          <a:solidFill>
            <a:srgbClr val="E3D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55148"/>
                </a:solidFill>
                <a:latin typeface="Consolas"/>
              </a:rPr>
              <a:t>EXCLUDE-Constraint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53160" y="5257800"/>
            <a:ext cx="1147445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153160" y="5257800"/>
            <a:ext cx="50800" cy="6096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1330960" y="5397500"/>
            <a:ext cx="330200" cy="330200"/>
          </a:xfrm>
          <a:prstGeom prst="ellipse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88160" y="5334000"/>
            <a:ext cx="728345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GR5  </a:t>
            </a:r>
            <a:r>
              <a:rPr sz="1300">
                <a:solidFill>
                  <a:srgbClr val="404040"/>
                </a:solidFill>
              </a:rPr>
              <a:t>Bepreist wird mit dem Preis zur Startzeit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00210" y="5372100"/>
            <a:ext cx="3175000" cy="381000"/>
          </a:xfrm>
          <a:prstGeom prst="roundRect">
            <a:avLst/>
          </a:prstGeom>
          <a:solidFill>
            <a:srgbClr val="E3D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55148"/>
                </a:solidFill>
                <a:latin typeface="Consolas"/>
              </a:rPr>
              <a:t>in fn_ausleihe_beenden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 übrigen fünf Regeln und wo sie greifen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1 · Die Fallstudie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Fallstudie VeloCity, Schema velocity auf supabase.butscher.cloud. Quellen im Repository unter doku/datenmodell/.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1143000"/>
            <a:ext cx="11557000" cy="939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Nicht jede Regel lässt sich als Constraint formulieren. Drei brauchen Kontext, den eine Tabelle nicht hat: den angemeldeten Nutzer, das heutige Datum, den Zustand anderer Zeilen.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3160" y="2413000"/>
            <a:ext cx="1147445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1153160" y="2413000"/>
            <a:ext cx="50800" cy="6096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330960" y="2552700"/>
            <a:ext cx="330200" cy="330200"/>
          </a:xfrm>
          <a:prstGeom prst="ellipse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8160" y="2489200"/>
            <a:ext cx="728345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GR6  </a:t>
            </a:r>
            <a:r>
              <a:rPr sz="1300">
                <a:solidFill>
                  <a:srgbClr val="404040"/>
                </a:solidFill>
              </a:rPr>
              <a:t>Angefangene Minuten werden aufgerundet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00210" y="2527300"/>
            <a:ext cx="3175000" cy="381000"/>
          </a:xfrm>
          <a:prstGeom prst="roundRect">
            <a:avLst/>
          </a:prstGeom>
          <a:solidFill>
            <a:srgbClr val="E3D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55148"/>
                </a:solidFill>
                <a:latin typeface="Consolas"/>
              </a:rPr>
              <a:t>GENERATED-Spalte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53160" y="3124200"/>
            <a:ext cx="1147445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153160" y="3124200"/>
            <a:ext cx="50800" cy="6096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330960" y="3263900"/>
            <a:ext cx="330200" cy="330200"/>
          </a:xfrm>
          <a:prstGeom prst="ellipse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8160" y="3200400"/>
            <a:ext cx="728345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GR7  </a:t>
            </a:r>
            <a:r>
              <a:rPr sz="1300">
                <a:solidFill>
                  <a:srgbClr val="404040"/>
                </a:solidFill>
              </a:rPr>
              <a:t>Verbrauch übersteigt nie das Kontingent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00210" y="3238500"/>
            <a:ext cx="3175000" cy="381000"/>
          </a:xfrm>
          <a:prstGeom prst="roundRect">
            <a:avLst/>
          </a:prstGeom>
          <a:solidFill>
            <a:srgbClr val="E3D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55148"/>
                </a:solidFill>
                <a:latin typeface="Consolas"/>
              </a:rPr>
              <a:t>CHECK-Constraint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53160" y="3835400"/>
            <a:ext cx="1147445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153160" y="3835400"/>
            <a:ext cx="50800" cy="6096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1330960" y="3975100"/>
            <a:ext cx="330200" cy="330200"/>
          </a:xfrm>
          <a:prstGeom prst="ellipse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8160" y="3911600"/>
            <a:ext cx="728345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GR8  </a:t>
            </a:r>
            <a:r>
              <a:rPr sz="1300">
                <a:solidFill>
                  <a:srgbClr val="404040"/>
                </a:solidFill>
              </a:rPr>
              <a:t>Mindestalter 16 Jahre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00210" y="3949700"/>
            <a:ext cx="3175000" cy="381000"/>
          </a:xfrm>
          <a:prstGeom prst="roundRect">
            <a:avLst/>
          </a:prstGeom>
          <a:solidFill>
            <a:srgbClr val="E3D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55148"/>
                </a:solidFill>
                <a:latin typeface="Consolas"/>
              </a:rPr>
              <a:t>in der API-Funktion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53160" y="4546600"/>
            <a:ext cx="1147445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1153160" y="4546600"/>
            <a:ext cx="50800" cy="6096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1330960" y="4686300"/>
            <a:ext cx="330200" cy="330200"/>
          </a:xfrm>
          <a:prstGeom prst="ellipse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8160" y="4622800"/>
            <a:ext cx="728345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GR9  </a:t>
            </a:r>
            <a:r>
              <a:rPr sz="1300">
                <a:solidFill>
                  <a:srgbClr val="404040"/>
                </a:solidFill>
              </a:rPr>
              <a:t>Nur der Kunde beendet seine Ausleihe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00210" y="4660900"/>
            <a:ext cx="3175000" cy="381000"/>
          </a:xfrm>
          <a:prstGeom prst="roundRect">
            <a:avLst/>
          </a:prstGeom>
          <a:solidFill>
            <a:srgbClr val="E3D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55148"/>
                </a:solidFill>
                <a:latin typeface="Consolas"/>
              </a:rPr>
              <a:t>auth.uid()-Prüfung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53160" y="5257800"/>
            <a:ext cx="1147445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153160" y="5257800"/>
            <a:ext cx="50800" cy="6096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1330960" y="5397500"/>
            <a:ext cx="330200" cy="330200"/>
          </a:xfrm>
          <a:prstGeom prst="ellipse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88160" y="5334000"/>
            <a:ext cx="728345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GR10  </a:t>
            </a:r>
            <a:r>
              <a:rPr sz="1300">
                <a:solidFill>
                  <a:srgbClr val="404040"/>
                </a:solidFill>
              </a:rPr>
              <a:t>Eine Rechnung je Kunde und Monat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00210" y="5372100"/>
            <a:ext cx="3175000" cy="381000"/>
          </a:xfrm>
          <a:prstGeom prst="roundRect">
            <a:avLst/>
          </a:prstGeom>
          <a:solidFill>
            <a:srgbClr val="E3D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55148"/>
                </a:solidFill>
                <a:latin typeface="Consolas"/>
              </a:rPr>
              <a:t>UNIQUE-Constraint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 · Konzeptioneller Entwurf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Ein ERM ist eine Behauptung über die Wirklichkeit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2 · Konzeptioneller Entwurf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Fallstudie VeloCity, Schema velocity auf supabase.butscher.cloud. Quellen im Repository unter doku/datenmodell/.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1143000"/>
            <a:ext cx="11557000" cy="939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Jede Kardinalität sagt etwas über das Geschäft aus und kann falsch sein. „Ein Kunde hat höchstens einen gültigen Tarif“ ist keine technische Festlegung, sondern eine Entscheidung des Fachbereichs.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3160" y="2235200"/>
            <a:ext cx="3545840" cy="2159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1153160" y="2235200"/>
            <a:ext cx="50800" cy="21590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330960" y="2362200"/>
            <a:ext cx="3215640" cy="1905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003E6E"/>
                </a:solidFill>
              </a:rPr>
              <a:t>Entität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Ein Ding, über das Daten gehalten werden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Im Text meist ein Substantiv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Beispiel: Kunde, Station, Ausleihe</a:t>
            </a:r>
          </a:p>
        </p:txBody>
      </p:sp>
      <p:sp>
        <p:nvSpPr>
          <p:cNvPr id="9" name="Rectangle 8"/>
          <p:cNvSpPr/>
          <p:nvPr/>
        </p:nvSpPr>
        <p:spPr>
          <a:xfrm>
            <a:off x="5113020" y="2235200"/>
            <a:ext cx="3545840" cy="2159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113020" y="2235200"/>
            <a:ext cx="50800" cy="21590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290820" y="2362200"/>
            <a:ext cx="3215640" cy="1905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003E6E"/>
                </a:solidFill>
              </a:rPr>
              <a:t>Beziehung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Eine Verbindung zwischen Entitäten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Im Text meist ein Verb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Beispiel: Kunde tätigt Ausleihe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81770" y="2235200"/>
            <a:ext cx="3545840" cy="2159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9081770" y="2235200"/>
            <a:ext cx="50800" cy="21590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259570" y="2362200"/>
            <a:ext cx="3215640" cy="1905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003E6E"/>
                </a:solidFill>
              </a:rPr>
              <a:t>Kardinalität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Wie viele auf jeder Seite stehen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Die eigentliche fachliche Aussage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Muss mit dem Fachbereich geklärt sein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Zehn Fachbereiche, davon sechs jetzt umgesetzt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2 · Konzeptioneller Entwurf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Fallstudie VeloCity, Schema velocity auf supabase.butscher.cloud. Quellen im Repository unter doku/datenmodell/.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1143000"/>
            <a:ext cx="11557000" cy="939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Die Aufteilung folgt dem Geschäft, nicht der Technik. Bereiche, die zusammen geändert werden, gehören zusammen.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3160" y="2311400"/>
            <a:ext cx="1147445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50800" rIns="203200" bIns="50800"/>
          <a:lstStyle/>
          <a:p>
            <a:pPr algn="l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A Geschäftspartner · adresse, kunde</a:t>
            </a:r>
          </a:p>
        </p:txBody>
      </p:sp>
      <p:sp>
        <p:nvSpPr>
          <p:cNvPr id="7" name="Isosceles Triangle 6"/>
          <p:cNvSpPr/>
          <p:nvPr/>
        </p:nvSpPr>
        <p:spPr>
          <a:xfrm rot="10800000">
            <a:off x="6801484" y="2857500"/>
            <a:ext cx="177800" cy="76200"/>
          </a:xfrm>
          <a:prstGeom prst="triangle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153160" y="2946400"/>
            <a:ext cx="1147445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50800" rIns="203200" bIns="50800"/>
          <a:lstStyle/>
          <a:p>
            <a:pPr algn="l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B Netz und Flotte · station, fahrradtyp, hersteller, fahrradmodell, fahrrad, fahrrad_position</a:t>
            </a:r>
          </a:p>
        </p:txBody>
      </p:sp>
      <p:sp>
        <p:nvSpPr>
          <p:cNvPr id="9" name="Isosceles Triangle 8"/>
          <p:cNvSpPr/>
          <p:nvPr/>
        </p:nvSpPr>
        <p:spPr>
          <a:xfrm rot="10800000">
            <a:off x="6801484" y="3492500"/>
            <a:ext cx="177800" cy="76200"/>
          </a:xfrm>
          <a:prstGeom prst="triangle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153160" y="3581400"/>
            <a:ext cx="11474450" cy="5334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50800" rIns="203200" bIns="50800"/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FFFFFF"/>
                </a:solidFill>
              </a:rPr>
              <a:t>C Tarif und Preis · tarif, tarif_kondition, mitgliedschaft, freiminuten_periode, nutzungspreis</a:t>
            </a:r>
          </a:p>
        </p:txBody>
      </p:sp>
      <p:sp>
        <p:nvSpPr>
          <p:cNvPr id="11" name="Isosceles Triangle 10"/>
          <p:cNvSpPr/>
          <p:nvPr/>
        </p:nvSpPr>
        <p:spPr>
          <a:xfrm rot="10800000">
            <a:off x="6801484" y="4127500"/>
            <a:ext cx="177800" cy="76200"/>
          </a:xfrm>
          <a:prstGeom prst="triangle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153160" y="4216400"/>
            <a:ext cx="11474450" cy="5334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50800" rIns="203200" bIns="50800"/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FFFFFF"/>
                </a:solidFill>
              </a:rPr>
              <a:t>D Nutzung · ausleihe, entgeltart, entgeltposition</a:t>
            </a:r>
          </a:p>
        </p:txBody>
      </p:sp>
      <p:sp>
        <p:nvSpPr>
          <p:cNvPr id="13" name="Isosceles Triangle 12"/>
          <p:cNvSpPr/>
          <p:nvPr/>
        </p:nvSpPr>
        <p:spPr>
          <a:xfrm rot="10800000">
            <a:off x="6801484" y="4762500"/>
            <a:ext cx="177800" cy="76200"/>
          </a:xfrm>
          <a:prstGeom prst="triangle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1153160" y="4851400"/>
            <a:ext cx="1147445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50800" rIns="203200" bIns="50800"/>
          <a:lstStyle/>
          <a:p>
            <a:pPr algn="l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E Abrechnung · zahlungsart, zahlungsmittel, rechnung, rechnungsposition, zahlung</a:t>
            </a:r>
          </a:p>
        </p:txBody>
      </p:sp>
      <p:sp>
        <p:nvSpPr>
          <p:cNvPr id="15" name="Isosceles Triangle 14"/>
          <p:cNvSpPr/>
          <p:nvPr/>
        </p:nvSpPr>
        <p:spPr>
          <a:xfrm rot="10800000">
            <a:off x="6801484" y="5397500"/>
            <a:ext cx="177800" cy="76200"/>
          </a:xfrm>
          <a:prstGeom prst="triangle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1153160" y="5486400"/>
            <a:ext cx="1147445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50800" rIns="203200" bIns="50800"/>
          <a:lstStyle/>
          <a:p>
            <a:pPr algn="l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F Redaktionsinhalte · faq_eintrag, nutzungsschritt, kennzahl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Vier Entscheidungen, die den Unterschied machen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2 · Konzeptioneller Entwurf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Fallstudie VeloCity, Schema velocity auf supabase.butscher.cloud. Quellen im Repository unter doku/datenmodell/.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1143000"/>
            <a:ext cx="11557000" cy="939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Ein Modell besteht nicht aus Tabellen, sondern aus Entscheidungen. Diese vier sind die, die man begründen können muss.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3160" y="2540000"/>
            <a:ext cx="1147445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1153160" y="2540000"/>
            <a:ext cx="50800" cy="6858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330960" y="2717800"/>
            <a:ext cx="330200" cy="330200"/>
          </a:xfrm>
          <a:prstGeom prst="ellipse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8160" y="2616200"/>
            <a:ext cx="7537450" cy="533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Adresse eigenständig  </a:t>
            </a:r>
            <a:r>
              <a:rPr sz="1300">
                <a:solidFill>
                  <a:srgbClr val="404040"/>
                </a:solidFill>
              </a:rPr>
              <a:t>wird von Kunde, Station, Lieferant und Lager gebraucht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4210" y="2654300"/>
            <a:ext cx="2921000" cy="457200"/>
          </a:xfrm>
          <a:prstGeom prst="roundRect">
            <a:avLst/>
          </a:prstGeom>
          <a:solidFill>
            <a:srgbClr val="E3D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55148"/>
                </a:solidFill>
                <a:latin typeface="Consolas"/>
              </a:rPr>
              <a:t>keine vierfache Redundanz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53160" y="3327400"/>
            <a:ext cx="1147445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153160" y="3327400"/>
            <a:ext cx="50800" cy="6858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330960" y="3505200"/>
            <a:ext cx="330200" cy="330200"/>
          </a:xfrm>
          <a:prstGeom prst="ellipse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8160" y="3403600"/>
            <a:ext cx="7537450" cy="533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Preise nicht am Typ  </a:t>
            </a:r>
            <a:r>
              <a:rPr sz="1300">
                <a:solidFill>
                  <a:srgbClr val="404040"/>
                </a:solidFill>
              </a:rPr>
              <a:t>ein Preis gilt für einen Zeitraum, nicht für immer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54210" y="3441700"/>
            <a:ext cx="2921000" cy="457200"/>
          </a:xfrm>
          <a:prstGeom prst="roundRect">
            <a:avLst/>
          </a:prstGeom>
          <a:solidFill>
            <a:srgbClr val="E3D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55148"/>
                </a:solidFill>
                <a:latin typeface="Consolas"/>
              </a:rPr>
              <a:t>nutzungspreis mit daterange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53160" y="4114800"/>
            <a:ext cx="1147445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153160" y="4114800"/>
            <a:ext cx="50800" cy="6858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1330960" y="4292600"/>
            <a:ext cx="330200" cy="330200"/>
          </a:xfrm>
          <a:prstGeom prst="ellipse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8160" y="4191000"/>
            <a:ext cx="7537450" cy="533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Position als Satellit  </a:t>
            </a:r>
            <a:r>
              <a:rPr sz="1300">
                <a:solidFill>
                  <a:srgbClr val="404040"/>
                </a:solidFill>
              </a:rPr>
              <a:t>Stammdaten ruhig halten, Bewegungsdaten trennen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4210" y="4229100"/>
            <a:ext cx="2921000" cy="457200"/>
          </a:xfrm>
          <a:prstGeom prst="roundRect">
            <a:avLst/>
          </a:prstGeom>
          <a:solidFill>
            <a:srgbClr val="E3D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55148"/>
                </a:solidFill>
                <a:latin typeface="Consolas"/>
              </a:rPr>
              <a:t>fahrrad_position 1:1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53160" y="4902200"/>
            <a:ext cx="1147445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1153160" y="4902200"/>
            <a:ext cx="50800" cy="6858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1330960" y="5080000"/>
            <a:ext cx="330200" cy="330200"/>
          </a:xfrm>
          <a:prstGeom prst="ellipse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8160" y="4978400"/>
            <a:ext cx="7537450" cy="533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Freiminuten je Periode  </a:t>
            </a:r>
            <a:r>
              <a:rPr sz="1300">
                <a:solidFill>
                  <a:srgbClr val="404040"/>
                </a:solidFill>
              </a:rPr>
              <a:t>ein Zähler verliert seine Geschichte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54210" y="5016500"/>
            <a:ext cx="2921000" cy="457200"/>
          </a:xfrm>
          <a:prstGeom prst="roundRect">
            <a:avLst/>
          </a:prstGeom>
          <a:solidFill>
            <a:srgbClr val="E3D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55148"/>
                </a:solidFill>
                <a:latin typeface="Consolas"/>
              </a:rPr>
              <a:t>Bestand und Bewegung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Vier weitere Entscheidungen mit Begründung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2 · Konzeptioneller Entwurf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Fallstudie VeloCity, Schema velocity auf supabase.butscher.cloud. Quellen im Repository unter doku/datenmodell/.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1143000"/>
            <a:ext cx="11557000" cy="939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Auch das Weglassen ist eine Entscheidung. Zwei der vier bestehen darin, etwas bewusst nicht zu tun.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3160" y="2540000"/>
            <a:ext cx="1147445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1153160" y="2540000"/>
            <a:ext cx="50800" cy="6858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330960" y="2717800"/>
            <a:ext cx="330200" cy="330200"/>
          </a:xfrm>
          <a:prstGeom prst="ellipse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8160" y="2616200"/>
            <a:ext cx="7537450" cy="533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Dauer ableiten  </a:t>
            </a:r>
            <a:r>
              <a:rPr sz="1300">
                <a:solidFill>
                  <a:srgbClr val="404040"/>
                </a:solidFill>
              </a:rPr>
              <a:t>folgt zwingend aus Start und Ende, wird nicht gepflegt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4210" y="2654300"/>
            <a:ext cx="2921000" cy="457200"/>
          </a:xfrm>
          <a:prstGeom prst="roundRect">
            <a:avLst/>
          </a:prstGeom>
          <a:solidFill>
            <a:srgbClr val="E3D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55148"/>
                </a:solidFill>
                <a:latin typeface="Consolas"/>
              </a:rPr>
              <a:t>GENERATED-Spalte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53160" y="3327400"/>
            <a:ext cx="1147445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153160" y="3327400"/>
            <a:ext cx="50800" cy="6858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330960" y="3505200"/>
            <a:ext cx="330200" cy="330200"/>
          </a:xfrm>
          <a:prstGeom prst="ellipse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8160" y="3403600"/>
            <a:ext cx="7537450" cy="533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Kein EAV  </a:t>
            </a:r>
            <a:r>
              <a:rPr sz="1300">
                <a:solidFill>
                  <a:srgbClr val="404040"/>
                </a:solidFill>
              </a:rPr>
              <a:t>generische Schlüssel-Wert-Tabellen verlieren alles Prüfbare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54210" y="3441700"/>
            <a:ext cx="2921000" cy="457200"/>
          </a:xfrm>
          <a:prstGeom prst="roundRect">
            <a:avLst/>
          </a:prstGeom>
          <a:solidFill>
            <a:srgbClr val="E3D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55148"/>
                </a:solidFill>
                <a:latin typeface="Consolas"/>
              </a:rPr>
              <a:t>drei konkrete Tabellen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53160" y="4114800"/>
            <a:ext cx="1147445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153160" y="4114800"/>
            <a:ext cx="50800" cy="6858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1330960" y="4292600"/>
            <a:ext cx="330200" cy="330200"/>
          </a:xfrm>
          <a:prstGeom prst="ellipse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8160" y="4191000"/>
            <a:ext cx="7537450" cy="533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Modell zwischen Typ und Rad  </a:t>
            </a:r>
            <a:r>
              <a:rPr sz="1300">
                <a:solidFill>
                  <a:srgbClr val="404040"/>
                </a:solidFill>
              </a:rPr>
              <a:t>Ersatzteile hängen am Modell, nicht am Einzelrad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4210" y="4229100"/>
            <a:ext cx="2921000" cy="457200"/>
          </a:xfrm>
          <a:prstGeom prst="roundRect">
            <a:avLst/>
          </a:prstGeom>
          <a:solidFill>
            <a:srgbClr val="E3D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55148"/>
                </a:solidFill>
                <a:latin typeface="Consolas"/>
              </a:rPr>
              <a:t>Brücke zur Warenwirtschaft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53160" y="4902200"/>
            <a:ext cx="1147445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1153160" y="4902200"/>
            <a:ext cx="50800" cy="6858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1330960" y="5080000"/>
            <a:ext cx="330200" cy="330200"/>
          </a:xfrm>
          <a:prstGeom prst="ellipse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8160" y="4978400"/>
            <a:ext cx="7537450" cy="533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Positionen statt Betrag  </a:t>
            </a:r>
            <a:r>
              <a:rPr sz="1300">
                <a:solidFill>
                  <a:srgbClr val="404040"/>
                </a:solidFill>
              </a:rPr>
              <a:t>ein Betrag verrät nicht, wie er zustande kam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54210" y="5016500"/>
            <a:ext cx="2921000" cy="457200"/>
          </a:xfrm>
          <a:prstGeom prst="roundRect">
            <a:avLst/>
          </a:prstGeom>
          <a:solidFill>
            <a:srgbClr val="E3D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55148"/>
                </a:solidFill>
                <a:latin typeface="Consolas"/>
              </a:rPr>
              <a:t>entgeltposition je Zeile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 · Normalisierung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 Ausgangstabelle: alles in einer Relation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3 · Normalisierung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Fallstudie VeloCity, Schema velocity auf supabase.butscher.cloud. Quellen im Repository unter doku/datenmodell/.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1143000"/>
            <a:ext cx="11557000" cy="939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So würde jemand die Ausleihe aufschreiben, der noch nicht normalisiert hat. Wir zerlegen sie in drei Schritten und beobachten, welche Anomalie jeder Schritt beseitigt.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3160" y="2260600"/>
            <a:ext cx="5524500" cy="381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1153160" y="2260600"/>
            <a:ext cx="50800" cy="3810000"/>
          </a:xfrm>
          <a:prstGeom prst="rect">
            <a:avLst/>
          </a:prstGeom>
          <a:solidFill>
            <a:srgbClr val="BE2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330960" y="2374900"/>
            <a:ext cx="5194300" cy="3581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BE2344"/>
                </a:solidFill>
              </a:rPr>
              <a:t>ausleihe_flach — der Ausgangszustand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ausleihe_id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kunde_email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kunde_name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kunde_strasse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kunde_plz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kunde_ort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rahmennummer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typ_bezeichnung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startgebuehr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preis_pro_minute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tageshoechstpreis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startzeit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endzeit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dauer_minuten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kosten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positionen</a:t>
            </a:r>
          </a:p>
        </p:txBody>
      </p:sp>
      <p:sp>
        <p:nvSpPr>
          <p:cNvPr id="9" name="Rectangle 8"/>
          <p:cNvSpPr/>
          <p:nvPr/>
        </p:nvSpPr>
        <p:spPr>
          <a:xfrm>
            <a:off x="7096759" y="2260600"/>
            <a:ext cx="5524500" cy="381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096759" y="2260600"/>
            <a:ext cx="50800" cy="38100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274559" y="2374900"/>
            <a:ext cx="5194300" cy="3581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003E6E"/>
                </a:solidFill>
              </a:rPr>
              <a:t>Die drei Befunde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1NF  kunde_name trägt Vor- und Nachname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   positionen trägt mehrere Zeilen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/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2NF  kunde_email hängt nur an ausleihe_id,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   nicht am ganzen Schlüssel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/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3NF  rahmennummer -&gt; typ_bezeichnung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               -&gt; preis_pro_minute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/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   dauer_minuten und kosten sind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   abgeleitet, nicht elementar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Erste und zweite Normalform am Beispiel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3 · Normalisierung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Fallstudie VeloCity, Schema velocity auf supabase.butscher.cloud. Quellen im Repository unter doku/datenmodell/.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1143000"/>
            <a:ext cx="11557000" cy="939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Die 1NF verlangt atomare Attribute. Der lehrreichere Fall ist die wiederholende Gruppe: sie wird zu einer eigenen Relation, nicht zu mehreren Spalten.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3160" y="2311400"/>
            <a:ext cx="5524500" cy="2413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1153160" y="2311400"/>
            <a:ext cx="50800" cy="24130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330960" y="2438400"/>
            <a:ext cx="5194300" cy="2159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003E6E"/>
                </a:solidFill>
              </a:rPr>
              <a:t>1NF · atomar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kunde_name wird zu vorname und nachname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positionen wird eine eigene Relation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/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NICHT position1, position2, position3 —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das legt die Anzahl im Schema fest</a:t>
            </a:r>
          </a:p>
        </p:txBody>
      </p:sp>
      <p:sp>
        <p:nvSpPr>
          <p:cNvPr id="9" name="Rectangle 8"/>
          <p:cNvSpPr/>
          <p:nvPr/>
        </p:nvSpPr>
        <p:spPr>
          <a:xfrm>
            <a:off x="7096759" y="2311400"/>
            <a:ext cx="5524500" cy="2413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096759" y="2311400"/>
            <a:ext cx="50800" cy="24130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274559" y="2438400"/>
            <a:ext cx="5194300" cy="2159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003E6E"/>
                </a:solidFill>
              </a:rPr>
              <a:t>2NF · keine partielle Abhängigkeit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Schlüssel (ausleihe_id, position_nr)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kunde_email hängt nur an ausleihe_id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/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Folge: Trennung in Kopf und Positionen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Das Kopf-Positionen-Muster ist keine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Konvention, sondern eine Folge der 2NF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53160" y="5029200"/>
            <a:ext cx="11474450" cy="660400"/>
          </a:xfrm>
          <a:prstGeom prst="rect">
            <a:avLst/>
          </a:prstGeom>
          <a:solidFill>
            <a:srgbClr val="E3D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356360" y="5105400"/>
            <a:ext cx="11068050" cy="50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003E6E"/>
                </a:solidFill>
              </a:rPr>
              <a:t>Merksatz: Eine wiederholende Gruppe wird zu Zeilen, niemals zu Spalten.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Dritte Normalform — und warum sie hier nicht genügt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3 · Normalisierung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Fallstudie VeloCity, Schema velocity auf supabase.butscher.cloud. Quellen im Repository unter doku/datenmodell/.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1143000"/>
            <a:ext cx="11557000" cy="939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Die transitive Abhängigkeit vom Rad über den Typ zum Preis ist der klassische 3NF-Verstoß. Sie aufzulösen ist notwendig, reicht aber fachlich nicht aus.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3160" y="2311400"/>
            <a:ext cx="5524500" cy="3048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1153160" y="2311400"/>
            <a:ext cx="50800" cy="3048000"/>
          </a:xfrm>
          <a:prstGeom prst="rect">
            <a:avLst/>
          </a:prstGeom>
          <a:solidFill>
            <a:srgbClr val="BE2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330960" y="2425700"/>
            <a:ext cx="5194300" cy="2819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BE2344"/>
                </a:solidFill>
              </a:rPr>
              <a:t>Die transitive Kette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ausleihe_id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 -&gt; rahmennummer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    -&gt; typ_bezeichnung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       -&gt; preis_pro_minute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/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Änderungsanomalie: eine Preisänderung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müsste in jeder Ausleihzeile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nachgezogen werden.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96759" y="2311400"/>
            <a:ext cx="5524500" cy="3048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096759" y="2311400"/>
            <a:ext cx="50800" cy="3048000"/>
          </a:xfrm>
          <a:prstGeom prst="rect">
            <a:avLst/>
          </a:prstGeom>
          <a:solidFill>
            <a:srgbClr val="558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274559" y="2425700"/>
            <a:ext cx="5194300" cy="2819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55801C"/>
                </a:solidFill>
              </a:rPr>
              <a:t>Nach der Zerlegung — und danach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3NF:  fahrradtyp und nutzungspreis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    werden eigene Relationen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/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ABER: liegt der Preis am Typ, ändert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    eine Anpassung weiterhin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    rückwirkend alle Altrechnungen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/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Erst der Gültigkeitszeitraum in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nutzungspreis macht es richtig.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53160" y="5537200"/>
            <a:ext cx="11474450" cy="660400"/>
          </a:xfrm>
          <a:prstGeom prst="rect">
            <a:avLst/>
          </a:prstGeom>
          <a:solidFill>
            <a:srgbClr val="E3D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356360" y="5613400"/>
            <a:ext cx="11068050" cy="50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003E6E"/>
                </a:solidFill>
              </a:rPr>
              <a:t>Normalisierung beseitigt Redundanz. Sie ersetzt keine fachliche Analyse.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Exkurs: aus der Postleitzahl folgt nicht der Ort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3 · Normalisierung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Fallstudie VeloCity, Schema velocity auf supabase.butscher.cloud. Quellen im Repository unter doku/datenmodell/.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1143000"/>
            <a:ext cx="11557000" cy="939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Der Lehrbuchklassiker lautet, plz bestimme ort, also gehöre ort in eine eigene Relation. In Deutschland stimmt das nicht — und der scheinbar saubere Zerlegungsschritt wäre fachlich falsch.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48960" y="2336800"/>
            <a:ext cx="1016000" cy="30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555148"/>
                </a:solidFill>
              </a:rPr>
              <a:t>gilt</a:t>
            </a:r>
          </a:p>
        </p:txBody>
      </p:sp>
      <p:sp>
        <p:nvSpPr>
          <p:cNvPr id="7" name="Rectangle 6"/>
          <p:cNvSpPr/>
          <p:nvPr/>
        </p:nvSpPr>
        <p:spPr>
          <a:xfrm>
            <a:off x="1153160" y="2667000"/>
            <a:ext cx="1147445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153160" y="2667000"/>
            <a:ext cx="50800" cy="6858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56360" y="2730500"/>
            <a:ext cx="4064000" cy="55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Eine PLZ hat genau einen 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48960" y="2832100"/>
            <a:ext cx="1016000" cy="355600"/>
          </a:xfrm>
          <a:prstGeom prst="roundRect">
            <a:avLst/>
          </a:prstGeom>
          <a:solidFill>
            <a:srgbClr val="BE2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600" b="1">
                <a:solidFill>
                  <a:srgbClr val="FFFFFF"/>
                </a:solidFill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8159" y="2730500"/>
            <a:ext cx="5632450" cy="55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55148"/>
                </a:solidFill>
              </a:rPr>
              <a:t>Ländliche Sammel-PLZ umfassen mehrere Orte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53160" y="3454400"/>
            <a:ext cx="1147445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1153160" y="3454400"/>
            <a:ext cx="50800" cy="6858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356360" y="3517900"/>
            <a:ext cx="4064000" cy="55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Ein Ort hat genau eine PLZ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48960" y="3619500"/>
            <a:ext cx="1016000" cy="355600"/>
          </a:xfrm>
          <a:prstGeom prst="roundRect">
            <a:avLst/>
          </a:prstGeom>
          <a:solidFill>
            <a:srgbClr val="BE2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600" b="1">
                <a:solidFill>
                  <a:srgbClr val="FFFFFF"/>
                </a:solidFill>
              </a:rPr>
              <a:t>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8159" y="3517900"/>
            <a:ext cx="5632450" cy="55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55148"/>
                </a:solidFill>
              </a:rPr>
              <a:t>Großstädte haben Dutzende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53160" y="4241800"/>
            <a:ext cx="1147445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153160" y="4241800"/>
            <a:ext cx="50800" cy="6858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356360" y="4305300"/>
            <a:ext cx="4064000" cy="55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plz -&gt; ort ist funktional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48960" y="4406900"/>
            <a:ext cx="1016000" cy="355600"/>
          </a:xfrm>
          <a:prstGeom prst="roundRect">
            <a:avLst/>
          </a:prstGeom>
          <a:solidFill>
            <a:srgbClr val="BE2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600" b="1">
                <a:solidFill>
                  <a:srgbClr val="FFFFFF"/>
                </a:solidFill>
              </a:rPr>
              <a:t>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68159" y="4305300"/>
            <a:ext cx="5632450" cy="55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55148"/>
                </a:solidFill>
              </a:rPr>
              <a:t>Also keine transitive Abhängigkeit, kein Split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53160" y="5130800"/>
            <a:ext cx="11474450" cy="838200"/>
          </a:xfrm>
          <a:prstGeom prst="rect">
            <a:avLst/>
          </a:prstGeom>
          <a:solidFill>
            <a:srgbClr val="E3D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356360" y="5207000"/>
            <a:ext cx="1106805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003E6E"/>
                </a:solidFill>
              </a:rPr>
              <a:t>Eine funktionale Abhängigkeit ist eine Behauptung über die Wirklichkeit und muss geprüft werden — nicht aus Namensähnlichkeit geschlossen.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 · Logischer Entwurf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 Abbildung folgt festen Regeln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4 · Logischer Entwurf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Fallstudie VeloCity, Schema velocity auf supabase.butscher.cloud. Quellen im Repository unter doku/datenmodell/.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1143000"/>
            <a:ext cx="11557000" cy="939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Wer eine 1:N-Beziehung auf der Eins-Seite verankert, hat nicht anders entworfen, sondern falsch abgebildet. Genau deshalb ist dieser Schritt korrigierbar.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3160" y="2413000"/>
            <a:ext cx="2667000" cy="4064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ERM-Konstrukt</a:t>
            </a:r>
          </a:p>
        </p:txBody>
      </p:sp>
      <p:sp>
        <p:nvSpPr>
          <p:cNvPr id="7" name="Rectangle 6"/>
          <p:cNvSpPr/>
          <p:nvPr/>
        </p:nvSpPr>
        <p:spPr>
          <a:xfrm>
            <a:off x="3820160" y="2413000"/>
            <a:ext cx="5080000" cy="4064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Abbildung ins Relationenmodell</a:t>
            </a:r>
          </a:p>
        </p:txBody>
      </p:sp>
      <p:sp>
        <p:nvSpPr>
          <p:cNvPr id="8" name="Rectangle 7"/>
          <p:cNvSpPr/>
          <p:nvPr/>
        </p:nvSpPr>
        <p:spPr>
          <a:xfrm>
            <a:off x="8900160" y="2413000"/>
            <a:ext cx="3727450" cy="4064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Beispiel im Modell</a:t>
            </a:r>
          </a:p>
        </p:txBody>
      </p:sp>
      <p:sp>
        <p:nvSpPr>
          <p:cNvPr id="9" name="Rectangle 8"/>
          <p:cNvSpPr/>
          <p:nvPr/>
        </p:nvSpPr>
        <p:spPr>
          <a:xfrm>
            <a:off x="1153160" y="2819400"/>
            <a:ext cx="2667000" cy="4064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Entitätstyp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20160" y="2819400"/>
            <a:ext cx="5080000" cy="4064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eigene Relation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00160" y="2819400"/>
            <a:ext cx="3727450" cy="4064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kunde, station, ausleihe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53160" y="3225800"/>
            <a:ext cx="2667000" cy="406400"/>
          </a:xfrm>
          <a:prstGeom prst="rect">
            <a:avLst/>
          </a:prstGeom>
          <a:solidFill>
            <a:srgbClr val="E3DED1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Attribut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20160" y="3225800"/>
            <a:ext cx="5080000" cy="406400"/>
          </a:xfrm>
          <a:prstGeom prst="rect">
            <a:avLst/>
          </a:prstGeom>
          <a:solidFill>
            <a:srgbClr val="E3DED1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Spalte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00160" y="3225800"/>
            <a:ext cx="3727450" cy="406400"/>
          </a:xfrm>
          <a:prstGeom prst="rect">
            <a:avLst/>
          </a:prstGeom>
          <a:solidFill>
            <a:srgbClr val="E3DED1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vorname, kapazitaet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53160" y="3632200"/>
            <a:ext cx="2667000" cy="4064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1:N-Beziehung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20160" y="3632200"/>
            <a:ext cx="5080000" cy="4064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Fremdschlüssel auf der N-Seite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00160" y="3632200"/>
            <a:ext cx="3727450" cy="4064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ausleihe.kunde_id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53160" y="4038600"/>
            <a:ext cx="2667000" cy="406400"/>
          </a:xfrm>
          <a:prstGeom prst="rect">
            <a:avLst/>
          </a:prstGeom>
          <a:solidFill>
            <a:srgbClr val="E3DED1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1:1-Beziehung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20160" y="4038600"/>
            <a:ext cx="5080000" cy="406400"/>
          </a:xfrm>
          <a:prstGeom prst="rect">
            <a:avLst/>
          </a:prstGeom>
          <a:solidFill>
            <a:srgbClr val="E3DED1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FK auf der optionalen Seite, dort zugleich PK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00160" y="4038600"/>
            <a:ext cx="3727450" cy="406400"/>
          </a:xfrm>
          <a:prstGeom prst="rect">
            <a:avLst/>
          </a:prstGeom>
          <a:solidFill>
            <a:srgbClr val="E3DED1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fahrrad_position.fahrrad_id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53160" y="4445000"/>
            <a:ext cx="2667000" cy="4064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M:N-Beziehung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20160" y="4445000"/>
            <a:ext cx="5080000" cy="4064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eigene Verknüpfungsrelation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00160" y="4445000"/>
            <a:ext cx="3727450" cy="4064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in Phase 2: wartungsposition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53160" y="4851400"/>
            <a:ext cx="2667000" cy="406400"/>
          </a:xfrm>
          <a:prstGeom prst="rect">
            <a:avLst/>
          </a:prstGeom>
          <a:solidFill>
            <a:srgbClr val="E3DED1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Mehrwertiges Attribut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20160" y="4851400"/>
            <a:ext cx="5080000" cy="406400"/>
          </a:xfrm>
          <a:prstGeom prst="rect">
            <a:avLst/>
          </a:prstGeom>
          <a:solidFill>
            <a:srgbClr val="E3DED1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eigene Relation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00160" y="4851400"/>
            <a:ext cx="3727450" cy="406400"/>
          </a:xfrm>
          <a:prstGeom prst="rect">
            <a:avLst/>
          </a:prstGeom>
          <a:solidFill>
            <a:srgbClr val="E3DED1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fahrradtyp_merkmal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Jede Relation trägt zwei Schlüssel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4 · Logischer Entwurf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Fallstudie VeloCity, Schema velocity auf supabase.butscher.cloud. Quellen im Repository unter doku/datenmodell/.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1143000"/>
            <a:ext cx="11557000" cy="939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Surrogatschlüssel als Primärschlüssel, fachlicher Schlüssel als Eindeutigkeitsbedingung. Beide haben eine Aufgabe, keiner ersetzt den anderen.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13960" y="2336800"/>
            <a:ext cx="1092200" cy="30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555148"/>
                </a:solidFill>
              </a:rPr>
              <a:t>stabil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3160" y="2336800"/>
            <a:ext cx="1092200" cy="30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555148"/>
                </a:solidFill>
              </a:rPr>
              <a:t>eindeutig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59" y="2336800"/>
            <a:ext cx="1092200" cy="30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555148"/>
                </a:solidFill>
              </a:rPr>
              <a:t>sprechend</a:t>
            </a:r>
          </a:p>
        </p:txBody>
      </p:sp>
      <p:sp>
        <p:nvSpPr>
          <p:cNvPr id="9" name="Rectangle 8"/>
          <p:cNvSpPr/>
          <p:nvPr/>
        </p:nvSpPr>
        <p:spPr>
          <a:xfrm>
            <a:off x="1153160" y="2667000"/>
            <a:ext cx="1147445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153160" y="2667000"/>
            <a:ext cx="50800" cy="6858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56360" y="2730500"/>
            <a:ext cx="3429000" cy="55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Surrogatschlüssel  kunde_id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13960" y="2832100"/>
            <a:ext cx="1092200" cy="355600"/>
          </a:xfrm>
          <a:prstGeom prst="roundRect">
            <a:avLst/>
          </a:prstGeom>
          <a:solidFill>
            <a:srgbClr val="558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6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160" y="2832100"/>
            <a:ext cx="1092200" cy="355600"/>
          </a:xfrm>
          <a:prstGeom prst="roundRect">
            <a:avLst/>
          </a:prstGeom>
          <a:solidFill>
            <a:srgbClr val="558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6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59" y="2832100"/>
            <a:ext cx="1092200" cy="355600"/>
          </a:xfrm>
          <a:prstGeom prst="roundRect">
            <a:avLst/>
          </a:prstGeom>
          <a:solidFill>
            <a:srgbClr val="BE2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600" b="1">
                <a:solidFill>
                  <a:srgbClr val="FFFFFF"/>
                </a:solidFill>
              </a:rPr>
              <a:t>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47760" y="2730500"/>
            <a:ext cx="3752850" cy="55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55148"/>
                </a:solidFill>
              </a:rPr>
              <a:t>Primärschlüssel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53160" y="3454400"/>
            <a:ext cx="1147445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153160" y="3454400"/>
            <a:ext cx="50800" cy="6858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356360" y="3517900"/>
            <a:ext cx="3429000" cy="55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Fachschlüssel  kundennummer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13960" y="3619500"/>
            <a:ext cx="1092200" cy="355600"/>
          </a:xfrm>
          <a:prstGeom prst="roundRect">
            <a:avLst/>
          </a:prstGeom>
          <a:solidFill>
            <a:srgbClr val="BE2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600" b="1">
                <a:solidFill>
                  <a:srgbClr val="FFFFFF"/>
                </a:solidFill>
              </a:rPr>
              <a:t>×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160" y="3619500"/>
            <a:ext cx="1092200" cy="355600"/>
          </a:xfrm>
          <a:prstGeom prst="roundRect">
            <a:avLst/>
          </a:prstGeom>
          <a:solidFill>
            <a:srgbClr val="558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6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52359" y="3619500"/>
            <a:ext cx="1092200" cy="355600"/>
          </a:xfrm>
          <a:prstGeom prst="roundRect">
            <a:avLst/>
          </a:prstGeom>
          <a:solidFill>
            <a:srgbClr val="558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6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7760" y="3517900"/>
            <a:ext cx="3752850" cy="55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55148"/>
                </a:solidFill>
              </a:rPr>
              <a:t>UNIQUE-Bedingung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53160" y="4241800"/>
            <a:ext cx="1147445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153160" y="4241800"/>
            <a:ext cx="50800" cy="6858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356360" y="4305300"/>
            <a:ext cx="3429000" cy="55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Fachschlüssel als PK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13960" y="4406900"/>
            <a:ext cx="1092200" cy="355600"/>
          </a:xfrm>
          <a:prstGeom prst="roundRect">
            <a:avLst/>
          </a:prstGeom>
          <a:solidFill>
            <a:srgbClr val="BE2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600" b="1">
                <a:solidFill>
                  <a:srgbClr val="FFFFFF"/>
                </a:solidFill>
              </a:rPr>
              <a:t>×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3160" y="4406900"/>
            <a:ext cx="1092200" cy="355600"/>
          </a:xfrm>
          <a:prstGeom prst="roundRect">
            <a:avLst/>
          </a:prstGeom>
          <a:solidFill>
            <a:srgbClr val="558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6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52359" y="4406900"/>
            <a:ext cx="1092200" cy="355600"/>
          </a:xfrm>
          <a:prstGeom prst="roundRect">
            <a:avLst/>
          </a:prstGeom>
          <a:solidFill>
            <a:srgbClr val="558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6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47760" y="4305300"/>
            <a:ext cx="3752850" cy="55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55148"/>
                </a:solidFill>
              </a:rPr>
              <a:t>Änderung zieht durch alle Verweise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53160" y="5130800"/>
            <a:ext cx="11474450" cy="838200"/>
          </a:xfrm>
          <a:prstGeom prst="rect">
            <a:avLst/>
          </a:prstGeom>
          <a:solidFill>
            <a:srgbClr val="E3D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356360" y="5207000"/>
            <a:ext cx="1106805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003E6E"/>
                </a:solidFill>
              </a:rPr>
              <a:t>Eine Rahmennummer wird beim Rahmentausch neu vergeben. Ein Primärschlüssel, der sich ändert, zieht die Änderung durch jede verweisende Relation.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 · Physischer Entwurf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Datentypen sind fachliche Entscheidungen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5 · Physischer Entwurf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Fallstudie VeloCity, Schema velocity auf supabase.butscher.cloud. Quellen im Repository unter doku/datenmodell/.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1143000"/>
            <a:ext cx="11557000" cy="939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Jede Zeile dieser Tabelle hat einen Grund, der über Geschmack hinausgeht. Die beiden ersten sind die, an denen in der Praxis am meisten schiefgeht.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3160" y="2413000"/>
            <a:ext cx="2286000" cy="4064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Zweck</a:t>
            </a:r>
          </a:p>
        </p:txBody>
      </p:sp>
      <p:sp>
        <p:nvSpPr>
          <p:cNvPr id="7" name="Rectangle 6"/>
          <p:cNvSpPr/>
          <p:nvPr/>
        </p:nvSpPr>
        <p:spPr>
          <a:xfrm>
            <a:off x="3439160" y="2413000"/>
            <a:ext cx="2159000" cy="4064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Typ</a:t>
            </a:r>
          </a:p>
        </p:txBody>
      </p:sp>
      <p:sp>
        <p:nvSpPr>
          <p:cNvPr id="8" name="Rectangle 7"/>
          <p:cNvSpPr/>
          <p:nvPr/>
        </p:nvSpPr>
        <p:spPr>
          <a:xfrm>
            <a:off x="5598160" y="2413000"/>
            <a:ext cx="7029450" cy="4064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Warum genau dieser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153160" y="2819400"/>
            <a:ext cx="2286000" cy="4064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Zeitpunkt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9160" y="2819400"/>
            <a:ext cx="2159000" cy="4064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timestamptz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98160" y="2819400"/>
            <a:ext cx="7029450" cy="4064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timestamp ohne Zone verliert den Bezug; Sommerzeit wird doppeldeutig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53160" y="3225800"/>
            <a:ext cx="2286000" cy="406400"/>
          </a:xfrm>
          <a:prstGeom prst="rect">
            <a:avLst/>
          </a:prstGeom>
          <a:solidFill>
            <a:srgbClr val="E3DED1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Geldbetrag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39160" y="3225800"/>
            <a:ext cx="2159000" cy="406400"/>
          </a:xfrm>
          <a:prstGeom prst="rect">
            <a:avLst/>
          </a:prstGeom>
          <a:solidFill>
            <a:srgbClr val="E3DED1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numeric(10,2)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98160" y="3225800"/>
            <a:ext cx="7029450" cy="406400"/>
          </a:xfrm>
          <a:prstGeom prst="rect">
            <a:avLst/>
          </a:prstGeom>
          <a:solidFill>
            <a:srgbClr val="E3DED1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exakte Dezimalarithmetik; float trifft 0,10 nicht genau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53160" y="3632200"/>
            <a:ext cx="2286000" cy="4064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Zeitraum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39160" y="3632200"/>
            <a:ext cx="2159000" cy="4064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daterange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98160" y="3632200"/>
            <a:ext cx="7029450" cy="4064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ein Zeitraum ist ein Wert, kein Spaltenpaar — erst so prüfbar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53160" y="4038600"/>
            <a:ext cx="2286000" cy="406400"/>
          </a:xfrm>
          <a:prstGeom prst="rect">
            <a:avLst/>
          </a:prstGeom>
          <a:solidFill>
            <a:srgbClr val="E3DED1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Surrogatschlüssel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39160" y="4038600"/>
            <a:ext cx="2159000" cy="406400"/>
          </a:xfrm>
          <a:prstGeom prst="rect">
            <a:avLst/>
          </a:prstGeom>
          <a:solidFill>
            <a:srgbClr val="E3DED1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bigint IDENTITY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98160" y="4038600"/>
            <a:ext cx="7029450" cy="406400"/>
          </a:xfrm>
          <a:prstGeom prst="rect">
            <a:avLst/>
          </a:prstGeom>
          <a:solidFill>
            <a:srgbClr val="E3DED1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standardkonform; ALWAYS verhindert Setzen von außen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53160" y="4445000"/>
            <a:ext cx="2286000" cy="4064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Koordinate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39160" y="4445000"/>
            <a:ext cx="2159000" cy="4064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numeric(9,6)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98160" y="4445000"/>
            <a:ext cx="7029450" cy="4064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sechs Nachkommastellen entsprechen etwa elf Zentimetern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53160" y="4851400"/>
            <a:ext cx="2286000" cy="406400"/>
          </a:xfrm>
          <a:prstGeom prst="rect">
            <a:avLst/>
          </a:prstGeom>
          <a:solidFill>
            <a:srgbClr val="E3DED1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Text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39160" y="4851400"/>
            <a:ext cx="2159000" cy="406400"/>
          </a:xfrm>
          <a:prstGeom prst="rect">
            <a:avLst/>
          </a:prstGeom>
          <a:solidFill>
            <a:srgbClr val="E3DED1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text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98160" y="4851400"/>
            <a:ext cx="7029450" cy="406400"/>
          </a:xfrm>
          <a:prstGeom prst="rect">
            <a:avLst/>
          </a:prstGeom>
          <a:solidFill>
            <a:srgbClr val="E3DED1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PostgreSQL speichert text und varchar(n) identisch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ENUM oder Referenztabelle — die Regel dahinter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5 · Physischer Entwurf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Fallstudie VeloCity, Schema velocity auf supabase.butscher.cloud. Quellen im Repository unter doku/datenmodell/.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1143000"/>
            <a:ext cx="11557000" cy="939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Beide beschränken Werte. Die Wahl folgt nicht dem Geschmack, sondern drei Fragen: wächst die Menge, trägt sie Attribute, muss die Anwendung sie interpretieren?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13960" y="2336800"/>
            <a:ext cx="1219200" cy="30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555148"/>
                </a:solidFill>
              </a:rPr>
              <a:t>geschlossen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60160" y="2336800"/>
            <a:ext cx="1219200" cy="30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555148"/>
                </a:solidFill>
              </a:rPr>
              <a:t>Attribute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6359" y="2336800"/>
            <a:ext cx="1219200" cy="30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555148"/>
                </a:solidFill>
              </a:rPr>
              <a:t>wächst</a:t>
            </a:r>
          </a:p>
        </p:txBody>
      </p:sp>
      <p:sp>
        <p:nvSpPr>
          <p:cNvPr id="9" name="Rectangle 8"/>
          <p:cNvSpPr/>
          <p:nvPr/>
        </p:nvSpPr>
        <p:spPr>
          <a:xfrm>
            <a:off x="1153160" y="2667000"/>
            <a:ext cx="11474450" cy="711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153160" y="2667000"/>
            <a:ext cx="50800" cy="7112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56360" y="2730500"/>
            <a:ext cx="34290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ENUM  fahrrad_status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13960" y="2844800"/>
            <a:ext cx="1219200" cy="355600"/>
          </a:xfrm>
          <a:prstGeom prst="roundRect">
            <a:avLst/>
          </a:prstGeom>
          <a:solidFill>
            <a:srgbClr val="558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6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60160" y="2844800"/>
            <a:ext cx="1219200" cy="355600"/>
          </a:xfrm>
          <a:prstGeom prst="roundRect">
            <a:avLst/>
          </a:prstGeom>
          <a:solidFill>
            <a:srgbClr val="BE2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600" b="1">
                <a:solidFill>
                  <a:srgbClr val="FFFFFF"/>
                </a:solidFill>
              </a:rPr>
              <a:t>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06359" y="2844800"/>
            <a:ext cx="1219200" cy="355600"/>
          </a:xfrm>
          <a:prstGeom prst="roundRect">
            <a:avLst/>
          </a:prstGeom>
          <a:solidFill>
            <a:srgbClr val="BE2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600" b="1">
                <a:solidFill>
                  <a:srgbClr val="FFFFFF"/>
                </a:solidFill>
              </a:rPr>
              <a:t>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8760" y="2730500"/>
            <a:ext cx="337185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55148"/>
                </a:solidFill>
              </a:rPr>
              <a:t>verfuegbar, ausgeliehen, wartung, defekt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53160" y="3479800"/>
            <a:ext cx="11474450" cy="711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153160" y="3479800"/>
            <a:ext cx="50800" cy="7112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356360" y="3543300"/>
            <a:ext cx="34290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Referenztabelle  entgeltart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13960" y="3657600"/>
            <a:ext cx="1219200" cy="355600"/>
          </a:xfrm>
          <a:prstGeom prst="roundRect">
            <a:avLst/>
          </a:prstGeom>
          <a:solidFill>
            <a:srgbClr val="BE2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600" b="1">
                <a:solidFill>
                  <a:srgbClr val="FFFFFF"/>
                </a:solidFill>
              </a:rPr>
              <a:t>×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60160" y="3657600"/>
            <a:ext cx="1219200" cy="355600"/>
          </a:xfrm>
          <a:prstGeom prst="roundRect">
            <a:avLst/>
          </a:prstGeom>
          <a:solidFill>
            <a:srgbClr val="558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6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06359" y="3657600"/>
            <a:ext cx="1219200" cy="355600"/>
          </a:xfrm>
          <a:prstGeom prst="roundRect">
            <a:avLst/>
          </a:prstGeom>
          <a:solidFill>
            <a:srgbClr val="558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6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28760" y="3543300"/>
            <a:ext cx="337185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55148"/>
                </a:solidFill>
              </a:rPr>
              <a:t>trägt vorzeichen: belastet oder entlastet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53160" y="4876800"/>
            <a:ext cx="11474450" cy="1346200"/>
          </a:xfrm>
          <a:prstGeom prst="rect">
            <a:avLst/>
          </a:prstGeom>
          <a:solidFill>
            <a:srgbClr val="F7F5E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153160" y="4876800"/>
            <a:ext cx="50800" cy="13462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356360" y="5003800"/>
            <a:ext cx="11093450" cy="1092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003E6E"/>
                </a:solidFill>
              </a:rPr>
              <a:t>Warum entgeltart kein ENUM ist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Die Preisfindung wertet das Attribut vorzeichen aus. Als ENUM müsste die Anwendung wissen, welche Art belastet und welche entlastet —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das Wissen läge dann im Code statt in den Daten.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Sieben von zehn Regeln erzwingt die Datenbank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5 · Physischer Entwurf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Fallstudie VeloCity, Schema velocity auf supabase.butscher.cloud. Quellen im Repository unter doku/datenmodell/.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1143000"/>
            <a:ext cx="11557000" cy="939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Jede Regel, die nicht in einem Constraint, einem Index oder einer Funktion steht, wird früher oder später verletzt. Die drei übrigen brauchen Kontext, den ein Constraint nicht hat.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3160" y="2362200"/>
            <a:ext cx="1651000" cy="3810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Regel</a:t>
            </a:r>
          </a:p>
        </p:txBody>
      </p:sp>
      <p:sp>
        <p:nvSpPr>
          <p:cNvPr id="7" name="Rectangle 6"/>
          <p:cNvSpPr/>
          <p:nvPr/>
        </p:nvSpPr>
        <p:spPr>
          <a:xfrm>
            <a:off x="2804160" y="2362200"/>
            <a:ext cx="6350000" cy="3810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Umsetzung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9154160" y="2362200"/>
            <a:ext cx="3473450" cy="3810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Ort</a:t>
            </a:r>
          </a:p>
        </p:txBody>
      </p:sp>
      <p:sp>
        <p:nvSpPr>
          <p:cNvPr id="9" name="Rectangle 8"/>
          <p:cNvSpPr/>
          <p:nvPr/>
        </p:nvSpPr>
        <p:spPr>
          <a:xfrm>
            <a:off x="1153160" y="2743200"/>
            <a:ext cx="1651000" cy="3810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GR1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04160" y="2743200"/>
            <a:ext cx="6350000" cy="3810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CREATE UNIQUE INDEX … WHERE status = 'aktiv'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54160" y="2743200"/>
            <a:ext cx="3473450" cy="3810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partieller Index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53160" y="3124200"/>
            <a:ext cx="1651000" cy="381000"/>
          </a:xfrm>
          <a:prstGeom prst="rect">
            <a:avLst/>
          </a:prstGeom>
          <a:solidFill>
            <a:srgbClr val="E3DED1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GR3, GR4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04160" y="3124200"/>
            <a:ext cx="6350000" cy="381000"/>
          </a:xfrm>
          <a:prstGeom prst="rect">
            <a:avLst/>
          </a:prstGeom>
          <a:solidFill>
            <a:srgbClr val="E3DED1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  <a:latin typeface="Consolas"/>
              </a:rPr>
              <a:t>EXCLUDE USING gist (… WITH =, … WITH &amp;&amp;)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54160" y="3124200"/>
            <a:ext cx="3473450" cy="381000"/>
          </a:xfrm>
          <a:prstGeom prst="rect">
            <a:avLst/>
          </a:prstGeom>
          <a:solidFill>
            <a:srgbClr val="E3DED1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Constraint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53160" y="3505200"/>
            <a:ext cx="1651000" cy="3810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GR6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04160" y="3505200"/>
            <a:ext cx="6350000" cy="3810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GENERATED ALWAYS AS (ceil(…)) STORED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54160" y="3505200"/>
            <a:ext cx="3473450" cy="3810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berechnete Spalte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53160" y="3886200"/>
            <a:ext cx="1651000" cy="381000"/>
          </a:xfrm>
          <a:prstGeom prst="rect">
            <a:avLst/>
          </a:prstGeom>
          <a:solidFill>
            <a:srgbClr val="E3DED1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GR7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04160" y="3886200"/>
            <a:ext cx="6350000" cy="381000"/>
          </a:xfrm>
          <a:prstGeom prst="rect">
            <a:avLst/>
          </a:prstGeom>
          <a:solidFill>
            <a:srgbClr val="E3DED1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  <a:latin typeface="Consolas"/>
              </a:rPr>
              <a:t>CHECK (verbraucht &lt;= kontingent)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54160" y="3886200"/>
            <a:ext cx="3473450" cy="381000"/>
          </a:xfrm>
          <a:prstGeom prst="rect">
            <a:avLst/>
          </a:prstGeom>
          <a:solidFill>
            <a:srgbClr val="E3DED1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Constraint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53160" y="4267200"/>
            <a:ext cx="1651000" cy="3810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GR10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04160" y="4267200"/>
            <a:ext cx="6350000" cy="3810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UNIQUE (kunde_id, periode_jahr, periode_monat)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54160" y="4267200"/>
            <a:ext cx="3473450" cy="3810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Constraint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53160" y="4648200"/>
            <a:ext cx="1651000" cy="381000"/>
          </a:xfrm>
          <a:prstGeom prst="rect">
            <a:avLst/>
          </a:prstGeom>
          <a:solidFill>
            <a:srgbClr val="E3DED1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GR2, GR5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04160" y="4648200"/>
            <a:ext cx="6350000" cy="381000"/>
          </a:xfrm>
          <a:prstGeom prst="rect">
            <a:avLst/>
          </a:prstGeom>
          <a:solidFill>
            <a:srgbClr val="E3DED1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Prüfung in fn_ausleihe_starten / _beenden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54160" y="4648200"/>
            <a:ext cx="3473450" cy="381000"/>
          </a:xfrm>
          <a:prstGeom prst="rect">
            <a:avLst/>
          </a:prstGeom>
          <a:solidFill>
            <a:srgbClr val="E3DED1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Funktion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53160" y="5029200"/>
            <a:ext cx="1651000" cy="3810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GR8, GR9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04160" y="5029200"/>
            <a:ext cx="6350000" cy="3810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Prüfung in der api_-Schicht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54160" y="5029200"/>
            <a:ext cx="3473450" cy="3810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Funktion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EXCLUDE verhindert, was UNIQUE nicht kann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5 · Physischer Entwurf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Fallstudie VeloCity, Schema velocity auf supabase.butscher.cloud. Quellen im Repository unter doku/datenmodell/.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1143000"/>
            <a:ext cx="11557000" cy="939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Ein UNIQUE kennt nur Gleichheit. Für „diese Zeiträume dürfen sich nicht überschneiden“ braucht es einen Operator, der Ueberlappung prüfen kann.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3160" y="2311400"/>
            <a:ext cx="5524500" cy="3175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1153160" y="2311400"/>
            <a:ext cx="50800" cy="31750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330960" y="2425700"/>
            <a:ext cx="5194300" cy="294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003E6E"/>
                </a:solidFill>
              </a:rPr>
              <a:t>Der Constraint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constraint nutzungspreis_ueberschneidung_ex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exclude using gist (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  typ_id      with =,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  gueltigkeit with &amp;&amp;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)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/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Zu lesen als: es darf keine zwei Zeilen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geben, bei denen typ_id gleich UND die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Zeiträume überlappend sind.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96759" y="2311400"/>
            <a:ext cx="5524500" cy="3175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096759" y="2311400"/>
            <a:ext cx="50800" cy="3175000"/>
          </a:xfrm>
          <a:prstGeom prst="rect">
            <a:avLst/>
          </a:prstGeom>
          <a:solidFill>
            <a:srgbClr val="ED70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274559" y="2425700"/>
            <a:ext cx="5194300" cy="294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ED7004"/>
                </a:solidFill>
              </a:rPr>
              <a:t>Zwei Fallstricke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1  Voraussetzung btree_gist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 Ohne die Erweiterung fehlt bigint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 die Operatorklasse für gist: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 „data type bigint has no default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  operator class for access method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  gist“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/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2  Halboffene Grenzen '[)'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 Sonst ist der Wechseltag doppelt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 belegt und der Constraint schlägt an.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Warum das Mindestalter kein CHECK sein darf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5 · Physischer Entwurf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Fallstudie VeloCity, Schema velocity auf supabase.butscher.cloud. Quellen im Repository unter doku/datenmodell/.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1143000"/>
            <a:ext cx="11557000" cy="939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Naheliegend wäre eine Bedingung mit current_date. PostgreSQL akzeptiert sie sogar. Trotzdem ist sie falsch — und der Grund zeigt, was ein CHECK eigentlich ist.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3160" y="2311400"/>
            <a:ext cx="5524500" cy="3175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1153160" y="2311400"/>
            <a:ext cx="50800" cy="3175000"/>
          </a:xfrm>
          <a:prstGeom prst="rect">
            <a:avLst/>
          </a:prstGeom>
          <a:solidFill>
            <a:srgbClr val="BE2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330960" y="2425700"/>
            <a:ext cx="5194300" cy="294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BE2344"/>
                </a:solidFill>
              </a:rPr>
              <a:t>Verlockend und falsch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check (geburtsdatum &lt;=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     current_date - interval '16 years')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/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current_date ist nicht IMMUTABLE.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/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Ein CHECK wird beim Schreiben geprüft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UND beim Wiedereinspielen eines Dumps.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/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Ein Kunde, der bei der Anmeldung 16 war,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bleibt es. Eine Bedingung, die sich auf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„heute“ bezieht, kann den Restore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abbrechen lassen.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96759" y="2311400"/>
            <a:ext cx="5524500" cy="3175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096759" y="2311400"/>
            <a:ext cx="50800" cy="3175000"/>
          </a:xfrm>
          <a:prstGeom prst="rect">
            <a:avLst/>
          </a:prstGeom>
          <a:solidFill>
            <a:srgbClr val="558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274559" y="2425700"/>
            <a:ext cx="5194300" cy="294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55801C"/>
                </a:solidFill>
              </a:rPr>
              <a:t>Richtig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-- auf der Tabelle: nur immutable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check (geburtsdatum is null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 or geburtsdatum between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    date '1900-01-01'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and date '2100-01-01')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/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-- die Altersregel in der Funktion: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if p_geburtsdatum &gt;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 current_date - interval '16 years'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then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return 'Mindestalter nicht erreicht';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end if;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53160" y="5562600"/>
            <a:ext cx="11474450" cy="660400"/>
          </a:xfrm>
          <a:prstGeom prst="rect">
            <a:avLst/>
          </a:prstGeom>
          <a:solidFill>
            <a:srgbClr val="E3D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356360" y="5638800"/>
            <a:ext cx="11068050" cy="50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003E6E"/>
                </a:solidFill>
              </a:rPr>
              <a:t>Merksatz: Ein CHECK darf nur von der Zeile selbst abhängen — und von nichts, was sich mit der Zeit ändert.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 · Implementierung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Zwölf Aufbauschritte, jeder für sich lauffähig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6 · Implementierung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Fallstudie VeloCity, Schema velocity auf supabase.butscher.cloud. Quellen im Repository unter doku/datenmodell/.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1143000"/>
            <a:ext cx="11557000" cy="939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Jede Datei ist idempotent: sie läuft zweimal hintereinander fehlerfrei. Das ist keine Spielerei, sondern die Voraussetzung dafür, dass man einen Aufbau gefahrlos wiederholen kann.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3160" y="2362200"/>
            <a:ext cx="11474450" cy="6096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50800" rIns="203200" bIns="50800"/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FFFFFF"/>
                </a:solidFill>
              </a:rPr>
              <a:t>0001 Schema, Erweiterungen, Aufzählungstypen, Audit-Mechanik</a:t>
            </a:r>
          </a:p>
        </p:txBody>
      </p:sp>
      <p:sp>
        <p:nvSpPr>
          <p:cNvPr id="7" name="Isosceles Triangle 6"/>
          <p:cNvSpPr/>
          <p:nvPr/>
        </p:nvSpPr>
        <p:spPr>
          <a:xfrm rot="10800000">
            <a:off x="6801484" y="2984500"/>
            <a:ext cx="177800" cy="101600"/>
          </a:xfrm>
          <a:prstGeom prst="triangle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153160" y="3098800"/>
            <a:ext cx="1147445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50800" rIns="203200" bIns="50800"/>
          <a:lstStyle/>
          <a:p>
            <a:pPr algn="l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0002 bis 0007 · die sechs Fachbereiche A bis F, 25 Tabellen</a:t>
            </a:r>
          </a:p>
        </p:txBody>
      </p:sp>
      <p:sp>
        <p:nvSpPr>
          <p:cNvPr id="9" name="Isosceles Triangle 8"/>
          <p:cNvSpPr/>
          <p:nvPr/>
        </p:nvSpPr>
        <p:spPr>
          <a:xfrm rot="10800000">
            <a:off x="6801484" y="3721100"/>
            <a:ext cx="177800" cy="101600"/>
          </a:xfrm>
          <a:prstGeom prst="triangle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153160" y="3835400"/>
            <a:ext cx="1147445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50800" rIns="203200" bIns="50800"/>
          <a:lstStyle/>
          <a:p>
            <a:pPr algn="l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0008 Referenzdaten: Entgeltarten, Preise, Tarife, Inhalte</a:t>
            </a:r>
          </a:p>
        </p:txBody>
      </p:sp>
      <p:sp>
        <p:nvSpPr>
          <p:cNvPr id="11" name="Isosceles Triangle 10"/>
          <p:cNvSpPr/>
          <p:nvPr/>
        </p:nvSpPr>
        <p:spPr>
          <a:xfrm rot="10800000">
            <a:off x="6801484" y="4457700"/>
            <a:ext cx="177800" cy="101600"/>
          </a:xfrm>
          <a:prstGeom prst="triangle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153160" y="4572000"/>
            <a:ext cx="11474450" cy="6096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50800" rIns="203200" bIns="50800"/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FFFFFF"/>
                </a:solidFill>
              </a:rPr>
              <a:t>0009 Geschäftslogik: fn_-Fachlogik und api_-Zugriffsschicht</a:t>
            </a:r>
          </a:p>
        </p:txBody>
      </p:sp>
      <p:sp>
        <p:nvSpPr>
          <p:cNvPr id="13" name="Isosceles Triangle 12"/>
          <p:cNvSpPr/>
          <p:nvPr/>
        </p:nvSpPr>
        <p:spPr>
          <a:xfrm rot="10800000">
            <a:off x="6801484" y="5194300"/>
            <a:ext cx="177800" cy="101600"/>
          </a:xfrm>
          <a:prstGeom prst="triangle">
            <a:avLst/>
          </a:prstGeom>
          <a:solidFill>
            <a:srgbClr val="C9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1153160" y="5308600"/>
            <a:ext cx="11474450" cy="6096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50800" rIns="203200" bIns="50800"/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FFFFFF"/>
                </a:solidFill>
              </a:rPr>
              <a:t>0010 Sichten · 0011 Zugriffsschutz · 0012 Data Dictionary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 Preisfindung als Folge sichtbarer Positionen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6 · Implementierung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Fallstudie VeloCity, Schema velocity auf supabase.butscher.cloud. Quellen im Repository unter doku/datenmodell/.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1143000"/>
            <a:ext cx="11557000" cy="939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Das Zeitentgelt wird über ALLE Minuten gebildet und die Freiminuten als eigene Gutschrift abgezogen. So ist auf der Rechnung ablesbar, was der Tarifvorteil wert war.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3160" y="2311400"/>
            <a:ext cx="2413000" cy="3810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Position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6160" y="2311400"/>
            <a:ext cx="1143000" cy="3810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Menge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2311400"/>
            <a:ext cx="1651000" cy="3810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Einzelbetrag</a:t>
            </a:r>
          </a:p>
        </p:txBody>
      </p:sp>
      <p:sp>
        <p:nvSpPr>
          <p:cNvPr id="9" name="Rectangle 8"/>
          <p:cNvSpPr/>
          <p:nvPr/>
        </p:nvSpPr>
        <p:spPr>
          <a:xfrm>
            <a:off x="6360160" y="2311400"/>
            <a:ext cx="1524000" cy="3810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Betrag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84159" y="2311400"/>
            <a:ext cx="4743450" cy="3810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Beispiel 61 Minuten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53160" y="2692400"/>
            <a:ext cx="2413000" cy="3810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STARTGEBUEHR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2692400"/>
            <a:ext cx="1143000" cy="3810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2692400"/>
            <a:ext cx="1651000" cy="3810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0,10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0160" y="2692400"/>
            <a:ext cx="1524000" cy="3810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+ 0,10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84159" y="2692400"/>
            <a:ext cx="4743450" cy="3810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Startgebühr City-Bike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53160" y="3073400"/>
            <a:ext cx="2413000" cy="381000"/>
          </a:xfrm>
          <a:prstGeom prst="rect">
            <a:avLst/>
          </a:prstGeom>
          <a:solidFill>
            <a:srgbClr val="E3DED1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ZEITENTGELT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6160" y="3073400"/>
            <a:ext cx="1143000" cy="381000"/>
          </a:xfrm>
          <a:prstGeom prst="rect">
            <a:avLst/>
          </a:prstGeom>
          <a:solidFill>
            <a:srgbClr val="E3DED1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09160" y="3073400"/>
            <a:ext cx="1651000" cy="381000"/>
          </a:xfrm>
          <a:prstGeom prst="rect">
            <a:avLst/>
          </a:prstGeom>
          <a:solidFill>
            <a:srgbClr val="E3DED1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0,10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0160" y="3073400"/>
            <a:ext cx="1524000" cy="381000"/>
          </a:xfrm>
          <a:prstGeom prst="rect">
            <a:avLst/>
          </a:prstGeom>
          <a:solidFill>
            <a:srgbClr val="E3DED1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+ 6,10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84159" y="3073400"/>
            <a:ext cx="4743450" cy="381000"/>
          </a:xfrm>
          <a:prstGeom prst="rect">
            <a:avLst/>
          </a:prstGeom>
          <a:solidFill>
            <a:srgbClr val="E3DED1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alle gefahrenen Minuten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53160" y="3454400"/>
            <a:ext cx="2413000" cy="3810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FREIMINUTEN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66160" y="3454400"/>
            <a:ext cx="1143000" cy="3810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30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9160" y="3454400"/>
            <a:ext cx="1651000" cy="3810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0,10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60160" y="3454400"/>
            <a:ext cx="1524000" cy="3810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− 3,00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84159" y="3454400"/>
            <a:ext cx="4743450" cy="3810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Gutschrift aus dem Tarif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53160" y="3835400"/>
            <a:ext cx="2413000" cy="381000"/>
          </a:xfrm>
          <a:prstGeom prst="rect">
            <a:avLst/>
          </a:prstGeom>
          <a:solidFill>
            <a:srgbClr val="E3DED1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TARIFRABATT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66160" y="3835400"/>
            <a:ext cx="1143000" cy="381000"/>
          </a:xfrm>
          <a:prstGeom prst="rect">
            <a:avLst/>
          </a:prstGeom>
          <a:solidFill>
            <a:srgbClr val="E3DED1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09160" y="3835400"/>
            <a:ext cx="1651000" cy="381000"/>
          </a:xfrm>
          <a:prstGeom prst="rect">
            <a:avLst/>
          </a:prstGeom>
          <a:solidFill>
            <a:srgbClr val="E3DED1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20 %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60160" y="3835400"/>
            <a:ext cx="1524000" cy="381000"/>
          </a:xfrm>
          <a:prstGeom prst="rect">
            <a:avLst/>
          </a:prstGeom>
          <a:solidFill>
            <a:srgbClr val="E3DED1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− 0,64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84159" y="3835400"/>
            <a:ext cx="4743450" cy="381000"/>
          </a:xfrm>
          <a:prstGeom prst="rect">
            <a:avLst/>
          </a:prstGeom>
          <a:solidFill>
            <a:srgbClr val="E3DED1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auf die Zwischensumme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53160" y="4216400"/>
            <a:ext cx="2413000" cy="3810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HOECHSTPREIS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66160" y="4216400"/>
            <a:ext cx="1143000" cy="3810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09160" y="4216400"/>
            <a:ext cx="1651000" cy="3810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60160" y="4216400"/>
            <a:ext cx="1524000" cy="3810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− 0,00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84159" y="4216400"/>
            <a:ext cx="4743450" cy="381000"/>
          </a:xfrm>
          <a:prstGeom prst="rect">
            <a:avLst/>
          </a:prstGeom>
          <a:solidFill>
            <a:srgbClr val="F7F5EF"/>
          </a:solidFill>
          <a:ln w="6350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404040"/>
                </a:solidFill>
              </a:rPr>
              <a:t>erst über der Obergrenze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53160" y="4775200"/>
            <a:ext cx="11474450" cy="660400"/>
          </a:xfrm>
          <a:prstGeom prst="rect">
            <a:avLst/>
          </a:prstGeom>
          <a:solidFill>
            <a:srgbClr val="E3D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356360" y="4851400"/>
            <a:ext cx="11068050" cy="50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003E6E"/>
                </a:solidFill>
              </a:rPr>
              <a:t>Reihenfolge: Rabatt VOR der Kappung. Umgekehrt würde der Rabatt den bereits gedeckelten Betrag ein zweites Mal senken.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Dokumentation, die nicht veralten kann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6 · Implementierung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Fallstudie VeloCity, Schema velocity auf supabase.butscher.cloud. Quellen im Repository unter doku/datenmodell/.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1143000"/>
            <a:ext cx="11557000" cy="939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Ein Data Dictionary, das von Hand gepflegt wird, ist nach dem zweiten Release falsch. Die Lösung ist, es aus dem Systemkatalog zu erzeugen — und die Vollständigkeit maschinell zu erzwingen.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3160" y="2311400"/>
            <a:ext cx="5524500" cy="3175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1153160" y="2311400"/>
            <a:ext cx="50800" cy="31750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330960" y="2425700"/>
            <a:ext cx="5194300" cy="294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003E6E"/>
                </a:solidFill>
              </a:rPr>
              <a:t>Beschreibung an das Objekt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comment on column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velocity.fahrrad_position.station_id is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'NULL bedeutet: das Rad steht frei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 abgestellt, nicht an einer Station';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/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comment on column velocity.kunde.geburtsdatum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is 'Grundlage der Altersgrenze. Geprüft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    in api_profil_aktualisieren, nicht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    per CHECK: current_date ist nicht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    immutable.';</a:t>
            </a:r>
          </a:p>
        </p:txBody>
      </p:sp>
      <p:sp>
        <p:nvSpPr>
          <p:cNvPr id="9" name="Rectangle 8"/>
          <p:cNvSpPr/>
          <p:nvPr/>
        </p:nvSpPr>
        <p:spPr>
          <a:xfrm>
            <a:off x="7096759" y="2311400"/>
            <a:ext cx="5524500" cy="3175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096759" y="2311400"/>
            <a:ext cx="50800" cy="3175000"/>
          </a:xfrm>
          <a:prstGeom prst="rect">
            <a:avLst/>
          </a:prstGeom>
          <a:solidFill>
            <a:srgbClr val="558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274559" y="2425700"/>
            <a:ext cx="5194300" cy="294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55801C"/>
                </a:solidFill>
              </a:rPr>
              <a:t>Vollständigkeit erzwingen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-- Test schlägt fehl, solange eine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-- Fachspalte ohne Kommentar ist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select string_agg(c.relname||'.'||a.attname, ', ')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from pg_class c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join pg_attribute a on a.attrelid = c.oid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where col_description(c.oid, a.attnum) is null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 and a.attname not in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     ('erstellt_am','geaendert_am');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/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316 Spalten, 264 mit Beschreibung,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52 technische Audit-Spalten ausgenommen.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 · Zugriffsschutz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Der Schlüssel im Browser ist kein Geheimnis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7 · Zugriffsschutz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Fallstudie VeloCity, Schema velocity auf supabase.butscher.cloud. Quellen im Repository unter doku/datenmodell/.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1143000"/>
            <a:ext cx="11557000" cy="939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Supabase liefert den anon-Key an jeden Besucher aus. Er steht im Quelltext der Seite. Jeder kann damit beliebige Anfragen stellen — mit curl, ohne die Website je zu öffnen.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3160" y="2362200"/>
            <a:ext cx="11474450" cy="1346200"/>
          </a:xfrm>
          <a:prstGeom prst="rect">
            <a:avLst/>
          </a:prstGeom>
          <a:solidFill>
            <a:srgbClr val="F7F5E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1153160" y="2362200"/>
            <a:ext cx="50800" cy="1346200"/>
          </a:xfrm>
          <a:prstGeom prst="rect">
            <a:avLst/>
          </a:prstGeom>
          <a:solidFill>
            <a:srgbClr val="A3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356360" y="2489200"/>
            <a:ext cx="11093450" cy="1092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A32638"/>
                </a:solidFill>
              </a:rPr>
              <a:t>Daraus folgt zwingend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Jede Zugriffsbeschränkung, die im JavaScript steht, ist wirkungslos.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Der Schutz muss in der Datenbank liegen: in Rechten, in Row Level Security und in Sichten, die nur zeigen, was öffentlich sein darf.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53160" y="3810000"/>
            <a:ext cx="5524500" cy="24384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153160" y="3810000"/>
            <a:ext cx="50800" cy="2438400"/>
          </a:xfrm>
          <a:prstGeom prst="rect">
            <a:avLst/>
          </a:prstGeom>
          <a:solidFill>
            <a:srgbClr val="BE2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30960" y="3924300"/>
            <a:ext cx="5194300" cy="2209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BE2344"/>
                </a:solidFill>
              </a:rPr>
              <a:t>Das Antipattern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create policy "alles für alle"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on kunde for all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to anon, authenticated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using (true) with check (true);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/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Folge: jeder mit dem öffentlichen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Schlüssel liest UND ändert sämtliche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Kundendaten.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96759" y="3810000"/>
            <a:ext cx="5524500" cy="24384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7096759" y="3810000"/>
            <a:ext cx="50800" cy="2438400"/>
          </a:xfrm>
          <a:prstGeom prst="rect">
            <a:avLst/>
          </a:prstGeom>
          <a:solidFill>
            <a:srgbClr val="558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274559" y="3924300"/>
            <a:ext cx="5194300" cy="2209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55801C"/>
                </a:solidFill>
              </a:rPr>
              <a:t>Die Grundhaltung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-- RLS auf jeder Basistabelle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alter table … enable row level security;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/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-- keine Policy für anon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-- Lesen nur über v_-Sichten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-- Schreiben nur über api_-Funktionen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/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default deny: was nicht ausdrücklich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erlaubt ist, ist verboten.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 Falle, die fast jeder übersieht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7 · Zugriffsschutz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Fallstudie VeloCity, Schema velocity auf supabase.butscher.cloud. Quellen im Repository unter doku/datenmodell/.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1143000"/>
            <a:ext cx="11557000" cy="939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PostgreSQL vergibt das Ausführungsrecht auf jede neu angelegte Funktion automatisch an die Rolle PUBLIC. Ein Entzug gegen einzelne Rollen greift deshalb nicht.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3160" y="2311400"/>
            <a:ext cx="5524500" cy="3175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1153160" y="2311400"/>
            <a:ext cx="50800" cy="3175000"/>
          </a:xfrm>
          <a:prstGeom prst="rect">
            <a:avLst/>
          </a:prstGeom>
          <a:solidFill>
            <a:srgbClr val="BE2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330960" y="2425700"/>
            <a:ext cx="5194300" cy="294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BE2344"/>
                </a:solidFill>
              </a:rPr>
              <a:t>Wirkungslos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revoke all on all functions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in schema velocity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from anon, authenticated;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/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anon und authenticated erben das Recht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weiterhin über PUBLIC.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/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Folge: die interne Fachlogik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fn_ausleihe_beenden bleibt aufrufbar —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und die prüft selbst NICHT auf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auth.uid(), weil das die Schicht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darüber tut.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96759" y="2311400"/>
            <a:ext cx="5524500" cy="3175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096759" y="2311400"/>
            <a:ext cx="50800" cy="3175000"/>
          </a:xfrm>
          <a:prstGeom prst="rect">
            <a:avLst/>
          </a:prstGeom>
          <a:solidFill>
            <a:srgbClr val="558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274559" y="2425700"/>
            <a:ext cx="5194300" cy="294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55801C"/>
                </a:solidFill>
              </a:rPr>
              <a:t>Wirksam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revoke all on all functions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in schema velocity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from public, anon, authenticated;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/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alter default privileges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in schema velocity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revoke execute on functions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from public;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/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Die zweite Anweisung verhindert den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Rückfall bei künftigen Funktionen.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53160" y="5562600"/>
            <a:ext cx="11474450" cy="660400"/>
          </a:xfrm>
          <a:prstGeom prst="rect">
            <a:avLst/>
          </a:prstGeom>
          <a:solidFill>
            <a:srgbClr val="E3D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356360" y="5638800"/>
            <a:ext cx="11068050" cy="50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003E6E"/>
                </a:solidFill>
              </a:rPr>
              <a:t>Aufgedeckt hat das ein Test, nicht Nachdenken. Rechte werden geprüft, nicht angenommen.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Nachweis statt Behauptung — auf drei Wegen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7 · Zugriffsschutz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Fallstudie VeloCity, Schema velocity auf supabase.butscher.cloud. Quellen im Repository unter doku/datenmodell/.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1143000"/>
            <a:ext cx="11557000" cy="939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Ein Sicherheitskonzept, das nur beschrieben ist, ist wertlos. Geprüft wird in der Datenbank, über die Schnittstelle und im Browser.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3160" y="2438400"/>
            <a:ext cx="1147445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1153160" y="2438400"/>
            <a:ext cx="50800" cy="6858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330960" y="2616200"/>
            <a:ext cx="330200" cy="330200"/>
          </a:xfrm>
          <a:prstGeom prst="ellipse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8160" y="2514600"/>
            <a:ext cx="7918450" cy="533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In der Datenbank  </a:t>
            </a:r>
            <a:r>
              <a:rPr sz="1300">
                <a:solidFill>
                  <a:srgbClr val="404040"/>
                </a:solidFill>
              </a:rPr>
              <a:t>RLS überall aktiv, anon ohne Tabellenrechte, Rollenwechsel-Probe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35210" y="2552700"/>
            <a:ext cx="2540000" cy="457200"/>
          </a:xfrm>
          <a:prstGeom prst="roundRect">
            <a:avLst/>
          </a:prstGeom>
          <a:solidFill>
            <a:srgbClr val="E3D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55148"/>
                </a:solidFill>
                <a:latin typeface="Consolas"/>
              </a:rPr>
              <a:t>pgTAP, t0011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53160" y="3225800"/>
            <a:ext cx="1147445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153160" y="3225800"/>
            <a:ext cx="50800" cy="6858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330960" y="3403600"/>
            <a:ext cx="330200" cy="330200"/>
          </a:xfrm>
          <a:prstGeom prst="ellipse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8160" y="3302000"/>
            <a:ext cx="7918450" cy="533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Ueber die Schnittstelle  </a:t>
            </a:r>
            <a:r>
              <a:rPr sz="1300">
                <a:solidFill>
                  <a:srgbClr val="404040"/>
                </a:solidFill>
              </a:rPr>
              <a:t>13 gesperrte Ressourcen, 7 öffentliche Sichten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935210" y="3340100"/>
            <a:ext cx="2540000" cy="457200"/>
          </a:xfrm>
          <a:prstGeom prst="roundRect">
            <a:avLst/>
          </a:prstGeom>
          <a:solidFill>
            <a:srgbClr val="E3D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55148"/>
                </a:solidFill>
                <a:latin typeface="Consolas"/>
              </a:rPr>
              <a:t>HTTP 401 gegen 200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53160" y="4013200"/>
            <a:ext cx="1147445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153160" y="4013200"/>
            <a:ext cx="50800" cy="6858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1330960" y="4191000"/>
            <a:ext cx="330200" cy="330200"/>
          </a:xfrm>
          <a:prstGeom prst="ellipse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8160" y="4089400"/>
            <a:ext cx="7918450" cy="533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Im Browser  </a:t>
            </a:r>
            <a:r>
              <a:rPr sz="1300">
                <a:solidFill>
                  <a:srgbClr val="404040"/>
                </a:solidFill>
              </a:rPr>
              <a:t>Aufrufe der abgemeldeten Seite in der Konsole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35210" y="4127500"/>
            <a:ext cx="2540000" cy="457200"/>
          </a:xfrm>
          <a:prstGeom prst="roundRect">
            <a:avLst/>
          </a:prstGeom>
          <a:solidFill>
            <a:srgbClr val="E3D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 rIns="101600" bIns="38100"/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55148"/>
                </a:solidFill>
                <a:latin typeface="Consolas"/>
              </a:rPr>
              <a:t>permission denied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53160" y="4826000"/>
            <a:ext cx="11474450" cy="1346200"/>
          </a:xfrm>
          <a:prstGeom prst="rect">
            <a:avLst/>
          </a:prstGeom>
          <a:solidFill>
            <a:srgbClr val="F7F5E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1153160" y="4826000"/>
            <a:ext cx="50800" cy="1346200"/>
          </a:xfrm>
          <a:prstGeom prst="rect">
            <a:avLst/>
          </a:prstGeom>
          <a:solidFill>
            <a:srgbClr val="A3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356360" y="4953000"/>
            <a:ext cx="11093450" cy="1092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A32638"/>
                </a:solidFill>
              </a:rPr>
              <a:t>Eine Falle im Prüfwerkzeug selbst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Der erste Entwurf meldete alle 13 gesperrten Ressourcen als bestanden — obwohl er nichts geprüft hatte: das Schema war gar nicht exponiert, also war alles unerreichbar, Sicheres wie Unsicheres.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Ein Test, der „abgesichert“ nicht von „gar nicht erreichbar“ unterscheidet, ist gefährlicher als kein Test.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 · Anwendung anbinden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Nur Sichten lesen, nur Funktionen schreiben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8 · Anwendung anbinden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Fallstudie VeloCity, Schema velocity auf supabase.butscher.cloud. Quellen im Repository unter doku/datenmodell/.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1143000"/>
            <a:ext cx="11557000" cy="939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Die Anwendung kennt keine einzige Basistabelle. Das ist keine Konvention, sondern erzwungen: sie käme gar nicht an sie heran.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3160" y="2311400"/>
            <a:ext cx="5524500" cy="3175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1153160" y="2311400"/>
            <a:ext cx="50800" cy="31750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330960" y="2425700"/>
            <a:ext cx="5194300" cy="294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003E6E"/>
                </a:solidFill>
              </a:rPr>
              <a:t>Lesen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from('v_station')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from('v_verfuegbares_fahrrad')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from('v_tarifkarte')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from('v_tarif')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from('v_faq')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from('v_nutzungsschritt')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from('v_kennzahl')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/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-- angemeldet: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from('v_meine_ausleihe')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from('v_mein_profil')</a:t>
            </a:r>
          </a:p>
        </p:txBody>
      </p:sp>
      <p:sp>
        <p:nvSpPr>
          <p:cNvPr id="9" name="Rectangle 8"/>
          <p:cNvSpPr/>
          <p:nvPr/>
        </p:nvSpPr>
        <p:spPr>
          <a:xfrm>
            <a:off x="7096759" y="2311400"/>
            <a:ext cx="5524500" cy="3175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096759" y="2311400"/>
            <a:ext cx="50800" cy="3175000"/>
          </a:xfrm>
          <a:prstGeom prst="rect">
            <a:avLst/>
          </a:prstGeom>
          <a:solidFill>
            <a:srgbClr val="558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274559" y="2425700"/>
            <a:ext cx="5194300" cy="294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55801C"/>
                </a:solidFill>
              </a:rPr>
              <a:t>Schreiben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rpc('api_kunde_sicherstellen')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rpc('api_ausleihe_starten')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rpc('api_ausleihe_beenden')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rpc('api_profil_aktualisieren')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/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-- nicht erreichbar: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from('kunde')        permission denied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from('ausleihe')     permission denied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rpc('fn_ausleihe_beenden')</a:t>
            </a:r>
          </a:p>
          <a:p>
            <a:pPr algn="l">
              <a:lnSpc>
                <a:spcPct val="95000"/>
              </a:lnSpc>
              <a:spcBef>
                <a:spcPts val="200"/>
              </a:spcBef>
            </a:pPr>
            <a:r>
              <a:rPr sz="1300" b="0">
                <a:solidFill>
                  <a:srgbClr val="404040"/>
                </a:solidFill>
                <a:latin typeface="Consolas"/>
              </a:rPr>
              <a:t>                     permission denied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 · Zusammenfassung und Ausblick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Sechs Sätze, die diese Einheit tragen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9 · Zusammenfassung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Fallstudie VeloCity, Schema velocity auf supabase.butscher.cloud. Quellen im Repository unter doku/datenmodell/.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1143000"/>
            <a:ext cx="11557000" cy="939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Wenn Sie nichts anderes mitnehmen, dann diese sechs. Jeder einzelne ist an einer Stelle des Modells belegt.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3160" y="2260600"/>
            <a:ext cx="1147445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1153160" y="2260600"/>
            <a:ext cx="50800" cy="5842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330960" y="2387600"/>
            <a:ext cx="330200" cy="330200"/>
          </a:xfrm>
          <a:prstGeom prst="ellipse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8160" y="2336800"/>
            <a:ext cx="10458450" cy="431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Reihenfolge  </a:t>
            </a:r>
            <a:r>
              <a:rPr sz="1300">
                <a:solidFill>
                  <a:srgbClr val="404040"/>
                </a:solidFill>
              </a:rPr>
              <a:t>Anforderungen vor Modell, Modell vor Relationen, Relationen vor DDL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53160" y="2908300"/>
            <a:ext cx="1147445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153160" y="2908300"/>
            <a:ext cx="50800" cy="5842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330960" y="3035300"/>
            <a:ext cx="330200" cy="330200"/>
          </a:xfrm>
          <a:prstGeom prst="ellipse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8160" y="2984500"/>
            <a:ext cx="10458450" cy="431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Kardinalität  </a:t>
            </a:r>
            <a:r>
              <a:rPr sz="1300">
                <a:solidFill>
                  <a:srgbClr val="404040"/>
                </a:solidFill>
              </a:rPr>
              <a:t>ist eine fachliche Aussage, keine technische Festlegung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53160" y="3556000"/>
            <a:ext cx="1147445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153160" y="3556000"/>
            <a:ext cx="50800" cy="5842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1330960" y="3683000"/>
            <a:ext cx="330200" cy="330200"/>
          </a:xfrm>
          <a:prstGeom prst="ellipse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8160" y="3632200"/>
            <a:ext cx="10458450" cy="431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Normalform  </a:t>
            </a:r>
            <a:r>
              <a:rPr sz="1300">
                <a:solidFill>
                  <a:srgbClr val="404040"/>
                </a:solidFill>
              </a:rPr>
              <a:t>ist notwendig, aber nicht hinreichend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53160" y="4203700"/>
            <a:ext cx="1147445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1153160" y="4203700"/>
            <a:ext cx="50800" cy="5842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1330960" y="4330700"/>
            <a:ext cx="330200" cy="330200"/>
          </a:xfrm>
          <a:prstGeom prst="ellipse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8160" y="4279900"/>
            <a:ext cx="10458450" cy="431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Constraint  </a:t>
            </a:r>
            <a:r>
              <a:rPr sz="1300">
                <a:solidFill>
                  <a:srgbClr val="404040"/>
                </a:solidFill>
              </a:rPr>
              <a:t>was nicht erzwungen wird, wird verletzt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53160" y="4851400"/>
            <a:ext cx="1147445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153160" y="4851400"/>
            <a:ext cx="50800" cy="5842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1330960" y="4978400"/>
            <a:ext cx="330200" cy="330200"/>
          </a:xfrm>
          <a:prstGeom prst="ellipse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8160" y="4927600"/>
            <a:ext cx="10458450" cy="431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Schutz  </a:t>
            </a:r>
            <a:r>
              <a:rPr sz="1300">
                <a:solidFill>
                  <a:srgbClr val="404040"/>
                </a:solidFill>
              </a:rPr>
              <a:t>liegt in der Datenbank, nie im Browser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53160" y="5499100"/>
            <a:ext cx="1147445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153160" y="5499100"/>
            <a:ext cx="50800" cy="5842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1330960" y="5626100"/>
            <a:ext cx="330200" cy="330200"/>
          </a:xfrm>
          <a:prstGeom prst="ellipse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88160" y="5575300"/>
            <a:ext cx="10458450" cy="431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Nachweis  </a:t>
            </a:r>
            <a:r>
              <a:rPr sz="1300">
                <a:solidFill>
                  <a:srgbClr val="404040"/>
                </a:solidFill>
              </a:rPr>
              <a:t>Rechte werden geprüft, nicht angenommen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Was die Warenwirtschaft ergänzt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9 · Ausblick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Fallstudie VeloCity, Schema velocity auf supabase.butscher.cloud. Quellen im Repository unter doku/datenmodell/.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1143000"/>
            <a:ext cx="11557000" cy="939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Vier weitere Fachbereiche sind bereits entworfen. Sie hängen an denselben Entitäten — deshalb war es richtig, hersteller und fahrradmodell schon jetzt einzuziehen.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3160" y="2311400"/>
            <a:ext cx="3545840" cy="2413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1153160" y="2311400"/>
            <a:ext cx="50800" cy="24130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330960" y="2438400"/>
            <a:ext cx="3215640" cy="2159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003E6E"/>
                </a:solidFill>
              </a:rPr>
              <a:t>G Beschaffung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lieferant, artikelgruppe, artikel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bestellung, bestellposition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wareneingang</a:t>
            </a:r>
          </a:p>
        </p:txBody>
      </p:sp>
      <p:sp>
        <p:nvSpPr>
          <p:cNvPr id="9" name="Rectangle 8"/>
          <p:cNvSpPr/>
          <p:nvPr/>
        </p:nvSpPr>
        <p:spPr>
          <a:xfrm>
            <a:off x="5113020" y="2311400"/>
            <a:ext cx="3545840" cy="2413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113020" y="2311400"/>
            <a:ext cx="50800" cy="24130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290820" y="2438400"/>
            <a:ext cx="3215640" cy="2159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003E6E"/>
                </a:solidFill>
              </a:rPr>
              <a:t>H Lager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lager, lagerbewegung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lagerbestand als Sicht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/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Bestand ist ein Aggregat von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Bewegungen, kein gepflegter Wert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81770" y="2311400"/>
            <a:ext cx="3545840" cy="2413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9081770" y="2311400"/>
            <a:ext cx="50800" cy="24130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259570" y="2438400"/>
            <a:ext cx="3215640" cy="2159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003E6E"/>
                </a:solidFill>
              </a:rPr>
              <a:t>I und J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schadensmeldung, wartungsauftrag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wartungsposition, fahrrad_ereignis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mitarbeiter, rolle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umsetzungsauftrag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53160" y="5029200"/>
            <a:ext cx="11474450" cy="838200"/>
          </a:xfrm>
          <a:prstGeom prst="rect">
            <a:avLst/>
          </a:prstGeom>
          <a:solidFill>
            <a:srgbClr val="E3D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356360" y="5105400"/>
            <a:ext cx="1106805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003E6E"/>
                </a:solidFill>
              </a:rPr>
              <a:t>Anschlussstellen: fahrrad zu Schadensmeldung und Wartung, station zum Umsetzungsauftrag, adresse zu Lieferant und Lager.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rts">
  <a:themeElements>
    <a:clrScheme name="THWS_Robert">
      <a:dk1>
        <a:srgbClr val="404040"/>
      </a:dk1>
      <a:lt1>
        <a:sysClr val="window" lastClr="FFFFFF"/>
      </a:lt1>
      <a:dk2>
        <a:srgbClr val="455F51"/>
      </a:dk2>
      <a:lt2>
        <a:srgbClr val="E3DED1"/>
      </a:lt2>
      <a:accent1>
        <a:srgbClr val="FFB414"/>
      </a:accent1>
      <a:accent2>
        <a:srgbClr val="8AB833"/>
      </a:accent2>
      <a:accent3>
        <a:srgbClr val="ED7004"/>
      </a:accent3>
      <a:accent4>
        <a:srgbClr val="BE2344"/>
      </a:accent4>
      <a:accent5>
        <a:srgbClr val="4AB5C4"/>
      </a:accent5>
      <a:accent6>
        <a:srgbClr val="003E6E"/>
      </a:accent6>
      <a:hlink>
        <a:srgbClr val="FF6A00"/>
      </a:hlink>
      <a:folHlink>
        <a:srgbClr val="BA6906"/>
      </a:folHlink>
    </a:clrScheme>
    <a:fontScheme name="THWS">
      <a:majorFont>
        <a:latin typeface="GT Planar Medium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3">
            <a:lumMod val="40000"/>
            <a:lumOff val="60000"/>
            <a:alpha val="55000"/>
          </a:schemeClr>
        </a:solidFill>
        <a:ln>
          <a:solidFill>
            <a:schemeClr val="accent3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6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4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WS_Template.potx" id="{7D4CAB56-644B-4620-9DBD-B3DC4FAD0B62}" vid="{2FC5F2A7-6CC2-403A-823C-2B7F53869712}"/>
    </a:ext>
  </a:extLst>
</a:theme>
</file>

<file path=ppt/theme/theme2.xml><?xml version="1.0" encoding="utf-8"?>
<a:theme xmlns:a="http://schemas.openxmlformats.org/drawingml/2006/main" name="1_Charts">
  <a:themeElements>
    <a:clrScheme name="THWS_Robert">
      <a:dk1>
        <a:srgbClr val="404040"/>
      </a:dk1>
      <a:lt1>
        <a:sysClr val="window" lastClr="FFFFFF"/>
      </a:lt1>
      <a:dk2>
        <a:srgbClr val="455F51"/>
      </a:dk2>
      <a:lt2>
        <a:srgbClr val="E3DED1"/>
      </a:lt2>
      <a:accent1>
        <a:srgbClr val="FFB414"/>
      </a:accent1>
      <a:accent2>
        <a:srgbClr val="8AB833"/>
      </a:accent2>
      <a:accent3>
        <a:srgbClr val="ED7004"/>
      </a:accent3>
      <a:accent4>
        <a:srgbClr val="BE2344"/>
      </a:accent4>
      <a:accent5>
        <a:srgbClr val="4AB5C4"/>
      </a:accent5>
      <a:accent6>
        <a:srgbClr val="003E6E"/>
      </a:accent6>
      <a:hlink>
        <a:srgbClr val="FF6A00"/>
      </a:hlink>
      <a:folHlink>
        <a:srgbClr val="BA6906"/>
      </a:folHlink>
    </a:clrScheme>
    <a:fontScheme name="THWS">
      <a:majorFont>
        <a:latin typeface="GT Planar Medium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3">
            <a:lumMod val="40000"/>
            <a:lumOff val="60000"/>
            <a:alpha val="55000"/>
          </a:schemeClr>
        </a:solidFill>
        <a:ln>
          <a:solidFill>
            <a:schemeClr val="accent3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6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4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WS_Template.potx" id="{7D4CAB56-644B-4620-9DBD-B3DC4FAD0B62}" vid="{2FC5F2A7-6CC2-403A-823C-2B7F53869712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THWS_Template</Template>
  <TotalTime>0</TotalTime>
  <Words>30506</Words>
  <Application>Microsoft Macintosh PowerPoint</Application>
  <PresentationFormat>Benutzerdefiniert</PresentationFormat>
  <Paragraphs>3605</Paragraphs>
  <Slides>223</Slides>
  <Notes>187</Notes>
  <HiddenSlides>0</HiddenSlides>
  <MMClips>2</MMClips>
  <ScaleCrop>false</ScaleCrop>
  <HeadingPairs>
    <vt:vector size="8" baseType="variant">
      <vt:variant>
        <vt:lpstr>Verwendete Schriftarten</vt:lpstr>
      </vt:variant>
      <vt:variant>
        <vt:i4>20</vt:i4>
      </vt:variant>
      <vt:variant>
        <vt:lpstr>Design</vt:lpstr>
      </vt:variant>
      <vt:variant>
        <vt:i4>2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223</vt:i4>
      </vt:variant>
    </vt:vector>
  </HeadingPairs>
  <TitlesOfParts>
    <vt:vector size="246" baseType="lpstr">
      <vt:lpstr>Lucida Bright</vt:lpstr>
      <vt:lpstr>League Spartan</vt:lpstr>
      <vt:lpstr>GT Planar Medium</vt:lpstr>
      <vt:lpstr>Segoe UI</vt:lpstr>
      <vt:lpstr>Aptos</vt:lpstr>
      <vt:lpstr>Arial Narrow</vt:lpstr>
      <vt:lpstr>Verdana</vt:lpstr>
      <vt:lpstr>Courier New</vt:lpstr>
      <vt:lpstr>Arial</vt:lpstr>
      <vt:lpstr>Wingdings</vt:lpstr>
      <vt:lpstr>Segoe UI Light</vt:lpstr>
      <vt:lpstr>Cambria Math</vt:lpstr>
      <vt:lpstr>Wingdings 2</vt:lpstr>
      <vt:lpstr>Calibri</vt:lpstr>
      <vt:lpstr>Arial Black</vt:lpstr>
      <vt:lpstr>Segoe Script</vt:lpstr>
      <vt:lpstr>Segoe UI Black</vt:lpstr>
      <vt:lpstr>Garamond</vt:lpstr>
      <vt:lpstr>GT Planar Light</vt:lpstr>
      <vt:lpstr>Chalkboy</vt:lpstr>
      <vt:lpstr>Charts</vt:lpstr>
      <vt:lpstr>1_Charts</vt:lpstr>
      <vt:lpstr>think-cell Folie</vt:lpstr>
      <vt:lpstr>PowerPoint-Präsentation</vt:lpstr>
      <vt:lpstr>PowerPoint-Präsentation</vt:lpstr>
      <vt:lpstr>Vorwort</vt:lpstr>
      <vt:lpstr>Über mich</vt:lpstr>
      <vt:lpstr>Literaturempfehlungen (Auswahl)</vt:lpstr>
      <vt:lpstr>Literaturempfehlungen (Auswahl)</vt:lpstr>
      <vt:lpstr>Literaturempfehlungen (Auswahl)</vt:lpstr>
      <vt:lpstr>Literaturempfehlungen (Auswahl)</vt:lpstr>
      <vt:lpstr>Literaturempfehlungen (Auswahl)</vt:lpstr>
      <vt:lpstr>Themenfelder von Business Intelligence </vt:lpstr>
      <vt:lpstr>Inhalte (Auswahl)</vt:lpstr>
      <vt:lpstr>Lernziele (Auswahl)</vt:lpstr>
      <vt:lpstr>Berührungspunkte zwischen den Veranstaltungen BINT und DABA ("Datenbanken")</vt:lpstr>
      <vt:lpstr>Inhaltsverzeichnis</vt:lpstr>
      <vt:lpstr>Einstieg und Motivation</vt:lpstr>
      <vt:lpstr>Business Intelligence | Hinführung</vt:lpstr>
      <vt:lpstr>Business Intelligence | Wortzerlegung und -bedeutung</vt:lpstr>
      <vt:lpstr>Begriffswirrwarr im Kontext von Business Intelligence  </vt:lpstr>
      <vt:lpstr>Vorabbemerkung und Motivation</vt:lpstr>
      <vt:lpstr>Google Trends | Entwicklung der Suchbegriffe zu "BI", "BA" und "DS" | 2004..2024 | Weltweit</vt:lpstr>
      <vt:lpstr>Assoziationen im Kontext mit "Business Intelligence"</vt:lpstr>
      <vt:lpstr>Treiber und Motivation für Business Intelligence (Auswahl) </vt:lpstr>
      <vt:lpstr>Motivation zum Speichern von Daten in Unternehmen | 2022</vt:lpstr>
      <vt:lpstr>Analytische Dimension | Potenziale im Allgemeinen (Auswahl)</vt:lpstr>
      <vt:lpstr>Spannweite | Nutzung von Daten und deren Monetarisierung</vt:lpstr>
      <vt:lpstr>Digitale Transformation (und potenzielle Einsatzgebiete von BI) | "Big Picture" nach Holger Schmidt</vt:lpstr>
      <vt:lpstr>"Virtuos cycle of data, AI and digital transformation" als "Perpetuum mobile"</vt:lpstr>
      <vt:lpstr>Exkurs | Digitalisierung als Oberbegriff | Zusammensetzung</vt:lpstr>
      <vt:lpstr>Berührungspunkte von Business Intelligence zu anderen Bereichen (Auswahl)</vt:lpstr>
      <vt:lpstr>BARC: Data, BI and Analytics Trend Monitor 2023 | n = 1.823 befragte Personen</vt:lpstr>
      <vt:lpstr>Weltweiter Umsatz mit BI-Software | 2016 bis 2028 (*Prognose) | Werte in Mrd. EUR</vt:lpstr>
      <vt:lpstr>Links: Hersteller von BI-Software nach Marktanteilen (2021) | Gartner's Magic Quadrant…</vt:lpstr>
      <vt:lpstr>Use Case "Superstore Sales" | BI-Auswertungen im Zusammenspiel mit ChatGPT</vt:lpstr>
      <vt:lpstr>Exkurs | Der wahre Nutzen generativer KI 😉 </vt:lpstr>
      <vt:lpstr>Exkurs | Zeitraum in Tagen, die online-Dienste für eine Million Nutzer:innen benötigt haben</vt:lpstr>
      <vt:lpstr>Use Case | BI-Auswertungen im Zusammenspiel mit ChatGPT | Auswahl an Forschungsfragen</vt:lpstr>
      <vt:lpstr>Use Case | BI-Auswertungen im Zusammenspiel mit ChatGPT | Generische BI-/ Analytics-Architektur</vt:lpstr>
      <vt:lpstr>Use Case | Typische BI-Fragestellungen (Auswahl) und Datensatz (Musterdaten)</vt:lpstr>
      <vt:lpstr>Use Cases | Struktur des Datensatzes für den Anwendungsfall (Musterdaten)</vt:lpstr>
      <vt:lpstr>Use Cases | Struktur des Datensatzes für den Anwendungsfall (Musterdaten)</vt:lpstr>
      <vt:lpstr>Use Cases | Struktur des Datensatzes für den Anwendungsfall (Musterdaten)</vt:lpstr>
      <vt:lpstr>Use Cases | Struktur des Datensatzes für den Anwendungsfall (Musterdaten)</vt:lpstr>
      <vt:lpstr>Use Cases | Struktur des Datensatzes für den Anwendungsfall (Musterdaten)</vt:lpstr>
      <vt:lpstr>Use Cases | Struktur des Datensatzes für den Anwendungsfall (Musterdaten)</vt:lpstr>
      <vt:lpstr>Use Cases | Struktur des Datensatzes für den Anwendungsfall (Musterdaten)</vt:lpstr>
      <vt:lpstr>Use Cases | Struktur des Datensatzes für den Anwendungsfall (Musterdaten)</vt:lpstr>
      <vt:lpstr>Use Cases | Struktur des Datensatzes für den Anwendungsfall (Musterdaten)</vt:lpstr>
      <vt:lpstr>Use Case | BI-Auswertungen im Zusammenspiel mit ChatGPT | Fazit (Auswahl)</vt:lpstr>
      <vt:lpstr>Diskussion </vt:lpstr>
      <vt:lpstr>Diskussion</vt:lpstr>
      <vt:lpstr>Exkurs | The economic potential of generative AI | Studie von McKinsey &amp; Company (2023)</vt:lpstr>
      <vt:lpstr>Diskussion | Future Skills im Kontext von KI (Auswahl)</vt:lpstr>
      <vt:lpstr>Interview mit Jensen Huang, Founder and CEO of NVIDIA</vt:lpstr>
      <vt:lpstr>Aussage 1: "[…] such nobody has to program […]" (Jensen Huang)</vt:lpstr>
      <vt:lpstr>Aussage 2: "[…] everybody in the world is now a programmer […]" (Jensen Huang)</vt:lpstr>
      <vt:lpstr>Diskussion | Einsatzgebiete von ChatGPT bzw. generativer KI</vt:lpstr>
      <vt:lpstr>Programmierfähigkeiten | Diskussion</vt:lpstr>
      <vt:lpstr>BI-Auswertungen im Zusammenspiel mit generativer KI | Diskussionspunkte</vt:lpstr>
      <vt:lpstr>Diskussion | Will AI fix work? (Microsoft) | Diskussion</vt:lpstr>
      <vt:lpstr>Diskussion</vt:lpstr>
      <vt:lpstr>Diskussion</vt:lpstr>
      <vt:lpstr>Exkurs | Diskussion anhand der 10 Thesen für einen Berufsstand im Wandel </vt:lpstr>
      <vt:lpstr>Diskussion</vt:lpstr>
      <vt:lpstr>Diskussion</vt:lpstr>
      <vt:lpstr>Grundlagen und Definitionen</vt:lpstr>
      <vt:lpstr>Business Intelligence (BI) und weitere Begriffe im Umfeld von Analytics</vt:lpstr>
      <vt:lpstr>Überblick | Overview of buzzwords in the data and AI sphere</vt:lpstr>
      <vt:lpstr>Historische Entwicklung analytischer Anwendungen</vt:lpstr>
      <vt:lpstr>Historische Entwicklung analytischer Anwendungen</vt:lpstr>
      <vt:lpstr>Entwicklung analytischer Informationssysteme: 1960-er Jahre (Management-Informations-System)</vt:lpstr>
      <vt:lpstr>Entwicklung analytischer Informationssysteme: 1960-er Jahre (Management-Informations-System)</vt:lpstr>
      <vt:lpstr>Entwicklung analytischer Informationssysteme: 1970-er Jahre (Decision Support System)</vt:lpstr>
      <vt:lpstr>Entwicklung analytischer Informationssysteme: 1980-er Jahre (Executive-Information-System)</vt:lpstr>
      <vt:lpstr>Schlagworte im BI-Umfeld ab den 1990er-Jahren</vt:lpstr>
      <vt:lpstr>Entwicklung analytischer Informationssysteme: ab 1990-er Jahre (Data Warehouse)</vt:lpstr>
      <vt:lpstr>Schlagworte im BI-Umfeld ab den 2000er-Jahren</vt:lpstr>
      <vt:lpstr>Entwicklung der analytischen Informationssysteme: ab 1990-er Jahre (Begriff BI kommt auf)</vt:lpstr>
      <vt:lpstr>Entwicklung analytischer Informationssysteme: ab 1990-er Jahre (BI als Sammelbegriff)</vt:lpstr>
      <vt:lpstr>Schlagworte im BI-Umfeld ab den 2010er-Jahren bis heute (2020)</vt:lpstr>
      <vt:lpstr>Business Intelligence | Spannweite der Definitionsansätze</vt:lpstr>
      <vt:lpstr>Business Intelligence | Spannweite der Definitionsansätze</vt:lpstr>
      <vt:lpstr>Exkurs | Beitrag von Informationssystemen zur Erreichung betrieblicher Ziele</vt:lpstr>
      <vt:lpstr>Ziele und Aufgaben eines Informationssystems (Auswahl)</vt:lpstr>
      <vt:lpstr>BI als spezielle Klasse von Informationssystemen | Arten betrieblicher Informationssysteme</vt:lpstr>
      <vt:lpstr>BI als spezielle Klasse von Informationssystemen | Arten betrieblicher Informationssysteme</vt:lpstr>
      <vt:lpstr>BI als spezielle Klasse von Informationssystemen | Arten betrieblicher Informationssysteme</vt:lpstr>
      <vt:lpstr>Evolution of enterprise data | Evolution of data technology over time</vt:lpstr>
      <vt:lpstr>Abgrenzung zwischen operativen und entscheidungsorientierten/ analytischen Daten</vt:lpstr>
      <vt:lpstr>Business Intelligence | Spannweite der Definitionsansätze</vt:lpstr>
      <vt:lpstr>Business Intelligence | Übersicht ausgewählter Definitionsansätze</vt:lpstr>
      <vt:lpstr>Business Intelligence | Definitionsansatz nach Howard Dresner</vt:lpstr>
      <vt:lpstr>Business Intelligence | Business Intelligence Platforms &amp; Business Intelligence Services | Gartner</vt:lpstr>
      <vt:lpstr>Business Intelligence | Business Intelligence | Forrester</vt:lpstr>
      <vt:lpstr>Business Intelligence | Definitionsansatz nach Adis Terzić</vt:lpstr>
      <vt:lpstr>Business Intelligence | Definitionsansatz nach Dietmar Schön</vt:lpstr>
      <vt:lpstr>Exkurs | Management | PDCA-Zyklus (nach Shewhart und Deming)</vt:lpstr>
      <vt:lpstr>PDCA-Managementregelkreis im Zusammenhang mit der Datenanalyse nach Schön</vt:lpstr>
      <vt:lpstr>Konzept der integrierten Unternehmensplanung | BI und Performance Management im Zusammenspiel</vt:lpstr>
      <vt:lpstr>Exkurs | Generische Prozesse in Unternehmen oder Wertschöpfungsnetzwerken</vt:lpstr>
      <vt:lpstr>Exkurs | Generische Prozesse in Unternehmen oder Wertschöpfungsnetzwerken</vt:lpstr>
      <vt:lpstr>Exkurs | Digitalisierung  Prozesse  Analytik</vt:lpstr>
      <vt:lpstr>Exkurs | Digitalisierung  Prozesse</vt:lpstr>
      <vt:lpstr>Exkurs | Digitalisierung  Prozesse | Wirkungszusammenhang</vt:lpstr>
      <vt:lpstr>Business Intelligence als Prozess und unternehmerischer Gesamtansatz | Arbeitsdefinition</vt:lpstr>
      <vt:lpstr>Business Intelligence als Prozess | Arbeitsdefinition und Zielsetzung </vt:lpstr>
      <vt:lpstr>Studie zur Nutzung von Daten nach Datenarten und -kategorien (2016) | Bitkom und KPMG</vt:lpstr>
      <vt:lpstr>Treiber für das (massenhafte) Datenaufkommen bzw. für "Datafication" (Auswahl)</vt:lpstr>
      <vt:lpstr>Business Intelligence als Prozess | Arbeitsdefinition und Zielsetzung</vt:lpstr>
      <vt:lpstr>Business Intelligence als Prozess | Arbeitsdefinition und (erweiterte) Zielsetzung</vt:lpstr>
      <vt:lpstr>Business Intelligence als Prozess | Arbeitsdefinition und (erweiterte) Zielsetzung</vt:lpstr>
      <vt:lpstr>Business Intelligence als Prozess am Beispiel einer Supermarkt-Kette</vt:lpstr>
      <vt:lpstr>Business Intelligence als Prozess am Beispiel einer Supermarkt-Kette</vt:lpstr>
      <vt:lpstr>Aufbereitung | Arten von Analysen zur Informationsgenerierung</vt:lpstr>
      <vt:lpstr>Praxisbeispiele für BI-Aufbereitungen</vt:lpstr>
      <vt:lpstr>Praxisbeispiele für BI-Aufbereitungen | Dashboard</vt:lpstr>
      <vt:lpstr>Praxisbeispiele für BI-Aufbereitungen | Dashboard (diesmal kein Business-Kontext)</vt:lpstr>
      <vt:lpstr>Business Intelligence als ein Input unter mehreren für die Entscheidungsfindung </vt:lpstr>
      <vt:lpstr>Business Intelligence | Spannweite der Definitionsansätze</vt:lpstr>
      <vt:lpstr>Business Intelligence zur Unterstützung des Managementregelkreises</vt:lpstr>
      <vt:lpstr>Einsatzfeld analytischer Informationssysteme | BI als integrierter Gesamtansatz</vt:lpstr>
      <vt:lpstr>Einsatzfeld analytischer Informationssysteme | BI als integrierter Gesamtansatz</vt:lpstr>
      <vt:lpstr>Die operative und analytische Dimension von Daten</vt:lpstr>
      <vt:lpstr>Die operative und analytische Dimension von Daten</vt:lpstr>
      <vt:lpstr>Zur operativen und analytischen Dimension gesellt sich noch die strategische hinzu</vt:lpstr>
      <vt:lpstr>BI als integrierter Gesamtansatz und als Ordnungsrahmen | Beispiel Wertschöpfungskette im E-Business</vt:lpstr>
      <vt:lpstr>BI als integrierter Gesamtansatz und als Ordnungsrahmen</vt:lpstr>
      <vt:lpstr>BI als integrierter Gesamtansatz und Ordnungsrahmen | Beispiel einer technischen Umsetzung </vt:lpstr>
      <vt:lpstr>BI als integrierter Gesamtansatz und Ordnungsrahmen | Beispiel einer technischen Umsetzung </vt:lpstr>
      <vt:lpstr>Perspektiven einer Business-Intelligence-Strategie (Auswahl)</vt:lpstr>
      <vt:lpstr>Nutzen und Einsatzfelder</vt:lpstr>
      <vt:lpstr>Analytische Dimension | Potenzielle Wettbewerbsvorteile (Auswahl)</vt:lpstr>
      <vt:lpstr>Auswahl an Einsatzfeldern für BI und Analysemöglichkeiten (Auswahl)</vt:lpstr>
      <vt:lpstr>Einsatzfelder von Business Intelligence (Auswahl) | Am Beispiel einer Supermarkt-Kette</vt:lpstr>
      <vt:lpstr>Einsatzfelder von Business Intelligence (Auswahl) | Am Beispiel einer Supermarkt-Kette</vt:lpstr>
      <vt:lpstr>Einsatzfelder von Business Intelligence (Auswahl) | Am Beispiel einer Supermarkt-Kette</vt:lpstr>
      <vt:lpstr>Einsatzfelder von Business Intelligence (Auswahl) | Am Beispiel einer Supermarkt-Kette</vt:lpstr>
      <vt:lpstr>Einsatzfelder von Business Intelligence (Auswahl) | Am Beispiel einer Supermarkt-Kette</vt:lpstr>
      <vt:lpstr>Einsatzfelder von Business Intelligence (Auswahl) | Am Beispiel einer Supermarkt-Kette</vt:lpstr>
      <vt:lpstr>Nutzen von Business Intelligence (BI) | Schematische Darstellung</vt:lpstr>
      <vt:lpstr>Nutzen von Business Intelligence (BI) | Schematische Darstellung</vt:lpstr>
      <vt:lpstr>Nutzen von Business Intelligence | Beispiele</vt:lpstr>
      <vt:lpstr>Nutzen von Business Intelligence | Kategorisierung</vt:lpstr>
      <vt:lpstr>Nutzen von Business Intelligence | Sammlung von "Werbeversprechen" (Auswahl)</vt:lpstr>
      <vt:lpstr>Nutzen von Datenanalyse im Generellen | Werbefilm der IBM™, aber keine Werbung 😉</vt:lpstr>
      <vt:lpstr>Job Profile | Business Intelligence und Data Science am Beispiel Flaschenpost.de </vt:lpstr>
      <vt:lpstr>Stellenannonce "Senior Analyst (m/w/d)" am Beispiel Flaschenpost.de </vt:lpstr>
      <vt:lpstr>Stellenannonce "Senior Analyst (m/w/d)" am Beispiel Flaschenpost.de </vt:lpstr>
      <vt:lpstr>Business Intelligence im Kontext mit anderen Analytics-Begriffen</vt:lpstr>
      <vt:lpstr>Überblick | Overview of buzzwords in the data and AI sphere</vt:lpstr>
      <vt:lpstr>Knowledge Discovery in Databases (KDD) | Definition</vt:lpstr>
      <vt:lpstr>Knowledge Discovery in Databases (KDD) | Überblick der Einzelschritte mit Fokus auf "Data-Mining"</vt:lpstr>
      <vt:lpstr>Knowledge Discovery in Databases (KDD) | Prozessschritt "Data-Mining"</vt:lpstr>
      <vt:lpstr>Knowledge Discovery in Databases (KDD) | Prozessschritt "Data-Mining"</vt:lpstr>
      <vt:lpstr>Data-Mining | Zwei Dimensionen in der Bedeutung</vt:lpstr>
      <vt:lpstr>Data-Mining | Definition nach Fayyad et al. (1996)</vt:lpstr>
      <vt:lpstr>Data-Mining | Definition nach Roiger (2017)</vt:lpstr>
      <vt:lpstr>Data-Mining | "Datenmustererkennung"</vt:lpstr>
      <vt:lpstr>Data-Mining | Grundsätzliche Unterscheidung in zwei Klassen </vt:lpstr>
      <vt:lpstr>Data-Mining | Charakterisierung und Aufgabenfelder (Auswahl) </vt:lpstr>
      <vt:lpstr>Data-Mining | Verschiedene Arten von "Machine Learning"</vt:lpstr>
      <vt:lpstr>Data-Mining | Unterschiede zwischen Klassifikation und Clustering (Auswahl)</vt:lpstr>
      <vt:lpstr>Data-Mining | Charakterisierung und Aufgabenfelder (Auswahl) </vt:lpstr>
      <vt:lpstr>Data-Mining | Aufgabenfelder, Anwendungsfelder und Verfahren/ Algorithmen (Auswahl)</vt:lpstr>
      <vt:lpstr>Einordnung und Verständnisweisen von Business Intelligence </vt:lpstr>
      <vt:lpstr>Unterschiede zwischen "Reporting", "multidimensionaler Analyse" und "Data Mining"</vt:lpstr>
      <vt:lpstr>Überblick | Overview of buzzwords in the data and AI sphere</vt:lpstr>
      <vt:lpstr>Data Science | Definitionsansatz</vt:lpstr>
      <vt:lpstr>PowerPoint-Präsentation</vt:lpstr>
      <vt:lpstr>PowerPoint-Präsentation</vt:lpstr>
      <vt:lpstr>Data Science | (Typical) selected Data Science tasks and examples </vt:lpstr>
      <vt:lpstr>Data Science | Berührungspunkte zu anderen Disziplinen</vt:lpstr>
      <vt:lpstr>Überblick | Overview of buzzwords in the data and AI sphere</vt:lpstr>
      <vt:lpstr>Business Analytics | Definitionsansatz nach Gartner</vt:lpstr>
      <vt:lpstr>Business Analytics | Definitionsansatz nach Gartner</vt:lpstr>
      <vt:lpstr>Business Analytics | Definition und Verständnis von "Analytics" </vt:lpstr>
      <vt:lpstr>Business Analytics | Herleitung einer Arbeitsdefinition </vt:lpstr>
      <vt:lpstr>Business Analytics | Arbeitsdefinition </vt:lpstr>
      <vt:lpstr>Business Analytics | Evolutionsstufen und Charakteristika </vt:lpstr>
      <vt:lpstr>Berührungspunkte zwischen Business Intelligence und Business Analytics </vt:lpstr>
      <vt:lpstr>Überschneidungen zwischen "Business Intelligence" und "Business Analytics" </vt:lpstr>
      <vt:lpstr>Verschiedene Formen der Analyse aus zeitlicher Perspektive</vt:lpstr>
      <vt:lpstr>"Business Analytics" mit seinen Abstufungen (nach AT Kearney)</vt:lpstr>
      <vt:lpstr>Verständnis und Dimensionen von "Business Analytics (BA)" | Kategorien von Definitionen</vt:lpstr>
      <vt:lpstr>Überblick | Overview of buzzwords in the data and AI sphere</vt:lpstr>
      <vt:lpstr>Exkurs | Kategorisierung von Big-Data-Definitionen</vt:lpstr>
      <vt:lpstr>Exkurs | Big Data | Die "klassischen" drei Vs</vt:lpstr>
      <vt:lpstr>Exkurs | Taxonomie von Big-Data-Systemen</vt:lpstr>
      <vt:lpstr>Daten | Unterteilt nach Aufkommen und Menge</vt:lpstr>
      <vt:lpstr>Unterschiede zwischen "Non Big Data" und "Big Data"</vt:lpstr>
      <vt:lpstr>Big Data | Die "klassischen" drei Vs | Merkmal "Volume"</vt:lpstr>
      <vt:lpstr>Big Data | Das Wachstum des weltweiten Datenvolumens</vt:lpstr>
      <vt:lpstr>Big Data | Die "klassischen" drei Vs | Merkmal "Velocity"</vt:lpstr>
      <vt:lpstr>Big Data | Die "klassischen" drei Vs | Merkmal "Velocity"</vt:lpstr>
      <vt:lpstr>Big Data | Die "klassischen" drei Vs | Merkmal "Variety"</vt:lpstr>
      <vt:lpstr>Berührungspunkte zwischen "Big Data" und "Business Intelligence"</vt:lpstr>
      <vt:lpstr>Big Data | Die "klassischen" drei Vs und weitere Vs (Auswahl)</vt:lpstr>
      <vt:lpstr>Big Data | Merkmal "Veracity"</vt:lpstr>
      <vt:lpstr>Big Data | Merkmal "Value"</vt:lpstr>
      <vt:lpstr>Big Data | Merkmal "Validity"</vt:lpstr>
      <vt:lpstr>Big Data | Merkmale "Variability", "Volatility", "Visualization" &amp; "Vulnerability"</vt:lpstr>
      <vt:lpstr>Big Data | Beispiele für "Vulnerability": "World's Biggest Data Breaches &amp; Hacks" </vt:lpstr>
      <vt:lpstr>Big Data | Verständnis von Daten im Kontext von Big Data</vt:lpstr>
      <vt:lpstr>Big Data | Beispiel | Ursprünglichkeit von Daten am Beispiel minutengenauer Aktienkurse</vt:lpstr>
      <vt:lpstr>Big Data | Big Data resultiert aus…</vt:lpstr>
      <vt:lpstr>Big Data | Mooresches Gesetz als Treiber</vt:lpstr>
      <vt:lpstr>Big Data | Mobile Computing"/ "Ubiquitous Computing als Treiber</vt:lpstr>
      <vt:lpstr>Big Data | Social Networking bzw. Social Media als Treiber</vt:lpstr>
      <vt:lpstr>Big Data | Cloud-Computing als Treiber</vt:lpstr>
      <vt:lpstr>Big Data | Folgen</vt:lpstr>
      <vt:lpstr>Big Data | Diskussion</vt:lpstr>
      <vt:lpstr>Gegenüberstellung von "Business Intelligence", "Big Data (Analytics)" und "Data-Mining"</vt:lpstr>
      <vt:lpstr>Anwendungen im Bereich "Künstlicher Intelligenz" | Einordnung und Anknüpfungspunkte </vt:lpstr>
      <vt:lpstr>Facetten der Künstlichen Intelligenz</vt:lpstr>
      <vt:lpstr>Facetten der Künstlichen Intelligenz</vt:lpstr>
      <vt:lpstr>Facetten und Anwendungsbereiche Maschinellen Lernens</vt:lpstr>
      <vt:lpstr>Grundsätzliche Funktionsweise</vt:lpstr>
      <vt:lpstr>KI-basierte Entscheidungen "Computer sagt Nein"</vt:lpstr>
      <vt:lpstr>Facetten der Künstlichen Intelligenz</vt:lpstr>
      <vt:lpstr>Künstliche Intelligenz ("Artificial Intelligence") | Definitionsansatz</vt:lpstr>
      <vt:lpstr>Fazit | (Vorschlag einer) Systematisierung und Verständnis in der Lehrveranstaltung</vt:lpstr>
      <vt:lpstr>Kontrollfragen</vt:lpstr>
      <vt:lpstr>Kontrollfragen</vt:lpstr>
      <vt:lpstr>Kontrollfragen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Robert Butscher</dc:creator>
  <cp:lastModifiedBy>Robert Butscher</cp:lastModifiedBy>
  <cp:revision>1</cp:revision>
  <dcterms:created xsi:type="dcterms:W3CDTF">2023-09-30T09:34:49Z</dcterms:created>
  <dcterms:modified xsi:type="dcterms:W3CDTF">2026-04-04T09:53:24Z</dcterms:modified>
</cp:coreProperties>
</file>