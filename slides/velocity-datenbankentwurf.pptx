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 id="258" r:id="rId128"/>
    <p:sldId id="259" r:id="rId129"/>
    <p:sldId id="260" r:id="rId130"/>
    <p:sldId id="261" r:id="rId131"/>
    <p:sldId id="262" r:id="rId132"/>
    <p:sldId id="263" r:id="rId133"/>
    <p:sldId id="264" r:id="rId134"/>
    <p:sldId id="265" r:id="rId135"/>
    <p:sldId id="266" r:id="rId136"/>
    <p:sldId id="267" r:id="rId137"/>
    <p:sldId id="268" r:id="rId138"/>
    <p:sldId id="269" r:id="rId139"/>
    <p:sldId id="270" r:id="rId140"/>
    <p:sldId id="271" r:id="rId141"/>
    <p:sldId id="272" r:id="rId142"/>
    <p:sldId id="273" r:id="rId143"/>
    <p:sldId id="274" r:id="rId144"/>
    <p:sldId id="275" r:id="rId145"/>
    <p:sldId id="276" r:id="rId146"/>
    <p:sldId id="277" r:id="rId147"/>
    <p:sldId id="278" r:id="rId148"/>
    <p:sldId id="279" r:id="rId149"/>
    <p:sldId id="280" r:id="rId150"/>
    <p:sldId id="281" r:id="rId151"/>
    <p:sldId id="282" r:id="rId152"/>
    <p:sldId id="283" r:id="rId153"/>
    <p:sldId id="284" r:id="rId154"/>
    <p:sldId id="285" r:id="rId155"/>
    <p:sldId id="286" r:id="rId156"/>
    <p:sldId id="287" r:id="rId157"/>
    <p:sldId id="288" r:id="rId158"/>
    <p:sldId id="289" r:id="rId159"/>
    <p:sldId id="290" r:id="rId160"/>
    <p:sldId id="291" r:id="rId161"/>
    <p:sldId id="292" r:id="rId162"/>
    <p:sldId id="293" r:id="rId163"/>
    <p:sldId id="294" r:id="rId164"/>
    <p:sldId id="295" r:id="rId165"/>
    <p:sldId id="296" r:id="rId166"/>
    <p:sldId id="297" r:id="rId167"/>
    <p:sldId id="298" r:id="rId168"/>
    <p:sldId id="299" r:id="rId169"/>
    <p:sldId id="300" r:id="rId170"/>
    <p:sldId id="301" r:id="rId171"/>
    <p:sldId id="302" r:id="rId172"/>
    <p:sldId id="303" r:id="rId173"/>
    <p:sldId id="304" r:id="rId174"/>
    <p:sldId id="305" r:id="rId175"/>
    <p:sldId id="306" r:id="rId176"/>
    <p:sldId id="307" r:id="rId177"/>
    <p:sldId id="308" r:id="rId178"/>
    <p:sldId id="309" r:id="rId179"/>
    <p:sldId id="310" r:id="rId180"/>
    <p:sldId id="311" r:id="rId181"/>
    <p:sldId id="312" r:id="rId182"/>
    <p:sldId id="313" r:id="rId183"/>
    <p:sldId id="314" r:id="rId184"/>
    <p:sldId id="315" r:id="rId185"/>
    <p:sldId id="316" r:id="rId186"/>
    <p:sldId id="317" r:id="rId187"/>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128" Type="http://schemas.openxmlformats.org/officeDocument/2006/relationships/slide" Target="slides/slide3.xml"/><Relationship Id="rId129" Type="http://schemas.openxmlformats.org/officeDocument/2006/relationships/slide" Target="slides/slide4.xml"/><Relationship Id="rId130" Type="http://schemas.openxmlformats.org/officeDocument/2006/relationships/slide" Target="slides/slide5.xml"/><Relationship Id="rId131" Type="http://schemas.openxmlformats.org/officeDocument/2006/relationships/slide" Target="slides/slide6.xml"/><Relationship Id="rId132" Type="http://schemas.openxmlformats.org/officeDocument/2006/relationships/slide" Target="slides/slide7.xml"/><Relationship Id="rId133" Type="http://schemas.openxmlformats.org/officeDocument/2006/relationships/slide" Target="slides/slide8.xml"/><Relationship Id="rId134" Type="http://schemas.openxmlformats.org/officeDocument/2006/relationships/slide" Target="slides/slide9.xml"/><Relationship Id="rId135" Type="http://schemas.openxmlformats.org/officeDocument/2006/relationships/slide" Target="slides/slide10.xml"/><Relationship Id="rId136" Type="http://schemas.openxmlformats.org/officeDocument/2006/relationships/slide" Target="slides/slide11.xml"/><Relationship Id="rId137" Type="http://schemas.openxmlformats.org/officeDocument/2006/relationships/slide" Target="slides/slide12.xml"/><Relationship Id="rId138" Type="http://schemas.openxmlformats.org/officeDocument/2006/relationships/slide" Target="slides/slide13.xml"/><Relationship Id="rId139" Type="http://schemas.openxmlformats.org/officeDocument/2006/relationships/slide" Target="slides/slide14.xml"/><Relationship Id="rId140" Type="http://schemas.openxmlformats.org/officeDocument/2006/relationships/slide" Target="slides/slide15.xml"/><Relationship Id="rId141" Type="http://schemas.openxmlformats.org/officeDocument/2006/relationships/slide" Target="slides/slide16.xml"/><Relationship Id="rId142" Type="http://schemas.openxmlformats.org/officeDocument/2006/relationships/slide" Target="slides/slide17.xml"/><Relationship Id="rId143" Type="http://schemas.openxmlformats.org/officeDocument/2006/relationships/slide" Target="slides/slide18.xml"/><Relationship Id="rId144" Type="http://schemas.openxmlformats.org/officeDocument/2006/relationships/slide" Target="slides/slide19.xml"/><Relationship Id="rId145" Type="http://schemas.openxmlformats.org/officeDocument/2006/relationships/slide" Target="slides/slide20.xml"/><Relationship Id="rId146" Type="http://schemas.openxmlformats.org/officeDocument/2006/relationships/slide" Target="slides/slide21.xml"/><Relationship Id="rId147" Type="http://schemas.openxmlformats.org/officeDocument/2006/relationships/slide" Target="slides/slide22.xml"/><Relationship Id="rId148" Type="http://schemas.openxmlformats.org/officeDocument/2006/relationships/slide" Target="slides/slide23.xml"/><Relationship Id="rId149" Type="http://schemas.openxmlformats.org/officeDocument/2006/relationships/slide" Target="slides/slide24.xml"/><Relationship Id="rId150" Type="http://schemas.openxmlformats.org/officeDocument/2006/relationships/slide" Target="slides/slide25.xml"/><Relationship Id="rId151" Type="http://schemas.openxmlformats.org/officeDocument/2006/relationships/slide" Target="slides/slide26.xml"/><Relationship Id="rId152" Type="http://schemas.openxmlformats.org/officeDocument/2006/relationships/slide" Target="slides/slide27.xml"/><Relationship Id="rId153" Type="http://schemas.openxmlformats.org/officeDocument/2006/relationships/slide" Target="slides/slide28.xml"/><Relationship Id="rId154" Type="http://schemas.openxmlformats.org/officeDocument/2006/relationships/slide" Target="slides/slide29.xml"/><Relationship Id="rId155" Type="http://schemas.openxmlformats.org/officeDocument/2006/relationships/slide" Target="slides/slide30.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3.xml"/><Relationship Id="rId159" Type="http://schemas.openxmlformats.org/officeDocument/2006/relationships/slide" Target="slides/slide34.xml"/><Relationship Id="rId160" Type="http://schemas.openxmlformats.org/officeDocument/2006/relationships/slide" Target="slides/slide35.xml"/><Relationship Id="rId161" Type="http://schemas.openxmlformats.org/officeDocument/2006/relationships/slide" Target="slides/slide36.xml"/><Relationship Id="rId162" Type="http://schemas.openxmlformats.org/officeDocument/2006/relationships/slide" Target="slides/slide37.xml"/><Relationship Id="rId163" Type="http://schemas.openxmlformats.org/officeDocument/2006/relationships/slide" Target="slides/slide38.xml"/><Relationship Id="rId164" Type="http://schemas.openxmlformats.org/officeDocument/2006/relationships/slide" Target="slides/slide39.xml"/><Relationship Id="rId165" Type="http://schemas.openxmlformats.org/officeDocument/2006/relationships/slide" Target="slides/slide40.xml"/><Relationship Id="rId166" Type="http://schemas.openxmlformats.org/officeDocument/2006/relationships/slide" Target="slides/slide41.xml"/><Relationship Id="rId167" Type="http://schemas.openxmlformats.org/officeDocument/2006/relationships/slide" Target="slides/slide42.xml"/><Relationship Id="rId168" Type="http://schemas.openxmlformats.org/officeDocument/2006/relationships/slide" Target="slides/slide43.xml"/><Relationship Id="rId169" Type="http://schemas.openxmlformats.org/officeDocument/2006/relationships/slide" Target="slides/slide44.xml"/><Relationship Id="rId170" Type="http://schemas.openxmlformats.org/officeDocument/2006/relationships/slide" Target="slides/slide45.xml"/><Relationship Id="rId171" Type="http://schemas.openxmlformats.org/officeDocument/2006/relationships/slide" Target="slides/slide46.xml"/><Relationship Id="rId172" Type="http://schemas.openxmlformats.org/officeDocument/2006/relationships/slide" Target="slides/slide47.xml"/><Relationship Id="rId173" Type="http://schemas.openxmlformats.org/officeDocument/2006/relationships/slide" Target="slides/slide48.xml"/><Relationship Id="rId174" Type="http://schemas.openxmlformats.org/officeDocument/2006/relationships/slide" Target="slides/slide49.xml"/><Relationship Id="rId175" Type="http://schemas.openxmlformats.org/officeDocument/2006/relationships/slide" Target="slides/slide50.xml"/><Relationship Id="rId176" Type="http://schemas.openxmlformats.org/officeDocument/2006/relationships/slide" Target="slides/slide51.xml"/><Relationship Id="rId177" Type="http://schemas.openxmlformats.org/officeDocument/2006/relationships/slide" Target="slides/slide52.xml"/><Relationship Id="rId178" Type="http://schemas.openxmlformats.org/officeDocument/2006/relationships/slide" Target="slides/slide53.xml"/><Relationship Id="rId179" Type="http://schemas.openxmlformats.org/officeDocument/2006/relationships/slide" Target="slides/slide54.xml"/><Relationship Id="rId180" Type="http://schemas.openxmlformats.org/officeDocument/2006/relationships/slide" Target="slides/slide55.xml"/><Relationship Id="rId181" Type="http://schemas.openxmlformats.org/officeDocument/2006/relationships/slide" Target="slides/slide56.xml"/><Relationship Id="rId182" Type="http://schemas.openxmlformats.org/officeDocument/2006/relationships/slide" Target="slides/slide57.xml"/><Relationship Id="rId183" Type="http://schemas.openxmlformats.org/officeDocument/2006/relationships/slide" Target="slides/slide58.xml"/><Relationship Id="rId184" Type="http://schemas.openxmlformats.org/officeDocument/2006/relationships/slide" Target="slides/slide59.xml"/><Relationship Id="rId185" Type="http://schemas.openxmlformats.org/officeDocument/2006/relationships/slide" Target="slides/slide60.xml"/><Relationship Id="rId186" Type="http://schemas.openxmlformats.org/officeDocument/2006/relationships/slide" Target="slides/slide61.xml"/><Relationship Id="rId187" Type="http://schemas.openxmlformats.org/officeDocument/2006/relationships/slide" Target="slides/slide62.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entwerfen in dieser Einheit eine Datenhaltung von Grund auf. Kein vorhandenes Schema, kein Umbau: ein Unternehmen kommt mit einem Auftrag. Damit das nicht abstrakt bleibt, hängen wir alles an EINEN Fall — an eine einzige Fahrt. Die begleitet uns bis zur letzten Folie.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Zahlen sind echt: 61 Minuten, E-Bike, Studententarif mit Rabatt. Am Ende der Einheit können wir jeden Cent begründen. Die Zwischenbeträge 6,20 und 4,00 sind die beiden naheliegenden Fehler — der eine ignoriert den Tarif, der andere dreht die Reihenfolge 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ist die Landkarte. Ich komme nach jedem Kapitel kurz darauf zurück und hake ab.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irgendetwas modelliert wird, muss das Geschäft verstanden sein. Anforderungen werden in Substantiven und Regeln notiert, nicht in Tabellen.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Wichtig ist die zweite Kachel: Free-Floating heißt, dass ein Rad auch ohne Station eine Position haben muss. Das entscheidet später über die Struktur der Positionsdaten.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von zehn. Rechts steht schon, wo die Regel später landet — das ist der rote Faden durch die Umsetzung. GR7 bis GR15 folgen im physischen Entwurf.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Entitäten, Beziehungen, Kardinalitäten. Noch keine Datentypen, keine Schlüsselstrategie, keine Datenbank.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Bewusst ohne Attribute. Auf dieser Stufe interessiert nur, welche Dinge es gibt und wie viele davon auf jeder Seite stehen. „Ein Kunde hat höchstens einen gültigen Tarif“ ist eine Entscheidung des Fachbereichs, keine technische Festlegung.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vierte Spalte ist die wichtige. Jede Kardinalität muss man gegen die Wirklichkeit prüfen, nicht aus dem Bauch setzen.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Kunde, Station, Lieferant und Lager brauchen dieselbe Adressstruktur — vier Mal dieselben fünf Spalten wären Redundanz auf Schemaebene.</a:t>
            </a:r>
          </a:p>
          <a:p/>
          <a:p>
            <a:r>
              <a:t>Auffällig: keine Passwortspalte. Die Anmeldung liegt vollständig bei Supabase Auth, verbunden über auth_uid. Und hausnummer ist NOT NULL mit leerem Vorgabewert — sonst greift der fachliche Schlüssel nicht, weil zwei NULL-Werte in einem UNIQUE-Index als verschieden gelten.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Rad ändert seine Stammdaten fast nie und seine Position ständig — die 1:1-Trennung hält die Stammdatentabelle ruhig.</a:t>
            </a:r>
          </a:p>
          <a:p/>
          <a:p>
            <a:r>
              <a:t>station_id IS NULL bedeutet eindeutig: frei abgestellt. Zwischen Typ und Rad steht das Modell — das wirkt zunächst überflüssig, ist aber die Brücke zur Warenwirtschaft: Ersatzteile hängen am Modell, nicht am Einzelrad.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Preis gilt für einen Zeitraum, nicht für immer — der EXCLUDE-Constraint verhindert Überschneidungen in der Datenbank, nicht in der Anwendung.</a:t>
            </a:r>
          </a:p>
          <a:p/>
          <a:p>
            <a:r>
              <a:t>freiminuten_periode ist der Kern: statt eines Zählers, der heruntergezählt wird, stehen Kontingent und Verbrauch je Monat nebeneinander. Bestand und Bewegung bleiben unterscheidbar, jeder Stand ist rekonstruierbar.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einzelner Kostenbetrag verrät nicht, wie er zustande kam — jede Zeile der Abrechnung bleibt sichtbar und trägt ihren Beleg.</a:t>
            </a:r>
          </a:p>
          <a:p/>
          <a:p>
            <a:r>
              <a:t>Der Fremdschlüssel von entgeltposition auf nutzungspreis ist der wichtigste Pfeil im ganzen Modell: er dokumentiert, welcher Preissatz tatsächlich angewandt wurde. Ohne ihn wäre eine Altrechnung nach einer Preisänderung nicht mehr erklärbar.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Kopf-Positionen-Muster, ergänzt um die Zahlung — gespeichert wird nur das Token des Dienstleisters, weder IBAN noch Kartennummer.</a:t>
            </a:r>
          </a:p>
          <a:p/>
          <a:p>
            <a:r>
              <a:t>Was nicht gespeichert wird, kann nicht abfließen. Das ist keine Bequemlichkeit, sondern die wirksamste Schutzmaßnahme überhaupt.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FAQ, Nutzungsschritte, Kennzahlen und Höhenmarken könnten in einer generischen Schlüssel-Wert-Tabelle liegen — das wäre flexibler und schlechter.</a:t>
            </a:r>
          </a:p>
          <a:p/>
          <a:p>
            <a:r>
              <a:t>Ein Entity-Attribute-Value-Modell wäre in dritter Normalform und trotzdem falsch: keine Typsicherheit, keine Fremdschlüssel, keine Constraints, unlesbare Abfragen. Normalform ist notwendig, nicht hinreichend.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Prüfverfahren, kein Entwurfsverfahren. Es findet Redundanz — es sagt nicht, ob das Modell die Wirklichkeit trifft.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die Anomalien zeigen, dann zerlegen. Wer sofort zerlegt, weiß hinterher nicht, welches Problem er gelöst 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Kopf-Positionen-Muster kennen die meisten aus der Praxis. Hier sehen sie zum ersten Mal, dass es formal begründbar ist und nicht bloß Konvention.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zentrale Botschaft des Blocks und eine gute Prüfungsfrage: Nennen Sie eine Stelle, an der ein Modell in dritter Normalform trotzdem fachlich falsch 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Acht Relationen statt einer klingt nach mehr Aufwand. Der Aufwand entsteht einmal beim Entwurf und spart sich bei jeder Änderung wieder ein.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lohnt der Blick ins Data Dictionary: die Begründung steht als Kommentar direkt an der Spalte adresse.ort und veraltet nicht.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Regelbasiert und damit prüfbar. Wer eine 1:N-Beziehung auf der Eins-Seite verankert, hat nicht anders entworfen, sondern falsch abgebildet.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1:1-Abbildung ist die elegante: fahrrad_id ist in fahrrad_position zugleich Primär- und Fremdschlüssel. Damit ist „höchstens eine Position je Rad“ ohne zusätzlichen Constraint erzwungen.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dritte Zeile ist der häufigste Anfängerfehler: den sprechenden Schlüssel zum Primärschlüssel machen. Er ist eindeutig und sprechend — aber eben nicht stabil.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wird eine Geschäftsregel entweder erzwungen oder nur gewünscht. Jede Regel, die nicht in einem Constraint steht, wird früher oder später verletzt.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Zeitzonenfalle ist real und teuer: eine Fahrt in der Nacht der Umstellung lässt sich mit timestamp ohne Zone nicht eindeutig einordnen.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Unterschied in der dritten Spalte ist der eigentliche Inhalt dieser Folie. Constraints sind unbestechlich, Funktionen kann man umgehen — deshalb muss die Fachlogik von außen unerreichbar sein.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Fallstricke sind beim Bauen tatsächlich aufgetreten. Der erste hat die Anlage abgebrochen, der zweite wäre bei einem nahtlosen Tarifwechsel aufgefallen.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 Prüfungsfrage: Warum ist eine CHECK-Bedingung mit current_date gefährlich, obwohl die Datenbank sie annimmt?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lösen wir die Frage vom Anfang auf. Jeder Cent muss begründbar sein.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Reihenfolge ist die Reihenfolge dieser Vorlesung. Wer 0004 vor 0003 ausführt, bekommt einen Fremdschlüsselfehler — die Abhängigkeiten sind im Schema selbst dokumentiert. Zur Nummernlücke: 0013 gab es, sie hieß altsystem_abloesen und zog nach db/betrieb/, weil sie gegen eine leere Datenbank nicht durchlief. Lücken in Migrationsnummern sind normal — Nummern werden nie neu vergeben, sonst stimmt keine Historie mehr.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Auflösung des roten Fadens. Neun Testfälle sichern die Berechnung ab; einer prüft ausdrücklich die Reihenfolge, weil genau dort der teure Fehler sitzt.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Trick ist der Test, nicht der Kommentar. Ohne ihn schreibt man die ersten zwanzig Kommentare und vergisst die restlichen zweihundert.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Schutz liegt in der Datenbank. Auf den Browser ist grundsätzlich kein Verlass.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Schema velocity_demo liegt eine Tabelle mit erfundenen Daten, an der die Studierenden das Antipattern live ausprobieren dürfen — ohne den echten Bestand zu öffnen.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untere rote Kasten ist der Kern: fn_ausleihe_beenden bekommt die kunde_id als Parameter und glaubt sie. Wäre die Funktion von außen aufrufbar, könnte jeder fremde Ausleihen abrechnen.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interessante Lehrpunkt ist nicht die ALTER-DEFAULT-PRIVILEGES-Zeile selbst, sondern dass sie in einer gewöhnlichen PostgreSQL-Installation wirkt und auf dieser Instanz gemessen nicht: kein Eintrag in pg_default_acl, gegengeprüft per Abfrage direkt danach und durch eine Testfunktion in einem Scratch-Schema, die trotzdem EXECUTE für PUBLIC bekam. Ein Sicherheitskonzept, das eine Schutzmaßnahme behauptet, die es nicht gibt, ist gefährlicher als eine bekannte Lücke. Der einzige tatsächliche Schutz für künftig angelegte Funktionen ist das explizite REVOKE weiter oben — erneut ausgeführt nach jeder neu angelegten Funktion in diesem Schema. Aufgedeckt hat das ein Test, nicht Nachdenken: test_s_keine_oeffentliche_funktion in db/tests/t0011_sicherheit.sql und Abnahmeprüfung 25 fangen das Vergessen zweifach ab.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mir die wichtigste des Blocks. Der häufigste Fehler bei Sicherheitstests ist nicht der fehlende Test, sondern der Test, der aus dem falschen Grund grün wird.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Sichten sind der Vertrag zwischen Datenbank und Oberfläche.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Auch die Inhalte der Seite kommen aus der Datenbank: Tarifkarten, FAQ, die Schritte der Anleitung und die Kennzahlen. Vorher standen sie fest im HTML und mussten bei jeder Preisänderung von Hand nachgezogen werden.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Bis hierher ging es um die Kundensicht. Jetzt kommt die zweite Anwendung auf dieselbe Datenbank — und die stellt ganz andere Fragen an dieselben Zeilen.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wichtigste Satz dieser Folie ist der letzte der ersten Kachel. Ein getrenntes Auswertungssystem mit eigener Kopie ist der Normalfall in der Praxis — und die häufigste Quelle für Zahlen, die sich widersprechen. Hier gibt es diese Möglichkeit gar nicht.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letzte Zeile ist die wichtigste: v_wawi_fahrt_km führt Einzelfahrten mit Kundennummer — ein Bewegungsprofil. Die Sicht ist für keine Rolle freigegeben; sie dient nur als Zwischenschritt innerhalb anderer Sichten. Datensparsamkeit heißt hier: die aggregierte Sicht ist offen, die feine nicht. Zur fünften Rolle: demo steht bewusst nicht in der Matrix. Sie ist keine Fachrolle, sondern der öffentliche Vorführzugang — sie liest dieselben Sichten wie die Leitung, schreibt aber nichts und sieht Einzelfahrten ebenso wenig. Wer sie als Spalte führt, suggeriert eine Aufgabe, die es nicht gibt.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Korn — die Frage „wofür steht eine Zeile?“ — ist der wichtigste Begriff der ganzen Auswertung. Wer es nicht benennen kann, wird die Summen falsch bilden. Ein häufiger Fehler: Umsatz über eine Sicht summieren, in der jede Fahrt mehrfach vorkommt, weil ein Join sie vervielfacht hat.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kommt der Perspektivwechsel: vom Schreiben zum Lesen, vom Einzelfall zur Summe. Dasselbe Modell, eine andere Brille.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Kasten unten rechts trägt die eigentliche Aussage: keine dieser Dimensionen ist eine eigene Tabelle. Wir haben kein Sternschema gebaut, sondern die Rollen benannt, die vorhandene Tabellen beim Auswerten einnehmen. Warum das hier richtig ist, steht zwei Folien weiter.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 für die Tragweite: „Umsatz nach Radtyp“ zeigt das Lastenrad vorn. Daraus folgt NICHT, dass Lastenräder sich am meisten lohnen — Anschaffung, Wartung und Stellplatzbedarf stehen in keiner dieser Zeilen. Wer so entscheidet, verwechselt Umsatz mit Deckungsbeitrag.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Drill-Down ist der Übergang von der Kennzahl zum Beleg. Er ist der Grund, warum Auswertungen überhaupt Vertrauen verdienen: eine Zahl, die man nicht bis zur einzelnen Zeile aufklappen kann, muss man glauben.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Entscheidung hängt an zwei Zahlen: Datenmenge und geforderte Aktualität. Hier sind es gut zwölftausend Ausleihen und die Erwartung, dass eine gerade beendete Fahrt sofort in der Auswertung steht. Bei zehn Millionen Zeilen und einem Tagesbericht dreht sich das Urteil um. Wichtig ist, dass Studierende die Frage stellen — nicht, dass sie diese eine Antwort auswendig können.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Punkt, an dem Datenmodellierung zur Redlichkeit wird. Die CO2-Zahl ist ein Werbeargument; sie beruht auf einer Schätzung. Wer die Schätzung nicht kennzeichnet, produziert eine Zahl, die niemand mehr einordnen kann — und im Zweifel eine, die er selbst irgendwann glaubt.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Kundenwebsite und Warenwirtschaft sind zwei Anwendungen — aber sie gehen denselben Weg in dieselbe Datenbank.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öffentliche Schlüssel ist in beiden Anwendungen derselbe und steht im Quelltext. Er ist kein Geheimnis, sondern nur die Angabe, welches Projekt gemeint ist. Wer etwas sehen darf, entscheidet die Rolle im angemeldeten Konto — das ist der Inhalt von Kapitel 7.</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vierte Punkt ist der, den Studierende am häufigsten falsch machen. Ein ausgemustertes Rad zu löschen würde jede Fahrt entwerten, die damit gemacht wurde — und damit auch Annas Rechnung. Historie verträgt kein DELETE.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Dieselben Sichten, dieselben Funktionen, ein dritter Aufrufer — und damit die Rechtefrage aus Kapitel 7 noch einmal, diesmal unter Belastung.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Schnitt entstand im Kapitel 8 für die Website und im Kapitel 9 für die Warenwirtschaft — für zwei Oberflächen mit einem Menschen davor. Dass ein dritter Aufrufer ohne Umbau danebenpasst, war nicht geplant. Es ist der nachträgliche Beleg dafür, dass die Schnittstelle an der richtigen Stelle liegt: Sie beschreibt, WAS erlaubt ist, und nicht, WER fragt.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Kapitel 7 noch einmal, und diesmal wird es ernst: Ein Programm ermüdet nicht, probiert schnell und macht keinen Unterschied zwischen einer harmlosen und einer schweren Änderung. Wenn der Schutz im Aufrufer läge, wäre er hier weg. Er liegt aber in der Datenbank, und deshalb ändert sich durch den neuen Aufrufer an den Rechten nichts.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fünf Funktionen auf dem Kundensatz fehlen nicht aus Sicherheitsgründen. Sie handeln auf dem eigenen Kundensatz des angemeldeten Kontos, und ein Mitarbeiterkonto hat keinen. Sie wären also nicht gefährlich, sondern wirkungslos. Der Unterschied ist wichtig: Wer alles Unbequeme als Sicherheitsfrage verkauft, kann die echten nicht mehr begründen. Die zwei Funktionen zum Meldungseingang fehlen aus einem anderen Grund: Ein Agent, der Vorschläge von Jev übernimmt, hätte Beurteilung und Buchung in einer Hand, und genau das trennt der Meldungseingang.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Konflikt ist nur scheinbar. Art. 17 Abs. 3 lit. b nimmt genau das aus, was eine gesetzliche Aufbewahrungspflicht verlangt. Die schwierige Frage ist nicht, welches Recht gilt, sondern wo die Fallunterscheidung steht. Steht sie in der Oberfläche, hängt sie an der Aufmerksamkeit der Person davor. Hier steht sie in der Funktion selbst: Sie zählt Fahrten, Rechnungen, Mitgliedschaften und Schadensmeldungen und verweigert mit einem Satz, der sagt, was dagegensteht.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Aufteilung wirkt zufällig, ist es aber nicht: Den Protokolltrigger tragen drei Tabellen, weil dort Personendaten stehen und die Sicht darauf die Werte deshalb weglässt. Räder führen stattdessen eine Lebenslaufakte mit Vorher und Nachher im Klartext — ein Radstatus ist kein Personendatum. Der letzte Punkt ist der unbequeme: Es gibt keine Rücknahmefunktion. Wer vorführen will, was ein Agent anrichten kann, sichert vorher das Schema.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Acht Sätze zum Mitnehmen — und der Rest des Modells, der auf dem Papier steht.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 jedem Satz gibt es eine Folie in dieser Einheit und eine Stelle im Modell. Das eignet sich als Prüfungsvorbereitung.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Lehrpunkt beim Lager ist derselbe wie bei den Freiminuten: Bestand gegen Bewegung. Wer den Lagerbestand als Zahl pflegt, kann ihn nicht mehr erklären.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Datenbankentwurf am Fallbeispiel VeloCity</a:t>
            </a:r>
          </a:p>
        </p:txBody>
      </p:sp>
      <p:sp>
        <p:nvSpPr>
          <p:cNvPr id="3" name="Text Placeholder 2"/>
          <p:cNvSpPr>
            <a:spLocks noGrp="1"/>
          </p:cNvSpPr>
          <p:nvPr>
            <p:ph type="body" idx="11" sz="quarter"/>
          </p:nvPr>
        </p:nvSpPr>
        <p:spPr/>
        <p:txBody>
          <a:bodyPr/>
          <a:lstStyle/>
          <a:p>
            <a:r>
              <a:t>Eine Fahrt, 61 Minuten, 4,96 Euro — und alles, was eine Datenbank dafür wissen und garantieren muss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Anna fährt 61 Minuten. Das ist alles, was wir wissen.</a:t>
            </a:r>
          </a:p>
        </p:txBody>
      </p:sp>
      <p:sp>
        <p:nvSpPr>
          <p:cNvPr id="3" name="Text Placeholder 2"/>
          <p:cNvSpPr>
            <a:spLocks noGrp="1"/>
          </p:cNvSpPr>
          <p:nvPr>
            <p:ph type="body" idx="12" sz="quarter"/>
          </p:nvPr>
        </p:nvSpPr>
        <p:spPr/>
        <p:txBody>
          <a:bodyPr/>
          <a:lstStyle/>
          <a:p>
            <a:r>
              <a:t>Der Fall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Aus diesem einen Satz entsteht das gesamte Datenmodell. Jede Frage, die diese Fahrt aufwirft, beantwortet ein Kapitel dieser Einheit — und am Ende steht eine Datenbank, die Annas Rechnung selbst berechnet und ihre Regeln erzwingt.</a:t>
            </a:r>
          </a:p>
        </p:txBody>
      </p:sp>
      <p:sp>
        <p:nvSpPr>
          <p:cNvPr id="6" name="Rectangle 5"/>
          <p:cNvSpPr/>
          <p:nvPr/>
        </p:nvSpPr>
        <p:spPr>
          <a:xfrm>
            <a:off x="1170788" y="1778000"/>
            <a:ext cx="11439193" cy="2616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den-annas-fahrt.png"/>
          <p:cNvPicPr>
            <a:picLocks noChangeAspect="1"/>
          </p:cNvPicPr>
          <p:nvPr/>
        </p:nvPicPr>
        <p:blipFill>
          <a:blip r:embed="rId2"/>
          <a:stretch>
            <a:fillRect/>
          </a:stretch>
        </p:blipFill>
        <p:spPr>
          <a:xfrm>
            <a:off x="1272388" y="1879600"/>
            <a:ext cx="11235993" cy="2413000"/>
          </a:xfrm>
          <a:prstGeom prst="rect">
            <a:avLst/>
          </a:prstGeom>
        </p:spPr>
      </p:pic>
      <p:sp>
        <p:nvSpPr>
          <p:cNvPr id="8" name="Rectangle 7"/>
          <p:cNvSpPr/>
          <p:nvPr/>
        </p:nvSpPr>
        <p:spPr>
          <a:xfrm>
            <a:off x="1153160" y="5029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6360" y="5105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Prüfen Sie im Verlauf mit: Woher weiß die Datenbank am Ende, dass Anna genau 4,96 Euro zahlt — und nicht 6,20 oder 4,00?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Dreizehn Kapitel, dreizehn Fragen an Annas Fahrt</a:t>
            </a:r>
          </a:p>
        </p:txBody>
      </p:sp>
      <p:sp>
        <p:nvSpPr>
          <p:cNvPr id="3" name="Text Placeholder 2"/>
          <p:cNvSpPr>
            <a:spLocks noGrp="1"/>
          </p:cNvSpPr>
          <p:nvPr>
            <p:ph type="body" idx="12" sz="quarter"/>
          </p:nvPr>
        </p:nvSpPr>
        <p:spPr/>
        <p:txBody>
          <a:bodyPr/>
          <a:lstStyle/>
          <a:p>
            <a:r>
              <a:t>Orientierung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Reihenfolge ist zwingend. Anforderungen vor Modell, Modell vor Relationen, Relationen vor DDL. Wer sie umdreht, bindet sich an eine Umsetzung, bevor er weiß, was umzusetzen ist.</a:t>
            </a:r>
          </a:p>
        </p:txBody>
      </p:sp>
      <p:sp>
        <p:nvSpPr>
          <p:cNvPr id="6" name="Rectangle 5"/>
          <p:cNvSpPr/>
          <p:nvPr/>
        </p:nvSpPr>
        <p:spPr>
          <a:xfrm>
            <a:off x="1153160" y="2235200"/>
            <a:ext cx="2794000" cy="279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Kapitel</a:t>
            </a:r>
          </a:p>
        </p:txBody>
      </p:sp>
      <p:sp>
        <p:nvSpPr>
          <p:cNvPr id="7" name="Rectangle 6"/>
          <p:cNvSpPr/>
          <p:nvPr/>
        </p:nvSpPr>
        <p:spPr>
          <a:xfrm>
            <a:off x="3947160" y="2235200"/>
            <a:ext cx="8680450" cy="279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Die Frage, die Annas Fahrt aufwirft</a:t>
            </a:r>
          </a:p>
        </p:txBody>
      </p:sp>
      <p:sp>
        <p:nvSpPr>
          <p:cNvPr id="8" name="Rectangle 7"/>
          <p:cNvSpPr/>
          <p:nvPr/>
        </p:nvSpPr>
        <p:spPr>
          <a:xfrm>
            <a:off x="1153160" y="25146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Fallstudie</a:t>
            </a:r>
          </a:p>
        </p:txBody>
      </p:sp>
      <p:sp>
        <p:nvSpPr>
          <p:cNvPr id="9" name="Rectangle 8"/>
          <p:cNvSpPr/>
          <p:nvPr/>
        </p:nvSpPr>
        <p:spPr>
          <a:xfrm>
            <a:off x="3947160" y="25146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Was muss die Datenbank über diese Fahrt überhaupt wissen?</a:t>
            </a:r>
          </a:p>
        </p:txBody>
      </p:sp>
      <p:sp>
        <p:nvSpPr>
          <p:cNvPr id="10" name="Rectangle 9"/>
          <p:cNvSpPr/>
          <p:nvPr/>
        </p:nvSpPr>
        <p:spPr>
          <a:xfrm>
            <a:off x="1153160" y="27940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Konzeptionell</a:t>
            </a:r>
          </a:p>
        </p:txBody>
      </p:sp>
      <p:sp>
        <p:nvSpPr>
          <p:cNvPr id="11" name="Rectangle 10"/>
          <p:cNvSpPr/>
          <p:nvPr/>
        </p:nvSpPr>
        <p:spPr>
          <a:xfrm>
            <a:off x="3947160" y="27940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Welche Dinge sind das — und wie hängen sie zusammen?</a:t>
            </a:r>
          </a:p>
        </p:txBody>
      </p:sp>
      <p:sp>
        <p:nvSpPr>
          <p:cNvPr id="12" name="Rectangle 11"/>
          <p:cNvSpPr/>
          <p:nvPr/>
        </p:nvSpPr>
        <p:spPr>
          <a:xfrm>
            <a:off x="1153160" y="30734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Normalisierung</a:t>
            </a:r>
          </a:p>
        </p:txBody>
      </p:sp>
      <p:sp>
        <p:nvSpPr>
          <p:cNvPr id="13" name="Rectangle 12"/>
          <p:cNvSpPr/>
          <p:nvPr/>
        </p:nvSpPr>
        <p:spPr>
          <a:xfrm>
            <a:off x="3947160" y="30734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Warum reicht dafür nicht eine einzige Tabelle?</a:t>
            </a:r>
          </a:p>
        </p:txBody>
      </p:sp>
      <p:sp>
        <p:nvSpPr>
          <p:cNvPr id="14" name="Rectangle 13"/>
          <p:cNvSpPr/>
          <p:nvPr/>
        </p:nvSpPr>
        <p:spPr>
          <a:xfrm>
            <a:off x="1153160" y="33528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Logisch</a:t>
            </a:r>
          </a:p>
        </p:txBody>
      </p:sp>
      <p:sp>
        <p:nvSpPr>
          <p:cNvPr id="15" name="Rectangle 14"/>
          <p:cNvSpPr/>
          <p:nvPr/>
        </p:nvSpPr>
        <p:spPr>
          <a:xfrm>
            <a:off x="3947160" y="33528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wird aus dem Bild ein Satz von Relationen?</a:t>
            </a:r>
          </a:p>
        </p:txBody>
      </p:sp>
      <p:sp>
        <p:nvSpPr>
          <p:cNvPr id="16" name="Rectangle 15"/>
          <p:cNvSpPr/>
          <p:nvPr/>
        </p:nvSpPr>
        <p:spPr>
          <a:xfrm>
            <a:off x="1153160" y="36322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Physisch</a:t>
            </a:r>
          </a:p>
        </p:txBody>
      </p:sp>
      <p:sp>
        <p:nvSpPr>
          <p:cNvPr id="17" name="Rectangle 16"/>
          <p:cNvSpPr/>
          <p:nvPr/>
        </p:nvSpPr>
        <p:spPr>
          <a:xfrm>
            <a:off x="3947160" y="36322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erzwingt die Datenbank, dass Annas Rechnung stimmt?</a:t>
            </a:r>
          </a:p>
        </p:txBody>
      </p:sp>
      <p:sp>
        <p:nvSpPr>
          <p:cNvPr id="18" name="Rectangle 17"/>
          <p:cNvSpPr/>
          <p:nvPr/>
        </p:nvSpPr>
        <p:spPr>
          <a:xfrm>
            <a:off x="1153160" y="39116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Implementierung</a:t>
            </a:r>
          </a:p>
        </p:txBody>
      </p:sp>
      <p:sp>
        <p:nvSpPr>
          <p:cNvPr id="19" name="Rectangle 18"/>
          <p:cNvSpPr/>
          <p:nvPr/>
        </p:nvSpPr>
        <p:spPr>
          <a:xfrm>
            <a:off x="3947160" y="39116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Was kostet die Fahrt genau — und warum?</a:t>
            </a:r>
          </a:p>
        </p:txBody>
      </p:sp>
      <p:sp>
        <p:nvSpPr>
          <p:cNvPr id="20" name="Rectangle 19"/>
          <p:cNvSpPr/>
          <p:nvPr/>
        </p:nvSpPr>
        <p:spPr>
          <a:xfrm>
            <a:off x="1153160" y="41910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7 Sicherheit</a:t>
            </a:r>
          </a:p>
        </p:txBody>
      </p:sp>
      <p:sp>
        <p:nvSpPr>
          <p:cNvPr id="21" name="Rectangle 20"/>
          <p:cNvSpPr/>
          <p:nvPr/>
        </p:nvSpPr>
        <p:spPr>
          <a:xfrm>
            <a:off x="3947160" y="41910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Wer außer Anna darf ihre Daten sehen?</a:t>
            </a:r>
          </a:p>
        </p:txBody>
      </p:sp>
      <p:sp>
        <p:nvSpPr>
          <p:cNvPr id="22" name="Rectangle 21"/>
          <p:cNvSpPr/>
          <p:nvPr/>
        </p:nvSpPr>
        <p:spPr>
          <a:xfrm>
            <a:off x="1153160" y="44704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8 Anbindung</a:t>
            </a:r>
          </a:p>
        </p:txBody>
      </p:sp>
      <p:sp>
        <p:nvSpPr>
          <p:cNvPr id="23" name="Rectangle 22"/>
          <p:cNvSpPr/>
          <p:nvPr/>
        </p:nvSpPr>
        <p:spPr>
          <a:xfrm>
            <a:off x="3947160" y="44704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kommt das alles in die Web-Anwendung?</a:t>
            </a:r>
          </a:p>
        </p:txBody>
      </p:sp>
      <p:sp>
        <p:nvSpPr>
          <p:cNvPr id="24" name="Rectangle 23"/>
          <p:cNvSpPr/>
          <p:nvPr/>
        </p:nvSpPr>
        <p:spPr>
          <a:xfrm>
            <a:off x="1153160" y="47498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9 Warenwirtschaft</a:t>
            </a:r>
          </a:p>
        </p:txBody>
      </p:sp>
      <p:sp>
        <p:nvSpPr>
          <p:cNvPr id="25" name="Rectangle 24"/>
          <p:cNvSpPr/>
          <p:nvPr/>
        </p:nvSpPr>
        <p:spPr>
          <a:xfrm>
            <a:off x="3947160" y="47498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Wer arbeitet mit der Fahrt, wenn sie bezahlt ist?</a:t>
            </a:r>
          </a:p>
        </p:txBody>
      </p:sp>
      <p:sp>
        <p:nvSpPr>
          <p:cNvPr id="26" name="Rectangle 25"/>
          <p:cNvSpPr/>
          <p:nvPr/>
        </p:nvSpPr>
        <p:spPr>
          <a:xfrm>
            <a:off x="1153160" y="50292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10 Analytik</a:t>
            </a:r>
          </a:p>
        </p:txBody>
      </p:sp>
      <p:sp>
        <p:nvSpPr>
          <p:cNvPr id="27" name="Rectangle 26"/>
          <p:cNvSpPr/>
          <p:nvPr/>
        </p:nvSpPr>
        <p:spPr>
          <a:xfrm>
            <a:off x="3947160" y="50292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Welche Frage stellt die Leitung — und welche Zeile antwortet?</a:t>
            </a:r>
          </a:p>
        </p:txBody>
      </p:sp>
      <p:sp>
        <p:nvSpPr>
          <p:cNvPr id="28" name="Rectangle 27"/>
          <p:cNvSpPr/>
          <p:nvPr/>
        </p:nvSpPr>
        <p:spPr>
          <a:xfrm>
            <a:off x="1153160" y="53086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11 Oberflächen</a:t>
            </a:r>
          </a:p>
        </p:txBody>
      </p:sp>
      <p:sp>
        <p:nvSpPr>
          <p:cNvPr id="29" name="Rectangle 28"/>
          <p:cNvSpPr/>
          <p:nvPr/>
        </p:nvSpPr>
        <p:spPr>
          <a:xfrm>
            <a:off x="3947160" y="53086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kommt Annas Rad auf zwei verschiedene Bildschirme?</a:t>
            </a:r>
          </a:p>
        </p:txBody>
      </p:sp>
      <p:sp>
        <p:nvSpPr>
          <p:cNvPr id="30" name="Rectangle 29"/>
          <p:cNvSpPr/>
          <p:nvPr/>
        </p:nvSpPr>
        <p:spPr>
          <a:xfrm>
            <a:off x="1153160" y="5588000"/>
            <a:ext cx="279400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12 Agent</a:t>
            </a:r>
          </a:p>
        </p:txBody>
      </p:sp>
      <p:sp>
        <p:nvSpPr>
          <p:cNvPr id="31" name="Rectangle 30"/>
          <p:cNvSpPr/>
          <p:nvPr/>
        </p:nvSpPr>
        <p:spPr>
          <a:xfrm>
            <a:off x="3947160" y="5588000"/>
            <a:ext cx="8680450" cy="279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Was ändert sich, wenn kein Mensch mehr klickt?</a:t>
            </a:r>
          </a:p>
        </p:txBody>
      </p:sp>
      <p:sp>
        <p:nvSpPr>
          <p:cNvPr id="32" name="Rectangle 31"/>
          <p:cNvSpPr/>
          <p:nvPr/>
        </p:nvSpPr>
        <p:spPr>
          <a:xfrm>
            <a:off x="1153160" y="5867400"/>
            <a:ext cx="279400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13 Abschluss</a:t>
            </a:r>
          </a:p>
        </p:txBody>
      </p:sp>
      <p:sp>
        <p:nvSpPr>
          <p:cNvPr id="33" name="Rectangle 32"/>
          <p:cNvSpPr/>
          <p:nvPr/>
        </p:nvSpPr>
        <p:spPr>
          <a:xfrm>
            <a:off x="3947160" y="5867400"/>
            <a:ext cx="8680450" cy="279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Was bleibt — und was ist entworfen, aber nicht gebaut?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 Die Fallstudie</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muss die Datenbank über Annas Fahrt überhaupt wissen?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VeloCity vermietet Räder minutengenau</a:t>
            </a:r>
          </a:p>
        </p:txBody>
      </p:sp>
      <p:sp>
        <p:nvSpPr>
          <p:cNvPr id="3" name="Text Placeholder 2"/>
          <p:cNvSpPr>
            <a:spLocks noGrp="1"/>
          </p:cNvSpPr>
          <p:nvPr>
            <p:ph type="body" idx="12" sz="quarter"/>
          </p:nvPr>
        </p:nvSpPr>
        <p:spPr/>
        <p:txBody>
          <a:bodyPr/>
          <a:lstStyle/>
          <a:p>
            <a:r>
              <a:t>1 · Die Fallstudie</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Bike-Sharing-System in Würzburg. Kunden finden freie Räder auf einer Karte, entleihen sie, fahren und stellen sie wieder ab. Vielfahrer schließen einen Tarif ab, der Freiminuten und Rabatt mitbringt.</a:t>
            </a:r>
          </a:p>
        </p:txBody>
      </p:sp>
      <p:sp>
        <p:nvSpPr>
          <p:cNvPr id="6" name="Rectangle 5"/>
          <p:cNvSpPr/>
          <p:nvPr/>
        </p:nvSpPr>
        <p:spPr>
          <a:xfrm>
            <a:off x="115316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Drei Fahrzeugklassen</a:t>
            </a:r>
          </a:p>
          <a:p>
            <a:pPr algn="l">
              <a:lnSpc>
                <a:spcPct val="95000"/>
              </a:lnSpc>
              <a:spcBef>
                <a:spcPts val="500"/>
              </a:spcBef>
            </a:pPr>
            <a:r>
              <a:rPr sz="1300" b="0">
                <a:solidFill>
                  <a:srgbClr val="404040"/>
                </a:solidFill>
              </a:rPr>
              <a:t>City-Bike, Stadtrad ohne Motor</a:t>
            </a:r>
          </a:p>
          <a:p>
            <a:pPr algn="l">
              <a:lnSpc>
                <a:spcPct val="95000"/>
              </a:lnSpc>
              <a:spcBef>
                <a:spcPts val="500"/>
              </a:spcBef>
            </a:pPr>
            <a:r>
              <a:rPr sz="1300" b="0">
                <a:solidFill>
                  <a:srgbClr val="404040"/>
                </a:solidFill>
              </a:rPr>
              <a:t>E-Bike Sport, Pedelec bis 25 km/h</a:t>
            </a:r>
          </a:p>
          <a:p>
            <a:pPr algn="l">
              <a:lnSpc>
                <a:spcPct val="95000"/>
              </a:lnSpc>
              <a:spcBef>
                <a:spcPts val="500"/>
              </a:spcBef>
            </a:pPr>
            <a:r>
              <a:rPr sz="1300" b="0">
                <a:solidFill>
                  <a:srgbClr val="404040"/>
                </a:solidFill>
              </a:rPr>
              <a:t>E-Cargo Loader, bis 75 kg Zuladung</a:t>
            </a:r>
          </a:p>
        </p:txBody>
      </p:sp>
      <p:sp>
        <p:nvSpPr>
          <p:cNvPr id="9" name="Rectangle 8"/>
          <p:cNvSpPr/>
          <p:nvPr/>
        </p:nvSpPr>
        <p:spPr>
          <a:xfrm>
            <a:off x="511302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Zwei Abstellarten</a:t>
            </a:r>
          </a:p>
          <a:p>
            <a:pPr algn="l">
              <a:lnSpc>
                <a:spcPct val="95000"/>
              </a:lnSpc>
              <a:spcBef>
                <a:spcPts val="500"/>
              </a:spcBef>
            </a:pPr>
            <a:r>
              <a:rPr sz="1300" b="0">
                <a:solidFill>
                  <a:srgbClr val="404040"/>
                </a:solidFill>
              </a:rPr>
              <a:t>An einer festen Station, kostenfrei</a:t>
            </a:r>
          </a:p>
          <a:p>
            <a:pPr algn="l">
              <a:lnSpc>
                <a:spcPct val="95000"/>
              </a:lnSpc>
              <a:spcBef>
                <a:spcPts val="500"/>
              </a:spcBef>
            </a:pPr>
            <a:r>
              <a:rPr sz="1300" b="0">
                <a:solidFill>
                  <a:srgbClr val="404040"/>
                </a:solidFill>
              </a:rPr>
              <a:t>Frei im Stadtgebiet, ohne Zuschlag</a:t>
            </a:r>
          </a:p>
          <a:p>
            <a:pPr algn="l">
              <a:lnSpc>
                <a:spcPct val="95000"/>
              </a:lnSpc>
              <a:spcBef>
                <a:spcPts val="500"/>
              </a:spcBef>
            </a:pPr>
            <a:r>
              <a:rPr sz="1300" b="0">
                <a:solidFill>
                  <a:srgbClr val="404040"/>
                </a:solidFill>
              </a:rPr>
              <a:t>Beides muss das Modell abbilden</a:t>
            </a:r>
          </a:p>
        </p:txBody>
      </p:sp>
      <p:sp>
        <p:nvSpPr>
          <p:cNvPr id="12" name="Rectangle 11"/>
          <p:cNvSpPr/>
          <p:nvPr/>
        </p:nvSpPr>
        <p:spPr>
          <a:xfrm>
            <a:off x="908177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Vier Tarife</a:t>
            </a:r>
          </a:p>
          <a:p>
            <a:pPr algn="l">
              <a:lnSpc>
                <a:spcPct val="95000"/>
              </a:lnSpc>
              <a:spcBef>
                <a:spcPts val="500"/>
              </a:spcBef>
            </a:pPr>
            <a:r>
              <a:rPr sz="1300" b="0">
                <a:solidFill>
                  <a:srgbClr val="404040"/>
                </a:solidFill>
              </a:rPr>
              <a:t>Basis ohne Freiminuten</a:t>
            </a:r>
          </a:p>
          <a:p>
            <a:pPr algn="l">
              <a:lnSpc>
                <a:spcPct val="95000"/>
              </a:lnSpc>
              <a:spcBef>
                <a:spcPts val="500"/>
              </a:spcBef>
            </a:pPr>
            <a:r>
              <a:rPr sz="1300" b="0">
                <a:solidFill>
                  <a:srgbClr val="404040"/>
                </a:solidFill>
              </a:rPr>
              <a:t>Student und ÖPNV mit Kontingent</a:t>
            </a:r>
          </a:p>
          <a:p>
            <a:pPr algn="l">
              <a:lnSpc>
                <a:spcPct val="95000"/>
              </a:lnSpc>
              <a:spcBef>
                <a:spcPts val="500"/>
              </a:spcBef>
            </a:pPr>
            <a:r>
              <a:rPr sz="1300" b="0">
                <a:solidFill>
                  <a:srgbClr val="404040"/>
                </a:solidFill>
              </a:rPr>
              <a:t>Premium mit Rabatt und Monatspreis</a:t>
            </a:r>
          </a:p>
        </p:txBody>
      </p:sp>
      <p:sp>
        <p:nvSpPr>
          <p:cNvPr id="15" name="Rectangle 14"/>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 fährt ein E-Bike und hat den Studententarif — 300 Freiminuten im Monat.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Zehn Geschäftsregeln — jede muss erzwungen werden</a:t>
            </a:r>
          </a:p>
        </p:txBody>
      </p:sp>
      <p:sp>
        <p:nvSpPr>
          <p:cNvPr id="3" name="Text Placeholder 2"/>
          <p:cNvSpPr>
            <a:spLocks noGrp="1"/>
          </p:cNvSpPr>
          <p:nvPr>
            <p:ph type="body" idx="12" sz="quarter"/>
          </p:nvPr>
        </p:nvSpPr>
        <p:spPr/>
        <p:txBody>
          <a:bodyPr/>
          <a:lstStyle/>
          <a:p>
            <a:r>
              <a:t>1 · Die Fallstudie</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Diese Regeln sind die fachliche Substanz. Entscheidend ist nicht, sie zu notieren, sondern dass jede einzelne am Ende erzwungen wird — von der Datenbank, nicht von der Anwendung.</a:t>
            </a:r>
          </a:p>
        </p:txBody>
      </p:sp>
      <p:sp>
        <p:nvSpPr>
          <p:cNvPr id="6" name="Rectangle 5"/>
          <p:cNvSpPr/>
          <p:nvPr/>
        </p:nvSpPr>
        <p:spPr>
          <a:xfrm>
            <a:off x="1153160" y="22098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098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22860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GR1  </a:t>
            </a:r>
            <a:r>
              <a:rPr sz="1300">
                <a:solidFill>
                  <a:srgbClr val="404040"/>
                </a:solidFill>
              </a:rPr>
              <a:t>Ein Rad ist höchstens einmal gleichzeitig ausgeliehen</a:t>
            </a:r>
          </a:p>
        </p:txBody>
      </p:sp>
      <p:sp>
        <p:nvSpPr>
          <p:cNvPr id="10" name="Rounded Rectangle 9"/>
          <p:cNvSpPr/>
          <p:nvPr/>
        </p:nvSpPr>
        <p:spPr>
          <a:xfrm>
            <a:off x="9300210" y="23241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partieller UNIQUE-Index</a:t>
            </a:r>
          </a:p>
        </p:txBody>
      </p:sp>
      <p:sp>
        <p:nvSpPr>
          <p:cNvPr id="11" name="Rectangle 10"/>
          <p:cNvSpPr/>
          <p:nvPr/>
        </p:nvSpPr>
        <p:spPr>
          <a:xfrm>
            <a:off x="1153160" y="28067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28067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30960" y="29083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4" name="TextBox 13"/>
          <p:cNvSpPr txBox="1"/>
          <p:nvPr/>
        </p:nvSpPr>
        <p:spPr>
          <a:xfrm>
            <a:off x="1788160" y="28829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GR2  </a:t>
            </a:r>
            <a:r>
              <a:rPr sz="1300">
                <a:solidFill>
                  <a:srgbClr val="404040"/>
                </a:solidFill>
              </a:rPr>
              <a:t>Ein Kunde hat höchstens vier aktive Ausleihen</a:t>
            </a:r>
          </a:p>
        </p:txBody>
      </p:sp>
      <p:sp>
        <p:nvSpPr>
          <p:cNvPr id="15" name="Rounded Rectangle 14"/>
          <p:cNvSpPr/>
          <p:nvPr/>
        </p:nvSpPr>
        <p:spPr>
          <a:xfrm>
            <a:off x="9300210" y="29210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Prüfung in der Funktion</a:t>
            </a:r>
          </a:p>
        </p:txBody>
      </p:sp>
      <p:sp>
        <p:nvSpPr>
          <p:cNvPr id="16" name="Rectangle 15"/>
          <p:cNvSpPr/>
          <p:nvPr/>
        </p:nvSpPr>
        <p:spPr>
          <a:xfrm>
            <a:off x="1153160" y="34036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53160" y="34036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330960" y="3505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9" name="TextBox 18"/>
          <p:cNvSpPr txBox="1"/>
          <p:nvPr/>
        </p:nvSpPr>
        <p:spPr>
          <a:xfrm>
            <a:off x="1788160" y="34798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GR3  </a:t>
            </a:r>
            <a:r>
              <a:rPr sz="1300">
                <a:solidFill>
                  <a:srgbClr val="404040"/>
                </a:solidFill>
              </a:rPr>
              <a:t>Ein Kunde hat zu einem Zeitpunkt einen Tarif</a:t>
            </a:r>
          </a:p>
        </p:txBody>
      </p:sp>
      <p:sp>
        <p:nvSpPr>
          <p:cNvPr id="20" name="Rounded Rectangle 19"/>
          <p:cNvSpPr/>
          <p:nvPr/>
        </p:nvSpPr>
        <p:spPr>
          <a:xfrm>
            <a:off x="9300210" y="35179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EXCLUDE-Constraint</a:t>
            </a:r>
          </a:p>
        </p:txBody>
      </p:sp>
      <p:sp>
        <p:nvSpPr>
          <p:cNvPr id="21" name="Rectangle 20"/>
          <p:cNvSpPr/>
          <p:nvPr/>
        </p:nvSpPr>
        <p:spPr>
          <a:xfrm>
            <a:off x="1153160" y="40005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53160" y="40005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330960" y="41021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4" name="TextBox 23"/>
          <p:cNvSpPr txBox="1"/>
          <p:nvPr/>
        </p:nvSpPr>
        <p:spPr>
          <a:xfrm>
            <a:off x="1788160" y="40767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GR4  </a:t>
            </a:r>
            <a:r>
              <a:rPr sz="1300">
                <a:solidFill>
                  <a:srgbClr val="404040"/>
                </a:solidFill>
              </a:rPr>
              <a:t>Preise und Konditionen überlappen sich nie</a:t>
            </a:r>
          </a:p>
        </p:txBody>
      </p:sp>
      <p:sp>
        <p:nvSpPr>
          <p:cNvPr id="25" name="Rounded Rectangle 24"/>
          <p:cNvSpPr/>
          <p:nvPr/>
        </p:nvSpPr>
        <p:spPr>
          <a:xfrm>
            <a:off x="9300210" y="41148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EXCLUDE-Constraint</a:t>
            </a:r>
          </a:p>
        </p:txBody>
      </p:sp>
      <p:sp>
        <p:nvSpPr>
          <p:cNvPr id="26" name="Rectangle 25"/>
          <p:cNvSpPr/>
          <p:nvPr/>
        </p:nvSpPr>
        <p:spPr>
          <a:xfrm>
            <a:off x="1153160" y="45974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53160" y="45974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330960" y="4699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5</a:t>
            </a:r>
          </a:p>
        </p:txBody>
      </p:sp>
      <p:sp>
        <p:nvSpPr>
          <p:cNvPr id="29" name="TextBox 28"/>
          <p:cNvSpPr txBox="1"/>
          <p:nvPr/>
        </p:nvSpPr>
        <p:spPr>
          <a:xfrm>
            <a:off x="1788160" y="46736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GR5  </a:t>
            </a:r>
            <a:r>
              <a:rPr sz="1300">
                <a:solidFill>
                  <a:srgbClr val="404040"/>
                </a:solidFill>
              </a:rPr>
              <a:t>Bepreist wird mit dem Preis zur Startzeit</a:t>
            </a:r>
          </a:p>
        </p:txBody>
      </p:sp>
      <p:sp>
        <p:nvSpPr>
          <p:cNvPr id="30" name="Rounded Rectangle 29"/>
          <p:cNvSpPr/>
          <p:nvPr/>
        </p:nvSpPr>
        <p:spPr>
          <a:xfrm>
            <a:off x="9300210" y="47117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in fn_ausleihe_abrechnen</a:t>
            </a:r>
          </a:p>
        </p:txBody>
      </p:sp>
      <p:sp>
        <p:nvSpPr>
          <p:cNvPr id="31" name="Rectangle 30"/>
          <p:cNvSpPr/>
          <p:nvPr/>
        </p:nvSpPr>
        <p:spPr>
          <a:xfrm>
            <a:off x="1153160" y="5194300"/>
            <a:ext cx="11474450" cy="533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153160" y="5194300"/>
            <a:ext cx="508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330960" y="5295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6</a:t>
            </a:r>
          </a:p>
        </p:txBody>
      </p:sp>
      <p:sp>
        <p:nvSpPr>
          <p:cNvPr id="34" name="TextBox 33"/>
          <p:cNvSpPr txBox="1"/>
          <p:nvPr/>
        </p:nvSpPr>
        <p:spPr>
          <a:xfrm>
            <a:off x="1788160" y="5270500"/>
            <a:ext cx="7283450" cy="381000"/>
          </a:xfrm>
          <a:prstGeom prst="rect">
            <a:avLst/>
          </a:prstGeom>
          <a:noFill/>
        </p:spPr>
        <p:txBody>
          <a:bodyPr wrap="square" lIns="0" tIns="0" rIns="0" bIns="0" anchor="ctr">
            <a:spAutoFit/>
          </a:bodyPr>
          <a:lstStyle/>
          <a:p>
            <a:pPr>
              <a:lnSpc>
                <a:spcPct val="95000"/>
              </a:lnSpc>
            </a:pPr>
            <a:r>
              <a:rPr sz="1300" b="1">
                <a:solidFill>
                  <a:srgbClr val="003E6E"/>
                </a:solidFill>
              </a:rPr>
              <a:t>GR6  </a:t>
            </a:r>
            <a:r>
              <a:rPr sz="1300">
                <a:solidFill>
                  <a:srgbClr val="404040"/>
                </a:solidFill>
              </a:rPr>
              <a:t>Angefangene Minuten werden aufgerundet</a:t>
            </a:r>
          </a:p>
        </p:txBody>
      </p:sp>
      <p:sp>
        <p:nvSpPr>
          <p:cNvPr id="35" name="Rounded Rectangle 34"/>
          <p:cNvSpPr/>
          <p:nvPr/>
        </p:nvSpPr>
        <p:spPr>
          <a:xfrm>
            <a:off x="9300210" y="5308600"/>
            <a:ext cx="3175000" cy="304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GENERATED-Spalte</a:t>
            </a:r>
          </a:p>
        </p:txBody>
      </p:sp>
      <p:sp>
        <p:nvSpPr>
          <p:cNvPr id="36" name="Rectangle 35"/>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GR5 entscheidet über Annas Rechnung: es gilt der Preis um 10:00 Uhr, nicht der von heute.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 Konzeptioneller Entwurf</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Welche Dinge sind das — und wie hängen sie zusammen?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Substantive werden Entitäten, Verben werden Beziehungen</a:t>
            </a:r>
          </a:p>
        </p:txBody>
      </p:sp>
      <p:sp>
        <p:nvSpPr>
          <p:cNvPr id="3" name="Text Placeholder 2"/>
          <p:cNvSpPr>
            <a:spLocks noGrp="1"/>
          </p:cNvSpPr>
          <p:nvPr>
            <p:ph type="body" idx="12" sz="quarter"/>
          </p:nvPr>
        </p:nvSpPr>
        <p:spPr/>
        <p:txBody>
          <a:bodyPr/>
          <a:lstStyle/>
          <a:p>
            <a:r>
              <a:t>2 · Konzeptioneller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Eine Heuristik zum Einstieg, kein Automatismus — die eigentliche Arbeit steckt in den Kardinalitäten.</a:t>
            </a:r>
          </a:p>
        </p:txBody>
      </p:sp>
      <p:sp>
        <p:nvSpPr>
          <p:cNvPr id="6" name="Rectangle 5"/>
          <p:cNvSpPr/>
          <p:nvPr/>
        </p:nvSpPr>
        <p:spPr>
          <a:xfrm>
            <a:off x="3454753" y="1549400"/>
            <a:ext cx="6871262"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erm-konzeptionell.png"/>
          <p:cNvPicPr>
            <a:picLocks noChangeAspect="1"/>
          </p:cNvPicPr>
          <p:nvPr/>
        </p:nvPicPr>
        <p:blipFill>
          <a:blip r:embed="rId2"/>
          <a:stretch>
            <a:fillRect/>
          </a:stretch>
        </p:blipFill>
        <p:spPr>
          <a:xfrm>
            <a:off x="3556353" y="1651000"/>
            <a:ext cx="6668062" cy="4470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Kardinalitäten lesen und prüfen</a:t>
            </a:r>
          </a:p>
        </p:txBody>
      </p:sp>
      <p:sp>
        <p:nvSpPr>
          <p:cNvPr id="3" name="Text Placeholder 2"/>
          <p:cNvSpPr>
            <a:spLocks noGrp="1"/>
          </p:cNvSpPr>
          <p:nvPr>
            <p:ph type="body" idx="12" sz="quarter"/>
          </p:nvPr>
        </p:nvSpPr>
        <p:spPr/>
        <p:txBody>
          <a:bodyPr/>
          <a:lstStyle/>
          <a:p>
            <a:r>
              <a:t>2 · Konzeptioneller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 Notation ist schnell gelernt. Die Frage dahinter ist die schwierige: Stimmt die Aussage über die Wirklichkeit?</a:t>
            </a:r>
          </a:p>
        </p:txBody>
      </p:sp>
      <p:sp>
        <p:nvSpPr>
          <p:cNvPr id="6" name="Rectangle 5"/>
          <p:cNvSpPr/>
          <p:nvPr/>
        </p:nvSpPr>
        <p:spPr>
          <a:xfrm>
            <a:off x="1153160" y="2438400"/>
            <a:ext cx="13970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Zeichen</a:t>
            </a:r>
          </a:p>
        </p:txBody>
      </p:sp>
      <p:sp>
        <p:nvSpPr>
          <p:cNvPr id="7" name="Rectangle 6"/>
          <p:cNvSpPr/>
          <p:nvPr/>
        </p:nvSpPr>
        <p:spPr>
          <a:xfrm>
            <a:off x="2550160" y="2438400"/>
            <a:ext cx="29210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Bedeutung</a:t>
            </a:r>
          </a:p>
        </p:txBody>
      </p:sp>
      <p:sp>
        <p:nvSpPr>
          <p:cNvPr id="8" name="Rectangle 7"/>
          <p:cNvSpPr/>
          <p:nvPr/>
        </p:nvSpPr>
        <p:spPr>
          <a:xfrm>
            <a:off x="5471160" y="2438400"/>
            <a:ext cx="33020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Beispiel im Modell</a:t>
            </a:r>
          </a:p>
        </p:txBody>
      </p:sp>
      <p:sp>
        <p:nvSpPr>
          <p:cNvPr id="9" name="Rectangle 8"/>
          <p:cNvSpPr/>
          <p:nvPr/>
        </p:nvSpPr>
        <p:spPr>
          <a:xfrm>
            <a:off x="8773160" y="2438400"/>
            <a:ext cx="385445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Ist das wirklich so?</a:t>
            </a:r>
          </a:p>
        </p:txBody>
      </p:sp>
      <p:sp>
        <p:nvSpPr>
          <p:cNvPr id="10" name="Rectangle 9"/>
          <p:cNvSpPr/>
          <p:nvPr/>
        </p:nvSpPr>
        <p:spPr>
          <a:xfrm>
            <a:off x="1153160" y="2870200"/>
            <a:ext cx="1397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||--o{</a:t>
            </a:r>
          </a:p>
        </p:txBody>
      </p:sp>
      <p:sp>
        <p:nvSpPr>
          <p:cNvPr id="11" name="Rectangle 10"/>
          <p:cNvSpPr/>
          <p:nvPr/>
        </p:nvSpPr>
        <p:spPr>
          <a:xfrm>
            <a:off x="2550160" y="2870200"/>
            <a:ext cx="2921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eins zu null oder viele</a:t>
            </a:r>
          </a:p>
        </p:txBody>
      </p:sp>
      <p:sp>
        <p:nvSpPr>
          <p:cNvPr id="12" name="Rectangle 11"/>
          <p:cNvSpPr/>
          <p:nvPr/>
        </p:nvSpPr>
        <p:spPr>
          <a:xfrm>
            <a:off x="5471160" y="2870200"/>
            <a:ext cx="3302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KUNDE tätigt AUSLEIHE</a:t>
            </a:r>
          </a:p>
        </p:txBody>
      </p:sp>
      <p:sp>
        <p:nvSpPr>
          <p:cNvPr id="13" name="Rectangle 12"/>
          <p:cNvSpPr/>
          <p:nvPr/>
        </p:nvSpPr>
        <p:spPr>
          <a:xfrm>
            <a:off x="8773160" y="2870200"/>
            <a:ext cx="385445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Neukunde ohne Fahrt: ja</a:t>
            </a:r>
          </a:p>
        </p:txBody>
      </p:sp>
      <p:sp>
        <p:nvSpPr>
          <p:cNvPr id="14" name="Rectangle 13"/>
          <p:cNvSpPr/>
          <p:nvPr/>
        </p:nvSpPr>
        <p:spPr>
          <a:xfrm>
            <a:off x="1153160" y="3302000"/>
            <a:ext cx="1397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t>
            </a:r>
          </a:p>
        </p:txBody>
      </p:sp>
      <p:sp>
        <p:nvSpPr>
          <p:cNvPr id="15" name="Rectangle 14"/>
          <p:cNvSpPr/>
          <p:nvPr/>
        </p:nvSpPr>
        <p:spPr>
          <a:xfrm>
            <a:off x="2550160" y="3302000"/>
            <a:ext cx="2921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eins zu ein oder viele</a:t>
            </a:r>
          </a:p>
        </p:txBody>
      </p:sp>
      <p:sp>
        <p:nvSpPr>
          <p:cNvPr id="16" name="Rectangle 15"/>
          <p:cNvSpPr/>
          <p:nvPr/>
        </p:nvSpPr>
        <p:spPr>
          <a:xfrm>
            <a:off x="5471160" y="3302000"/>
            <a:ext cx="3302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RECHNUNG hat POSITION</a:t>
            </a:r>
          </a:p>
        </p:txBody>
      </p:sp>
      <p:sp>
        <p:nvSpPr>
          <p:cNvPr id="17" name="Rectangle 16"/>
          <p:cNvSpPr/>
          <p:nvPr/>
        </p:nvSpPr>
        <p:spPr>
          <a:xfrm>
            <a:off x="8773160" y="3302000"/>
            <a:ext cx="385445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Rechnung ohne Posten wäre sinnlos</a:t>
            </a:r>
          </a:p>
        </p:txBody>
      </p:sp>
      <p:sp>
        <p:nvSpPr>
          <p:cNvPr id="18" name="Rectangle 17"/>
          <p:cNvSpPr/>
          <p:nvPr/>
        </p:nvSpPr>
        <p:spPr>
          <a:xfrm>
            <a:off x="1153160" y="3733800"/>
            <a:ext cx="1397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t>
            </a:r>
          </a:p>
        </p:txBody>
      </p:sp>
      <p:sp>
        <p:nvSpPr>
          <p:cNvPr id="19" name="Rectangle 18"/>
          <p:cNvSpPr/>
          <p:nvPr/>
        </p:nvSpPr>
        <p:spPr>
          <a:xfrm>
            <a:off x="2550160" y="3733800"/>
            <a:ext cx="2921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eins zu eins</a:t>
            </a:r>
          </a:p>
        </p:txBody>
      </p:sp>
      <p:sp>
        <p:nvSpPr>
          <p:cNvPr id="20" name="Rectangle 19"/>
          <p:cNvSpPr/>
          <p:nvPr/>
        </p:nvSpPr>
        <p:spPr>
          <a:xfrm>
            <a:off x="5471160" y="3733800"/>
            <a:ext cx="3302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FAHRRAD hat POSITION</a:t>
            </a:r>
          </a:p>
        </p:txBody>
      </p:sp>
      <p:sp>
        <p:nvSpPr>
          <p:cNvPr id="21" name="Rectangle 20"/>
          <p:cNvSpPr/>
          <p:nvPr/>
        </p:nvSpPr>
        <p:spPr>
          <a:xfrm>
            <a:off x="8773160" y="3733800"/>
            <a:ext cx="385445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genau eine Position je Rad</a:t>
            </a:r>
          </a:p>
        </p:txBody>
      </p:sp>
      <p:sp>
        <p:nvSpPr>
          <p:cNvPr id="22" name="Rectangle 21"/>
          <p:cNvSpPr/>
          <p:nvPr/>
        </p:nvSpPr>
        <p:spPr>
          <a:xfrm>
            <a:off x="1153160" y="4165600"/>
            <a:ext cx="1397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||--o|</a:t>
            </a:r>
          </a:p>
        </p:txBody>
      </p:sp>
      <p:sp>
        <p:nvSpPr>
          <p:cNvPr id="23" name="Rectangle 22"/>
          <p:cNvSpPr/>
          <p:nvPr/>
        </p:nvSpPr>
        <p:spPr>
          <a:xfrm>
            <a:off x="2550160" y="4165600"/>
            <a:ext cx="2921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eins zu null oder eins</a:t>
            </a:r>
          </a:p>
        </p:txBody>
      </p:sp>
      <p:sp>
        <p:nvSpPr>
          <p:cNvPr id="24" name="Rectangle 23"/>
          <p:cNvSpPr/>
          <p:nvPr/>
        </p:nvSpPr>
        <p:spPr>
          <a:xfrm>
            <a:off x="5471160" y="4165600"/>
            <a:ext cx="3302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AUSLEIHE zu POSITION</a:t>
            </a:r>
          </a:p>
        </p:txBody>
      </p:sp>
      <p:sp>
        <p:nvSpPr>
          <p:cNvPr id="25" name="Rectangle 24"/>
          <p:cNvSpPr/>
          <p:nvPr/>
        </p:nvSpPr>
        <p:spPr>
          <a:xfrm>
            <a:off x="8773160" y="4165600"/>
            <a:ext cx="385445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noch nicht fakturiert: ja</a:t>
            </a:r>
          </a:p>
        </p:txBody>
      </p:sp>
      <p:sp>
        <p:nvSpPr>
          <p:cNvPr id="26" name="Rectangle 25"/>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ist eine AUSLEIHE — sie verbindet Kunde, Rad, Station und Tarif in einem Vorgang.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Geschäftspartner: Adresse als eigene Entität</a:t>
            </a:r>
          </a:p>
        </p:txBody>
      </p:sp>
      <p:sp>
        <p:nvSpPr>
          <p:cNvPr id="3" name="Text Placeholder 2"/>
          <p:cNvSpPr>
            <a:spLocks noGrp="1"/>
          </p:cNvSpPr>
          <p:nvPr>
            <p:ph type="body" idx="12" sz="quarter"/>
          </p:nvPr>
        </p:nvSpPr>
        <p:spPr/>
        <p:txBody>
          <a:bodyPr/>
          <a:lstStyle/>
          <a:p>
            <a:r>
              <a:t>2 · Bereich A</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 ist ein Satz in kunde — mit Kundennummer, aber ohne Passwort.</a:t>
            </a:r>
          </a:p>
        </p:txBody>
      </p:sp>
      <p:sp>
        <p:nvSpPr>
          <p:cNvPr id="8" name="Rectangle 7"/>
          <p:cNvSpPr/>
          <p:nvPr/>
        </p:nvSpPr>
        <p:spPr>
          <a:xfrm>
            <a:off x="5069400" y="1600200"/>
            <a:ext cx="3641969"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a-geschaeftspartner.png"/>
          <p:cNvPicPr>
            <a:picLocks noChangeAspect="1"/>
          </p:cNvPicPr>
          <p:nvPr/>
        </p:nvPicPr>
        <p:blipFill>
          <a:blip r:embed="rId2"/>
          <a:stretch>
            <a:fillRect/>
          </a:stretch>
        </p:blipFill>
        <p:spPr>
          <a:xfrm>
            <a:off x="5171000" y="1701800"/>
            <a:ext cx="3438769" cy="4470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Netz und Flotte: Stammdaten und Bewegungsdaten getrennt</a:t>
            </a:r>
          </a:p>
        </p:txBody>
      </p:sp>
      <p:sp>
        <p:nvSpPr>
          <p:cNvPr id="3" name="Text Placeholder 2"/>
          <p:cNvSpPr>
            <a:spLocks noGrp="1"/>
          </p:cNvSpPr>
          <p:nvPr>
            <p:ph type="body" idx="12" sz="quarter"/>
          </p:nvPr>
        </p:nvSpPr>
        <p:spPr/>
        <p:txBody>
          <a:bodyPr/>
          <a:lstStyle/>
          <a:p>
            <a:r>
              <a:t>2 · Bereich B</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E-Bike steht vor der Fahrt an einer Station, danach vielleicht frei im Stadtgebiet.</a:t>
            </a:r>
          </a:p>
        </p:txBody>
      </p:sp>
      <p:sp>
        <p:nvSpPr>
          <p:cNvPr id="8" name="Rectangle 7"/>
          <p:cNvSpPr/>
          <p:nvPr/>
        </p:nvSpPr>
        <p:spPr>
          <a:xfrm>
            <a:off x="4257330" y="1600200"/>
            <a:ext cx="5266108"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b-netz-und-flotte.png"/>
          <p:cNvPicPr>
            <a:picLocks noChangeAspect="1"/>
          </p:cNvPicPr>
          <p:nvPr/>
        </p:nvPicPr>
        <p:blipFill>
          <a:blip r:embed="rId2"/>
          <a:stretch>
            <a:fillRect/>
          </a:stretch>
        </p:blipFill>
        <p:spPr>
          <a:xfrm>
            <a:off x="4358930" y="1701800"/>
            <a:ext cx="5062908" cy="4470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Tarif und Preis: alles ist zeitabhängig</a:t>
            </a:r>
          </a:p>
        </p:txBody>
      </p:sp>
      <p:sp>
        <p:nvSpPr>
          <p:cNvPr id="3" name="Text Placeholder 2"/>
          <p:cNvSpPr>
            <a:spLocks noGrp="1"/>
          </p:cNvSpPr>
          <p:nvPr>
            <p:ph type="body" idx="12" sz="quarter"/>
          </p:nvPr>
        </p:nvSpPr>
        <p:spPr/>
        <p:txBody>
          <a:bodyPr/>
          <a:lstStyle/>
          <a:p>
            <a:r>
              <a:t>2 · Bereich C</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Studententarif bringt 300 Freiminuten im Monat und wird beim Start ihrer Fahrt fixiert.</a:t>
            </a:r>
          </a:p>
        </p:txBody>
      </p:sp>
      <p:sp>
        <p:nvSpPr>
          <p:cNvPr id="8" name="Rectangle 7"/>
          <p:cNvSpPr/>
          <p:nvPr/>
        </p:nvSpPr>
        <p:spPr>
          <a:xfrm>
            <a:off x="2025910" y="1600200"/>
            <a:ext cx="9728948"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c-tarif-und-preis.png"/>
          <p:cNvPicPr>
            <a:picLocks noChangeAspect="1"/>
          </p:cNvPicPr>
          <p:nvPr/>
        </p:nvPicPr>
        <p:blipFill>
          <a:blip r:embed="rId2"/>
          <a:stretch>
            <a:fillRect/>
          </a:stretch>
        </p:blipFill>
        <p:spPr>
          <a:xfrm>
            <a:off x="2127510" y="1701800"/>
            <a:ext cx="9525748" cy="4470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die Ausleihe und ihre Abrechnung</a:t>
            </a:r>
          </a:p>
        </p:txBody>
      </p:sp>
      <p:sp>
        <p:nvSpPr>
          <p:cNvPr id="3" name="Text Placeholder 2"/>
          <p:cNvSpPr>
            <a:spLocks noGrp="1"/>
          </p:cNvSpPr>
          <p:nvPr>
            <p:ph type="body" idx="12" sz="quarter"/>
          </p:nvPr>
        </p:nvSpPr>
        <p:spPr/>
        <p:txBody>
          <a:bodyPr/>
          <a:lstStyle/>
          <a:p>
            <a:r>
              <a:t>2 · Bereich D</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erzeugt fünf Entgeltpositionen — jede einzeln nachvollziehbar.</a:t>
            </a:r>
          </a:p>
        </p:txBody>
      </p:sp>
      <p:sp>
        <p:nvSpPr>
          <p:cNvPr id="8" name="Rectangle 7"/>
          <p:cNvSpPr/>
          <p:nvPr/>
        </p:nvSpPr>
        <p:spPr>
          <a:xfrm>
            <a:off x="3355620" y="1600200"/>
            <a:ext cx="7069528"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d-nutzung.png"/>
          <p:cNvPicPr>
            <a:picLocks noChangeAspect="1"/>
          </p:cNvPicPr>
          <p:nvPr/>
        </p:nvPicPr>
        <p:blipFill>
          <a:blip r:embed="rId2"/>
          <a:stretch>
            <a:fillRect/>
          </a:stretch>
        </p:blipFill>
        <p:spPr>
          <a:xfrm>
            <a:off x="3457220" y="1701800"/>
            <a:ext cx="6866328" cy="4470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Abrechnung: Beleg, Positionen, Zahlung</a:t>
            </a:r>
          </a:p>
        </p:txBody>
      </p:sp>
      <p:sp>
        <p:nvSpPr>
          <p:cNvPr id="3" name="Text Placeholder 2"/>
          <p:cNvSpPr>
            <a:spLocks noGrp="1"/>
          </p:cNvSpPr>
          <p:nvPr>
            <p:ph type="body" idx="12" sz="quarter"/>
          </p:nvPr>
        </p:nvSpPr>
        <p:spPr/>
        <p:txBody>
          <a:bodyPr/>
          <a:lstStyle/>
          <a:p>
            <a:r>
              <a:t>2 · Bereich E</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erscheint am Monatsende als eine Zeile auf einer Rechnung.</a:t>
            </a:r>
          </a:p>
        </p:txBody>
      </p:sp>
      <p:sp>
        <p:nvSpPr>
          <p:cNvPr id="8" name="Rectangle 7"/>
          <p:cNvSpPr/>
          <p:nvPr/>
        </p:nvSpPr>
        <p:spPr>
          <a:xfrm>
            <a:off x="2790201" y="1600200"/>
            <a:ext cx="8200366" cy="4673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e-abrechnung.png"/>
          <p:cNvPicPr>
            <a:picLocks noChangeAspect="1"/>
          </p:cNvPicPr>
          <p:nvPr/>
        </p:nvPicPr>
        <p:blipFill>
          <a:blip r:embed="rId2"/>
          <a:stretch>
            <a:fillRect/>
          </a:stretch>
        </p:blipFill>
        <p:spPr>
          <a:xfrm>
            <a:off x="2891801" y="1701800"/>
            <a:ext cx="7997166" cy="4470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Redaktionsinhalte: warum vier Tabellen und nicht eine</a:t>
            </a:r>
          </a:p>
        </p:txBody>
      </p:sp>
      <p:sp>
        <p:nvSpPr>
          <p:cNvPr id="3" name="Text Placeholder 2"/>
          <p:cNvSpPr>
            <a:spLocks noGrp="1"/>
          </p:cNvSpPr>
          <p:nvPr>
            <p:ph type="body" idx="12" sz="quarter"/>
          </p:nvPr>
        </p:nvSpPr>
        <p:spPr/>
        <p:txBody>
          <a:bodyPr/>
          <a:lstStyle/>
          <a:p>
            <a:r>
              <a:t>2 · Bereich 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Rectangle 4"/>
          <p:cNvSpPr/>
          <p:nvPr/>
        </p:nvSpPr>
        <p:spPr>
          <a:xfrm>
            <a:off x="1153160" y="1117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1176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56360" y="11684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Der Preis, den Anna auf der Tarifkarte sieht, wird aus nutzungspreis gerechnet — nicht getippt.</a:t>
            </a:r>
          </a:p>
        </p:txBody>
      </p:sp>
      <p:sp>
        <p:nvSpPr>
          <p:cNvPr id="8" name="Rectangle 7"/>
          <p:cNvSpPr/>
          <p:nvPr/>
        </p:nvSpPr>
        <p:spPr>
          <a:xfrm>
            <a:off x="1051560" y="2223500"/>
            <a:ext cx="11677650" cy="3426998"/>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l-f-inhalte.png"/>
          <p:cNvPicPr>
            <a:picLocks noChangeAspect="1"/>
          </p:cNvPicPr>
          <p:nvPr/>
        </p:nvPicPr>
        <p:blipFill>
          <a:blip r:embed="rId2"/>
          <a:stretch>
            <a:fillRect/>
          </a:stretch>
        </p:blipFill>
        <p:spPr>
          <a:xfrm>
            <a:off x="1153160" y="2325100"/>
            <a:ext cx="11474450" cy="322379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Normalisierung</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Warum reicht für Annas Fahrt nicht eine einzige Tabelle?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naive Versuch: alles in eine Tabelle</a:t>
            </a:r>
          </a:p>
        </p:txBody>
      </p:sp>
      <p:sp>
        <p:nvSpPr>
          <p:cNvPr id="3" name="Text Placeholder 2"/>
          <p:cNvSpPr>
            <a:spLocks noGrp="1"/>
          </p:cNvSpPr>
          <p:nvPr>
            <p:ph type="body" idx="12" sz="quarter"/>
          </p:nvPr>
        </p:nvSpPr>
        <p:spPr/>
        <p:txBody>
          <a:bodyPr/>
          <a:lstStyle/>
          <a:p>
            <a:r>
              <a:t>3 · Normalisierung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So würde jemand Annas Fahrt aufschreiben, der noch nicht normalisiert hat. Die Tabelle funktioniert — bis zur ersten Änderung.</a:t>
            </a:r>
          </a:p>
        </p:txBody>
      </p:sp>
      <p:sp>
        <p:nvSpPr>
          <p:cNvPr id="6" name="Rectangle 5"/>
          <p:cNvSpPr/>
          <p:nvPr/>
        </p:nvSpPr>
        <p:spPr>
          <a:xfrm>
            <a:off x="2097325" y="2133600"/>
            <a:ext cx="3064668" cy="375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norm-vorher.png"/>
          <p:cNvPicPr>
            <a:picLocks noChangeAspect="1"/>
          </p:cNvPicPr>
          <p:nvPr/>
        </p:nvPicPr>
        <p:blipFill>
          <a:blip r:embed="rId2"/>
          <a:stretch>
            <a:fillRect/>
          </a:stretch>
        </p:blipFill>
        <p:spPr>
          <a:xfrm>
            <a:off x="2198925" y="2235200"/>
            <a:ext cx="2861468" cy="3556000"/>
          </a:xfrm>
          <a:prstGeom prst="rect">
            <a:avLst/>
          </a:prstGeom>
        </p:spPr>
      </p:pic>
      <p:sp>
        <p:nvSpPr>
          <p:cNvPr id="8" name="Rectangle 7"/>
          <p:cNvSpPr/>
          <p:nvPr/>
        </p:nvSpPr>
        <p:spPr>
          <a:xfrm>
            <a:off x="6487160" y="2540000"/>
            <a:ext cx="6140450" cy="20701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487160" y="2540000"/>
            <a:ext cx="50800" cy="20701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90359" y="2667000"/>
            <a:ext cx="5759450" cy="1816100"/>
          </a:xfrm>
          <a:prstGeom prst="rect">
            <a:avLst/>
          </a:prstGeom>
          <a:noFill/>
        </p:spPr>
        <p:txBody>
          <a:bodyPr wrap="square" lIns="0" tIns="0" rIns="0" bIns="0">
            <a:spAutoFit/>
          </a:bodyPr>
          <a:lstStyle/>
          <a:p>
            <a:pPr algn="l">
              <a:lnSpc>
                <a:spcPct val="95000"/>
              </a:lnSpc>
            </a:pPr>
            <a:r>
              <a:rPr sz="1500" b="1">
                <a:solidFill>
                  <a:srgbClr val="003E6E"/>
                </a:solidFill>
              </a:rPr>
              <a:t>Drei Anomalien, die daraus folgen</a:t>
            </a:r>
          </a:p>
          <a:p>
            <a:pPr algn="l">
              <a:lnSpc>
                <a:spcPct val="95000"/>
              </a:lnSpc>
              <a:spcBef>
                <a:spcPts val="500"/>
              </a:spcBef>
            </a:pPr>
            <a:r>
              <a:rPr sz="1300" b="0">
                <a:solidFill>
                  <a:srgbClr val="404040"/>
                </a:solidFill>
              </a:rPr>
              <a:t>Einfügen: ein neuer Fahrradtyp lässt sich ohne Ausleihe gar nicht anlegen.</a:t>
            </a:r>
          </a:p>
          <a:p>
            <a:pPr algn="l">
              <a:lnSpc>
                <a:spcPct val="95000"/>
              </a:lnSpc>
              <a:spcBef>
                <a:spcPts val="500"/>
              </a:spcBef>
            </a:pPr>
            <a:r>
              <a:rPr sz="1300" b="0">
                <a:solidFill>
                  <a:srgbClr val="404040"/>
                </a:solidFill>
              </a:rPr>
              <a:t>Ändern: eine Preisanpassung müsste in jeder einzelnen Ausleihzeile nachgezogen werden.</a:t>
            </a:r>
          </a:p>
          <a:p>
            <a:pPr algn="l">
              <a:lnSpc>
                <a:spcPct val="95000"/>
              </a:lnSpc>
              <a:spcBef>
                <a:spcPts val="500"/>
              </a:spcBef>
            </a:pPr>
            <a:r>
              <a:rPr sz="1300" b="0">
                <a:solidFill>
                  <a:srgbClr val="404040"/>
                </a:solidFill>
              </a:rPr>
              <a:t>Löschen: mit der letzten Ausleihe eines Typs verschwindet auch dessen Preis.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1NF und 2NF: atomar, und alles hängt am ganzen Schlüssel</a:t>
            </a:r>
          </a:p>
        </p:txBody>
      </p:sp>
      <p:sp>
        <p:nvSpPr>
          <p:cNvPr id="3" name="Text Placeholder 2"/>
          <p:cNvSpPr>
            <a:spLocks noGrp="1"/>
          </p:cNvSpPr>
          <p:nvPr>
            <p:ph type="body" idx="12" sz="quarter"/>
          </p:nvPr>
        </p:nvSpPr>
        <p:spPr/>
        <p:txBody>
          <a:bodyPr/>
          <a:lstStyle/>
          <a:p>
            <a:r>
              <a:t>3 · Normalisierung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1NF verlangt atomare Attribute. Der lehrreichere Fall ist die wiederholende Gruppe: sie wird zu einer eigenen Relation, nicht zu mehreren Spalten.</a:t>
            </a:r>
          </a:p>
        </p:txBody>
      </p:sp>
      <p:sp>
        <p:nvSpPr>
          <p:cNvPr id="6" name="Rectangle 5"/>
          <p:cNvSpPr/>
          <p:nvPr/>
        </p:nvSpPr>
        <p:spPr>
          <a:xfrm>
            <a:off x="1153160" y="2235200"/>
            <a:ext cx="552450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verletzt</a:t>
            </a:r>
          </a:p>
        </p:txBody>
      </p:sp>
      <p:sp>
        <p:nvSpPr>
          <p:cNvPr id="9" name="TextBox 8"/>
          <p:cNvSpPr txBox="1"/>
          <p:nvPr/>
        </p:nvSpPr>
        <p:spPr>
          <a:xfrm>
            <a:off x="1330960" y="2743200"/>
            <a:ext cx="5194300" cy="1778000"/>
          </a:xfrm>
          <a:prstGeom prst="rect">
            <a:avLst/>
          </a:prstGeom>
          <a:noFill/>
        </p:spPr>
        <p:txBody>
          <a:bodyPr wrap="square" lIns="0" tIns="0" rIns="0" bIns="0">
            <a:spAutoFit/>
          </a:bodyPr>
          <a:lstStyle/>
          <a:p>
            <a:pPr algn="l">
              <a:lnSpc>
                <a:spcPct val="95000"/>
              </a:lnSpc>
            </a:pPr>
            <a:r>
              <a:rPr sz="1400" b="1">
                <a:solidFill>
                  <a:srgbClr val="A32638"/>
                </a:solidFill>
              </a:rPr>
              <a:t>1NF · nicht atomar</a:t>
            </a:r>
          </a:p>
          <a:p>
            <a:pPr algn="l">
              <a:lnSpc>
                <a:spcPct val="95000"/>
              </a:lnSpc>
              <a:spcBef>
                <a:spcPts val="300"/>
              </a:spcBef>
            </a:pPr>
            <a:r>
              <a:rPr sz="1300" b="0">
                <a:solidFill>
                  <a:srgbClr val="404040"/>
                </a:solidFill>
                <a:latin typeface="Consolas"/>
              </a:rPr>
              <a:t>kunde_name  = „Anna Beispiel“</a:t>
            </a:r>
          </a:p>
          <a:p>
            <a:pPr algn="l">
              <a:lnSpc>
                <a:spcPct val="95000"/>
              </a:lnSpc>
              <a:spcBef>
                <a:spcPts val="300"/>
              </a:spcBef>
            </a:pPr>
            <a:r>
              <a:rPr sz="1300" b="0">
                <a:solidFill>
                  <a:srgbClr val="404040"/>
                </a:solidFill>
                <a:latin typeface="Consolas"/>
              </a:rPr>
              <a:t>positionen  = „Start 0,10; Zeit 6,10; …“</a:t>
            </a:r>
          </a:p>
          <a:p>
            <a:pPr algn="l">
              <a:lnSpc>
                <a:spcPct val="95000"/>
              </a:lnSpc>
              <a:spcBef>
                <a:spcPts val="300"/>
              </a:spcBef>
            </a:pPr>
            <a:r>
              <a:rPr sz="1300" b="0">
                <a:solidFill>
                  <a:srgbClr val="404040"/>
                </a:solidFill>
                <a:latin typeface="Consolas"/>
              </a:rPr>
              <a:t/>
            </a:r>
          </a:p>
          <a:p>
            <a:pPr algn="l">
              <a:lnSpc>
                <a:spcPct val="95000"/>
              </a:lnSpc>
              <a:spcBef>
                <a:spcPts val="300"/>
              </a:spcBef>
            </a:pPr>
            <a:r>
              <a:rPr sz="1300" b="0">
                <a:solidFill>
                  <a:srgbClr val="404040"/>
                </a:solidFill>
                <a:latin typeface="Consolas"/>
              </a:rPr>
              <a:t>Falsche Reparatur:</a:t>
            </a:r>
          </a:p>
          <a:p>
            <a:pPr algn="l">
              <a:lnSpc>
                <a:spcPct val="95000"/>
              </a:lnSpc>
              <a:spcBef>
                <a:spcPts val="300"/>
              </a:spcBef>
            </a:pPr>
            <a:r>
              <a:rPr sz="1300" b="0">
                <a:solidFill>
                  <a:srgbClr val="404040"/>
                </a:solidFill>
                <a:latin typeface="Consolas"/>
              </a:rPr>
              <a:t>position1, position2, position3</a:t>
            </a:r>
          </a:p>
          <a:p>
            <a:pPr algn="l">
              <a:lnSpc>
                <a:spcPct val="95000"/>
              </a:lnSpc>
              <a:spcBef>
                <a:spcPts val="300"/>
              </a:spcBef>
            </a:pPr>
            <a:r>
              <a:rPr sz="1300" b="0">
                <a:solidFill>
                  <a:srgbClr val="404040"/>
                </a:solidFill>
                <a:latin typeface="Consolas"/>
              </a:rPr>
              <a:t>→ legt die Anzahl im Schema fest</a:t>
            </a:r>
          </a:p>
        </p:txBody>
      </p:sp>
      <p:sp>
        <p:nvSpPr>
          <p:cNvPr id="10" name="Rectangle 9"/>
          <p:cNvSpPr/>
          <p:nvPr/>
        </p:nvSpPr>
        <p:spPr>
          <a:xfrm>
            <a:off x="7096759" y="2235200"/>
            <a:ext cx="552450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2235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erfüllt</a:t>
            </a:r>
          </a:p>
        </p:txBody>
      </p:sp>
      <p:sp>
        <p:nvSpPr>
          <p:cNvPr id="13" name="TextBox 12"/>
          <p:cNvSpPr txBox="1"/>
          <p:nvPr/>
        </p:nvSpPr>
        <p:spPr>
          <a:xfrm>
            <a:off x="7274559" y="2743200"/>
            <a:ext cx="5194300" cy="1778000"/>
          </a:xfrm>
          <a:prstGeom prst="rect">
            <a:avLst/>
          </a:prstGeom>
          <a:noFill/>
        </p:spPr>
        <p:txBody>
          <a:bodyPr wrap="square" lIns="0" tIns="0" rIns="0" bIns="0">
            <a:spAutoFit/>
          </a:bodyPr>
          <a:lstStyle/>
          <a:p>
            <a:pPr algn="l">
              <a:lnSpc>
                <a:spcPct val="95000"/>
              </a:lnSpc>
            </a:pPr>
            <a:r>
              <a:rPr sz="1400" b="1">
                <a:solidFill>
                  <a:srgbClr val="55801C"/>
                </a:solidFill>
              </a:rPr>
              <a:t>1NF · zerlegt</a:t>
            </a:r>
          </a:p>
          <a:p>
            <a:pPr algn="l">
              <a:lnSpc>
                <a:spcPct val="95000"/>
              </a:lnSpc>
              <a:spcBef>
                <a:spcPts val="300"/>
              </a:spcBef>
            </a:pPr>
            <a:r>
              <a:rPr sz="1300" b="0">
                <a:solidFill>
                  <a:srgbClr val="404040"/>
                </a:solidFill>
                <a:latin typeface="Consolas"/>
              </a:rPr>
              <a:t>vorname     = „Anna“</a:t>
            </a:r>
          </a:p>
          <a:p>
            <a:pPr algn="l">
              <a:lnSpc>
                <a:spcPct val="95000"/>
              </a:lnSpc>
              <a:spcBef>
                <a:spcPts val="300"/>
              </a:spcBef>
            </a:pPr>
            <a:r>
              <a:rPr sz="1300" b="0">
                <a:solidFill>
                  <a:srgbClr val="404040"/>
                </a:solidFill>
                <a:latin typeface="Consolas"/>
              </a:rPr>
              <a:t>nachname    = „Beispiel“</a:t>
            </a:r>
          </a:p>
          <a:p>
            <a:pPr algn="l">
              <a:lnSpc>
                <a:spcPct val="95000"/>
              </a:lnSpc>
              <a:spcBef>
                <a:spcPts val="300"/>
              </a:spcBef>
            </a:pPr>
            <a:r>
              <a:rPr sz="1300" b="0">
                <a:solidFill>
                  <a:srgbClr val="404040"/>
                </a:solidFill>
                <a:latin typeface="Consolas"/>
              </a:rPr>
              <a:t/>
            </a:r>
          </a:p>
          <a:p>
            <a:pPr algn="l">
              <a:lnSpc>
                <a:spcPct val="95000"/>
              </a:lnSpc>
              <a:spcBef>
                <a:spcPts val="300"/>
              </a:spcBef>
            </a:pPr>
            <a:r>
              <a:rPr sz="1300" b="0">
                <a:solidFill>
                  <a:srgbClr val="404040"/>
                </a:solidFill>
                <a:latin typeface="Consolas"/>
              </a:rPr>
              <a:t>entgeltposition als eigene Relation,</a:t>
            </a:r>
          </a:p>
          <a:p>
            <a:pPr algn="l">
              <a:lnSpc>
                <a:spcPct val="95000"/>
              </a:lnSpc>
              <a:spcBef>
                <a:spcPts val="300"/>
              </a:spcBef>
            </a:pPr>
            <a:r>
              <a:rPr sz="1300" b="0">
                <a:solidFill>
                  <a:srgbClr val="404040"/>
                </a:solidFill>
                <a:latin typeface="Consolas"/>
              </a:rPr>
              <a:t>eine Zeile je Preisbestandteil</a:t>
            </a:r>
          </a:p>
          <a:p>
            <a:pPr algn="l">
              <a:lnSpc>
                <a:spcPct val="95000"/>
              </a:lnSpc>
              <a:spcBef>
                <a:spcPts val="300"/>
              </a:spcBef>
            </a:pPr>
            <a:r>
              <a:rPr sz="1300" b="0">
                <a:solidFill>
                  <a:srgbClr val="404040"/>
                </a:solidFill>
                <a:latin typeface="Consolas"/>
              </a:rPr>
              <a:t>→ die Anzahl ist offen</a:t>
            </a:r>
          </a:p>
        </p:txBody>
      </p:sp>
      <p:sp>
        <p:nvSpPr>
          <p:cNvPr id="14" name="Rectangle 13"/>
          <p:cNvSpPr/>
          <p:nvPr/>
        </p:nvSpPr>
        <p:spPr>
          <a:xfrm>
            <a:off x="1153160" y="4826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902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2NF: bei zusammengesetztem Schlüssel (ausleihe_id, position_nr) hängt kunde_email nur an ausleihe_id — daraus folgt die Trennung in Kopf und Positionen.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3NF — und warum sie hier nicht genügt</a:t>
            </a:r>
          </a:p>
        </p:txBody>
      </p:sp>
      <p:sp>
        <p:nvSpPr>
          <p:cNvPr id="3" name="Text Placeholder 2"/>
          <p:cNvSpPr>
            <a:spLocks noGrp="1"/>
          </p:cNvSpPr>
          <p:nvPr>
            <p:ph type="body" idx="12" sz="quarter"/>
          </p:nvPr>
        </p:nvSpPr>
        <p:spPr/>
        <p:txBody>
          <a:bodyPr/>
          <a:lstStyle/>
          <a:p>
            <a:r>
              <a:t>3 · Normalisierung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transitive Kette vom Rad über den Typ zum Preis ist der klassische 3NF-Verstoß. Sie aufzulösen ist notwendig, reicht aber fachlich nicht aus.</a:t>
            </a:r>
          </a:p>
        </p:txBody>
      </p:sp>
      <p:sp>
        <p:nvSpPr>
          <p:cNvPr id="6" name="Rectangle 5"/>
          <p:cNvSpPr/>
          <p:nvPr/>
        </p:nvSpPr>
        <p:spPr>
          <a:xfrm>
            <a:off x="1153160" y="22352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3NF verletzt</a:t>
            </a:r>
          </a:p>
        </p:txBody>
      </p:sp>
      <p:sp>
        <p:nvSpPr>
          <p:cNvPr id="9" name="TextBox 8"/>
          <p:cNvSpPr txBox="1"/>
          <p:nvPr/>
        </p:nvSpPr>
        <p:spPr>
          <a:xfrm>
            <a:off x="1330960" y="2743200"/>
            <a:ext cx="5194300" cy="1905000"/>
          </a:xfrm>
          <a:prstGeom prst="rect">
            <a:avLst/>
          </a:prstGeom>
          <a:noFill/>
        </p:spPr>
        <p:txBody>
          <a:bodyPr wrap="square" lIns="0" tIns="0" rIns="0" bIns="0">
            <a:spAutoFit/>
          </a:bodyPr>
          <a:lstStyle/>
          <a:p>
            <a:pPr algn="l">
              <a:lnSpc>
                <a:spcPct val="95000"/>
              </a:lnSpc>
            </a:pPr>
            <a:r>
              <a:rPr sz="1400" b="1">
                <a:solidFill>
                  <a:srgbClr val="A32638"/>
                </a:solidFill>
              </a:rPr>
              <a:t>Die transitive Kette</a:t>
            </a:r>
          </a:p>
          <a:p>
            <a:pPr algn="l">
              <a:lnSpc>
                <a:spcPct val="95000"/>
              </a:lnSpc>
              <a:spcBef>
                <a:spcPts val="300"/>
              </a:spcBef>
            </a:pPr>
            <a:r>
              <a:rPr sz="1300" b="0">
                <a:solidFill>
                  <a:srgbClr val="404040"/>
                </a:solidFill>
                <a:latin typeface="Consolas"/>
              </a:rPr>
              <a:t>ausleihe_id</a:t>
            </a:r>
          </a:p>
          <a:p>
            <a:pPr algn="l">
              <a:lnSpc>
                <a:spcPct val="95000"/>
              </a:lnSpc>
              <a:spcBef>
                <a:spcPts val="300"/>
              </a:spcBef>
            </a:pPr>
            <a:r>
              <a:rPr sz="1300" b="0">
                <a:solidFill>
                  <a:srgbClr val="404040"/>
                </a:solidFill>
                <a:latin typeface="Consolas"/>
              </a:rPr>
              <a:t>  → rahmennummer</a:t>
            </a:r>
          </a:p>
          <a:p>
            <a:pPr algn="l">
              <a:lnSpc>
                <a:spcPct val="95000"/>
              </a:lnSpc>
              <a:spcBef>
                <a:spcPts val="300"/>
              </a:spcBef>
            </a:pPr>
            <a:r>
              <a:rPr sz="1300" b="0">
                <a:solidFill>
                  <a:srgbClr val="404040"/>
                </a:solidFill>
                <a:latin typeface="Consolas"/>
              </a:rPr>
              <a:t>     → typ_bezeichnung</a:t>
            </a:r>
          </a:p>
          <a:p>
            <a:pPr algn="l">
              <a:lnSpc>
                <a:spcPct val="95000"/>
              </a:lnSpc>
              <a:spcBef>
                <a:spcPts val="300"/>
              </a:spcBef>
            </a:pPr>
            <a:r>
              <a:rPr sz="1300" b="0">
                <a:solidFill>
                  <a:srgbClr val="404040"/>
                </a:solidFill>
                <a:latin typeface="Consolas"/>
              </a:rPr>
              <a:t>        → preis_pro_minute</a:t>
            </a:r>
          </a:p>
          <a:p>
            <a:pPr algn="l">
              <a:lnSpc>
                <a:spcPct val="95000"/>
              </a:lnSpc>
              <a:spcBef>
                <a:spcPts val="300"/>
              </a:spcBef>
            </a:pPr>
            <a:r>
              <a:rPr sz="1300" b="0">
                <a:solidFill>
                  <a:srgbClr val="404040"/>
                </a:solidFill>
                <a:latin typeface="Consolas"/>
              </a:rPr>
              <a:t/>
            </a:r>
          </a:p>
          <a:p>
            <a:pPr algn="l">
              <a:lnSpc>
                <a:spcPct val="95000"/>
              </a:lnSpc>
              <a:spcBef>
                <a:spcPts val="300"/>
              </a:spcBef>
            </a:pPr>
            <a:r>
              <a:rPr sz="1300" b="0">
                <a:solidFill>
                  <a:srgbClr val="404040"/>
                </a:solidFill>
                <a:latin typeface="Consolas"/>
              </a:rPr>
              <a:t>Eine Preisänderung müsste in jeder</a:t>
            </a:r>
          </a:p>
          <a:p>
            <a:pPr algn="l">
              <a:lnSpc>
                <a:spcPct val="95000"/>
              </a:lnSpc>
              <a:spcBef>
                <a:spcPts val="300"/>
              </a:spcBef>
            </a:pPr>
            <a:r>
              <a:rPr sz="1300" b="0">
                <a:solidFill>
                  <a:srgbClr val="404040"/>
                </a:solidFill>
                <a:latin typeface="Consolas"/>
              </a:rPr>
              <a:t>Ausleihzeile nachgezogen werden.</a:t>
            </a:r>
          </a:p>
        </p:txBody>
      </p:sp>
      <p:sp>
        <p:nvSpPr>
          <p:cNvPr id="10" name="Rectangle 9"/>
          <p:cNvSpPr/>
          <p:nvPr/>
        </p:nvSpPr>
        <p:spPr>
          <a:xfrm>
            <a:off x="7096759" y="22352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2235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3NF erfüllt — reicht trotzdem nicht</a:t>
            </a:r>
          </a:p>
        </p:txBody>
      </p:sp>
      <p:sp>
        <p:nvSpPr>
          <p:cNvPr id="13" name="TextBox 12"/>
          <p:cNvSpPr txBox="1"/>
          <p:nvPr/>
        </p:nvSpPr>
        <p:spPr>
          <a:xfrm>
            <a:off x="7274559" y="2743200"/>
            <a:ext cx="5194300" cy="1905000"/>
          </a:xfrm>
          <a:prstGeom prst="rect">
            <a:avLst/>
          </a:prstGeom>
          <a:noFill/>
        </p:spPr>
        <p:txBody>
          <a:bodyPr wrap="square" lIns="0" tIns="0" rIns="0" bIns="0">
            <a:spAutoFit/>
          </a:bodyPr>
          <a:lstStyle/>
          <a:p>
            <a:pPr algn="l">
              <a:lnSpc>
                <a:spcPct val="95000"/>
              </a:lnSpc>
            </a:pPr>
            <a:r>
              <a:rPr sz="1400" b="1">
                <a:solidFill>
                  <a:srgbClr val="55801C"/>
                </a:solidFill>
              </a:rPr>
              <a:t>Zerlegt, aber immer noch falsch</a:t>
            </a:r>
          </a:p>
          <a:p>
            <a:pPr algn="l">
              <a:lnSpc>
                <a:spcPct val="95000"/>
              </a:lnSpc>
              <a:spcBef>
                <a:spcPts val="300"/>
              </a:spcBef>
            </a:pPr>
            <a:r>
              <a:rPr sz="1300" b="0">
                <a:solidFill>
                  <a:srgbClr val="404040"/>
                </a:solidFill>
              </a:rPr>
              <a:t>fahrradtyp und nutzungspreis</a:t>
            </a:r>
          </a:p>
          <a:p>
            <a:pPr algn="l">
              <a:lnSpc>
                <a:spcPct val="95000"/>
              </a:lnSpc>
              <a:spcBef>
                <a:spcPts val="300"/>
              </a:spcBef>
            </a:pPr>
            <a:r>
              <a:rPr sz="1300" b="0">
                <a:solidFill>
                  <a:srgbClr val="404040"/>
                </a:solidFill>
              </a:rPr>
              <a:t>werden eigene Relationen.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ABER: liegt der Preis am Typ, ändert</a:t>
            </a:r>
          </a:p>
          <a:p>
            <a:pPr algn="l">
              <a:lnSpc>
                <a:spcPct val="95000"/>
              </a:lnSpc>
              <a:spcBef>
                <a:spcPts val="300"/>
              </a:spcBef>
            </a:pPr>
            <a:r>
              <a:rPr sz="1300" b="0">
                <a:solidFill>
                  <a:srgbClr val="404040"/>
                </a:solidFill>
              </a:rPr>
              <a:t>eine Anpassung weiterhin rückwirkend</a:t>
            </a:r>
          </a:p>
          <a:p>
            <a:pPr algn="l">
              <a:lnSpc>
                <a:spcPct val="95000"/>
              </a:lnSpc>
              <a:spcBef>
                <a:spcPts val="300"/>
              </a:spcBef>
            </a:pPr>
            <a:r>
              <a:rPr sz="1300" b="0">
                <a:solidFill>
                  <a:srgbClr val="404040"/>
                </a:solidFill>
              </a:rPr>
              <a:t>ALLE Altrechnungen — auch Annas.</a:t>
            </a:r>
          </a:p>
        </p:txBody>
      </p:sp>
      <p:sp>
        <p:nvSpPr>
          <p:cNvPr id="14" name="Rectangle 13"/>
          <p:cNvSpPr/>
          <p:nvPr/>
        </p:nvSpPr>
        <p:spPr>
          <a:xfrm>
            <a:off x="1153160" y="4953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5029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Erst der Gültigkeitszeitraum in nutzungspreis macht das Modell fachlich richtig. Normalisierung beseitigt Redundanz — sie ersetzt keine fachliche Analyse.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Ergebnis der Zerlegung</a:t>
            </a:r>
          </a:p>
        </p:txBody>
      </p:sp>
      <p:sp>
        <p:nvSpPr>
          <p:cNvPr id="3" name="Text Placeholder 2"/>
          <p:cNvSpPr>
            <a:spLocks noGrp="1"/>
          </p:cNvSpPr>
          <p:nvPr>
            <p:ph type="body" idx="12" sz="quarter"/>
          </p:nvPr>
        </p:nvSpPr>
        <p:spPr/>
        <p:txBody>
          <a:bodyPr/>
          <a:lstStyle/>
          <a:p>
            <a:r>
              <a:t>3 · Normalisierung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Aus einer Tabelle sind acht geworden — jede mit genau einer Aufgabe.</a:t>
            </a:r>
          </a:p>
        </p:txBody>
      </p:sp>
      <p:sp>
        <p:nvSpPr>
          <p:cNvPr id="6" name="Rectangle 5"/>
          <p:cNvSpPr/>
          <p:nvPr/>
        </p:nvSpPr>
        <p:spPr>
          <a:xfrm>
            <a:off x="4012565" y="1549400"/>
            <a:ext cx="5755640" cy="431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norm-nachher.png"/>
          <p:cNvPicPr>
            <a:picLocks noChangeAspect="1"/>
          </p:cNvPicPr>
          <p:nvPr/>
        </p:nvPicPr>
        <p:blipFill>
          <a:blip r:embed="rId2"/>
          <a:stretch>
            <a:fillRect/>
          </a:stretch>
        </p:blipFill>
        <p:spPr>
          <a:xfrm>
            <a:off x="4114165" y="1651000"/>
            <a:ext cx="5552440" cy="4114800"/>
          </a:xfrm>
          <a:prstGeom prst="rect">
            <a:avLst/>
          </a:prstGeom>
        </p:spPr>
      </p:pic>
      <p:sp>
        <p:nvSpPr>
          <p:cNvPr id="8" name="Rectangle 7"/>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liegt jetzt in ausleihe — ihr Preis in nutzungspreis, ihre Abrechnung in entgeltposition.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Exkurs: aus der Postleitzahl folgt nicht der Ort</a:t>
            </a:r>
          </a:p>
        </p:txBody>
      </p:sp>
      <p:sp>
        <p:nvSpPr>
          <p:cNvPr id="3" name="Text Placeholder 2"/>
          <p:cNvSpPr>
            <a:spLocks noGrp="1"/>
          </p:cNvSpPr>
          <p:nvPr>
            <p:ph type="body" idx="12" sz="quarter"/>
          </p:nvPr>
        </p:nvSpPr>
        <p:spPr/>
        <p:txBody>
          <a:bodyPr/>
          <a:lstStyle/>
          <a:p>
            <a:r>
              <a:t>3 · Normalisierung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Der Lehrbuchklassiker lautet, plz bestimme ort, also gehöre ort in eine eigene Relation. In Deutschland stimmt das nicht — und der scheinbar saubere Zerlegungsschritt wäre fachlich falsch.</a:t>
            </a:r>
          </a:p>
        </p:txBody>
      </p:sp>
      <p:sp>
        <p:nvSpPr>
          <p:cNvPr id="6" name="TextBox 5"/>
          <p:cNvSpPr txBox="1"/>
          <p:nvPr/>
        </p:nvSpPr>
        <p:spPr>
          <a:xfrm>
            <a:off x="5648960" y="2286000"/>
            <a:ext cx="1016000" cy="304800"/>
          </a:xfrm>
          <a:prstGeom prst="rect">
            <a:avLst/>
          </a:prstGeom>
          <a:noFill/>
        </p:spPr>
        <p:txBody>
          <a:bodyPr wrap="square" lIns="0" tIns="0" rIns="0" bIns="0">
            <a:spAutoFit/>
          </a:bodyPr>
          <a:lstStyle/>
          <a:p>
            <a:pPr algn="ctr">
              <a:lnSpc>
                <a:spcPct val="95000"/>
              </a:lnSpc>
            </a:pPr>
            <a:r>
              <a:rPr sz="1300" b="1">
                <a:solidFill>
                  <a:srgbClr val="555148"/>
                </a:solidFill>
              </a:rPr>
              <a:t>gilt</a:t>
            </a:r>
          </a:p>
        </p:txBody>
      </p:sp>
      <p:sp>
        <p:nvSpPr>
          <p:cNvPr id="7" name="Rectangle 6"/>
          <p:cNvSpPr/>
          <p:nvPr/>
        </p:nvSpPr>
        <p:spPr>
          <a:xfrm>
            <a:off x="1153160" y="2616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2616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6360" y="2679700"/>
            <a:ext cx="4064000" cy="533400"/>
          </a:xfrm>
          <a:prstGeom prst="rect">
            <a:avLst/>
          </a:prstGeom>
          <a:noFill/>
        </p:spPr>
        <p:txBody>
          <a:bodyPr wrap="square" lIns="0" tIns="0" rIns="0" bIns="0" anchor="ctr">
            <a:spAutoFit/>
          </a:bodyPr>
          <a:lstStyle/>
          <a:p>
            <a:pPr algn="l">
              <a:lnSpc>
                <a:spcPct val="95000"/>
              </a:lnSpc>
            </a:pPr>
            <a:r>
              <a:rPr sz="1300" b="1">
                <a:solidFill>
                  <a:srgbClr val="003E6E"/>
                </a:solidFill>
              </a:rPr>
              <a:t>Eine PLZ hat genau einen Ort</a:t>
            </a:r>
          </a:p>
        </p:txBody>
      </p:sp>
      <p:sp>
        <p:nvSpPr>
          <p:cNvPr id="10" name="Rounded Rectangle 9"/>
          <p:cNvSpPr/>
          <p:nvPr/>
        </p:nvSpPr>
        <p:spPr>
          <a:xfrm>
            <a:off x="5648960" y="2768600"/>
            <a:ext cx="10160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1" name="TextBox 10"/>
          <p:cNvSpPr txBox="1"/>
          <p:nvPr/>
        </p:nvSpPr>
        <p:spPr>
          <a:xfrm>
            <a:off x="6868159" y="2679700"/>
            <a:ext cx="5632450" cy="533400"/>
          </a:xfrm>
          <a:prstGeom prst="rect">
            <a:avLst/>
          </a:prstGeom>
          <a:noFill/>
        </p:spPr>
        <p:txBody>
          <a:bodyPr wrap="square" lIns="0" tIns="0" rIns="0" bIns="0" anchor="ctr">
            <a:spAutoFit/>
          </a:bodyPr>
          <a:lstStyle/>
          <a:p>
            <a:pPr algn="l">
              <a:lnSpc>
                <a:spcPct val="95000"/>
              </a:lnSpc>
            </a:pPr>
            <a:r>
              <a:rPr sz="1300" b="0">
                <a:solidFill>
                  <a:srgbClr val="555148"/>
                </a:solidFill>
              </a:rPr>
              <a:t>Ländliche Sammel-PLZ umfassen mehrere Orte</a:t>
            </a:r>
          </a:p>
        </p:txBody>
      </p:sp>
      <p:sp>
        <p:nvSpPr>
          <p:cNvPr id="12" name="Rectangle 11"/>
          <p:cNvSpPr/>
          <p:nvPr/>
        </p:nvSpPr>
        <p:spPr>
          <a:xfrm>
            <a:off x="1153160" y="3378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3378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3441700"/>
            <a:ext cx="4064000" cy="533400"/>
          </a:xfrm>
          <a:prstGeom prst="rect">
            <a:avLst/>
          </a:prstGeom>
          <a:noFill/>
        </p:spPr>
        <p:txBody>
          <a:bodyPr wrap="square" lIns="0" tIns="0" rIns="0" bIns="0" anchor="ctr">
            <a:spAutoFit/>
          </a:bodyPr>
          <a:lstStyle/>
          <a:p>
            <a:pPr algn="l">
              <a:lnSpc>
                <a:spcPct val="95000"/>
              </a:lnSpc>
            </a:pPr>
            <a:r>
              <a:rPr sz="1300" b="1">
                <a:solidFill>
                  <a:srgbClr val="003E6E"/>
                </a:solidFill>
              </a:rPr>
              <a:t>Ein Ort hat genau eine PLZ</a:t>
            </a:r>
          </a:p>
        </p:txBody>
      </p:sp>
      <p:sp>
        <p:nvSpPr>
          <p:cNvPr id="15" name="Rounded Rectangle 14"/>
          <p:cNvSpPr/>
          <p:nvPr/>
        </p:nvSpPr>
        <p:spPr>
          <a:xfrm>
            <a:off x="5648960" y="3530600"/>
            <a:ext cx="10160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6" name="TextBox 15"/>
          <p:cNvSpPr txBox="1"/>
          <p:nvPr/>
        </p:nvSpPr>
        <p:spPr>
          <a:xfrm>
            <a:off x="6868159" y="3441700"/>
            <a:ext cx="5632450" cy="533400"/>
          </a:xfrm>
          <a:prstGeom prst="rect">
            <a:avLst/>
          </a:prstGeom>
          <a:noFill/>
        </p:spPr>
        <p:txBody>
          <a:bodyPr wrap="square" lIns="0" tIns="0" rIns="0" bIns="0" anchor="ctr">
            <a:spAutoFit/>
          </a:bodyPr>
          <a:lstStyle/>
          <a:p>
            <a:pPr algn="l">
              <a:lnSpc>
                <a:spcPct val="95000"/>
              </a:lnSpc>
            </a:pPr>
            <a:r>
              <a:rPr sz="1300" b="0">
                <a:solidFill>
                  <a:srgbClr val="555148"/>
                </a:solidFill>
              </a:rPr>
              <a:t>Großstädte haben Dutzende</a:t>
            </a:r>
          </a:p>
        </p:txBody>
      </p:sp>
      <p:sp>
        <p:nvSpPr>
          <p:cNvPr id="17" name="Rectangle 16"/>
          <p:cNvSpPr/>
          <p:nvPr/>
        </p:nvSpPr>
        <p:spPr>
          <a:xfrm>
            <a:off x="1153160" y="4140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4140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56360" y="4203700"/>
            <a:ext cx="4064000" cy="533400"/>
          </a:xfrm>
          <a:prstGeom prst="rect">
            <a:avLst/>
          </a:prstGeom>
          <a:noFill/>
        </p:spPr>
        <p:txBody>
          <a:bodyPr wrap="square" lIns="0" tIns="0" rIns="0" bIns="0" anchor="ctr">
            <a:spAutoFit/>
          </a:bodyPr>
          <a:lstStyle/>
          <a:p>
            <a:pPr algn="l">
              <a:lnSpc>
                <a:spcPct val="95000"/>
              </a:lnSpc>
            </a:pPr>
            <a:r>
              <a:rPr sz="1300" b="1">
                <a:solidFill>
                  <a:srgbClr val="003E6E"/>
                </a:solidFill>
              </a:rPr>
              <a:t>plz → ort ist funktional</a:t>
            </a:r>
          </a:p>
        </p:txBody>
      </p:sp>
      <p:sp>
        <p:nvSpPr>
          <p:cNvPr id="20" name="Rounded Rectangle 19"/>
          <p:cNvSpPr/>
          <p:nvPr/>
        </p:nvSpPr>
        <p:spPr>
          <a:xfrm>
            <a:off x="5648960" y="4292600"/>
            <a:ext cx="10160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1" name="TextBox 20"/>
          <p:cNvSpPr txBox="1"/>
          <p:nvPr/>
        </p:nvSpPr>
        <p:spPr>
          <a:xfrm>
            <a:off x="6868159" y="4203700"/>
            <a:ext cx="5632450" cy="533400"/>
          </a:xfrm>
          <a:prstGeom prst="rect">
            <a:avLst/>
          </a:prstGeom>
          <a:noFill/>
        </p:spPr>
        <p:txBody>
          <a:bodyPr wrap="square" lIns="0" tIns="0" rIns="0" bIns="0" anchor="ctr">
            <a:spAutoFit/>
          </a:bodyPr>
          <a:lstStyle/>
          <a:p>
            <a:pPr algn="l">
              <a:lnSpc>
                <a:spcPct val="95000"/>
              </a:lnSpc>
            </a:pPr>
            <a:r>
              <a:rPr sz="1300" b="0">
                <a:solidFill>
                  <a:srgbClr val="555148"/>
                </a:solidFill>
              </a:rPr>
              <a:t>Also keine transitive Abhängigkeit, kein Split</a:t>
            </a:r>
          </a:p>
        </p:txBody>
      </p:sp>
      <p:sp>
        <p:nvSpPr>
          <p:cNvPr id="22" name="Rectangle 21"/>
          <p:cNvSpPr/>
          <p:nvPr/>
        </p:nvSpPr>
        <p:spPr>
          <a:xfrm>
            <a:off x="1153160" y="5029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56360" y="5105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Eine funktionale Abhängigkeit ist eine Behauptung über die Wirklichkeit und muss geprüft werden — nicht aus Namensähnlichkeit geschlossen.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Logischer Entwurf</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wird aus dem Bild ein Satz von Relationen?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Abbildung folgt festen Regeln</a:t>
            </a:r>
          </a:p>
        </p:txBody>
      </p:sp>
      <p:sp>
        <p:nvSpPr>
          <p:cNvPr id="3" name="Text Placeholder 2"/>
          <p:cNvSpPr>
            <a:spLocks noGrp="1"/>
          </p:cNvSpPr>
          <p:nvPr>
            <p:ph type="body" idx="12" sz="quarter"/>
          </p:nvPr>
        </p:nvSpPr>
        <p:spPr/>
        <p:txBody>
          <a:bodyPr/>
          <a:lstStyle/>
          <a:p>
            <a:r>
              <a:t>4 · Logischer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Dieser Schritt ist mechanisch — und genau deshalb korrigierbar. Ein Fehler hier ist kein Geschmacksurteil, sondern ein Regelverstoß.</a:t>
            </a:r>
          </a:p>
        </p:txBody>
      </p:sp>
      <p:sp>
        <p:nvSpPr>
          <p:cNvPr id="6" name="Rectangle 5"/>
          <p:cNvSpPr/>
          <p:nvPr/>
        </p:nvSpPr>
        <p:spPr>
          <a:xfrm>
            <a:off x="1153160" y="2362200"/>
            <a:ext cx="2667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ERM-Konstrukt</a:t>
            </a:r>
          </a:p>
        </p:txBody>
      </p:sp>
      <p:sp>
        <p:nvSpPr>
          <p:cNvPr id="7" name="Rectangle 6"/>
          <p:cNvSpPr/>
          <p:nvPr/>
        </p:nvSpPr>
        <p:spPr>
          <a:xfrm>
            <a:off x="3820160" y="2362200"/>
            <a:ext cx="5080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Abbildung ins Relationenmodell</a:t>
            </a:r>
          </a:p>
        </p:txBody>
      </p:sp>
      <p:sp>
        <p:nvSpPr>
          <p:cNvPr id="8" name="Rectangle 7"/>
          <p:cNvSpPr/>
          <p:nvPr/>
        </p:nvSpPr>
        <p:spPr>
          <a:xfrm>
            <a:off x="8900160" y="2362200"/>
            <a:ext cx="372745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Beispiel im Modell</a:t>
            </a:r>
          </a:p>
        </p:txBody>
      </p:sp>
      <p:sp>
        <p:nvSpPr>
          <p:cNvPr id="9" name="Rectangle 8"/>
          <p:cNvSpPr/>
          <p:nvPr/>
        </p:nvSpPr>
        <p:spPr>
          <a:xfrm>
            <a:off x="1153160" y="2768600"/>
            <a:ext cx="2667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Entitätstyp</a:t>
            </a:r>
          </a:p>
        </p:txBody>
      </p:sp>
      <p:sp>
        <p:nvSpPr>
          <p:cNvPr id="10" name="Rectangle 9"/>
          <p:cNvSpPr/>
          <p:nvPr/>
        </p:nvSpPr>
        <p:spPr>
          <a:xfrm>
            <a:off x="3820160" y="2768600"/>
            <a:ext cx="5080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eigene Relation</a:t>
            </a:r>
          </a:p>
        </p:txBody>
      </p:sp>
      <p:sp>
        <p:nvSpPr>
          <p:cNvPr id="11" name="Rectangle 10"/>
          <p:cNvSpPr/>
          <p:nvPr/>
        </p:nvSpPr>
        <p:spPr>
          <a:xfrm>
            <a:off x="8900160" y="2768600"/>
            <a:ext cx="3727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kunde, station, ausleihe</a:t>
            </a:r>
          </a:p>
        </p:txBody>
      </p:sp>
      <p:sp>
        <p:nvSpPr>
          <p:cNvPr id="12" name="Rectangle 11"/>
          <p:cNvSpPr/>
          <p:nvPr/>
        </p:nvSpPr>
        <p:spPr>
          <a:xfrm>
            <a:off x="1153160" y="3175000"/>
            <a:ext cx="2667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Attribut</a:t>
            </a:r>
          </a:p>
        </p:txBody>
      </p:sp>
      <p:sp>
        <p:nvSpPr>
          <p:cNvPr id="13" name="Rectangle 12"/>
          <p:cNvSpPr/>
          <p:nvPr/>
        </p:nvSpPr>
        <p:spPr>
          <a:xfrm>
            <a:off x="3820160" y="3175000"/>
            <a:ext cx="5080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Spalte</a:t>
            </a:r>
          </a:p>
        </p:txBody>
      </p:sp>
      <p:sp>
        <p:nvSpPr>
          <p:cNvPr id="14" name="Rectangle 13"/>
          <p:cNvSpPr/>
          <p:nvPr/>
        </p:nvSpPr>
        <p:spPr>
          <a:xfrm>
            <a:off x="8900160" y="3175000"/>
            <a:ext cx="3727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vorname, kapazitaet</a:t>
            </a:r>
          </a:p>
        </p:txBody>
      </p:sp>
      <p:sp>
        <p:nvSpPr>
          <p:cNvPr id="15" name="Rectangle 14"/>
          <p:cNvSpPr/>
          <p:nvPr/>
        </p:nvSpPr>
        <p:spPr>
          <a:xfrm>
            <a:off x="1153160" y="3581400"/>
            <a:ext cx="2667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1:N-Beziehung</a:t>
            </a:r>
          </a:p>
        </p:txBody>
      </p:sp>
      <p:sp>
        <p:nvSpPr>
          <p:cNvPr id="16" name="Rectangle 15"/>
          <p:cNvSpPr/>
          <p:nvPr/>
        </p:nvSpPr>
        <p:spPr>
          <a:xfrm>
            <a:off x="3820160" y="3581400"/>
            <a:ext cx="5080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Fremdschlüssel auf der N-Seite</a:t>
            </a:r>
          </a:p>
        </p:txBody>
      </p:sp>
      <p:sp>
        <p:nvSpPr>
          <p:cNvPr id="17" name="Rectangle 16"/>
          <p:cNvSpPr/>
          <p:nvPr/>
        </p:nvSpPr>
        <p:spPr>
          <a:xfrm>
            <a:off x="8900160" y="3581400"/>
            <a:ext cx="3727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ausleihe.kunde_id</a:t>
            </a:r>
          </a:p>
        </p:txBody>
      </p:sp>
      <p:sp>
        <p:nvSpPr>
          <p:cNvPr id="18" name="Rectangle 17"/>
          <p:cNvSpPr/>
          <p:nvPr/>
        </p:nvSpPr>
        <p:spPr>
          <a:xfrm>
            <a:off x="1153160" y="3987800"/>
            <a:ext cx="2667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1:1-Beziehung</a:t>
            </a:r>
          </a:p>
        </p:txBody>
      </p:sp>
      <p:sp>
        <p:nvSpPr>
          <p:cNvPr id="19" name="Rectangle 18"/>
          <p:cNvSpPr/>
          <p:nvPr/>
        </p:nvSpPr>
        <p:spPr>
          <a:xfrm>
            <a:off x="3820160" y="3987800"/>
            <a:ext cx="5080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FK auf der optionalen Seite, dort zugleich PK</a:t>
            </a:r>
          </a:p>
        </p:txBody>
      </p:sp>
      <p:sp>
        <p:nvSpPr>
          <p:cNvPr id="20" name="Rectangle 19"/>
          <p:cNvSpPr/>
          <p:nvPr/>
        </p:nvSpPr>
        <p:spPr>
          <a:xfrm>
            <a:off x="8900160" y="3987800"/>
            <a:ext cx="3727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fahrrad_position.fahrrad_id</a:t>
            </a:r>
          </a:p>
        </p:txBody>
      </p:sp>
      <p:sp>
        <p:nvSpPr>
          <p:cNvPr id="21" name="Rectangle 20"/>
          <p:cNvSpPr/>
          <p:nvPr/>
        </p:nvSpPr>
        <p:spPr>
          <a:xfrm>
            <a:off x="1153160" y="4394200"/>
            <a:ext cx="2667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M:N-Beziehung</a:t>
            </a:r>
          </a:p>
        </p:txBody>
      </p:sp>
      <p:sp>
        <p:nvSpPr>
          <p:cNvPr id="22" name="Rectangle 21"/>
          <p:cNvSpPr/>
          <p:nvPr/>
        </p:nvSpPr>
        <p:spPr>
          <a:xfrm>
            <a:off x="3820160" y="4394200"/>
            <a:ext cx="5080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eigene Verknüpfungsrelation</a:t>
            </a:r>
          </a:p>
        </p:txBody>
      </p:sp>
      <p:sp>
        <p:nvSpPr>
          <p:cNvPr id="23" name="Rectangle 22"/>
          <p:cNvSpPr/>
          <p:nvPr/>
        </p:nvSpPr>
        <p:spPr>
          <a:xfrm>
            <a:off x="8900160" y="4394200"/>
            <a:ext cx="3727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2: wartungsposition</a:t>
            </a:r>
          </a:p>
        </p:txBody>
      </p:sp>
      <p:sp>
        <p:nvSpPr>
          <p:cNvPr id="24" name="Rectangle 23"/>
          <p:cNvSpPr/>
          <p:nvPr/>
        </p:nvSpPr>
        <p:spPr>
          <a:xfrm>
            <a:off x="1153160" y="4800600"/>
            <a:ext cx="2667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Mehrwertiges Attribut</a:t>
            </a:r>
          </a:p>
        </p:txBody>
      </p:sp>
      <p:sp>
        <p:nvSpPr>
          <p:cNvPr id="25" name="Rectangle 24"/>
          <p:cNvSpPr/>
          <p:nvPr/>
        </p:nvSpPr>
        <p:spPr>
          <a:xfrm>
            <a:off x="3820160" y="4800600"/>
            <a:ext cx="5080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eigene Relation</a:t>
            </a:r>
          </a:p>
        </p:txBody>
      </p:sp>
      <p:sp>
        <p:nvSpPr>
          <p:cNvPr id="26" name="Rectangle 25"/>
          <p:cNvSpPr/>
          <p:nvPr/>
        </p:nvSpPr>
        <p:spPr>
          <a:xfrm>
            <a:off x="8900160" y="4800600"/>
            <a:ext cx="3727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fahrradtyp_merkmal</a:t>
            </a:r>
          </a:p>
        </p:txBody>
      </p:sp>
      <p:sp>
        <p:nvSpPr>
          <p:cNvPr id="27" name="Rectangle 26"/>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bekommt vier Fremdschlüssel: Kunde, Rad, Mitgliedschaft, Startstation.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Jede Relation trägt zwei Schlüssel</a:t>
            </a:r>
          </a:p>
        </p:txBody>
      </p:sp>
      <p:sp>
        <p:nvSpPr>
          <p:cNvPr id="3" name="Text Placeholder 2"/>
          <p:cNvSpPr>
            <a:spLocks noGrp="1"/>
          </p:cNvSpPr>
          <p:nvPr>
            <p:ph type="body" idx="12" sz="quarter"/>
          </p:nvPr>
        </p:nvSpPr>
        <p:spPr/>
        <p:txBody>
          <a:bodyPr/>
          <a:lstStyle/>
          <a:p>
            <a:r>
              <a:t>4 · Logischer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Surrogatschlüssel als Primärschlüssel, fachlicher Schlüssel als Eindeutigkeitsbedingung. Beide haben eine Aufgabe, keiner ersetzt den anderen.</a:t>
            </a:r>
          </a:p>
        </p:txBody>
      </p:sp>
      <p:sp>
        <p:nvSpPr>
          <p:cNvPr id="6" name="TextBox 5"/>
          <p:cNvSpPr txBox="1"/>
          <p:nvPr/>
        </p:nvSpPr>
        <p:spPr>
          <a:xfrm>
            <a:off x="5140960" y="2286000"/>
            <a:ext cx="1092200" cy="304800"/>
          </a:xfrm>
          <a:prstGeom prst="rect">
            <a:avLst/>
          </a:prstGeom>
          <a:noFill/>
        </p:spPr>
        <p:txBody>
          <a:bodyPr wrap="square" lIns="0" tIns="0" rIns="0" bIns="0">
            <a:spAutoFit/>
          </a:bodyPr>
          <a:lstStyle/>
          <a:p>
            <a:pPr algn="ctr">
              <a:lnSpc>
                <a:spcPct val="95000"/>
              </a:lnSpc>
            </a:pPr>
            <a:r>
              <a:rPr sz="1300" b="1">
                <a:solidFill>
                  <a:srgbClr val="555148"/>
                </a:solidFill>
              </a:rPr>
              <a:t>stabil</a:t>
            </a:r>
          </a:p>
        </p:txBody>
      </p:sp>
      <p:sp>
        <p:nvSpPr>
          <p:cNvPr id="7" name="TextBox 6"/>
          <p:cNvSpPr txBox="1"/>
          <p:nvPr/>
        </p:nvSpPr>
        <p:spPr>
          <a:xfrm>
            <a:off x="6360160" y="2286000"/>
            <a:ext cx="1092200" cy="304800"/>
          </a:xfrm>
          <a:prstGeom prst="rect">
            <a:avLst/>
          </a:prstGeom>
          <a:noFill/>
        </p:spPr>
        <p:txBody>
          <a:bodyPr wrap="square" lIns="0" tIns="0" rIns="0" bIns="0">
            <a:spAutoFit/>
          </a:bodyPr>
          <a:lstStyle/>
          <a:p>
            <a:pPr algn="ctr">
              <a:lnSpc>
                <a:spcPct val="95000"/>
              </a:lnSpc>
            </a:pPr>
            <a:r>
              <a:rPr sz="1300" b="1">
                <a:solidFill>
                  <a:srgbClr val="555148"/>
                </a:solidFill>
              </a:rPr>
              <a:t>eindeutig</a:t>
            </a:r>
          </a:p>
        </p:txBody>
      </p:sp>
      <p:sp>
        <p:nvSpPr>
          <p:cNvPr id="8" name="TextBox 7"/>
          <p:cNvSpPr txBox="1"/>
          <p:nvPr/>
        </p:nvSpPr>
        <p:spPr>
          <a:xfrm>
            <a:off x="7579359" y="2286000"/>
            <a:ext cx="1092200" cy="304800"/>
          </a:xfrm>
          <a:prstGeom prst="rect">
            <a:avLst/>
          </a:prstGeom>
          <a:noFill/>
        </p:spPr>
        <p:txBody>
          <a:bodyPr wrap="square" lIns="0" tIns="0" rIns="0" bIns="0">
            <a:spAutoFit/>
          </a:bodyPr>
          <a:lstStyle/>
          <a:p>
            <a:pPr algn="ctr">
              <a:lnSpc>
                <a:spcPct val="95000"/>
              </a:lnSpc>
            </a:pPr>
            <a:r>
              <a:rPr sz="1300" b="1">
                <a:solidFill>
                  <a:srgbClr val="555148"/>
                </a:solidFill>
              </a:rPr>
              <a:t>sprechend</a:t>
            </a:r>
          </a:p>
        </p:txBody>
      </p:sp>
      <p:sp>
        <p:nvSpPr>
          <p:cNvPr id="9" name="Rectangle 8"/>
          <p:cNvSpPr/>
          <p:nvPr/>
        </p:nvSpPr>
        <p:spPr>
          <a:xfrm>
            <a:off x="1153160" y="2616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616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56360" y="2679700"/>
            <a:ext cx="3556000" cy="533400"/>
          </a:xfrm>
          <a:prstGeom prst="rect">
            <a:avLst/>
          </a:prstGeom>
          <a:noFill/>
        </p:spPr>
        <p:txBody>
          <a:bodyPr wrap="square" lIns="0" tIns="0" rIns="0" bIns="0" anchor="ctr">
            <a:spAutoFit/>
          </a:bodyPr>
          <a:lstStyle/>
          <a:p>
            <a:pPr algn="l">
              <a:lnSpc>
                <a:spcPct val="95000"/>
              </a:lnSpc>
            </a:pPr>
            <a:r>
              <a:rPr sz="1300" b="1">
                <a:solidFill>
                  <a:srgbClr val="003E6E"/>
                </a:solidFill>
              </a:rPr>
              <a:t>Surrogatschlüssel  kunde_id</a:t>
            </a:r>
          </a:p>
        </p:txBody>
      </p:sp>
      <p:sp>
        <p:nvSpPr>
          <p:cNvPr id="12" name="Rounded Rectangle 11"/>
          <p:cNvSpPr/>
          <p:nvPr/>
        </p:nvSpPr>
        <p:spPr>
          <a:xfrm>
            <a:off x="5140960" y="2768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3" name="Rounded Rectangle 12"/>
          <p:cNvSpPr/>
          <p:nvPr/>
        </p:nvSpPr>
        <p:spPr>
          <a:xfrm>
            <a:off x="6360160" y="2768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4" name="Rounded Rectangle 13"/>
          <p:cNvSpPr/>
          <p:nvPr/>
        </p:nvSpPr>
        <p:spPr>
          <a:xfrm>
            <a:off x="7579359" y="2768600"/>
            <a:ext cx="10922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5" name="TextBox 14"/>
          <p:cNvSpPr txBox="1"/>
          <p:nvPr/>
        </p:nvSpPr>
        <p:spPr>
          <a:xfrm>
            <a:off x="8874760" y="2679700"/>
            <a:ext cx="3625850" cy="533400"/>
          </a:xfrm>
          <a:prstGeom prst="rect">
            <a:avLst/>
          </a:prstGeom>
          <a:noFill/>
        </p:spPr>
        <p:txBody>
          <a:bodyPr wrap="square" lIns="0" tIns="0" rIns="0" bIns="0" anchor="ctr">
            <a:spAutoFit/>
          </a:bodyPr>
          <a:lstStyle/>
          <a:p>
            <a:pPr algn="l">
              <a:lnSpc>
                <a:spcPct val="95000"/>
              </a:lnSpc>
            </a:pPr>
            <a:r>
              <a:rPr sz="1300" b="0">
                <a:solidFill>
                  <a:srgbClr val="555148"/>
                </a:solidFill>
              </a:rPr>
              <a:t>Primärschlüssel</a:t>
            </a:r>
          </a:p>
        </p:txBody>
      </p:sp>
      <p:sp>
        <p:nvSpPr>
          <p:cNvPr id="16" name="Rectangle 15"/>
          <p:cNvSpPr/>
          <p:nvPr/>
        </p:nvSpPr>
        <p:spPr>
          <a:xfrm>
            <a:off x="1153160" y="3378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53160" y="3378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56360" y="3441700"/>
            <a:ext cx="3556000" cy="533400"/>
          </a:xfrm>
          <a:prstGeom prst="rect">
            <a:avLst/>
          </a:prstGeom>
          <a:noFill/>
        </p:spPr>
        <p:txBody>
          <a:bodyPr wrap="square" lIns="0" tIns="0" rIns="0" bIns="0" anchor="ctr">
            <a:spAutoFit/>
          </a:bodyPr>
          <a:lstStyle/>
          <a:p>
            <a:pPr algn="l">
              <a:lnSpc>
                <a:spcPct val="95000"/>
              </a:lnSpc>
            </a:pPr>
            <a:r>
              <a:rPr sz="1300" b="1">
                <a:solidFill>
                  <a:srgbClr val="003E6E"/>
                </a:solidFill>
              </a:rPr>
              <a:t>Fachschlüssel  kundennummer</a:t>
            </a:r>
          </a:p>
        </p:txBody>
      </p:sp>
      <p:sp>
        <p:nvSpPr>
          <p:cNvPr id="19" name="Rounded Rectangle 18"/>
          <p:cNvSpPr/>
          <p:nvPr/>
        </p:nvSpPr>
        <p:spPr>
          <a:xfrm>
            <a:off x="5140960" y="3530600"/>
            <a:ext cx="10922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0" name="Rounded Rectangle 19"/>
          <p:cNvSpPr/>
          <p:nvPr/>
        </p:nvSpPr>
        <p:spPr>
          <a:xfrm>
            <a:off x="6360160" y="3530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1" name="Rounded Rectangle 20"/>
          <p:cNvSpPr/>
          <p:nvPr/>
        </p:nvSpPr>
        <p:spPr>
          <a:xfrm>
            <a:off x="7579359" y="3530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2" name="TextBox 21"/>
          <p:cNvSpPr txBox="1"/>
          <p:nvPr/>
        </p:nvSpPr>
        <p:spPr>
          <a:xfrm>
            <a:off x="8874760" y="3441700"/>
            <a:ext cx="3625850" cy="533400"/>
          </a:xfrm>
          <a:prstGeom prst="rect">
            <a:avLst/>
          </a:prstGeom>
          <a:noFill/>
        </p:spPr>
        <p:txBody>
          <a:bodyPr wrap="square" lIns="0" tIns="0" rIns="0" bIns="0" anchor="ctr">
            <a:spAutoFit/>
          </a:bodyPr>
          <a:lstStyle/>
          <a:p>
            <a:pPr algn="l">
              <a:lnSpc>
                <a:spcPct val="95000"/>
              </a:lnSpc>
            </a:pPr>
            <a:r>
              <a:rPr sz="1300" b="0">
                <a:solidFill>
                  <a:srgbClr val="555148"/>
                </a:solidFill>
              </a:rPr>
              <a:t>UNIQUE-Bedingung</a:t>
            </a:r>
          </a:p>
        </p:txBody>
      </p:sp>
      <p:sp>
        <p:nvSpPr>
          <p:cNvPr id="23" name="Rectangle 22"/>
          <p:cNvSpPr/>
          <p:nvPr/>
        </p:nvSpPr>
        <p:spPr>
          <a:xfrm>
            <a:off x="1153160" y="4140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53160" y="4140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56360" y="4203700"/>
            <a:ext cx="3556000" cy="533400"/>
          </a:xfrm>
          <a:prstGeom prst="rect">
            <a:avLst/>
          </a:prstGeom>
          <a:noFill/>
        </p:spPr>
        <p:txBody>
          <a:bodyPr wrap="square" lIns="0" tIns="0" rIns="0" bIns="0" anchor="ctr">
            <a:spAutoFit/>
          </a:bodyPr>
          <a:lstStyle/>
          <a:p>
            <a:pPr algn="l">
              <a:lnSpc>
                <a:spcPct val="95000"/>
              </a:lnSpc>
            </a:pPr>
            <a:r>
              <a:rPr sz="1300" b="1">
                <a:solidFill>
                  <a:srgbClr val="003E6E"/>
                </a:solidFill>
              </a:rPr>
              <a:t>Fachschlüssel als Primärschlüssel</a:t>
            </a:r>
          </a:p>
        </p:txBody>
      </p:sp>
      <p:sp>
        <p:nvSpPr>
          <p:cNvPr id="26" name="Rounded Rectangle 25"/>
          <p:cNvSpPr/>
          <p:nvPr/>
        </p:nvSpPr>
        <p:spPr>
          <a:xfrm>
            <a:off x="5140960" y="4292600"/>
            <a:ext cx="10922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7" name="Rounded Rectangle 26"/>
          <p:cNvSpPr/>
          <p:nvPr/>
        </p:nvSpPr>
        <p:spPr>
          <a:xfrm>
            <a:off x="6360160" y="4292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8" name="Rounded Rectangle 27"/>
          <p:cNvSpPr/>
          <p:nvPr/>
        </p:nvSpPr>
        <p:spPr>
          <a:xfrm>
            <a:off x="7579359" y="4292600"/>
            <a:ext cx="10922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9" name="TextBox 28"/>
          <p:cNvSpPr txBox="1"/>
          <p:nvPr/>
        </p:nvSpPr>
        <p:spPr>
          <a:xfrm>
            <a:off x="8874760" y="4203700"/>
            <a:ext cx="3625850" cy="533400"/>
          </a:xfrm>
          <a:prstGeom prst="rect">
            <a:avLst/>
          </a:prstGeom>
          <a:noFill/>
        </p:spPr>
        <p:txBody>
          <a:bodyPr wrap="square" lIns="0" tIns="0" rIns="0" bIns="0" anchor="ctr">
            <a:spAutoFit/>
          </a:bodyPr>
          <a:lstStyle/>
          <a:p>
            <a:pPr algn="l">
              <a:lnSpc>
                <a:spcPct val="95000"/>
              </a:lnSpc>
            </a:pPr>
            <a:r>
              <a:rPr sz="1300" b="0">
                <a:solidFill>
                  <a:srgbClr val="555148"/>
                </a:solidFill>
              </a:rPr>
              <a:t>Änderung zieht durch alle Verweise</a:t>
            </a:r>
          </a:p>
        </p:txBody>
      </p:sp>
      <p:sp>
        <p:nvSpPr>
          <p:cNvPr id="30" name="Rectangle 29"/>
          <p:cNvSpPr/>
          <p:nvPr/>
        </p:nvSpPr>
        <p:spPr>
          <a:xfrm>
            <a:off x="1153160" y="5029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356360" y="5105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Eine Rahmennummer wird beim Rahmentausch neu vergeben. Ein Primärschlüssel, der sich ändert, zieht die Änderung durch jede verweisende Relation.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 Physischer Entwurf</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erzwingt die Datenbank, dass Annas Rechnung stimmt?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Datentypen sind fachliche Entscheidungen</a:t>
            </a:r>
          </a:p>
        </p:txBody>
      </p:sp>
      <p:sp>
        <p:nvSpPr>
          <p:cNvPr id="3" name="Text Placeholder 2"/>
          <p:cNvSpPr>
            <a:spLocks noGrp="1"/>
          </p:cNvSpPr>
          <p:nvPr>
            <p:ph type="body" idx="12" sz="quarter"/>
          </p:nvPr>
        </p:nvSpPr>
        <p:spPr/>
        <p:txBody>
          <a:bodyPr/>
          <a:lstStyle/>
          <a:p>
            <a:r>
              <a:t>5 · Physischer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Jede Zeile hat einen Grund, der über Geschmack hinausgeht. Die beiden ersten sind die, an denen in der Praxis am meisten schiefgeht.</a:t>
            </a:r>
          </a:p>
        </p:txBody>
      </p:sp>
      <p:sp>
        <p:nvSpPr>
          <p:cNvPr id="6" name="Rectangle 5"/>
          <p:cNvSpPr/>
          <p:nvPr/>
        </p:nvSpPr>
        <p:spPr>
          <a:xfrm>
            <a:off x="1153160" y="2362200"/>
            <a:ext cx="2286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Zweck</a:t>
            </a:r>
          </a:p>
        </p:txBody>
      </p:sp>
      <p:sp>
        <p:nvSpPr>
          <p:cNvPr id="7" name="Rectangle 6"/>
          <p:cNvSpPr/>
          <p:nvPr/>
        </p:nvSpPr>
        <p:spPr>
          <a:xfrm>
            <a:off x="3439160" y="2362200"/>
            <a:ext cx="2159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Typ</a:t>
            </a:r>
          </a:p>
        </p:txBody>
      </p:sp>
      <p:sp>
        <p:nvSpPr>
          <p:cNvPr id="8" name="Rectangle 7"/>
          <p:cNvSpPr/>
          <p:nvPr/>
        </p:nvSpPr>
        <p:spPr>
          <a:xfrm>
            <a:off x="5598160" y="2362200"/>
            <a:ext cx="702945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Warum genau dieser</a:t>
            </a:r>
          </a:p>
        </p:txBody>
      </p:sp>
      <p:sp>
        <p:nvSpPr>
          <p:cNvPr id="9" name="Rectangle 8"/>
          <p:cNvSpPr/>
          <p:nvPr/>
        </p:nvSpPr>
        <p:spPr>
          <a:xfrm>
            <a:off x="1153160" y="2768600"/>
            <a:ext cx="228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Zeitpunkt</a:t>
            </a:r>
          </a:p>
        </p:txBody>
      </p:sp>
      <p:sp>
        <p:nvSpPr>
          <p:cNvPr id="10" name="Rectangle 9"/>
          <p:cNvSpPr/>
          <p:nvPr/>
        </p:nvSpPr>
        <p:spPr>
          <a:xfrm>
            <a:off x="3439160" y="2768600"/>
            <a:ext cx="2159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timestamptz</a:t>
            </a:r>
          </a:p>
        </p:txBody>
      </p:sp>
      <p:sp>
        <p:nvSpPr>
          <p:cNvPr id="11" name="Rectangle 10"/>
          <p:cNvSpPr/>
          <p:nvPr/>
        </p:nvSpPr>
        <p:spPr>
          <a:xfrm>
            <a:off x="5598160" y="2768600"/>
            <a:ext cx="7029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timestamp ohne Zone verliert den Bezug; Sommerzeit wird doppeldeutig</a:t>
            </a:r>
          </a:p>
        </p:txBody>
      </p:sp>
      <p:sp>
        <p:nvSpPr>
          <p:cNvPr id="12" name="Rectangle 11"/>
          <p:cNvSpPr/>
          <p:nvPr/>
        </p:nvSpPr>
        <p:spPr>
          <a:xfrm>
            <a:off x="1153160" y="3175000"/>
            <a:ext cx="2286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Geldbetrag</a:t>
            </a:r>
          </a:p>
        </p:txBody>
      </p:sp>
      <p:sp>
        <p:nvSpPr>
          <p:cNvPr id="13" name="Rectangle 12"/>
          <p:cNvSpPr/>
          <p:nvPr/>
        </p:nvSpPr>
        <p:spPr>
          <a:xfrm>
            <a:off x="3439160" y="3175000"/>
            <a:ext cx="2159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numeric(10,2)</a:t>
            </a:r>
          </a:p>
        </p:txBody>
      </p:sp>
      <p:sp>
        <p:nvSpPr>
          <p:cNvPr id="14" name="Rectangle 13"/>
          <p:cNvSpPr/>
          <p:nvPr/>
        </p:nvSpPr>
        <p:spPr>
          <a:xfrm>
            <a:off x="5598160" y="3175000"/>
            <a:ext cx="7029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exakte Dezimalarithmetik; float trifft 0,10 nicht genau</a:t>
            </a:r>
          </a:p>
        </p:txBody>
      </p:sp>
      <p:sp>
        <p:nvSpPr>
          <p:cNvPr id="15" name="Rectangle 14"/>
          <p:cNvSpPr/>
          <p:nvPr/>
        </p:nvSpPr>
        <p:spPr>
          <a:xfrm>
            <a:off x="1153160" y="3581400"/>
            <a:ext cx="228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Zeitraum</a:t>
            </a:r>
          </a:p>
        </p:txBody>
      </p:sp>
      <p:sp>
        <p:nvSpPr>
          <p:cNvPr id="16" name="Rectangle 15"/>
          <p:cNvSpPr/>
          <p:nvPr/>
        </p:nvSpPr>
        <p:spPr>
          <a:xfrm>
            <a:off x="3439160" y="3581400"/>
            <a:ext cx="2159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daterange</a:t>
            </a:r>
          </a:p>
        </p:txBody>
      </p:sp>
      <p:sp>
        <p:nvSpPr>
          <p:cNvPr id="17" name="Rectangle 16"/>
          <p:cNvSpPr/>
          <p:nvPr/>
        </p:nvSpPr>
        <p:spPr>
          <a:xfrm>
            <a:off x="5598160" y="3581400"/>
            <a:ext cx="7029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 Zeitraum ist ein Wert, kein Spaltenpaar — erst so prüfbar</a:t>
            </a:r>
          </a:p>
        </p:txBody>
      </p:sp>
      <p:sp>
        <p:nvSpPr>
          <p:cNvPr id="18" name="Rectangle 17"/>
          <p:cNvSpPr/>
          <p:nvPr/>
        </p:nvSpPr>
        <p:spPr>
          <a:xfrm>
            <a:off x="1153160" y="3987800"/>
            <a:ext cx="2286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Surrogatschlüssel</a:t>
            </a:r>
          </a:p>
        </p:txBody>
      </p:sp>
      <p:sp>
        <p:nvSpPr>
          <p:cNvPr id="19" name="Rectangle 18"/>
          <p:cNvSpPr/>
          <p:nvPr/>
        </p:nvSpPr>
        <p:spPr>
          <a:xfrm>
            <a:off x="3439160" y="3987800"/>
            <a:ext cx="2159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bigint IDENTITY</a:t>
            </a:r>
          </a:p>
        </p:txBody>
      </p:sp>
      <p:sp>
        <p:nvSpPr>
          <p:cNvPr id="20" name="Rectangle 19"/>
          <p:cNvSpPr/>
          <p:nvPr/>
        </p:nvSpPr>
        <p:spPr>
          <a:xfrm>
            <a:off x="5598160" y="3987800"/>
            <a:ext cx="7029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standardkonform; ALWAYS verhindert Setzen von außen</a:t>
            </a:r>
          </a:p>
        </p:txBody>
      </p:sp>
      <p:sp>
        <p:nvSpPr>
          <p:cNvPr id="21" name="Rectangle 20"/>
          <p:cNvSpPr/>
          <p:nvPr/>
        </p:nvSpPr>
        <p:spPr>
          <a:xfrm>
            <a:off x="1153160" y="4394200"/>
            <a:ext cx="228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Koordinate</a:t>
            </a:r>
          </a:p>
        </p:txBody>
      </p:sp>
      <p:sp>
        <p:nvSpPr>
          <p:cNvPr id="22" name="Rectangle 21"/>
          <p:cNvSpPr/>
          <p:nvPr/>
        </p:nvSpPr>
        <p:spPr>
          <a:xfrm>
            <a:off x="3439160" y="4394200"/>
            <a:ext cx="2159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numeric(9,6)</a:t>
            </a:r>
          </a:p>
        </p:txBody>
      </p:sp>
      <p:sp>
        <p:nvSpPr>
          <p:cNvPr id="23" name="Rectangle 22"/>
          <p:cNvSpPr/>
          <p:nvPr/>
        </p:nvSpPr>
        <p:spPr>
          <a:xfrm>
            <a:off x="5598160" y="4394200"/>
            <a:ext cx="7029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sechs Nachkommastellen entsprechen etwa elf Zentimetern</a:t>
            </a:r>
          </a:p>
        </p:txBody>
      </p:sp>
      <p:sp>
        <p:nvSpPr>
          <p:cNvPr id="24" name="Rectangle 23"/>
          <p:cNvSpPr/>
          <p:nvPr/>
        </p:nvSpPr>
        <p:spPr>
          <a:xfrm>
            <a:off x="1153160" y="4800600"/>
            <a:ext cx="2286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Text</a:t>
            </a:r>
          </a:p>
        </p:txBody>
      </p:sp>
      <p:sp>
        <p:nvSpPr>
          <p:cNvPr id="25" name="Rectangle 24"/>
          <p:cNvSpPr/>
          <p:nvPr/>
        </p:nvSpPr>
        <p:spPr>
          <a:xfrm>
            <a:off x="3439160" y="4800600"/>
            <a:ext cx="2159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text</a:t>
            </a:r>
          </a:p>
        </p:txBody>
      </p:sp>
      <p:sp>
        <p:nvSpPr>
          <p:cNvPr id="26" name="Rectangle 25"/>
          <p:cNvSpPr/>
          <p:nvPr/>
        </p:nvSpPr>
        <p:spPr>
          <a:xfrm>
            <a:off x="5598160" y="4800600"/>
            <a:ext cx="7029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PostgreSQL speichert text und varchar(n) identisch</a:t>
            </a:r>
          </a:p>
        </p:txBody>
      </p:sp>
      <p:sp>
        <p:nvSpPr>
          <p:cNvPr id="27" name="Rectangle 26"/>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Startzeit als timestamp ohne Zone wäre in der Nacht der Zeitumstellung nicht eindeutig.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Zehn von fünfzehn Regeln erzwingt die Datenbank</a:t>
            </a:r>
          </a:p>
        </p:txBody>
      </p:sp>
      <p:sp>
        <p:nvSpPr>
          <p:cNvPr id="3" name="Text Placeholder 2"/>
          <p:cNvSpPr>
            <a:spLocks noGrp="1"/>
          </p:cNvSpPr>
          <p:nvPr>
            <p:ph type="body" idx="12" sz="quarter"/>
          </p:nvPr>
        </p:nvSpPr>
        <p:spPr/>
        <p:txBody>
          <a:bodyPr/>
          <a:lstStyle/>
          <a:p>
            <a:r>
              <a:t>5 · Physischer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oberen acht gelten immer, auch bei direktem SQL-Zugriff. Die unteren vier nur, wenn man den vorgesehenen Weg nimmt — sie brauchen Kontext, den ein Constraint nicht hat.</a:t>
            </a:r>
          </a:p>
        </p:txBody>
      </p:sp>
      <p:sp>
        <p:nvSpPr>
          <p:cNvPr id="6" name="Rectangle 5"/>
          <p:cNvSpPr/>
          <p:nvPr/>
        </p:nvSpPr>
        <p:spPr>
          <a:xfrm>
            <a:off x="1153160" y="2235200"/>
            <a:ext cx="1651000" cy="304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Regel</a:t>
            </a:r>
          </a:p>
        </p:txBody>
      </p:sp>
      <p:sp>
        <p:nvSpPr>
          <p:cNvPr id="7" name="Rectangle 6"/>
          <p:cNvSpPr/>
          <p:nvPr/>
        </p:nvSpPr>
        <p:spPr>
          <a:xfrm>
            <a:off x="2804160" y="2235200"/>
            <a:ext cx="6604000" cy="304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Umsetzung</a:t>
            </a:r>
          </a:p>
        </p:txBody>
      </p:sp>
      <p:sp>
        <p:nvSpPr>
          <p:cNvPr id="8" name="Rectangle 7"/>
          <p:cNvSpPr/>
          <p:nvPr/>
        </p:nvSpPr>
        <p:spPr>
          <a:xfrm>
            <a:off x="9408160" y="2235200"/>
            <a:ext cx="3219450" cy="304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Wirkt</a:t>
            </a:r>
          </a:p>
        </p:txBody>
      </p:sp>
      <p:sp>
        <p:nvSpPr>
          <p:cNvPr id="9" name="Rectangle 8"/>
          <p:cNvSpPr/>
          <p:nvPr/>
        </p:nvSpPr>
        <p:spPr>
          <a:xfrm>
            <a:off x="1153160" y="25400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a:t>
            </a:r>
          </a:p>
        </p:txBody>
      </p:sp>
      <p:sp>
        <p:nvSpPr>
          <p:cNvPr id="10" name="Rectangle 9"/>
          <p:cNvSpPr/>
          <p:nvPr/>
        </p:nvSpPr>
        <p:spPr>
          <a:xfrm>
            <a:off x="2804160" y="25400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CREATE UNIQUE INDEX … WHERE status = 'aktiv'</a:t>
            </a:r>
          </a:p>
        </p:txBody>
      </p:sp>
      <p:sp>
        <p:nvSpPr>
          <p:cNvPr id="11" name="Rectangle 10"/>
          <p:cNvSpPr/>
          <p:nvPr/>
        </p:nvSpPr>
        <p:spPr>
          <a:xfrm>
            <a:off x="9408160" y="25400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12" name="Rectangle 11"/>
          <p:cNvSpPr/>
          <p:nvPr/>
        </p:nvSpPr>
        <p:spPr>
          <a:xfrm>
            <a:off x="1153160" y="28448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GR3, GR4</a:t>
            </a:r>
          </a:p>
        </p:txBody>
      </p:sp>
      <p:sp>
        <p:nvSpPr>
          <p:cNvPr id="13" name="Rectangle 12"/>
          <p:cNvSpPr/>
          <p:nvPr/>
        </p:nvSpPr>
        <p:spPr>
          <a:xfrm>
            <a:off x="2804160" y="28448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latin typeface="Consolas"/>
              </a:rPr>
              <a:t>EXCLUDE USING gist (… WITH =, … WITH &amp;&amp;)</a:t>
            </a:r>
          </a:p>
        </p:txBody>
      </p:sp>
      <p:sp>
        <p:nvSpPr>
          <p:cNvPr id="14" name="Rectangle 13"/>
          <p:cNvSpPr/>
          <p:nvPr/>
        </p:nvSpPr>
        <p:spPr>
          <a:xfrm>
            <a:off x="9408160" y="28448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15" name="Rectangle 14"/>
          <p:cNvSpPr/>
          <p:nvPr/>
        </p:nvSpPr>
        <p:spPr>
          <a:xfrm>
            <a:off x="1153160" y="31496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GR6</a:t>
            </a:r>
          </a:p>
        </p:txBody>
      </p:sp>
      <p:sp>
        <p:nvSpPr>
          <p:cNvPr id="16" name="Rectangle 15"/>
          <p:cNvSpPr/>
          <p:nvPr/>
        </p:nvSpPr>
        <p:spPr>
          <a:xfrm>
            <a:off x="2804160" y="31496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GENERATED ALWAYS AS (ceil(…)) STORED</a:t>
            </a:r>
          </a:p>
        </p:txBody>
      </p:sp>
      <p:sp>
        <p:nvSpPr>
          <p:cNvPr id="17" name="Rectangle 16"/>
          <p:cNvSpPr/>
          <p:nvPr/>
        </p:nvSpPr>
        <p:spPr>
          <a:xfrm>
            <a:off x="9408160" y="31496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18" name="Rectangle 17"/>
          <p:cNvSpPr/>
          <p:nvPr/>
        </p:nvSpPr>
        <p:spPr>
          <a:xfrm>
            <a:off x="1153160" y="34544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GR7</a:t>
            </a:r>
          </a:p>
        </p:txBody>
      </p:sp>
      <p:sp>
        <p:nvSpPr>
          <p:cNvPr id="19" name="Rectangle 18"/>
          <p:cNvSpPr/>
          <p:nvPr/>
        </p:nvSpPr>
        <p:spPr>
          <a:xfrm>
            <a:off x="2804160" y="34544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latin typeface="Consolas"/>
              </a:rPr>
              <a:t>CHECK (verbraucht &lt;= kontingent)</a:t>
            </a:r>
          </a:p>
        </p:txBody>
      </p:sp>
      <p:sp>
        <p:nvSpPr>
          <p:cNvPr id="20" name="Rectangle 19"/>
          <p:cNvSpPr/>
          <p:nvPr/>
        </p:nvSpPr>
        <p:spPr>
          <a:xfrm>
            <a:off x="9408160" y="34544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21" name="Rectangle 20"/>
          <p:cNvSpPr/>
          <p:nvPr/>
        </p:nvSpPr>
        <p:spPr>
          <a:xfrm>
            <a:off x="1153160" y="37592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GR10</a:t>
            </a:r>
          </a:p>
        </p:txBody>
      </p:sp>
      <p:sp>
        <p:nvSpPr>
          <p:cNvPr id="22" name="Rectangle 21"/>
          <p:cNvSpPr/>
          <p:nvPr/>
        </p:nvSpPr>
        <p:spPr>
          <a:xfrm>
            <a:off x="2804160" y="37592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UNIQUE (kunde_id, periode_jahr, periode_monat)</a:t>
            </a:r>
          </a:p>
        </p:txBody>
      </p:sp>
      <p:sp>
        <p:nvSpPr>
          <p:cNvPr id="23" name="Rectangle 22"/>
          <p:cNvSpPr/>
          <p:nvPr/>
        </p:nvSpPr>
        <p:spPr>
          <a:xfrm>
            <a:off x="9408160" y="37592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24" name="Rectangle 23"/>
          <p:cNvSpPr/>
          <p:nvPr/>
        </p:nvSpPr>
        <p:spPr>
          <a:xfrm>
            <a:off x="1153160" y="40640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GR11</a:t>
            </a:r>
          </a:p>
        </p:txBody>
      </p:sp>
      <p:sp>
        <p:nvSpPr>
          <p:cNvPr id="25" name="Rectangle 24"/>
          <p:cNvSpPr/>
          <p:nvPr/>
        </p:nvSpPr>
        <p:spPr>
          <a:xfrm>
            <a:off x="2804160" y="40640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latin typeface="Consolas"/>
              </a:rPr>
              <a:t>CHECK: Station oder Koordinaten, nie beides</a:t>
            </a:r>
          </a:p>
        </p:txBody>
      </p:sp>
      <p:sp>
        <p:nvSpPr>
          <p:cNvPr id="26" name="Rectangle 25"/>
          <p:cNvSpPr/>
          <p:nvPr/>
        </p:nvSpPr>
        <p:spPr>
          <a:xfrm>
            <a:off x="9408160" y="40640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27" name="Rectangle 26"/>
          <p:cNvSpPr/>
          <p:nvPr/>
        </p:nvSpPr>
        <p:spPr>
          <a:xfrm>
            <a:off x="1153160" y="43688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GR13</a:t>
            </a:r>
          </a:p>
        </p:txBody>
      </p:sp>
      <p:sp>
        <p:nvSpPr>
          <p:cNvPr id="28" name="Rectangle 27"/>
          <p:cNvSpPr/>
          <p:nvPr/>
        </p:nvSpPr>
        <p:spPr>
          <a:xfrm>
            <a:off x="2804160" y="43688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latin typeface="Consolas"/>
              </a:rPr>
              <a:t>CHECK + Constraint-Trigger (braucht den Radstatus)</a:t>
            </a:r>
          </a:p>
        </p:txBody>
      </p:sp>
      <p:sp>
        <p:nvSpPr>
          <p:cNvPr id="29" name="Rectangle 28"/>
          <p:cNvSpPr/>
          <p:nvPr/>
        </p:nvSpPr>
        <p:spPr>
          <a:xfrm>
            <a:off x="9408160" y="43688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30" name="Rectangle 29"/>
          <p:cNvSpPr/>
          <p:nvPr/>
        </p:nvSpPr>
        <p:spPr>
          <a:xfrm>
            <a:off x="1153160" y="46736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GR15</a:t>
            </a:r>
          </a:p>
        </p:txBody>
      </p:sp>
      <p:sp>
        <p:nvSpPr>
          <p:cNvPr id="31" name="Rectangle 30"/>
          <p:cNvSpPr/>
          <p:nvPr/>
        </p:nvSpPr>
        <p:spPr>
          <a:xfrm>
            <a:off x="2804160" y="46736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Constraint-Trigger: zählt Räder gegen Stellplätze</a:t>
            </a:r>
          </a:p>
        </p:txBody>
      </p:sp>
      <p:sp>
        <p:nvSpPr>
          <p:cNvPr id="32" name="Rectangle 31"/>
          <p:cNvSpPr/>
          <p:nvPr/>
        </p:nvSpPr>
        <p:spPr>
          <a:xfrm>
            <a:off x="9408160" y="46736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immer</a:t>
            </a:r>
          </a:p>
        </p:txBody>
      </p:sp>
      <p:sp>
        <p:nvSpPr>
          <p:cNvPr id="33" name="Rectangle 32"/>
          <p:cNvSpPr/>
          <p:nvPr/>
        </p:nvSpPr>
        <p:spPr>
          <a:xfrm>
            <a:off x="1153160" y="49784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GR2, GR5</a:t>
            </a:r>
          </a:p>
        </p:txBody>
      </p:sp>
      <p:sp>
        <p:nvSpPr>
          <p:cNvPr id="34" name="Rectangle 33"/>
          <p:cNvSpPr/>
          <p:nvPr/>
        </p:nvSpPr>
        <p:spPr>
          <a:xfrm>
            <a:off x="2804160" y="49784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Prüfung in fn_ausleihe_starten und fn_ausleihe_abrechnen</a:t>
            </a:r>
          </a:p>
        </p:txBody>
      </p:sp>
      <p:sp>
        <p:nvSpPr>
          <p:cNvPr id="35" name="Rectangle 34"/>
          <p:cNvSpPr/>
          <p:nvPr/>
        </p:nvSpPr>
        <p:spPr>
          <a:xfrm>
            <a:off x="9408160" y="49784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nur über die Funktion</a:t>
            </a:r>
          </a:p>
        </p:txBody>
      </p:sp>
      <p:sp>
        <p:nvSpPr>
          <p:cNvPr id="36" name="Rectangle 35"/>
          <p:cNvSpPr/>
          <p:nvPr/>
        </p:nvSpPr>
        <p:spPr>
          <a:xfrm>
            <a:off x="1153160" y="52832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GR8, GR9</a:t>
            </a:r>
          </a:p>
        </p:txBody>
      </p:sp>
      <p:sp>
        <p:nvSpPr>
          <p:cNvPr id="37" name="Rectangle 36"/>
          <p:cNvSpPr/>
          <p:nvPr/>
        </p:nvSpPr>
        <p:spPr>
          <a:xfrm>
            <a:off x="2804160" y="52832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Prüfung in der api_-Schicht</a:t>
            </a:r>
          </a:p>
        </p:txBody>
      </p:sp>
      <p:sp>
        <p:nvSpPr>
          <p:cNvPr id="38" name="Rectangle 37"/>
          <p:cNvSpPr/>
          <p:nvPr/>
        </p:nvSpPr>
        <p:spPr>
          <a:xfrm>
            <a:off x="9408160" y="52832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nur über die Funktion</a:t>
            </a:r>
          </a:p>
        </p:txBody>
      </p:sp>
      <p:sp>
        <p:nvSpPr>
          <p:cNvPr id="39" name="Rectangle 38"/>
          <p:cNvSpPr/>
          <p:nvPr/>
        </p:nvSpPr>
        <p:spPr>
          <a:xfrm>
            <a:off x="1153160" y="5588000"/>
            <a:ext cx="1651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GR12</a:t>
            </a:r>
          </a:p>
        </p:txBody>
      </p:sp>
      <p:sp>
        <p:nvSpPr>
          <p:cNvPr id="40" name="Rectangle 39"/>
          <p:cNvSpPr/>
          <p:nvPr/>
        </p:nvSpPr>
        <p:spPr>
          <a:xfrm>
            <a:off x="2804160" y="5588000"/>
            <a:ext cx="660400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Prüfung in fn_ausleihe_starten</a:t>
            </a:r>
          </a:p>
        </p:txBody>
      </p:sp>
      <p:sp>
        <p:nvSpPr>
          <p:cNvPr id="41" name="Rectangle 40"/>
          <p:cNvSpPr/>
          <p:nvPr/>
        </p:nvSpPr>
        <p:spPr>
          <a:xfrm>
            <a:off x="9408160" y="5588000"/>
            <a:ext cx="3219450" cy="304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nur über die Funktion</a:t>
            </a:r>
          </a:p>
        </p:txBody>
      </p:sp>
      <p:sp>
        <p:nvSpPr>
          <p:cNvPr id="42" name="Rectangle 41"/>
          <p:cNvSpPr/>
          <p:nvPr/>
        </p:nvSpPr>
        <p:spPr>
          <a:xfrm>
            <a:off x="1153160" y="5892800"/>
            <a:ext cx="1651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GR14</a:t>
            </a:r>
          </a:p>
        </p:txBody>
      </p:sp>
      <p:sp>
        <p:nvSpPr>
          <p:cNvPr id="43" name="Rectangle 42"/>
          <p:cNvSpPr/>
          <p:nvPr/>
        </p:nvSpPr>
        <p:spPr>
          <a:xfrm>
            <a:off x="2804160" y="5892800"/>
            <a:ext cx="660400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fn_im_geschaeftsgebiet in fn_ausleihe_beenden</a:t>
            </a:r>
          </a:p>
        </p:txBody>
      </p:sp>
      <p:sp>
        <p:nvSpPr>
          <p:cNvPr id="44" name="Rectangle 43"/>
          <p:cNvSpPr/>
          <p:nvPr/>
        </p:nvSpPr>
        <p:spPr>
          <a:xfrm>
            <a:off x="9408160" y="5892800"/>
            <a:ext cx="3219450" cy="304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nur über die Funktion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EXCLUDE verhindert, was UNIQUE nicht kann</a:t>
            </a:r>
          </a:p>
        </p:txBody>
      </p:sp>
      <p:sp>
        <p:nvSpPr>
          <p:cNvPr id="3" name="Text Placeholder 2"/>
          <p:cNvSpPr>
            <a:spLocks noGrp="1"/>
          </p:cNvSpPr>
          <p:nvPr>
            <p:ph type="body" idx="12" sz="quarter"/>
          </p:nvPr>
        </p:nvSpPr>
        <p:spPr/>
        <p:txBody>
          <a:bodyPr/>
          <a:lstStyle/>
          <a:p>
            <a:r>
              <a:t>5 · Physischer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UNIQUE kennt nur Gleichheit. Für „diese Zeiträume dürfen sich nicht überschneiden“ braucht es einen Operator, der Überlappung prüfen kann.</a:t>
            </a:r>
          </a:p>
        </p:txBody>
      </p:sp>
      <p:sp>
        <p:nvSpPr>
          <p:cNvPr id="6" name="Rectangle 5"/>
          <p:cNvSpPr/>
          <p:nvPr/>
        </p:nvSpPr>
        <p:spPr>
          <a:xfrm>
            <a:off x="1153160"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304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49500"/>
            <a:ext cx="5194300" cy="2819400"/>
          </a:xfrm>
          <a:prstGeom prst="rect">
            <a:avLst/>
          </a:prstGeom>
          <a:noFill/>
        </p:spPr>
        <p:txBody>
          <a:bodyPr wrap="square" lIns="0" tIns="0" rIns="0" bIns="0">
            <a:spAutoFit/>
          </a:bodyPr>
          <a:lstStyle/>
          <a:p>
            <a:pPr algn="l">
              <a:lnSpc>
                <a:spcPct val="95000"/>
              </a:lnSpc>
            </a:pPr>
            <a:r>
              <a:rPr sz="1400" b="1">
                <a:solidFill>
                  <a:srgbClr val="003E6E"/>
                </a:solidFill>
              </a:rPr>
              <a:t>Der Constraint</a:t>
            </a:r>
          </a:p>
          <a:p>
            <a:pPr algn="l">
              <a:lnSpc>
                <a:spcPct val="95000"/>
              </a:lnSpc>
              <a:spcBef>
                <a:spcPts val="200"/>
              </a:spcBef>
            </a:pPr>
            <a:r>
              <a:rPr sz="1300" b="0">
                <a:solidFill>
                  <a:srgbClr val="404040"/>
                </a:solidFill>
                <a:latin typeface="Consolas"/>
              </a:rPr>
              <a:t>constraint nutzungspreis_ueberschneidung_ex</a:t>
            </a:r>
          </a:p>
          <a:p>
            <a:pPr algn="l">
              <a:lnSpc>
                <a:spcPct val="95000"/>
              </a:lnSpc>
              <a:spcBef>
                <a:spcPts val="200"/>
              </a:spcBef>
            </a:pPr>
            <a:r>
              <a:rPr sz="1300" b="0">
                <a:solidFill>
                  <a:srgbClr val="404040"/>
                </a:solidFill>
                <a:latin typeface="Consolas"/>
              </a:rPr>
              <a:t>  exclude using gist (</a:t>
            </a:r>
          </a:p>
          <a:p>
            <a:pPr algn="l">
              <a:lnSpc>
                <a:spcPct val="95000"/>
              </a:lnSpc>
              <a:spcBef>
                <a:spcPts val="200"/>
              </a:spcBef>
            </a:pPr>
            <a:r>
              <a:rPr sz="1300" b="0">
                <a:solidFill>
                  <a:srgbClr val="404040"/>
                </a:solidFill>
                <a:latin typeface="Consolas"/>
              </a:rPr>
              <a:t>    typ_id      with =,</a:t>
            </a:r>
          </a:p>
          <a:p>
            <a:pPr algn="l">
              <a:lnSpc>
                <a:spcPct val="95000"/>
              </a:lnSpc>
              <a:spcBef>
                <a:spcPts val="200"/>
              </a:spcBef>
            </a:pPr>
            <a:r>
              <a:rPr sz="1300" b="0">
                <a:solidFill>
                  <a:srgbClr val="404040"/>
                </a:solidFill>
                <a:latin typeface="Consolas"/>
              </a:rPr>
              <a:t>    gueltigkeit with &amp;&amp;</a:t>
            </a:r>
          </a:p>
          <a:p>
            <a:pPr algn="l">
              <a:lnSpc>
                <a:spcPct val="95000"/>
              </a:lnSpc>
              <a:spcBef>
                <a:spcPts val="200"/>
              </a:spcBef>
            </a:pPr>
            <a:r>
              <a:rPr sz="1300" b="0">
                <a:solidFill>
                  <a:srgbClr val="404040"/>
                </a:solidFill>
                <a:latin typeface="Consolas"/>
              </a:rPr>
              <a:t>  )</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Keine zwei Zeilen mit gleichem typ_id</a:t>
            </a:r>
          </a:p>
          <a:p>
            <a:pPr algn="l">
              <a:lnSpc>
                <a:spcPct val="95000"/>
              </a:lnSpc>
              <a:spcBef>
                <a:spcPts val="200"/>
              </a:spcBef>
            </a:pPr>
            <a:r>
              <a:rPr sz="1300" b="0">
                <a:solidFill>
                  <a:srgbClr val="404040"/>
                </a:solidFill>
                <a:latin typeface="Consolas"/>
              </a:rPr>
              <a:t>UND überlappenden Zeiträumen.</a:t>
            </a:r>
          </a:p>
        </p:txBody>
      </p:sp>
      <p:sp>
        <p:nvSpPr>
          <p:cNvPr id="9" name="Rectangle 8"/>
          <p:cNvSpPr/>
          <p:nvPr/>
        </p:nvSpPr>
        <p:spPr>
          <a:xfrm>
            <a:off x="7096759"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235200"/>
            <a:ext cx="50800" cy="3048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349500"/>
            <a:ext cx="5194300" cy="2819400"/>
          </a:xfrm>
          <a:prstGeom prst="rect">
            <a:avLst/>
          </a:prstGeom>
          <a:noFill/>
        </p:spPr>
        <p:txBody>
          <a:bodyPr wrap="square" lIns="0" tIns="0" rIns="0" bIns="0">
            <a:spAutoFit/>
          </a:bodyPr>
          <a:lstStyle/>
          <a:p>
            <a:pPr algn="l">
              <a:lnSpc>
                <a:spcPct val="95000"/>
              </a:lnSpc>
            </a:pPr>
            <a:r>
              <a:rPr sz="1400" b="1">
                <a:solidFill>
                  <a:srgbClr val="ED7004"/>
                </a:solidFill>
              </a:rPr>
              <a:t>Zwei Fallstricke</a:t>
            </a:r>
          </a:p>
          <a:p>
            <a:pPr algn="l">
              <a:lnSpc>
                <a:spcPct val="95000"/>
              </a:lnSpc>
              <a:spcBef>
                <a:spcPts val="200"/>
              </a:spcBef>
            </a:pPr>
            <a:r>
              <a:rPr sz="1300" b="0">
                <a:solidFill>
                  <a:srgbClr val="404040"/>
                </a:solidFill>
                <a:latin typeface="Consolas"/>
              </a:rPr>
              <a:t>1  Voraussetzung btree_gist</a:t>
            </a:r>
          </a:p>
          <a:p>
            <a:pPr algn="l">
              <a:lnSpc>
                <a:spcPct val="95000"/>
              </a:lnSpc>
              <a:spcBef>
                <a:spcPts val="200"/>
              </a:spcBef>
            </a:pPr>
            <a:r>
              <a:rPr sz="1300" b="0">
                <a:solidFill>
                  <a:srgbClr val="404040"/>
                </a:solidFill>
                <a:latin typeface="Consolas"/>
              </a:rPr>
              <a:t>   Ohne die Erweiterung fehlt bigint</a:t>
            </a:r>
          </a:p>
          <a:p>
            <a:pPr algn="l">
              <a:lnSpc>
                <a:spcPct val="95000"/>
              </a:lnSpc>
              <a:spcBef>
                <a:spcPts val="200"/>
              </a:spcBef>
            </a:pPr>
            <a:r>
              <a:rPr sz="1300" b="0">
                <a:solidFill>
                  <a:srgbClr val="404040"/>
                </a:solidFill>
                <a:latin typeface="Consolas"/>
              </a:rPr>
              <a:t>   die Operatorklasse für gist:</a:t>
            </a:r>
          </a:p>
          <a:p>
            <a:pPr algn="l">
              <a:lnSpc>
                <a:spcPct val="95000"/>
              </a:lnSpc>
              <a:spcBef>
                <a:spcPts val="200"/>
              </a:spcBef>
            </a:pPr>
            <a:r>
              <a:rPr sz="1300" b="0">
                <a:solidFill>
                  <a:srgbClr val="404040"/>
                </a:solidFill>
                <a:latin typeface="Consolas"/>
              </a:rPr>
              <a:t>   „data type bigint has no default</a:t>
            </a:r>
          </a:p>
          <a:p>
            <a:pPr algn="l">
              <a:lnSpc>
                <a:spcPct val="95000"/>
              </a:lnSpc>
              <a:spcBef>
                <a:spcPts val="200"/>
              </a:spcBef>
            </a:pPr>
            <a:r>
              <a:rPr sz="1300" b="0">
                <a:solidFill>
                  <a:srgbClr val="404040"/>
                </a:solidFill>
                <a:latin typeface="Consolas"/>
              </a:rPr>
              <a:t>    operator class for access method</a:t>
            </a:r>
          </a:p>
          <a:p>
            <a:pPr algn="l">
              <a:lnSpc>
                <a:spcPct val="95000"/>
              </a:lnSpc>
              <a:spcBef>
                <a:spcPts val="200"/>
              </a:spcBef>
            </a:pPr>
            <a:r>
              <a:rPr sz="1300" b="0">
                <a:solidFill>
                  <a:srgbClr val="404040"/>
                </a:solidFill>
                <a:latin typeface="Consolas"/>
              </a:rPr>
              <a:t>    gist“</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2  Halboffene Grenzen '[)'</a:t>
            </a:r>
          </a:p>
          <a:p>
            <a:pPr algn="l">
              <a:lnSpc>
                <a:spcPct val="95000"/>
              </a:lnSpc>
              <a:spcBef>
                <a:spcPts val="200"/>
              </a:spcBef>
            </a:pPr>
            <a:r>
              <a:rPr sz="1300" b="0">
                <a:solidFill>
                  <a:srgbClr val="404040"/>
                </a:solidFill>
                <a:latin typeface="Consolas"/>
              </a:rPr>
              <a:t>   Sonst ist der Wechseltag doppelt</a:t>
            </a:r>
          </a:p>
          <a:p>
            <a:pPr algn="l">
              <a:lnSpc>
                <a:spcPct val="95000"/>
              </a:lnSpc>
              <a:spcBef>
                <a:spcPts val="200"/>
              </a:spcBef>
            </a:pPr>
            <a:r>
              <a:rPr sz="1300" b="0">
                <a:solidFill>
                  <a:srgbClr val="404040"/>
                </a:solidFill>
                <a:latin typeface="Consolas"/>
              </a:rPr>
              <a:t>   belegt.</a:t>
            </a:r>
          </a:p>
        </p:txBody>
      </p:sp>
      <p:sp>
        <p:nvSpPr>
          <p:cNvPr id="12" name="Rectangle 11"/>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Ohne GR4 könnte es für Annas Fahrtzeitpunkt zwei gültige Preise geben — die Rechnung wäre nicht bestimmt.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Mindestalter kein CHECK sein darf</a:t>
            </a:r>
          </a:p>
        </p:txBody>
      </p:sp>
      <p:sp>
        <p:nvSpPr>
          <p:cNvPr id="3" name="Text Placeholder 2"/>
          <p:cNvSpPr>
            <a:spLocks noGrp="1"/>
          </p:cNvSpPr>
          <p:nvPr>
            <p:ph type="body" idx="12" sz="quarter"/>
          </p:nvPr>
        </p:nvSpPr>
        <p:spPr/>
        <p:txBody>
          <a:bodyPr/>
          <a:lstStyle/>
          <a:p>
            <a:r>
              <a:t>5 · Physischer Entwurf</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Naheliegend wäre eine Bedingung mit current_date. PostgreSQL akzeptiert sie sogar. Trotzdem ist sie falsch — und der Grund zeigt, was ein CHECK eigentlich ist.</a:t>
            </a:r>
          </a:p>
        </p:txBody>
      </p:sp>
      <p:sp>
        <p:nvSpPr>
          <p:cNvPr id="6" name="Rectangle 5"/>
          <p:cNvSpPr/>
          <p:nvPr/>
        </p:nvSpPr>
        <p:spPr>
          <a:xfrm>
            <a:off x="1153160" y="2235200"/>
            <a:ext cx="5524500" cy="292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verlockend und falsch</a:t>
            </a:r>
          </a:p>
        </p:txBody>
      </p:sp>
      <p:sp>
        <p:nvSpPr>
          <p:cNvPr id="9" name="TextBox 8"/>
          <p:cNvSpPr txBox="1"/>
          <p:nvPr/>
        </p:nvSpPr>
        <p:spPr>
          <a:xfrm>
            <a:off x="1330960" y="2743200"/>
            <a:ext cx="5194300" cy="2286000"/>
          </a:xfrm>
          <a:prstGeom prst="rect">
            <a:avLst/>
          </a:prstGeom>
          <a:noFill/>
        </p:spPr>
        <p:txBody>
          <a:bodyPr wrap="square" lIns="0" tIns="0" rIns="0" bIns="0">
            <a:spAutoFit/>
          </a:bodyPr>
          <a:lstStyle/>
          <a:p>
            <a:pPr algn="l">
              <a:lnSpc>
                <a:spcPct val="95000"/>
              </a:lnSpc>
            </a:pPr>
            <a:r>
              <a:rPr sz="1400" b="1">
                <a:solidFill>
                  <a:srgbClr val="A32638"/>
                </a:solidFill>
              </a:rPr>
              <a:t>CHECK mit current_date</a:t>
            </a:r>
          </a:p>
          <a:p>
            <a:pPr algn="l">
              <a:lnSpc>
                <a:spcPct val="95000"/>
              </a:lnSpc>
              <a:spcBef>
                <a:spcPts val="300"/>
              </a:spcBef>
            </a:pPr>
            <a:r>
              <a:rPr sz="1300" b="0">
                <a:solidFill>
                  <a:srgbClr val="404040"/>
                </a:solidFill>
              </a:rPr>
              <a:t>check (geburtsdatum &lt;=</a:t>
            </a:r>
          </a:p>
          <a:p>
            <a:pPr algn="l">
              <a:lnSpc>
                <a:spcPct val="95000"/>
              </a:lnSpc>
              <a:spcBef>
                <a:spcPts val="300"/>
              </a:spcBef>
            </a:pPr>
            <a:r>
              <a:rPr sz="1300" b="0">
                <a:solidFill>
                  <a:srgbClr val="404040"/>
                </a:solidFill>
              </a:rPr>
              <a:t>  current_date - interval '16 years')</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current_date ist nicht IMMUTABLE.</a:t>
            </a:r>
          </a:p>
          <a:p>
            <a:pPr algn="l">
              <a:lnSpc>
                <a:spcPct val="95000"/>
              </a:lnSpc>
              <a:spcBef>
                <a:spcPts val="300"/>
              </a:spcBef>
            </a:pPr>
            <a:r>
              <a:rPr sz="1300" b="0">
                <a:solidFill>
                  <a:srgbClr val="404040"/>
                </a:solidFill>
              </a:rPr>
              <a:t>Ein CHECK wird beim Schreiben geprüft</a:t>
            </a:r>
          </a:p>
          <a:p>
            <a:pPr algn="l">
              <a:lnSpc>
                <a:spcPct val="95000"/>
              </a:lnSpc>
              <a:spcBef>
                <a:spcPts val="300"/>
              </a:spcBef>
            </a:pPr>
            <a:r>
              <a:rPr sz="1300" b="0">
                <a:solidFill>
                  <a:srgbClr val="404040"/>
                </a:solidFill>
              </a:rPr>
              <a:t>UND beim Wiedereinspielen eines Dumps.</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Ein Kunde, der bei der Anmeldung 16 war,</a:t>
            </a:r>
          </a:p>
          <a:p>
            <a:pPr algn="l">
              <a:lnSpc>
                <a:spcPct val="95000"/>
              </a:lnSpc>
              <a:spcBef>
                <a:spcPts val="300"/>
              </a:spcBef>
            </a:pPr>
            <a:r>
              <a:rPr sz="1300" b="0">
                <a:solidFill>
                  <a:srgbClr val="404040"/>
                </a:solidFill>
              </a:rPr>
              <a:t>bleibt es — der Restore bricht trotzdem ab.</a:t>
            </a:r>
          </a:p>
        </p:txBody>
      </p:sp>
      <p:sp>
        <p:nvSpPr>
          <p:cNvPr id="10" name="Rectangle 9"/>
          <p:cNvSpPr/>
          <p:nvPr/>
        </p:nvSpPr>
        <p:spPr>
          <a:xfrm>
            <a:off x="7096759" y="2235200"/>
            <a:ext cx="5524500" cy="292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2235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richtig</a:t>
            </a:r>
          </a:p>
        </p:txBody>
      </p:sp>
      <p:sp>
        <p:nvSpPr>
          <p:cNvPr id="13" name="TextBox 12"/>
          <p:cNvSpPr txBox="1"/>
          <p:nvPr/>
        </p:nvSpPr>
        <p:spPr>
          <a:xfrm>
            <a:off x="7274559" y="2743200"/>
            <a:ext cx="5194300" cy="2286000"/>
          </a:xfrm>
          <a:prstGeom prst="rect">
            <a:avLst/>
          </a:prstGeom>
          <a:noFill/>
        </p:spPr>
        <p:txBody>
          <a:bodyPr wrap="square" lIns="0" tIns="0" rIns="0" bIns="0">
            <a:spAutoFit/>
          </a:bodyPr>
          <a:lstStyle/>
          <a:p>
            <a:pPr algn="l">
              <a:lnSpc>
                <a:spcPct val="95000"/>
              </a:lnSpc>
            </a:pPr>
            <a:r>
              <a:rPr sz="1400" b="1">
                <a:solidFill>
                  <a:srgbClr val="55801C"/>
                </a:solidFill>
              </a:rPr>
              <a:t>Immutable auf der Tabelle, Regel in der Funktion</a:t>
            </a:r>
          </a:p>
          <a:p>
            <a:pPr algn="l">
              <a:lnSpc>
                <a:spcPct val="95000"/>
              </a:lnSpc>
              <a:spcBef>
                <a:spcPts val="300"/>
              </a:spcBef>
            </a:pPr>
            <a:r>
              <a:rPr sz="1300" b="0">
                <a:solidFill>
                  <a:srgbClr val="404040"/>
                </a:solidFill>
              </a:rPr>
              <a:t>check (geburtsdatum is null</a:t>
            </a:r>
          </a:p>
          <a:p>
            <a:pPr algn="l">
              <a:lnSpc>
                <a:spcPct val="95000"/>
              </a:lnSpc>
              <a:spcBef>
                <a:spcPts val="300"/>
              </a:spcBef>
            </a:pPr>
            <a:r>
              <a:rPr sz="1300" b="0">
                <a:solidFill>
                  <a:srgbClr val="404040"/>
                </a:solidFill>
              </a:rPr>
              <a:t>   or geburtsdatum between</a:t>
            </a:r>
          </a:p>
          <a:p>
            <a:pPr algn="l">
              <a:lnSpc>
                <a:spcPct val="95000"/>
              </a:lnSpc>
              <a:spcBef>
                <a:spcPts val="300"/>
              </a:spcBef>
            </a:pPr>
            <a:r>
              <a:rPr sz="1300" b="0">
                <a:solidFill>
                  <a:srgbClr val="404040"/>
                </a:solidFill>
              </a:rPr>
              <a:t>      date '1900-01-01'</a:t>
            </a:r>
          </a:p>
          <a:p>
            <a:pPr algn="l">
              <a:lnSpc>
                <a:spcPct val="95000"/>
              </a:lnSpc>
              <a:spcBef>
                <a:spcPts val="300"/>
              </a:spcBef>
            </a:pPr>
            <a:r>
              <a:rPr sz="1300" b="0">
                <a:solidFill>
                  <a:srgbClr val="404040"/>
                </a:solidFill>
              </a:rPr>
              <a:t>  and date '2100-01-01')</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 die Altersregel in api_profil_aktualisieren:</a:t>
            </a:r>
          </a:p>
          <a:p>
            <a:pPr algn="l">
              <a:lnSpc>
                <a:spcPct val="95000"/>
              </a:lnSpc>
              <a:spcBef>
                <a:spcPts val="300"/>
              </a:spcBef>
            </a:pPr>
            <a:r>
              <a:rPr sz="1300" b="0">
                <a:solidFill>
                  <a:srgbClr val="404040"/>
                </a:solidFill>
              </a:rPr>
              <a:t>if p_geburtsdatum &gt;</a:t>
            </a:r>
          </a:p>
          <a:p>
            <a:pPr algn="l">
              <a:lnSpc>
                <a:spcPct val="95000"/>
              </a:lnSpc>
              <a:spcBef>
                <a:spcPts val="300"/>
              </a:spcBef>
            </a:pPr>
            <a:r>
              <a:rPr sz="1300" b="0">
                <a:solidFill>
                  <a:srgbClr val="404040"/>
                </a:solidFill>
              </a:rPr>
              <a:t>   current_date - interval '16 years'</a:t>
            </a:r>
          </a:p>
          <a:p>
            <a:pPr algn="l">
              <a:lnSpc>
                <a:spcPct val="95000"/>
              </a:lnSpc>
              <a:spcBef>
                <a:spcPts val="300"/>
              </a:spcBef>
            </a:pPr>
            <a:r>
              <a:rPr sz="1300" b="0">
                <a:solidFill>
                  <a:srgbClr val="404040"/>
                </a:solidFill>
              </a:rPr>
              <a:t>then return 'Mindestalter nicht erreicht';</a:t>
            </a:r>
          </a:p>
        </p:txBody>
      </p:sp>
      <p:sp>
        <p:nvSpPr>
          <p:cNvPr id="14" name="Rectangle 13"/>
          <p:cNvSpPr/>
          <p:nvPr/>
        </p:nvSpPr>
        <p:spPr>
          <a:xfrm>
            <a:off x="1153160" y="53340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54102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Merksatz: Ein CHECK darf nur von der Zeile selbst abhängen — und von nichts, was sich mit der Zeit ändert.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 Implementierung</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kostet Annas Fahrt genau — und warum?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Aufbauschritte, jeder für sich lauffähig</a:t>
            </a:r>
          </a:p>
        </p:txBody>
      </p:sp>
      <p:sp>
        <p:nvSpPr>
          <p:cNvPr id="3" name="Text Placeholder 2"/>
          <p:cNvSpPr>
            <a:spLocks noGrp="1"/>
          </p:cNvSpPr>
          <p:nvPr>
            <p:ph type="body" idx="12" sz="quarter"/>
          </p:nvPr>
        </p:nvSpPr>
        <p:spPr/>
        <p:txBody>
          <a:bodyPr/>
          <a:lstStyle/>
          <a:p>
            <a:r>
              <a:t>6 · Implementierung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Jede Datei ist idempotent: sie läuft zweimal hintereinander fehlerfrei. Das ist die Voraussetzung dafür, dass man einen Aufbau gefahrlos wiederholen kann.</a:t>
            </a:r>
          </a:p>
        </p:txBody>
      </p:sp>
      <p:sp>
        <p:nvSpPr>
          <p:cNvPr id="6" name="Rectangle 5"/>
          <p:cNvSpPr/>
          <p:nvPr/>
        </p:nvSpPr>
        <p:spPr>
          <a:xfrm>
            <a:off x="1153160" y="2311400"/>
            <a:ext cx="11474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0001 Schema, Erweiterungen, Aufzählungstypen, Audit-Mechanik</a:t>
            </a:r>
          </a:p>
        </p:txBody>
      </p:sp>
      <p:sp>
        <p:nvSpPr>
          <p:cNvPr id="7" name="Isosceles Triangle 6"/>
          <p:cNvSpPr/>
          <p:nvPr/>
        </p:nvSpPr>
        <p:spPr>
          <a:xfrm rot="10800000">
            <a:off x="6801484" y="2882900"/>
            <a:ext cx="177800" cy="762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2971800"/>
            <a:ext cx="1147445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0002 bis 0007 · die sechs Fachbereiche A bis F, 28 Tabellen</a:t>
            </a:r>
          </a:p>
        </p:txBody>
      </p:sp>
      <p:sp>
        <p:nvSpPr>
          <p:cNvPr id="9" name="Isosceles Triangle 8"/>
          <p:cNvSpPr/>
          <p:nvPr/>
        </p:nvSpPr>
        <p:spPr>
          <a:xfrm rot="10800000">
            <a:off x="6801484" y="3543300"/>
            <a:ext cx="177800" cy="762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3632200"/>
            <a:ext cx="1147445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0008 Referenzdaten: Entgeltarten, Preise, Tarife, Inhalte</a:t>
            </a:r>
          </a:p>
        </p:txBody>
      </p:sp>
      <p:sp>
        <p:nvSpPr>
          <p:cNvPr id="11" name="Isosceles Triangle 10"/>
          <p:cNvSpPr/>
          <p:nvPr/>
        </p:nvSpPr>
        <p:spPr>
          <a:xfrm rot="10800000">
            <a:off x="6801484" y="4203700"/>
            <a:ext cx="177800" cy="762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4292600"/>
            <a:ext cx="11474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0009 Geschäftslogik: fn_-Fachlogik und api_-Zugriffsschicht</a:t>
            </a:r>
          </a:p>
        </p:txBody>
      </p:sp>
      <p:sp>
        <p:nvSpPr>
          <p:cNvPr id="13" name="Isosceles Triangle 12"/>
          <p:cNvSpPr/>
          <p:nvPr/>
        </p:nvSpPr>
        <p:spPr>
          <a:xfrm rot="10800000">
            <a:off x="6801484" y="4864100"/>
            <a:ext cx="177800" cy="762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4953000"/>
            <a:ext cx="11474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0010 Sichten · 0011 Zugriffsschutz · 0012 Data Dictionary</a:t>
            </a:r>
          </a:p>
        </p:txBody>
      </p:sp>
      <p:sp>
        <p:nvSpPr>
          <p:cNvPr id="15" name="Isosceles Triangle 14"/>
          <p:cNvSpPr/>
          <p:nvPr/>
        </p:nvSpPr>
        <p:spPr>
          <a:xfrm rot="10800000">
            <a:off x="6801484" y="5524500"/>
            <a:ext cx="177800" cy="762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53160" y="5613400"/>
            <a:ext cx="1147445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0014 bis 0020 · sieben Schritte mehr für die Warenwirtschaft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Annas Rechnung: 4,96 Euro, Zeile für Zeile</a:t>
            </a:r>
          </a:p>
        </p:txBody>
      </p:sp>
      <p:sp>
        <p:nvSpPr>
          <p:cNvPr id="3" name="Text Placeholder 2"/>
          <p:cNvSpPr>
            <a:spLocks noGrp="1"/>
          </p:cNvSpPr>
          <p:nvPr>
            <p:ph type="body" idx="12" sz="quarter"/>
          </p:nvPr>
        </p:nvSpPr>
        <p:spPr/>
        <p:txBody>
          <a:bodyPr/>
          <a:lstStyle/>
          <a:p>
            <a:r>
              <a:t>6 · Implementierung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Das Zeitentgelt wird über ALLE Minuten gebildet und die Freiminuten als eigene Gutschrift abgezogen. So ist auf der Rechnung ablesbar, was der Tarifvorteil wert war.</a:t>
            </a:r>
          </a:p>
        </p:txBody>
      </p:sp>
      <p:sp>
        <p:nvSpPr>
          <p:cNvPr id="6" name="Rectangle 5"/>
          <p:cNvSpPr/>
          <p:nvPr/>
        </p:nvSpPr>
        <p:spPr>
          <a:xfrm>
            <a:off x="1153160" y="2260600"/>
            <a:ext cx="24130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Position</a:t>
            </a:r>
          </a:p>
        </p:txBody>
      </p:sp>
      <p:sp>
        <p:nvSpPr>
          <p:cNvPr id="7" name="Rectangle 6"/>
          <p:cNvSpPr/>
          <p:nvPr/>
        </p:nvSpPr>
        <p:spPr>
          <a:xfrm>
            <a:off x="3566160" y="2260600"/>
            <a:ext cx="11430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Menge</a:t>
            </a:r>
          </a:p>
        </p:txBody>
      </p:sp>
      <p:sp>
        <p:nvSpPr>
          <p:cNvPr id="8" name="Rectangle 7"/>
          <p:cNvSpPr/>
          <p:nvPr/>
        </p:nvSpPr>
        <p:spPr>
          <a:xfrm>
            <a:off x="4709160" y="2260600"/>
            <a:ext cx="16510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Einzelbetrag</a:t>
            </a:r>
          </a:p>
        </p:txBody>
      </p:sp>
      <p:sp>
        <p:nvSpPr>
          <p:cNvPr id="9" name="Rectangle 8"/>
          <p:cNvSpPr/>
          <p:nvPr/>
        </p:nvSpPr>
        <p:spPr>
          <a:xfrm>
            <a:off x="6360160" y="2260600"/>
            <a:ext cx="15240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Betrag</a:t>
            </a:r>
          </a:p>
        </p:txBody>
      </p:sp>
      <p:sp>
        <p:nvSpPr>
          <p:cNvPr id="10" name="Rectangle 9"/>
          <p:cNvSpPr/>
          <p:nvPr/>
        </p:nvSpPr>
        <p:spPr>
          <a:xfrm>
            <a:off x="7884159" y="2260600"/>
            <a:ext cx="474345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Woher der Wert kommt</a:t>
            </a:r>
          </a:p>
        </p:txBody>
      </p:sp>
      <p:sp>
        <p:nvSpPr>
          <p:cNvPr id="11" name="Rectangle 10"/>
          <p:cNvSpPr/>
          <p:nvPr/>
        </p:nvSpPr>
        <p:spPr>
          <a:xfrm>
            <a:off x="1153160" y="2641600"/>
            <a:ext cx="241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STARTGEBUEHR</a:t>
            </a:r>
          </a:p>
        </p:txBody>
      </p:sp>
      <p:sp>
        <p:nvSpPr>
          <p:cNvPr id="12" name="Rectangle 11"/>
          <p:cNvSpPr/>
          <p:nvPr/>
        </p:nvSpPr>
        <p:spPr>
          <a:xfrm>
            <a:off x="3566160" y="2641600"/>
            <a:ext cx="114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a:t>
            </a:r>
          </a:p>
        </p:txBody>
      </p:sp>
      <p:sp>
        <p:nvSpPr>
          <p:cNvPr id="13" name="Rectangle 12"/>
          <p:cNvSpPr/>
          <p:nvPr/>
        </p:nvSpPr>
        <p:spPr>
          <a:xfrm>
            <a:off x="4709160" y="2641600"/>
            <a:ext cx="1651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0,10</a:t>
            </a:r>
          </a:p>
        </p:txBody>
      </p:sp>
      <p:sp>
        <p:nvSpPr>
          <p:cNvPr id="14" name="Rectangle 13"/>
          <p:cNvSpPr/>
          <p:nvPr/>
        </p:nvSpPr>
        <p:spPr>
          <a:xfrm>
            <a:off x="6360160" y="2641600"/>
            <a:ext cx="1524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+ 0,10</a:t>
            </a:r>
          </a:p>
        </p:txBody>
      </p:sp>
      <p:sp>
        <p:nvSpPr>
          <p:cNvPr id="15" name="Rectangle 14"/>
          <p:cNvSpPr/>
          <p:nvPr/>
        </p:nvSpPr>
        <p:spPr>
          <a:xfrm>
            <a:off x="7884159" y="2641600"/>
            <a:ext cx="474345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nutzungspreis, gültig um 10:00 Uhr</a:t>
            </a:r>
          </a:p>
        </p:txBody>
      </p:sp>
      <p:sp>
        <p:nvSpPr>
          <p:cNvPr id="16" name="Rectangle 15"/>
          <p:cNvSpPr/>
          <p:nvPr/>
        </p:nvSpPr>
        <p:spPr>
          <a:xfrm>
            <a:off x="1153160" y="3022600"/>
            <a:ext cx="2413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ZEITENTGELT</a:t>
            </a:r>
          </a:p>
        </p:txBody>
      </p:sp>
      <p:sp>
        <p:nvSpPr>
          <p:cNvPr id="17" name="Rectangle 16"/>
          <p:cNvSpPr/>
          <p:nvPr/>
        </p:nvSpPr>
        <p:spPr>
          <a:xfrm>
            <a:off x="3566160" y="3022600"/>
            <a:ext cx="1143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61</a:t>
            </a:r>
          </a:p>
        </p:txBody>
      </p:sp>
      <p:sp>
        <p:nvSpPr>
          <p:cNvPr id="18" name="Rectangle 17"/>
          <p:cNvSpPr/>
          <p:nvPr/>
        </p:nvSpPr>
        <p:spPr>
          <a:xfrm>
            <a:off x="4709160" y="3022600"/>
            <a:ext cx="1651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0,10</a:t>
            </a:r>
          </a:p>
        </p:txBody>
      </p:sp>
      <p:sp>
        <p:nvSpPr>
          <p:cNvPr id="19" name="Rectangle 18"/>
          <p:cNvSpPr/>
          <p:nvPr/>
        </p:nvSpPr>
        <p:spPr>
          <a:xfrm>
            <a:off x="6360160" y="3022600"/>
            <a:ext cx="1524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+ 6,10</a:t>
            </a:r>
          </a:p>
        </p:txBody>
      </p:sp>
      <p:sp>
        <p:nvSpPr>
          <p:cNvPr id="20" name="Rectangle 19"/>
          <p:cNvSpPr/>
          <p:nvPr/>
        </p:nvSpPr>
        <p:spPr>
          <a:xfrm>
            <a:off x="7884159" y="3022600"/>
            <a:ext cx="474345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dauer_minuten, aufgerundet</a:t>
            </a:r>
          </a:p>
        </p:txBody>
      </p:sp>
      <p:sp>
        <p:nvSpPr>
          <p:cNvPr id="21" name="Rectangle 20"/>
          <p:cNvSpPr/>
          <p:nvPr/>
        </p:nvSpPr>
        <p:spPr>
          <a:xfrm>
            <a:off x="1153160" y="3403600"/>
            <a:ext cx="241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FREIMINUTEN</a:t>
            </a:r>
          </a:p>
        </p:txBody>
      </p:sp>
      <p:sp>
        <p:nvSpPr>
          <p:cNvPr id="22" name="Rectangle 21"/>
          <p:cNvSpPr/>
          <p:nvPr/>
        </p:nvSpPr>
        <p:spPr>
          <a:xfrm>
            <a:off x="3566160" y="3403600"/>
            <a:ext cx="114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a:t>
            </a:r>
          </a:p>
        </p:txBody>
      </p:sp>
      <p:sp>
        <p:nvSpPr>
          <p:cNvPr id="23" name="Rectangle 22"/>
          <p:cNvSpPr/>
          <p:nvPr/>
        </p:nvSpPr>
        <p:spPr>
          <a:xfrm>
            <a:off x="4709160" y="3403600"/>
            <a:ext cx="1651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0,10</a:t>
            </a:r>
          </a:p>
        </p:txBody>
      </p:sp>
      <p:sp>
        <p:nvSpPr>
          <p:cNvPr id="24" name="Rectangle 23"/>
          <p:cNvSpPr/>
          <p:nvPr/>
        </p:nvSpPr>
        <p:spPr>
          <a:xfrm>
            <a:off x="6360160" y="3403600"/>
            <a:ext cx="1524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- 0,00</a:t>
            </a:r>
          </a:p>
        </p:txBody>
      </p:sp>
      <p:sp>
        <p:nvSpPr>
          <p:cNvPr id="25" name="Rectangle 24"/>
          <p:cNvSpPr/>
          <p:nvPr/>
        </p:nvSpPr>
        <p:spPr>
          <a:xfrm>
            <a:off x="7884159" y="3403600"/>
            <a:ext cx="474345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Kontingent im Monat schon verbraucht</a:t>
            </a:r>
          </a:p>
        </p:txBody>
      </p:sp>
      <p:sp>
        <p:nvSpPr>
          <p:cNvPr id="26" name="Rectangle 25"/>
          <p:cNvSpPr/>
          <p:nvPr/>
        </p:nvSpPr>
        <p:spPr>
          <a:xfrm>
            <a:off x="1153160" y="3784600"/>
            <a:ext cx="2413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TARIFRABATT</a:t>
            </a:r>
          </a:p>
        </p:txBody>
      </p:sp>
      <p:sp>
        <p:nvSpPr>
          <p:cNvPr id="27" name="Rectangle 26"/>
          <p:cNvSpPr/>
          <p:nvPr/>
        </p:nvSpPr>
        <p:spPr>
          <a:xfrm>
            <a:off x="3566160" y="3784600"/>
            <a:ext cx="1143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a:t>
            </a:r>
          </a:p>
        </p:txBody>
      </p:sp>
      <p:sp>
        <p:nvSpPr>
          <p:cNvPr id="28" name="Rectangle 27"/>
          <p:cNvSpPr/>
          <p:nvPr/>
        </p:nvSpPr>
        <p:spPr>
          <a:xfrm>
            <a:off x="4709160" y="3784600"/>
            <a:ext cx="1651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20 %</a:t>
            </a:r>
          </a:p>
        </p:txBody>
      </p:sp>
      <p:sp>
        <p:nvSpPr>
          <p:cNvPr id="29" name="Rectangle 28"/>
          <p:cNvSpPr/>
          <p:nvPr/>
        </p:nvSpPr>
        <p:spPr>
          <a:xfrm>
            <a:off x="6360160" y="3784600"/>
            <a:ext cx="152400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- 1,24</a:t>
            </a:r>
          </a:p>
        </p:txBody>
      </p:sp>
      <p:sp>
        <p:nvSpPr>
          <p:cNvPr id="30" name="Rectangle 29"/>
          <p:cNvSpPr/>
          <p:nvPr/>
        </p:nvSpPr>
        <p:spPr>
          <a:xfrm>
            <a:off x="7884159" y="3784600"/>
            <a:ext cx="4743450" cy="381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tarif_kondition zum Startzeitpunkt</a:t>
            </a:r>
          </a:p>
        </p:txBody>
      </p:sp>
      <p:sp>
        <p:nvSpPr>
          <p:cNvPr id="31" name="Rectangle 30"/>
          <p:cNvSpPr/>
          <p:nvPr/>
        </p:nvSpPr>
        <p:spPr>
          <a:xfrm>
            <a:off x="1153160" y="4165600"/>
            <a:ext cx="241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HOECHSTPREIS</a:t>
            </a:r>
          </a:p>
        </p:txBody>
      </p:sp>
      <p:sp>
        <p:nvSpPr>
          <p:cNvPr id="32" name="Rectangle 31"/>
          <p:cNvSpPr/>
          <p:nvPr/>
        </p:nvSpPr>
        <p:spPr>
          <a:xfrm>
            <a:off x="3566160" y="4165600"/>
            <a:ext cx="1143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a:t>
            </a:r>
          </a:p>
        </p:txBody>
      </p:sp>
      <p:sp>
        <p:nvSpPr>
          <p:cNvPr id="33" name="Rectangle 32"/>
          <p:cNvSpPr/>
          <p:nvPr/>
        </p:nvSpPr>
        <p:spPr>
          <a:xfrm>
            <a:off x="4709160" y="4165600"/>
            <a:ext cx="1651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t>
            </a:r>
          </a:p>
        </p:txBody>
      </p:sp>
      <p:sp>
        <p:nvSpPr>
          <p:cNvPr id="34" name="Rectangle 33"/>
          <p:cNvSpPr/>
          <p:nvPr/>
        </p:nvSpPr>
        <p:spPr>
          <a:xfrm>
            <a:off x="6360160" y="4165600"/>
            <a:ext cx="152400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- 0,00</a:t>
            </a:r>
          </a:p>
        </p:txBody>
      </p:sp>
      <p:sp>
        <p:nvSpPr>
          <p:cNvPr id="35" name="Rectangle 34"/>
          <p:cNvSpPr/>
          <p:nvPr/>
        </p:nvSpPr>
        <p:spPr>
          <a:xfrm>
            <a:off x="7884159" y="4165600"/>
            <a:ext cx="4743450" cy="381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6,20 liegt unter der Obergrenze 50,00</a:t>
            </a:r>
          </a:p>
        </p:txBody>
      </p:sp>
      <p:sp>
        <p:nvSpPr>
          <p:cNvPr id="36" name="Rectangle 35"/>
          <p:cNvSpPr/>
          <p:nvPr/>
        </p:nvSpPr>
        <p:spPr>
          <a:xfrm>
            <a:off x="1153160" y="46228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56360" y="46990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6,20 - 1,24 = 4,96 Euro. Reihenfolge: Rabatt VOR der Kappung — umgekehrt käme 4,00 heraus, weil der Rabatt den bereits gedeckelten Betrag ein zweites Mal senken würde.</a:t>
            </a:r>
          </a:p>
        </p:txBody>
      </p:sp>
      <p:sp>
        <p:nvSpPr>
          <p:cNvPr id="38" name="Rectangle 37"/>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Damit ist die Frage vom Anfang beantwortet: 4,96 Euro, und jede Zeile ist belegt.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Dokumentation, die nicht veralten kann</a:t>
            </a:r>
          </a:p>
        </p:txBody>
      </p:sp>
      <p:sp>
        <p:nvSpPr>
          <p:cNvPr id="3" name="Text Placeholder 2"/>
          <p:cNvSpPr>
            <a:spLocks noGrp="1"/>
          </p:cNvSpPr>
          <p:nvPr>
            <p:ph type="body" idx="12" sz="quarter"/>
          </p:nvPr>
        </p:nvSpPr>
        <p:spPr/>
        <p:txBody>
          <a:bodyPr/>
          <a:lstStyle/>
          <a:p>
            <a:r>
              <a:t>6 · Implementierung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Data Dictionary, das von Hand gepflegt wird, ist nach dem zweiten Release falsch. Die Lösung ist, es aus dem Systemkatalog zu erzeugen — und die Vollständigkeit maschinell zu erzwingen.</a:t>
            </a:r>
          </a:p>
        </p:txBody>
      </p:sp>
      <p:sp>
        <p:nvSpPr>
          <p:cNvPr id="6" name="Rectangle 5"/>
          <p:cNvSpPr/>
          <p:nvPr/>
        </p:nvSpPr>
        <p:spPr>
          <a:xfrm>
            <a:off x="1153160"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304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49500"/>
            <a:ext cx="5194300" cy="2819400"/>
          </a:xfrm>
          <a:prstGeom prst="rect">
            <a:avLst/>
          </a:prstGeom>
          <a:noFill/>
        </p:spPr>
        <p:txBody>
          <a:bodyPr wrap="square" lIns="0" tIns="0" rIns="0" bIns="0">
            <a:spAutoFit/>
          </a:bodyPr>
          <a:lstStyle/>
          <a:p>
            <a:pPr algn="l">
              <a:lnSpc>
                <a:spcPct val="95000"/>
              </a:lnSpc>
            </a:pPr>
            <a:r>
              <a:rPr sz="1400" b="1">
                <a:solidFill>
                  <a:srgbClr val="003E6E"/>
                </a:solidFill>
              </a:rPr>
              <a:t>Beschreibung an das Objekt</a:t>
            </a:r>
          </a:p>
          <a:p>
            <a:pPr algn="l">
              <a:lnSpc>
                <a:spcPct val="95000"/>
              </a:lnSpc>
              <a:spcBef>
                <a:spcPts val="200"/>
              </a:spcBef>
            </a:pPr>
            <a:r>
              <a:rPr sz="1300" b="0">
                <a:solidFill>
                  <a:srgbClr val="404040"/>
                </a:solidFill>
                <a:latin typeface="Consolas"/>
              </a:rPr>
              <a:t>comment on column</a:t>
            </a:r>
          </a:p>
          <a:p>
            <a:pPr algn="l">
              <a:lnSpc>
                <a:spcPct val="95000"/>
              </a:lnSpc>
              <a:spcBef>
                <a:spcPts val="200"/>
              </a:spcBef>
            </a:pPr>
            <a:r>
              <a:rPr sz="1300" b="0">
                <a:solidFill>
                  <a:srgbClr val="404040"/>
                </a:solidFill>
                <a:latin typeface="Consolas"/>
              </a:rPr>
              <a:t>  velocity.fahrrad_position.station_id is</a:t>
            </a:r>
          </a:p>
          <a:p>
            <a:pPr algn="l">
              <a:lnSpc>
                <a:spcPct val="95000"/>
              </a:lnSpc>
              <a:spcBef>
                <a:spcPts val="200"/>
              </a:spcBef>
            </a:pPr>
            <a:r>
              <a:rPr sz="1300" b="0">
                <a:solidFill>
                  <a:srgbClr val="404040"/>
                </a:solidFill>
                <a:latin typeface="Consolas"/>
              </a:rPr>
              <a:t>  'NULL bedeutet: das Rad steht frei</a:t>
            </a:r>
          </a:p>
          <a:p>
            <a:pPr algn="l">
              <a:lnSpc>
                <a:spcPct val="95000"/>
              </a:lnSpc>
              <a:spcBef>
                <a:spcPts val="200"/>
              </a:spcBef>
            </a:pPr>
            <a:r>
              <a:rPr sz="1300" b="0">
                <a:solidFill>
                  <a:srgbClr val="404040"/>
                </a:solidFill>
                <a:latin typeface="Consolas"/>
              </a:rPr>
              <a:t>   abgestellt, nicht an einer Station';</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Der Kommentar erklärt, was NULL</a:t>
            </a:r>
          </a:p>
          <a:p>
            <a:pPr algn="l">
              <a:lnSpc>
                <a:spcPct val="95000"/>
              </a:lnSpc>
              <a:spcBef>
                <a:spcPts val="200"/>
              </a:spcBef>
            </a:pPr>
            <a:r>
              <a:rPr sz="1300" b="0">
                <a:solidFill>
                  <a:srgbClr val="404040"/>
                </a:solidFill>
                <a:latin typeface="Consolas"/>
              </a:rPr>
              <a:t>bedeutet — nicht, wie die Spalte heißt.</a:t>
            </a:r>
          </a:p>
        </p:txBody>
      </p:sp>
      <p:sp>
        <p:nvSpPr>
          <p:cNvPr id="9" name="Rectangle 8"/>
          <p:cNvSpPr/>
          <p:nvPr/>
        </p:nvSpPr>
        <p:spPr>
          <a:xfrm>
            <a:off x="7096759"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235200"/>
            <a:ext cx="50800" cy="3048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349500"/>
            <a:ext cx="5194300" cy="2819400"/>
          </a:xfrm>
          <a:prstGeom prst="rect">
            <a:avLst/>
          </a:prstGeom>
          <a:noFill/>
        </p:spPr>
        <p:txBody>
          <a:bodyPr wrap="square" lIns="0" tIns="0" rIns="0" bIns="0">
            <a:spAutoFit/>
          </a:bodyPr>
          <a:lstStyle/>
          <a:p>
            <a:pPr algn="l">
              <a:lnSpc>
                <a:spcPct val="95000"/>
              </a:lnSpc>
            </a:pPr>
            <a:r>
              <a:rPr sz="1400" b="1">
                <a:solidFill>
                  <a:srgbClr val="55801C"/>
                </a:solidFill>
              </a:rPr>
              <a:t>Vollständigkeit erzwingen</a:t>
            </a:r>
          </a:p>
          <a:p>
            <a:pPr algn="l">
              <a:lnSpc>
                <a:spcPct val="95000"/>
              </a:lnSpc>
              <a:spcBef>
                <a:spcPts val="200"/>
              </a:spcBef>
            </a:pPr>
            <a:r>
              <a:rPr sz="1300" b="0">
                <a:solidFill>
                  <a:srgbClr val="404040"/>
                </a:solidFill>
                <a:latin typeface="Consolas"/>
              </a:rPr>
              <a:t>-- Test schlägt fehl, solange eine</a:t>
            </a:r>
          </a:p>
          <a:p>
            <a:pPr algn="l">
              <a:lnSpc>
                <a:spcPct val="95000"/>
              </a:lnSpc>
              <a:spcBef>
                <a:spcPts val="200"/>
              </a:spcBef>
            </a:pPr>
            <a:r>
              <a:rPr sz="1300" b="0">
                <a:solidFill>
                  <a:srgbClr val="404040"/>
                </a:solidFill>
                <a:latin typeface="Consolas"/>
              </a:rPr>
              <a:t>-- Fachspalte ohne Kommentar ist</a:t>
            </a:r>
          </a:p>
          <a:p>
            <a:pPr algn="l">
              <a:lnSpc>
                <a:spcPct val="95000"/>
              </a:lnSpc>
              <a:spcBef>
                <a:spcPts val="200"/>
              </a:spcBef>
            </a:pPr>
            <a:r>
              <a:rPr sz="1300" b="0">
                <a:solidFill>
                  <a:srgbClr val="404040"/>
                </a:solidFill>
                <a:latin typeface="Consolas"/>
              </a:rPr>
              <a:t>where col_description(c.oid, a.attnum)</a:t>
            </a:r>
          </a:p>
          <a:p>
            <a:pPr algn="l">
              <a:lnSpc>
                <a:spcPct val="95000"/>
              </a:lnSpc>
              <a:spcBef>
                <a:spcPts val="200"/>
              </a:spcBef>
            </a:pPr>
            <a:r>
              <a:rPr sz="1300" b="0">
                <a:solidFill>
                  <a:srgbClr val="404040"/>
                </a:solidFill>
                <a:latin typeface="Consolas"/>
              </a:rPr>
              <a:t>      is null</a:t>
            </a:r>
          </a:p>
          <a:p>
            <a:pPr algn="l">
              <a:lnSpc>
                <a:spcPct val="95000"/>
              </a:lnSpc>
              <a:spcBef>
                <a:spcPts val="200"/>
              </a:spcBef>
            </a:pPr>
            <a:r>
              <a:rPr sz="1300" b="0">
                <a:solidFill>
                  <a:srgbClr val="404040"/>
                </a:solidFill>
                <a:latin typeface="Consolas"/>
              </a:rPr>
              <a:t>  and a.attname not in</a:t>
            </a:r>
          </a:p>
          <a:p>
            <a:pPr algn="l">
              <a:lnSpc>
                <a:spcPct val="95000"/>
              </a:lnSpc>
              <a:spcBef>
                <a:spcPts val="200"/>
              </a:spcBef>
            </a:pPr>
            <a:r>
              <a:rPr sz="1300" b="0">
                <a:solidFill>
                  <a:srgbClr val="404040"/>
                </a:solidFill>
                <a:latin typeface="Consolas"/>
              </a:rPr>
              <a:t>      ('erstellt_am','geaendert_am');</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358 Spalten im Aufbau, 282 beschrieben,</a:t>
            </a:r>
          </a:p>
          <a:p>
            <a:pPr algn="l">
              <a:lnSpc>
                <a:spcPct val="95000"/>
              </a:lnSpc>
              <a:spcBef>
                <a:spcPts val="200"/>
              </a:spcBef>
            </a:pPr>
            <a:r>
              <a:rPr sz="1300" b="0">
                <a:solidFill>
                  <a:srgbClr val="404040"/>
                </a:solidFill>
                <a:latin typeface="Consolas"/>
              </a:rPr>
              <a:t>76 technische Audit-Spalten ausgenommen.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 Zugriffsschutz</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Wer außer Anna darf Annas Daten sehen?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Schlüssel im Browser ist kein Geheimnis</a:t>
            </a:r>
          </a:p>
        </p:txBody>
      </p:sp>
      <p:sp>
        <p:nvSpPr>
          <p:cNvPr id="3" name="Text Placeholder 2"/>
          <p:cNvSpPr>
            <a:spLocks noGrp="1"/>
          </p:cNvSpPr>
          <p:nvPr>
            <p:ph type="body" idx="12" sz="quarter"/>
          </p:nvPr>
        </p:nvSpPr>
        <p:spPr/>
        <p:txBody>
          <a:bodyPr/>
          <a:lstStyle/>
          <a:p>
            <a:r>
              <a:t>7 · Zugriffsschutz</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Supabase liefert den anon-Key an jeden Besucher aus. Er steht im Quelltext der Seite. Jeder kann damit beliebige Anfragen stellen — mit curl, ohne die Website je zu öffnen.</a:t>
            </a:r>
          </a:p>
        </p:txBody>
      </p:sp>
      <p:sp>
        <p:nvSpPr>
          <p:cNvPr id="6" name="Rectangle 5"/>
          <p:cNvSpPr/>
          <p:nvPr/>
        </p:nvSpPr>
        <p:spPr>
          <a:xfrm>
            <a:off x="1153160" y="2235200"/>
            <a:ext cx="5524500" cy="279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das Antipattern</a:t>
            </a:r>
          </a:p>
        </p:txBody>
      </p:sp>
      <p:sp>
        <p:nvSpPr>
          <p:cNvPr id="9" name="TextBox 8"/>
          <p:cNvSpPr txBox="1"/>
          <p:nvPr/>
        </p:nvSpPr>
        <p:spPr>
          <a:xfrm>
            <a:off x="1330960" y="2743200"/>
            <a:ext cx="5194300" cy="2159000"/>
          </a:xfrm>
          <a:prstGeom prst="rect">
            <a:avLst/>
          </a:prstGeom>
          <a:noFill/>
        </p:spPr>
        <p:txBody>
          <a:bodyPr wrap="square" lIns="0" tIns="0" rIns="0" bIns="0">
            <a:spAutoFit/>
          </a:bodyPr>
          <a:lstStyle/>
          <a:p>
            <a:pPr algn="l">
              <a:lnSpc>
                <a:spcPct val="95000"/>
              </a:lnSpc>
            </a:pPr>
            <a:r>
              <a:rPr sz="1400" b="1">
                <a:solidFill>
                  <a:srgbClr val="A32638"/>
                </a:solidFill>
              </a:rPr>
              <a:t>Der häufigste Supabase-Anfängerfehler</a:t>
            </a:r>
          </a:p>
          <a:p>
            <a:pPr algn="l">
              <a:lnSpc>
                <a:spcPct val="95000"/>
              </a:lnSpc>
              <a:spcBef>
                <a:spcPts val="300"/>
              </a:spcBef>
            </a:pPr>
            <a:r>
              <a:rPr sz="1300" b="0">
                <a:solidFill>
                  <a:srgbClr val="404040"/>
                </a:solidFill>
              </a:rPr>
              <a:t>create policy "alles fuer alle"</a:t>
            </a:r>
          </a:p>
          <a:p>
            <a:pPr algn="l">
              <a:lnSpc>
                <a:spcPct val="95000"/>
              </a:lnSpc>
              <a:spcBef>
                <a:spcPts val="300"/>
              </a:spcBef>
            </a:pPr>
            <a:r>
              <a:rPr sz="1300" b="0">
                <a:solidFill>
                  <a:srgbClr val="404040"/>
                </a:solidFill>
              </a:rPr>
              <a:t>  on kunde for all</a:t>
            </a:r>
          </a:p>
          <a:p>
            <a:pPr algn="l">
              <a:lnSpc>
                <a:spcPct val="95000"/>
              </a:lnSpc>
              <a:spcBef>
                <a:spcPts val="300"/>
              </a:spcBef>
            </a:pPr>
            <a:r>
              <a:rPr sz="1300" b="0">
                <a:solidFill>
                  <a:srgbClr val="404040"/>
                </a:solidFill>
              </a:rPr>
              <a:t>  to anon, authenticated</a:t>
            </a:r>
          </a:p>
          <a:p>
            <a:pPr algn="l">
              <a:lnSpc>
                <a:spcPct val="95000"/>
              </a:lnSpc>
              <a:spcBef>
                <a:spcPts val="300"/>
              </a:spcBef>
            </a:pPr>
            <a:r>
              <a:rPr sz="1300" b="0">
                <a:solidFill>
                  <a:srgbClr val="404040"/>
                </a:solidFill>
              </a:rPr>
              <a:t>  using (true) with check (true);</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Folge: jeder mit dem öffentlichen</a:t>
            </a:r>
          </a:p>
          <a:p>
            <a:pPr algn="l">
              <a:lnSpc>
                <a:spcPct val="95000"/>
              </a:lnSpc>
              <a:spcBef>
                <a:spcPts val="300"/>
              </a:spcBef>
            </a:pPr>
            <a:r>
              <a:rPr sz="1300" b="0">
                <a:solidFill>
                  <a:srgbClr val="404040"/>
                </a:solidFill>
              </a:rPr>
              <a:t>Schlüssel liest UND ändert sämtliche</a:t>
            </a:r>
          </a:p>
          <a:p>
            <a:pPr algn="l">
              <a:lnSpc>
                <a:spcPct val="95000"/>
              </a:lnSpc>
              <a:spcBef>
                <a:spcPts val="300"/>
              </a:spcBef>
            </a:pPr>
            <a:r>
              <a:rPr sz="1300" b="0">
                <a:solidFill>
                  <a:srgbClr val="404040"/>
                </a:solidFill>
              </a:rPr>
              <a:t>Kundendaten — auch Annas.</a:t>
            </a:r>
          </a:p>
        </p:txBody>
      </p:sp>
      <p:sp>
        <p:nvSpPr>
          <p:cNvPr id="10" name="Rectangle 9"/>
          <p:cNvSpPr/>
          <p:nvPr/>
        </p:nvSpPr>
        <p:spPr>
          <a:xfrm>
            <a:off x="7096759" y="2235200"/>
            <a:ext cx="5524500" cy="279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2235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default deny</a:t>
            </a:r>
          </a:p>
        </p:txBody>
      </p:sp>
      <p:sp>
        <p:nvSpPr>
          <p:cNvPr id="13" name="TextBox 12"/>
          <p:cNvSpPr txBox="1"/>
          <p:nvPr/>
        </p:nvSpPr>
        <p:spPr>
          <a:xfrm>
            <a:off x="7274559" y="2743200"/>
            <a:ext cx="5194300" cy="2159000"/>
          </a:xfrm>
          <a:prstGeom prst="rect">
            <a:avLst/>
          </a:prstGeom>
          <a:noFill/>
        </p:spPr>
        <p:txBody>
          <a:bodyPr wrap="square" lIns="0" tIns="0" rIns="0" bIns="0">
            <a:spAutoFit/>
          </a:bodyPr>
          <a:lstStyle/>
          <a:p>
            <a:pPr algn="l">
              <a:lnSpc>
                <a:spcPct val="95000"/>
              </a:lnSpc>
            </a:pPr>
            <a:r>
              <a:rPr sz="1400" b="1">
                <a:solidFill>
                  <a:srgbClr val="55801C"/>
                </a:solidFill>
              </a:rPr>
              <a:t>Was nicht erlaubt ist, ist verboten</a:t>
            </a:r>
          </a:p>
          <a:p>
            <a:pPr algn="l">
              <a:lnSpc>
                <a:spcPct val="95000"/>
              </a:lnSpc>
              <a:spcBef>
                <a:spcPts val="300"/>
              </a:spcBef>
            </a:pPr>
            <a:r>
              <a:rPr sz="1300" b="0">
                <a:solidFill>
                  <a:srgbClr val="404040"/>
                </a:solidFill>
              </a:rPr>
              <a:t>-- RLS auf jeder Basistabelle</a:t>
            </a:r>
          </a:p>
          <a:p>
            <a:pPr algn="l">
              <a:lnSpc>
                <a:spcPct val="95000"/>
              </a:lnSpc>
              <a:spcBef>
                <a:spcPts val="300"/>
              </a:spcBef>
            </a:pPr>
            <a:r>
              <a:rPr sz="1300" b="0">
                <a:solidFill>
                  <a:srgbClr val="404040"/>
                </a:solidFill>
              </a:rPr>
              <a:t>alter table … enable row level security;</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 keine Policy für anon</a:t>
            </a:r>
          </a:p>
          <a:p>
            <a:pPr algn="l">
              <a:lnSpc>
                <a:spcPct val="95000"/>
              </a:lnSpc>
              <a:spcBef>
                <a:spcPts val="300"/>
              </a:spcBef>
            </a:pPr>
            <a:r>
              <a:rPr sz="1300" b="0">
                <a:solidFill>
                  <a:srgbClr val="404040"/>
                </a:solidFill>
              </a:rPr>
              <a:t>-- Lesen nur über v_-Sichten</a:t>
            </a:r>
          </a:p>
          <a:p>
            <a:pPr algn="l">
              <a:lnSpc>
                <a:spcPct val="95000"/>
              </a:lnSpc>
              <a:spcBef>
                <a:spcPts val="300"/>
              </a:spcBef>
            </a:pPr>
            <a:r>
              <a:rPr sz="1300" b="0">
                <a:solidFill>
                  <a:srgbClr val="404040"/>
                </a:solidFill>
              </a:rPr>
              <a:t>-- Schreiben nur über api_-Funktionen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Anna sieht ihre Fahrt, sonst niemand.</a:t>
            </a:r>
          </a:p>
        </p:txBody>
      </p:sp>
      <p:sp>
        <p:nvSpPr>
          <p:cNvPr id="14" name="Rectangle 13"/>
          <p:cNvSpPr/>
          <p:nvPr/>
        </p:nvSpPr>
        <p:spPr>
          <a:xfrm>
            <a:off x="1153160" y="52070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52832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Jede Zugriffsbeschränkung, die im JavaScript steht, ist wirkungslos.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Browser erreicht — und was nicht</a:t>
            </a:r>
          </a:p>
        </p:txBody>
      </p:sp>
      <p:sp>
        <p:nvSpPr>
          <p:cNvPr id="3" name="Text Placeholder 2"/>
          <p:cNvSpPr>
            <a:spLocks noGrp="1"/>
          </p:cNvSpPr>
          <p:nvPr>
            <p:ph type="body" idx="12" sz="quarter"/>
          </p:nvPr>
        </p:nvSpPr>
        <p:spPr/>
        <p:txBody>
          <a:bodyPr/>
          <a:lstStyle/>
          <a:p>
            <a:r>
              <a:t>7 · Zugriffsschutz</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Zwei Schichten trennen die Anwendung von den Tabellen — die Fachlogik dazwischen prüft selbst nicht auf den angemeldeten Nutzer.</a:t>
            </a:r>
          </a:p>
        </p:txBody>
      </p:sp>
      <p:sp>
        <p:nvSpPr>
          <p:cNvPr id="6" name="Rectangle 5"/>
          <p:cNvSpPr/>
          <p:nvPr/>
        </p:nvSpPr>
        <p:spPr>
          <a:xfrm>
            <a:off x="4445019" y="1778000"/>
            <a:ext cx="4890731" cy="444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icherheit-schichten.png"/>
          <p:cNvPicPr>
            <a:picLocks noChangeAspect="1"/>
          </p:cNvPicPr>
          <p:nvPr/>
        </p:nvPicPr>
        <p:blipFill>
          <a:blip r:embed="rId2"/>
          <a:stretch>
            <a:fillRect/>
          </a:stretch>
        </p:blipFill>
        <p:spPr>
          <a:xfrm>
            <a:off x="4546619" y="1879600"/>
            <a:ext cx="4687531" cy="4241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Falle, die fast jeder übersieht</a:t>
            </a:r>
          </a:p>
        </p:txBody>
      </p:sp>
      <p:sp>
        <p:nvSpPr>
          <p:cNvPr id="3" name="Text Placeholder 2"/>
          <p:cNvSpPr>
            <a:spLocks noGrp="1"/>
          </p:cNvSpPr>
          <p:nvPr>
            <p:ph type="body" idx="12" sz="quarter"/>
          </p:nvPr>
        </p:nvSpPr>
        <p:spPr/>
        <p:txBody>
          <a:bodyPr/>
          <a:lstStyle/>
          <a:p>
            <a:r>
              <a:t>7 · Zugriffsschutz</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PostgreSQL vergibt das Ausführungsrecht auf jede neu angelegte Funktion automatisch an die Rolle PUBLIC. Ein Entzug gegen einzelne Rollen greift deshalb nicht.</a:t>
            </a:r>
          </a:p>
        </p:txBody>
      </p:sp>
      <p:sp>
        <p:nvSpPr>
          <p:cNvPr id="6" name="Rectangle 5"/>
          <p:cNvSpPr/>
          <p:nvPr/>
        </p:nvSpPr>
        <p:spPr>
          <a:xfrm>
            <a:off x="1153160" y="2235200"/>
            <a:ext cx="552450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wirkungslos</a:t>
            </a:r>
          </a:p>
        </p:txBody>
      </p:sp>
      <p:sp>
        <p:nvSpPr>
          <p:cNvPr id="9" name="TextBox 8"/>
          <p:cNvSpPr txBox="1"/>
          <p:nvPr/>
        </p:nvSpPr>
        <p:spPr>
          <a:xfrm>
            <a:off x="1330960" y="2743200"/>
            <a:ext cx="5194300" cy="1778000"/>
          </a:xfrm>
          <a:prstGeom prst="rect">
            <a:avLst/>
          </a:prstGeom>
          <a:noFill/>
        </p:spPr>
        <p:txBody>
          <a:bodyPr wrap="square" lIns="0" tIns="0" rIns="0" bIns="0">
            <a:spAutoFit/>
          </a:bodyPr>
          <a:lstStyle/>
          <a:p>
            <a:pPr algn="l">
              <a:lnSpc>
                <a:spcPct val="95000"/>
              </a:lnSpc>
            </a:pPr>
            <a:r>
              <a:rPr sz="1400" b="1">
                <a:solidFill>
                  <a:srgbClr val="A32638"/>
                </a:solidFill>
              </a:rPr>
              <a:t>REVOKE gegen die Rollen allein</a:t>
            </a:r>
          </a:p>
          <a:p>
            <a:pPr algn="l">
              <a:lnSpc>
                <a:spcPct val="95000"/>
              </a:lnSpc>
              <a:spcBef>
                <a:spcPts val="300"/>
              </a:spcBef>
            </a:pPr>
            <a:r>
              <a:rPr sz="1300" b="0">
                <a:solidFill>
                  <a:srgbClr val="404040"/>
                </a:solidFill>
              </a:rPr>
              <a:t>revoke all on all functions</a:t>
            </a:r>
          </a:p>
          <a:p>
            <a:pPr algn="l">
              <a:lnSpc>
                <a:spcPct val="95000"/>
              </a:lnSpc>
              <a:spcBef>
                <a:spcPts val="300"/>
              </a:spcBef>
            </a:pPr>
            <a:r>
              <a:rPr sz="1300" b="0">
                <a:solidFill>
                  <a:srgbClr val="404040"/>
                </a:solidFill>
              </a:rPr>
              <a:t>  in schema velocity</a:t>
            </a:r>
          </a:p>
          <a:p>
            <a:pPr algn="l">
              <a:lnSpc>
                <a:spcPct val="95000"/>
              </a:lnSpc>
              <a:spcBef>
                <a:spcPts val="300"/>
              </a:spcBef>
            </a:pPr>
            <a:r>
              <a:rPr sz="1300" b="0">
                <a:solidFill>
                  <a:srgbClr val="404040"/>
                </a:solidFill>
              </a:rPr>
              <a:t>  from anon, authenticated;</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Beide erben das Recht weiterhin</a:t>
            </a:r>
          </a:p>
          <a:p>
            <a:pPr algn="l">
              <a:lnSpc>
                <a:spcPct val="95000"/>
              </a:lnSpc>
              <a:spcBef>
                <a:spcPts val="300"/>
              </a:spcBef>
            </a:pPr>
            <a:r>
              <a:rPr sz="1300" b="0">
                <a:solidFill>
                  <a:srgbClr val="404040"/>
                </a:solidFill>
              </a:rPr>
              <a:t>über PUBLIC. Die Fachlogik bleibt</a:t>
            </a:r>
          </a:p>
          <a:p>
            <a:pPr algn="l">
              <a:lnSpc>
                <a:spcPct val="95000"/>
              </a:lnSpc>
              <a:spcBef>
                <a:spcPts val="300"/>
              </a:spcBef>
            </a:pPr>
            <a:r>
              <a:rPr sz="1300" b="0">
                <a:solidFill>
                  <a:srgbClr val="404040"/>
                </a:solidFill>
              </a:rPr>
              <a:t>aufrufbar.</a:t>
            </a:r>
          </a:p>
        </p:txBody>
      </p:sp>
      <p:sp>
        <p:nvSpPr>
          <p:cNvPr id="10" name="Rectangle 9"/>
          <p:cNvSpPr/>
          <p:nvPr/>
        </p:nvSpPr>
        <p:spPr>
          <a:xfrm>
            <a:off x="7096759" y="2235200"/>
            <a:ext cx="552450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2235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2286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wirksam — der einzige Schutz</a:t>
            </a:r>
          </a:p>
        </p:txBody>
      </p:sp>
      <p:sp>
        <p:nvSpPr>
          <p:cNvPr id="13" name="TextBox 12"/>
          <p:cNvSpPr txBox="1"/>
          <p:nvPr/>
        </p:nvSpPr>
        <p:spPr>
          <a:xfrm>
            <a:off x="7274559" y="2743200"/>
            <a:ext cx="5194300" cy="1778000"/>
          </a:xfrm>
          <a:prstGeom prst="rect">
            <a:avLst/>
          </a:prstGeom>
          <a:noFill/>
        </p:spPr>
        <p:txBody>
          <a:bodyPr wrap="square" lIns="0" tIns="0" rIns="0" bIns="0">
            <a:spAutoFit/>
          </a:bodyPr>
          <a:lstStyle/>
          <a:p>
            <a:pPr algn="l">
              <a:lnSpc>
                <a:spcPct val="95000"/>
              </a:lnSpc>
            </a:pPr>
            <a:r>
              <a:rPr sz="1400" b="1">
                <a:solidFill>
                  <a:srgbClr val="55801C"/>
                </a:solidFill>
              </a:rPr>
              <a:t>PUBLIC ausdrücklich mit entziehen</a:t>
            </a:r>
          </a:p>
          <a:p>
            <a:pPr algn="l">
              <a:lnSpc>
                <a:spcPct val="95000"/>
              </a:lnSpc>
              <a:spcBef>
                <a:spcPts val="300"/>
              </a:spcBef>
            </a:pPr>
            <a:r>
              <a:rPr sz="1300" b="0">
                <a:solidFill>
                  <a:srgbClr val="404040"/>
                </a:solidFill>
              </a:rPr>
              <a:t>revoke all on all functions</a:t>
            </a:r>
          </a:p>
          <a:p>
            <a:pPr algn="l">
              <a:lnSpc>
                <a:spcPct val="95000"/>
              </a:lnSpc>
              <a:spcBef>
                <a:spcPts val="300"/>
              </a:spcBef>
            </a:pPr>
            <a:r>
              <a:rPr sz="1300" b="0">
                <a:solidFill>
                  <a:srgbClr val="404040"/>
                </a:solidFill>
              </a:rPr>
              <a:t>  in schema velocity</a:t>
            </a:r>
          </a:p>
          <a:p>
            <a:pPr algn="l">
              <a:lnSpc>
                <a:spcPct val="95000"/>
              </a:lnSpc>
              <a:spcBef>
                <a:spcPts val="300"/>
              </a:spcBef>
            </a:pPr>
            <a:r>
              <a:rPr sz="1300" b="0">
                <a:solidFill>
                  <a:srgbClr val="404040"/>
                </a:solidFill>
              </a:rPr>
              <a:t>  from public, anon, authenticated;</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Muss nach jeder neu angelegten</a:t>
            </a:r>
          </a:p>
          <a:p>
            <a:pPr algn="l">
              <a:lnSpc>
                <a:spcPct val="95000"/>
              </a:lnSpc>
              <a:spcBef>
                <a:spcPts val="300"/>
              </a:spcBef>
            </a:pPr>
            <a:r>
              <a:rPr sz="1300" b="0">
                <a:solidFill>
                  <a:srgbClr val="404040"/>
                </a:solidFill>
              </a:rPr>
              <a:t>Funktion in diesem Schema</a:t>
            </a:r>
          </a:p>
          <a:p>
            <a:pPr algn="l">
              <a:lnSpc>
                <a:spcPct val="95000"/>
              </a:lnSpc>
              <a:spcBef>
                <a:spcPts val="300"/>
              </a:spcBef>
            </a:pPr>
            <a:r>
              <a:rPr sz="1300" b="0">
                <a:solidFill>
                  <a:srgbClr val="404040"/>
                </a:solidFill>
              </a:rPr>
              <a:t>erneut laufen.</a:t>
            </a:r>
          </a:p>
        </p:txBody>
      </p:sp>
      <p:sp>
        <p:nvSpPr>
          <p:cNvPr id="14" name="Rectangle 13"/>
          <p:cNvSpPr/>
          <p:nvPr/>
        </p:nvSpPr>
        <p:spPr>
          <a:xfrm>
            <a:off x="1153160" y="4775200"/>
            <a:ext cx="11474450" cy="13716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4775200"/>
            <a:ext cx="50800" cy="1371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4902200"/>
            <a:ext cx="11093450" cy="1117600"/>
          </a:xfrm>
          <a:prstGeom prst="rect">
            <a:avLst/>
          </a:prstGeom>
          <a:noFill/>
        </p:spPr>
        <p:txBody>
          <a:bodyPr wrap="square" lIns="0" tIns="0" rIns="0" bIns="0">
            <a:spAutoFit/>
          </a:bodyPr>
          <a:lstStyle/>
          <a:p>
            <a:pPr algn="l">
              <a:lnSpc>
                <a:spcPct val="95000"/>
              </a:lnSpc>
            </a:pPr>
            <a:r>
              <a:rPr sz="1500" b="1">
                <a:solidFill>
                  <a:srgbClr val="A32638"/>
                </a:solidFill>
              </a:rPr>
              <a:t>Placebo gemessen statt angenommen</a:t>
            </a:r>
          </a:p>
          <a:p>
            <a:pPr algn="l">
              <a:lnSpc>
                <a:spcPct val="95000"/>
              </a:lnSpc>
              <a:spcBef>
                <a:spcPts val="500"/>
              </a:spcBef>
            </a:pPr>
            <a:r>
              <a:rPr sz="1300" b="0">
                <a:solidFill>
                  <a:srgbClr val="404040"/>
                </a:solidFill>
              </a:rPr>
              <a:t>alter default privileges … revoke execute on functions from public sollte künftige Funktionen automatisch schützen. Gegenprobe auf dieser Instanz: kein Eintrag in pg_default_acl, eine danach angelegte Testfunktion bekam trotzdem EXECUTE für PUBLIC.</a:t>
            </a:r>
          </a:p>
          <a:p>
            <a:pPr algn="l">
              <a:lnSpc>
                <a:spcPct val="95000"/>
              </a:lnSpc>
              <a:spcBef>
                <a:spcPts val="500"/>
              </a:spcBef>
            </a:pPr>
            <a:r>
              <a:rPr sz="1300" b="0">
                <a:solidFill>
                  <a:srgbClr val="404040"/>
                </a:solidFill>
              </a:rPr>
              <a:t>In einer gewöhnlichen PostgreSQL-Installation wirkt die Anweisung — hier nachweislich nicht. Deshalb bleibt das REVOKE oben die einzige Absicherung, und es muss nach jedem CREATE FUNCTION erneut laufen.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Nachweis statt Behauptung — auf drei Wegen</a:t>
            </a:r>
          </a:p>
        </p:txBody>
      </p:sp>
      <p:sp>
        <p:nvSpPr>
          <p:cNvPr id="3" name="Text Placeholder 2"/>
          <p:cNvSpPr>
            <a:spLocks noGrp="1"/>
          </p:cNvSpPr>
          <p:nvPr>
            <p:ph type="body" idx="12" sz="quarter"/>
          </p:nvPr>
        </p:nvSpPr>
        <p:spPr/>
        <p:txBody>
          <a:bodyPr/>
          <a:lstStyle/>
          <a:p>
            <a:r>
              <a:t>7 · Zugriffsschutz</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Sicherheitskonzept, das nur beschrieben ist, ist wertlos. Geprüft wird in der Datenbank, über die Schnittstelle und im Browser.</a:t>
            </a:r>
          </a:p>
        </p:txBody>
      </p:sp>
      <p:sp>
        <p:nvSpPr>
          <p:cNvPr id="6" name="Rectangle 5"/>
          <p:cNvSpPr/>
          <p:nvPr/>
        </p:nvSpPr>
        <p:spPr>
          <a:xfrm>
            <a:off x="1153160" y="23876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3876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552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2463800"/>
            <a:ext cx="7918450" cy="508000"/>
          </a:xfrm>
          <a:prstGeom prst="rect">
            <a:avLst/>
          </a:prstGeom>
          <a:noFill/>
        </p:spPr>
        <p:txBody>
          <a:bodyPr wrap="square" lIns="0" tIns="0" rIns="0" bIns="0" anchor="ctr">
            <a:spAutoFit/>
          </a:bodyPr>
          <a:lstStyle/>
          <a:p>
            <a:pPr>
              <a:lnSpc>
                <a:spcPct val="95000"/>
              </a:lnSpc>
            </a:pPr>
            <a:r>
              <a:rPr sz="1300" b="1">
                <a:solidFill>
                  <a:srgbClr val="003E6E"/>
                </a:solidFill>
              </a:rPr>
              <a:t>In der Datenbank  </a:t>
            </a:r>
            <a:r>
              <a:rPr sz="1300">
                <a:solidFill>
                  <a:srgbClr val="404040"/>
                </a:solidFill>
              </a:rPr>
              <a:t>RLS überall aktiv, anon ohne Tabellenrechte, Rollenwechsel-Probe</a:t>
            </a:r>
          </a:p>
        </p:txBody>
      </p:sp>
      <p:sp>
        <p:nvSpPr>
          <p:cNvPr id="10" name="Rounded Rectangle 9"/>
          <p:cNvSpPr/>
          <p:nvPr/>
        </p:nvSpPr>
        <p:spPr>
          <a:xfrm>
            <a:off x="9935210" y="2501900"/>
            <a:ext cx="2540000" cy="431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pgTAP, t0011</a:t>
            </a:r>
          </a:p>
        </p:txBody>
      </p:sp>
      <p:sp>
        <p:nvSpPr>
          <p:cNvPr id="11" name="Rectangle 10"/>
          <p:cNvSpPr/>
          <p:nvPr/>
        </p:nvSpPr>
        <p:spPr>
          <a:xfrm>
            <a:off x="1153160" y="31496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31496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30960" y="3314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4" name="TextBox 13"/>
          <p:cNvSpPr txBox="1"/>
          <p:nvPr/>
        </p:nvSpPr>
        <p:spPr>
          <a:xfrm>
            <a:off x="1788160" y="3225800"/>
            <a:ext cx="7918450" cy="508000"/>
          </a:xfrm>
          <a:prstGeom prst="rect">
            <a:avLst/>
          </a:prstGeom>
          <a:noFill/>
        </p:spPr>
        <p:txBody>
          <a:bodyPr wrap="square" lIns="0" tIns="0" rIns="0" bIns="0" anchor="ctr">
            <a:spAutoFit/>
          </a:bodyPr>
          <a:lstStyle/>
          <a:p>
            <a:pPr>
              <a:lnSpc>
                <a:spcPct val="95000"/>
              </a:lnSpc>
            </a:pPr>
            <a:r>
              <a:rPr sz="1300" b="1">
                <a:solidFill>
                  <a:srgbClr val="003E6E"/>
                </a:solidFill>
              </a:rPr>
              <a:t>Über die Schnittstelle  </a:t>
            </a:r>
            <a:r>
              <a:rPr sz="1300">
                <a:solidFill>
                  <a:srgbClr val="404040"/>
                </a:solidFill>
              </a:rPr>
              <a:t>13 gesperrte Ressourcen, 9 öffentliche Sichten</a:t>
            </a:r>
          </a:p>
        </p:txBody>
      </p:sp>
      <p:sp>
        <p:nvSpPr>
          <p:cNvPr id="15" name="Rounded Rectangle 14"/>
          <p:cNvSpPr/>
          <p:nvPr/>
        </p:nvSpPr>
        <p:spPr>
          <a:xfrm>
            <a:off x="9935210" y="3263900"/>
            <a:ext cx="2540000" cy="431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HTTP 401 gegen 200</a:t>
            </a:r>
          </a:p>
        </p:txBody>
      </p:sp>
      <p:sp>
        <p:nvSpPr>
          <p:cNvPr id="16" name="Rectangle 15"/>
          <p:cNvSpPr/>
          <p:nvPr/>
        </p:nvSpPr>
        <p:spPr>
          <a:xfrm>
            <a:off x="1153160" y="39116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53160" y="39116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330960" y="4076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9" name="TextBox 18"/>
          <p:cNvSpPr txBox="1"/>
          <p:nvPr/>
        </p:nvSpPr>
        <p:spPr>
          <a:xfrm>
            <a:off x="1788160" y="3987800"/>
            <a:ext cx="7918450" cy="508000"/>
          </a:xfrm>
          <a:prstGeom prst="rect">
            <a:avLst/>
          </a:prstGeom>
          <a:noFill/>
        </p:spPr>
        <p:txBody>
          <a:bodyPr wrap="square" lIns="0" tIns="0" rIns="0" bIns="0" anchor="ctr">
            <a:spAutoFit/>
          </a:bodyPr>
          <a:lstStyle/>
          <a:p>
            <a:pPr>
              <a:lnSpc>
                <a:spcPct val="95000"/>
              </a:lnSpc>
            </a:pPr>
            <a:r>
              <a:rPr sz="1300" b="1">
                <a:solidFill>
                  <a:srgbClr val="003E6E"/>
                </a:solidFill>
              </a:rPr>
              <a:t>Im Browser  </a:t>
            </a:r>
            <a:r>
              <a:rPr sz="1300">
                <a:solidFill>
                  <a:srgbClr val="404040"/>
                </a:solidFill>
              </a:rPr>
              <a:t>Aufrufe der abgemeldeten Seite in der Konsole</a:t>
            </a:r>
          </a:p>
        </p:txBody>
      </p:sp>
      <p:sp>
        <p:nvSpPr>
          <p:cNvPr id="20" name="Rounded Rectangle 19"/>
          <p:cNvSpPr/>
          <p:nvPr/>
        </p:nvSpPr>
        <p:spPr>
          <a:xfrm>
            <a:off x="9935210" y="4025900"/>
            <a:ext cx="2540000" cy="431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permission denied</a:t>
            </a:r>
          </a:p>
        </p:txBody>
      </p:sp>
      <p:sp>
        <p:nvSpPr>
          <p:cNvPr id="21" name="Rectangle 20"/>
          <p:cNvSpPr/>
          <p:nvPr/>
        </p:nvSpPr>
        <p:spPr>
          <a:xfrm>
            <a:off x="1153160" y="46736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53160" y="4673600"/>
            <a:ext cx="50800" cy="13462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56360" y="4800600"/>
            <a:ext cx="11093450" cy="1092200"/>
          </a:xfrm>
          <a:prstGeom prst="rect">
            <a:avLst/>
          </a:prstGeom>
          <a:noFill/>
        </p:spPr>
        <p:txBody>
          <a:bodyPr wrap="square" lIns="0" tIns="0" rIns="0" bIns="0">
            <a:spAutoFit/>
          </a:bodyPr>
          <a:lstStyle/>
          <a:p>
            <a:pPr algn="l">
              <a:lnSpc>
                <a:spcPct val="95000"/>
              </a:lnSpc>
            </a:pPr>
            <a:r>
              <a:rPr sz="1500" b="1">
                <a:solidFill>
                  <a:srgbClr val="A32638"/>
                </a:solidFill>
              </a:rPr>
              <a:t>Eine Falle im Prüfwerkzeug selbst</a:t>
            </a:r>
          </a:p>
          <a:p>
            <a:pPr algn="l">
              <a:lnSpc>
                <a:spcPct val="95000"/>
              </a:lnSpc>
              <a:spcBef>
                <a:spcPts val="500"/>
              </a:spcBef>
            </a:pPr>
            <a:r>
              <a:rPr sz="1300" b="0">
                <a:solidFill>
                  <a:srgbClr val="404040"/>
                </a:solidFill>
              </a:rPr>
              <a:t>Der erste Entwurf meldete alle 13 gesperrten Ressourcen als bestanden — obwohl er nichts geprüft hatte: das Schema war gar nicht exponiert, also war alles unerreichbar, Sicheres wie Unsicheres.</a:t>
            </a:r>
          </a:p>
          <a:p>
            <a:pPr algn="l">
              <a:lnSpc>
                <a:spcPct val="95000"/>
              </a:lnSpc>
              <a:spcBef>
                <a:spcPts val="500"/>
              </a:spcBef>
            </a:pPr>
            <a:r>
              <a:rPr sz="1300" b="0">
                <a:solidFill>
                  <a:srgbClr val="404040"/>
                </a:solidFill>
              </a:rPr>
              <a:t>Ein Test, der „abgesichert“ nicht von „gar nicht erreichbar“ unterscheidet, ist gefährlicher als kein Test.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 Anwendung anbinden</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kommt Annas Fahrt in die Web-Anwendung?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Nur Sichten lesen, nur Funktionen schreiben</a:t>
            </a:r>
          </a:p>
        </p:txBody>
      </p:sp>
      <p:sp>
        <p:nvSpPr>
          <p:cNvPr id="3" name="Text Placeholder 2"/>
          <p:cNvSpPr>
            <a:spLocks noGrp="1"/>
          </p:cNvSpPr>
          <p:nvPr>
            <p:ph type="body" idx="12" sz="quarter"/>
          </p:nvPr>
        </p:nvSpPr>
        <p:spPr/>
        <p:txBody>
          <a:bodyPr/>
          <a:lstStyle/>
          <a:p>
            <a:r>
              <a:t>8 · Anwendung anbinden</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Anwendung kennt keine einzige Basistabelle. Das ist keine Konvention, sondern erzwungen: sie käme gar nicht an sie heran.</a:t>
            </a:r>
          </a:p>
        </p:txBody>
      </p:sp>
      <p:sp>
        <p:nvSpPr>
          <p:cNvPr id="6" name="Rectangle 5"/>
          <p:cNvSpPr/>
          <p:nvPr/>
        </p:nvSpPr>
        <p:spPr>
          <a:xfrm>
            <a:off x="1153160"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304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49500"/>
            <a:ext cx="5194300" cy="2819400"/>
          </a:xfrm>
          <a:prstGeom prst="rect">
            <a:avLst/>
          </a:prstGeom>
          <a:noFill/>
        </p:spPr>
        <p:txBody>
          <a:bodyPr wrap="square" lIns="0" tIns="0" rIns="0" bIns="0">
            <a:spAutoFit/>
          </a:bodyPr>
          <a:lstStyle/>
          <a:p>
            <a:pPr algn="l">
              <a:lnSpc>
                <a:spcPct val="95000"/>
              </a:lnSpc>
            </a:pPr>
            <a:r>
              <a:rPr sz="1400" b="1">
                <a:solidFill>
                  <a:srgbClr val="003E6E"/>
                </a:solidFill>
              </a:rPr>
              <a:t>Lesen — ausschließlich Sichten</a:t>
            </a:r>
          </a:p>
          <a:p>
            <a:pPr algn="l">
              <a:lnSpc>
                <a:spcPct val="95000"/>
              </a:lnSpc>
              <a:spcBef>
                <a:spcPts val="200"/>
              </a:spcBef>
            </a:pPr>
            <a:r>
              <a:rPr sz="1300" b="0">
                <a:solidFill>
                  <a:srgbClr val="404040"/>
                </a:solidFill>
                <a:latin typeface="Consolas"/>
              </a:rPr>
              <a:t>from('v_station')</a:t>
            </a:r>
          </a:p>
          <a:p>
            <a:pPr algn="l">
              <a:lnSpc>
                <a:spcPct val="95000"/>
              </a:lnSpc>
              <a:spcBef>
                <a:spcPts val="200"/>
              </a:spcBef>
            </a:pPr>
            <a:r>
              <a:rPr sz="1300" b="0">
                <a:solidFill>
                  <a:srgbClr val="404040"/>
                </a:solidFill>
                <a:latin typeface="Consolas"/>
              </a:rPr>
              <a:t>from('v_verfuegbares_fahrrad')</a:t>
            </a:r>
          </a:p>
          <a:p>
            <a:pPr algn="l">
              <a:lnSpc>
                <a:spcPct val="95000"/>
              </a:lnSpc>
              <a:spcBef>
                <a:spcPts val="200"/>
              </a:spcBef>
            </a:pPr>
            <a:r>
              <a:rPr sz="1300" b="0">
                <a:solidFill>
                  <a:srgbClr val="404040"/>
                </a:solidFill>
                <a:latin typeface="Consolas"/>
              </a:rPr>
              <a:t>from('v_tarifkarte')</a:t>
            </a:r>
          </a:p>
          <a:p>
            <a:pPr algn="l">
              <a:lnSpc>
                <a:spcPct val="95000"/>
              </a:lnSpc>
              <a:spcBef>
                <a:spcPts val="200"/>
              </a:spcBef>
            </a:pPr>
            <a:r>
              <a:rPr sz="1300" b="0">
                <a:solidFill>
                  <a:srgbClr val="404040"/>
                </a:solidFill>
                <a:latin typeface="Consolas"/>
              </a:rPr>
              <a:t>from('v_faq')</a:t>
            </a:r>
          </a:p>
          <a:p>
            <a:pPr algn="l">
              <a:lnSpc>
                <a:spcPct val="95000"/>
              </a:lnSpc>
              <a:spcBef>
                <a:spcPts val="200"/>
              </a:spcBef>
            </a:pPr>
            <a:r>
              <a:rPr sz="1300" b="0">
                <a:solidFill>
                  <a:srgbClr val="404040"/>
                </a:solidFill>
                <a:latin typeface="Consolas"/>
              </a:rPr>
              <a:t>from('v_kennzahl')</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 angemeldet:</a:t>
            </a:r>
          </a:p>
          <a:p>
            <a:pPr algn="l">
              <a:lnSpc>
                <a:spcPct val="95000"/>
              </a:lnSpc>
              <a:spcBef>
                <a:spcPts val="200"/>
              </a:spcBef>
            </a:pPr>
            <a:r>
              <a:rPr sz="1300" b="0">
                <a:solidFill>
                  <a:srgbClr val="404040"/>
                </a:solidFill>
                <a:latin typeface="Consolas"/>
              </a:rPr>
              <a:t>from('v_meine_ausleihe')</a:t>
            </a:r>
          </a:p>
          <a:p>
            <a:pPr algn="l">
              <a:lnSpc>
                <a:spcPct val="95000"/>
              </a:lnSpc>
              <a:spcBef>
                <a:spcPts val="200"/>
              </a:spcBef>
            </a:pPr>
            <a:r>
              <a:rPr sz="1300" b="0">
                <a:solidFill>
                  <a:srgbClr val="404040"/>
                </a:solidFill>
                <a:latin typeface="Consolas"/>
              </a:rPr>
              <a:t>from('v_mein_profil')</a:t>
            </a:r>
          </a:p>
        </p:txBody>
      </p:sp>
      <p:sp>
        <p:nvSpPr>
          <p:cNvPr id="9" name="Rectangle 8"/>
          <p:cNvSpPr/>
          <p:nvPr/>
        </p:nvSpPr>
        <p:spPr>
          <a:xfrm>
            <a:off x="7096759" y="2235200"/>
            <a:ext cx="5524500" cy="304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235200"/>
            <a:ext cx="50800" cy="3048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349500"/>
            <a:ext cx="5194300" cy="2819400"/>
          </a:xfrm>
          <a:prstGeom prst="rect">
            <a:avLst/>
          </a:prstGeom>
          <a:noFill/>
        </p:spPr>
        <p:txBody>
          <a:bodyPr wrap="square" lIns="0" tIns="0" rIns="0" bIns="0">
            <a:spAutoFit/>
          </a:bodyPr>
          <a:lstStyle/>
          <a:p>
            <a:pPr algn="l">
              <a:lnSpc>
                <a:spcPct val="95000"/>
              </a:lnSpc>
            </a:pPr>
            <a:r>
              <a:rPr sz="1400" b="1">
                <a:solidFill>
                  <a:srgbClr val="55801C"/>
                </a:solidFill>
              </a:rPr>
              <a:t>Schreiben — ausschließlich Funktionen</a:t>
            </a:r>
          </a:p>
          <a:p>
            <a:pPr algn="l">
              <a:lnSpc>
                <a:spcPct val="95000"/>
              </a:lnSpc>
              <a:spcBef>
                <a:spcPts val="200"/>
              </a:spcBef>
            </a:pPr>
            <a:r>
              <a:rPr sz="1300" b="0">
                <a:solidFill>
                  <a:srgbClr val="404040"/>
                </a:solidFill>
                <a:latin typeface="Consolas"/>
              </a:rPr>
              <a:t>rpc('api_kunde_sicherstellen')</a:t>
            </a:r>
          </a:p>
          <a:p>
            <a:pPr algn="l">
              <a:lnSpc>
                <a:spcPct val="95000"/>
              </a:lnSpc>
              <a:spcBef>
                <a:spcPts val="200"/>
              </a:spcBef>
            </a:pPr>
            <a:r>
              <a:rPr sz="1300" b="0">
                <a:solidFill>
                  <a:srgbClr val="404040"/>
                </a:solidFill>
                <a:latin typeface="Consolas"/>
              </a:rPr>
              <a:t>rpc('api_ausleihe_starten')</a:t>
            </a:r>
          </a:p>
          <a:p>
            <a:pPr algn="l">
              <a:lnSpc>
                <a:spcPct val="95000"/>
              </a:lnSpc>
              <a:spcBef>
                <a:spcPts val="200"/>
              </a:spcBef>
            </a:pPr>
            <a:r>
              <a:rPr sz="1300" b="0">
                <a:solidFill>
                  <a:srgbClr val="404040"/>
                </a:solidFill>
                <a:latin typeface="Consolas"/>
              </a:rPr>
              <a:t>rpc('api_ausleihe_beenden')</a:t>
            </a:r>
          </a:p>
          <a:p>
            <a:pPr algn="l">
              <a:lnSpc>
                <a:spcPct val="95000"/>
              </a:lnSpc>
              <a:spcBef>
                <a:spcPts val="200"/>
              </a:spcBef>
            </a:pPr>
            <a:r>
              <a:rPr sz="1300" b="0">
                <a:solidFill>
                  <a:srgbClr val="404040"/>
                </a:solidFill>
                <a:latin typeface="Consolas"/>
              </a:rPr>
              <a:t>rpc('api_profil_aktualisieren')</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 nicht erreichbar:</a:t>
            </a:r>
          </a:p>
          <a:p>
            <a:pPr algn="l">
              <a:lnSpc>
                <a:spcPct val="95000"/>
              </a:lnSpc>
              <a:spcBef>
                <a:spcPts val="200"/>
              </a:spcBef>
            </a:pPr>
            <a:r>
              <a:rPr sz="1300" b="0">
                <a:solidFill>
                  <a:srgbClr val="404040"/>
                </a:solidFill>
                <a:latin typeface="Consolas"/>
              </a:rPr>
              <a:t>from('kunde')      permission denied</a:t>
            </a:r>
          </a:p>
          <a:p>
            <a:pPr algn="l">
              <a:lnSpc>
                <a:spcPct val="95000"/>
              </a:lnSpc>
              <a:spcBef>
                <a:spcPts val="200"/>
              </a:spcBef>
            </a:pPr>
            <a:r>
              <a:rPr sz="1300" b="0">
                <a:solidFill>
                  <a:srgbClr val="404040"/>
                </a:solidFill>
                <a:latin typeface="Consolas"/>
              </a:rPr>
              <a:t>from('ausleihe')   permission denied</a:t>
            </a:r>
          </a:p>
          <a:p>
            <a:pPr algn="l">
              <a:lnSpc>
                <a:spcPct val="95000"/>
              </a:lnSpc>
              <a:spcBef>
                <a:spcPts val="200"/>
              </a:spcBef>
            </a:pPr>
            <a:r>
              <a:rPr sz="1300" b="0">
                <a:solidFill>
                  <a:srgbClr val="404040"/>
                </a:solidFill>
                <a:latin typeface="Consolas"/>
              </a:rPr>
              <a:t>rpc('fn_…')        permission denied</a:t>
            </a:r>
          </a:p>
        </p:txBody>
      </p:sp>
      <p:sp>
        <p:nvSpPr>
          <p:cNvPr id="12" name="Rectangle 11"/>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 sieht ihre Fahrt über v_meine_ausleihe — begrenzt durch RLS auf ihre eigenen Zeilen.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 Die Warenwirtschaft</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Wer arbeitet mit Annas Fahrt, wenn sie längst bezahlt 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Zweite Anwendung, dasselbe Datenmodell</a:t>
            </a:r>
          </a:p>
        </p:txBody>
      </p:sp>
      <p:sp>
        <p:nvSpPr>
          <p:cNvPr id="3" name="Text Placeholder 2"/>
          <p:cNvSpPr>
            <a:spLocks noGrp="1"/>
          </p:cNvSpPr>
          <p:nvPr>
            <p:ph type="body" idx="12" sz="quarter"/>
          </p:nvPr>
        </p:nvSpPr>
        <p:spPr/>
        <p:txBody>
          <a:bodyPr/>
          <a:lstStyle/>
          <a:p>
            <a:r>
              <a:t>9 · Die Warenwirtschaft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Warenwirtschaft bekam kein eigenes Schema und keine eigene Datenbank. Sie legt Sichten und Funktionen über genau die Tabellen, die schon da waren.</a:t>
            </a:r>
          </a:p>
        </p:txBody>
      </p:sp>
      <p:sp>
        <p:nvSpPr>
          <p:cNvPr id="6" name="Rectangle 5"/>
          <p:cNvSpPr/>
          <p:nvPr/>
        </p:nvSpPr>
        <p:spPr>
          <a:xfrm>
            <a:off x="115316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Kein zweites Schema</a:t>
            </a:r>
          </a:p>
          <a:p>
            <a:pPr algn="l">
              <a:lnSpc>
                <a:spcPct val="95000"/>
              </a:lnSpc>
              <a:spcBef>
                <a:spcPts val="500"/>
              </a:spcBef>
            </a:pPr>
            <a:r>
              <a:rPr sz="1300" b="0">
                <a:solidFill>
                  <a:srgbClr val="404040"/>
                </a:solidFill>
              </a:rPr>
              <a:t>39 Basistabellen legt der Aufbau an — für beide dieselben</a:t>
            </a:r>
          </a:p>
          <a:p>
            <a:pPr algn="l">
              <a:lnSpc>
                <a:spcPct val="95000"/>
              </a:lnSpc>
              <a:spcBef>
                <a:spcPts val="500"/>
              </a:spcBef>
            </a:pPr>
            <a:r>
              <a:rPr sz="1300" b="0">
                <a:solidFill>
                  <a:srgbClr val="404040"/>
                </a:solidFill>
              </a:rPr>
              <a:t>Eine Kundenadresse ist eine Kundenadresse</a:t>
            </a:r>
          </a:p>
          <a:p>
            <a:pPr algn="l">
              <a:lnSpc>
                <a:spcPct val="95000"/>
              </a:lnSpc>
              <a:spcBef>
                <a:spcPts val="500"/>
              </a:spcBef>
            </a:pPr>
            <a:r>
              <a:rPr sz="1300" b="0">
                <a:solidFill>
                  <a:srgbClr val="404040"/>
                </a:solidFill>
              </a:rPr>
              <a:t>Keine Kopie, die veralten könnte</a:t>
            </a:r>
          </a:p>
        </p:txBody>
      </p:sp>
      <p:sp>
        <p:nvSpPr>
          <p:cNvPr id="9" name="Rectangle 8"/>
          <p:cNvSpPr/>
          <p:nvPr/>
        </p:nvSpPr>
        <p:spPr>
          <a:xfrm>
            <a:off x="511302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21 Sichten, 18 Funktionen</a:t>
            </a:r>
          </a:p>
          <a:p>
            <a:pPr algn="l">
              <a:lnSpc>
                <a:spcPct val="95000"/>
              </a:lnSpc>
              <a:spcBef>
                <a:spcPts val="500"/>
              </a:spcBef>
            </a:pPr>
            <a:r>
              <a:rPr sz="1300" b="0">
                <a:solidFill>
                  <a:srgbClr val="404040"/>
                </a:solidFill>
              </a:rPr>
              <a:t>Gelesen wird über v_wawi_…</a:t>
            </a:r>
          </a:p>
          <a:p>
            <a:pPr algn="l">
              <a:lnSpc>
                <a:spcPct val="95000"/>
              </a:lnSpc>
              <a:spcBef>
                <a:spcPts val="500"/>
              </a:spcBef>
            </a:pPr>
            <a:r>
              <a:rPr sz="1300" b="0">
                <a:solidFill>
                  <a:srgbClr val="404040"/>
                </a:solidFill>
              </a:rPr>
              <a:t>Geschrieben über api_…</a:t>
            </a:r>
          </a:p>
          <a:p>
            <a:pPr algn="l">
              <a:lnSpc>
                <a:spcPct val="95000"/>
              </a:lnSpc>
              <a:spcBef>
                <a:spcPts val="500"/>
              </a:spcBef>
            </a:pPr>
            <a:r>
              <a:rPr sz="1300" b="0">
                <a:solidFill>
                  <a:srgbClr val="404040"/>
                </a:solidFill>
              </a:rPr>
              <a:t>Fünf weitere api_ dienen der Website</a:t>
            </a:r>
          </a:p>
        </p:txBody>
      </p:sp>
      <p:sp>
        <p:nvSpPr>
          <p:cNvPr id="12" name="Rectangle 11"/>
          <p:cNvSpPr/>
          <p:nvPr/>
        </p:nvSpPr>
        <p:spPr>
          <a:xfrm>
            <a:off x="9081770" y="23114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3114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438400"/>
            <a:ext cx="3215640" cy="1651000"/>
          </a:xfrm>
          <a:prstGeom prst="rect">
            <a:avLst/>
          </a:prstGeom>
          <a:noFill/>
        </p:spPr>
        <p:txBody>
          <a:bodyPr wrap="square" lIns="0" tIns="0" rIns="0" bIns="0">
            <a:spAutoFit/>
          </a:bodyPr>
          <a:lstStyle/>
          <a:p>
            <a:pPr algn="l">
              <a:lnSpc>
                <a:spcPct val="95000"/>
              </a:lnSpc>
            </a:pPr>
            <a:r>
              <a:rPr sz="1500" b="1">
                <a:solidFill>
                  <a:srgbClr val="003E6E"/>
                </a:solidFill>
              </a:rPr>
              <a:t>Fünf Rollen</a:t>
            </a:r>
          </a:p>
          <a:p>
            <a:pPr algn="l">
              <a:lnSpc>
                <a:spcPct val="95000"/>
              </a:lnSpc>
              <a:spcBef>
                <a:spcPts val="500"/>
              </a:spcBef>
            </a:pPr>
            <a:r>
              <a:rPr sz="1300" b="0">
                <a:solidFill>
                  <a:srgbClr val="404040"/>
                </a:solidFill>
              </a:rPr>
              <a:t>leitung · disposition · werkstatt</a:t>
            </a:r>
          </a:p>
          <a:p>
            <a:pPr algn="l">
              <a:lnSpc>
                <a:spcPct val="95000"/>
              </a:lnSpc>
              <a:spcBef>
                <a:spcPts val="500"/>
              </a:spcBef>
            </a:pPr>
            <a:r>
              <a:rPr sz="1300" b="0">
                <a:solidFill>
                  <a:srgbClr val="404040"/>
                </a:solidFill>
              </a:rPr>
              <a:t>kundenservice · demo</a:t>
            </a:r>
          </a:p>
          <a:p>
            <a:pPr algn="l">
              <a:lnSpc>
                <a:spcPct val="95000"/>
              </a:lnSpc>
              <a:spcBef>
                <a:spcPts val="500"/>
              </a:spcBef>
            </a:pPr>
            <a:r>
              <a:rPr sz="1300" b="0">
                <a:solidFill>
                  <a:srgbClr val="404040"/>
                </a:solidFill>
              </a:rPr>
              <a:t>Die Rolle steht in der Datenbank</a:t>
            </a:r>
          </a:p>
        </p:txBody>
      </p:sp>
      <p:sp>
        <p:nvSpPr>
          <p:cNvPr id="15" name="Rectangle 14"/>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steht in genau einer Zeile — die Werkstatt und die Leitung lesen dieselbe.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Fachrollen, vier Ausschnitte derselben Daten</a:t>
            </a:r>
          </a:p>
        </p:txBody>
      </p:sp>
      <p:sp>
        <p:nvSpPr>
          <p:cNvPr id="3" name="Text Placeholder 2"/>
          <p:cNvSpPr>
            <a:spLocks noGrp="1"/>
          </p:cNvSpPr>
          <p:nvPr>
            <p:ph type="body" idx="12" sz="quarter"/>
          </p:nvPr>
        </p:nvSpPr>
        <p:spPr/>
        <p:txBody>
          <a:bodyPr/>
          <a:lstStyle/>
          <a:p>
            <a:r>
              <a:t>9 · Die Warenwirtschaft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Was jemand sieht, entscheidet die Datenbank anhand seiner Rolle — nicht die Oberfläche. Ein verstecktes Menü ist kein Schutz.</a:t>
            </a:r>
          </a:p>
        </p:txBody>
      </p:sp>
      <p:sp>
        <p:nvSpPr>
          <p:cNvPr id="6" name="TextBox 5"/>
          <p:cNvSpPr txBox="1"/>
          <p:nvPr/>
        </p:nvSpPr>
        <p:spPr>
          <a:xfrm>
            <a:off x="4505960" y="1981200"/>
            <a:ext cx="990600" cy="304800"/>
          </a:xfrm>
          <a:prstGeom prst="rect">
            <a:avLst/>
          </a:prstGeom>
          <a:noFill/>
        </p:spPr>
        <p:txBody>
          <a:bodyPr wrap="square" lIns="0" tIns="0" rIns="0" bIns="0">
            <a:spAutoFit/>
          </a:bodyPr>
          <a:lstStyle/>
          <a:p>
            <a:pPr algn="ctr">
              <a:lnSpc>
                <a:spcPct val="95000"/>
              </a:lnSpc>
            </a:pPr>
            <a:r>
              <a:rPr sz="1300" b="1">
                <a:solidFill>
                  <a:srgbClr val="555148"/>
                </a:solidFill>
              </a:rPr>
              <a:t>Leitung</a:t>
            </a:r>
          </a:p>
        </p:txBody>
      </p:sp>
      <p:sp>
        <p:nvSpPr>
          <p:cNvPr id="7" name="TextBox 6"/>
          <p:cNvSpPr txBox="1"/>
          <p:nvPr/>
        </p:nvSpPr>
        <p:spPr>
          <a:xfrm>
            <a:off x="5623560" y="1981200"/>
            <a:ext cx="990600" cy="304800"/>
          </a:xfrm>
          <a:prstGeom prst="rect">
            <a:avLst/>
          </a:prstGeom>
          <a:noFill/>
        </p:spPr>
        <p:txBody>
          <a:bodyPr wrap="square" lIns="0" tIns="0" rIns="0" bIns="0">
            <a:spAutoFit/>
          </a:bodyPr>
          <a:lstStyle/>
          <a:p>
            <a:pPr algn="ctr">
              <a:lnSpc>
                <a:spcPct val="95000"/>
              </a:lnSpc>
            </a:pPr>
            <a:r>
              <a:rPr sz="1300" b="1">
                <a:solidFill>
                  <a:srgbClr val="555148"/>
                </a:solidFill>
              </a:rPr>
              <a:t>Dispo</a:t>
            </a:r>
          </a:p>
        </p:txBody>
      </p:sp>
      <p:sp>
        <p:nvSpPr>
          <p:cNvPr id="8" name="TextBox 7"/>
          <p:cNvSpPr txBox="1"/>
          <p:nvPr/>
        </p:nvSpPr>
        <p:spPr>
          <a:xfrm>
            <a:off x="6741159" y="1981200"/>
            <a:ext cx="990600" cy="304800"/>
          </a:xfrm>
          <a:prstGeom prst="rect">
            <a:avLst/>
          </a:prstGeom>
          <a:noFill/>
        </p:spPr>
        <p:txBody>
          <a:bodyPr wrap="square" lIns="0" tIns="0" rIns="0" bIns="0">
            <a:spAutoFit/>
          </a:bodyPr>
          <a:lstStyle/>
          <a:p>
            <a:pPr algn="ctr">
              <a:lnSpc>
                <a:spcPct val="95000"/>
              </a:lnSpc>
            </a:pPr>
            <a:r>
              <a:rPr sz="1300" b="1">
                <a:solidFill>
                  <a:srgbClr val="555148"/>
                </a:solidFill>
              </a:rPr>
              <a:t>Werkstatt</a:t>
            </a:r>
          </a:p>
        </p:txBody>
      </p:sp>
      <p:sp>
        <p:nvSpPr>
          <p:cNvPr id="9" name="TextBox 8"/>
          <p:cNvSpPr txBox="1"/>
          <p:nvPr/>
        </p:nvSpPr>
        <p:spPr>
          <a:xfrm>
            <a:off x="7858759" y="1981200"/>
            <a:ext cx="990600" cy="304800"/>
          </a:xfrm>
          <a:prstGeom prst="rect">
            <a:avLst/>
          </a:prstGeom>
          <a:noFill/>
        </p:spPr>
        <p:txBody>
          <a:bodyPr wrap="square" lIns="0" tIns="0" rIns="0" bIns="0">
            <a:spAutoFit/>
          </a:bodyPr>
          <a:lstStyle/>
          <a:p>
            <a:pPr algn="ctr">
              <a:lnSpc>
                <a:spcPct val="95000"/>
              </a:lnSpc>
            </a:pPr>
            <a:r>
              <a:rPr sz="1300" b="1">
                <a:solidFill>
                  <a:srgbClr val="555148"/>
                </a:solidFill>
              </a:rPr>
              <a:t>Service</a:t>
            </a:r>
          </a:p>
        </p:txBody>
      </p:sp>
      <p:sp>
        <p:nvSpPr>
          <p:cNvPr id="10" name="Rectangle 9"/>
          <p:cNvSpPr/>
          <p:nvPr/>
        </p:nvSpPr>
        <p:spPr>
          <a:xfrm>
            <a:off x="1153160" y="23114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3114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56360" y="23749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Flotte, einzelne Räder</a:t>
            </a:r>
          </a:p>
        </p:txBody>
      </p:sp>
      <p:sp>
        <p:nvSpPr>
          <p:cNvPr id="13" name="Rounded Rectangle 12"/>
          <p:cNvSpPr/>
          <p:nvPr/>
        </p:nvSpPr>
        <p:spPr>
          <a:xfrm>
            <a:off x="4505960" y="23876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4" name="Rounded Rectangle 13"/>
          <p:cNvSpPr/>
          <p:nvPr/>
        </p:nvSpPr>
        <p:spPr>
          <a:xfrm>
            <a:off x="5623560" y="23876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5" name="Rounded Rectangle 14"/>
          <p:cNvSpPr/>
          <p:nvPr/>
        </p:nvSpPr>
        <p:spPr>
          <a:xfrm>
            <a:off x="6741159" y="23876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6" name="Rounded Rectangle 15"/>
          <p:cNvSpPr/>
          <p:nvPr/>
        </p:nvSpPr>
        <p:spPr>
          <a:xfrm>
            <a:off x="7858759" y="23876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7" name="TextBox 16"/>
          <p:cNvSpPr txBox="1"/>
          <p:nvPr/>
        </p:nvSpPr>
        <p:spPr>
          <a:xfrm>
            <a:off x="9052560" y="23749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v_wawi_flotte</a:t>
            </a:r>
          </a:p>
        </p:txBody>
      </p:sp>
      <p:sp>
        <p:nvSpPr>
          <p:cNvPr id="18" name="Rectangle 17"/>
          <p:cNvSpPr/>
          <p:nvPr/>
        </p:nvSpPr>
        <p:spPr>
          <a:xfrm>
            <a:off x="1153160" y="28956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28956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56360" y="29591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Stationen und Belegung</a:t>
            </a:r>
          </a:p>
        </p:txBody>
      </p:sp>
      <p:sp>
        <p:nvSpPr>
          <p:cNvPr id="21" name="Rounded Rectangle 20"/>
          <p:cNvSpPr/>
          <p:nvPr/>
        </p:nvSpPr>
        <p:spPr>
          <a:xfrm>
            <a:off x="4505960" y="29718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2" name="Rounded Rectangle 21"/>
          <p:cNvSpPr/>
          <p:nvPr/>
        </p:nvSpPr>
        <p:spPr>
          <a:xfrm>
            <a:off x="5623560" y="29718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3" name="Rounded Rectangle 22"/>
          <p:cNvSpPr/>
          <p:nvPr/>
        </p:nvSpPr>
        <p:spPr>
          <a:xfrm>
            <a:off x="6741159" y="29718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4" name="Rounded Rectangle 23"/>
          <p:cNvSpPr/>
          <p:nvPr/>
        </p:nvSpPr>
        <p:spPr>
          <a:xfrm>
            <a:off x="7858759" y="29718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5" name="TextBox 24"/>
          <p:cNvSpPr txBox="1"/>
          <p:nvPr/>
        </p:nvSpPr>
        <p:spPr>
          <a:xfrm>
            <a:off x="9052560" y="29591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v_wawi_station</a:t>
            </a:r>
          </a:p>
        </p:txBody>
      </p:sp>
      <p:sp>
        <p:nvSpPr>
          <p:cNvPr id="26" name="Rectangle 25"/>
          <p:cNvSpPr/>
          <p:nvPr/>
        </p:nvSpPr>
        <p:spPr>
          <a:xfrm>
            <a:off x="1153160" y="34798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53160" y="34798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56360" y="35433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Kundschaft, Stammdaten</a:t>
            </a:r>
          </a:p>
        </p:txBody>
      </p:sp>
      <p:sp>
        <p:nvSpPr>
          <p:cNvPr id="29" name="Rounded Rectangle 28"/>
          <p:cNvSpPr/>
          <p:nvPr/>
        </p:nvSpPr>
        <p:spPr>
          <a:xfrm>
            <a:off x="4505960" y="35560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0" name="Rounded Rectangle 29"/>
          <p:cNvSpPr/>
          <p:nvPr/>
        </p:nvSpPr>
        <p:spPr>
          <a:xfrm>
            <a:off x="5623560" y="35560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1" name="Rounded Rectangle 30"/>
          <p:cNvSpPr/>
          <p:nvPr/>
        </p:nvSpPr>
        <p:spPr>
          <a:xfrm>
            <a:off x="6741159" y="35560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2" name="Rounded Rectangle 31"/>
          <p:cNvSpPr/>
          <p:nvPr/>
        </p:nvSpPr>
        <p:spPr>
          <a:xfrm>
            <a:off x="7858759" y="35560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3" name="TextBox 32"/>
          <p:cNvSpPr txBox="1"/>
          <p:nvPr/>
        </p:nvSpPr>
        <p:spPr>
          <a:xfrm>
            <a:off x="9052560" y="35433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v_wawi_kunde, api_kunde_…</a:t>
            </a:r>
          </a:p>
        </p:txBody>
      </p:sp>
      <p:sp>
        <p:nvSpPr>
          <p:cNvPr id="34" name="Rectangle 33"/>
          <p:cNvSpPr/>
          <p:nvPr/>
        </p:nvSpPr>
        <p:spPr>
          <a:xfrm>
            <a:off x="1153160" y="40640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153160" y="40640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356360" y="41275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Schäden und Aufträge</a:t>
            </a:r>
          </a:p>
        </p:txBody>
      </p:sp>
      <p:sp>
        <p:nvSpPr>
          <p:cNvPr id="37" name="Rounded Rectangle 36"/>
          <p:cNvSpPr/>
          <p:nvPr/>
        </p:nvSpPr>
        <p:spPr>
          <a:xfrm>
            <a:off x="4505960" y="41402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8" name="Rounded Rectangle 37"/>
          <p:cNvSpPr/>
          <p:nvPr/>
        </p:nvSpPr>
        <p:spPr>
          <a:xfrm>
            <a:off x="5623560" y="41402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39" name="Rounded Rectangle 38"/>
          <p:cNvSpPr/>
          <p:nvPr/>
        </p:nvSpPr>
        <p:spPr>
          <a:xfrm>
            <a:off x="6741159" y="41402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0" name="Rounded Rectangle 39"/>
          <p:cNvSpPr/>
          <p:nvPr/>
        </p:nvSpPr>
        <p:spPr>
          <a:xfrm>
            <a:off x="7858759" y="41402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1" name="TextBox 40"/>
          <p:cNvSpPr txBox="1"/>
          <p:nvPr/>
        </p:nvSpPr>
        <p:spPr>
          <a:xfrm>
            <a:off x="9052560" y="41275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v_wawi_schaden, v_wawi_auftrag</a:t>
            </a:r>
          </a:p>
        </p:txBody>
      </p:sp>
      <p:sp>
        <p:nvSpPr>
          <p:cNvPr id="42" name="Rectangle 41"/>
          <p:cNvSpPr/>
          <p:nvPr/>
        </p:nvSpPr>
        <p:spPr>
          <a:xfrm>
            <a:off x="1153160" y="46482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153160" y="46482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56360" y="47117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Umsatz und Kennzahlen</a:t>
            </a:r>
          </a:p>
        </p:txBody>
      </p:sp>
      <p:sp>
        <p:nvSpPr>
          <p:cNvPr id="45" name="Rounded Rectangle 44"/>
          <p:cNvSpPr/>
          <p:nvPr/>
        </p:nvSpPr>
        <p:spPr>
          <a:xfrm>
            <a:off x="4505960" y="4724400"/>
            <a:ext cx="9906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6" name="Rounded Rectangle 45"/>
          <p:cNvSpPr/>
          <p:nvPr/>
        </p:nvSpPr>
        <p:spPr>
          <a:xfrm>
            <a:off x="5623560" y="47244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7" name="Rounded Rectangle 46"/>
          <p:cNvSpPr/>
          <p:nvPr/>
        </p:nvSpPr>
        <p:spPr>
          <a:xfrm>
            <a:off x="6741159" y="47244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8" name="Rounded Rectangle 47"/>
          <p:cNvSpPr/>
          <p:nvPr/>
        </p:nvSpPr>
        <p:spPr>
          <a:xfrm>
            <a:off x="7858759" y="47244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49" name="TextBox 48"/>
          <p:cNvSpPr txBox="1"/>
          <p:nvPr/>
        </p:nvSpPr>
        <p:spPr>
          <a:xfrm>
            <a:off x="9052560" y="47117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v_wawi_umsatz_…, v_wawi_km_co2</a:t>
            </a:r>
          </a:p>
        </p:txBody>
      </p:sp>
      <p:sp>
        <p:nvSpPr>
          <p:cNvPr id="50" name="Rectangle 49"/>
          <p:cNvSpPr/>
          <p:nvPr/>
        </p:nvSpPr>
        <p:spPr>
          <a:xfrm>
            <a:off x="1153160" y="5232400"/>
            <a:ext cx="11474450"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53160" y="5232400"/>
            <a:ext cx="508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356360" y="5295900"/>
            <a:ext cx="2921000" cy="381000"/>
          </a:xfrm>
          <a:prstGeom prst="rect">
            <a:avLst/>
          </a:prstGeom>
          <a:noFill/>
        </p:spPr>
        <p:txBody>
          <a:bodyPr wrap="square" lIns="0" tIns="0" rIns="0" bIns="0" anchor="ctr">
            <a:spAutoFit/>
          </a:bodyPr>
          <a:lstStyle/>
          <a:p>
            <a:pPr algn="l">
              <a:lnSpc>
                <a:spcPct val="95000"/>
              </a:lnSpc>
            </a:pPr>
            <a:r>
              <a:rPr sz="1300" b="1">
                <a:solidFill>
                  <a:srgbClr val="003E6E"/>
                </a:solidFill>
              </a:rPr>
              <a:t>Einzelfahrten mit Ort</a:t>
            </a:r>
          </a:p>
        </p:txBody>
      </p:sp>
      <p:sp>
        <p:nvSpPr>
          <p:cNvPr id="53" name="Rounded Rectangle 52"/>
          <p:cNvSpPr/>
          <p:nvPr/>
        </p:nvSpPr>
        <p:spPr>
          <a:xfrm>
            <a:off x="4505960" y="53086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54" name="Rounded Rectangle 53"/>
          <p:cNvSpPr/>
          <p:nvPr/>
        </p:nvSpPr>
        <p:spPr>
          <a:xfrm>
            <a:off x="5623560" y="53086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55" name="Rounded Rectangle 54"/>
          <p:cNvSpPr/>
          <p:nvPr/>
        </p:nvSpPr>
        <p:spPr>
          <a:xfrm>
            <a:off x="6741159" y="53086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56" name="Rounded Rectangle 55"/>
          <p:cNvSpPr/>
          <p:nvPr/>
        </p:nvSpPr>
        <p:spPr>
          <a:xfrm>
            <a:off x="7858759" y="5308600"/>
            <a:ext cx="9906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57" name="TextBox 56"/>
          <p:cNvSpPr txBox="1"/>
          <p:nvPr/>
        </p:nvSpPr>
        <p:spPr>
          <a:xfrm>
            <a:off x="9052560" y="5295900"/>
            <a:ext cx="3448050" cy="381000"/>
          </a:xfrm>
          <a:prstGeom prst="rect">
            <a:avLst/>
          </a:prstGeom>
          <a:noFill/>
        </p:spPr>
        <p:txBody>
          <a:bodyPr wrap="square" lIns="0" tIns="0" rIns="0" bIns="0" anchor="ctr">
            <a:spAutoFit/>
          </a:bodyPr>
          <a:lstStyle/>
          <a:p>
            <a:pPr algn="l">
              <a:lnSpc>
                <a:spcPct val="95000"/>
              </a:lnSpc>
            </a:pPr>
            <a:r>
              <a:rPr sz="1300" b="0">
                <a:solidFill>
                  <a:srgbClr val="555148"/>
                </a:solidFill>
              </a:rPr>
              <a:t>v_wawi_fahrt_km: für niemanden freigegeben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Arten von Sicht — und woran man sie erkennt</a:t>
            </a:r>
          </a:p>
        </p:txBody>
      </p:sp>
      <p:sp>
        <p:nvSpPr>
          <p:cNvPr id="3" name="Text Placeholder 2"/>
          <p:cNvSpPr>
            <a:spLocks noGrp="1"/>
          </p:cNvSpPr>
          <p:nvPr>
            <p:ph type="body" idx="12" sz="quarter"/>
          </p:nvPr>
        </p:nvSpPr>
        <p:spPr/>
        <p:txBody>
          <a:bodyPr/>
          <a:lstStyle/>
          <a:p>
            <a:r>
              <a:t>9 · Die Warenwirtschaft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Das Korn einer Sicht ist die Antwort auf die Frage: Wofür steht eine Zeile? Es unterscheidet die beiden Arten — und wer es vermischt, baut Sichten, die für beides zu langsam und für beides zu ungenau sind.</a:t>
            </a:r>
          </a:p>
        </p:txBody>
      </p:sp>
      <p:sp>
        <p:nvSpPr>
          <p:cNvPr id="6" name="Rectangle 5"/>
          <p:cNvSpPr/>
          <p:nvPr/>
        </p:nvSpPr>
        <p:spPr>
          <a:xfrm>
            <a:off x="1153160" y="2311400"/>
            <a:ext cx="5524500" cy="317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311400"/>
            <a:ext cx="50800" cy="317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425700"/>
            <a:ext cx="5194300" cy="2946400"/>
          </a:xfrm>
          <a:prstGeom prst="rect">
            <a:avLst/>
          </a:prstGeom>
          <a:noFill/>
        </p:spPr>
        <p:txBody>
          <a:bodyPr wrap="square" lIns="0" tIns="0" rIns="0" bIns="0">
            <a:spAutoFit/>
          </a:bodyPr>
          <a:lstStyle/>
          <a:p>
            <a:pPr algn="l">
              <a:lnSpc>
                <a:spcPct val="95000"/>
              </a:lnSpc>
            </a:pPr>
            <a:r>
              <a:rPr sz="1400" b="1">
                <a:solidFill>
                  <a:srgbClr val="003E6E"/>
                </a:solidFill>
              </a:rPr>
              <a:t>Arbeitssicht — ein Ding je Zeile</a:t>
            </a:r>
          </a:p>
          <a:p>
            <a:pPr algn="l">
              <a:lnSpc>
                <a:spcPct val="95000"/>
              </a:lnSpc>
              <a:spcBef>
                <a:spcPts val="200"/>
              </a:spcBef>
            </a:pPr>
            <a:r>
              <a:rPr sz="1300" b="0">
                <a:solidFill>
                  <a:srgbClr val="404040"/>
                </a:solidFill>
                <a:latin typeface="Consolas"/>
              </a:rPr>
              <a:t>v_wawi_flotte      ein Rad</a:t>
            </a:r>
          </a:p>
          <a:p>
            <a:pPr algn="l">
              <a:lnSpc>
                <a:spcPct val="95000"/>
              </a:lnSpc>
              <a:spcBef>
                <a:spcPts val="200"/>
              </a:spcBef>
            </a:pPr>
            <a:r>
              <a:rPr sz="1300" b="0">
                <a:solidFill>
                  <a:srgbClr val="404040"/>
                </a:solidFill>
                <a:latin typeface="Consolas"/>
              </a:rPr>
              <a:t>v_wawi_kunde       ein Kunde</a:t>
            </a:r>
          </a:p>
          <a:p>
            <a:pPr algn="l">
              <a:lnSpc>
                <a:spcPct val="95000"/>
              </a:lnSpc>
              <a:spcBef>
                <a:spcPts val="200"/>
              </a:spcBef>
            </a:pPr>
            <a:r>
              <a:rPr sz="1300" b="0">
                <a:solidFill>
                  <a:srgbClr val="404040"/>
                </a:solidFill>
                <a:latin typeface="Consolas"/>
              </a:rPr>
              <a:t>v_wawi_station     eine Station</a:t>
            </a:r>
          </a:p>
          <a:p>
            <a:pPr algn="l">
              <a:lnSpc>
                <a:spcPct val="95000"/>
              </a:lnSpc>
              <a:spcBef>
                <a:spcPts val="200"/>
              </a:spcBef>
            </a:pPr>
            <a:r>
              <a:rPr sz="1300" b="0">
                <a:solidFill>
                  <a:srgbClr val="404040"/>
                </a:solidFill>
                <a:latin typeface="Consolas"/>
              </a:rPr>
              <a:t>v_wawi_schaden     eine Meldung</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Korn:   das Objekt selbst</a:t>
            </a:r>
          </a:p>
          <a:p>
            <a:pPr algn="l">
              <a:lnSpc>
                <a:spcPct val="95000"/>
              </a:lnSpc>
              <a:spcBef>
                <a:spcPts val="200"/>
              </a:spcBef>
            </a:pPr>
            <a:r>
              <a:rPr sz="1300" b="0">
                <a:solidFill>
                  <a:srgbClr val="404040"/>
                </a:solidFill>
                <a:latin typeface="Consolas"/>
              </a:rPr>
              <a:t>Zweck:  suchen, öffnen, ändern</a:t>
            </a:r>
          </a:p>
          <a:p>
            <a:pPr algn="l">
              <a:lnSpc>
                <a:spcPct val="95000"/>
              </a:lnSpc>
              <a:spcBef>
                <a:spcPts val="200"/>
              </a:spcBef>
            </a:pPr>
            <a:r>
              <a:rPr sz="1300" b="0">
                <a:solidFill>
                  <a:srgbClr val="404040"/>
                </a:solidFill>
                <a:latin typeface="Consolas"/>
              </a:rPr>
              <a:t>Frage:  Wo steht Rad CB-00035?</a:t>
            </a:r>
          </a:p>
        </p:txBody>
      </p:sp>
      <p:sp>
        <p:nvSpPr>
          <p:cNvPr id="9" name="Rectangle 8"/>
          <p:cNvSpPr/>
          <p:nvPr/>
        </p:nvSpPr>
        <p:spPr>
          <a:xfrm>
            <a:off x="7096759" y="2311400"/>
            <a:ext cx="5524500" cy="317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311400"/>
            <a:ext cx="50800" cy="3175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425700"/>
            <a:ext cx="5194300" cy="2946400"/>
          </a:xfrm>
          <a:prstGeom prst="rect">
            <a:avLst/>
          </a:prstGeom>
          <a:noFill/>
        </p:spPr>
        <p:txBody>
          <a:bodyPr wrap="square" lIns="0" tIns="0" rIns="0" bIns="0">
            <a:spAutoFit/>
          </a:bodyPr>
          <a:lstStyle/>
          <a:p>
            <a:pPr algn="l">
              <a:lnSpc>
                <a:spcPct val="95000"/>
              </a:lnSpc>
            </a:pPr>
            <a:r>
              <a:rPr sz="1400" b="1">
                <a:solidFill>
                  <a:srgbClr val="55801C"/>
                </a:solidFill>
              </a:rPr>
              <a:t>Auswertungssicht — eine Gruppe je Zeile</a:t>
            </a:r>
          </a:p>
          <a:p>
            <a:pPr algn="l">
              <a:lnSpc>
                <a:spcPct val="95000"/>
              </a:lnSpc>
              <a:spcBef>
                <a:spcPts val="200"/>
              </a:spcBef>
            </a:pPr>
            <a:r>
              <a:rPr sz="1300" b="0">
                <a:solidFill>
                  <a:srgbClr val="404040"/>
                </a:solidFill>
                <a:latin typeface="Consolas"/>
              </a:rPr>
              <a:t>v_wawi_umsatz_radtyp     Monat × Typ</a:t>
            </a:r>
          </a:p>
          <a:p>
            <a:pPr algn="l">
              <a:lnSpc>
                <a:spcPct val="95000"/>
              </a:lnSpc>
              <a:spcBef>
                <a:spcPts val="200"/>
              </a:spcBef>
            </a:pPr>
            <a:r>
              <a:rPr sz="1300" b="0">
                <a:solidFill>
                  <a:srgbClr val="404040"/>
                </a:solidFill>
                <a:latin typeface="Consolas"/>
              </a:rPr>
              <a:t>v_wawi_fahrten_je_tag    Tag × Typ</a:t>
            </a:r>
          </a:p>
          <a:p>
            <a:pPr algn="l">
              <a:lnSpc>
                <a:spcPct val="95000"/>
              </a:lnSpc>
              <a:spcBef>
                <a:spcPts val="200"/>
              </a:spcBef>
            </a:pPr>
            <a:r>
              <a:rPr sz="1300" b="0">
                <a:solidFill>
                  <a:srgbClr val="404040"/>
                </a:solidFill>
                <a:latin typeface="Consolas"/>
              </a:rPr>
              <a:t>v_wawi_km_co2            Monat × Typ</a:t>
            </a:r>
          </a:p>
          <a:p>
            <a:pPr algn="l">
              <a:lnSpc>
                <a:spcPct val="95000"/>
              </a:lnSpc>
              <a:spcBef>
                <a:spcPts val="200"/>
              </a:spcBef>
            </a:pPr>
            <a:r>
              <a:rPr sz="1300" b="0">
                <a:solidFill>
                  <a:srgbClr val="404040"/>
                </a:solidFill>
                <a:latin typeface="Consolas"/>
              </a:rPr>
              <a:t>v_wawi_stationsauslastung  Station</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Korn:   die Gruppierung</a:t>
            </a:r>
          </a:p>
          <a:p>
            <a:pPr algn="l">
              <a:lnSpc>
                <a:spcPct val="95000"/>
              </a:lnSpc>
              <a:spcBef>
                <a:spcPts val="200"/>
              </a:spcBef>
            </a:pPr>
            <a:r>
              <a:rPr sz="1300" b="0">
                <a:solidFill>
                  <a:srgbClr val="404040"/>
                </a:solidFill>
                <a:latin typeface="Consolas"/>
              </a:rPr>
              <a:t>Zweck:  vergleichen, entscheiden</a:t>
            </a:r>
          </a:p>
          <a:p>
            <a:pPr algn="l">
              <a:lnSpc>
                <a:spcPct val="95000"/>
              </a:lnSpc>
              <a:spcBef>
                <a:spcPts val="200"/>
              </a:spcBef>
            </a:pPr>
            <a:r>
              <a:rPr sz="1300" b="0">
                <a:solidFill>
                  <a:srgbClr val="404040"/>
                </a:solidFill>
                <a:latin typeface="Consolas"/>
              </a:rPr>
              <a:t>Frage:  Welcher Typ trägt den Umsatz?</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 Das analytische Datenmodell</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Welche Frage stellt die Leitung — und welche Zeile beantwortet sie?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Fakten sind Ereignisse, Dimensionen sind Fragen</a:t>
            </a:r>
          </a:p>
        </p:txBody>
      </p:sp>
      <p:sp>
        <p:nvSpPr>
          <p:cNvPr id="3" name="Text Placeholder 2"/>
          <p:cNvSpPr>
            <a:spLocks noGrp="1"/>
          </p:cNvSpPr>
          <p:nvPr>
            <p:ph type="body" idx="12" sz="quarter"/>
          </p:nvPr>
        </p:nvSpPr>
        <p:spPr/>
        <p:txBody>
          <a:bodyPr/>
          <a:lstStyle/>
          <a:p>
            <a:r>
              <a:t>10 · Analytisches Modell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Fakt ist etwas, das passiert ist und sich zählen lässt. Eine Dimension ist die Richtung, aus der jemand darauf schaut.</a:t>
            </a:r>
          </a:p>
        </p:txBody>
      </p:sp>
      <p:sp>
        <p:nvSpPr>
          <p:cNvPr id="6" name="Rectangle 5"/>
          <p:cNvSpPr/>
          <p:nvPr/>
        </p:nvSpPr>
        <p:spPr>
          <a:xfrm>
            <a:off x="4144740" y="1778000"/>
            <a:ext cx="5491289" cy="269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nalytik-stern.png"/>
          <p:cNvPicPr>
            <a:picLocks noChangeAspect="1"/>
          </p:cNvPicPr>
          <p:nvPr/>
        </p:nvPicPr>
        <p:blipFill>
          <a:blip r:embed="rId2"/>
          <a:stretch>
            <a:fillRect/>
          </a:stretch>
        </p:blipFill>
        <p:spPr>
          <a:xfrm>
            <a:off x="4246340" y="1879600"/>
            <a:ext cx="5288089" cy="2489200"/>
          </a:xfrm>
          <a:prstGeom prst="rect">
            <a:avLst/>
          </a:prstGeom>
        </p:spPr>
      </p:pic>
      <p:sp>
        <p:nvSpPr>
          <p:cNvPr id="8" name="Rectangle 7"/>
          <p:cNvSpPr/>
          <p:nvPr/>
        </p:nvSpPr>
        <p:spPr>
          <a:xfrm>
            <a:off x="1153160" y="44958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4495800"/>
            <a:ext cx="50800" cy="1346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4622800"/>
            <a:ext cx="11093450" cy="1092200"/>
          </a:xfrm>
          <a:prstGeom prst="rect">
            <a:avLst/>
          </a:prstGeom>
          <a:noFill/>
        </p:spPr>
        <p:txBody>
          <a:bodyPr wrap="square" lIns="0" tIns="0" rIns="0" bIns="0">
            <a:spAutoFit/>
          </a:bodyPr>
          <a:lstStyle/>
          <a:p>
            <a:pPr algn="l">
              <a:lnSpc>
                <a:spcPct val="95000"/>
              </a:lnSpc>
            </a:pPr>
            <a:r>
              <a:rPr sz="1500" b="1">
                <a:solidFill>
                  <a:srgbClr val="003E6E"/>
                </a:solidFill>
              </a:rPr>
              <a:t>Keine dieser Dimensionen ist eine eigene Tabelle</a:t>
            </a:r>
          </a:p>
          <a:p>
            <a:pPr algn="l">
              <a:lnSpc>
                <a:spcPct val="95000"/>
              </a:lnSpc>
              <a:spcBef>
                <a:spcPts val="500"/>
              </a:spcBef>
            </a:pPr>
            <a:r>
              <a:rPr sz="1300" b="0">
                <a:solidFill>
                  <a:srgbClr val="404040"/>
                </a:solidFill>
              </a:rPr>
              <a:t>Zeit steckt in ausleihe.startzeit · Fahrradtyp in fahrrad → fahrradmodell · Station in start_station_id und end_station_id</a:t>
            </a:r>
          </a:p>
          <a:p>
            <a:pPr algn="l">
              <a:lnSpc>
                <a:spcPct val="95000"/>
              </a:lnSpc>
              <a:spcBef>
                <a:spcPts val="500"/>
              </a:spcBef>
            </a:pPr>
            <a:r>
              <a:rPr sz="1300" b="0">
                <a:solidFill>
                  <a:srgbClr val="404040"/>
                </a:solidFill>
              </a:rPr>
              <a:t>Tarifgruppe in kunde → mitgliedschaft → tarif · Wohnort in kunde → adresse. Die Warenwirtschaft benennt nur die Rollen und legt Sichten darüber.</a:t>
            </a:r>
          </a:p>
        </p:txBody>
      </p:sp>
      <p:sp>
        <p:nvSpPr>
          <p:cNvPr id="11" name="Rectangle 10"/>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Fahrt ist eine Faktenzeile — und taucht in jeder der vier Auswertungen auf.</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Auswertungen — und was sie tatsächlich messen</a:t>
            </a:r>
          </a:p>
        </p:txBody>
      </p:sp>
      <p:sp>
        <p:nvSpPr>
          <p:cNvPr id="3" name="Text Placeholder 2"/>
          <p:cNvSpPr>
            <a:spLocks noGrp="1"/>
          </p:cNvSpPr>
          <p:nvPr>
            <p:ph type="body" idx="12" sz="quarter"/>
          </p:nvPr>
        </p:nvSpPr>
        <p:spPr/>
        <p:txBody>
          <a:bodyPr/>
          <a:lstStyle/>
          <a:p>
            <a:r>
              <a:t>10 · Analytisches Modell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Jede Kennzahl braucht drei Angaben: woraus sie entsteht, worüber sie gruppiert und was sie NICHT sagt. Die dritte fehlt in der Praxis fast immer.</a:t>
            </a:r>
          </a:p>
        </p:txBody>
      </p:sp>
      <p:sp>
        <p:nvSpPr>
          <p:cNvPr id="6" name="Rectangle 5"/>
          <p:cNvSpPr/>
          <p:nvPr/>
        </p:nvSpPr>
        <p:spPr>
          <a:xfrm>
            <a:off x="1153160" y="2362200"/>
            <a:ext cx="29972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Auswertung</a:t>
            </a:r>
          </a:p>
        </p:txBody>
      </p:sp>
      <p:sp>
        <p:nvSpPr>
          <p:cNvPr id="7" name="Rectangle 6"/>
          <p:cNvSpPr/>
          <p:nvPr/>
        </p:nvSpPr>
        <p:spPr>
          <a:xfrm>
            <a:off x="4150360" y="2362200"/>
            <a:ext cx="14986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Maß</a:t>
            </a:r>
          </a:p>
        </p:txBody>
      </p:sp>
      <p:sp>
        <p:nvSpPr>
          <p:cNvPr id="8" name="Rectangle 7"/>
          <p:cNvSpPr/>
          <p:nvPr/>
        </p:nvSpPr>
        <p:spPr>
          <a:xfrm>
            <a:off x="5648960" y="2362200"/>
            <a:ext cx="24130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Gruppiert über</a:t>
            </a:r>
          </a:p>
        </p:txBody>
      </p:sp>
      <p:sp>
        <p:nvSpPr>
          <p:cNvPr id="9" name="Rectangle 8"/>
          <p:cNvSpPr/>
          <p:nvPr/>
        </p:nvSpPr>
        <p:spPr>
          <a:xfrm>
            <a:off x="8061959" y="2362200"/>
            <a:ext cx="456565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Sagt nichts über</a:t>
            </a:r>
          </a:p>
        </p:txBody>
      </p:sp>
      <p:sp>
        <p:nvSpPr>
          <p:cNvPr id="10" name="Rectangle 9"/>
          <p:cNvSpPr/>
          <p:nvPr/>
        </p:nvSpPr>
        <p:spPr>
          <a:xfrm>
            <a:off x="1153160" y="2794000"/>
            <a:ext cx="29972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Umsatz nach Radtyp</a:t>
            </a:r>
          </a:p>
        </p:txBody>
      </p:sp>
      <p:sp>
        <p:nvSpPr>
          <p:cNvPr id="11" name="Rectangle 10"/>
          <p:cNvSpPr/>
          <p:nvPr/>
        </p:nvSpPr>
        <p:spPr>
          <a:xfrm>
            <a:off x="4150360" y="2794000"/>
            <a:ext cx="14986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Σ betrag</a:t>
            </a:r>
          </a:p>
        </p:txBody>
      </p:sp>
      <p:sp>
        <p:nvSpPr>
          <p:cNvPr id="12" name="Rectangle 11"/>
          <p:cNvSpPr/>
          <p:nvPr/>
        </p:nvSpPr>
        <p:spPr>
          <a:xfrm>
            <a:off x="5648960" y="2794000"/>
            <a:ext cx="2413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Monat × Fahrradtyp</a:t>
            </a:r>
          </a:p>
        </p:txBody>
      </p:sp>
      <p:sp>
        <p:nvSpPr>
          <p:cNvPr id="13" name="Rectangle 12"/>
          <p:cNvSpPr/>
          <p:nvPr/>
        </p:nvSpPr>
        <p:spPr>
          <a:xfrm>
            <a:off x="8061959" y="2794000"/>
            <a:ext cx="456565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Kosten, also nicht Gewinn</a:t>
            </a:r>
          </a:p>
        </p:txBody>
      </p:sp>
      <p:sp>
        <p:nvSpPr>
          <p:cNvPr id="14" name="Rectangle 13"/>
          <p:cNvSpPr/>
          <p:nvPr/>
        </p:nvSpPr>
        <p:spPr>
          <a:xfrm>
            <a:off x="1153160" y="3225800"/>
            <a:ext cx="29972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Umsatz nach Kundengruppe</a:t>
            </a:r>
          </a:p>
        </p:txBody>
      </p:sp>
      <p:sp>
        <p:nvSpPr>
          <p:cNvPr id="15" name="Rectangle 14"/>
          <p:cNvSpPr/>
          <p:nvPr/>
        </p:nvSpPr>
        <p:spPr>
          <a:xfrm>
            <a:off x="4150360" y="3225800"/>
            <a:ext cx="14986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Σ betrag</a:t>
            </a:r>
          </a:p>
        </p:txBody>
      </p:sp>
      <p:sp>
        <p:nvSpPr>
          <p:cNvPr id="16" name="Rectangle 15"/>
          <p:cNvSpPr/>
          <p:nvPr/>
        </p:nvSpPr>
        <p:spPr>
          <a:xfrm>
            <a:off x="5648960" y="3225800"/>
            <a:ext cx="2413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Monat × Tarif</a:t>
            </a:r>
          </a:p>
        </p:txBody>
      </p:sp>
      <p:sp>
        <p:nvSpPr>
          <p:cNvPr id="17" name="Rectangle 16"/>
          <p:cNvSpPr/>
          <p:nvPr/>
        </p:nvSpPr>
        <p:spPr>
          <a:xfrm>
            <a:off x="8061959" y="3225800"/>
            <a:ext cx="456565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Kunden ohne Tarif</a:t>
            </a:r>
          </a:p>
        </p:txBody>
      </p:sp>
      <p:sp>
        <p:nvSpPr>
          <p:cNvPr id="18" name="Rectangle 17"/>
          <p:cNvSpPr/>
          <p:nvPr/>
        </p:nvSpPr>
        <p:spPr>
          <a:xfrm>
            <a:off x="1153160" y="3657600"/>
            <a:ext cx="29972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Kilometer und CO2</a:t>
            </a:r>
          </a:p>
        </p:txBody>
      </p:sp>
      <p:sp>
        <p:nvSpPr>
          <p:cNvPr id="19" name="Rectangle 18"/>
          <p:cNvSpPr/>
          <p:nvPr/>
        </p:nvSpPr>
        <p:spPr>
          <a:xfrm>
            <a:off x="4150360" y="3657600"/>
            <a:ext cx="14986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Σ kilometer</a:t>
            </a:r>
          </a:p>
        </p:txBody>
      </p:sp>
      <p:sp>
        <p:nvSpPr>
          <p:cNvPr id="20" name="Rectangle 19"/>
          <p:cNvSpPr/>
          <p:nvPr/>
        </p:nvSpPr>
        <p:spPr>
          <a:xfrm>
            <a:off x="5648960" y="3657600"/>
            <a:ext cx="241300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Monat × Typ</a:t>
            </a:r>
          </a:p>
        </p:txBody>
      </p:sp>
      <p:sp>
        <p:nvSpPr>
          <p:cNvPr id="21" name="Rectangle 20"/>
          <p:cNvSpPr/>
          <p:nvPr/>
        </p:nvSpPr>
        <p:spPr>
          <a:xfrm>
            <a:off x="8061959" y="3657600"/>
            <a:ext cx="4565650" cy="431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Strecken sind geschätzt</a:t>
            </a:r>
          </a:p>
        </p:txBody>
      </p:sp>
      <p:sp>
        <p:nvSpPr>
          <p:cNvPr id="22" name="Rectangle 21"/>
          <p:cNvSpPr/>
          <p:nvPr/>
        </p:nvSpPr>
        <p:spPr>
          <a:xfrm>
            <a:off x="1153160" y="4089400"/>
            <a:ext cx="29972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Stationsauslastung</a:t>
            </a:r>
          </a:p>
        </p:txBody>
      </p:sp>
      <p:sp>
        <p:nvSpPr>
          <p:cNvPr id="23" name="Rectangle 22"/>
          <p:cNvSpPr/>
          <p:nvPr/>
        </p:nvSpPr>
        <p:spPr>
          <a:xfrm>
            <a:off x="4150360" y="4089400"/>
            <a:ext cx="14986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Zu-/Abgang</a:t>
            </a:r>
          </a:p>
        </p:txBody>
      </p:sp>
      <p:sp>
        <p:nvSpPr>
          <p:cNvPr id="24" name="Rectangle 23"/>
          <p:cNvSpPr/>
          <p:nvPr/>
        </p:nvSpPr>
        <p:spPr>
          <a:xfrm>
            <a:off x="5648960" y="4089400"/>
            <a:ext cx="241300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Station</a:t>
            </a:r>
          </a:p>
        </p:txBody>
      </p:sp>
      <p:sp>
        <p:nvSpPr>
          <p:cNvPr id="25" name="Rectangle 24"/>
          <p:cNvSpPr/>
          <p:nvPr/>
        </p:nvSpPr>
        <p:spPr>
          <a:xfrm>
            <a:off x="8061959" y="4089400"/>
            <a:ext cx="4565650" cy="431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Warum umgesetzt wurde</a:t>
            </a:r>
          </a:p>
        </p:txBody>
      </p:sp>
      <p:sp>
        <p:nvSpPr>
          <p:cNvPr id="26" name="Rectangle 25"/>
          <p:cNvSpPr/>
          <p:nvPr/>
        </p:nvSpPr>
        <p:spPr>
          <a:xfrm>
            <a:off x="1153160" y="4724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56360" y="4800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vierte Spalte gehört auf jede Kennzahlenfolie. Eine Zahl ohne ihre Grenze wird als Antwort auf Fragen benutzt, die sie nicht beantwortet.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Monat bis zum einzelnen Rad in zwei Klicks</a:t>
            </a:r>
          </a:p>
        </p:txBody>
      </p:sp>
      <p:sp>
        <p:nvSpPr>
          <p:cNvPr id="3" name="Text Placeholder 2"/>
          <p:cNvSpPr>
            <a:spLocks noGrp="1"/>
          </p:cNvSpPr>
          <p:nvPr>
            <p:ph type="body" idx="12" sz="quarter"/>
          </p:nvPr>
        </p:nvSpPr>
        <p:spPr/>
        <p:txBody>
          <a:bodyPr/>
          <a:lstStyle/>
          <a:p>
            <a:r>
              <a:t>10 · Analytisches Modell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Drei Sichten, drei Körner. Jede Ebene beantwortet dieselbe Frage eine Stufe genauer — und jede ist eine eigene Sicht, nicht ein Filter auf derselben.</a:t>
            </a:r>
          </a:p>
        </p:txBody>
      </p:sp>
      <p:sp>
        <p:nvSpPr>
          <p:cNvPr id="6" name="Rectangle 5"/>
          <p:cNvSpPr/>
          <p:nvPr/>
        </p:nvSpPr>
        <p:spPr>
          <a:xfrm>
            <a:off x="1051560" y="1909251"/>
            <a:ext cx="11677649" cy="1845696"/>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nalytik-drilldown.png"/>
          <p:cNvPicPr>
            <a:picLocks noChangeAspect="1"/>
          </p:cNvPicPr>
          <p:nvPr/>
        </p:nvPicPr>
        <p:blipFill>
          <a:blip r:embed="rId2"/>
          <a:stretch>
            <a:fillRect/>
          </a:stretch>
        </p:blipFill>
        <p:spPr>
          <a:xfrm>
            <a:off x="1153160" y="2010851"/>
            <a:ext cx="11474449" cy="1642496"/>
          </a:xfrm>
          <a:prstGeom prst="rect">
            <a:avLst/>
          </a:prstGeom>
        </p:spPr>
      </p:pic>
      <p:sp>
        <p:nvSpPr>
          <p:cNvPr id="8" name="Rectangle 7"/>
          <p:cNvSpPr/>
          <p:nvPr/>
        </p:nvSpPr>
        <p:spPr>
          <a:xfrm>
            <a:off x="1153160" y="4064000"/>
            <a:ext cx="11474450" cy="11049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4064000"/>
            <a:ext cx="50800" cy="11049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4191000"/>
            <a:ext cx="11093450" cy="850900"/>
          </a:xfrm>
          <a:prstGeom prst="rect">
            <a:avLst/>
          </a:prstGeom>
          <a:noFill/>
        </p:spPr>
        <p:txBody>
          <a:bodyPr wrap="square" lIns="0" tIns="0" rIns="0" bIns="0">
            <a:spAutoFit/>
          </a:bodyPr>
          <a:lstStyle/>
          <a:p>
            <a:pPr algn="l">
              <a:lnSpc>
                <a:spcPct val="95000"/>
              </a:lnSpc>
            </a:pPr>
            <a:r>
              <a:rPr sz="1500" b="1">
                <a:solidFill>
                  <a:srgbClr val="003E6E"/>
                </a:solidFill>
              </a:rPr>
              <a:t>Warum drei Sichten und nicht eine mit Filter</a:t>
            </a:r>
          </a:p>
          <a:p>
            <a:pPr algn="l">
              <a:lnSpc>
                <a:spcPct val="95000"/>
              </a:lnSpc>
              <a:spcBef>
                <a:spcPts val="500"/>
              </a:spcBef>
            </a:pPr>
            <a:r>
              <a:rPr sz="1300" b="0">
                <a:solidFill>
                  <a:srgbClr val="404040"/>
                </a:solidFill>
              </a:rPr>
              <a:t>Eine Sicht hat genau ein Korn. Wer Monat, Tag und Rad in dieselbe Sicht legt, erzeugt Zeilen, die sich ohne doppeltes Zählen nicht mehr summieren lassen.</a:t>
            </a:r>
          </a:p>
        </p:txBody>
      </p:sp>
      <p:sp>
        <p:nvSpPr>
          <p:cNvPr id="11" name="Rectangle 10"/>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Zwei Klicks von „E-Bike, Oktober“ bis zu dem Rad, mit dem Anna gefahren 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Sichten statt Sternschema — und was das kostet</a:t>
            </a:r>
          </a:p>
        </p:txBody>
      </p:sp>
      <p:sp>
        <p:nvSpPr>
          <p:cNvPr id="3" name="Text Placeholder 2"/>
          <p:cNvSpPr>
            <a:spLocks noGrp="1"/>
          </p:cNvSpPr>
          <p:nvPr>
            <p:ph type="body" idx="12" sz="quarter"/>
          </p:nvPr>
        </p:nvSpPr>
        <p:spPr/>
        <p:txBody>
          <a:bodyPr/>
          <a:lstStyle/>
          <a:p>
            <a:r>
              <a:t>10 · Analytisches Modell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eigenes Sternschema mit nächtlicher Beladung wäre der Lehrbuchweg. Für diesen Fall ist er falsch — aber nicht immer.</a:t>
            </a:r>
          </a:p>
        </p:txBody>
      </p:sp>
      <p:sp>
        <p:nvSpPr>
          <p:cNvPr id="6" name="Rectangle 5"/>
          <p:cNvSpPr/>
          <p:nvPr/>
        </p:nvSpPr>
        <p:spPr>
          <a:xfrm>
            <a:off x="1153160" y="2286000"/>
            <a:ext cx="5524500" cy="3022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86000"/>
            <a:ext cx="50800" cy="3022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413000"/>
            <a:ext cx="5194300" cy="2768600"/>
          </a:xfrm>
          <a:prstGeom prst="rect">
            <a:avLst/>
          </a:prstGeom>
          <a:noFill/>
        </p:spPr>
        <p:txBody>
          <a:bodyPr wrap="square" lIns="0" tIns="0" rIns="0" bIns="0">
            <a:spAutoFit/>
          </a:bodyPr>
          <a:lstStyle/>
          <a:p>
            <a:pPr algn="l">
              <a:lnSpc>
                <a:spcPct val="95000"/>
              </a:lnSpc>
            </a:pPr>
            <a:r>
              <a:rPr sz="1500" b="1">
                <a:solidFill>
                  <a:srgbClr val="003E6E"/>
                </a:solidFill>
              </a:rPr>
              <a:t>Sternschema mit Beladung</a:t>
            </a:r>
          </a:p>
          <a:p>
            <a:pPr algn="l">
              <a:lnSpc>
                <a:spcPct val="95000"/>
              </a:lnSpc>
              <a:spcBef>
                <a:spcPts val="500"/>
              </a:spcBef>
            </a:pPr>
            <a:r>
              <a:rPr sz="1300" b="0">
                <a:solidFill>
                  <a:srgbClr val="404040"/>
                </a:solidFill>
              </a:rPr>
              <a:t>Eigene Fakten- und Dimensionstabellen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 Schnell auch bei sehr vielen Zeilen</a:t>
            </a:r>
          </a:p>
          <a:p>
            <a:pPr algn="l">
              <a:lnSpc>
                <a:spcPct val="95000"/>
              </a:lnSpc>
              <a:spcBef>
                <a:spcPts val="500"/>
              </a:spcBef>
            </a:pPr>
            <a:r>
              <a:rPr sz="1300" b="0">
                <a:solidFill>
                  <a:srgbClr val="404040"/>
                </a:solidFill>
              </a:rPr>
              <a:t>✓ Historie bleibt erhalten, wenn sich</a:t>
            </a:r>
          </a:p>
          <a:p>
            <a:pPr algn="l">
              <a:lnSpc>
                <a:spcPct val="95000"/>
              </a:lnSpc>
              <a:spcBef>
                <a:spcPts val="500"/>
              </a:spcBef>
            </a:pPr>
            <a:r>
              <a:rPr sz="1300" b="0">
                <a:solidFill>
                  <a:srgbClr val="404040"/>
                </a:solidFill>
              </a:rPr>
              <a:t>   Stammdaten später ändern</a:t>
            </a:r>
          </a:p>
          <a:p>
            <a:pPr algn="l">
              <a:lnSpc>
                <a:spcPct val="95000"/>
              </a:lnSpc>
              <a:spcBef>
                <a:spcPts val="500"/>
              </a:spcBef>
            </a:pPr>
            <a:r>
              <a:rPr sz="1300" b="0">
                <a:solidFill>
                  <a:srgbClr val="404040"/>
                </a:solidFill>
              </a:rPr>
              <a:t>× Zweite Kopie der Wahrheit</a:t>
            </a:r>
          </a:p>
          <a:p>
            <a:pPr algn="l">
              <a:lnSpc>
                <a:spcPct val="95000"/>
              </a:lnSpc>
              <a:spcBef>
                <a:spcPts val="500"/>
              </a:spcBef>
            </a:pPr>
            <a:r>
              <a:rPr sz="1300" b="0">
                <a:solidFill>
                  <a:srgbClr val="404040"/>
                </a:solidFill>
              </a:rPr>
              <a:t>× Beladung bauen und überwachen</a:t>
            </a:r>
          </a:p>
          <a:p>
            <a:pPr algn="l">
              <a:lnSpc>
                <a:spcPct val="95000"/>
              </a:lnSpc>
              <a:spcBef>
                <a:spcPts val="500"/>
              </a:spcBef>
            </a:pPr>
            <a:r>
              <a:rPr sz="1300" b="0">
                <a:solidFill>
                  <a:srgbClr val="404040"/>
                </a:solidFill>
              </a:rPr>
              <a:t>× Zahlen so alt wie der letzte Lauf</a:t>
            </a:r>
          </a:p>
        </p:txBody>
      </p:sp>
      <p:sp>
        <p:nvSpPr>
          <p:cNvPr id="9" name="Rectangle 8"/>
          <p:cNvSpPr/>
          <p:nvPr/>
        </p:nvSpPr>
        <p:spPr>
          <a:xfrm>
            <a:off x="7096759" y="2286000"/>
            <a:ext cx="5524500" cy="3022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286000"/>
            <a:ext cx="50800" cy="3022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413000"/>
            <a:ext cx="5194300" cy="2768600"/>
          </a:xfrm>
          <a:prstGeom prst="rect">
            <a:avLst/>
          </a:prstGeom>
          <a:noFill/>
        </p:spPr>
        <p:txBody>
          <a:bodyPr wrap="square" lIns="0" tIns="0" rIns="0" bIns="0">
            <a:spAutoFit/>
          </a:bodyPr>
          <a:lstStyle/>
          <a:p>
            <a:pPr algn="l">
              <a:lnSpc>
                <a:spcPct val="95000"/>
              </a:lnSpc>
            </a:pPr>
            <a:r>
              <a:rPr sz="1500" b="1">
                <a:solidFill>
                  <a:srgbClr val="003E6E"/>
                </a:solidFill>
              </a:rPr>
              <a:t>Sichten auf dem operativen Modell</a:t>
            </a:r>
          </a:p>
          <a:p>
            <a:pPr algn="l">
              <a:lnSpc>
                <a:spcPct val="95000"/>
              </a:lnSpc>
              <a:spcBef>
                <a:spcPts val="500"/>
              </a:spcBef>
            </a:pPr>
            <a:r>
              <a:rPr sz="1300" b="0">
                <a:solidFill>
                  <a:srgbClr val="404040"/>
                </a:solidFill>
              </a:rPr>
              <a:t>Was die Warenwirtschaft tut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 Keine Kopie, keine Beladung, kein Versatz</a:t>
            </a:r>
          </a:p>
          <a:p>
            <a:pPr algn="l">
              <a:lnSpc>
                <a:spcPct val="95000"/>
              </a:lnSpc>
              <a:spcBef>
                <a:spcPts val="500"/>
              </a:spcBef>
            </a:pPr>
            <a:r>
              <a:rPr sz="1300" b="0">
                <a:solidFill>
                  <a:srgbClr val="404040"/>
                </a:solidFill>
              </a:rPr>
              <a:t>✓ Jede Zahl so aktuell wie die Fahrt selbst</a:t>
            </a:r>
          </a:p>
          <a:p>
            <a:pPr algn="l">
              <a:lnSpc>
                <a:spcPct val="95000"/>
              </a:lnSpc>
              <a:spcBef>
                <a:spcPts val="500"/>
              </a:spcBef>
            </a:pPr>
            <a:r>
              <a:rPr sz="1300" b="0">
                <a:solidFill>
                  <a:srgbClr val="404040"/>
                </a:solidFill>
              </a:rPr>
              <a:t>✓ Eine Wahrheit, ein Schutzkonzept</a:t>
            </a:r>
          </a:p>
          <a:p>
            <a:pPr algn="l">
              <a:lnSpc>
                <a:spcPct val="95000"/>
              </a:lnSpc>
              <a:spcBef>
                <a:spcPts val="500"/>
              </a:spcBef>
            </a:pPr>
            <a:r>
              <a:rPr sz="1300" b="0">
                <a:solidFill>
                  <a:srgbClr val="404040"/>
                </a:solidFill>
              </a:rPr>
              <a:t>× Jede Abfrage rechnet neu</a:t>
            </a:r>
          </a:p>
          <a:p>
            <a:pPr algn="l">
              <a:lnSpc>
                <a:spcPct val="95000"/>
              </a:lnSpc>
              <a:spcBef>
                <a:spcPts val="500"/>
              </a:spcBef>
            </a:pPr>
            <a:r>
              <a:rPr sz="1300" b="0">
                <a:solidFill>
                  <a:srgbClr val="404040"/>
                </a:solidFill>
              </a:rPr>
              <a:t>× Bei 12 269 Ausleihen unkritisch,</a:t>
            </a:r>
          </a:p>
          <a:p>
            <a:pPr algn="l">
              <a:lnSpc>
                <a:spcPct val="95000"/>
              </a:lnSpc>
              <a:spcBef>
                <a:spcPts val="500"/>
              </a:spcBef>
            </a:pPr>
            <a:r>
              <a:rPr sz="1300" b="0">
                <a:solidFill>
                  <a:srgbClr val="404040"/>
                </a:solidFill>
              </a:rPr>
              <a:t>   bei Millionen nicht mehr</a:t>
            </a:r>
          </a:p>
        </p:txBody>
      </p:sp>
      <p:sp>
        <p:nvSpPr>
          <p:cNvPr id="12" name="Rectangle 11"/>
          <p:cNvSpPr/>
          <p:nvPr/>
        </p:nvSpPr>
        <p:spPr>
          <a:xfrm>
            <a:off x="1153160" y="53848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54610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Keine Spalte ist die richtige. Die Wahl hängt an Datenmenge und geforderter Aktualität — und dreht sich um, wenn eine davon sich ändert.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eine Stelle, an der geschätzt wird</a:t>
            </a:r>
          </a:p>
        </p:txBody>
      </p:sp>
      <p:sp>
        <p:nvSpPr>
          <p:cNvPr id="3" name="Text Placeholder 2"/>
          <p:cNvSpPr>
            <a:spLocks noGrp="1"/>
          </p:cNvSpPr>
          <p:nvPr>
            <p:ph type="body" idx="12" sz="quarter"/>
          </p:nvPr>
        </p:nvSpPr>
        <p:spPr/>
        <p:txBody>
          <a:bodyPr/>
          <a:lstStyle/>
          <a:p>
            <a:r>
              <a:t>10 · Analytisches Modell</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Datenbank kennt Start und Ziel, aber nicht den gefahrenen Weg. Für Kilometer und CO2 muss geschätzt werden — und genau das steht in den Daten.</a:t>
            </a:r>
          </a:p>
        </p:txBody>
      </p:sp>
      <p:sp>
        <p:nvSpPr>
          <p:cNvPr id="6" name="Rectangle 5"/>
          <p:cNvSpPr/>
          <p:nvPr/>
        </p:nvSpPr>
        <p:spPr>
          <a:xfrm>
            <a:off x="1153160" y="2311400"/>
            <a:ext cx="5524500" cy="2946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311400"/>
            <a:ext cx="50800" cy="294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425700"/>
            <a:ext cx="5194300" cy="2717800"/>
          </a:xfrm>
          <a:prstGeom prst="rect">
            <a:avLst/>
          </a:prstGeom>
          <a:noFill/>
        </p:spPr>
        <p:txBody>
          <a:bodyPr wrap="square" lIns="0" tIns="0" rIns="0" bIns="0">
            <a:spAutoFit/>
          </a:bodyPr>
          <a:lstStyle/>
          <a:p>
            <a:pPr algn="l">
              <a:lnSpc>
                <a:spcPct val="95000"/>
              </a:lnSpc>
            </a:pPr>
            <a:r>
              <a:rPr sz="1400" b="1">
                <a:solidFill>
                  <a:srgbClr val="003E6E"/>
                </a:solidFill>
              </a:rPr>
              <a:t>Was gemessen ist</a:t>
            </a:r>
          </a:p>
          <a:p>
            <a:pPr algn="l">
              <a:lnSpc>
                <a:spcPct val="95000"/>
              </a:lnSpc>
              <a:spcBef>
                <a:spcPts val="200"/>
              </a:spcBef>
            </a:pPr>
            <a:r>
              <a:rPr sz="1300" b="0">
                <a:solidFill>
                  <a:srgbClr val="404040"/>
                </a:solidFill>
                <a:latin typeface="Consolas"/>
              </a:rPr>
              <a:t>ausleihe.startzeit    Zeitstempel</a:t>
            </a:r>
          </a:p>
          <a:p>
            <a:pPr algn="l">
              <a:lnSpc>
                <a:spcPct val="95000"/>
              </a:lnSpc>
              <a:spcBef>
                <a:spcPts val="200"/>
              </a:spcBef>
            </a:pPr>
            <a:r>
              <a:rPr sz="1300" b="0">
                <a:solidFill>
                  <a:srgbClr val="404040"/>
                </a:solidFill>
                <a:latin typeface="Consolas"/>
              </a:rPr>
              <a:t>ausleihe.endzeit      Zeitstempel</a:t>
            </a:r>
          </a:p>
          <a:p>
            <a:pPr algn="l">
              <a:lnSpc>
                <a:spcPct val="95000"/>
              </a:lnSpc>
              <a:spcBef>
                <a:spcPts val="200"/>
              </a:spcBef>
            </a:pPr>
            <a:r>
              <a:rPr sz="1300" b="0">
                <a:solidFill>
                  <a:srgbClr val="404040"/>
                </a:solidFill>
                <a:latin typeface="Consolas"/>
              </a:rPr>
              <a:t>ausleihe.dauer_minuten  gerechnet</a:t>
            </a:r>
          </a:p>
          <a:p>
            <a:pPr algn="l">
              <a:lnSpc>
                <a:spcPct val="95000"/>
              </a:lnSpc>
              <a:spcBef>
                <a:spcPts val="200"/>
              </a:spcBef>
            </a:pPr>
            <a:r>
              <a:rPr sz="1300" b="0">
                <a:solidFill>
                  <a:srgbClr val="404040"/>
                </a:solidFill>
                <a:latin typeface="Consolas"/>
              </a:rPr>
              <a:t>entgeltposition.betrag  gebucht</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Diese Werte sind Belege.</a:t>
            </a:r>
          </a:p>
          <a:p>
            <a:pPr algn="l">
              <a:lnSpc>
                <a:spcPct val="95000"/>
              </a:lnSpc>
              <a:spcBef>
                <a:spcPts val="200"/>
              </a:spcBef>
            </a:pPr>
            <a:r>
              <a:rPr sz="1300" b="0">
                <a:solidFill>
                  <a:srgbClr val="404040"/>
                </a:solidFill>
                <a:latin typeface="Consolas"/>
              </a:rPr>
              <a:t>Sie stammen aus dem Vorgang selbst.</a:t>
            </a:r>
          </a:p>
        </p:txBody>
      </p:sp>
      <p:sp>
        <p:nvSpPr>
          <p:cNvPr id="9" name="Rectangle 8"/>
          <p:cNvSpPr/>
          <p:nvPr/>
        </p:nvSpPr>
        <p:spPr>
          <a:xfrm>
            <a:off x="7096759" y="2311400"/>
            <a:ext cx="5524500" cy="2946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2311400"/>
            <a:ext cx="50800" cy="29464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2425700"/>
            <a:ext cx="5194300" cy="2717800"/>
          </a:xfrm>
          <a:prstGeom prst="rect">
            <a:avLst/>
          </a:prstGeom>
          <a:noFill/>
        </p:spPr>
        <p:txBody>
          <a:bodyPr wrap="square" lIns="0" tIns="0" rIns="0" bIns="0">
            <a:spAutoFit/>
          </a:bodyPr>
          <a:lstStyle/>
          <a:p>
            <a:pPr algn="l">
              <a:lnSpc>
                <a:spcPct val="95000"/>
              </a:lnSpc>
            </a:pPr>
            <a:r>
              <a:rPr sz="1400" b="1">
                <a:solidFill>
                  <a:srgbClr val="A32638"/>
                </a:solidFill>
              </a:rPr>
              <a:t>Was geschätzt ist</a:t>
            </a:r>
          </a:p>
          <a:p>
            <a:pPr algn="l">
              <a:lnSpc>
                <a:spcPct val="95000"/>
              </a:lnSpc>
              <a:spcBef>
                <a:spcPts val="200"/>
              </a:spcBef>
            </a:pPr>
            <a:r>
              <a:rPr sz="1300" b="0">
                <a:solidFill>
                  <a:srgbClr val="404040"/>
                </a:solidFill>
                <a:latin typeface="Consolas"/>
              </a:rPr>
              <a:t>v_wawi_fahrt_km</a:t>
            </a:r>
          </a:p>
          <a:p>
            <a:pPr algn="l">
              <a:lnSpc>
                <a:spcPct val="95000"/>
              </a:lnSpc>
              <a:spcBef>
                <a:spcPts val="200"/>
              </a:spcBef>
            </a:pPr>
            <a:r>
              <a:rPr sz="1300" b="0">
                <a:solidFill>
                  <a:srgbClr val="404040"/>
                </a:solidFill>
                <a:latin typeface="Consolas"/>
              </a:rPr>
              <a:t>  km              Schätzwert</a:t>
            </a:r>
          </a:p>
          <a:p>
            <a:pPr algn="l">
              <a:lnSpc>
                <a:spcPct val="95000"/>
              </a:lnSpc>
              <a:spcBef>
                <a:spcPts val="200"/>
              </a:spcBef>
            </a:pPr>
            <a:r>
              <a:rPr sz="1300" b="0">
                <a:solidFill>
                  <a:srgbClr val="404040"/>
                </a:solidFill>
                <a:latin typeface="Consolas"/>
              </a:rPr>
              <a:t>  ist_geschaetzt  true / false</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Luftlinie × Umwegfaktor,</a:t>
            </a:r>
          </a:p>
          <a:p>
            <a:pPr algn="l">
              <a:lnSpc>
                <a:spcPct val="95000"/>
              </a:lnSpc>
              <a:spcBef>
                <a:spcPts val="200"/>
              </a:spcBef>
            </a:pPr>
            <a:r>
              <a:rPr sz="1300" b="0">
                <a:solidFill>
                  <a:srgbClr val="404040"/>
                </a:solidFill>
                <a:latin typeface="Consolas"/>
              </a:rPr>
              <a:t>wenn keine Strecke aufgezeichnet ist.</a:t>
            </a:r>
          </a:p>
          <a:p>
            <a:pPr algn="l">
              <a:lnSpc>
                <a:spcPct val="95000"/>
              </a:lnSpc>
              <a:spcBef>
                <a:spcPts val="200"/>
              </a:spcBef>
            </a:pPr>
            <a:r>
              <a:rPr sz="1300" b="0">
                <a:solidFill>
                  <a:srgbClr val="404040"/>
                </a:solidFill>
                <a:latin typeface="Consolas"/>
              </a:rPr>
              <a:t>Die Spalte sagt, welcher Fall vorliegt.</a:t>
            </a:r>
          </a:p>
        </p:txBody>
      </p:sp>
      <p:sp>
        <p:nvSpPr>
          <p:cNvPr id="12" name="Rectangle 11"/>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Eine Schätzung darf in eine Auswertung — aber sie muss sich als solche zu erkennen geben. Genau dafür ist ist_geschaetzt 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 Zwei Oberflächen, ein Weg</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kommt Annas Rad auf zwei verschiedene Bildschirme?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Weg, zwei Anwendungen, dieselbe Regel</a:t>
            </a:r>
          </a:p>
        </p:txBody>
      </p:sp>
      <p:sp>
        <p:nvSpPr>
          <p:cNvPr id="3" name="Text Placeholder 2"/>
          <p:cNvSpPr>
            <a:spLocks noGrp="1"/>
          </p:cNvSpPr>
          <p:nvPr>
            <p:ph type="body" idx="12" sz="quarter"/>
          </p:nvPr>
        </p:nvSpPr>
        <p:spPr/>
        <p:txBody>
          <a:bodyPr/>
          <a:lstStyle/>
          <a:p>
            <a:r>
              <a:t>11 · Zwei Oberflächen</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Beide Oberflächen sprechen dieselbe Schnittstelle an. Was sie unterscheidet, ist nicht der Weg, sondern die Rolle des angemeldeten Kontos.</a:t>
            </a:r>
          </a:p>
        </p:txBody>
      </p:sp>
      <p:sp>
        <p:nvSpPr>
          <p:cNvPr id="6" name="Rectangle 5"/>
          <p:cNvSpPr/>
          <p:nvPr/>
        </p:nvSpPr>
        <p:spPr>
          <a:xfrm>
            <a:off x="1051560" y="2307715"/>
            <a:ext cx="11677650" cy="3029968"/>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web-architektur.png"/>
          <p:cNvPicPr>
            <a:picLocks noChangeAspect="1"/>
          </p:cNvPicPr>
          <p:nvPr/>
        </p:nvPicPr>
        <p:blipFill>
          <a:blip r:embed="rId2"/>
          <a:stretch>
            <a:fillRect/>
          </a:stretch>
        </p:blipFill>
        <p:spPr>
          <a:xfrm>
            <a:off x="1153160" y="2409315"/>
            <a:ext cx="11474450" cy="2826768"/>
          </a:xfrm>
          <a:prstGeom prst="rect">
            <a:avLst/>
          </a:prstGeom>
        </p:spPr>
      </p:pic>
      <p:sp>
        <p:nvSpPr>
          <p:cNvPr id="8" name="Rectangle 7"/>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 und die Werkstatt fragen dieselbe Adresse — und bekommen verschiedene Zeilen.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Warenwirtschaft anders macht</a:t>
            </a:r>
          </a:p>
        </p:txBody>
      </p:sp>
      <p:sp>
        <p:nvSpPr>
          <p:cNvPr id="3" name="Text Placeholder 2"/>
          <p:cNvSpPr>
            <a:spLocks noGrp="1"/>
          </p:cNvSpPr>
          <p:nvPr>
            <p:ph type="body" idx="12" sz="quarter"/>
          </p:nvPr>
        </p:nvSpPr>
        <p:spPr/>
        <p:txBody>
          <a:bodyPr/>
          <a:lstStyle/>
          <a:p>
            <a:r>
              <a:t>11 · Zwei Oberflächen</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Dieselbe Datenbank, andere Aufgabe — und daraus folgen vier Unterschiede, die man am Modell ablesen kann.</a:t>
            </a:r>
          </a:p>
        </p:txBody>
      </p:sp>
      <p:sp>
        <p:nvSpPr>
          <p:cNvPr id="6" name="Rectangle 5"/>
          <p:cNvSpPr/>
          <p:nvPr/>
        </p:nvSpPr>
        <p:spPr>
          <a:xfrm>
            <a:off x="1153160" y="2413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413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590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2489200"/>
            <a:ext cx="7791450" cy="533400"/>
          </a:xfrm>
          <a:prstGeom prst="rect">
            <a:avLst/>
          </a:prstGeom>
          <a:noFill/>
        </p:spPr>
        <p:txBody>
          <a:bodyPr wrap="square" lIns="0" tIns="0" rIns="0" bIns="0" anchor="ctr">
            <a:spAutoFit/>
          </a:bodyPr>
          <a:lstStyle/>
          <a:p>
            <a:pPr>
              <a:lnSpc>
                <a:spcPct val="95000"/>
              </a:lnSpc>
            </a:pPr>
            <a:r>
              <a:rPr sz="1300" b="1">
                <a:solidFill>
                  <a:srgbClr val="003E6E"/>
                </a:solidFill>
              </a:rPr>
              <a:t>Vorgangsklammer  </a:t>
            </a:r>
            <a:r>
              <a:rPr sz="1300">
                <a:solidFill>
                  <a:srgbClr val="404040"/>
                </a:solidFill>
              </a:rPr>
              <a:t>Jede Änderung gehört zu einem Vorgang und ist ihm zuzuordnen</a:t>
            </a:r>
          </a:p>
        </p:txBody>
      </p:sp>
      <p:sp>
        <p:nvSpPr>
          <p:cNvPr id="10" name="Rounded Rectangle 9"/>
          <p:cNvSpPr/>
          <p:nvPr/>
        </p:nvSpPr>
        <p:spPr>
          <a:xfrm>
            <a:off x="9808210" y="2527300"/>
            <a:ext cx="2667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neuerVorgang()</a:t>
            </a:r>
          </a:p>
        </p:txBody>
      </p:sp>
      <p:sp>
        <p:nvSpPr>
          <p:cNvPr id="11" name="Rectangle 10"/>
          <p:cNvSpPr/>
          <p:nvPr/>
        </p:nvSpPr>
        <p:spPr>
          <a:xfrm>
            <a:off x="1153160" y="32258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32258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30960" y="34036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4" name="TextBox 13"/>
          <p:cNvSpPr txBox="1"/>
          <p:nvPr/>
        </p:nvSpPr>
        <p:spPr>
          <a:xfrm>
            <a:off x="1788160" y="3302000"/>
            <a:ext cx="7791450" cy="533400"/>
          </a:xfrm>
          <a:prstGeom prst="rect">
            <a:avLst/>
          </a:prstGeom>
          <a:noFill/>
        </p:spPr>
        <p:txBody>
          <a:bodyPr wrap="square" lIns="0" tIns="0" rIns="0" bIns="0" anchor="ctr">
            <a:spAutoFit/>
          </a:bodyPr>
          <a:lstStyle/>
          <a:p>
            <a:pPr>
              <a:lnSpc>
                <a:spcPct val="95000"/>
              </a:lnSpc>
            </a:pPr>
            <a:r>
              <a:rPr sz="1300" b="1">
                <a:solidFill>
                  <a:srgbClr val="003E6E"/>
                </a:solidFill>
              </a:rPr>
              <a:t>Änderungsprotokoll  </a:t>
            </a:r>
            <a:r>
              <a:rPr sz="1300">
                <a:solidFill>
                  <a:srgbClr val="404040"/>
                </a:solidFill>
              </a:rPr>
              <a:t>Wer hat wann was geändert — die Datenbank schreibt mit</a:t>
            </a:r>
          </a:p>
        </p:txBody>
      </p:sp>
      <p:sp>
        <p:nvSpPr>
          <p:cNvPr id="15" name="Rounded Rectangle 14"/>
          <p:cNvSpPr/>
          <p:nvPr/>
        </p:nvSpPr>
        <p:spPr>
          <a:xfrm>
            <a:off x="9808210" y="3340100"/>
            <a:ext cx="2667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aenderungsprotokoll</a:t>
            </a:r>
          </a:p>
        </p:txBody>
      </p:sp>
      <p:sp>
        <p:nvSpPr>
          <p:cNvPr id="16" name="Rectangle 15"/>
          <p:cNvSpPr/>
          <p:nvPr/>
        </p:nvSpPr>
        <p:spPr>
          <a:xfrm>
            <a:off x="1153160" y="4038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53160" y="4038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330960" y="4216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9" name="TextBox 18"/>
          <p:cNvSpPr txBox="1"/>
          <p:nvPr/>
        </p:nvSpPr>
        <p:spPr>
          <a:xfrm>
            <a:off x="1788160" y="4114800"/>
            <a:ext cx="7791450" cy="533400"/>
          </a:xfrm>
          <a:prstGeom prst="rect">
            <a:avLst/>
          </a:prstGeom>
          <a:noFill/>
        </p:spPr>
        <p:txBody>
          <a:bodyPr wrap="square" lIns="0" tIns="0" rIns="0" bIns="0" anchor="ctr">
            <a:spAutoFit/>
          </a:bodyPr>
          <a:lstStyle/>
          <a:p>
            <a:pPr>
              <a:lnSpc>
                <a:spcPct val="95000"/>
              </a:lnSpc>
            </a:pPr>
            <a:r>
              <a:rPr sz="1300" b="1">
                <a:solidFill>
                  <a:srgbClr val="003E6E"/>
                </a:solidFill>
              </a:rPr>
              <a:t>Rolle statt Besitz  </a:t>
            </a:r>
            <a:r>
              <a:rPr sz="1300">
                <a:solidFill>
                  <a:srgbClr val="404040"/>
                </a:solidFill>
              </a:rPr>
              <a:t>Nicht „meine Zeilen“, sondern „Zeilen meiner Aufgabe“</a:t>
            </a:r>
          </a:p>
        </p:txBody>
      </p:sp>
      <p:sp>
        <p:nvSpPr>
          <p:cNvPr id="20" name="Rounded Rectangle 19"/>
          <p:cNvSpPr/>
          <p:nvPr/>
        </p:nvSpPr>
        <p:spPr>
          <a:xfrm>
            <a:off x="9808210" y="4152900"/>
            <a:ext cx="2667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hat_rolle('werkstatt')</a:t>
            </a:r>
          </a:p>
        </p:txBody>
      </p:sp>
      <p:sp>
        <p:nvSpPr>
          <p:cNvPr id="21" name="Rectangle 20"/>
          <p:cNvSpPr/>
          <p:nvPr/>
        </p:nvSpPr>
        <p:spPr>
          <a:xfrm>
            <a:off x="1153160" y="4851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53160" y="4851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330960" y="5029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4" name="TextBox 23"/>
          <p:cNvSpPr txBox="1"/>
          <p:nvPr/>
        </p:nvSpPr>
        <p:spPr>
          <a:xfrm>
            <a:off x="1788160" y="4927600"/>
            <a:ext cx="7791450" cy="533400"/>
          </a:xfrm>
          <a:prstGeom prst="rect">
            <a:avLst/>
          </a:prstGeom>
          <a:noFill/>
        </p:spPr>
        <p:txBody>
          <a:bodyPr wrap="square" lIns="0" tIns="0" rIns="0" bIns="0" anchor="ctr">
            <a:spAutoFit/>
          </a:bodyPr>
          <a:lstStyle/>
          <a:p>
            <a:pPr>
              <a:lnSpc>
                <a:spcPct val="95000"/>
              </a:lnSpc>
            </a:pPr>
            <a:r>
              <a:rPr sz="1300" b="1">
                <a:solidFill>
                  <a:srgbClr val="003E6E"/>
                </a:solidFill>
              </a:rPr>
              <a:t>Kein Löschen  </a:t>
            </a:r>
            <a:r>
              <a:rPr sz="1300">
                <a:solidFill>
                  <a:srgbClr val="404040"/>
                </a:solidFill>
              </a:rPr>
              <a:t>Ausgemustert ist ein Zustand, keine gelöschte Zeile</a:t>
            </a:r>
          </a:p>
        </p:txBody>
      </p:sp>
      <p:sp>
        <p:nvSpPr>
          <p:cNvPr id="25" name="Rounded Rectangle 24"/>
          <p:cNvSpPr/>
          <p:nvPr/>
        </p:nvSpPr>
        <p:spPr>
          <a:xfrm>
            <a:off x="9808210" y="4965700"/>
            <a:ext cx="2667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status = 'ausgemustert'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 Der Agent an der Warenwirtschaft</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ändert sich, wenn nicht mehr ein Mensch klickt, sondern ein Programm?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drittes Vorderteil, ohne eine Zeile am Modell</a:t>
            </a:r>
          </a:p>
        </p:txBody>
      </p:sp>
      <p:sp>
        <p:nvSpPr>
          <p:cNvPr id="3" name="Text Placeholder 2"/>
          <p:cNvSpPr>
            <a:spLocks noGrp="1"/>
          </p:cNvSpPr>
          <p:nvPr>
            <p:ph type="body" idx="12" sz="quarter"/>
          </p:nvPr>
        </p:nvSpPr>
        <p:spPr/>
        <p:txBody>
          <a:bodyPr/>
          <a:lstStyle/>
          <a:p>
            <a:r>
              <a:t>12 · Der Agent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Beide Oberflächen sprechen die Datenbank ausschließlich über Sichten und api_-Funktionen an. Ein Programm kann denselben Weg gehen — am Modell war dafür nichts zu ändern.</a:t>
            </a:r>
          </a:p>
        </p:txBody>
      </p:sp>
      <p:sp>
        <p:nvSpPr>
          <p:cNvPr id="6" name="Rectangle 5"/>
          <p:cNvSpPr/>
          <p:nvPr/>
        </p:nvSpPr>
        <p:spPr>
          <a:xfrm>
            <a:off x="1153160" y="1879600"/>
            <a:ext cx="11474450" cy="63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Kundenwebsite · Warenwirtschaft · Programm eines Agenten</a:t>
            </a:r>
          </a:p>
        </p:txBody>
      </p:sp>
      <p:sp>
        <p:nvSpPr>
          <p:cNvPr id="7" name="Isosceles Triangle 6"/>
          <p:cNvSpPr/>
          <p:nvPr/>
        </p:nvSpPr>
        <p:spPr>
          <a:xfrm rot="10800000">
            <a:off x="6801484" y="2527300"/>
            <a:ext cx="177800" cy="1016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2641600"/>
            <a:ext cx="11474450" cy="63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Eine Adresse für alle drei</a:t>
            </a:r>
          </a:p>
        </p:txBody>
      </p:sp>
      <p:sp>
        <p:nvSpPr>
          <p:cNvPr id="9" name="Isosceles Triangle 8"/>
          <p:cNvSpPr/>
          <p:nvPr/>
        </p:nvSpPr>
        <p:spPr>
          <a:xfrm rot="10800000">
            <a:off x="6801484" y="3289300"/>
            <a:ext cx="177800" cy="1016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3403600"/>
            <a:ext cx="11474450" cy="63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21 Sichten zum Lesen, 23 api_-Funktionen zum Schreiben</a:t>
            </a:r>
          </a:p>
        </p:txBody>
      </p:sp>
      <p:sp>
        <p:nvSpPr>
          <p:cNvPr id="11" name="Isosceles Triangle 10"/>
          <p:cNvSpPr/>
          <p:nvPr/>
        </p:nvSpPr>
        <p:spPr>
          <a:xfrm rot="10800000">
            <a:off x="6801484" y="4051300"/>
            <a:ext cx="177800" cy="1016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4165600"/>
            <a:ext cx="11474450" cy="63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Row Level Security und hat_rolle() — hier fällt die Entscheidung</a:t>
            </a:r>
          </a:p>
        </p:txBody>
      </p:sp>
      <p:sp>
        <p:nvSpPr>
          <p:cNvPr id="13" name="Isosceles Triangle 12"/>
          <p:cNvSpPr/>
          <p:nvPr/>
        </p:nvSpPr>
        <p:spPr>
          <a:xfrm rot="10800000">
            <a:off x="6801484" y="4813300"/>
            <a:ext cx="177800" cy="1016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4927600"/>
            <a:ext cx="11474450" cy="63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Die Tabellen darunter: für keinen der drei erreichbar</a:t>
            </a:r>
          </a:p>
        </p:txBody>
      </p:sp>
      <p:sp>
        <p:nvSpPr>
          <p:cNvPr id="15" name="Rectangle 14"/>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Annas Rad steht in einer Zeile — der Browser und das Programm lesen dieselbe.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Woher das Programm seine Rechte bekommt</a:t>
            </a:r>
          </a:p>
        </p:txBody>
      </p:sp>
      <p:sp>
        <p:nvSpPr>
          <p:cNvPr id="3" name="Text Placeholder 2"/>
          <p:cNvSpPr>
            <a:spLocks noGrp="1"/>
          </p:cNvSpPr>
          <p:nvPr>
            <p:ph type="body" idx="12" sz="quarter"/>
          </p:nvPr>
        </p:nvSpPr>
        <p:spPr/>
        <p:txBody>
          <a:bodyPr/>
          <a:lstStyle/>
          <a:p>
            <a:r>
              <a:t>12 · Der Agent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 Programm, das die Warenwirtschaft bedienen soll, braucht Rechte. Die naheliegende Antwort ist die falsche.</a:t>
            </a:r>
          </a:p>
        </p:txBody>
      </p:sp>
      <p:sp>
        <p:nvSpPr>
          <p:cNvPr id="6" name="Rectangle 5"/>
          <p:cNvSpPr/>
          <p:nvPr/>
        </p:nvSpPr>
        <p:spPr>
          <a:xfrm>
            <a:off x="1153160" y="1651000"/>
            <a:ext cx="552450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Der naive Weg</a:t>
            </a:r>
          </a:p>
        </p:txBody>
      </p:sp>
      <p:sp>
        <p:nvSpPr>
          <p:cNvPr id="9" name="TextBox 8"/>
          <p:cNvSpPr txBox="1"/>
          <p:nvPr/>
        </p:nvSpPr>
        <p:spPr>
          <a:xfrm>
            <a:off x="1330960" y="2159000"/>
            <a:ext cx="5194300" cy="1727200"/>
          </a:xfrm>
          <a:prstGeom prst="rect">
            <a:avLst/>
          </a:prstGeom>
          <a:noFill/>
        </p:spPr>
        <p:txBody>
          <a:bodyPr wrap="square" lIns="0" tIns="0" rIns="0" bIns="0">
            <a:spAutoFit/>
          </a:bodyPr>
          <a:lstStyle/>
          <a:p>
            <a:pPr algn="l">
              <a:lnSpc>
                <a:spcPct val="95000"/>
              </a:lnSpc>
            </a:pPr>
            <a:r>
              <a:rPr sz="1400" b="1">
                <a:solidFill>
                  <a:srgbClr val="A32638"/>
                </a:solidFill>
              </a:rPr>
              <a:t>Ein eigener Zugang für das Programm</a:t>
            </a:r>
          </a:p>
          <a:p>
            <a:pPr algn="l">
              <a:lnSpc>
                <a:spcPct val="95000"/>
              </a:lnSpc>
              <a:spcBef>
                <a:spcPts val="300"/>
              </a:spcBef>
            </a:pPr>
            <a:r>
              <a:rPr sz="1300" b="0">
                <a:solidFill>
                  <a:srgbClr val="404040"/>
                </a:solidFill>
              </a:rPr>
              <a:t>Ein Dienstschlüssel, der an der Row Level Security vorbeikommt</a:t>
            </a:r>
          </a:p>
          <a:p>
            <a:pPr algn="l">
              <a:lnSpc>
                <a:spcPct val="95000"/>
              </a:lnSpc>
              <a:spcBef>
                <a:spcPts val="300"/>
              </a:spcBef>
            </a:pPr>
            <a:r>
              <a:rPr sz="1300" b="0">
                <a:solidFill>
                  <a:srgbClr val="404040"/>
                </a:solidFill>
              </a:rPr>
              <a:t>Die Rechteprüfung steht im Programm — und ist dort änderbar</a:t>
            </a:r>
          </a:p>
          <a:p>
            <a:pPr algn="l">
              <a:lnSpc>
                <a:spcPct val="95000"/>
              </a:lnSpc>
              <a:spcBef>
                <a:spcPts val="300"/>
              </a:spcBef>
            </a:pPr>
            <a:r>
              <a:rPr sz="1300" b="0">
                <a:solidFill>
                  <a:srgbClr val="404040"/>
                </a:solidFill>
              </a:rPr>
              <a:t>Im Protokoll steht kein Name, die Änderung kam „vom System“</a:t>
            </a:r>
          </a:p>
          <a:p>
            <a:pPr algn="l">
              <a:lnSpc>
                <a:spcPct val="95000"/>
              </a:lnSpc>
              <a:spcBef>
                <a:spcPts val="300"/>
              </a:spcBef>
            </a:pPr>
            <a:r>
              <a:rPr sz="1300" b="0">
                <a:solidFill>
                  <a:srgbClr val="404040"/>
                </a:solidFill>
              </a:rPr>
              <a:t>Weniger erlauben heißt: Programmcode ändern</a:t>
            </a:r>
          </a:p>
        </p:txBody>
      </p:sp>
      <p:sp>
        <p:nvSpPr>
          <p:cNvPr id="10" name="Rectangle 9"/>
          <p:cNvSpPr/>
          <p:nvPr/>
        </p:nvSpPr>
        <p:spPr>
          <a:xfrm>
            <a:off x="7096759" y="1651000"/>
            <a:ext cx="552450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Der gewählte Weg</a:t>
            </a:r>
          </a:p>
        </p:txBody>
      </p:sp>
      <p:sp>
        <p:nvSpPr>
          <p:cNvPr id="13" name="TextBox 12"/>
          <p:cNvSpPr txBox="1"/>
          <p:nvPr/>
        </p:nvSpPr>
        <p:spPr>
          <a:xfrm>
            <a:off x="7274559" y="2159000"/>
            <a:ext cx="5194300" cy="1727200"/>
          </a:xfrm>
          <a:prstGeom prst="rect">
            <a:avLst/>
          </a:prstGeom>
          <a:noFill/>
        </p:spPr>
        <p:txBody>
          <a:bodyPr wrap="square" lIns="0" tIns="0" rIns="0" bIns="0">
            <a:spAutoFit/>
          </a:bodyPr>
          <a:lstStyle/>
          <a:p>
            <a:pPr algn="l">
              <a:lnSpc>
                <a:spcPct val="95000"/>
              </a:lnSpc>
            </a:pPr>
            <a:r>
              <a:rPr sz="1400" b="1">
                <a:solidFill>
                  <a:srgbClr val="55801C"/>
                </a:solidFill>
              </a:rPr>
              <a:t>Ein Konto wie jedes andere</a:t>
            </a:r>
          </a:p>
          <a:p>
            <a:pPr algn="l">
              <a:lnSpc>
                <a:spcPct val="95000"/>
              </a:lnSpc>
              <a:spcBef>
                <a:spcPts val="300"/>
              </a:spcBef>
            </a:pPr>
            <a:r>
              <a:rPr sz="1300" b="0">
                <a:solidFill>
                  <a:srgbClr val="404040"/>
                </a:solidFill>
              </a:rPr>
              <a:t>Anmeldung mit E-Mail und Passwort, wie bei jedem Mitarbeitenden</a:t>
            </a:r>
          </a:p>
          <a:p>
            <a:pPr algn="l">
              <a:lnSpc>
                <a:spcPct val="95000"/>
              </a:lnSpc>
              <a:spcBef>
                <a:spcPts val="300"/>
              </a:spcBef>
            </a:pPr>
            <a:r>
              <a:rPr sz="1300" b="0">
                <a:solidFill>
                  <a:srgbClr val="404040"/>
                </a:solidFill>
              </a:rPr>
              <a:t>Die Fachrollen hängen am Mitarbeitersatz — mehr hat es nicht</a:t>
            </a:r>
          </a:p>
          <a:p>
            <a:pPr algn="l">
              <a:lnSpc>
                <a:spcPct val="95000"/>
              </a:lnSpc>
              <a:spcBef>
                <a:spcPts val="300"/>
              </a:spcBef>
            </a:pPr>
            <a:r>
              <a:rPr sz="1300" b="0">
                <a:solidFill>
                  <a:srgbClr val="404040"/>
                </a:solidFill>
              </a:rPr>
              <a:t>hat_rolle() entscheidet in der Sicht, nicht im Programm</a:t>
            </a:r>
          </a:p>
          <a:p>
            <a:pPr algn="l">
              <a:lnSpc>
                <a:spcPct val="95000"/>
              </a:lnSpc>
              <a:spcBef>
                <a:spcPts val="300"/>
              </a:spcBef>
            </a:pPr>
            <a:r>
              <a:rPr sz="1300" b="0">
                <a:solidFill>
                  <a:srgbClr val="404040"/>
                </a:solidFill>
              </a:rPr>
              <a:t>Jede Änderung trägt die Personalnummer des Agentenkontos</a:t>
            </a:r>
          </a:p>
        </p:txBody>
      </p:sp>
      <p:sp>
        <p:nvSpPr>
          <p:cNvPr id="14" name="Rectangle 13"/>
          <p:cNvSpPr/>
          <p:nvPr/>
        </p:nvSpPr>
        <p:spPr>
          <a:xfrm>
            <a:off x="1153160" y="4953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5029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Im Programm steht keine einzige Rechteprüfung. Wer dem Agenten weniger erlauben will, nimmt seinem Konto eine Rolle weg — nicht seiner Aufgabenbeschreibung.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Einundzwanzig Werkzeuge — und sieben, die mit Absicht fehlen</a:t>
            </a:r>
          </a:p>
        </p:txBody>
      </p:sp>
      <p:sp>
        <p:nvSpPr>
          <p:cNvPr id="3" name="Text Placeholder 2"/>
          <p:cNvSpPr>
            <a:spLocks noGrp="1"/>
          </p:cNvSpPr>
          <p:nvPr>
            <p:ph type="body" idx="12" sz="quarter"/>
          </p:nvPr>
        </p:nvSpPr>
        <p:spPr/>
        <p:txBody>
          <a:bodyPr/>
          <a:lstStyle/>
          <a:p>
            <a:r>
              <a:t>12 · Der Agent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Das Programm bietet genau die Funktionen an, die auch die Warenwirtschaft benutzt. Was fehlt, fehlt aus einem Grund, den man am Modell ablesen kann.</a:t>
            </a:r>
          </a:p>
        </p:txBody>
      </p:sp>
      <p:sp>
        <p:nvSpPr>
          <p:cNvPr id="6" name="Rectangle 5"/>
          <p:cNvSpPr/>
          <p:nvPr/>
        </p:nvSpPr>
        <p:spPr>
          <a:xfrm>
            <a:off x="115316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Fünf zum Lesen</a:t>
            </a:r>
          </a:p>
          <a:p>
            <a:pPr algn="l">
              <a:lnSpc>
                <a:spcPct val="95000"/>
              </a:lnSpc>
              <a:spcBef>
                <a:spcPts val="500"/>
              </a:spcBef>
            </a:pPr>
            <a:r>
              <a:rPr sz="1300" b="0">
                <a:solidFill>
                  <a:srgbClr val="404040"/>
                </a:solidFill>
              </a:rPr>
              <a:t>Sichten auflisten und abfragen</a:t>
            </a:r>
          </a:p>
          <a:p>
            <a:pPr algn="l">
              <a:lnSpc>
                <a:spcPct val="95000"/>
              </a:lnSpc>
              <a:spcBef>
                <a:spcPts val="500"/>
              </a:spcBef>
            </a:pPr>
            <a:r>
              <a:rPr sz="1300" b="0">
                <a:solidFill>
                  <a:srgbClr val="404040"/>
                </a:solidFill>
              </a:rPr>
              <a:t>Änderungsprotokoll — nur mit der Rolle leitung</a:t>
            </a:r>
          </a:p>
          <a:p>
            <a:pPr algn="l">
              <a:lnSpc>
                <a:spcPct val="95000"/>
              </a:lnSpc>
              <a:spcBef>
                <a:spcPts val="500"/>
              </a:spcBef>
            </a:pPr>
            <a:r>
              <a:rPr sz="1300" b="0">
                <a:solidFill>
                  <a:srgbClr val="404040"/>
                </a:solidFill>
              </a:rPr>
              <a:t>Radereignisse mit Vorher und Nachher</a:t>
            </a:r>
          </a:p>
          <a:p>
            <a:pPr algn="l">
              <a:lnSpc>
                <a:spcPct val="95000"/>
              </a:lnSpc>
              <a:spcBef>
                <a:spcPts val="500"/>
              </a:spcBef>
            </a:pPr>
            <a:r>
              <a:rPr sz="1300" b="0">
                <a:solidFill>
                  <a:srgbClr val="404040"/>
                </a:solidFill>
              </a:rPr>
              <a:t>Serverstand — welche Fassung gerade läuft</a:t>
            </a:r>
          </a:p>
        </p:txBody>
      </p:sp>
      <p:sp>
        <p:nvSpPr>
          <p:cNvPr id="9" name="Rectangle 8"/>
          <p:cNvSpPr/>
          <p:nvPr/>
        </p:nvSpPr>
        <p:spPr>
          <a:xfrm>
            <a:off x="511302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Sechzehn zum Ändern</a:t>
            </a:r>
          </a:p>
          <a:p>
            <a:pPr algn="l">
              <a:lnSpc>
                <a:spcPct val="95000"/>
              </a:lnSpc>
              <a:spcBef>
                <a:spcPts val="500"/>
              </a:spcBef>
            </a:pPr>
            <a:r>
              <a:rPr sz="1300" b="0">
                <a:solidFill>
                  <a:srgbClr val="404040"/>
                </a:solidFill>
              </a:rPr>
              <a:t>Räder, Kunden und Stationen anlegen</a:t>
            </a:r>
          </a:p>
          <a:p>
            <a:pPr algn="l">
              <a:lnSpc>
                <a:spcPct val="95000"/>
              </a:lnSpc>
              <a:spcBef>
                <a:spcPts val="500"/>
              </a:spcBef>
            </a:pPr>
            <a:r>
              <a:rPr sz="1300" b="0">
                <a:solidFill>
                  <a:srgbClr val="404040"/>
                </a:solidFill>
              </a:rPr>
              <a:t>Status setzen, Schäden melden, Aufträge schließen</a:t>
            </a:r>
          </a:p>
          <a:p>
            <a:pPr algn="l">
              <a:lnSpc>
                <a:spcPct val="95000"/>
              </a:lnSpc>
              <a:spcBef>
                <a:spcPts val="500"/>
              </a:spcBef>
            </a:pPr>
            <a:r>
              <a:rPr sz="1300" b="0">
                <a:solidFill>
                  <a:srgbClr val="404040"/>
                </a:solidFill>
              </a:rPr>
              <a:t>Drei davon sind nicht rücknehmbar</a:t>
            </a:r>
          </a:p>
        </p:txBody>
      </p:sp>
      <p:sp>
        <p:nvSpPr>
          <p:cNvPr id="12" name="Rectangle 11"/>
          <p:cNvSpPr/>
          <p:nvPr/>
        </p:nvSpPr>
        <p:spPr>
          <a:xfrm>
            <a:off x="908177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Sieben ausgelassen</a:t>
            </a:r>
          </a:p>
          <a:p>
            <a:pPr algn="l">
              <a:lnSpc>
                <a:spcPct val="95000"/>
              </a:lnSpc>
              <a:spcBef>
                <a:spcPts val="500"/>
              </a:spcBef>
            </a:pPr>
            <a:r>
              <a:rPr sz="1300" b="0">
                <a:solidFill>
                  <a:srgbClr val="404040"/>
                </a:solidFill>
              </a:rPr>
              <a:t>Fünf auf dem eigenen Kundensatz: Ausleihe starten und beenden, Profil, Kundensatz, Preisschätzer</a:t>
            </a:r>
          </a:p>
          <a:p>
            <a:pPr algn="l">
              <a:lnSpc>
                <a:spcPct val="95000"/>
              </a:lnSpc>
              <a:spcBef>
                <a:spcPts val="500"/>
              </a:spcBef>
            </a:pPr>
            <a:r>
              <a:rPr sz="1300" b="0">
                <a:solidFill>
                  <a:srgbClr val="404040"/>
                </a:solidFill>
              </a:rPr>
              <a:t>Ein Mitarbeiterkonto hat keinen — sie liefen in einen Fehler</a:t>
            </a:r>
          </a:p>
          <a:p>
            <a:pPr algn="l">
              <a:lnSpc>
                <a:spcPct val="95000"/>
              </a:lnSpc>
              <a:spcBef>
                <a:spcPts val="500"/>
              </a:spcBef>
            </a:pPr>
            <a:r>
              <a:rPr sz="1300" b="0">
                <a:solidFill>
                  <a:srgbClr val="404040"/>
                </a:solidFill>
              </a:rPr>
              <a:t>Zwei zum Meldungseingang: Über Vorschläge von Jev entscheidet die Werkstatt</a:t>
            </a:r>
          </a:p>
        </p:txBody>
      </p:sp>
      <p:sp>
        <p:nvSpPr>
          <p:cNvPr id="15" name="Rectangle 14"/>
          <p:cNvSpPr/>
          <p:nvPr/>
        </p:nvSpPr>
        <p:spPr>
          <a:xfrm>
            <a:off x="1153160" y="5080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5156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Auslassen ist eine Entscheidung, kein Vergessen: eine Prüfung verlangt zu jeder api_-Funktion entweder ein Werkzeug oder einen Eintrag in der Ausnahmeliste.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Löschen: zwei Rechtsgrundlagen, ein Kunde</a:t>
            </a:r>
          </a:p>
        </p:txBody>
      </p:sp>
      <p:sp>
        <p:nvSpPr>
          <p:cNvPr id="3" name="Text Placeholder 2"/>
          <p:cNvSpPr>
            <a:spLocks noGrp="1"/>
          </p:cNvSpPr>
          <p:nvPr>
            <p:ph type="body" idx="12" sz="quarter"/>
          </p:nvPr>
        </p:nvSpPr>
        <p:spPr/>
        <p:txBody>
          <a:bodyPr/>
          <a:lstStyle/>
          <a:p>
            <a:r>
              <a:t>12 · Der Agent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Kunde verlangt Löschung, seine Rechnungen sind aufbewahrungspflichtig. Beides gilt gleichzeitig — deshalb gibt es zwei Funktionen und nicht eine.</a:t>
            </a:r>
          </a:p>
        </p:txBody>
      </p:sp>
      <p:sp>
        <p:nvSpPr>
          <p:cNvPr id="6" name="Rectangle 5"/>
          <p:cNvSpPr/>
          <p:nvPr/>
        </p:nvSpPr>
        <p:spPr>
          <a:xfrm>
            <a:off x="1153160" y="1879600"/>
            <a:ext cx="2413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3566160" y="1879600"/>
            <a:ext cx="453009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Anonymisieren</a:t>
            </a:r>
          </a:p>
        </p:txBody>
      </p:sp>
      <p:sp>
        <p:nvSpPr>
          <p:cNvPr id="8" name="Rectangle 7"/>
          <p:cNvSpPr/>
          <p:nvPr/>
        </p:nvSpPr>
        <p:spPr>
          <a:xfrm>
            <a:off x="8096250" y="1879600"/>
            <a:ext cx="453136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Vollständig löschen</a:t>
            </a:r>
          </a:p>
        </p:txBody>
      </p:sp>
      <p:sp>
        <p:nvSpPr>
          <p:cNvPr id="9" name="Rectangle 8"/>
          <p:cNvSpPr/>
          <p:nvPr/>
        </p:nvSpPr>
        <p:spPr>
          <a:xfrm>
            <a:off x="1153160" y="2286000"/>
            <a:ext cx="2413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Fall</a:t>
            </a:r>
          </a:p>
        </p:txBody>
      </p:sp>
      <p:sp>
        <p:nvSpPr>
          <p:cNvPr id="10" name="Rectangle 9"/>
          <p:cNvSpPr/>
          <p:nvPr/>
        </p:nvSpPr>
        <p:spPr>
          <a:xfrm>
            <a:off x="3566160" y="2286000"/>
            <a:ext cx="453009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Es hängen Belege daran</a:t>
            </a:r>
          </a:p>
        </p:txBody>
      </p:sp>
      <p:sp>
        <p:nvSpPr>
          <p:cNvPr id="11" name="Rectangle 10"/>
          <p:cNvSpPr/>
          <p:nvPr/>
        </p:nvSpPr>
        <p:spPr>
          <a:xfrm>
            <a:off x="8096250" y="2286000"/>
            <a:ext cx="453136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Es hängt nichts daran</a:t>
            </a:r>
          </a:p>
        </p:txBody>
      </p:sp>
      <p:sp>
        <p:nvSpPr>
          <p:cNvPr id="12" name="Rectangle 11"/>
          <p:cNvSpPr/>
          <p:nvPr/>
        </p:nvSpPr>
        <p:spPr>
          <a:xfrm>
            <a:off x="1153160" y="2692400"/>
            <a:ext cx="2413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Die Fachzeile</a:t>
            </a:r>
          </a:p>
        </p:txBody>
      </p:sp>
      <p:sp>
        <p:nvSpPr>
          <p:cNvPr id="13" name="Rectangle 12"/>
          <p:cNvSpPr/>
          <p:nvPr/>
        </p:nvSpPr>
        <p:spPr>
          <a:xfrm>
            <a:off x="3566160" y="2692400"/>
            <a:ext cx="453009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bleibt stehen</a:t>
            </a:r>
          </a:p>
        </p:txBody>
      </p:sp>
      <p:sp>
        <p:nvSpPr>
          <p:cNvPr id="14" name="Rectangle 13"/>
          <p:cNvSpPr/>
          <p:nvPr/>
        </p:nvSpPr>
        <p:spPr>
          <a:xfrm>
            <a:off x="8096250" y="2692400"/>
            <a:ext cx="453136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verschwindet</a:t>
            </a:r>
          </a:p>
        </p:txBody>
      </p:sp>
      <p:sp>
        <p:nvSpPr>
          <p:cNvPr id="15" name="Rectangle 14"/>
          <p:cNvSpPr/>
          <p:nvPr/>
        </p:nvSpPr>
        <p:spPr>
          <a:xfrm>
            <a:off x="1153160" y="3098800"/>
            <a:ext cx="2413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Die Personendaten</a:t>
            </a:r>
          </a:p>
        </p:txBody>
      </p:sp>
      <p:sp>
        <p:nvSpPr>
          <p:cNvPr id="16" name="Rectangle 15"/>
          <p:cNvSpPr/>
          <p:nvPr/>
        </p:nvSpPr>
        <p:spPr>
          <a:xfrm>
            <a:off x="3566160" y="3098800"/>
            <a:ext cx="453009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werden überschrieben</a:t>
            </a:r>
          </a:p>
        </p:txBody>
      </p:sp>
      <p:sp>
        <p:nvSpPr>
          <p:cNvPr id="17" name="Rectangle 16"/>
          <p:cNvSpPr/>
          <p:nvPr/>
        </p:nvSpPr>
        <p:spPr>
          <a:xfrm>
            <a:off x="8096250" y="3098800"/>
            <a:ext cx="453136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sind weg</a:t>
            </a:r>
          </a:p>
        </p:txBody>
      </p:sp>
      <p:sp>
        <p:nvSpPr>
          <p:cNvPr id="18" name="Rectangle 17"/>
          <p:cNvSpPr/>
          <p:nvPr/>
        </p:nvSpPr>
        <p:spPr>
          <a:xfrm>
            <a:off x="1153160" y="3505200"/>
            <a:ext cx="2413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Grundlage</a:t>
            </a:r>
          </a:p>
        </p:txBody>
      </p:sp>
      <p:sp>
        <p:nvSpPr>
          <p:cNvPr id="19" name="Rectangle 18"/>
          <p:cNvSpPr/>
          <p:nvPr/>
        </p:nvSpPr>
        <p:spPr>
          <a:xfrm>
            <a:off x="3566160" y="3505200"/>
            <a:ext cx="453009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Art. 17 Abs. 3 lit. b DSGVO</a:t>
            </a:r>
          </a:p>
        </p:txBody>
      </p:sp>
      <p:sp>
        <p:nvSpPr>
          <p:cNvPr id="20" name="Rectangle 19"/>
          <p:cNvSpPr/>
          <p:nvPr/>
        </p:nvSpPr>
        <p:spPr>
          <a:xfrm>
            <a:off x="8096250" y="3505200"/>
            <a:ext cx="453136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Art. 17 Abs. 1 DSGVO</a:t>
            </a:r>
          </a:p>
        </p:txBody>
      </p:sp>
      <p:sp>
        <p:nvSpPr>
          <p:cNvPr id="21" name="Rectangle 20"/>
          <p:cNvSpPr/>
          <p:nvPr/>
        </p:nvSpPr>
        <p:spPr>
          <a:xfrm>
            <a:off x="1153160" y="3911600"/>
            <a:ext cx="2413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Dahinter</a:t>
            </a:r>
          </a:p>
        </p:txBody>
      </p:sp>
      <p:sp>
        <p:nvSpPr>
          <p:cNvPr id="22" name="Rectangle 21"/>
          <p:cNvSpPr/>
          <p:nvPr/>
        </p:nvSpPr>
        <p:spPr>
          <a:xfrm>
            <a:off x="3566160" y="3911600"/>
            <a:ext cx="453009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 147 AO, § 257 HGB: zehn Jahre</a:t>
            </a:r>
          </a:p>
        </p:txBody>
      </p:sp>
      <p:sp>
        <p:nvSpPr>
          <p:cNvPr id="23" name="Rectangle 22"/>
          <p:cNvSpPr/>
          <p:nvPr/>
        </p:nvSpPr>
        <p:spPr>
          <a:xfrm>
            <a:off x="8096250" y="3911600"/>
            <a:ext cx="453136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 Aufbewahrungspflicht</a:t>
            </a:r>
          </a:p>
        </p:txBody>
      </p:sp>
      <p:sp>
        <p:nvSpPr>
          <p:cNvPr id="24" name="Rectangle 23"/>
          <p:cNvSpPr/>
          <p:nvPr/>
        </p:nvSpPr>
        <p:spPr>
          <a:xfrm>
            <a:off x="1153160" y="4318000"/>
            <a:ext cx="2413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Rolle</a:t>
            </a:r>
          </a:p>
        </p:txBody>
      </p:sp>
      <p:sp>
        <p:nvSpPr>
          <p:cNvPr id="25" name="Rectangle 24"/>
          <p:cNvSpPr/>
          <p:nvPr/>
        </p:nvSpPr>
        <p:spPr>
          <a:xfrm>
            <a:off x="3566160" y="4318000"/>
            <a:ext cx="453009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leitung</a:t>
            </a:r>
          </a:p>
        </p:txBody>
      </p:sp>
      <p:sp>
        <p:nvSpPr>
          <p:cNvPr id="26" name="Rectangle 25"/>
          <p:cNvSpPr/>
          <p:nvPr/>
        </p:nvSpPr>
        <p:spPr>
          <a:xfrm>
            <a:off x="8096250" y="4318000"/>
            <a:ext cx="453136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kundenservice</a:t>
            </a:r>
          </a:p>
        </p:txBody>
      </p:sp>
      <p:sp>
        <p:nvSpPr>
          <p:cNvPr id="27" name="Rectangle 26"/>
          <p:cNvSpPr/>
          <p:nvPr/>
        </p:nvSpPr>
        <p:spPr>
          <a:xfrm>
            <a:off x="1153160" y="5308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56360" y="5384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Der Agent muss das nicht wissen: Beim Versuch am falschen Kunden antwortet die Datenbank selbst — „nicht löschbar: Fahrten und Rechnungen hängen daran. Aufbewahrungspflicht nach § 147 AO und § 257 HGB.“</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er getan hat — und der Weg zurück</a:t>
            </a:r>
          </a:p>
        </p:txBody>
      </p:sp>
      <p:sp>
        <p:nvSpPr>
          <p:cNvPr id="3" name="Text Placeholder 2"/>
          <p:cNvSpPr>
            <a:spLocks noGrp="1"/>
          </p:cNvSpPr>
          <p:nvPr>
            <p:ph type="body" idx="12" sz="quarter"/>
          </p:nvPr>
        </p:nvSpPr>
        <p:spPr/>
        <p:txBody>
          <a:bodyPr/>
          <a:lstStyle/>
          <a:p>
            <a:r>
              <a:t>12 · Der Agent</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Programm, das ändern darf, ist nur dann vorführbar, wenn hinterher nachvollziehbar ist, was es geändert hat. Dafür führt das Modell zwei getrennte Bücher.</a:t>
            </a:r>
          </a:p>
        </p:txBody>
      </p:sp>
      <p:sp>
        <p:nvSpPr>
          <p:cNvPr id="6" name="Rectangle 5"/>
          <p:cNvSpPr/>
          <p:nvPr/>
        </p:nvSpPr>
        <p:spPr>
          <a:xfrm>
            <a:off x="1153160" y="1879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057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955800"/>
            <a:ext cx="7918450" cy="533400"/>
          </a:xfrm>
          <a:prstGeom prst="rect">
            <a:avLst/>
          </a:prstGeom>
          <a:noFill/>
        </p:spPr>
        <p:txBody>
          <a:bodyPr wrap="square" lIns="0" tIns="0" rIns="0" bIns="0" anchor="ctr">
            <a:spAutoFit/>
          </a:bodyPr>
          <a:lstStyle/>
          <a:p>
            <a:pPr>
              <a:lnSpc>
                <a:spcPct val="95000"/>
              </a:lnSpc>
            </a:pPr>
            <a:r>
              <a:rPr sz="1300" b="1">
                <a:solidFill>
                  <a:srgbClr val="003E6E"/>
                </a:solidFill>
              </a:rPr>
              <a:t>Änderungsprotokoll  </a:t>
            </a:r>
            <a:r>
              <a:rPr sz="1300">
                <a:solidFill>
                  <a:srgbClr val="404040"/>
                </a:solidFill>
              </a:rPr>
              <a:t>Kunde, Mitarbeiter, Station — wer, wann, welches Feld</a:t>
            </a:r>
          </a:p>
        </p:txBody>
      </p:sp>
      <p:sp>
        <p:nvSpPr>
          <p:cNvPr id="10" name="Rounded Rectangle 9"/>
          <p:cNvSpPr/>
          <p:nvPr/>
        </p:nvSpPr>
        <p:spPr>
          <a:xfrm>
            <a:off x="9935210" y="1993900"/>
            <a:ext cx="2540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aenderungsprotokoll</a:t>
            </a:r>
          </a:p>
        </p:txBody>
      </p:sp>
      <p:sp>
        <p:nvSpPr>
          <p:cNvPr id="11" name="Rectangle 10"/>
          <p:cNvSpPr/>
          <p:nvPr/>
        </p:nvSpPr>
        <p:spPr>
          <a:xfrm>
            <a:off x="1153160" y="2692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2692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30960" y="2870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4" name="TextBox 13"/>
          <p:cNvSpPr txBox="1"/>
          <p:nvPr/>
        </p:nvSpPr>
        <p:spPr>
          <a:xfrm>
            <a:off x="1788160" y="2768600"/>
            <a:ext cx="7918450" cy="533400"/>
          </a:xfrm>
          <a:prstGeom prst="rect">
            <a:avLst/>
          </a:prstGeom>
          <a:noFill/>
        </p:spPr>
        <p:txBody>
          <a:bodyPr wrap="square" lIns="0" tIns="0" rIns="0" bIns="0" anchor="ctr">
            <a:spAutoFit/>
          </a:bodyPr>
          <a:lstStyle/>
          <a:p>
            <a:pPr>
              <a:lnSpc>
                <a:spcPct val="95000"/>
              </a:lnSpc>
            </a:pPr>
            <a:r>
              <a:rPr sz="1300" b="1">
                <a:solidFill>
                  <a:srgbClr val="003E6E"/>
                </a:solidFill>
              </a:rPr>
              <a:t>Lebenslaufakte  </a:t>
            </a:r>
            <a:r>
              <a:rPr sz="1300">
                <a:solidFill>
                  <a:srgbClr val="404040"/>
                </a:solidFill>
              </a:rPr>
              <a:t>Räder führen ihr Vorher und Nachher im Klartext mit</a:t>
            </a:r>
          </a:p>
        </p:txBody>
      </p:sp>
      <p:sp>
        <p:nvSpPr>
          <p:cNvPr id="15" name="Rounded Rectangle 14"/>
          <p:cNvSpPr/>
          <p:nvPr/>
        </p:nvSpPr>
        <p:spPr>
          <a:xfrm>
            <a:off x="9935210" y="2806700"/>
            <a:ext cx="2540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fahrrad_ereignis</a:t>
            </a:r>
          </a:p>
        </p:txBody>
      </p:sp>
      <p:sp>
        <p:nvSpPr>
          <p:cNvPr id="16" name="Rectangle 15"/>
          <p:cNvSpPr/>
          <p:nvPr/>
        </p:nvSpPr>
        <p:spPr>
          <a:xfrm>
            <a:off x="1153160" y="3505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53160" y="3505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330960" y="3683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9" name="TextBox 18"/>
          <p:cNvSpPr txBox="1"/>
          <p:nvPr/>
        </p:nvSpPr>
        <p:spPr>
          <a:xfrm>
            <a:off x="1788160" y="3581400"/>
            <a:ext cx="7918450" cy="533400"/>
          </a:xfrm>
          <a:prstGeom prst="rect">
            <a:avLst/>
          </a:prstGeom>
          <a:noFill/>
        </p:spPr>
        <p:txBody>
          <a:bodyPr wrap="square" lIns="0" tIns="0" rIns="0" bIns="0" anchor="ctr">
            <a:spAutoFit/>
          </a:bodyPr>
          <a:lstStyle/>
          <a:p>
            <a:pPr>
              <a:lnSpc>
                <a:spcPct val="95000"/>
              </a:lnSpc>
            </a:pPr>
            <a:r>
              <a:rPr sz="1300" b="1">
                <a:solidFill>
                  <a:srgbClr val="003E6E"/>
                </a:solidFill>
              </a:rPr>
              <a:t>Eigenes Konto  </a:t>
            </a:r>
            <a:r>
              <a:rPr sz="1300">
                <a:solidFill>
                  <a:srgbClr val="404040"/>
                </a:solidFill>
              </a:rPr>
              <a:t>Was ein Mensch tat und was ein Programm, bleibt trennbar</a:t>
            </a:r>
          </a:p>
        </p:txBody>
      </p:sp>
      <p:sp>
        <p:nvSpPr>
          <p:cNvPr id="20" name="Rounded Rectangle 19"/>
          <p:cNvSpPr/>
          <p:nvPr/>
        </p:nvSpPr>
        <p:spPr>
          <a:xfrm>
            <a:off x="9935210" y="3619500"/>
            <a:ext cx="2540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personalnummer</a:t>
            </a:r>
          </a:p>
        </p:txBody>
      </p:sp>
      <p:sp>
        <p:nvSpPr>
          <p:cNvPr id="21" name="Rectangle 20"/>
          <p:cNvSpPr/>
          <p:nvPr/>
        </p:nvSpPr>
        <p:spPr>
          <a:xfrm>
            <a:off x="1153160" y="4318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53160" y="4318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330960" y="4495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4" name="TextBox 23"/>
          <p:cNvSpPr txBox="1"/>
          <p:nvPr/>
        </p:nvSpPr>
        <p:spPr>
          <a:xfrm>
            <a:off x="1788160" y="4394200"/>
            <a:ext cx="7918450" cy="533400"/>
          </a:xfrm>
          <a:prstGeom prst="rect">
            <a:avLst/>
          </a:prstGeom>
          <a:noFill/>
        </p:spPr>
        <p:txBody>
          <a:bodyPr wrap="square" lIns="0" tIns="0" rIns="0" bIns="0" anchor="ctr">
            <a:spAutoFit/>
          </a:bodyPr>
          <a:lstStyle/>
          <a:p>
            <a:pPr>
              <a:lnSpc>
                <a:spcPct val="95000"/>
              </a:lnSpc>
            </a:pPr>
            <a:r>
              <a:rPr sz="1300" b="1">
                <a:solidFill>
                  <a:srgbClr val="003E6E"/>
                </a:solidFill>
              </a:rPr>
              <a:t>Weg zurück  </a:t>
            </a:r>
            <a:r>
              <a:rPr sz="1300">
                <a:solidFill>
                  <a:srgbClr val="404040"/>
                </a:solidFill>
              </a:rPr>
              <a:t>Ausmustern und Löschen sind endgültig — zurück nur über den Abzug</a:t>
            </a:r>
          </a:p>
        </p:txBody>
      </p:sp>
      <p:sp>
        <p:nvSpPr>
          <p:cNvPr id="25" name="Rounded Rectangle 24"/>
          <p:cNvSpPr/>
          <p:nvPr/>
        </p:nvSpPr>
        <p:spPr>
          <a:xfrm>
            <a:off x="9935210" y="4432300"/>
            <a:ext cx="2540000" cy="457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555148"/>
                </a:solidFill>
                <a:latin typeface="Consolas"/>
              </a:rPr>
              <a:t>pg_dump / pg_restore</a:t>
            </a:r>
          </a:p>
        </p:txBody>
      </p:sp>
      <p:sp>
        <p:nvSpPr>
          <p:cNvPr id="26" name="Rectangle 25"/>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Wer Annas Rad ausmustert, steht danach in der Lebenslaufakte — Mensch wie Programm.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 Zusammenfassung und Ausblick</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bleibt aus dreizehn Kapiteln — und was ist entworfen, aber nicht gebaut?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Acht Sätze, die diese Einheit tragen</a:t>
            </a:r>
          </a:p>
        </p:txBody>
      </p:sp>
      <p:sp>
        <p:nvSpPr>
          <p:cNvPr id="3" name="Text Placeholder 2"/>
          <p:cNvSpPr>
            <a:spLocks noGrp="1"/>
          </p:cNvSpPr>
          <p:nvPr>
            <p:ph type="body" idx="12" sz="quarter"/>
          </p:nvPr>
        </p:nvSpPr>
        <p:spPr/>
        <p:txBody>
          <a:bodyPr/>
          <a:lstStyle/>
          <a:p>
            <a:r>
              <a:t>13 · Zusammenfassung</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Wenn Sie nichts anderes mitnehmen, dann diese acht. Zu jedem sollten Sie ein Beispiel aus Annas Fahrt nennen können.</a:t>
            </a:r>
          </a:p>
        </p:txBody>
      </p:sp>
      <p:sp>
        <p:nvSpPr>
          <p:cNvPr id="6" name="Rectangle 5"/>
          <p:cNvSpPr/>
          <p:nvPr/>
        </p:nvSpPr>
        <p:spPr>
          <a:xfrm>
            <a:off x="1153160" y="2286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860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336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23622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Reihenfolge  </a:t>
            </a:r>
            <a:r>
              <a:rPr sz="1300">
                <a:solidFill>
                  <a:srgbClr val="404040"/>
                </a:solidFill>
              </a:rPr>
              <a:t>Anforderungen vor Modell, Modell vor Relationen, Relationen vor DDL</a:t>
            </a:r>
          </a:p>
        </p:txBody>
      </p:sp>
      <p:sp>
        <p:nvSpPr>
          <p:cNvPr id="10" name="Rectangle 9"/>
          <p:cNvSpPr/>
          <p:nvPr/>
        </p:nvSpPr>
        <p:spPr>
          <a:xfrm>
            <a:off x="1153160" y="2768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686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2819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448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Kardinalität  </a:t>
            </a:r>
            <a:r>
              <a:rPr sz="1300">
                <a:solidFill>
                  <a:srgbClr val="404040"/>
                </a:solidFill>
              </a:rPr>
              <a:t>ist eine fachliche Aussage, keine technische Festlegung</a:t>
            </a:r>
          </a:p>
        </p:txBody>
      </p:sp>
      <p:sp>
        <p:nvSpPr>
          <p:cNvPr id="14" name="Rectangle 13"/>
          <p:cNvSpPr/>
          <p:nvPr/>
        </p:nvSpPr>
        <p:spPr>
          <a:xfrm>
            <a:off x="1153160" y="32512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2512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302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3274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Normalform  </a:t>
            </a:r>
            <a:r>
              <a:rPr sz="1300">
                <a:solidFill>
                  <a:srgbClr val="404040"/>
                </a:solidFill>
              </a:rPr>
              <a:t>ist notwendig, aber nicht hinreichend</a:t>
            </a:r>
          </a:p>
        </p:txBody>
      </p:sp>
      <p:sp>
        <p:nvSpPr>
          <p:cNvPr id="18" name="Rectangle 17"/>
          <p:cNvSpPr/>
          <p:nvPr/>
        </p:nvSpPr>
        <p:spPr>
          <a:xfrm>
            <a:off x="1153160" y="37338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37338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330960" y="37846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1" name="TextBox 20"/>
          <p:cNvSpPr txBox="1"/>
          <p:nvPr/>
        </p:nvSpPr>
        <p:spPr>
          <a:xfrm>
            <a:off x="1788160" y="38100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Constraint  </a:t>
            </a:r>
            <a:r>
              <a:rPr sz="1300">
                <a:solidFill>
                  <a:srgbClr val="404040"/>
                </a:solidFill>
              </a:rPr>
              <a:t>was nicht erzwungen wird, wird verletzt</a:t>
            </a:r>
          </a:p>
        </p:txBody>
      </p:sp>
      <p:sp>
        <p:nvSpPr>
          <p:cNvPr id="22" name="Rectangle 21"/>
          <p:cNvSpPr/>
          <p:nvPr/>
        </p:nvSpPr>
        <p:spPr>
          <a:xfrm>
            <a:off x="1153160" y="42164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53160" y="42164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330960" y="4267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5</a:t>
            </a:r>
          </a:p>
        </p:txBody>
      </p:sp>
      <p:sp>
        <p:nvSpPr>
          <p:cNvPr id="25" name="TextBox 24"/>
          <p:cNvSpPr txBox="1"/>
          <p:nvPr/>
        </p:nvSpPr>
        <p:spPr>
          <a:xfrm>
            <a:off x="1788160" y="42926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Schutz  </a:t>
            </a:r>
            <a:r>
              <a:rPr sz="1300">
                <a:solidFill>
                  <a:srgbClr val="404040"/>
                </a:solidFill>
              </a:rPr>
              <a:t>liegt in der Datenbank, nie im Browser</a:t>
            </a:r>
          </a:p>
        </p:txBody>
      </p:sp>
      <p:sp>
        <p:nvSpPr>
          <p:cNvPr id="26" name="Rectangle 25"/>
          <p:cNvSpPr/>
          <p:nvPr/>
        </p:nvSpPr>
        <p:spPr>
          <a:xfrm>
            <a:off x="1153160" y="4699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53160" y="46990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330960" y="4749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6</a:t>
            </a:r>
          </a:p>
        </p:txBody>
      </p:sp>
      <p:sp>
        <p:nvSpPr>
          <p:cNvPr id="29" name="TextBox 28"/>
          <p:cNvSpPr txBox="1"/>
          <p:nvPr/>
        </p:nvSpPr>
        <p:spPr>
          <a:xfrm>
            <a:off x="1788160" y="47752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Nachweis  </a:t>
            </a:r>
            <a:r>
              <a:rPr sz="1300">
                <a:solidFill>
                  <a:srgbClr val="404040"/>
                </a:solidFill>
              </a:rPr>
              <a:t>Rechte werden geprüft, nicht angenommen</a:t>
            </a:r>
          </a:p>
        </p:txBody>
      </p:sp>
      <p:sp>
        <p:nvSpPr>
          <p:cNvPr id="30" name="Rectangle 29"/>
          <p:cNvSpPr/>
          <p:nvPr/>
        </p:nvSpPr>
        <p:spPr>
          <a:xfrm>
            <a:off x="1153160" y="51816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153160" y="51816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330960" y="5232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7</a:t>
            </a:r>
          </a:p>
        </p:txBody>
      </p:sp>
      <p:sp>
        <p:nvSpPr>
          <p:cNvPr id="33" name="TextBox 32"/>
          <p:cNvSpPr txBox="1"/>
          <p:nvPr/>
        </p:nvSpPr>
        <p:spPr>
          <a:xfrm>
            <a:off x="1788160" y="52578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Korn  </a:t>
            </a:r>
            <a:r>
              <a:rPr sz="1300">
                <a:solidFill>
                  <a:srgbClr val="404040"/>
                </a:solidFill>
              </a:rPr>
              <a:t>Eine Sicht hat genau ein Korn — wer es nicht benennt, summiert falsch</a:t>
            </a:r>
          </a:p>
        </p:txBody>
      </p:sp>
      <p:sp>
        <p:nvSpPr>
          <p:cNvPr id="34" name="Rectangle 33"/>
          <p:cNvSpPr/>
          <p:nvPr/>
        </p:nvSpPr>
        <p:spPr>
          <a:xfrm>
            <a:off x="1153160" y="56642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153160" y="5664200"/>
            <a:ext cx="50800" cy="431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330960" y="5715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8</a:t>
            </a:r>
          </a:p>
        </p:txBody>
      </p:sp>
      <p:sp>
        <p:nvSpPr>
          <p:cNvPr id="37" name="TextBox 36"/>
          <p:cNvSpPr txBox="1"/>
          <p:nvPr/>
        </p:nvSpPr>
        <p:spPr>
          <a:xfrm>
            <a:off x="1788160" y="5740400"/>
            <a:ext cx="10458450" cy="279400"/>
          </a:xfrm>
          <a:prstGeom prst="rect">
            <a:avLst/>
          </a:prstGeom>
          <a:noFill/>
        </p:spPr>
        <p:txBody>
          <a:bodyPr wrap="square" lIns="0" tIns="0" rIns="0" bIns="0" anchor="ctr">
            <a:spAutoFit/>
          </a:bodyPr>
          <a:lstStyle/>
          <a:p>
            <a:pPr>
              <a:lnSpc>
                <a:spcPct val="95000"/>
              </a:lnSpc>
            </a:pPr>
            <a:r>
              <a:rPr sz="1300" b="1">
                <a:solidFill>
                  <a:srgbClr val="003E6E"/>
                </a:solidFill>
              </a:rPr>
              <a:t>Grenze  </a:t>
            </a:r>
            <a:r>
              <a:rPr sz="1300">
                <a:solidFill>
                  <a:srgbClr val="404040"/>
                </a:solidFill>
              </a:rPr>
              <a:t>Jede Kennzahl braucht die Angabe, was sie NICHT sagt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entworfen ist, aber noch nicht gebaut</a:t>
            </a:r>
          </a:p>
        </p:txBody>
      </p:sp>
      <p:sp>
        <p:nvSpPr>
          <p:cNvPr id="3" name="Text Placeholder 2"/>
          <p:cNvSpPr>
            <a:spLocks noGrp="1"/>
          </p:cNvSpPr>
          <p:nvPr>
            <p:ph type="body" idx="12" sz="quarter"/>
          </p:nvPr>
        </p:nvSpPr>
        <p:spPr/>
        <p:txBody>
          <a:bodyPr/>
          <a:lstStyle/>
          <a:p>
            <a:r>
              <a:t>13 · Ausblick</a:t>
            </a:r>
          </a:p>
        </p:txBody>
      </p:sp>
      <p:sp>
        <p:nvSpPr>
          <p:cNvPr id="4" name="Text Placeholder 3"/>
          <p:cNvSpPr>
            <a:spLocks noGrp="1"/>
          </p:cNvSpPr>
          <p:nvPr>
            <p:ph type="body" idx="13" sz="quarter"/>
          </p:nvPr>
        </p:nvSpPr>
        <p:spPr/>
        <p:txBody>
          <a:bodyPr/>
          <a:lstStyle/>
          <a:p>
            <a:r>
              <a:t>Fallstudie VeloCity, Schema velocity auf supabase.butscher.cloud. Quellen und Diagramme im Repository unter doku/datenmodell/.</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Instandhaltung steht seit Kapitel 9. Beschaffung, Lager und die Logistik sind entworfen, aber nicht gebaut — grau hinterlegt im Diagramm.</a:t>
            </a:r>
          </a:p>
        </p:txBody>
      </p:sp>
      <p:sp>
        <p:nvSpPr>
          <p:cNvPr id="6" name="Rectangle 5"/>
          <p:cNvSpPr/>
          <p:nvPr/>
        </p:nvSpPr>
        <p:spPr>
          <a:xfrm>
            <a:off x="2711536" y="1778000"/>
            <a:ext cx="8357696" cy="408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wawi-anschluss.png"/>
          <p:cNvPicPr>
            <a:picLocks noChangeAspect="1"/>
          </p:cNvPicPr>
          <p:nvPr/>
        </p:nvPicPr>
        <p:blipFill>
          <a:blip r:embed="rId2"/>
          <a:stretch>
            <a:fillRect/>
          </a:stretch>
        </p:blipFill>
        <p:spPr>
          <a:xfrm>
            <a:off x="2813136" y="1879600"/>
            <a:ext cx="8154496" cy="3886200"/>
          </a:xfrm>
          <a:prstGeom prst="rect">
            <a:avLst/>
          </a:prstGeom>
        </p:spPr>
      </p:pic>
      <p:sp>
        <p:nvSpPr>
          <p:cNvPr id="8" name="Rectangle 7"/>
          <p:cNvSpPr/>
          <p:nvPr/>
        </p:nvSpPr>
        <p:spPr>
          <a:xfrm>
            <a:off x="1153160" y="5842000"/>
            <a:ext cx="11474450" cy="431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5842000"/>
            <a:ext cx="50800" cy="431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5892800"/>
            <a:ext cx="11068050" cy="330200"/>
          </a:xfrm>
          <a:prstGeom prst="rect">
            <a:avLst/>
          </a:prstGeom>
          <a:noFill/>
        </p:spPr>
        <p:txBody>
          <a:bodyPr wrap="square" lIns="0" tIns="0" rIns="0" bIns="0" anchor="ctr">
            <a:spAutoFit/>
          </a:bodyPr>
          <a:lstStyle/>
          <a:p>
            <a:pPr>
              <a:lnSpc>
                <a:spcPct val="95000"/>
              </a:lnSpc>
            </a:pPr>
            <a:r>
              <a:rPr sz="1300" b="1">
                <a:solidFill>
                  <a:srgbClr val="A32638"/>
                </a:solidFill>
              </a:rPr>
              <a:t>Annas Fahrt:  </a:t>
            </a:r>
            <a:r>
              <a:rPr sz="1300">
                <a:solidFill>
                  <a:srgbClr val="404040"/>
                </a:solidFill>
              </a:rPr>
              <a:t>Meldet Anna einen Defekt, entsteht ein Wartungsauftrag — die Lagerbewegung dazu fehlt noch.</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