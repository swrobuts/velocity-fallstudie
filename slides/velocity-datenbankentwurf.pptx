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Dieselben Sichten, dieselben Funktionen, ein dritter Aufrufer — und damit die Rechtefrage aus Kapitel 7 noch einmal, diesmal unter Belastung.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Schnitt entstand im Kapitel 8 für die Website und im Kapitel 9 für die Warenwirtschaft — für zwei Oberflächen mit einem Menschen davor. Dass ein dritter Aufrufer ohne Umbau danebenpasst, war nicht geplant. Es ist der nachträgliche Beleg dafür, dass die Schnittstelle an der richtigen Stelle liegt: Sie beschreibt, WAS erlaubt ist, und nicht, WER fragt.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Kapitel 7 noch einmal, und diesmal wird es ernst: Ein Programm ermüdet nicht, probiert schnell und macht keinen Unterschied zwischen einer harmlosen und einer schweren Änderung. Wenn der Schutz im Aufrufer läge, wäre er hier weg. Er liegt aber in der Datenbank, und deshalb ändert sich durch den neuen Aufrufer an den Rechten nichts.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fünf ausgelassenen Funktionen sind kein Sicherheitsargument. Sie handeln auf dem eigenen Kundensatz des angemeldeten Kontos, und ein Mitarbeiterkonto hat keinen. Sie wären also nicht gefährlich, sondern wirkungslos. Der Unterschied ist wichtig: Wer alles Unbequeme als Sicherheitsfrage verkauft, kann die echten nicht mehr begründen.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Konflikt ist nur scheinbar. Art. 17 Abs. 3 lit. b nimmt genau das aus, was eine gesetzliche Aufbewahrungspflicht verlangt. Die schwierige Frage ist nicht, welches Recht gilt, sondern wo die Fallunterscheidung steht. Steht sie in der Oberfläche, hängt sie an der Aufmerksamkeit der Person davor. Hier steht sie in der Funktion selbst: Sie zählt Fahrten, Rechnungen, Mitgliedschaften und Schadensmeldungen und verweigert mit einem Satz, der sagt, was dagegensteht.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Aufteilung wirkt zufällig, ist es aber nicht: Den Protokolltrigger tragen drei Tabellen, weil dort Personendaten stehen und die Sicht darauf die Werte deshalb weglässt. Räder führen stattdessen eine Lebenslaufakte mit Vorher und Nachher im Klartext — ein Radstatus ist kein Personendatum. Der letzte Punkt ist der unbequeme: Es gibt keine Rücknahmefunktion. Wer vorführen will, was ein Agent anrichten kann, sichert vorher das Schema.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Dreizehn Kapitel, dreizehn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35200"/>
            <a:ext cx="279400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35200"/>
            <a:ext cx="868045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14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14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794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794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073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073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3528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3528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6322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6322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39116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39116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1910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1910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4704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4704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7498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7498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0292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0292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308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308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588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Agent</a:t>
            </a:r>
          </a:p>
        </p:txBody>
      </p:sp>
      <p:sp>
        <p:nvSpPr>
          <p:cNvPr id="31" name="Rectangle 30"/>
          <p:cNvSpPr/>
          <p:nvPr/>
        </p:nvSpPr>
        <p:spPr>
          <a:xfrm>
            <a:off x="3947160" y="5588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ändert sich, wenn kein Mensch mehr klickt?</a:t>
            </a:r>
          </a:p>
        </p:txBody>
      </p:sp>
      <p:sp>
        <p:nvSpPr>
          <p:cNvPr id="32" name="Rectangle 31"/>
          <p:cNvSpPr/>
          <p:nvPr/>
        </p:nvSpPr>
        <p:spPr>
          <a:xfrm>
            <a:off x="1153160" y="5867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13 Abschluss</a:t>
            </a:r>
          </a:p>
        </p:txBody>
      </p:sp>
      <p:sp>
        <p:nvSpPr>
          <p:cNvPr id="33" name="Rectangle 32"/>
          <p:cNvSpPr/>
          <p:nvPr/>
        </p:nvSpPr>
        <p:spPr>
          <a:xfrm>
            <a:off x="3947160" y="5867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338 Spalten im Aufbau, 264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16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Der Agent an der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ändert sich, wenn nicht mehr ein Mensch klickt, sondern ein Programm?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drittes Vorderteil, ohne eine Zeile am Modell</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 Datenbank ausschließlich über Sichten und api_-Funktionen an. Ein Programm kann denselben Weg gehen — am Modell war dafür nichts zu ändern.</a:t>
            </a:r>
          </a:p>
        </p:txBody>
      </p:sp>
      <p:sp>
        <p:nvSpPr>
          <p:cNvPr id="6" name="Rectangle 5"/>
          <p:cNvSpPr/>
          <p:nvPr/>
        </p:nvSpPr>
        <p:spPr>
          <a:xfrm>
            <a:off x="1153160" y="1879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Kundenwebsite · Warenwirtschaft · Programm eines Agenten</a:t>
            </a:r>
          </a:p>
        </p:txBody>
      </p:sp>
      <p:sp>
        <p:nvSpPr>
          <p:cNvPr id="7" name="Isosceles Triangle 6"/>
          <p:cNvSpPr/>
          <p:nvPr/>
        </p:nvSpPr>
        <p:spPr>
          <a:xfrm rot="10800000">
            <a:off x="6801484" y="2527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41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Eine Adresse für alle drei</a:t>
            </a:r>
          </a:p>
        </p:txBody>
      </p:sp>
      <p:sp>
        <p:nvSpPr>
          <p:cNvPr id="9" name="Isosceles Triangle 8"/>
          <p:cNvSpPr/>
          <p:nvPr/>
        </p:nvSpPr>
        <p:spPr>
          <a:xfrm rot="10800000">
            <a:off x="6801484" y="3289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03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20 Sichten zum Lesen, 21 api_-Funktionen zum Schreiben</a:t>
            </a:r>
          </a:p>
        </p:txBody>
      </p:sp>
      <p:sp>
        <p:nvSpPr>
          <p:cNvPr id="11" name="Isosceles Triangle 10"/>
          <p:cNvSpPr/>
          <p:nvPr/>
        </p:nvSpPr>
        <p:spPr>
          <a:xfrm rot="10800000">
            <a:off x="6801484" y="4051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165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Row Level Security und hat_rolle() — hier fällt die Entscheidung</a:t>
            </a:r>
          </a:p>
        </p:txBody>
      </p:sp>
      <p:sp>
        <p:nvSpPr>
          <p:cNvPr id="13" name="Isosceles Triangle 12"/>
          <p:cNvSpPr/>
          <p:nvPr/>
        </p:nvSpPr>
        <p:spPr>
          <a:xfrm rot="10800000">
            <a:off x="6801484" y="4813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27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Die Tabellen darunter: für keinen der drei erreichbar</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Rad steht in einer Zeile — der Browser und das Programm lesen dieselbe.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Woher das Programm seine Rechte bekommt</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Programm, das die Warenwirtschaft bedienen soll, braucht Rechte. Die naheliegende Antwort ist die falsche.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naive Weg</a:t>
            </a:r>
          </a:p>
        </p:txBody>
      </p:sp>
      <p:sp>
        <p:nvSpPr>
          <p:cNvPr id="9" name="TextBox 8"/>
          <p:cNvSpPr txBox="1"/>
          <p:nvPr/>
        </p:nvSpPr>
        <p:spPr>
          <a:xfrm>
            <a:off x="1330960" y="2159000"/>
            <a:ext cx="5194300" cy="1727200"/>
          </a:xfrm>
          <a:prstGeom prst="rect">
            <a:avLst/>
          </a:prstGeom>
          <a:noFill/>
        </p:spPr>
        <p:txBody>
          <a:bodyPr wrap="square" lIns="0" tIns="0" rIns="0" bIns="0">
            <a:spAutoFit/>
          </a:bodyPr>
          <a:lstStyle/>
          <a:p>
            <a:pPr algn="l">
              <a:lnSpc>
                <a:spcPct val="95000"/>
              </a:lnSpc>
            </a:pPr>
            <a:r>
              <a:rPr sz="1400" b="1">
                <a:solidFill>
                  <a:srgbClr val="A32638"/>
                </a:solidFill>
              </a:rPr>
              <a:t>Ein eigener Zugang für das Programm</a:t>
            </a:r>
          </a:p>
          <a:p>
            <a:pPr algn="l">
              <a:lnSpc>
                <a:spcPct val="95000"/>
              </a:lnSpc>
              <a:spcBef>
                <a:spcPts val="300"/>
              </a:spcBef>
            </a:pPr>
            <a:r>
              <a:rPr sz="1300" b="0">
                <a:solidFill>
                  <a:srgbClr val="404040"/>
                </a:solidFill>
              </a:rPr>
              <a:t>Ein Dienstschlüssel, der an der Row Level Security vorbeikommt</a:t>
            </a:r>
          </a:p>
          <a:p>
            <a:pPr algn="l">
              <a:lnSpc>
                <a:spcPct val="95000"/>
              </a:lnSpc>
              <a:spcBef>
                <a:spcPts val="300"/>
              </a:spcBef>
            </a:pPr>
            <a:r>
              <a:rPr sz="1300" b="0">
                <a:solidFill>
                  <a:srgbClr val="404040"/>
                </a:solidFill>
              </a:rPr>
              <a:t>Die Rechteprüfung steht im Programm — und ist dort änderbar</a:t>
            </a:r>
          </a:p>
          <a:p>
            <a:pPr algn="l">
              <a:lnSpc>
                <a:spcPct val="95000"/>
              </a:lnSpc>
              <a:spcBef>
                <a:spcPts val="300"/>
              </a:spcBef>
            </a:pPr>
            <a:r>
              <a:rPr sz="1300" b="0">
                <a:solidFill>
                  <a:srgbClr val="404040"/>
                </a:solidFill>
              </a:rPr>
              <a:t>Im Protokoll steht kein Name, die Änderung kam „vom System“</a:t>
            </a:r>
          </a:p>
          <a:p>
            <a:pPr algn="l">
              <a:lnSpc>
                <a:spcPct val="95000"/>
              </a:lnSpc>
              <a:spcBef>
                <a:spcPts val="300"/>
              </a:spcBef>
            </a:pPr>
            <a:r>
              <a:rPr sz="1300" b="0">
                <a:solidFill>
                  <a:srgbClr val="404040"/>
                </a:solidFill>
              </a:rPr>
              <a:t>Weniger erlauben heißt: Programmcode ändern</a:t>
            </a:r>
          </a:p>
        </p:txBody>
      </p:sp>
      <p:sp>
        <p:nvSpPr>
          <p:cNvPr id="10" name="Rectangle 9"/>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gewählte Weg</a:t>
            </a:r>
          </a:p>
        </p:txBody>
      </p:sp>
      <p:sp>
        <p:nvSpPr>
          <p:cNvPr id="13" name="TextBox 12"/>
          <p:cNvSpPr txBox="1"/>
          <p:nvPr/>
        </p:nvSpPr>
        <p:spPr>
          <a:xfrm>
            <a:off x="7274559" y="2159000"/>
            <a:ext cx="5194300" cy="1727200"/>
          </a:xfrm>
          <a:prstGeom prst="rect">
            <a:avLst/>
          </a:prstGeom>
          <a:noFill/>
        </p:spPr>
        <p:txBody>
          <a:bodyPr wrap="square" lIns="0" tIns="0" rIns="0" bIns="0">
            <a:spAutoFit/>
          </a:bodyPr>
          <a:lstStyle/>
          <a:p>
            <a:pPr algn="l">
              <a:lnSpc>
                <a:spcPct val="95000"/>
              </a:lnSpc>
            </a:pPr>
            <a:r>
              <a:rPr sz="1400" b="1">
                <a:solidFill>
                  <a:srgbClr val="55801C"/>
                </a:solidFill>
              </a:rPr>
              <a:t>Ein Konto wie jedes andere</a:t>
            </a:r>
          </a:p>
          <a:p>
            <a:pPr algn="l">
              <a:lnSpc>
                <a:spcPct val="95000"/>
              </a:lnSpc>
              <a:spcBef>
                <a:spcPts val="300"/>
              </a:spcBef>
            </a:pPr>
            <a:r>
              <a:rPr sz="1300" b="0">
                <a:solidFill>
                  <a:srgbClr val="404040"/>
                </a:solidFill>
              </a:rPr>
              <a:t>Anmeldung mit E-Mail und Passwort, wie bei jedem Mitarbeitenden</a:t>
            </a:r>
          </a:p>
          <a:p>
            <a:pPr algn="l">
              <a:lnSpc>
                <a:spcPct val="95000"/>
              </a:lnSpc>
              <a:spcBef>
                <a:spcPts val="300"/>
              </a:spcBef>
            </a:pPr>
            <a:r>
              <a:rPr sz="1300" b="0">
                <a:solidFill>
                  <a:srgbClr val="404040"/>
                </a:solidFill>
              </a:rPr>
              <a:t>Die Fachrollen hängen am Mitarbeitersatz — mehr hat es nicht</a:t>
            </a:r>
          </a:p>
          <a:p>
            <a:pPr algn="l">
              <a:lnSpc>
                <a:spcPct val="95000"/>
              </a:lnSpc>
              <a:spcBef>
                <a:spcPts val="300"/>
              </a:spcBef>
            </a:pPr>
            <a:r>
              <a:rPr sz="1300" b="0">
                <a:solidFill>
                  <a:srgbClr val="404040"/>
                </a:solidFill>
              </a:rPr>
              <a:t>hat_rolle() entscheidet in der Sicht, nicht im Programm</a:t>
            </a:r>
          </a:p>
          <a:p>
            <a:pPr algn="l">
              <a:lnSpc>
                <a:spcPct val="95000"/>
              </a:lnSpc>
              <a:spcBef>
                <a:spcPts val="300"/>
              </a:spcBef>
            </a:pPr>
            <a:r>
              <a:rPr sz="1300" b="0">
                <a:solidFill>
                  <a:srgbClr val="404040"/>
                </a:solidFill>
              </a:rPr>
              <a:t>Jede Änderung trägt die Personalnummer des Agentenkontos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Im Programm steht keine einzige Rechteprüfung. Wer dem Agenten weniger erlauben will, nimmt seinem Konto eine Rolle weg — nicht seiner Aufgabenbeschreibung.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Zwanzig Werkzeuge — und fünf, die mit Absicht fehlen</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Programm bietet genau die Funktionen an, die auch die Warenwirtschaft benutzt. Was fehlt, fehlt aus einem Grund, den man am Modell ablesen kann.</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Vier zum Lesen</a:t>
            </a:r>
          </a:p>
          <a:p>
            <a:pPr algn="l">
              <a:lnSpc>
                <a:spcPct val="95000"/>
              </a:lnSpc>
              <a:spcBef>
                <a:spcPts val="500"/>
              </a:spcBef>
            </a:pPr>
            <a:r>
              <a:rPr sz="1300" b="0">
                <a:solidFill>
                  <a:srgbClr val="404040"/>
                </a:solidFill>
              </a:rPr>
              <a:t>Sichten auflisten und abfragen</a:t>
            </a:r>
          </a:p>
          <a:p>
            <a:pPr algn="l">
              <a:lnSpc>
                <a:spcPct val="95000"/>
              </a:lnSpc>
              <a:spcBef>
                <a:spcPts val="500"/>
              </a:spcBef>
            </a:pPr>
            <a:r>
              <a:rPr sz="1300" b="0">
                <a:solidFill>
                  <a:srgbClr val="404040"/>
                </a:solidFill>
              </a:rPr>
              <a:t>Änderungsprotokoll — nur mit der Rolle leitung</a:t>
            </a:r>
          </a:p>
          <a:p>
            <a:pPr algn="l">
              <a:lnSpc>
                <a:spcPct val="95000"/>
              </a:lnSpc>
              <a:spcBef>
                <a:spcPts val="500"/>
              </a:spcBef>
            </a:pPr>
            <a:r>
              <a:rPr sz="1300" b="0">
                <a:solidFill>
                  <a:srgbClr val="404040"/>
                </a:solidFill>
              </a:rPr>
              <a:t>Radereignisse mit Vorher und Nachher</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Sechzehn zum Ändern</a:t>
            </a:r>
          </a:p>
          <a:p>
            <a:pPr algn="l">
              <a:lnSpc>
                <a:spcPct val="95000"/>
              </a:lnSpc>
              <a:spcBef>
                <a:spcPts val="500"/>
              </a:spcBef>
            </a:pPr>
            <a:r>
              <a:rPr sz="1300" b="0">
                <a:solidFill>
                  <a:srgbClr val="404040"/>
                </a:solidFill>
              </a:rPr>
              <a:t>Räder, Kunden und Stationen anlegen</a:t>
            </a:r>
          </a:p>
          <a:p>
            <a:pPr algn="l">
              <a:lnSpc>
                <a:spcPct val="95000"/>
              </a:lnSpc>
              <a:spcBef>
                <a:spcPts val="500"/>
              </a:spcBef>
            </a:pPr>
            <a:r>
              <a:rPr sz="1300" b="0">
                <a:solidFill>
                  <a:srgbClr val="404040"/>
                </a:solidFill>
              </a:rPr>
              <a:t>Status setzen, Schäden melden, Aufträge schließen</a:t>
            </a:r>
          </a:p>
          <a:p>
            <a:pPr algn="l">
              <a:lnSpc>
                <a:spcPct val="95000"/>
              </a:lnSpc>
              <a:spcBef>
                <a:spcPts val="500"/>
              </a:spcBef>
            </a:pPr>
            <a:r>
              <a:rPr sz="1300" b="0">
                <a:solidFill>
                  <a:srgbClr val="404040"/>
                </a:solidFill>
              </a:rPr>
              <a:t>Drei davon sind nicht rücknehmbar</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Fünf ausgelassen</a:t>
            </a:r>
          </a:p>
          <a:p>
            <a:pPr algn="l">
              <a:lnSpc>
                <a:spcPct val="95000"/>
              </a:lnSpc>
              <a:spcBef>
                <a:spcPts val="500"/>
              </a:spcBef>
            </a:pPr>
            <a:r>
              <a:rPr sz="1300" b="0">
                <a:solidFill>
                  <a:srgbClr val="404040"/>
                </a:solidFill>
              </a:rPr>
              <a:t>Ausleihe starten und beenden, Profil, Kundensatz, Preisschätzer</a:t>
            </a:r>
          </a:p>
          <a:p>
            <a:pPr algn="l">
              <a:lnSpc>
                <a:spcPct val="95000"/>
              </a:lnSpc>
              <a:spcBef>
                <a:spcPts val="500"/>
              </a:spcBef>
            </a:pPr>
            <a:r>
              <a:rPr sz="1300" b="0">
                <a:solidFill>
                  <a:srgbClr val="404040"/>
                </a:solidFill>
              </a:rPr>
              <a:t>Alle handeln auf dem eigenen Kundensatz des Aufrufers</a:t>
            </a:r>
          </a:p>
          <a:p>
            <a:pPr algn="l">
              <a:lnSpc>
                <a:spcPct val="95000"/>
              </a:lnSpc>
              <a:spcBef>
                <a:spcPts val="500"/>
              </a:spcBef>
            </a:pPr>
            <a:r>
              <a:rPr sz="1300" b="0">
                <a:solidFill>
                  <a:srgbClr val="404040"/>
                </a:solidFill>
              </a:rPr>
              <a:t>Ein Mitarbeiterkonto hat keinen — sie liefen in einen Fehler</a:t>
            </a:r>
          </a:p>
        </p:txBody>
      </p:sp>
      <p:sp>
        <p:nvSpPr>
          <p:cNvPr id="15" name="Rectangle 14"/>
          <p:cNvSpPr/>
          <p:nvPr/>
        </p:nvSpPr>
        <p:spPr>
          <a:xfrm>
            <a:off x="1153160" y="5080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56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Auslassen ist eine Entscheidung, kein Vergessen: eine Prüfung verlangt zu jeder api_-Funktion entweder ein Werkzeug oder einen Eintrag in der Ausnahmeliste.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Löschen: zwei Rechtsgrundlagen, ein Kunde</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Kunde verlangt Löschung, seine Rechnungen sind aufbewahrungspflichtig. Beides gilt gleichzeitig — deshalb gibt es zwei Funktionen und nicht eine.</a:t>
            </a:r>
          </a:p>
        </p:txBody>
      </p:sp>
      <p:sp>
        <p:nvSpPr>
          <p:cNvPr id="6" name="Rectangle 5"/>
          <p:cNvSpPr/>
          <p:nvPr/>
        </p:nvSpPr>
        <p:spPr>
          <a:xfrm>
            <a:off x="1153160" y="1879600"/>
            <a:ext cx="2413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566160" y="1879600"/>
            <a:ext cx="453009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Anonymisieren</a:t>
            </a:r>
          </a:p>
        </p:txBody>
      </p:sp>
      <p:sp>
        <p:nvSpPr>
          <p:cNvPr id="8" name="Rectangle 7"/>
          <p:cNvSpPr/>
          <p:nvPr/>
        </p:nvSpPr>
        <p:spPr>
          <a:xfrm>
            <a:off x="8096250" y="1879600"/>
            <a:ext cx="453136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Vollständig löschen</a:t>
            </a:r>
          </a:p>
        </p:txBody>
      </p:sp>
      <p:sp>
        <p:nvSpPr>
          <p:cNvPr id="9" name="Rectangle 8"/>
          <p:cNvSpPr/>
          <p:nvPr/>
        </p:nvSpPr>
        <p:spPr>
          <a:xfrm>
            <a:off x="1153160" y="22860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a:t>
            </a:r>
          </a:p>
        </p:txBody>
      </p:sp>
      <p:sp>
        <p:nvSpPr>
          <p:cNvPr id="10" name="Rectangle 9"/>
          <p:cNvSpPr/>
          <p:nvPr/>
        </p:nvSpPr>
        <p:spPr>
          <a:xfrm>
            <a:off x="3566160" y="22860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hängen Belege daran</a:t>
            </a:r>
          </a:p>
        </p:txBody>
      </p:sp>
      <p:sp>
        <p:nvSpPr>
          <p:cNvPr id="11" name="Rectangle 10"/>
          <p:cNvSpPr/>
          <p:nvPr/>
        </p:nvSpPr>
        <p:spPr>
          <a:xfrm>
            <a:off x="8096250" y="22860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hängt nichts daran</a:t>
            </a:r>
          </a:p>
        </p:txBody>
      </p:sp>
      <p:sp>
        <p:nvSpPr>
          <p:cNvPr id="12" name="Rectangle 11"/>
          <p:cNvSpPr/>
          <p:nvPr/>
        </p:nvSpPr>
        <p:spPr>
          <a:xfrm>
            <a:off x="1153160" y="26924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Fachzeile</a:t>
            </a:r>
          </a:p>
        </p:txBody>
      </p:sp>
      <p:sp>
        <p:nvSpPr>
          <p:cNvPr id="13" name="Rectangle 12"/>
          <p:cNvSpPr/>
          <p:nvPr/>
        </p:nvSpPr>
        <p:spPr>
          <a:xfrm>
            <a:off x="3566160" y="26924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bleibt stehen</a:t>
            </a:r>
          </a:p>
        </p:txBody>
      </p:sp>
      <p:sp>
        <p:nvSpPr>
          <p:cNvPr id="14" name="Rectangle 13"/>
          <p:cNvSpPr/>
          <p:nvPr/>
        </p:nvSpPr>
        <p:spPr>
          <a:xfrm>
            <a:off x="8096250" y="26924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verschwindet</a:t>
            </a:r>
          </a:p>
        </p:txBody>
      </p:sp>
      <p:sp>
        <p:nvSpPr>
          <p:cNvPr id="15" name="Rectangle 14"/>
          <p:cNvSpPr/>
          <p:nvPr/>
        </p:nvSpPr>
        <p:spPr>
          <a:xfrm>
            <a:off x="1153160" y="30988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Personendaten</a:t>
            </a:r>
          </a:p>
        </p:txBody>
      </p:sp>
      <p:sp>
        <p:nvSpPr>
          <p:cNvPr id="16" name="Rectangle 15"/>
          <p:cNvSpPr/>
          <p:nvPr/>
        </p:nvSpPr>
        <p:spPr>
          <a:xfrm>
            <a:off x="3566160" y="30988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werden überschrieben</a:t>
            </a:r>
          </a:p>
        </p:txBody>
      </p:sp>
      <p:sp>
        <p:nvSpPr>
          <p:cNvPr id="17" name="Rectangle 16"/>
          <p:cNvSpPr/>
          <p:nvPr/>
        </p:nvSpPr>
        <p:spPr>
          <a:xfrm>
            <a:off x="8096250" y="30988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sind weg</a:t>
            </a:r>
          </a:p>
        </p:txBody>
      </p:sp>
      <p:sp>
        <p:nvSpPr>
          <p:cNvPr id="18" name="Rectangle 17"/>
          <p:cNvSpPr/>
          <p:nvPr/>
        </p:nvSpPr>
        <p:spPr>
          <a:xfrm>
            <a:off x="1153160" y="35052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Grundlage</a:t>
            </a:r>
          </a:p>
        </p:txBody>
      </p:sp>
      <p:sp>
        <p:nvSpPr>
          <p:cNvPr id="19" name="Rectangle 18"/>
          <p:cNvSpPr/>
          <p:nvPr/>
        </p:nvSpPr>
        <p:spPr>
          <a:xfrm>
            <a:off x="3566160" y="35052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3 lit. b DSGVO</a:t>
            </a:r>
          </a:p>
        </p:txBody>
      </p:sp>
      <p:sp>
        <p:nvSpPr>
          <p:cNvPr id="20" name="Rectangle 19"/>
          <p:cNvSpPr/>
          <p:nvPr/>
        </p:nvSpPr>
        <p:spPr>
          <a:xfrm>
            <a:off x="8096250" y="35052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1 DSGVO</a:t>
            </a:r>
          </a:p>
        </p:txBody>
      </p:sp>
      <p:sp>
        <p:nvSpPr>
          <p:cNvPr id="21" name="Rectangle 20"/>
          <p:cNvSpPr/>
          <p:nvPr/>
        </p:nvSpPr>
        <p:spPr>
          <a:xfrm>
            <a:off x="1153160" y="39116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Dahinter</a:t>
            </a:r>
          </a:p>
        </p:txBody>
      </p:sp>
      <p:sp>
        <p:nvSpPr>
          <p:cNvPr id="22" name="Rectangle 21"/>
          <p:cNvSpPr/>
          <p:nvPr/>
        </p:nvSpPr>
        <p:spPr>
          <a:xfrm>
            <a:off x="3566160" y="39116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147 AO, § 257 HGB: zehn Jahre</a:t>
            </a:r>
          </a:p>
        </p:txBody>
      </p:sp>
      <p:sp>
        <p:nvSpPr>
          <p:cNvPr id="23" name="Rectangle 22"/>
          <p:cNvSpPr/>
          <p:nvPr/>
        </p:nvSpPr>
        <p:spPr>
          <a:xfrm>
            <a:off x="8096250" y="39116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Aufbewahrungspflicht</a:t>
            </a:r>
          </a:p>
        </p:txBody>
      </p:sp>
      <p:sp>
        <p:nvSpPr>
          <p:cNvPr id="24" name="Rectangle 23"/>
          <p:cNvSpPr/>
          <p:nvPr/>
        </p:nvSpPr>
        <p:spPr>
          <a:xfrm>
            <a:off x="1153160" y="43180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Rolle</a:t>
            </a:r>
          </a:p>
        </p:txBody>
      </p:sp>
      <p:sp>
        <p:nvSpPr>
          <p:cNvPr id="25" name="Rectangle 24"/>
          <p:cNvSpPr/>
          <p:nvPr/>
        </p:nvSpPr>
        <p:spPr>
          <a:xfrm>
            <a:off x="3566160" y="43180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leitung</a:t>
            </a:r>
          </a:p>
        </p:txBody>
      </p:sp>
      <p:sp>
        <p:nvSpPr>
          <p:cNvPr id="26" name="Rectangle 25"/>
          <p:cNvSpPr/>
          <p:nvPr/>
        </p:nvSpPr>
        <p:spPr>
          <a:xfrm>
            <a:off x="8096250" y="43180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kundenservice</a:t>
            </a:r>
          </a:p>
        </p:txBody>
      </p:sp>
      <p:sp>
        <p:nvSpPr>
          <p:cNvPr id="27" name="Rectangle 26"/>
          <p:cNvSpPr/>
          <p:nvPr/>
        </p:nvSpPr>
        <p:spPr>
          <a:xfrm>
            <a:off x="1153160" y="5308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384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Agent muss das nicht wissen: Beim Versuch am falschen Kunden antwortet die Datenbank selbst — „nicht löschbar: Fahrten und Rechnungen hängen daran. Aufbewahrungspflicht nach § 147 AO und § 257 HGB.“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er getan hat — und der Weg zurück</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Programm, das ändern darf, ist nur dann vorführbar, wenn hinterher nachvollziehbar ist, was es geändert hat. Dafür führt das Modell zwei getrennte Bücher.</a:t>
            </a:r>
          </a:p>
        </p:txBody>
      </p:sp>
      <p:sp>
        <p:nvSpPr>
          <p:cNvPr id="6" name="Rectangle 5"/>
          <p:cNvSpPr/>
          <p:nvPr/>
        </p:nvSpPr>
        <p:spPr>
          <a:xfrm>
            <a:off x="1153160" y="1879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57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Kunde, Mitarbeiter, Station — wer, wann, welches Feld</a:t>
            </a:r>
          </a:p>
        </p:txBody>
      </p:sp>
      <p:sp>
        <p:nvSpPr>
          <p:cNvPr id="10" name="Rounded Rectangle 9"/>
          <p:cNvSpPr/>
          <p:nvPr/>
        </p:nvSpPr>
        <p:spPr>
          <a:xfrm>
            <a:off x="9935210" y="19939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1" name="Rectangle 10"/>
          <p:cNvSpPr/>
          <p:nvPr/>
        </p:nvSpPr>
        <p:spPr>
          <a:xfrm>
            <a:off x="1153160" y="2692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692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870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7686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Lebenslaufakte  </a:t>
            </a:r>
            <a:r>
              <a:rPr sz="1300">
                <a:solidFill>
                  <a:srgbClr val="404040"/>
                </a:solidFill>
              </a:rPr>
              <a:t>Räder führen ihr Vorher und Nachher im Klartext mit</a:t>
            </a:r>
          </a:p>
        </p:txBody>
      </p:sp>
      <p:sp>
        <p:nvSpPr>
          <p:cNvPr id="15" name="Rounded Rectangle 14"/>
          <p:cNvSpPr/>
          <p:nvPr/>
        </p:nvSpPr>
        <p:spPr>
          <a:xfrm>
            <a:off x="9935210" y="28067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fahrrad_ereignis</a:t>
            </a:r>
          </a:p>
        </p:txBody>
      </p:sp>
      <p:sp>
        <p:nvSpPr>
          <p:cNvPr id="16" name="Rectangle 15"/>
          <p:cNvSpPr/>
          <p:nvPr/>
        </p:nvSpPr>
        <p:spPr>
          <a:xfrm>
            <a:off x="1153160" y="3505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505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5814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Eigenes Konto  </a:t>
            </a:r>
            <a:r>
              <a:rPr sz="1300">
                <a:solidFill>
                  <a:srgbClr val="404040"/>
                </a:solidFill>
              </a:rPr>
              <a:t>Was ein Mensch tat und was ein Programm, bleibt trennbar</a:t>
            </a:r>
          </a:p>
        </p:txBody>
      </p:sp>
      <p:sp>
        <p:nvSpPr>
          <p:cNvPr id="20" name="Rounded Rectangle 19"/>
          <p:cNvSpPr/>
          <p:nvPr/>
        </p:nvSpPr>
        <p:spPr>
          <a:xfrm>
            <a:off x="9935210" y="36195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personalnummer</a:t>
            </a:r>
          </a:p>
        </p:txBody>
      </p:sp>
      <p:sp>
        <p:nvSpPr>
          <p:cNvPr id="21" name="Rectangle 20"/>
          <p:cNvSpPr/>
          <p:nvPr/>
        </p:nvSpPr>
        <p:spPr>
          <a:xfrm>
            <a:off x="1153160" y="4318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318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495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3942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Weg zurück  </a:t>
            </a:r>
            <a:r>
              <a:rPr sz="1300">
                <a:solidFill>
                  <a:srgbClr val="404040"/>
                </a:solidFill>
              </a:rPr>
              <a:t>Ausmustern und Löschen sind endgültig — zurück nur über den Abzug</a:t>
            </a:r>
          </a:p>
        </p:txBody>
      </p:sp>
      <p:sp>
        <p:nvSpPr>
          <p:cNvPr id="25" name="Rounded Rectangle 24"/>
          <p:cNvSpPr/>
          <p:nvPr/>
        </p:nvSpPr>
        <p:spPr>
          <a:xfrm>
            <a:off x="9935210" y="44323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pg_dump / pg_restore</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Wer Annas Rad ausmustert, steht danach in der Lebenslaufakte — Mensch wie Programm.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dreizehn Kapiteln — und was ist entworfen, aber nicht gebaut?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13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13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