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87312"/>
            <a:ext cx="11677650" cy="409937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88912"/>
            <a:ext cx="11474450" cy="389617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37 Basistabellen, für beide Anwendungen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16 Sichten, 14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Vier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Rollen, fünf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027765" y="1778000"/>
            <a:ext cx="5725239"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129365" y="1879600"/>
            <a:ext cx="5522039"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311400"/>
            <a:ext cx="5524500" cy="314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3622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Sternschema mit Beladung</a:t>
            </a:r>
          </a:p>
        </p:txBody>
      </p:sp>
      <p:sp>
        <p:nvSpPr>
          <p:cNvPr id="9" name="TextBox 8"/>
          <p:cNvSpPr txBox="1"/>
          <p:nvPr/>
        </p:nvSpPr>
        <p:spPr>
          <a:xfrm>
            <a:off x="1330960" y="2819400"/>
            <a:ext cx="5194300" cy="2514600"/>
          </a:xfrm>
          <a:prstGeom prst="rect">
            <a:avLst/>
          </a:prstGeom>
          <a:noFill/>
        </p:spPr>
        <p:txBody>
          <a:bodyPr wrap="square" lIns="0" tIns="0" rIns="0" bIns="0">
            <a:spAutoFit/>
          </a:bodyPr>
          <a:lstStyle/>
          <a:p>
            <a:pPr algn="l">
              <a:lnSpc>
                <a:spcPct val="95000"/>
              </a:lnSpc>
            </a:pPr>
            <a:r>
              <a:rPr sz="1400" b="1">
                <a:solidFill>
                  <a:srgbClr val="A32638"/>
                </a:solidFill>
              </a:rPr>
              <a:t>Eigene Fakten- und Dimensionstabellen</a:t>
            </a:r>
          </a:p>
          <a:p>
            <a:pPr algn="l">
              <a:lnSpc>
                <a:spcPct val="95000"/>
              </a:lnSpc>
              <a:spcBef>
                <a:spcPts val="300"/>
              </a:spcBef>
            </a:pPr>
            <a:r>
              <a:rPr sz="1300" b="0">
                <a:solidFill>
                  <a:srgbClr val="404040"/>
                </a:solidFill>
              </a:rPr>
              <a:t>+ Abfragen sind schnell, auch bei vielen Zeilen</a:t>
            </a:r>
          </a:p>
          <a:p>
            <a:pPr algn="l">
              <a:lnSpc>
                <a:spcPct val="95000"/>
              </a:lnSpc>
              <a:spcBef>
                <a:spcPts val="300"/>
              </a:spcBef>
            </a:pPr>
            <a:r>
              <a:rPr sz="1300" b="0">
                <a:solidFill>
                  <a:srgbClr val="404040"/>
                </a:solidFill>
              </a:rPr>
              <a:t>+ Historie bleibt erhalten, auch wenn sich</a:t>
            </a:r>
          </a:p>
          <a:p>
            <a:pPr algn="l">
              <a:lnSpc>
                <a:spcPct val="95000"/>
              </a:lnSpc>
              <a:spcBef>
                <a:spcPts val="300"/>
              </a:spcBef>
            </a:pPr>
            <a:r>
              <a:rPr sz="1300" b="0">
                <a:solidFill>
                  <a:srgbClr val="404040"/>
                </a:solidFill>
              </a:rPr>
              <a:t>   Stammdaten später ändern</a:t>
            </a:r>
          </a:p>
          <a:p>
            <a:pPr algn="l">
              <a:lnSpc>
                <a:spcPct val="95000"/>
              </a:lnSpc>
              <a:spcBef>
                <a:spcPts val="300"/>
              </a:spcBef>
            </a:pPr>
            <a:r>
              <a:rPr sz="1300" b="0">
                <a:solidFill>
                  <a:srgbClr val="404040"/>
                </a:solidFill>
              </a:rPr>
              <a:t>- Zweite Kopie der Wahrheit</a:t>
            </a:r>
          </a:p>
          <a:p>
            <a:pPr algn="l">
              <a:lnSpc>
                <a:spcPct val="95000"/>
              </a:lnSpc>
              <a:spcBef>
                <a:spcPts val="300"/>
              </a:spcBef>
            </a:pPr>
            <a:r>
              <a:rPr sz="1300" b="0">
                <a:solidFill>
                  <a:srgbClr val="404040"/>
                </a:solidFill>
              </a:rPr>
              <a:t>- Beladung muss gebaut und überwacht werden</a:t>
            </a:r>
          </a:p>
          <a:p>
            <a:pPr algn="l">
              <a:lnSpc>
                <a:spcPct val="95000"/>
              </a:lnSpc>
              <a:spcBef>
                <a:spcPts val="300"/>
              </a:spcBef>
            </a:pPr>
            <a:r>
              <a:rPr sz="1300" b="0">
                <a:solidFill>
                  <a:srgbClr val="404040"/>
                </a:solidFill>
              </a:rPr>
              <a:t>- Zahlen sind so alt wie der letzte Lauf</a:t>
            </a:r>
          </a:p>
        </p:txBody>
      </p:sp>
      <p:sp>
        <p:nvSpPr>
          <p:cNvPr id="10" name="Rectangle 9"/>
          <p:cNvSpPr/>
          <p:nvPr/>
        </p:nvSpPr>
        <p:spPr>
          <a:xfrm>
            <a:off x="7096759" y="2311400"/>
            <a:ext cx="5524500" cy="314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3114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3622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Sichten auf dem operativen Modell</a:t>
            </a:r>
          </a:p>
        </p:txBody>
      </p:sp>
      <p:sp>
        <p:nvSpPr>
          <p:cNvPr id="13" name="TextBox 12"/>
          <p:cNvSpPr txBox="1"/>
          <p:nvPr/>
        </p:nvSpPr>
        <p:spPr>
          <a:xfrm>
            <a:off x="7274559" y="2819400"/>
            <a:ext cx="5194300" cy="2514600"/>
          </a:xfrm>
          <a:prstGeom prst="rect">
            <a:avLst/>
          </a:prstGeom>
          <a:noFill/>
        </p:spPr>
        <p:txBody>
          <a:bodyPr wrap="square" lIns="0" tIns="0" rIns="0" bIns="0">
            <a:spAutoFit/>
          </a:bodyPr>
          <a:lstStyle/>
          <a:p>
            <a:pPr algn="l">
              <a:lnSpc>
                <a:spcPct val="95000"/>
              </a:lnSpc>
            </a:pPr>
            <a:r>
              <a:rPr sz="1400" b="1">
                <a:solidFill>
                  <a:srgbClr val="55801C"/>
                </a:solidFill>
              </a:rPr>
              <a:t>Was die Warenwirtschaft tut</a:t>
            </a:r>
          </a:p>
          <a:p>
            <a:pPr algn="l">
              <a:lnSpc>
                <a:spcPct val="95000"/>
              </a:lnSpc>
              <a:spcBef>
                <a:spcPts val="300"/>
              </a:spcBef>
            </a:pPr>
            <a:r>
              <a:rPr sz="1300" b="0">
                <a:solidFill>
                  <a:srgbClr val="404040"/>
                </a:solidFill>
              </a:rPr>
              <a:t>+ Keine Kopie, keine Beladung, kein Versatz</a:t>
            </a:r>
          </a:p>
          <a:p>
            <a:pPr algn="l">
              <a:lnSpc>
                <a:spcPct val="95000"/>
              </a:lnSpc>
              <a:spcBef>
                <a:spcPts val="300"/>
              </a:spcBef>
            </a:pPr>
            <a:r>
              <a:rPr sz="1300" b="0">
                <a:solidFill>
                  <a:srgbClr val="404040"/>
                </a:solidFill>
              </a:rPr>
              <a:t>+ Jede Zahl ist so aktuell wie die Fahrt selbst</a:t>
            </a:r>
          </a:p>
          <a:p>
            <a:pPr algn="l">
              <a:lnSpc>
                <a:spcPct val="95000"/>
              </a:lnSpc>
              <a:spcBef>
                <a:spcPts val="300"/>
              </a:spcBef>
            </a:pPr>
            <a:r>
              <a:rPr sz="1300" b="0">
                <a:solidFill>
                  <a:srgbClr val="404040"/>
                </a:solidFill>
              </a:rPr>
              <a:t>+ Eine Wahrheit, ein Schutzkonzept</a:t>
            </a:r>
          </a:p>
          <a:p>
            <a:pPr algn="l">
              <a:lnSpc>
                <a:spcPct val="95000"/>
              </a:lnSpc>
              <a:spcBef>
                <a:spcPts val="300"/>
              </a:spcBef>
            </a:pPr>
            <a:r>
              <a:rPr sz="1300" b="0">
                <a:solidFill>
                  <a:srgbClr val="404040"/>
                </a:solidFill>
              </a:rPr>
              <a:t>- Jede Abfrage rechnet neu</a:t>
            </a:r>
          </a:p>
          <a:p>
            <a:pPr algn="l">
              <a:lnSpc>
                <a:spcPct val="95000"/>
              </a:lnSpc>
              <a:spcBef>
                <a:spcPts val="300"/>
              </a:spcBef>
            </a:pPr>
            <a:r>
              <a:rPr sz="1300" b="0">
                <a:solidFill>
                  <a:srgbClr val="404040"/>
                </a:solidFill>
              </a:rPr>
              <a:t>- Bei 12 269 Ausleihen unkritisch,</a:t>
            </a:r>
          </a:p>
          <a:p>
            <a:pPr algn="l">
              <a:lnSpc>
                <a:spcPct val="95000"/>
              </a:lnSpc>
              <a:spcBef>
                <a:spcPts val="300"/>
              </a:spcBef>
            </a:pPr>
            <a:r>
              <a:rPr sz="1300" b="0">
                <a:solidFill>
                  <a:srgbClr val="404040"/>
                </a:solidFill>
              </a:rPr>
              <a:t>   bei Millionen nicht mehr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5259287" y="1778000"/>
            <a:ext cx="3262194"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5360887" y="1879600"/>
            <a:ext cx="3058994"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