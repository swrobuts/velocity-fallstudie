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Einstieg über die Dauer lohnt sich: Studierende schlagen zuerst eine Punktprognose vor. Die Frage, welche Genauigkeit man einer Kundin zusagen will, führt von selbst zur Spanne. Wichtig ist die Reihenfolge auf dieser Folie: Der Abnahmezeitraum wird versiegelt, bevor die erste Grafik gezeichnet wird.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überraschende Teil ist die Auswahlregel. Alle drei Verfahren nehmen die Hürden; ausgeliefert wird das betrieblich einfachste. Das ist eine Entscheidung über Betriebskosten, keine analytische — und sie war vorher festgelegt, sonst wäre sie eine nachträgliche Rechtfertigung.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Preis vor der Fahrt — aber niemand kennt die Dauer</a:t>
            </a:r>
          </a:p>
        </p:txBody>
      </p:sp>
      <p:sp>
        <p:nvSpPr>
          <p:cNvPr id="3" name="Text Placeholder 2"/>
          <p:cNvSpPr>
            <a:spLocks noGrp="1"/>
          </p:cNvSpPr>
          <p:nvPr>
            <p:ph type="body" idx="12" sz="quarter"/>
          </p:nvPr>
        </p:nvSpPr>
        <p:spPr/>
        <p:txBody>
          <a:bodyPr/>
          <a:lstStyle/>
          <a:p>
            <a:r>
              <a:t>Notebook 01 · Preisauskunft</a:t>
            </a:r>
          </a:p>
        </p:txBody>
      </p:sp>
      <p:sp>
        <p:nvSpPr>
          <p:cNvPr id="4" name="Text Placeholder 3"/>
          <p:cNvSpPr>
            <a:spLocks noGrp="1"/>
          </p:cNvSpPr>
          <p:nvPr>
            <p:ph type="body" idx="13" sz="quarter"/>
          </p:nvPr>
        </p:nvSpPr>
        <p:spPr/>
        <p:txBody>
          <a:bodyPr/>
          <a:lstStyle/>
          <a:p>
            <a:r>
              <a:t>Notebook 01 Regression Fahrtdauer, Abschnitte 1, 5 und 6.7. Synthetische Lehrdaten.</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Der Preis einer Fahrt ergibt sich aus ihrer Dauer. Beim Entsperren steht die noch nicht fest, angezeigt werden soll der Preis trotzdem. Der Ausweg ist nicht eine genauere Zahl, sondern eine Spanne, zu der sich das Unternehmen verbindlich äußern kann.</a:t>
            </a:r>
          </a:p>
        </p:txBody>
      </p:sp>
      <p:sp>
        <p:nvSpPr>
          <p:cNvPr id="6" name="Rounded Rectangle 5"/>
          <p:cNvSpPr/>
          <p:nvPr/>
        </p:nvSpPr>
        <p:spPr>
          <a:xfrm>
            <a:off x="1153160" y="24892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Anfrage
am Rad</a:t>
            </a:r>
          </a:p>
        </p:txBody>
      </p:sp>
      <p:sp>
        <p:nvSpPr>
          <p:cNvPr id="7" name="Pentagon 6"/>
          <p:cNvSpPr/>
          <p:nvPr/>
        </p:nvSpPr>
        <p:spPr>
          <a:xfrm>
            <a:off x="2880360"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Abnahme
versiegeln</a:t>
            </a:r>
          </a:p>
        </p:txBody>
      </p:sp>
      <p:sp>
        <p:nvSpPr>
          <p:cNvPr id="8" name="Pentagon 7"/>
          <p:cNvSpPr/>
          <p:nvPr/>
        </p:nvSpPr>
        <p:spPr>
          <a:xfrm>
            <a:off x="4904422"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Merkmale
prüfen</a:t>
            </a:r>
          </a:p>
        </p:txBody>
      </p:sp>
      <p:sp>
        <p:nvSpPr>
          <p:cNvPr id="9" name="Pentagon 8"/>
          <p:cNvSpPr/>
          <p:nvPr/>
        </p:nvSpPr>
        <p:spPr>
          <a:xfrm>
            <a:off x="6928484"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Spanne statt
Punktwert</a:t>
            </a:r>
          </a:p>
        </p:txBody>
      </p:sp>
      <p:sp>
        <p:nvSpPr>
          <p:cNvPr id="10" name="Pentagon 9"/>
          <p:cNvSpPr/>
          <p:nvPr/>
        </p:nvSpPr>
        <p:spPr>
          <a:xfrm>
            <a:off x="8952547"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Kandidaten am
selben Gate</a:t>
            </a:r>
          </a:p>
        </p:txBody>
      </p:sp>
      <p:sp>
        <p:nvSpPr>
          <p:cNvPr id="11" name="Rounded Rectangle 10"/>
          <p:cNvSpPr/>
          <p:nvPr/>
        </p:nvSpPr>
        <p:spPr>
          <a:xfrm>
            <a:off x="10976610" y="24892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Abnahme,
dann Anzeige</a:t>
            </a:r>
          </a:p>
        </p:txBody>
      </p:sp>
      <p:sp>
        <p:nvSpPr>
          <p:cNvPr id="12" name="Rectangle 11"/>
          <p:cNvSpPr/>
          <p:nvPr/>
        </p:nvSpPr>
        <p:spPr>
          <a:xfrm>
            <a:off x="1153160" y="3835400"/>
            <a:ext cx="11474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8354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962400"/>
            <a:ext cx="11093450" cy="1816100"/>
          </a:xfrm>
          <a:prstGeom prst="rect">
            <a:avLst/>
          </a:prstGeom>
          <a:noFill/>
        </p:spPr>
        <p:txBody>
          <a:bodyPr wrap="square" lIns="0" tIns="0" rIns="0" bIns="0">
            <a:spAutoFit/>
          </a:bodyPr>
          <a:lstStyle/>
          <a:p>
            <a:pPr algn="l">
              <a:lnSpc>
                <a:spcPct val="95000"/>
              </a:lnSpc>
            </a:pPr>
            <a:r>
              <a:rPr sz="1500" b="1">
                <a:solidFill>
                  <a:srgbClr val="003E6E"/>
                </a:solidFill>
              </a:rPr>
              <a:t>Das Erfolgskriterium — festgelegt vor der Messung</a:t>
            </a:r>
          </a:p>
          <a:p>
            <a:pPr algn="l">
              <a:lnSpc>
                <a:spcPct val="95000"/>
              </a:lnSpc>
              <a:spcBef>
                <a:spcPts val="500"/>
              </a:spcBef>
            </a:pPr>
            <a:r>
              <a:rPr sz="1300" b="0">
                <a:solidFill>
                  <a:srgbClr val="404040"/>
                </a:solidFill>
              </a:rPr>
              <a:t>Trifft: Die angezeigte Spanne enthält den tatsächlichen Preis in mindestens 80 % der Fälle — gemessen dort, wo die Schätzung überhaupt in den Preis eingeht.</a:t>
            </a:r>
          </a:p>
          <a:p>
            <a:pPr algn="l">
              <a:lnSpc>
                <a:spcPct val="95000"/>
              </a:lnSpc>
              <a:spcBef>
                <a:spcPts val="500"/>
              </a:spcBef>
            </a:pPr>
            <a:r>
              <a:rPr sz="1300" b="0">
                <a:solidFill>
                  <a:srgbClr val="404040"/>
                </a:solidFill>
              </a:rPr>
              <a:t>Nützt: Die Spanne umfasst höchstens zwölf Minuten und höchstens 60 % des angezeigten Preises; sonst zeigt die Anwendung nichts an.</a:t>
            </a:r>
          </a:p>
          <a:p>
            <a:pPr algn="l">
              <a:lnSpc>
                <a:spcPct val="95000"/>
              </a:lnSpc>
              <a:spcBef>
                <a:spcPts val="500"/>
              </a:spcBef>
            </a:pPr>
            <a:r>
              <a:rPr sz="1300" b="0">
                <a:solidFill>
                  <a:srgbClr val="404040"/>
                </a:solidFill>
              </a:rPr>
              <a:t>Reicht: Je Radtyp muss ein Mindestanteil der Anfragen beantwortet werden. Ein Verfahren, das für einen Radtyp schweigt, besteht nicht.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Perzentiltabelle — die einfachere Bauform</a:t>
            </a:r>
          </a:p>
        </p:txBody>
      </p:sp>
      <p:sp>
        <p:nvSpPr>
          <p:cNvPr id="3" name="Text Placeholder 2"/>
          <p:cNvSpPr>
            <a:spLocks noGrp="1"/>
          </p:cNvSpPr>
          <p:nvPr>
            <p:ph type="body" idx="12" sz="quarter"/>
          </p:nvPr>
        </p:nvSpPr>
        <p:spPr/>
        <p:txBody>
          <a:bodyPr/>
          <a:lstStyle/>
          <a:p>
            <a:r>
              <a:t>Notebook 01 · Ergebnis und Nutzen</a:t>
            </a:r>
          </a:p>
        </p:txBody>
      </p:sp>
      <p:sp>
        <p:nvSpPr>
          <p:cNvPr id="4" name="Text Placeholder 3"/>
          <p:cNvSpPr>
            <a:spLocks noGrp="1"/>
          </p:cNvSpPr>
          <p:nvPr>
            <p:ph type="body" idx="13" sz="quarter"/>
          </p:nvPr>
        </p:nvSpPr>
        <p:spPr/>
        <p:txBody>
          <a:bodyPr/>
          <a:lstStyle/>
          <a:p>
            <a:r>
              <a:t>Notebook 01 Regression Fahrtdauer, Abschnitte 1, 5 und 6.7. Synthetische Lehrdaten.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Alle drei geprüften Verfahren bestehen sämtliche Hürden. Entschieden hat deshalb nicht die Prognosegüte, sondern eine vorab benannte Auswahlregel: Bei gleicher Eignung gewinnt die Bauform, die ohne laufenden Dienst auskommt.</a:t>
            </a:r>
          </a:p>
        </p:txBody>
      </p:sp>
      <p:sp>
        <p:nvSpPr>
          <p:cNvPr id="6" name="Rectangle 5"/>
          <p:cNvSpPr/>
          <p:nvPr/>
        </p:nvSpPr>
        <p:spPr>
          <a:xfrm>
            <a:off x="115316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Ergebnis</a:t>
            </a:r>
          </a:p>
          <a:p>
            <a:pPr algn="l">
              <a:lnSpc>
                <a:spcPct val="95000"/>
              </a:lnSpc>
              <a:spcBef>
                <a:spcPts val="500"/>
              </a:spcBef>
            </a:pPr>
            <a:r>
              <a:rPr sz="1300" b="0">
                <a:solidFill>
                  <a:srgbClr val="404040"/>
                </a:solidFill>
              </a:rPr>
              <a:t>Zusage 80 %, auf dem versiegelten Abnahme-zeitraum belegt mit 81,1 %.</a:t>
            </a:r>
          </a:p>
          <a:p>
            <a:pPr algn="l">
              <a:lnSpc>
                <a:spcPct val="95000"/>
              </a:lnSpc>
              <a:spcBef>
                <a:spcPts val="500"/>
              </a:spcBef>
            </a:pPr>
            <a:r>
              <a:rPr sz="1300" b="0">
                <a:solidFill>
                  <a:srgbClr val="404040"/>
                </a:solidFill>
              </a:rPr>
              <a:t>7 von 7 Gates halten.</a:t>
            </a:r>
          </a:p>
          <a:p>
            <a:pPr algn="l">
              <a:lnSpc>
                <a:spcPct val="95000"/>
              </a:lnSpc>
              <a:spcBef>
                <a:spcPts val="500"/>
              </a:spcBef>
            </a:pPr>
            <a:r>
              <a:rPr sz="1300" b="0">
                <a:solidFill>
                  <a:srgbClr val="404040"/>
                </a:solidFill>
              </a:rPr>
              <a:t>Beantwortet werden 34 % der Anfragen.</a:t>
            </a:r>
          </a:p>
          <a:p>
            <a:pPr algn="l">
              <a:lnSpc>
                <a:spcPct val="95000"/>
              </a:lnSpc>
              <a:spcBef>
                <a:spcPts val="500"/>
              </a:spcBef>
            </a:pPr>
            <a:r>
              <a:rPr sz="1300" b="0">
                <a:solidFill>
                  <a:srgbClr val="404040"/>
                </a:solidFill>
              </a:rPr>
              <a:t>Status: sichtbar.</a:t>
            </a:r>
          </a:p>
        </p:txBody>
      </p:sp>
      <p:sp>
        <p:nvSpPr>
          <p:cNvPr id="9" name="Rectangle 8"/>
          <p:cNvSpPr/>
          <p:nvPr/>
        </p:nvSpPr>
        <p:spPr>
          <a:xfrm>
            <a:off x="511302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Der Preisrahmen steht vor dem Entsperren fest, nicht erst auf der Rechnung.</a:t>
            </a:r>
          </a:p>
          <a:p>
            <a:pPr algn="l">
              <a:lnSpc>
                <a:spcPct val="95000"/>
              </a:lnSpc>
              <a:spcBef>
                <a:spcPts val="500"/>
              </a:spcBef>
            </a:pPr>
            <a:r>
              <a:rPr sz="1300" b="0">
                <a:solidFill>
                  <a:srgbClr val="404040"/>
                </a:solidFill>
              </a:rPr>
              <a:t>Eine CSV-Datei genügt: kein Dienst, keine Bibliotheksversion, von Hand nachrechenbar.</a:t>
            </a:r>
          </a:p>
          <a:p>
            <a:pPr algn="l">
              <a:lnSpc>
                <a:spcPct val="95000"/>
              </a:lnSpc>
              <a:spcBef>
                <a:spcPts val="500"/>
              </a:spcBef>
            </a:pPr>
            <a:r>
              <a:rPr sz="1300" b="0">
                <a:solidFill>
                  <a:srgbClr val="404040"/>
                </a:solidFill>
              </a:rPr>
              <a:t>Wo die Spanne zu breit würde, schweigt die Anwendung — statt zu raten.</a:t>
            </a:r>
          </a:p>
        </p:txBody>
      </p:sp>
      <p:sp>
        <p:nvSpPr>
          <p:cNvPr id="12" name="Rectangle 11"/>
          <p:cNvSpPr/>
          <p:nvPr/>
        </p:nvSpPr>
        <p:spPr>
          <a:xfrm>
            <a:off x="908177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In 21 % der Fahrten weicht das Ende vom angegebenen Ziel ab. Die Zusage gilt nur für die gewählte Strecke und wird mit jeder Antwort genannt.</a:t>
            </a:r>
          </a:p>
          <a:p>
            <a:pPr algn="l">
              <a:lnSpc>
                <a:spcPct val="95000"/>
              </a:lnSpc>
              <a:spcBef>
                <a:spcPts val="500"/>
              </a:spcBef>
            </a:pPr>
            <a:r>
              <a:rPr sz="1300" b="0">
                <a:solidFill>
                  <a:srgbClr val="404040"/>
                </a:solidFill>
              </a:rPr>
              <a:t>Gültig für Fahrten bis 07.11.2026 — so weit reicht der Kalender.</a:t>
            </a:r>
          </a:p>
        </p:txBody>
      </p:sp>
      <p:sp>
        <p:nvSpPr>
          <p:cNvPr id="15" name="Rectangle 14"/>
          <p:cNvSpPr/>
          <p:nvPr/>
        </p:nvSpPr>
        <p:spPr>
          <a:xfrm>
            <a:off x="1153160" y="5054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30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Zugesagt wird eine Spanne, nicht eine Zahl — und gemessen wird an der Zusage, nicht an einer Kennzahl, die gut aussieht.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