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zwischen Ist-Wetter und Prognosewetter ist der Kern dieses Falls. Er lässt sich gut als Frage stellen: Welche Information hat die Disposition um 18 Uhr wirklich?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Dass das einfachere Verfahren gewinnt, ist kein Zufall und kein Argument gegen Boosting: Unter Prognoseunsicherheit verliert das flexiblere Modell mehr, weil es auf Merkmale reagiert, die selbst unsicher sind.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 Vorabend planen — mit dem Wetter, das man dann kennt</a:t>
            </a:r>
          </a:p>
        </p:txBody>
      </p:sp>
      <p:sp>
        <p:nvSpPr>
          <p:cNvPr id="3" name="Text Placeholder 2"/>
          <p:cNvSpPr>
            <a:spLocks noGrp="1"/>
          </p:cNvSpPr>
          <p:nvPr>
            <p:ph type="body" idx="12" sz="quarter"/>
          </p:nvPr>
        </p:nvSpPr>
        <p:spPr/>
        <p:txBody>
          <a:bodyPr/>
          <a:lstStyle/>
          <a:p>
            <a:r>
              <a:t>Notebook 04 · Nachfrageprognose</a:t>
            </a:r>
          </a:p>
        </p:txBody>
      </p:sp>
      <p:sp>
        <p:nvSpPr>
          <p:cNvPr id="4" name="Text Placeholder 3"/>
          <p:cNvSpPr>
            <a:spLocks noGrp="1"/>
          </p:cNvSpPr>
          <p:nvPr>
            <p:ph type="body" idx="13" sz="quarter"/>
          </p:nvPr>
        </p:nvSpPr>
        <p:spPr/>
        <p:txBody>
          <a:bodyPr/>
          <a:lstStyle/>
          <a:p>
            <a:r>
              <a:t>Notebook 04 Zeitreihe Nachfrageprognose, Abschnitte 1, 4 und 6. Synthetische Lehrdaten.</a:t>
            </a:r>
          </a:p>
        </p:txBody>
      </p:sp>
      <p:sp>
        <p:nvSpPr>
          <p:cNvPr id="5" name="TextBox 4"/>
          <p:cNvSpPr txBox="1"/>
          <p:nvPr/>
        </p:nvSpPr>
        <p:spPr>
          <a:xfrm>
            <a:off x="1066800" y="1143000"/>
            <a:ext cx="11557000" cy="762000"/>
          </a:xfrm>
          <a:prstGeom prst="rect">
            <a:avLst/>
          </a:prstGeom>
          <a:noFill/>
        </p:spPr>
        <p:txBody>
          <a:bodyPr wrap="square" lIns="0" tIns="0" rIns="0" bIns="0">
            <a:spAutoFit/>
          </a:bodyPr>
          <a:lstStyle/>
          <a:p>
            <a:pPr algn="just">
              <a:lnSpc>
                <a:spcPct val="95000"/>
              </a:lnSpc>
            </a:pPr>
            <a:r>
              <a:rPr sz="1400" b="0">
                <a:solidFill>
                  <a:srgbClr val="404040"/>
                </a:solidFill>
              </a:rPr>
              <a:t>Die Disposition plant abends für den kommenden Tag. Entscheidend ist nicht, wie gut ein Verfahren die Vergangenheit trifft, sondern wie gut es mit der Information arbeitet, die um 18 Uhr tatsächlich vorliegt — und das ist eine Wettervorhersage, kein gemessenes Wetter.</a:t>
            </a:r>
          </a:p>
        </p:txBody>
      </p:sp>
      <p:sp>
        <p:nvSpPr>
          <p:cNvPr id="6" name="Rounded Rectangle 5"/>
          <p:cNvSpPr/>
          <p:nvPr/>
        </p:nvSpPr>
        <p:spPr>
          <a:xfrm>
            <a:off x="1153160" y="2489200"/>
            <a:ext cx="1651000" cy="1066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Planung
am Vorabend</a:t>
            </a:r>
          </a:p>
        </p:txBody>
      </p:sp>
      <p:sp>
        <p:nvSpPr>
          <p:cNvPr id="7" name="Pentagon 6"/>
          <p:cNvSpPr/>
          <p:nvPr/>
        </p:nvSpPr>
        <p:spPr>
          <a:xfrm>
            <a:off x="2880360"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Fehler-
richtungen</a:t>
            </a:r>
          </a:p>
        </p:txBody>
      </p:sp>
      <p:sp>
        <p:nvSpPr>
          <p:cNvPr id="8" name="Pentagon 7"/>
          <p:cNvSpPr/>
          <p:nvPr/>
        </p:nvSpPr>
        <p:spPr>
          <a:xfrm>
            <a:off x="4904422"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Schnitt nach
der Zeit</a:t>
            </a:r>
          </a:p>
        </p:txBody>
      </p:sp>
      <p:sp>
        <p:nvSpPr>
          <p:cNvPr id="9" name="Pentagon 8"/>
          <p:cNvSpPr/>
          <p:nvPr/>
        </p:nvSpPr>
        <p:spPr>
          <a:xfrm>
            <a:off x="6928484"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Prognose-
wetter</a:t>
            </a:r>
          </a:p>
        </p:txBody>
      </p:sp>
      <p:sp>
        <p:nvSpPr>
          <p:cNvPr id="10" name="Pentagon 9"/>
          <p:cNvSpPr/>
          <p:nvPr/>
        </p:nvSpPr>
        <p:spPr>
          <a:xfrm>
            <a:off x="8952547"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4 · Vier Verfahren
vergleichen</a:t>
            </a:r>
          </a:p>
        </p:txBody>
      </p:sp>
      <p:sp>
        <p:nvSpPr>
          <p:cNvPr id="11" name="Rounded Rectangle 10"/>
          <p:cNvSpPr/>
          <p:nvPr/>
        </p:nvSpPr>
        <p:spPr>
          <a:xfrm>
            <a:off x="10976610" y="2489200"/>
            <a:ext cx="1651000" cy="10668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Tages-
prognose</a:t>
            </a:r>
          </a:p>
        </p:txBody>
      </p:sp>
      <p:sp>
        <p:nvSpPr>
          <p:cNvPr id="12" name="Rectangle 11"/>
          <p:cNvSpPr/>
          <p:nvPr/>
        </p:nvSpPr>
        <p:spPr>
          <a:xfrm>
            <a:off x="1153160" y="3835400"/>
            <a:ext cx="11474450" cy="18288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835400"/>
            <a:ext cx="50800" cy="182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962400"/>
            <a:ext cx="11093450" cy="1574800"/>
          </a:xfrm>
          <a:prstGeom prst="rect">
            <a:avLst/>
          </a:prstGeom>
          <a:noFill/>
        </p:spPr>
        <p:txBody>
          <a:bodyPr wrap="square" lIns="0" tIns="0" rIns="0" bIns="0">
            <a:spAutoFit/>
          </a:bodyPr>
          <a:lstStyle/>
          <a:p>
            <a:pPr algn="l">
              <a:lnSpc>
                <a:spcPct val="95000"/>
              </a:lnSpc>
            </a:pPr>
            <a:r>
              <a:rPr sz="1500" b="1">
                <a:solidFill>
                  <a:srgbClr val="003E6E"/>
                </a:solidFill>
              </a:rPr>
              <a:t>Das Erfolgskriterium — festgelegt vor der Messung</a:t>
            </a:r>
          </a:p>
          <a:p>
            <a:pPr algn="l">
              <a:lnSpc>
                <a:spcPct val="95000"/>
              </a:lnSpc>
              <a:spcBef>
                <a:spcPts val="500"/>
              </a:spcBef>
            </a:pPr>
            <a:r>
              <a:rPr sz="1300" b="0">
                <a:solidFill>
                  <a:srgbClr val="404040"/>
                </a:solidFill>
              </a:rPr>
              <a:t>Prognostiziert werden Fahrten, nicht Räder und nicht Schichten. Die Übersetzung in Dispositionsgrößen ist eine eigene Analyse und wird nicht stillschweigend mitgeliefert.</a:t>
            </a:r>
          </a:p>
          <a:p>
            <a:pPr algn="l">
              <a:lnSpc>
                <a:spcPct val="95000"/>
              </a:lnSpc>
              <a:spcBef>
                <a:spcPts val="500"/>
              </a:spcBef>
            </a:pPr>
            <a:r>
              <a:rPr sz="1300" b="0">
                <a:solidFill>
                  <a:srgbClr val="404040"/>
                </a:solidFill>
              </a:rPr>
              <a:t>Die beiden Fehlerrichtungen kosten unterschiedlich viel: zu wenig geplante Fahrten 4,00 €, zu viel geplante 0,80 € je Fahrt. Daraus folgt ein Sicherheitsaufschlag, der auf der Validierung gewählt wird.</a:t>
            </a:r>
          </a:p>
          <a:p>
            <a:pPr algn="l">
              <a:lnSpc>
                <a:spcPct val="95000"/>
              </a:lnSpc>
              <a:spcBef>
                <a:spcPts val="500"/>
              </a:spcBef>
            </a:pPr>
            <a:r>
              <a:rPr sz="1300" b="0">
                <a:solidFill>
                  <a:srgbClr val="404040"/>
                </a:solidFill>
              </a:rPr>
              <a:t>Verglichen wird ausschließlich unter Prognosewetter. Der Test wird erst geöffnet, nachdem Verfahren und Aufschlag feststehen.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einfachere Verfahren gewinnt — unter Prognosewetter</a:t>
            </a:r>
          </a:p>
        </p:txBody>
      </p:sp>
      <p:sp>
        <p:nvSpPr>
          <p:cNvPr id="3" name="Text Placeholder 2"/>
          <p:cNvSpPr>
            <a:spLocks noGrp="1"/>
          </p:cNvSpPr>
          <p:nvPr>
            <p:ph type="body" idx="12" sz="quarter"/>
          </p:nvPr>
        </p:nvSpPr>
        <p:spPr/>
        <p:txBody>
          <a:bodyPr/>
          <a:lstStyle/>
          <a:p>
            <a:r>
              <a:t>Notebook 04 · Ergebnis und Nutzen</a:t>
            </a:r>
          </a:p>
        </p:txBody>
      </p:sp>
      <p:sp>
        <p:nvSpPr>
          <p:cNvPr id="4" name="Text Placeholder 3"/>
          <p:cNvSpPr>
            <a:spLocks noGrp="1"/>
          </p:cNvSpPr>
          <p:nvPr>
            <p:ph type="body" idx="13" sz="quarter"/>
          </p:nvPr>
        </p:nvSpPr>
        <p:spPr/>
        <p:txBody>
          <a:bodyPr/>
          <a:lstStyle/>
          <a:p>
            <a:r>
              <a:t>Notebook 04 Zeitreihe Nachfrageprognose, Abschnitte 1, 4 und 6. Synthetische Lehrdaten.</a:t>
            </a:r>
          </a:p>
        </p:txBody>
      </p:sp>
      <p:sp>
        <p:nvSpPr>
          <p:cNvPr id="5" name="TextBox 4"/>
          <p:cNvSpPr txBox="1"/>
          <p:nvPr/>
        </p:nvSpPr>
        <p:spPr>
          <a:xfrm>
            <a:off x="1066800" y="1143000"/>
            <a:ext cx="11557000" cy="762000"/>
          </a:xfrm>
          <a:prstGeom prst="rect">
            <a:avLst/>
          </a:prstGeom>
          <a:noFill/>
        </p:spPr>
        <p:txBody>
          <a:bodyPr wrap="square" lIns="0" tIns="0" rIns="0" bIns="0">
            <a:spAutoFit/>
          </a:bodyPr>
          <a:lstStyle/>
          <a:p>
            <a:pPr algn="just">
              <a:lnSpc>
                <a:spcPct val="95000"/>
              </a:lnSpc>
            </a:pPr>
            <a:r>
              <a:rPr sz="1400" b="0">
                <a:solidFill>
                  <a:srgbClr val="404040"/>
                </a:solidFill>
              </a:rPr>
              <a:t>Gewählt wurde Lineare Regression. Unter Ist-Wetter liegen lineares Modell und Gradient Boosting praktisch gleichauf; erst unter Prognosewetter setzt sich das einfachere Verfahren ab. Die Modellwahl hängt damit unmittelbar daran, unter welchen Bedingungen man vergleicht.</a:t>
            </a:r>
          </a:p>
        </p:txBody>
      </p:sp>
      <p:sp>
        <p:nvSpPr>
          <p:cNvPr id="6" name="Rectangle 5"/>
          <p:cNvSpPr/>
          <p:nvPr/>
        </p:nvSpPr>
        <p:spPr>
          <a:xfrm>
            <a:off x="115316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Ergebnis</a:t>
            </a:r>
          </a:p>
          <a:p>
            <a:pPr algn="l">
              <a:lnSpc>
                <a:spcPct val="95000"/>
              </a:lnSpc>
              <a:spcBef>
                <a:spcPts val="500"/>
              </a:spcBef>
            </a:pPr>
            <a:r>
              <a:rPr sz="1300" b="0">
                <a:solidFill>
                  <a:srgbClr val="404040"/>
                </a:solidFill>
              </a:rPr>
              <a:t>Lineare Regression: mittlerer Fehler 13,9 Fahrten.</a:t>
            </a:r>
          </a:p>
          <a:p>
            <a:pPr algn="l">
              <a:lnSpc>
                <a:spcPct val="95000"/>
              </a:lnSpc>
              <a:spcBef>
                <a:spcPts val="500"/>
              </a:spcBef>
            </a:pPr>
            <a:r>
              <a:rPr sz="1300" b="0">
                <a:solidFill>
                  <a:srgbClr val="404040"/>
                </a:solidFill>
              </a:rPr>
              <a:t>Faustregel 29,7, Nullmodell 25,8.</a:t>
            </a:r>
          </a:p>
          <a:p>
            <a:pPr algn="l">
              <a:lnSpc>
                <a:spcPct val="95000"/>
              </a:lnSpc>
              <a:spcBef>
                <a:spcPts val="500"/>
              </a:spcBef>
            </a:pPr>
            <a:r>
              <a:rPr sz="1300" b="0">
                <a:solidFill>
                  <a:srgbClr val="404040"/>
                </a:solidFill>
              </a:rPr>
              <a:t>Unter Ist-Wetter: 11,14 gegen 11,09 — praktisch gleichauf.</a:t>
            </a:r>
          </a:p>
          <a:p>
            <a:pPr algn="l">
              <a:lnSpc>
                <a:spcPct val="95000"/>
              </a:lnSpc>
              <a:spcBef>
                <a:spcPts val="500"/>
              </a:spcBef>
            </a:pPr>
            <a:r>
              <a:rPr sz="1300" b="0">
                <a:solidFill>
                  <a:srgbClr val="404040"/>
                </a:solidFill>
              </a:rPr>
              <a:t>Status: schattenpilot.</a:t>
            </a:r>
          </a:p>
        </p:txBody>
      </p:sp>
      <p:sp>
        <p:nvSpPr>
          <p:cNvPr id="9" name="Rectangle 8"/>
          <p:cNvSpPr/>
          <p:nvPr/>
        </p:nvSpPr>
        <p:spPr>
          <a:xfrm>
            <a:off x="511302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Planung bekommt eine begründete Zahl statt eines Erfahrungswerts — und sie ist nachweislich besser als die bisherige Faustregel.</a:t>
            </a:r>
          </a:p>
          <a:p>
            <a:pPr algn="l">
              <a:lnSpc>
                <a:spcPct val="95000"/>
              </a:lnSpc>
              <a:spcBef>
                <a:spcPts val="500"/>
              </a:spcBef>
            </a:pPr>
            <a:r>
              <a:rPr sz="1300" b="0">
                <a:solidFill>
                  <a:srgbClr val="404040"/>
                </a:solidFill>
              </a:rPr>
              <a:t>Der Aufschlag von 46 % macht die teurere Fehlerrichtung zu einer sichtbaren Entscheidung statt zu einem Bauchgefühl.</a:t>
            </a:r>
          </a:p>
          <a:p>
            <a:pPr algn="l">
              <a:lnSpc>
                <a:spcPct val="95000"/>
              </a:lnSpc>
              <a:spcBef>
                <a:spcPts val="500"/>
              </a:spcBef>
            </a:pPr>
            <a:r>
              <a:rPr sz="1300" b="0">
                <a:solidFill>
                  <a:srgbClr val="404040"/>
                </a:solidFill>
              </a:rPr>
              <a:t>Ein Schattenpilot läuft mit und wird protokolliert, ohne dass jemand nach der Prognose handelt.</a:t>
            </a:r>
          </a:p>
        </p:txBody>
      </p:sp>
      <p:sp>
        <p:nvSpPr>
          <p:cNvPr id="12" name="Rectangle 11"/>
          <p:cNvSpPr/>
          <p:nvPr/>
        </p:nvSpPr>
        <p:spPr>
          <a:xfrm>
            <a:off x="908177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Prognostiziert wird die Gesamtzahl der Fahrten; gebraucht werden Räder je Station. Diese Umrechnung fehlt noch und ist keine Formel.</a:t>
            </a:r>
          </a:p>
          <a:p>
            <a:pPr algn="l">
              <a:lnSpc>
                <a:spcPct val="95000"/>
              </a:lnSpc>
              <a:spcBef>
                <a:spcPts val="500"/>
              </a:spcBef>
            </a:pPr>
            <a:r>
              <a:rPr sz="1300" b="0">
                <a:solidFill>
                  <a:srgbClr val="404040"/>
                </a:solidFill>
              </a:rPr>
              <a:t>Die Wetterunsicherheit ist simuliert, nicht gemessen — und ein Sommerfenster trägt keine Jahresaussage.</a:t>
            </a:r>
          </a:p>
        </p:txBody>
      </p:sp>
      <p:sp>
        <p:nvSpPr>
          <p:cNvPr id="15" name="Rectangle 14"/>
          <p:cNvSpPr/>
          <p:nvPr/>
        </p:nvSpPr>
        <p:spPr>
          <a:xfrm>
            <a:off x="1153160" y="5054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5130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Verglichen wird unter den Bedingungen des Einsatzes. Wer unter Ist-Wetter wählt, wählt für eine Lage, in der er nie liefert.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