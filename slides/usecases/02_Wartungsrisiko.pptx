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sich der Umweg über die Kosten. Solange die Frage lautet „wie genau ist das Modell?“, ist sie nicht beantwortbar — 60 Plätze und zwei ungleich teure Fehler machen daraus eine Entscheidung.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Punkt ist nicht, dass Modelle nichts taugen. Der Punkt ist, dass ein Vorsprung von neun Treffern in einem Quartal nichts belegt, solange die Grundrate zwischen den Quartalen um das Dreifache schwankt.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Begrenzte Werkstattkapazität — welche Räder zuerst?</a:t>
            </a:r>
          </a:p>
        </p:txBody>
      </p:sp>
      <p:sp>
        <p:nvSpPr>
          <p:cNvPr id="3" name="Text Placeholder 2"/>
          <p:cNvSpPr>
            <a:spLocks noGrp="1"/>
          </p:cNvSpPr>
          <p:nvPr>
            <p:ph type="body" idx="12" sz="quarter"/>
          </p:nvPr>
        </p:nvSpPr>
        <p:spPr/>
        <p:txBody>
          <a:bodyPr/>
          <a:lstStyle/>
          <a:p>
            <a:r>
              <a:t>Notebook 02 · Wartungsrisiko</a:t>
            </a:r>
          </a:p>
        </p:txBody>
      </p:sp>
      <p:sp>
        <p:nvSpPr>
          <p:cNvPr id="4" name="Text Placeholder 3"/>
          <p:cNvSpPr>
            <a:spLocks noGrp="1"/>
          </p:cNvSpPr>
          <p:nvPr>
            <p:ph type="body" idx="13" sz="quarter"/>
          </p:nvPr>
        </p:nvSpPr>
        <p:spPr/>
        <p:txBody>
          <a:bodyPr/>
          <a:lstStyle/>
          <a:p>
            <a:r>
              <a:t>Notebook 02 Klassifikation Wartungsrisiko, Abschnitte 1, 5 und 6. Synthetische Lehrdaten.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Werkstatt schafft 60 vorsorgliche Prüfungen je Quartal. Gesucht ist keine möglichst hohe Trefferquote, sondern die Liste, die den größten Schaden verhindert — und dafür müssen beide Fehlerarten zuerst bepreist werden.</a:t>
            </a:r>
          </a:p>
        </p:txBody>
      </p:sp>
      <p:sp>
        <p:nvSpPr>
          <p:cNvPr id="6" name="Rounded Rectangle 5"/>
          <p:cNvSpPr/>
          <p:nvPr/>
        </p:nvSpPr>
        <p:spPr>
          <a:xfrm>
            <a:off x="1153160" y="24892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Flotte und
Werkstatt</a:t>
            </a:r>
          </a:p>
        </p:txBody>
      </p:sp>
      <p:sp>
        <p:nvSpPr>
          <p:cNvPr id="7" name="Pentagon 6"/>
          <p:cNvSpPr/>
          <p:nvPr/>
        </p:nvSpPr>
        <p:spPr>
          <a:xfrm>
            <a:off x="2880360"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Fehler
bepreisen</a:t>
            </a:r>
          </a:p>
        </p:txBody>
      </p:sp>
      <p:sp>
        <p:nvSpPr>
          <p:cNvPr id="8" name="Pentagon 7"/>
          <p:cNvSpPr/>
          <p:nvPr/>
        </p:nvSpPr>
        <p:spPr>
          <a:xfrm>
            <a:off x="4904422"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Schnitt nach
der Zeit</a:t>
            </a:r>
          </a:p>
        </p:txBody>
      </p:sp>
      <p:sp>
        <p:nvSpPr>
          <p:cNvPr id="9" name="Pentagon 8"/>
          <p:cNvSpPr/>
          <p:nvPr/>
        </p:nvSpPr>
        <p:spPr>
          <a:xfrm>
            <a:off x="6928484"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Faustregeln
als Maßstab</a:t>
            </a:r>
          </a:p>
        </p:txBody>
      </p:sp>
      <p:sp>
        <p:nvSpPr>
          <p:cNvPr id="10" name="Pentagon 9"/>
          <p:cNvSpPr/>
          <p:nvPr/>
        </p:nvSpPr>
        <p:spPr>
          <a:xfrm>
            <a:off x="8952547" y="2489200"/>
            <a:ext cx="1947862"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4 · Modelle mit
Kostengewicht</a:t>
            </a:r>
          </a:p>
        </p:txBody>
      </p:sp>
      <p:sp>
        <p:nvSpPr>
          <p:cNvPr id="11" name="Rounded Rectangle 10"/>
          <p:cNvSpPr/>
          <p:nvPr/>
        </p:nvSpPr>
        <p:spPr>
          <a:xfrm>
            <a:off x="10976610" y="24892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Prüfliste
je Quartal</a:t>
            </a:r>
          </a:p>
        </p:txBody>
      </p:sp>
      <p:sp>
        <p:nvSpPr>
          <p:cNvPr id="12" name="Rectangle 11"/>
          <p:cNvSpPr/>
          <p:nvPr/>
        </p:nvSpPr>
        <p:spPr>
          <a:xfrm>
            <a:off x="1153160" y="3835400"/>
            <a:ext cx="11474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8354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962400"/>
            <a:ext cx="11093450" cy="1816100"/>
          </a:xfrm>
          <a:prstGeom prst="rect">
            <a:avLst/>
          </a:prstGeom>
          <a:noFill/>
        </p:spPr>
        <p:txBody>
          <a:bodyPr wrap="square" lIns="0" tIns="0" rIns="0" bIns="0">
            <a:spAutoFit/>
          </a:bodyPr>
          <a:lstStyle/>
          <a:p>
            <a:pPr algn="l">
              <a:lnSpc>
                <a:spcPct val="95000"/>
              </a:lnSpc>
            </a:pPr>
            <a:r>
              <a:rPr sz="1500" b="1">
                <a:solidFill>
                  <a:srgbClr val="003E6E"/>
                </a:solidFill>
              </a:rPr>
              <a:t>Das Erfolgskriterium — festgelegt vor der Messung</a:t>
            </a:r>
          </a:p>
          <a:p>
            <a:pPr algn="l">
              <a:lnSpc>
                <a:spcPct val="95000"/>
              </a:lnSpc>
              <a:spcBef>
                <a:spcPts val="500"/>
              </a:spcBef>
            </a:pPr>
            <a:r>
              <a:rPr sz="1300" b="0">
                <a:solidFill>
                  <a:srgbClr val="404040"/>
                </a:solidFill>
              </a:rPr>
              <a:t>Die Kostenmatrix steht am Anfang: ein übersehener Ausfall kostet 180 €, eine unnötige Prüfung 25 € — ein Verhältnis von rund 7 zu 1.</a:t>
            </a:r>
          </a:p>
          <a:p>
            <a:pPr algn="l">
              <a:lnSpc>
                <a:spcPct val="95000"/>
              </a:lnSpc>
              <a:spcBef>
                <a:spcPts val="500"/>
              </a:spcBef>
            </a:pPr>
            <a:r>
              <a:rPr sz="1300" b="0">
                <a:solidFill>
                  <a:srgbClr val="404040"/>
                </a:solidFill>
              </a:rPr>
              <a:t>Bindend sind drei Kriterien (K1 · K2 · K3): Nutzen über mehrere Quartale, Vergleich mit der heute verwendeten Faustregel und eine statistische Absicherung gegen eine mitlaufende Grundrate.</a:t>
            </a:r>
          </a:p>
          <a:p>
            <a:pPr algn="l">
              <a:lnSpc>
                <a:spcPct val="95000"/>
              </a:lnSpc>
              <a:spcBef>
                <a:spcPts val="500"/>
              </a:spcBef>
            </a:pPr>
            <a:r>
              <a:rPr sz="1300" b="0">
                <a:solidFill>
                  <a:srgbClr val="404040"/>
                </a:solidFill>
              </a:rPr>
              <a:t>Nicht bindend ist die ursprünglich genannte 70-Prozent-Marke. Sie bleibt als Diagnose stehen, weil sie in manchen Quartalen gar nicht erreichbar ist — das zeigt eine Rechnung, keine Meinung.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Faustregel gewinnt — und zwar nachweisbar</a:t>
            </a:r>
          </a:p>
        </p:txBody>
      </p:sp>
      <p:sp>
        <p:nvSpPr>
          <p:cNvPr id="3" name="Text Placeholder 2"/>
          <p:cNvSpPr>
            <a:spLocks noGrp="1"/>
          </p:cNvSpPr>
          <p:nvPr>
            <p:ph type="body" idx="12" sz="quarter"/>
          </p:nvPr>
        </p:nvSpPr>
        <p:spPr/>
        <p:txBody>
          <a:bodyPr/>
          <a:lstStyle/>
          <a:p>
            <a:r>
              <a:t>Notebook 02 · Ergebnis und Nutzen</a:t>
            </a:r>
          </a:p>
        </p:txBody>
      </p:sp>
      <p:sp>
        <p:nvSpPr>
          <p:cNvPr id="4" name="Text Placeholder 3"/>
          <p:cNvSpPr>
            <a:spLocks noGrp="1"/>
          </p:cNvSpPr>
          <p:nvPr>
            <p:ph type="body" idx="13" sz="quarter"/>
          </p:nvPr>
        </p:nvSpPr>
        <p:spPr/>
        <p:txBody>
          <a:bodyPr/>
          <a:lstStyle/>
          <a:p>
            <a:r>
              <a:t>Notebook 02 Klassifikation Wartungsrisiko, Abschnitte 1, 5 und 6. Synthetische Lehrdaten.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Im Testquartal trifft die Faustregel 53 Räder, das Random-Forest-Modell 44. Ausschlaggebend war jedoch nicht dieser Vorsprung, sondern die untere Vertrauensgrenze gegen eine Schwelle, die sich aus der Grundrate des Quartals ergibt.</a:t>
            </a:r>
          </a:p>
        </p:txBody>
      </p:sp>
      <p:sp>
        <p:nvSpPr>
          <p:cNvPr id="6" name="Rectangle 5"/>
          <p:cNvSpPr/>
          <p:nvPr/>
        </p:nvSpPr>
        <p:spPr>
          <a:xfrm>
            <a:off x="115316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Ergebnis</a:t>
            </a:r>
          </a:p>
          <a:p>
            <a:pPr algn="l">
              <a:lnSpc>
                <a:spcPct val="95000"/>
              </a:lnSpc>
              <a:spcBef>
                <a:spcPts val="500"/>
              </a:spcBef>
            </a:pPr>
            <a:r>
              <a:rPr sz="1300" b="0">
                <a:solidFill>
                  <a:srgbClr val="404040"/>
                </a:solidFill>
              </a:rPr>
              <a:t>Faustregel 77,8 % untere Grenze gegen geforderte 74,3 %.</a:t>
            </a:r>
          </a:p>
          <a:p>
            <a:pPr algn="l">
              <a:lnSpc>
                <a:spcPct val="95000"/>
              </a:lnSpc>
              <a:spcBef>
                <a:spcPts val="500"/>
              </a:spcBef>
            </a:pPr>
            <a:r>
              <a:rPr sz="1300" b="0">
                <a:solidFill>
                  <a:srgbClr val="404040"/>
                </a:solidFill>
              </a:rPr>
              <a:t>Random Forest: 61,0 % — verfehlt sie.</a:t>
            </a:r>
          </a:p>
          <a:p>
            <a:pPr algn="l">
              <a:lnSpc>
                <a:spcPct val="95000"/>
              </a:lnSpc>
              <a:spcBef>
                <a:spcPts val="500"/>
              </a:spcBef>
            </a:pPr>
            <a:r>
              <a:rPr sz="1300" b="0">
                <a:solidFill>
                  <a:srgbClr val="404040"/>
                </a:solidFill>
              </a:rPr>
              <a:t>Von zehn geprüften Rädern werden 8,8 auffällig.</a:t>
            </a:r>
          </a:p>
          <a:p>
            <a:pPr algn="l">
              <a:lnSpc>
                <a:spcPct val="95000"/>
              </a:lnSpc>
              <a:spcBef>
                <a:spcPts val="500"/>
              </a:spcBef>
            </a:pPr>
            <a:r>
              <a:rPr sz="1300" b="0">
                <a:solidFill>
                  <a:srgbClr val="404040"/>
                </a:solidFill>
              </a:rPr>
              <a:t>Von zehn auffälligen erfasst die Liste 4,6.</a:t>
            </a:r>
          </a:p>
        </p:txBody>
      </p:sp>
      <p:sp>
        <p:nvSpPr>
          <p:cNvPr id="9" name="Rectangle 8"/>
          <p:cNvSpPr/>
          <p:nvPr/>
        </p:nvSpPr>
        <p:spPr>
          <a:xfrm>
            <a:off x="511302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Liste entsteht ohne Modellbetrieb: eine Regel, die jede Werkstatt nachvollziehen und im Zweifel begründen kann.</a:t>
            </a:r>
          </a:p>
          <a:p>
            <a:pPr algn="l">
              <a:lnSpc>
                <a:spcPct val="95000"/>
              </a:lnSpc>
              <a:spcBef>
                <a:spcPts val="500"/>
              </a:spcBef>
            </a:pPr>
            <a:r>
              <a:rPr sz="1300" b="0">
                <a:solidFill>
                  <a:srgbClr val="404040"/>
                </a:solidFill>
              </a:rPr>
              <a:t>Das Kostenverhältnis steht sichtbar in der Entscheidung, statt in einer Kennzahl zu verschwinden.</a:t>
            </a:r>
          </a:p>
          <a:p>
            <a:pPr algn="l">
              <a:lnSpc>
                <a:spcPct val="95000"/>
              </a:lnSpc>
              <a:spcBef>
                <a:spcPts val="500"/>
              </a:spcBef>
            </a:pPr>
            <a:r>
              <a:rPr sz="1300" b="0">
                <a:solidFill>
                  <a:srgbClr val="404040"/>
                </a:solidFill>
              </a:rPr>
              <a:t>Treffsicherheit und Abdeckung werden getrennt berichtet — beide sind richtig und messen Verschiedenes.</a:t>
            </a:r>
          </a:p>
        </p:txBody>
      </p:sp>
      <p:sp>
        <p:nvSpPr>
          <p:cNvPr id="12" name="Rectangle 11"/>
          <p:cNvSpPr/>
          <p:nvPr/>
        </p:nvSpPr>
        <p:spPr>
          <a:xfrm>
            <a:off x="9081770" y="22352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2352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3622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Der Anteil auffälliger Räder schwankt über 8 Stichtage zwischen 14,4 % und 49,6 %. Ein einzelnes gutes Quartal belegt wenig.</a:t>
            </a:r>
          </a:p>
          <a:p>
            <a:pPr algn="l">
              <a:lnSpc>
                <a:spcPct val="95000"/>
              </a:lnSpc>
              <a:spcBef>
                <a:spcPts val="500"/>
              </a:spcBef>
            </a:pPr>
            <a:r>
              <a:rPr sz="1300" b="0">
                <a:solidFill>
                  <a:srgbClr val="404040"/>
                </a:solidFill>
              </a:rPr>
              <a:t>Beigelegt ist eine Prognoseliste zum 24.08.2026; bewertbar wird sie erst nach 90 Tagen.</a:t>
            </a:r>
          </a:p>
        </p:txBody>
      </p:sp>
      <p:sp>
        <p:nvSpPr>
          <p:cNvPr id="15" name="Rectangle 14"/>
          <p:cNvSpPr/>
          <p:nvPr/>
        </p:nvSpPr>
        <p:spPr>
          <a:xfrm>
            <a:off x="1153160" y="50546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51308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 Modell schlägt eine Faustregel nur dann, wenn die Faustregel mit derselben Sorgfalt gebaut wurde wie das Modell.</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