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drei Zeitpunkte sind der Schlüssel. Sobald man fragt, wann jemand auf die Information reagieren soll, zerfällt „auffällig“ von selbst in drei Aufgaben mit unterschiedlichen Anforderungen.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Rücksprung ist hier kein Betriebsunfall, sondern der Lerninhalt: Das Modell hat getan, was man ihm gesagt hat. Der Fehler lag in den Merkmalen — ein Lastenrad ist teurer als ein Citybike, und genau das hat der Isolation Forest gefunden.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BBA – Datenbanken | Wintersemester </a:t>
            </a:r>
            <a:r>
              <a:rPr lang="de-DE" sz="1800">
                <a:solidFill>
                  <a:schemeClr val="bg1"/>
                </a:solidFill>
                <a:latin typeface="GT Planar Medium" pitchFamily="50" charset="0"/>
                <a:ea typeface="GT Planar Medium" pitchFamily="50" charset="0"/>
              </a:rPr>
              <a:t>2026/27</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BBA – Datenbanken | Wintersemester 2026/27</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25.08.2026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„Auffällig“ ist keine Frage — es sind drei</a:t>
            </a:r>
          </a:p>
        </p:txBody>
      </p:sp>
      <p:sp>
        <p:nvSpPr>
          <p:cNvPr id="3" name="Text Placeholder 2"/>
          <p:cNvSpPr>
            <a:spLocks noGrp="1"/>
          </p:cNvSpPr>
          <p:nvPr>
            <p:ph type="body" idx="12" sz="quarter"/>
          </p:nvPr>
        </p:nvSpPr>
        <p:spPr/>
        <p:txBody>
          <a:bodyPr/>
          <a:lstStyle/>
          <a:p>
            <a:r>
              <a:t>Notebook 06 · Auffällige Vorgänge</a:t>
            </a:r>
          </a:p>
        </p:txBody>
      </p:sp>
      <p:sp>
        <p:nvSpPr>
          <p:cNvPr id="4" name="Text Placeholder 3"/>
          <p:cNvSpPr>
            <a:spLocks noGrp="1"/>
          </p:cNvSpPr>
          <p:nvPr>
            <p:ph type="body" idx="13" sz="quarter"/>
          </p:nvPr>
        </p:nvSpPr>
        <p:spPr/>
        <p:txBody>
          <a:bodyPr/>
          <a:lstStyle/>
          <a:p>
            <a:r>
              <a:t>Notebook 06 Anomalieerkennung, Abschnitte 1, 5 und 6. Synthetische Lehrdaten.</a:t>
            </a:r>
          </a:p>
        </p:txBody>
      </p:sp>
      <p:sp>
        <p:nvSpPr>
          <p:cNvPr id="5" name="TextBox 4"/>
          <p:cNvSpPr txBox="1"/>
          <p:nvPr/>
        </p:nvSpPr>
        <p:spPr>
          <a:xfrm>
            <a:off x="1066800" y="1143000"/>
            <a:ext cx="11557000" cy="762000"/>
          </a:xfrm>
          <a:prstGeom prst="rect">
            <a:avLst/>
          </a:prstGeom>
          <a:noFill/>
        </p:spPr>
        <p:txBody>
          <a:bodyPr wrap="square" lIns="0" tIns="0" rIns="0" bIns="0">
            <a:spAutoFit/>
          </a:bodyPr>
          <a:lstStyle/>
          <a:p>
            <a:pPr algn="just">
              <a:lnSpc>
                <a:spcPct val="95000"/>
              </a:lnSpc>
            </a:pPr>
            <a:r>
              <a:rPr sz="1400" b="0">
                <a:solidFill>
                  <a:srgbClr val="404040"/>
                </a:solidFill>
              </a:rPr>
              <a:t>Ein überfälliges Rad jetzt, eine seltsame abgeschlossene Fahrt heute früh und eine stillstehende Station gestern sind drei verschiedene Aufgaben mit drei Entscheidungszeitpunkten. Wer sie in einer Liste zusammenfasst, baut ein Produkt, das keine der drei Fragen beantwortet.</a:t>
            </a:r>
          </a:p>
        </p:txBody>
      </p:sp>
      <p:sp>
        <p:nvSpPr>
          <p:cNvPr id="6" name="Rounded Rectangle 5"/>
          <p:cNvSpPr/>
          <p:nvPr/>
        </p:nvSpPr>
        <p:spPr>
          <a:xfrm>
            <a:off x="1153160" y="2489200"/>
            <a:ext cx="1651000" cy="1066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404040"/>
                </a:solidFill>
              </a:rPr>
              <a:t>Vorgänge
im Betrieb</a:t>
            </a:r>
          </a:p>
        </p:txBody>
      </p:sp>
      <p:sp>
        <p:nvSpPr>
          <p:cNvPr id="7" name="Pentagon 6"/>
          <p:cNvSpPr/>
          <p:nvPr/>
        </p:nvSpPr>
        <p:spPr>
          <a:xfrm>
            <a:off x="2880360"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1 · Drei Fragen
trennen</a:t>
            </a:r>
          </a:p>
        </p:txBody>
      </p:sp>
      <p:sp>
        <p:nvSpPr>
          <p:cNvPr id="8" name="Pentagon 7"/>
          <p:cNvSpPr/>
          <p:nvPr/>
        </p:nvSpPr>
        <p:spPr>
          <a:xfrm>
            <a:off x="4904422"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2 · Listenlänge
ableiten</a:t>
            </a:r>
          </a:p>
        </p:txBody>
      </p:sp>
      <p:sp>
        <p:nvSpPr>
          <p:cNvPr id="9" name="Pentagon 8"/>
          <p:cNvSpPr/>
          <p:nvPr/>
        </p:nvSpPr>
        <p:spPr>
          <a:xfrm>
            <a:off x="6928484"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3 · Merkmale ohne
Preisklasse</a:t>
            </a:r>
          </a:p>
        </p:txBody>
      </p:sp>
      <p:sp>
        <p:nvSpPr>
          <p:cNvPr id="10" name="Pentagon 9"/>
          <p:cNvSpPr/>
          <p:nvPr/>
        </p:nvSpPr>
        <p:spPr>
          <a:xfrm>
            <a:off x="8952547"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4 · Tagesliste
messen</a:t>
            </a:r>
          </a:p>
        </p:txBody>
      </p:sp>
      <p:sp>
        <p:nvSpPr>
          <p:cNvPr id="11" name="Rounded Rectangle 10"/>
          <p:cNvSpPr/>
          <p:nvPr/>
        </p:nvSpPr>
        <p:spPr>
          <a:xfrm>
            <a:off x="10976610" y="2489200"/>
            <a:ext cx="1651000" cy="1066800"/>
          </a:xfrm>
          <a:prstGeom prst="round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FFFFFF"/>
                </a:solidFill>
              </a:rPr>
              <a:t>Prüfliste,
sechs Plätze</a:t>
            </a:r>
          </a:p>
        </p:txBody>
      </p:sp>
      <p:sp>
        <p:nvSpPr>
          <p:cNvPr id="12" name="Rectangle 11"/>
          <p:cNvSpPr/>
          <p:nvPr/>
        </p:nvSpPr>
        <p:spPr>
          <a:xfrm>
            <a:off x="1153160" y="3835400"/>
            <a:ext cx="11474450" cy="18288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3835400"/>
            <a:ext cx="50800" cy="1828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3962400"/>
            <a:ext cx="11093450" cy="1574800"/>
          </a:xfrm>
          <a:prstGeom prst="rect">
            <a:avLst/>
          </a:prstGeom>
          <a:noFill/>
        </p:spPr>
        <p:txBody>
          <a:bodyPr wrap="square" lIns="0" tIns="0" rIns="0" bIns="0">
            <a:spAutoFit/>
          </a:bodyPr>
          <a:lstStyle/>
          <a:p>
            <a:pPr algn="l">
              <a:lnSpc>
                <a:spcPct val="95000"/>
              </a:lnSpc>
            </a:pPr>
            <a:r>
              <a:rPr sz="1500" b="1">
                <a:solidFill>
                  <a:srgbClr val="003E6E"/>
                </a:solidFill>
              </a:rPr>
              <a:t>Das Erfolgskriterium — festgelegt vor der Messung</a:t>
            </a:r>
          </a:p>
          <a:p>
            <a:pPr algn="l">
              <a:lnSpc>
                <a:spcPct val="95000"/>
              </a:lnSpc>
              <a:spcBef>
                <a:spcPts val="500"/>
              </a:spcBef>
            </a:pPr>
            <a:r>
              <a:rPr sz="1300" b="0">
                <a:solidFill>
                  <a:srgbClr val="404040"/>
                </a:solidFill>
              </a:rPr>
              <a:t>Die Listenlänge ist abgeleitet, nicht gesetzt: 6 Plätze folgen aus dem verfügbaren Zeitbudget und der Prüfdauer je Fall.</a:t>
            </a:r>
          </a:p>
          <a:p>
            <a:pPr algn="l">
              <a:lnSpc>
                <a:spcPct val="95000"/>
              </a:lnSpc>
              <a:spcBef>
                <a:spcPts val="500"/>
              </a:spcBef>
            </a:pPr>
            <a:r>
              <a:rPr sz="1300" b="0">
                <a:solidFill>
                  <a:srgbClr val="404040"/>
                </a:solidFill>
              </a:rPr>
              <a:t>Für die Prüfliste gilt eine Präzision von mindestens 20 % je neuem Alarm, ein Recall von 60 % der Episoden und höchstens 1 Tag Verzug.</a:t>
            </a:r>
          </a:p>
          <a:p>
            <a:pPr algn="l">
              <a:lnSpc>
                <a:spcPct val="95000"/>
              </a:lnSpc>
              <a:spcBef>
                <a:spcPts val="500"/>
              </a:spcBef>
            </a:pPr>
            <a:r>
              <a:rPr sz="1300" b="0">
                <a:solidFill>
                  <a:srgbClr val="404040"/>
                </a:solidFill>
              </a:rPr>
              <a:t>Für die Rangliste auffälliger Fahrten gibt es bewusst kein Gütekriterium: Es fehlt ein Label. Was ohne Maßstab läuft, läuft im Schattenbetrieb.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Produkte, drei Urteile — und ein lehrreicher Rücksprung</a:t>
            </a:r>
          </a:p>
        </p:txBody>
      </p:sp>
      <p:sp>
        <p:nvSpPr>
          <p:cNvPr id="3" name="Text Placeholder 2"/>
          <p:cNvSpPr>
            <a:spLocks noGrp="1"/>
          </p:cNvSpPr>
          <p:nvPr>
            <p:ph type="body" idx="12" sz="quarter"/>
          </p:nvPr>
        </p:nvSpPr>
        <p:spPr/>
        <p:txBody>
          <a:bodyPr/>
          <a:lstStyle/>
          <a:p>
            <a:r>
              <a:t>Notebook 06 · Ergebnis und Nutzen</a:t>
            </a:r>
          </a:p>
        </p:txBody>
      </p:sp>
      <p:sp>
        <p:nvSpPr>
          <p:cNvPr id="4" name="Text Placeholder 3"/>
          <p:cNvSpPr>
            <a:spLocks noGrp="1"/>
          </p:cNvSpPr>
          <p:nvPr>
            <p:ph type="body" idx="13" sz="quarter"/>
          </p:nvPr>
        </p:nvSpPr>
        <p:spPr/>
        <p:txBody>
          <a:bodyPr/>
          <a:lstStyle/>
          <a:p>
            <a:r>
              <a:t>Notebook 06 Anomalieerkennung, Abschnitte 1, 5 und 6. Synthetische Lehrdaten.</a:t>
            </a:r>
          </a:p>
        </p:txBody>
      </p:sp>
      <p:sp>
        <p:nvSpPr>
          <p:cNvPr id="5" name="TextBox 4"/>
          <p:cNvSpPr txBox="1"/>
          <p:nvPr/>
        </p:nvSpPr>
        <p:spPr>
          <a:xfrm>
            <a:off x="1066800" y="1143000"/>
            <a:ext cx="11557000" cy="762000"/>
          </a:xfrm>
          <a:prstGeom prst="rect">
            <a:avLst/>
          </a:prstGeom>
          <a:noFill/>
        </p:spPr>
        <p:txBody>
          <a:bodyPr wrap="square" lIns="0" tIns="0" rIns="0" bIns="0">
            <a:spAutoFit/>
          </a:bodyPr>
          <a:lstStyle/>
          <a:p>
            <a:pPr algn="just">
              <a:lnSpc>
                <a:spcPct val="95000"/>
              </a:lnSpc>
            </a:pPr>
            <a:r>
              <a:rPr sz="1400" b="0">
                <a:solidFill>
                  <a:srgbClr val="404040"/>
                </a:solidFill>
              </a:rPr>
              <a:t>Das erste Modell rechnete sauber und lieferte Unbrauchbares: Es trennte die Preisklassen statt der Anomalien. Aufgefallen ist das nicht durch eine Kennzahl, sondern durch Sichtung der obersten Zeilen — danach folgte ein Rücksprung in die Datenaufbereitung.</a:t>
            </a:r>
          </a:p>
        </p:txBody>
      </p:sp>
      <p:sp>
        <p:nvSpPr>
          <p:cNvPr id="6" name="Rectangle 5"/>
          <p:cNvSpPr/>
          <p:nvPr/>
        </p:nvSpPr>
        <p:spPr>
          <a:xfrm>
            <a:off x="115316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Ergebnis</a:t>
            </a:r>
          </a:p>
          <a:p>
            <a:pPr algn="l">
              <a:lnSpc>
                <a:spcPct val="95000"/>
              </a:lnSpc>
              <a:spcBef>
                <a:spcPts val="500"/>
              </a:spcBef>
            </a:pPr>
            <a:r>
              <a:rPr sz="1300" b="0">
                <a:solidFill>
                  <a:srgbClr val="404040"/>
                </a:solidFill>
              </a:rPr>
              <a:t>A1 überfällige Rückgabe: spezifiziert — als Regel, ohne Modell.</a:t>
            </a:r>
          </a:p>
          <a:p>
            <a:pPr algn="l">
              <a:lnSpc>
                <a:spcPct val="95000"/>
              </a:lnSpc>
              <a:spcBef>
                <a:spcPts val="500"/>
              </a:spcBef>
            </a:pPr>
            <a:r>
              <a:rPr sz="1300" b="0">
                <a:solidFill>
                  <a:srgbClr val="404040"/>
                </a:solidFill>
              </a:rPr>
              <a:t>A2 auffällige Fahrten: schatten, da kein Label vorliegt.</a:t>
            </a:r>
          </a:p>
          <a:p>
            <a:pPr algn="l">
              <a:lnSpc>
                <a:spcPct val="95000"/>
              </a:lnSpc>
              <a:spcBef>
                <a:spcPts val="500"/>
              </a:spcBef>
            </a:pPr>
            <a:r>
              <a:rPr sz="1300" b="0">
                <a:solidFill>
                  <a:srgbClr val="404040"/>
                </a:solidFill>
              </a:rPr>
              <a:t>B Prüfliste: explorativ, 2 von 3 bindenden Gates halten.</a:t>
            </a:r>
          </a:p>
        </p:txBody>
      </p:sp>
      <p:sp>
        <p:nvSpPr>
          <p:cNvPr id="9" name="Rectangle 8"/>
          <p:cNvSpPr/>
          <p:nvPr/>
        </p:nvSpPr>
        <p:spPr>
          <a:xfrm>
            <a:off x="511302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Nutzen</a:t>
            </a:r>
          </a:p>
          <a:p>
            <a:pPr algn="l">
              <a:lnSpc>
                <a:spcPct val="95000"/>
              </a:lnSpc>
              <a:spcBef>
                <a:spcPts val="500"/>
              </a:spcBef>
            </a:pPr>
            <a:r>
              <a:rPr sz="1300" b="0">
                <a:solidFill>
                  <a:srgbClr val="404040"/>
                </a:solidFill>
              </a:rPr>
              <a:t>A1 löst die dringendste der drei Fragen mit einer Regel — dafür braucht es kein Modell und keinen Betrieb.</a:t>
            </a:r>
          </a:p>
          <a:p>
            <a:pPr algn="l">
              <a:lnSpc>
                <a:spcPct val="95000"/>
              </a:lnSpc>
              <a:spcBef>
                <a:spcPts val="500"/>
              </a:spcBef>
            </a:pPr>
            <a:r>
              <a:rPr sz="1300" b="0">
                <a:solidFill>
                  <a:srgbClr val="404040"/>
                </a:solidFill>
              </a:rPr>
              <a:t>Die Prüfliste hebt die Präzision gegenüber der bisherigen Meldelogik (9,6 % je Alarm) deutlich an.</a:t>
            </a:r>
          </a:p>
          <a:p>
            <a:pPr algn="l">
              <a:lnSpc>
                <a:spcPct val="95000"/>
              </a:lnSpc>
              <a:spcBef>
                <a:spcPts val="500"/>
              </a:spcBef>
            </a:pPr>
            <a:r>
              <a:rPr sz="1300" b="0">
                <a:solidFill>
                  <a:srgbClr val="404040"/>
                </a:solidFill>
              </a:rPr>
              <a:t>Jedes der drei Produkte trägt seinen eigenen Status, statt gemeinsam freigegeben oder gesperrt zu werden.</a:t>
            </a:r>
          </a:p>
        </p:txBody>
      </p:sp>
      <p:sp>
        <p:nvSpPr>
          <p:cNvPr id="12" name="Rectangle 11"/>
          <p:cNvSpPr/>
          <p:nvPr/>
        </p:nvSpPr>
        <p:spPr>
          <a:xfrm>
            <a:off x="908177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Grenze</a:t>
            </a:r>
          </a:p>
          <a:p>
            <a:pPr algn="l">
              <a:lnSpc>
                <a:spcPct val="95000"/>
              </a:lnSpc>
              <a:spcBef>
                <a:spcPts val="500"/>
              </a:spcBef>
            </a:pPr>
            <a:r>
              <a:rPr sz="1300" b="0">
                <a:solidFill>
                  <a:srgbClr val="404040"/>
                </a:solidFill>
              </a:rPr>
              <a:t>Die globale Rangliste erreicht 36,0 %, die im Betrieb erzeugbare Tagesliste 12,4 % — bei demselben Modell.</a:t>
            </a:r>
          </a:p>
          <a:p>
            <a:pPr algn="l">
              <a:lnSpc>
                <a:spcPct val="95000"/>
              </a:lnSpc>
              <a:spcBef>
                <a:spcPts val="500"/>
              </a:spcBef>
            </a:pPr>
            <a:r>
              <a:rPr sz="1300" b="0">
                <a:solidFill>
                  <a:srgbClr val="404040"/>
                </a:solidFill>
              </a:rPr>
              <a:t>Auf dem unangetasteten Testabschnitt bleibt die Präzision mit 18,2 % unter den geforderten 20 %; Recall und Verzug halten.</a:t>
            </a:r>
          </a:p>
        </p:txBody>
      </p:sp>
      <p:sp>
        <p:nvSpPr>
          <p:cNvPr id="15" name="Rectangle 14"/>
          <p:cNvSpPr/>
          <p:nvPr/>
        </p:nvSpPr>
        <p:spPr>
          <a:xfrm>
            <a:off x="1153160" y="50546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51308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Eine Kennzahl auf der Gesamtliste beschreibt nicht die Liste, mit der später tatsächlich gearbeitet wird.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