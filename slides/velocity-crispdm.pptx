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82" r:id="rId76"/>
  </p:sldMasterIdLst>
  <p:notesMasterIdLst>
    <p:notesMasterId r:id="rId409"/>
  </p:notesMasterIdLst>
  <p:handoutMasterIdLst>
    <p:handoutMasterId r:id="rId410"/>
  </p:handoutMasterIdLst>
  <p:sldIdLst>
    <p:sldId id="256" r:id="rId126"/>
    <p:sldId id="257" r:id="rId127"/>
    <p:sldId id="258" r:id="rId128"/>
    <p:sldId id="259" r:id="rId129"/>
    <p:sldId id="260" r:id="rId130"/>
    <p:sldId id="261" r:id="rId131"/>
    <p:sldId id="262" r:id="rId132"/>
    <p:sldId id="263" r:id="rId133"/>
    <p:sldId id="264" r:id="rId134"/>
    <p:sldId id="265" r:id="rId135"/>
    <p:sldId id="266" r:id="rId136"/>
    <p:sldId id="267" r:id="rId137"/>
    <p:sldId id="268" r:id="rId138"/>
    <p:sldId id="269" r:id="rId139"/>
    <p:sldId id="270" r:id="rId140"/>
    <p:sldId id="271" r:id="rId141"/>
    <p:sldId id="272" r:id="rId142"/>
    <p:sldId id="273" r:id="rId143"/>
    <p:sldId id="274" r:id="rId144"/>
    <p:sldId id="275" r:id="rId145"/>
    <p:sldId id="276" r:id="rId146"/>
    <p:sldId id="277" r:id="rId147"/>
    <p:sldId id="278" r:id="rId148"/>
    <p:sldId id="279" r:id="rId149"/>
    <p:sldId id="280" r:id="rId150"/>
    <p:sldId id="281" r:id="rId151"/>
    <p:sldId id="282" r:id="rId152"/>
    <p:sldId id="283" r:id="rId153"/>
    <p:sldId id="284" r:id="rId154"/>
    <p:sldId id="285" r:id="rId155"/>
    <p:sldId id="286" r:id="rId156"/>
    <p:sldId id="287" r:id="rId157"/>
    <p:sldId id="288" r:id="rId158"/>
    <p:sldId id="289" r:id="rId159"/>
    <p:sldId id="290" r:id="rId160"/>
    <p:sldId id="291" r:id="rId161"/>
    <p:sldId id="292" r:id="rId162"/>
    <p:sldId id="293" r:id="rId163"/>
    <p:sldId id="294" r:id="rId164"/>
    <p:sldId id="295" r:id="rId165"/>
    <p:sldId id="296" r:id="rId166"/>
    <p:sldId id="297" r:id="rId167"/>
    <p:sldId id="298" r:id="rId168"/>
    <p:sldId id="299" r:id="rId169"/>
    <p:sldId id="300" r:id="rId170"/>
    <p:sldId id="301" r:id="rId171"/>
    <p:sldId id="302" r:id="rId172"/>
    <p:sldId id="303" r:id="rId173"/>
    <p:sldId id="304" r:id="rId174"/>
    <p:sldId id="305" r:id="rId175"/>
    <p:sldId id="306" r:id="rId176"/>
    <p:sldId id="307" r:id="rId177"/>
    <p:sldId id="308" r:id="rId178"/>
    <p:sldId id="309" r:id="rId179"/>
    <p:sldId id="310" r:id="rId180"/>
    <p:sldId id="311" r:id="rId181"/>
    <p:sldId id="312" r:id="rId182"/>
    <p:sldId id="313" r:id="rId183"/>
    <p:sldId id="314" r:id="rId184"/>
    <p:sldId id="315" r:id="rId185"/>
    <p:sldId id="316" r:id="rId186"/>
    <p:sldId id="317" r:id="rId187"/>
    <p:sldId id="318" r:id="rId188"/>
    <p:sldId id="319" r:id="rId189"/>
    <p:sldId id="320" r:id="rId190"/>
    <p:sldId id="321" r:id="rId191"/>
    <p:sldId id="322" r:id="rId192"/>
    <p:sldId id="323" r:id="rId193"/>
    <p:sldId id="324" r:id="rId194"/>
    <p:sldId id="325" r:id="rId195"/>
    <p:sldId id="326" r:id="rId196"/>
    <p:sldId id="327" r:id="rId197"/>
    <p:sldId id="328" r:id="rId198"/>
    <p:sldId id="329" r:id="rId199"/>
    <p:sldId id="330" r:id="rId200"/>
    <p:sldId id="331" r:id="rId201"/>
    <p:sldId id="332" r:id="rId202"/>
    <p:sldId id="333" r:id="rId203"/>
    <p:sldId id="334" r:id="rId204"/>
    <p:sldId id="335" r:id="rId205"/>
    <p:sldId id="336" r:id="rId206"/>
    <p:sldId id="337" r:id="rId207"/>
    <p:sldId id="338" r:id="rId208"/>
    <p:sldId id="339" r:id="rId209"/>
    <p:sldId id="340" r:id="rId210"/>
    <p:sldId id="341" r:id="rId211"/>
    <p:sldId id="342" r:id="rId212"/>
    <p:sldId id="343" r:id="rId213"/>
    <p:sldId id="344" r:id="rId214"/>
    <p:sldId id="345" r:id="rId215"/>
    <p:sldId id="346" r:id="rId216"/>
    <p:sldId id="347" r:id="rId217"/>
    <p:sldId id="348" r:id="rId218"/>
    <p:sldId id="349" r:id="rId219"/>
    <p:sldId id="350" r:id="rId220"/>
    <p:sldId id="351" r:id="rId221"/>
    <p:sldId id="352" r:id="rId222"/>
    <p:sldId id="353" r:id="rId223"/>
    <p:sldId id="354" r:id="rId224"/>
    <p:sldId id="355" r:id="rId225"/>
    <p:sldId id="356" r:id="rId226"/>
    <p:sldId id="357" r:id="rId227"/>
    <p:sldId id="358" r:id="rId228"/>
    <p:sldId id="359" r:id="rId229"/>
    <p:sldId id="360" r:id="rId230"/>
    <p:sldId id="361" r:id="rId231"/>
    <p:sldId id="362" r:id="rId232"/>
    <p:sldId id="363" r:id="rId233"/>
    <p:sldId id="364" r:id="rId234"/>
    <p:sldId id="365" r:id="rId235"/>
    <p:sldId id="366" r:id="rId236"/>
    <p:sldId id="367" r:id="rId237"/>
    <p:sldId id="368" r:id="rId238"/>
    <p:sldId id="369" r:id="rId239"/>
    <p:sldId id="370" r:id="rId240"/>
    <p:sldId id="371" r:id="rId241"/>
    <p:sldId id="372" r:id="rId242"/>
    <p:sldId id="373" r:id="rId243"/>
    <p:sldId id="374" r:id="rId244"/>
    <p:sldId id="375" r:id="rId245"/>
  </p:sldIdLst>
  <p:sldSz cx="13004800" cy="7315200"/>
  <p:notesSz cx="6858000" cy="9144000"/>
  <p:embeddedFontLst>
    <p:embeddedFont>
      <p:font typeface="Arial Black" panose="020B0A04020102020204" pitchFamily="34" charset="0"/>
      <p:bold r:id="rId411"/>
    </p:embeddedFont>
    <p:embeddedFont>
      <p:font typeface="Arial Narrow" panose="020B0604020202020204" charset="0"/>
      <p:regular r:id="rId412"/>
      <p:bold r:id="rId413"/>
      <p:italic r:id="rId414"/>
      <p:boldItalic r:id="rId415"/>
    </p:embeddedFont>
    <p:embeddedFont>
      <p:font typeface="Bahnschrift SemiCondensed" panose="020B0502040204020203" pitchFamily="34" charset="0"/>
      <p:regular r:id="rId416"/>
      <p:bold r:id="rId417"/>
    </p:embeddedFont>
    <p:embeddedFont>
      <p:font typeface="Chalkboy" panose="020B0604020202020204" charset="0"/>
      <p:regular r:id="rId418"/>
    </p:embeddedFont>
    <p:embeddedFont>
      <p:font typeface="Consolas" panose="020B0609020204030204" pitchFamily="49" charset="0"/>
      <p:regular r:id="rId419"/>
      <p:bold r:id="rId420"/>
      <p:italic r:id="rId421"/>
      <p:boldItalic r:id="rId422"/>
    </p:embeddedFont>
    <p:embeddedFont>
      <p:font typeface="Garamond" panose="020B0604020202020204" charset="0"/>
      <p:regular r:id="rId423"/>
      <p:bold r:id="rId424"/>
      <p:italic r:id="rId425"/>
      <p:boldItalic r:id="rId426"/>
    </p:embeddedFont>
    <p:embeddedFont>
      <p:font typeface="GT Planar Light" panose="020B0604020202020204" charset="0"/>
      <p:regular r:id="rId427"/>
    </p:embeddedFont>
    <p:embeddedFont>
      <p:font typeface="GT Planar Medium" panose="020B0604020202020204" charset="0"/>
      <p:regular r:id="rId428"/>
    </p:embeddedFont>
    <p:embeddedFont>
      <p:font typeface="Lucida Bright" panose="020B0604020202020204" charset="0"/>
      <p:regular r:id="rId429"/>
      <p:bold r:id="rId430"/>
      <p:italic r:id="rId431"/>
      <p:boldItalic r:id="rId432"/>
    </p:embeddedFont>
    <p:embeddedFont>
      <p:font typeface="Segoe UI" panose="020B0502040204020203" pitchFamily="34" charset="0"/>
      <p:regular r:id="rId433"/>
      <p:bold r:id="rId434"/>
      <p:italic r:id="rId435"/>
      <p:boldItalic r:id="rId436"/>
    </p:embeddedFont>
    <p:embeddedFont>
      <p:font typeface="Segoe UI Black" panose="020B0A02040204020203" pitchFamily="34" charset="0"/>
      <p:bold r:id="rId437"/>
      <p:italic r:id="rId438"/>
      <p:boldItalic r:id="rId439"/>
    </p:embeddedFont>
    <p:embeddedFont>
      <p:font typeface="Segoe UI Light" panose="020B0502040204020203" pitchFamily="34" charset="0"/>
      <p:regular r:id="rId440"/>
      <p:italic r:id="rId441"/>
    </p:embeddedFont>
    <p:embeddedFont>
      <p:font typeface="Segoe UI Semibold" panose="020B0702040204020203" pitchFamily="34" charset="0"/>
      <p:regular r:id="rId442"/>
      <p:bold r:id="rId443"/>
      <p:italic r:id="rId444"/>
      <p:boldItalic r:id="rId445"/>
    </p:embeddedFont>
    <p:embeddedFont>
      <p:font typeface="Segoe UI Semilight" panose="020B0402040204020203" pitchFamily="34" charset="0"/>
      <p:regular r:id="rId446"/>
      <p:italic r:id="rId447"/>
    </p:embeddedFont>
    <p:embeddedFont>
      <p:font typeface="Segoe UI Symbol" panose="020B0502040204020203" pitchFamily="34" charset="0"/>
      <p:regular r:id="rId448"/>
    </p:embeddedFont>
    <p:embeddedFont>
      <p:font typeface="Wingdings 2" panose="020B0604020202020204" charset="2"/>
      <p:regular r:id="rId449"/>
    </p:embeddedFont>
  </p:embeddedFontLst>
  <p:custDataLst>
    <p:tags r:id="rId450"/>
  </p:custDataLst>
  <p:defaultTextStyle>
    <a:defPPr>
      <a:defRPr lang="de-DE"/>
    </a:defPPr>
    <a:lvl1pPr marL="0" algn="l" defTabSz="650230" rtl="0" eaLnBrk="1" latinLnBrk="0" hangingPunct="1">
      <a:defRPr sz="2600" kern="1200">
        <a:solidFill>
          <a:schemeClr val="tx1"/>
        </a:solidFill>
        <a:latin typeface="+mn-lt"/>
        <a:ea typeface="+mn-ea"/>
        <a:cs typeface="+mn-cs"/>
      </a:defRPr>
    </a:lvl1pPr>
    <a:lvl2pPr marL="650230" algn="l" defTabSz="650230" rtl="0" eaLnBrk="1" latinLnBrk="0" hangingPunct="1">
      <a:defRPr sz="2600" kern="1200">
        <a:solidFill>
          <a:schemeClr val="tx1"/>
        </a:solidFill>
        <a:latin typeface="+mn-lt"/>
        <a:ea typeface="+mn-ea"/>
        <a:cs typeface="+mn-cs"/>
      </a:defRPr>
    </a:lvl2pPr>
    <a:lvl3pPr marL="1300460" algn="l" defTabSz="650230" rtl="0" eaLnBrk="1" latinLnBrk="0" hangingPunct="1">
      <a:defRPr sz="2600" kern="1200">
        <a:solidFill>
          <a:schemeClr val="tx1"/>
        </a:solidFill>
        <a:latin typeface="+mn-lt"/>
        <a:ea typeface="+mn-ea"/>
        <a:cs typeface="+mn-cs"/>
      </a:defRPr>
    </a:lvl3pPr>
    <a:lvl4pPr marL="1950690" algn="l" defTabSz="650230" rtl="0" eaLnBrk="1" latinLnBrk="0" hangingPunct="1">
      <a:defRPr sz="2600" kern="1200">
        <a:solidFill>
          <a:schemeClr val="tx1"/>
        </a:solidFill>
        <a:latin typeface="+mn-lt"/>
        <a:ea typeface="+mn-ea"/>
        <a:cs typeface="+mn-cs"/>
      </a:defRPr>
    </a:lvl4pPr>
    <a:lvl5pPr marL="2600919" algn="l" defTabSz="650230" rtl="0" eaLnBrk="1" latinLnBrk="0" hangingPunct="1">
      <a:defRPr sz="2600" kern="1200">
        <a:solidFill>
          <a:schemeClr val="tx1"/>
        </a:solidFill>
        <a:latin typeface="+mn-lt"/>
        <a:ea typeface="+mn-ea"/>
        <a:cs typeface="+mn-cs"/>
      </a:defRPr>
    </a:lvl5pPr>
    <a:lvl6pPr marL="3251149" algn="l" defTabSz="650230" rtl="0" eaLnBrk="1" latinLnBrk="0" hangingPunct="1">
      <a:defRPr sz="2600" kern="1200">
        <a:solidFill>
          <a:schemeClr val="tx1"/>
        </a:solidFill>
        <a:latin typeface="+mn-lt"/>
        <a:ea typeface="+mn-ea"/>
        <a:cs typeface="+mn-cs"/>
      </a:defRPr>
    </a:lvl6pPr>
    <a:lvl7pPr marL="3901379" algn="l" defTabSz="650230" rtl="0" eaLnBrk="1" latinLnBrk="0" hangingPunct="1">
      <a:defRPr sz="2600" kern="1200">
        <a:solidFill>
          <a:schemeClr val="tx1"/>
        </a:solidFill>
        <a:latin typeface="+mn-lt"/>
        <a:ea typeface="+mn-ea"/>
        <a:cs typeface="+mn-cs"/>
      </a:defRPr>
    </a:lvl7pPr>
    <a:lvl8pPr marL="4551609" algn="l" defTabSz="650230" rtl="0" eaLnBrk="1" latinLnBrk="0" hangingPunct="1">
      <a:defRPr sz="2600" kern="1200">
        <a:solidFill>
          <a:schemeClr val="tx1"/>
        </a:solidFill>
        <a:latin typeface="+mn-lt"/>
        <a:ea typeface="+mn-ea"/>
        <a:cs typeface="+mn-cs"/>
      </a:defRPr>
    </a:lvl8pPr>
    <a:lvl9pPr marL="5201839" algn="l" defTabSz="650230" rtl="0" eaLnBrk="1" latinLnBrk="0" hangingPunct="1">
      <a:defRPr sz="2600" kern="1200">
        <a:solidFill>
          <a:schemeClr val="tx1"/>
        </a:solidFill>
        <a:latin typeface="+mn-lt"/>
        <a:ea typeface="+mn-ea"/>
        <a:cs typeface="+mn-cs"/>
      </a:defRPr>
    </a:lvl9pPr>
  </p:defaultTextStyle>
  <p:extLst>
    <p:ext uri="{521415D9-36F7-43E2-AB2F-B90AF26B5E84}">
      <p14:sectionLst xmlns:p14="http://schemas.microsoft.com/office/powerpoint/2010/main">
        <p14:section name="Organisation" id="{AB623F91-E30D-4684-8873-EF6E41831698}">
          <p14:sldIdLst>
            <p14:sldId id="7020"/>
            <p14:sldId id="256"/>
            <p14:sldId id="260"/>
            <p14:sldId id="1682"/>
            <p14:sldId id="266"/>
            <p14:sldId id="5950"/>
            <p14:sldId id="5953"/>
            <p14:sldId id="5951"/>
            <p14:sldId id="6998"/>
            <p14:sldId id="275"/>
            <p14:sldId id="270"/>
            <p14:sldId id="6989"/>
          </p14:sldIdLst>
        </p14:section>
        <p14:section name="Einstieg und Motivation" id="{6DB31A79-848F-4E2E-8987-BB1688F9C553}">
          <p14:sldIdLst>
            <p14:sldId id="6924"/>
            <p14:sldId id="7065"/>
            <p14:sldId id="7009"/>
            <p14:sldId id="7010"/>
            <p14:sldId id="7103"/>
            <p14:sldId id="7012"/>
            <p14:sldId id="7013"/>
            <p14:sldId id="7014"/>
            <p14:sldId id="7015"/>
            <p14:sldId id="7016"/>
            <p14:sldId id="7017"/>
            <p14:sldId id="7018"/>
            <p14:sldId id="7019"/>
          </p14:sldIdLst>
        </p14:section>
        <p14:section name="Einstieg und Motivation" id="{91CC1933-71EA-4131-B254-633C7B927C76}">
          <p14:sldIdLst>
            <p14:sldId id="5240"/>
            <p14:sldId id="268"/>
            <p14:sldId id="7106"/>
            <p14:sldId id="3818"/>
            <p14:sldId id="3728"/>
            <p14:sldId id="7108"/>
            <p14:sldId id="7105"/>
            <p14:sldId id="5762"/>
            <p14:sldId id="7109"/>
            <p14:sldId id="6902"/>
            <p14:sldId id="3765"/>
            <p14:sldId id="3823"/>
            <p14:sldId id="6957"/>
            <p14:sldId id="5221"/>
            <p14:sldId id="3774"/>
            <p14:sldId id="330"/>
            <p14:sldId id="5224"/>
            <p14:sldId id="4649"/>
          </p14:sldIdLst>
        </p14:section>
        <p14:section name="Praxisbeispiele | Datengetriebene Wertangebote und Geschäftsmodelle" id="{A80FF82E-E624-422D-A327-7CB0B463B902}">
          <p14:sldIdLst>
            <p14:sldId id="7165"/>
            <p14:sldId id="993"/>
            <p14:sldId id="3833"/>
            <p14:sldId id="4746"/>
            <p14:sldId id="4681"/>
            <p14:sldId id="4252"/>
            <p14:sldId id="4253"/>
            <p14:sldId id="4254"/>
            <p14:sldId id="4251"/>
            <p14:sldId id="1039"/>
            <p14:sldId id="3795"/>
            <p14:sldId id="3796"/>
            <p14:sldId id="3536"/>
            <p14:sldId id="3827"/>
            <p14:sldId id="3538"/>
            <p14:sldId id="3828"/>
            <p14:sldId id="7166"/>
            <p14:sldId id="3763"/>
            <p14:sldId id="4759"/>
            <p14:sldId id="3791"/>
            <p14:sldId id="6025"/>
            <p14:sldId id="3792"/>
            <p14:sldId id="3793"/>
            <p14:sldId id="3794"/>
            <p14:sldId id="261"/>
            <p14:sldId id="3788"/>
            <p14:sldId id="3835"/>
            <p14:sldId id="3834"/>
            <p14:sldId id="6026"/>
            <p14:sldId id="3873"/>
            <p14:sldId id="3872"/>
            <p14:sldId id="3871"/>
            <p14:sldId id="3870"/>
            <p14:sldId id="3897"/>
            <p14:sldId id="6029"/>
            <p14:sldId id="6030"/>
            <p14:sldId id="3887"/>
            <p14:sldId id="3886"/>
            <p14:sldId id="3885"/>
            <p14:sldId id="3884"/>
            <p14:sldId id="3883"/>
            <p14:sldId id="6027"/>
            <p14:sldId id="3881"/>
            <p14:sldId id="3898"/>
            <p14:sldId id="3899"/>
            <p14:sldId id="3882"/>
            <p14:sldId id="3880"/>
            <p14:sldId id="3878"/>
          </p14:sldIdLst>
        </p14:section>
        <p14:section name="Hinführung zu DBMS" id="{EA7A5988-6270-425C-862C-BF94924FB617}">
          <p14:sldIdLst>
            <p14:sldId id="6937"/>
            <p14:sldId id="7064"/>
            <p14:sldId id="3770"/>
            <p14:sldId id="7045"/>
            <p14:sldId id="3731"/>
            <p14:sldId id="3735"/>
            <p14:sldId id="7047"/>
            <p14:sldId id="3736"/>
            <p14:sldId id="3738"/>
            <p14:sldId id="3733"/>
            <p14:sldId id="7164"/>
            <p14:sldId id="6952"/>
            <p14:sldId id="3749"/>
            <p14:sldId id="3750"/>
            <p14:sldId id="3757"/>
            <p14:sldId id="3752"/>
            <p14:sldId id="3751"/>
            <p14:sldId id="1071"/>
            <p14:sldId id="3759"/>
            <p14:sldId id="3760"/>
            <p14:sldId id="3761"/>
            <p14:sldId id="3754"/>
            <p14:sldId id="5826"/>
            <p14:sldId id="617"/>
            <p14:sldId id="618"/>
            <p14:sldId id="3755"/>
            <p14:sldId id="6999"/>
            <p14:sldId id="3679"/>
            <p14:sldId id="3687"/>
            <p14:sldId id="7026"/>
          </p14:sldIdLst>
        </p14:section>
        <p14:section name="Relationale Datenbankmanagementsysteme (DBMS)" id="{72E8E7EB-81DE-4A96-9D87-2AEEFA5CB57D}">
          <p14:sldIdLst>
            <p14:sldId id="6938"/>
            <p14:sldId id="7063"/>
            <p14:sldId id="7070"/>
            <p14:sldId id="7071"/>
            <p14:sldId id="7072"/>
            <p14:sldId id="7073"/>
            <p14:sldId id="7074"/>
            <p14:sldId id="7075"/>
            <p14:sldId id="7076"/>
            <p14:sldId id="7077"/>
            <p14:sldId id="7078"/>
            <p14:sldId id="7079"/>
            <p14:sldId id="7080"/>
            <p14:sldId id="7081"/>
            <p14:sldId id="7082"/>
            <p14:sldId id="7083"/>
            <p14:sldId id="7084"/>
            <p14:sldId id="7085"/>
            <p14:sldId id="7086"/>
            <p14:sldId id="7087"/>
            <p14:sldId id="7088"/>
            <p14:sldId id="7089"/>
            <p14:sldId id="7090"/>
            <p14:sldId id="7091"/>
            <p14:sldId id="7092"/>
            <p14:sldId id="7093"/>
            <p14:sldId id="7094"/>
            <p14:sldId id="7095"/>
            <p14:sldId id="7096"/>
            <p14:sldId id="7097"/>
            <p14:sldId id="7098"/>
            <p14:sldId id="7099"/>
            <p14:sldId id="7100"/>
            <p14:sldId id="7101"/>
          </p14:sldIdLst>
        </p14:section>
        <p14:section name="Anforderungsanalyse und konzeptionalles Datenmodell" id="{EE79D8D3-590D-4693-B1C5-9B1D0F346B3A}">
          <p14:sldIdLst>
            <p14:sldId id="6939"/>
            <p14:sldId id="7062"/>
            <p14:sldId id="5808"/>
            <p14:sldId id="5803"/>
            <p14:sldId id="7060"/>
            <p14:sldId id="5805"/>
            <p14:sldId id="5804"/>
            <p14:sldId id="7023"/>
            <p14:sldId id="423"/>
            <p14:sldId id="5833"/>
            <p14:sldId id="5801"/>
            <p14:sldId id="1506"/>
            <p14:sldId id="7028"/>
            <p14:sldId id="4663"/>
            <p14:sldId id="5811"/>
            <p14:sldId id="4847"/>
            <p14:sldId id="4846"/>
            <p14:sldId id="5812"/>
            <p14:sldId id="7058"/>
            <p14:sldId id="4850"/>
            <p14:sldId id="7059"/>
            <p14:sldId id="7056"/>
            <p14:sldId id="7057"/>
            <p14:sldId id="1463"/>
            <p14:sldId id="7052"/>
            <p14:sldId id="457"/>
            <p14:sldId id="1520"/>
            <p14:sldId id="1523"/>
            <p14:sldId id="1521"/>
            <p14:sldId id="7025"/>
            <p14:sldId id="4859"/>
            <p14:sldId id="4860"/>
            <p14:sldId id="4861"/>
            <p14:sldId id="4862"/>
            <p14:sldId id="4863"/>
            <p14:sldId id="7051"/>
            <p14:sldId id="4866"/>
          </p14:sldIdLst>
        </p14:section>
        <p14:section name="Logisches Datenbankdesign" id="{766E03EC-F557-4DB9-AB4D-BB5EA72DCF39}">
          <p14:sldIdLst>
            <p14:sldId id="6940"/>
            <p14:sldId id="7049"/>
            <p14:sldId id="5813"/>
            <p14:sldId id="5814"/>
            <p14:sldId id="5815"/>
            <p14:sldId id="6927"/>
            <p14:sldId id="474"/>
            <p14:sldId id="6815"/>
            <p14:sldId id="7030"/>
            <p14:sldId id="6915"/>
            <p14:sldId id="5992"/>
            <p14:sldId id="812"/>
            <p14:sldId id="813"/>
            <p14:sldId id="814"/>
            <p14:sldId id="815"/>
            <p14:sldId id="817"/>
            <p14:sldId id="816"/>
            <p14:sldId id="819"/>
            <p14:sldId id="818"/>
            <p14:sldId id="5983"/>
            <p14:sldId id="7000"/>
            <p14:sldId id="7005"/>
            <p14:sldId id="6925"/>
            <p14:sldId id="5782"/>
            <p14:sldId id="5783"/>
            <p14:sldId id="5784"/>
            <p14:sldId id="7006"/>
            <p14:sldId id="5786"/>
            <p14:sldId id="7038"/>
            <p14:sldId id="5788"/>
            <p14:sldId id="7007"/>
            <p14:sldId id="5790"/>
            <p14:sldId id="5791"/>
            <p14:sldId id="7008"/>
            <p14:sldId id="5795"/>
            <p14:sldId id="5800"/>
            <p14:sldId id="5796"/>
            <p14:sldId id="5798"/>
            <p14:sldId id="5799"/>
            <p14:sldId id="7066"/>
            <p14:sldId id="6911"/>
          </p14:sldIdLst>
        </p14:section>
        <p14:section name="Grundzüge relationaler Datenmodellierung" id="{2CB39650-8E34-4A34-B774-2E11133BB55D}">
          <p14:sldIdLst>
            <p14:sldId id="6941"/>
            <p14:sldId id="7067"/>
            <p14:sldId id="7042"/>
            <p14:sldId id="5817"/>
            <p14:sldId id="5818"/>
            <p14:sldId id="5819"/>
            <p14:sldId id="5843"/>
            <p14:sldId id="5820"/>
            <p14:sldId id="5821"/>
            <p14:sldId id="5822"/>
            <p14:sldId id="5823"/>
            <p14:sldId id="5832"/>
            <p14:sldId id="5824"/>
            <p14:sldId id="438"/>
            <p14:sldId id="1514"/>
            <p14:sldId id="7102"/>
            <p14:sldId id="439"/>
            <p14:sldId id="7068"/>
            <p14:sldId id="6945"/>
            <p14:sldId id="5666"/>
            <p14:sldId id="4869"/>
            <p14:sldId id="6949"/>
            <p14:sldId id="5667"/>
            <p14:sldId id="6948"/>
            <p14:sldId id="5668"/>
            <p14:sldId id="4871"/>
            <p14:sldId id="4873"/>
            <p14:sldId id="1504"/>
            <p14:sldId id="5773"/>
            <p14:sldId id="6897"/>
            <p14:sldId id="7033"/>
            <p14:sldId id="6909"/>
            <p14:sldId id="5286"/>
            <p14:sldId id="5659"/>
            <p14:sldId id="5660"/>
            <p14:sldId id="5661"/>
            <p14:sldId id="6954"/>
            <p14:sldId id="5287"/>
            <p14:sldId id="5663"/>
            <p14:sldId id="6931"/>
            <p14:sldId id="6907"/>
          </p14:sldIdLst>
        </p14:section>
        <p14:section name="Physical data Model" id="{ECE42832-3E6C-4F59-AF16-C0FECF0A971D}">
          <p14:sldIdLst>
            <p14:sldId id="6942"/>
            <p14:sldId id="7069"/>
            <p14:sldId id="5828"/>
            <p14:sldId id="3724"/>
            <p14:sldId id="392"/>
          </p14:sldIdLst>
        </p14:section>
        <p14:section name="Fallbeispiel | VeloCity" id="{9F945228-2FD1-4B09-8F23-123163A3A2AF}">
          <p14:sldIdLst>
            <p14:sldId id="7151"/>
            <p14:sldId id="7152"/>
            <p14:sldId id="7004"/>
            <p14:sldId id="7120"/>
            <p14:sldId id="7123"/>
            <p14:sldId id="7125"/>
            <p14:sldId id="7126"/>
            <p14:sldId id="7128"/>
            <p14:sldId id="7129"/>
            <p14:sldId id="7153"/>
            <p14:sldId id="263"/>
            <p14:sldId id="7130"/>
            <p14:sldId id="302"/>
            <p14:sldId id="303"/>
            <p14:sldId id="304"/>
            <p14:sldId id="305"/>
            <p14:sldId id="306"/>
            <p14:sldId id="307"/>
            <p14:sldId id="7154"/>
            <p14:sldId id="7131"/>
            <p14:sldId id="7132"/>
            <p14:sldId id="7133"/>
            <p14:sldId id="7134"/>
            <p14:sldId id="309"/>
            <p14:sldId id="7155"/>
            <p14:sldId id="278"/>
            <p14:sldId id="7135"/>
            <p14:sldId id="7156"/>
            <p14:sldId id="7136"/>
            <p14:sldId id="7137"/>
            <p14:sldId id="7138"/>
            <p14:sldId id="7139"/>
            <p14:sldId id="7140"/>
            <p14:sldId id="7142"/>
            <p14:sldId id="7157"/>
            <p14:sldId id="7141"/>
            <p14:sldId id="4892"/>
            <p14:sldId id="4894"/>
            <p14:sldId id="7143"/>
            <p14:sldId id="7144"/>
            <p14:sldId id="7158"/>
            <p14:sldId id="7145"/>
            <p14:sldId id="7146"/>
            <p14:sldId id="7147"/>
            <p14:sldId id="7148"/>
            <p14:sldId id="7159"/>
            <p14:sldId id="7149"/>
            <p14:sldId id="327"/>
            <p14:sldId id="7160"/>
            <p14:sldId id="7150"/>
            <p14:sldId id="298"/>
          </p14:sldIdLst>
        </p14:section>
        <p14:section name="Glossar" id="{E5747B4F-8952-4AF8-9304-22892300A9AF}">
          <p14:sldIdLst>
            <p14:sldId id="7111"/>
            <p14:sldId id="7112"/>
          </p14:sldIdLst>
        </p14:section>
      </p14:sectionLst>
    </p:ext>
    <p:ext uri="{EFAFB233-063F-42B5-8137-9DF3F51BA10A}">
      <p15:sldGuideLst xmlns:p15="http://schemas.microsoft.com/office/powerpoint/2012/main">
        <p15:guide id="1" orient="horz" pos="807" userDrawn="1">
          <p15:clr>
            <a:srgbClr val="A4A3A4"/>
          </p15:clr>
        </p15:guide>
        <p15:guide id="2" pos="739" userDrawn="1">
          <p15:clr>
            <a:srgbClr val="A4A3A4"/>
          </p15:clr>
        </p15:guide>
        <p15:guide id="3" orient="horz" pos="2417" userDrawn="1">
          <p15:clr>
            <a:srgbClr val="A4A3A4"/>
          </p15:clr>
        </p15:guide>
        <p15:guide id="4" pos="79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3BA7EE-8572-7BF4-B90E-EA3133AAFC76}" name="Dr. Robert Butscher" initials="DB" userId="61bc653898ddc2e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7F5EF"/>
    <a:srgbClr val="E3DED1"/>
    <a:srgbClr val="4AB5C4"/>
    <a:srgbClr val="F3F3F3"/>
    <a:srgbClr val="000000"/>
    <a:srgbClr val="FFFD00"/>
    <a:srgbClr val="FF3399"/>
    <a:srgbClr val="FF0066"/>
    <a:srgbClr val="4E79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E98C6-2898-41CC-8E4C-06B0A30C3EB1}" v="181" dt="2026-08-24T19:41:07.34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807"/>
        <p:guide pos="739"/>
        <p:guide orient="horz" pos="2417"/>
        <p:guide pos="795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customXml" Target="../customXml/item64.xml"/><Relationship Id="rId65" Type="http://schemas.openxmlformats.org/officeDocument/2006/relationships/customXml" Target="../customXml/item65.xml"/><Relationship Id="rId66" Type="http://schemas.openxmlformats.org/officeDocument/2006/relationships/customXml" Target="../customXml/item66.xml"/><Relationship Id="rId67" Type="http://schemas.openxmlformats.org/officeDocument/2006/relationships/customXml" Target="../customXml/item67.xml"/><Relationship Id="rId68" Type="http://schemas.openxmlformats.org/officeDocument/2006/relationships/customXml" Target="../customXml/item68.xml"/><Relationship Id="rId69" Type="http://schemas.openxmlformats.org/officeDocument/2006/relationships/customXml" Target="../customXml/item69.xml"/><Relationship Id="rId70" Type="http://schemas.openxmlformats.org/officeDocument/2006/relationships/customXml" Target="../customXml/item70.xml"/><Relationship Id="rId71" Type="http://schemas.openxmlformats.org/officeDocument/2006/relationships/customXml" Target="../customXml/item71.xml"/><Relationship Id="rId72" Type="http://schemas.openxmlformats.org/officeDocument/2006/relationships/customXml" Target="../customXml/item72.xml"/><Relationship Id="rId73" Type="http://schemas.openxmlformats.org/officeDocument/2006/relationships/customXml" Target="../customXml/item73.xml"/><Relationship Id="rId74" Type="http://schemas.openxmlformats.org/officeDocument/2006/relationships/customXml" Target="../customXml/item74.xml"/><Relationship Id="rId75" Type="http://schemas.openxmlformats.org/officeDocument/2006/relationships/customXml" Target="../customXml/item75.xml"/><Relationship Id="rId76" Type="http://schemas.openxmlformats.org/officeDocument/2006/relationships/slideMaster" Target="slideMasters/slideMaster1.xml"/><Relationship Id="rId126" Type="http://schemas.openxmlformats.org/officeDocument/2006/relationships/slide" Target="slides/slide1.xml"/><Relationship Id="rId127" Type="http://schemas.openxmlformats.org/officeDocument/2006/relationships/slide" Target="slides/slide2.xml"/><Relationship Id="rId128" Type="http://schemas.openxmlformats.org/officeDocument/2006/relationships/slide" Target="slides/slide3.xml"/><Relationship Id="rId129" Type="http://schemas.openxmlformats.org/officeDocument/2006/relationships/slide" Target="slides/slide4.xml"/><Relationship Id="rId130" Type="http://schemas.openxmlformats.org/officeDocument/2006/relationships/slide" Target="slides/slide5.xml"/><Relationship Id="rId131" Type="http://schemas.openxmlformats.org/officeDocument/2006/relationships/slide" Target="slides/slide6.xml"/><Relationship Id="rId132" Type="http://schemas.openxmlformats.org/officeDocument/2006/relationships/slide" Target="slides/slide7.xml"/><Relationship Id="rId133" Type="http://schemas.openxmlformats.org/officeDocument/2006/relationships/slide" Target="slides/slide8.xml"/><Relationship Id="rId134" Type="http://schemas.openxmlformats.org/officeDocument/2006/relationships/slide" Target="slides/slide9.xml"/><Relationship Id="rId135" Type="http://schemas.openxmlformats.org/officeDocument/2006/relationships/slide" Target="slides/slide10.xml"/><Relationship Id="rId136" Type="http://schemas.openxmlformats.org/officeDocument/2006/relationships/slide" Target="slides/slide11.xml"/><Relationship Id="rId137" Type="http://schemas.openxmlformats.org/officeDocument/2006/relationships/slide" Target="slides/slide12.xml"/><Relationship Id="rId138" Type="http://schemas.openxmlformats.org/officeDocument/2006/relationships/slide" Target="slides/slide13.xml"/><Relationship Id="rId139" Type="http://schemas.openxmlformats.org/officeDocument/2006/relationships/slide" Target="slides/slide14.xml"/><Relationship Id="rId140" Type="http://schemas.openxmlformats.org/officeDocument/2006/relationships/slide" Target="slides/slide15.xml"/><Relationship Id="rId141" Type="http://schemas.openxmlformats.org/officeDocument/2006/relationships/slide" Target="slides/slide16.xml"/><Relationship Id="rId142" Type="http://schemas.openxmlformats.org/officeDocument/2006/relationships/slide" Target="slides/slide17.xml"/><Relationship Id="rId143" Type="http://schemas.openxmlformats.org/officeDocument/2006/relationships/slide" Target="slides/slide18.xml"/><Relationship Id="rId144" Type="http://schemas.openxmlformats.org/officeDocument/2006/relationships/slide" Target="slides/slide19.xml"/><Relationship Id="rId145" Type="http://schemas.openxmlformats.org/officeDocument/2006/relationships/slide" Target="slides/slide20.xml"/><Relationship Id="rId146" Type="http://schemas.openxmlformats.org/officeDocument/2006/relationships/slide" Target="slides/slide21.xml"/><Relationship Id="rId147" Type="http://schemas.openxmlformats.org/officeDocument/2006/relationships/slide" Target="slides/slide22.xml"/><Relationship Id="rId148" Type="http://schemas.openxmlformats.org/officeDocument/2006/relationships/slide" Target="slides/slide23.xml"/><Relationship Id="rId149" Type="http://schemas.openxmlformats.org/officeDocument/2006/relationships/slide" Target="slides/slide24.xml"/><Relationship Id="rId150" Type="http://schemas.openxmlformats.org/officeDocument/2006/relationships/slide" Target="slides/slide25.xml"/><Relationship Id="rId151" Type="http://schemas.openxmlformats.org/officeDocument/2006/relationships/slide" Target="slides/slide26.xml"/><Relationship Id="rId152" Type="http://schemas.openxmlformats.org/officeDocument/2006/relationships/slide" Target="slides/slide27.xml"/><Relationship Id="rId153" Type="http://schemas.openxmlformats.org/officeDocument/2006/relationships/slide" Target="slides/slide28.xml"/><Relationship Id="rId154" Type="http://schemas.openxmlformats.org/officeDocument/2006/relationships/slide" Target="slides/slide29.xml"/><Relationship Id="rId155" Type="http://schemas.openxmlformats.org/officeDocument/2006/relationships/slide" Target="slides/slide30.xml"/><Relationship Id="rId156" Type="http://schemas.openxmlformats.org/officeDocument/2006/relationships/slide" Target="slides/slide31.xml"/><Relationship Id="rId157" Type="http://schemas.openxmlformats.org/officeDocument/2006/relationships/slide" Target="slides/slide32.xml"/><Relationship Id="rId158" Type="http://schemas.openxmlformats.org/officeDocument/2006/relationships/slide" Target="slides/slide33.xml"/><Relationship Id="rId159" Type="http://schemas.openxmlformats.org/officeDocument/2006/relationships/slide" Target="slides/slide34.xml"/><Relationship Id="rId160" Type="http://schemas.openxmlformats.org/officeDocument/2006/relationships/slide" Target="slides/slide35.xml"/><Relationship Id="rId161" Type="http://schemas.openxmlformats.org/officeDocument/2006/relationships/slide" Target="slides/slide36.xml"/><Relationship Id="rId162" Type="http://schemas.openxmlformats.org/officeDocument/2006/relationships/slide" Target="slides/slide37.xml"/><Relationship Id="rId163" Type="http://schemas.openxmlformats.org/officeDocument/2006/relationships/slide" Target="slides/slide38.xml"/><Relationship Id="rId164" Type="http://schemas.openxmlformats.org/officeDocument/2006/relationships/slide" Target="slides/slide39.xml"/><Relationship Id="rId165" Type="http://schemas.openxmlformats.org/officeDocument/2006/relationships/slide" Target="slides/slide40.xml"/><Relationship Id="rId166" Type="http://schemas.openxmlformats.org/officeDocument/2006/relationships/slide" Target="slides/slide41.xml"/><Relationship Id="rId167" Type="http://schemas.openxmlformats.org/officeDocument/2006/relationships/slide" Target="slides/slide42.xml"/><Relationship Id="rId168" Type="http://schemas.openxmlformats.org/officeDocument/2006/relationships/slide" Target="slides/slide43.xml"/><Relationship Id="rId169" Type="http://schemas.openxmlformats.org/officeDocument/2006/relationships/slide" Target="slides/slide44.xml"/><Relationship Id="rId170" Type="http://schemas.openxmlformats.org/officeDocument/2006/relationships/slide" Target="slides/slide45.xml"/><Relationship Id="rId171" Type="http://schemas.openxmlformats.org/officeDocument/2006/relationships/slide" Target="slides/slide46.xml"/><Relationship Id="rId172" Type="http://schemas.openxmlformats.org/officeDocument/2006/relationships/slide" Target="slides/slide47.xml"/><Relationship Id="rId173" Type="http://schemas.openxmlformats.org/officeDocument/2006/relationships/slide" Target="slides/slide48.xml"/><Relationship Id="rId174" Type="http://schemas.openxmlformats.org/officeDocument/2006/relationships/slide" Target="slides/slide49.xml"/><Relationship Id="rId175" Type="http://schemas.openxmlformats.org/officeDocument/2006/relationships/slide" Target="slides/slide50.xml"/><Relationship Id="rId176" Type="http://schemas.openxmlformats.org/officeDocument/2006/relationships/slide" Target="slides/slide51.xml"/><Relationship Id="rId177" Type="http://schemas.openxmlformats.org/officeDocument/2006/relationships/slide" Target="slides/slide52.xml"/><Relationship Id="rId178" Type="http://schemas.openxmlformats.org/officeDocument/2006/relationships/slide" Target="slides/slide53.xml"/><Relationship Id="rId179" Type="http://schemas.openxmlformats.org/officeDocument/2006/relationships/slide" Target="slides/slide54.xml"/><Relationship Id="rId180" Type="http://schemas.openxmlformats.org/officeDocument/2006/relationships/slide" Target="slides/slide55.xml"/><Relationship Id="rId181" Type="http://schemas.openxmlformats.org/officeDocument/2006/relationships/slide" Target="slides/slide56.xml"/><Relationship Id="rId182" Type="http://schemas.openxmlformats.org/officeDocument/2006/relationships/slide" Target="slides/slide57.xml"/><Relationship Id="rId183" Type="http://schemas.openxmlformats.org/officeDocument/2006/relationships/slide" Target="slides/slide58.xml"/><Relationship Id="rId184" Type="http://schemas.openxmlformats.org/officeDocument/2006/relationships/slide" Target="slides/slide59.xml"/><Relationship Id="rId185" Type="http://schemas.openxmlformats.org/officeDocument/2006/relationships/slide" Target="slides/slide60.xml"/><Relationship Id="rId186" Type="http://schemas.openxmlformats.org/officeDocument/2006/relationships/slide" Target="slides/slide61.xml"/><Relationship Id="rId187" Type="http://schemas.openxmlformats.org/officeDocument/2006/relationships/slide" Target="slides/slide62.xml"/><Relationship Id="rId188" Type="http://schemas.openxmlformats.org/officeDocument/2006/relationships/slide" Target="slides/slide63.xml"/><Relationship Id="rId189" Type="http://schemas.openxmlformats.org/officeDocument/2006/relationships/slide" Target="slides/slide64.xml"/><Relationship Id="rId190" Type="http://schemas.openxmlformats.org/officeDocument/2006/relationships/slide" Target="slides/slide65.xml"/><Relationship Id="rId191" Type="http://schemas.openxmlformats.org/officeDocument/2006/relationships/slide" Target="slides/slide66.xml"/><Relationship Id="rId192" Type="http://schemas.openxmlformats.org/officeDocument/2006/relationships/slide" Target="slides/slide67.xml"/><Relationship Id="rId193" Type="http://schemas.openxmlformats.org/officeDocument/2006/relationships/slide" Target="slides/slide68.xml"/><Relationship Id="rId194" Type="http://schemas.openxmlformats.org/officeDocument/2006/relationships/slide" Target="slides/slide69.xml"/><Relationship Id="rId195" Type="http://schemas.openxmlformats.org/officeDocument/2006/relationships/slide" Target="slides/slide70.xml"/><Relationship Id="rId196" Type="http://schemas.openxmlformats.org/officeDocument/2006/relationships/slide" Target="slides/slide71.xml"/><Relationship Id="rId197" Type="http://schemas.openxmlformats.org/officeDocument/2006/relationships/slide" Target="slides/slide72.xml"/><Relationship Id="rId198" Type="http://schemas.openxmlformats.org/officeDocument/2006/relationships/slide" Target="slides/slide73.xml"/><Relationship Id="rId199" Type="http://schemas.openxmlformats.org/officeDocument/2006/relationships/slide" Target="slides/slide74.xml"/><Relationship Id="rId200" Type="http://schemas.openxmlformats.org/officeDocument/2006/relationships/slide" Target="slides/slide75.xml"/><Relationship Id="rId201" Type="http://schemas.openxmlformats.org/officeDocument/2006/relationships/slide" Target="slides/slide76.xml"/><Relationship Id="rId202" Type="http://schemas.openxmlformats.org/officeDocument/2006/relationships/slide" Target="slides/slide77.xml"/><Relationship Id="rId203" Type="http://schemas.openxmlformats.org/officeDocument/2006/relationships/slide" Target="slides/slide78.xml"/><Relationship Id="rId204" Type="http://schemas.openxmlformats.org/officeDocument/2006/relationships/slide" Target="slides/slide79.xml"/><Relationship Id="rId205" Type="http://schemas.openxmlformats.org/officeDocument/2006/relationships/slide" Target="slides/slide80.xml"/><Relationship Id="rId206" Type="http://schemas.openxmlformats.org/officeDocument/2006/relationships/slide" Target="slides/slide81.xml"/><Relationship Id="rId207" Type="http://schemas.openxmlformats.org/officeDocument/2006/relationships/slide" Target="slides/slide82.xml"/><Relationship Id="rId208" Type="http://schemas.openxmlformats.org/officeDocument/2006/relationships/slide" Target="slides/slide83.xml"/><Relationship Id="rId209" Type="http://schemas.openxmlformats.org/officeDocument/2006/relationships/slide" Target="slides/slide84.xml"/><Relationship Id="rId210" Type="http://schemas.openxmlformats.org/officeDocument/2006/relationships/slide" Target="slides/slide85.xml"/><Relationship Id="rId211" Type="http://schemas.openxmlformats.org/officeDocument/2006/relationships/slide" Target="slides/slide86.xml"/><Relationship Id="rId212" Type="http://schemas.openxmlformats.org/officeDocument/2006/relationships/slide" Target="slides/slide87.xml"/><Relationship Id="rId213" Type="http://schemas.openxmlformats.org/officeDocument/2006/relationships/slide" Target="slides/slide88.xml"/><Relationship Id="rId214" Type="http://schemas.openxmlformats.org/officeDocument/2006/relationships/slide" Target="slides/slide89.xml"/><Relationship Id="rId215" Type="http://schemas.openxmlformats.org/officeDocument/2006/relationships/slide" Target="slides/slide90.xml"/><Relationship Id="rId216" Type="http://schemas.openxmlformats.org/officeDocument/2006/relationships/slide" Target="slides/slide91.xml"/><Relationship Id="rId217" Type="http://schemas.openxmlformats.org/officeDocument/2006/relationships/slide" Target="slides/slide92.xml"/><Relationship Id="rId218" Type="http://schemas.openxmlformats.org/officeDocument/2006/relationships/slide" Target="slides/slide93.xml"/><Relationship Id="rId219" Type="http://schemas.openxmlformats.org/officeDocument/2006/relationships/slide" Target="slides/slide94.xml"/><Relationship Id="rId220" Type="http://schemas.openxmlformats.org/officeDocument/2006/relationships/slide" Target="slides/slide95.xml"/><Relationship Id="rId221" Type="http://schemas.openxmlformats.org/officeDocument/2006/relationships/slide" Target="slides/slide96.xml"/><Relationship Id="rId222" Type="http://schemas.openxmlformats.org/officeDocument/2006/relationships/slide" Target="slides/slide97.xml"/><Relationship Id="rId223" Type="http://schemas.openxmlformats.org/officeDocument/2006/relationships/slide" Target="slides/slide98.xml"/><Relationship Id="rId224" Type="http://schemas.openxmlformats.org/officeDocument/2006/relationships/slide" Target="slides/slide99.xml"/><Relationship Id="rId225" Type="http://schemas.openxmlformats.org/officeDocument/2006/relationships/slide" Target="slides/slide100.xml"/><Relationship Id="rId226" Type="http://schemas.openxmlformats.org/officeDocument/2006/relationships/slide" Target="slides/slide101.xml"/><Relationship Id="rId227" Type="http://schemas.openxmlformats.org/officeDocument/2006/relationships/slide" Target="slides/slide102.xml"/><Relationship Id="rId228" Type="http://schemas.openxmlformats.org/officeDocument/2006/relationships/slide" Target="slides/slide103.xml"/><Relationship Id="rId229" Type="http://schemas.openxmlformats.org/officeDocument/2006/relationships/slide" Target="slides/slide104.xml"/><Relationship Id="rId230" Type="http://schemas.openxmlformats.org/officeDocument/2006/relationships/slide" Target="slides/slide105.xml"/><Relationship Id="rId231" Type="http://schemas.openxmlformats.org/officeDocument/2006/relationships/slide" Target="slides/slide106.xml"/><Relationship Id="rId232" Type="http://schemas.openxmlformats.org/officeDocument/2006/relationships/slide" Target="slides/slide107.xml"/><Relationship Id="rId233" Type="http://schemas.openxmlformats.org/officeDocument/2006/relationships/slide" Target="slides/slide108.xml"/><Relationship Id="rId234" Type="http://schemas.openxmlformats.org/officeDocument/2006/relationships/slide" Target="slides/slide109.xml"/><Relationship Id="rId235" Type="http://schemas.openxmlformats.org/officeDocument/2006/relationships/slide" Target="slides/slide110.xml"/><Relationship Id="rId236" Type="http://schemas.openxmlformats.org/officeDocument/2006/relationships/slide" Target="slides/slide111.xml"/><Relationship Id="rId237" Type="http://schemas.openxmlformats.org/officeDocument/2006/relationships/slide" Target="slides/slide112.xml"/><Relationship Id="rId238" Type="http://schemas.openxmlformats.org/officeDocument/2006/relationships/slide" Target="slides/slide113.xml"/><Relationship Id="rId239" Type="http://schemas.openxmlformats.org/officeDocument/2006/relationships/slide" Target="slides/slide114.xml"/><Relationship Id="rId240" Type="http://schemas.openxmlformats.org/officeDocument/2006/relationships/slide" Target="slides/slide115.xml"/><Relationship Id="rId241" Type="http://schemas.openxmlformats.org/officeDocument/2006/relationships/slide" Target="slides/slide116.xml"/><Relationship Id="rId242" Type="http://schemas.openxmlformats.org/officeDocument/2006/relationships/slide" Target="slides/slide117.xml"/><Relationship Id="rId243" Type="http://schemas.openxmlformats.org/officeDocument/2006/relationships/slide" Target="slides/slide118.xml"/><Relationship Id="rId244" Type="http://schemas.openxmlformats.org/officeDocument/2006/relationships/slide" Target="slides/slide119.xml"/><Relationship Id="rId245" Type="http://schemas.openxmlformats.org/officeDocument/2006/relationships/slide" Target="slides/slide120.xml"/><Relationship Id="rId409" Type="http://schemas.openxmlformats.org/officeDocument/2006/relationships/notesMaster" Target="notesMasters/notesMaster1.xml"/><Relationship Id="rId410" Type="http://schemas.openxmlformats.org/officeDocument/2006/relationships/handoutMaster" Target="handoutMasters/handoutMaster1.xml"/><Relationship Id="rId411" Type="http://schemas.openxmlformats.org/officeDocument/2006/relationships/font" Target="fonts/font1.fntdata"/><Relationship Id="rId412" Type="http://schemas.openxmlformats.org/officeDocument/2006/relationships/font" Target="fonts/font2.fntdata"/><Relationship Id="rId413" Type="http://schemas.openxmlformats.org/officeDocument/2006/relationships/font" Target="fonts/font3.fntdata"/><Relationship Id="rId414" Type="http://schemas.openxmlformats.org/officeDocument/2006/relationships/font" Target="fonts/font4.fntdata"/><Relationship Id="rId415" Type="http://schemas.openxmlformats.org/officeDocument/2006/relationships/font" Target="fonts/font5.fntdata"/><Relationship Id="rId416" Type="http://schemas.openxmlformats.org/officeDocument/2006/relationships/font" Target="fonts/font6.fntdata"/><Relationship Id="rId417" Type="http://schemas.openxmlformats.org/officeDocument/2006/relationships/font" Target="fonts/font7.fntdata"/><Relationship Id="rId418" Type="http://schemas.openxmlformats.org/officeDocument/2006/relationships/font" Target="fonts/font8.fntdata"/><Relationship Id="rId419" Type="http://schemas.openxmlformats.org/officeDocument/2006/relationships/font" Target="fonts/font9.fntdata"/><Relationship Id="rId420" Type="http://schemas.openxmlformats.org/officeDocument/2006/relationships/font" Target="fonts/font10.fntdata"/><Relationship Id="rId421" Type="http://schemas.openxmlformats.org/officeDocument/2006/relationships/font" Target="fonts/font11.fntdata"/><Relationship Id="rId422" Type="http://schemas.openxmlformats.org/officeDocument/2006/relationships/font" Target="fonts/font12.fntdata"/><Relationship Id="rId423" Type="http://schemas.openxmlformats.org/officeDocument/2006/relationships/font" Target="fonts/font13.fntdata"/><Relationship Id="rId424" Type="http://schemas.openxmlformats.org/officeDocument/2006/relationships/font" Target="fonts/font14.fntdata"/><Relationship Id="rId425" Type="http://schemas.openxmlformats.org/officeDocument/2006/relationships/font" Target="fonts/font15.fntdata"/><Relationship Id="rId426" Type="http://schemas.openxmlformats.org/officeDocument/2006/relationships/font" Target="fonts/font16.fntdata"/><Relationship Id="rId427" Type="http://schemas.openxmlformats.org/officeDocument/2006/relationships/font" Target="fonts/font17.fntdata"/><Relationship Id="rId428" Type="http://schemas.openxmlformats.org/officeDocument/2006/relationships/font" Target="fonts/font18.fntdata"/><Relationship Id="rId429" Type="http://schemas.openxmlformats.org/officeDocument/2006/relationships/font" Target="fonts/font19.fntdata"/><Relationship Id="rId430" Type="http://schemas.openxmlformats.org/officeDocument/2006/relationships/font" Target="fonts/font20.fntdata"/><Relationship Id="rId431" Type="http://schemas.openxmlformats.org/officeDocument/2006/relationships/font" Target="fonts/font21.fntdata"/><Relationship Id="rId432" Type="http://schemas.openxmlformats.org/officeDocument/2006/relationships/font" Target="fonts/font22.fntdata"/><Relationship Id="rId433" Type="http://schemas.openxmlformats.org/officeDocument/2006/relationships/font" Target="fonts/font23.fntdata"/><Relationship Id="rId434" Type="http://schemas.openxmlformats.org/officeDocument/2006/relationships/font" Target="fonts/font24.fntdata"/><Relationship Id="rId435" Type="http://schemas.openxmlformats.org/officeDocument/2006/relationships/font" Target="fonts/font25.fntdata"/><Relationship Id="rId436" Type="http://schemas.openxmlformats.org/officeDocument/2006/relationships/font" Target="fonts/font26.fntdata"/><Relationship Id="rId437" Type="http://schemas.openxmlformats.org/officeDocument/2006/relationships/font" Target="fonts/font27.fntdata"/><Relationship Id="rId438" Type="http://schemas.openxmlformats.org/officeDocument/2006/relationships/font" Target="fonts/font28.fntdata"/><Relationship Id="rId439" Type="http://schemas.openxmlformats.org/officeDocument/2006/relationships/font" Target="fonts/font29.fntdata"/><Relationship Id="rId440" Type="http://schemas.openxmlformats.org/officeDocument/2006/relationships/font" Target="fonts/font30.fntdata"/><Relationship Id="rId441" Type="http://schemas.openxmlformats.org/officeDocument/2006/relationships/font" Target="fonts/font31.fntdata"/><Relationship Id="rId442" Type="http://schemas.openxmlformats.org/officeDocument/2006/relationships/font" Target="fonts/font32.fntdata"/><Relationship Id="rId443" Type="http://schemas.openxmlformats.org/officeDocument/2006/relationships/font" Target="fonts/font33.fntdata"/><Relationship Id="rId444" Type="http://schemas.openxmlformats.org/officeDocument/2006/relationships/font" Target="fonts/font34.fntdata"/><Relationship Id="rId445" Type="http://schemas.openxmlformats.org/officeDocument/2006/relationships/font" Target="fonts/font35.fntdata"/><Relationship Id="rId446" Type="http://schemas.openxmlformats.org/officeDocument/2006/relationships/font" Target="fonts/font36.fntdata"/><Relationship Id="rId447" Type="http://schemas.openxmlformats.org/officeDocument/2006/relationships/font" Target="fonts/font37.fntdata"/><Relationship Id="rId448" Type="http://schemas.openxmlformats.org/officeDocument/2006/relationships/font" Target="fonts/font38.fntdata"/><Relationship Id="rId449" Type="http://schemas.openxmlformats.org/officeDocument/2006/relationships/font" Target="fonts/font39.fntdata"/><Relationship Id="rId450" Type="http://schemas.openxmlformats.org/officeDocument/2006/relationships/tags" Target="tags/tag1.xml"/><Relationship Id="rId451" Type="http://schemas.openxmlformats.org/officeDocument/2006/relationships/presProps" Target="presProps.xml"/><Relationship Id="rId452" Type="http://schemas.openxmlformats.org/officeDocument/2006/relationships/viewProps" Target="viewProps.xml"/><Relationship Id="rId453" Type="http://schemas.openxmlformats.org/officeDocument/2006/relationships/theme" Target="theme/theme1.xml"/><Relationship Id="rId454" Type="http://schemas.openxmlformats.org/officeDocument/2006/relationships/tableStyles" Target="tableStyles.xml"/><Relationship Id="rId455" Type="http://schemas.microsoft.com/office/2016/11/relationships/changesInfo" Target="changesInfos/changesInfo1.xml"/><Relationship Id="rId456" Type="http://schemas.microsoft.com/office/2015/10/relationships/revisionInfo" Target="revisionInfo.xml"/><Relationship Id="rId45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obert Butscher" userId="61bc653898ddc2e0" providerId="LiveId" clId="{51D723D9-59D9-44A1-A120-82CD4C10D8A5}"/>
    <pc:docChg chg="addSld modSld sldOrd">
      <pc:chgData name="Dr. Robert Butscher" userId="61bc653898ddc2e0" providerId="LiveId" clId="{51D723D9-59D9-44A1-A120-82CD4C10D8A5}" dt="2026-08-24T19:41:07.349" v="182"/>
      <pc:docMkLst>
        <pc:docMk/>
      </pc:docMkLst>
      <pc:sldChg chg="add">
        <pc:chgData name="Dr. Robert Butscher" userId="61bc653898ddc2e0" providerId="LiveId" clId="{51D723D9-59D9-44A1-A120-82CD4C10D8A5}" dt="2026-08-24T18:36:29.815" v="166"/>
        <pc:sldMkLst>
          <pc:docMk/>
          <pc:sldMk cId="2273511773" sldId="261"/>
        </pc:sldMkLst>
      </pc:sldChg>
      <pc:sldChg chg="modSp">
        <pc:chgData name="Dr. Robert Butscher" userId="61bc653898ddc2e0" providerId="LiveId" clId="{51D723D9-59D9-44A1-A120-82CD4C10D8A5}" dt="2026-08-24T17:18:03.157" v="120"/>
        <pc:sldMkLst>
          <pc:docMk/>
          <pc:sldMk cId="0" sldId="263"/>
        </pc:sldMkLst>
        <pc:spChg chg="mod">
          <ac:chgData name="Dr. Robert Butscher" userId="61bc653898ddc2e0" providerId="LiveId" clId="{51D723D9-59D9-44A1-A120-82CD4C10D8A5}" dt="2026-08-24T17:18:03.157" v="120"/>
          <ac:spMkLst>
            <pc:docMk/>
            <pc:sldMk cId="0" sldId="263"/>
            <ac:spMk id="3" creationId="{00000000-0000-0000-0000-000000000000}"/>
          </ac:spMkLst>
        </pc:spChg>
      </pc:sldChg>
      <pc:sldChg chg="modSp">
        <pc:chgData name="Dr. Robert Butscher" userId="61bc653898ddc2e0" providerId="LiveId" clId="{51D723D9-59D9-44A1-A120-82CD4C10D8A5}" dt="2026-08-24T17:19:40.325" v="128"/>
        <pc:sldMkLst>
          <pc:docMk/>
          <pc:sldMk cId="0" sldId="278"/>
        </pc:sldMkLst>
        <pc:spChg chg="mod">
          <ac:chgData name="Dr. Robert Butscher" userId="61bc653898ddc2e0" providerId="LiveId" clId="{51D723D9-59D9-44A1-A120-82CD4C10D8A5}" dt="2026-08-24T17:19:40.325" v="128"/>
          <ac:spMkLst>
            <pc:docMk/>
            <pc:sldMk cId="0" sldId="278"/>
            <ac:spMk id="3" creationId="{00000000-0000-0000-0000-000000000000}"/>
          </ac:spMkLst>
        </pc:spChg>
      </pc:sldChg>
      <pc:sldChg chg="modSp">
        <pc:chgData name="Dr. Robert Butscher" userId="61bc653898ddc2e0" providerId="LiveId" clId="{51D723D9-59D9-44A1-A120-82CD4C10D8A5}" dt="2026-08-24T17:22:14.421" v="154"/>
        <pc:sldMkLst>
          <pc:docMk/>
          <pc:sldMk cId="0" sldId="298"/>
        </pc:sldMkLst>
        <pc:spChg chg="mod">
          <ac:chgData name="Dr. Robert Butscher" userId="61bc653898ddc2e0" providerId="LiveId" clId="{51D723D9-59D9-44A1-A120-82CD4C10D8A5}" dt="2026-08-24T17:22:14.421" v="154"/>
          <ac:spMkLst>
            <pc:docMk/>
            <pc:sldMk cId="0" sldId="298"/>
            <ac:spMk id="3" creationId="{00000000-0000-0000-0000-000000000000}"/>
          </ac:spMkLst>
        </pc:spChg>
      </pc:sldChg>
      <pc:sldChg chg="modSp">
        <pc:chgData name="Dr. Robert Butscher" userId="61bc653898ddc2e0" providerId="LiveId" clId="{51D723D9-59D9-44A1-A120-82CD4C10D8A5}" dt="2026-08-24T17:19:23.675" v="126"/>
        <pc:sldMkLst>
          <pc:docMk/>
          <pc:sldMk cId="2163451339" sldId="309"/>
        </pc:sldMkLst>
        <pc:spChg chg="mod">
          <ac:chgData name="Dr. Robert Butscher" userId="61bc653898ddc2e0" providerId="LiveId" clId="{51D723D9-59D9-44A1-A120-82CD4C10D8A5}" dt="2026-08-24T17:19:23.675" v="126"/>
          <ac:spMkLst>
            <pc:docMk/>
            <pc:sldMk cId="2163451339" sldId="309"/>
            <ac:spMk id="3" creationId="{00000000-0000-0000-0000-000000000000}"/>
          </ac:spMkLst>
        </pc:spChg>
      </pc:sldChg>
      <pc:sldChg chg="modSp">
        <pc:chgData name="Dr. Robert Butscher" userId="61bc653898ddc2e0" providerId="LiveId" clId="{51D723D9-59D9-44A1-A120-82CD4C10D8A5}" dt="2026-08-24T17:21:51.737" v="151"/>
        <pc:sldMkLst>
          <pc:docMk/>
          <pc:sldMk cId="3125332376" sldId="327"/>
        </pc:sldMkLst>
        <pc:spChg chg="mod">
          <ac:chgData name="Dr. Robert Butscher" userId="61bc653898ddc2e0" providerId="LiveId" clId="{51D723D9-59D9-44A1-A120-82CD4C10D8A5}" dt="2026-08-24T17:21:51.737" v="151"/>
          <ac:spMkLst>
            <pc:docMk/>
            <pc:sldMk cId="3125332376" sldId="327"/>
            <ac:spMk id="3" creationId="{E7BCC389-D942-75D3-84E3-6CB28916D57E}"/>
          </ac:spMkLst>
        </pc:spChg>
      </pc:sldChg>
      <pc:sldChg chg="modSp">
        <pc:chgData name="Dr. Robert Butscher" userId="61bc653898ddc2e0" providerId="LiveId" clId="{51D723D9-59D9-44A1-A120-82CD4C10D8A5}" dt="2026-08-24T17:15:37.658" v="112"/>
        <pc:sldMkLst>
          <pc:docMk/>
          <pc:sldMk cId="4192362013" sldId="392"/>
        </pc:sldMkLst>
        <pc:spChg chg="mod">
          <ac:chgData name="Dr. Robert Butscher" userId="61bc653898ddc2e0" providerId="LiveId" clId="{51D723D9-59D9-44A1-A120-82CD4C10D8A5}" dt="2026-08-24T17:15:37.658" v="112"/>
          <ac:spMkLst>
            <pc:docMk/>
            <pc:sldMk cId="4192362013" sldId="392"/>
            <ac:spMk id="6" creationId="{7B414D2D-443A-02F9-8DFF-CE33F1139875}"/>
          </ac:spMkLst>
        </pc:spChg>
      </pc:sldChg>
      <pc:sldChg chg="modSp">
        <pc:chgData name="Dr. Robert Butscher" userId="61bc653898ddc2e0" providerId="LiveId" clId="{51D723D9-59D9-44A1-A120-82CD4C10D8A5}" dt="2026-08-24T16:47:08.572" v="108"/>
        <pc:sldMkLst>
          <pc:docMk/>
          <pc:sldMk cId="164862661" sldId="818"/>
        </pc:sldMkLst>
        <pc:grpChg chg="mod">
          <ac:chgData name="Dr. Robert Butscher" userId="61bc653898ddc2e0" providerId="LiveId" clId="{51D723D9-59D9-44A1-A120-82CD4C10D8A5}" dt="2026-08-24T16:47:08.572" v="108"/>
          <ac:grpSpMkLst>
            <pc:docMk/>
            <pc:sldMk cId="164862661" sldId="818"/>
            <ac:grpSpMk id="7" creationId="{2B7423A5-F26C-4E73-AE86-7734BCB89FFF}"/>
          </ac:grpSpMkLst>
        </pc:grpChg>
        <pc:picChg chg="mod">
          <ac:chgData name="Dr. Robert Butscher" userId="61bc653898ddc2e0" providerId="LiveId" clId="{51D723D9-59D9-44A1-A120-82CD4C10D8A5}" dt="2026-08-24T16:47:08.572" v="108"/>
          <ac:picMkLst>
            <pc:docMk/>
            <pc:sldMk cId="164862661" sldId="818"/>
            <ac:picMk id="6" creationId="{B1984D81-33D8-4628-8D07-F185748E3B29}"/>
          </ac:picMkLst>
        </pc:picChg>
        <pc:picChg chg="mod">
          <ac:chgData name="Dr. Robert Butscher" userId="61bc653898ddc2e0" providerId="LiveId" clId="{51D723D9-59D9-44A1-A120-82CD4C10D8A5}" dt="2026-08-24T16:47:08.572" v="108"/>
          <ac:picMkLst>
            <pc:docMk/>
            <pc:sldMk cId="164862661" sldId="818"/>
            <ac:picMk id="16" creationId="{479E3F27-1997-43B5-AE6B-EB809559D3B4}"/>
          </ac:picMkLst>
        </pc:picChg>
      </pc:sldChg>
      <pc:sldChg chg="modSp">
        <pc:chgData name="Dr. Robert Butscher" userId="61bc653898ddc2e0" providerId="LiveId" clId="{51D723D9-59D9-44A1-A120-82CD4C10D8A5}" dt="2026-08-24T16:47:02.541" v="102"/>
        <pc:sldMkLst>
          <pc:docMk/>
          <pc:sldMk cId="852914948" sldId="819"/>
        </pc:sldMkLst>
        <pc:grpChg chg="mod">
          <ac:chgData name="Dr. Robert Butscher" userId="61bc653898ddc2e0" providerId="LiveId" clId="{51D723D9-59D9-44A1-A120-82CD4C10D8A5}" dt="2026-08-24T16:47:02.541" v="102"/>
          <ac:grpSpMkLst>
            <pc:docMk/>
            <pc:sldMk cId="852914948" sldId="819"/>
            <ac:grpSpMk id="6" creationId="{EA6BCDDE-40C2-44EF-A050-281E00E8D759}"/>
          </ac:grpSpMkLst>
        </pc:grpChg>
        <pc:picChg chg="mod">
          <ac:chgData name="Dr. Robert Butscher" userId="61bc653898ddc2e0" providerId="LiveId" clId="{51D723D9-59D9-44A1-A120-82CD4C10D8A5}" dt="2026-08-24T16:47:02.541" v="102"/>
          <ac:picMkLst>
            <pc:docMk/>
            <pc:sldMk cId="852914948" sldId="819"/>
            <ac:picMk id="5" creationId="{45930BF0-E561-4953-8E3B-4EB3EB925122}"/>
          </ac:picMkLst>
        </pc:picChg>
        <pc:picChg chg="mod">
          <ac:chgData name="Dr. Robert Butscher" userId="61bc653898ddc2e0" providerId="LiveId" clId="{51D723D9-59D9-44A1-A120-82CD4C10D8A5}" dt="2026-08-24T16:47:02.541" v="102"/>
          <ac:picMkLst>
            <pc:docMk/>
            <pc:sldMk cId="852914948" sldId="819"/>
            <ac:picMk id="16" creationId="{B92DB35D-8275-4449-A915-C58056456887}"/>
          </ac:picMkLst>
        </pc:picChg>
      </pc:sldChg>
      <pc:sldChg chg="modSp add">
        <pc:chgData name="Dr. Robert Butscher" userId="61bc653898ddc2e0" providerId="LiveId" clId="{51D723D9-59D9-44A1-A120-82CD4C10D8A5}" dt="2026-08-24T18:58:22.596" v="179"/>
        <pc:sldMkLst>
          <pc:docMk/>
          <pc:sldMk cId="2898436474" sldId="993"/>
        </pc:sldMkLst>
        <pc:spChg chg="mod">
          <ac:chgData name="Dr. Robert Butscher" userId="61bc653898ddc2e0" providerId="LiveId" clId="{51D723D9-59D9-44A1-A120-82CD4C10D8A5}" dt="2026-08-24T18:58:22.596" v="179"/>
          <ac:spMkLst>
            <pc:docMk/>
            <pc:sldMk cId="2898436474" sldId="993"/>
            <ac:spMk id="12" creationId="{C53F2526-5601-4042-BD60-6753018A0314}"/>
          </ac:spMkLst>
        </pc:spChg>
      </pc:sldChg>
      <pc:sldChg chg="modSp add">
        <pc:chgData name="Dr. Robert Butscher" userId="61bc653898ddc2e0" providerId="LiveId" clId="{51D723D9-59D9-44A1-A120-82CD4C10D8A5}" dt="2026-08-24T18:57:23.724" v="177"/>
        <pc:sldMkLst>
          <pc:docMk/>
          <pc:sldMk cId="107238274" sldId="1039"/>
        </pc:sldMkLst>
        <pc:spChg chg="mod">
          <ac:chgData name="Dr. Robert Butscher" userId="61bc653898ddc2e0" providerId="LiveId" clId="{51D723D9-59D9-44A1-A120-82CD4C10D8A5}" dt="2026-08-24T18:57:23.724" v="177"/>
          <ac:spMkLst>
            <pc:docMk/>
            <pc:sldMk cId="107238274" sldId="1039"/>
            <ac:spMk id="3" creationId="{3C742330-13FD-458E-87F1-FB5A6FF88335}"/>
          </ac:spMkLst>
        </pc:spChg>
      </pc:sldChg>
      <pc:sldChg chg="add">
        <pc:chgData name="Dr. Robert Butscher" userId="61bc653898ddc2e0" providerId="LiveId" clId="{51D723D9-59D9-44A1-A120-82CD4C10D8A5}" dt="2026-08-24T18:36:29.815" v="166"/>
        <pc:sldMkLst>
          <pc:docMk/>
          <pc:sldMk cId="1706388923" sldId="1369"/>
        </pc:sldMkLst>
      </pc:sldChg>
      <pc:sldChg chg="add">
        <pc:chgData name="Dr. Robert Butscher" userId="61bc653898ddc2e0" providerId="LiveId" clId="{51D723D9-59D9-44A1-A120-82CD4C10D8A5}" dt="2026-08-24T18:36:29.815" v="166"/>
        <pc:sldMkLst>
          <pc:docMk/>
          <pc:sldMk cId="2356982369" sldId="3536"/>
        </pc:sldMkLst>
      </pc:sldChg>
      <pc:sldChg chg="add">
        <pc:chgData name="Dr. Robert Butscher" userId="61bc653898ddc2e0" providerId="LiveId" clId="{51D723D9-59D9-44A1-A120-82CD4C10D8A5}" dt="2026-08-24T18:36:29.815" v="166"/>
        <pc:sldMkLst>
          <pc:docMk/>
          <pc:sldMk cId="3575425406" sldId="3538"/>
        </pc:sldMkLst>
      </pc:sldChg>
      <pc:sldChg chg="modSp">
        <pc:chgData name="Dr. Robert Butscher" userId="61bc653898ddc2e0" providerId="LiveId" clId="{51D723D9-59D9-44A1-A120-82CD4C10D8A5}" dt="2026-08-24T15:59:53.945" v="68"/>
        <pc:sldMkLst>
          <pc:docMk/>
          <pc:sldMk cId="1902431674" sldId="3687"/>
        </pc:sldMkLst>
        <pc:spChg chg="mod">
          <ac:chgData name="Dr. Robert Butscher" userId="61bc653898ddc2e0" providerId="LiveId" clId="{51D723D9-59D9-44A1-A120-82CD4C10D8A5}" dt="2026-08-24T15:59:53.945" v="68"/>
          <ac:spMkLst>
            <pc:docMk/>
            <pc:sldMk cId="1902431674" sldId="3687"/>
            <ac:spMk id="5" creationId="{B332EA8B-7E46-D0E7-6F26-5007C4446D66}"/>
          </ac:spMkLst>
        </pc:spChg>
      </pc:sldChg>
      <pc:sldChg chg="modSp">
        <pc:chgData name="Dr. Robert Butscher" userId="61bc653898ddc2e0" providerId="LiveId" clId="{51D723D9-59D9-44A1-A120-82CD4C10D8A5}" dt="2026-08-24T15:31:09.941" v="2"/>
        <pc:sldMkLst>
          <pc:docMk/>
          <pc:sldMk cId="3074398939" sldId="3728"/>
        </pc:sldMkLst>
        <pc:spChg chg="mod">
          <ac:chgData name="Dr. Robert Butscher" userId="61bc653898ddc2e0" providerId="LiveId" clId="{51D723D9-59D9-44A1-A120-82CD4C10D8A5}" dt="2026-08-24T15:31:09.941" v="2"/>
          <ac:spMkLst>
            <pc:docMk/>
            <pc:sldMk cId="3074398939" sldId="3728"/>
            <ac:spMk id="6" creationId="{C3437374-FBA2-B454-3C39-73832C2948FF}"/>
          </ac:spMkLst>
        </pc:spChg>
      </pc:sldChg>
      <pc:sldChg chg="modSp">
        <pc:chgData name="Dr. Robert Butscher" userId="61bc653898ddc2e0" providerId="LiveId" clId="{51D723D9-59D9-44A1-A120-82CD4C10D8A5}" dt="2026-08-24T15:56:36.797" v="41"/>
        <pc:sldMkLst>
          <pc:docMk/>
          <pc:sldMk cId="794045083" sldId="3749"/>
        </pc:sldMkLst>
        <pc:spChg chg="mod">
          <ac:chgData name="Dr. Robert Butscher" userId="61bc653898ddc2e0" providerId="LiveId" clId="{51D723D9-59D9-44A1-A120-82CD4C10D8A5}" dt="2026-08-24T15:56:36.797" v="41"/>
          <ac:spMkLst>
            <pc:docMk/>
            <pc:sldMk cId="794045083" sldId="3749"/>
            <ac:spMk id="4" creationId="{B55B8415-1202-9D26-22C7-6A7555491BAE}"/>
          </ac:spMkLst>
        </pc:spChg>
      </pc:sldChg>
      <pc:sldChg chg="modSp">
        <pc:chgData name="Dr. Robert Butscher" userId="61bc653898ddc2e0" providerId="LiveId" clId="{51D723D9-59D9-44A1-A120-82CD4C10D8A5}" dt="2026-08-24T15:58:40.317" v="66"/>
        <pc:sldMkLst>
          <pc:docMk/>
          <pc:sldMk cId="2327528199" sldId="3754"/>
        </pc:sldMkLst>
        <pc:spChg chg="mod">
          <ac:chgData name="Dr. Robert Butscher" userId="61bc653898ddc2e0" providerId="LiveId" clId="{51D723D9-59D9-44A1-A120-82CD4C10D8A5}" dt="2026-08-24T15:58:40.317" v="66"/>
          <ac:spMkLst>
            <pc:docMk/>
            <pc:sldMk cId="2327528199" sldId="3754"/>
            <ac:spMk id="2" creationId="{DC9F57B5-0BA8-88CE-0470-2984B3125015}"/>
          </ac:spMkLst>
        </pc:spChg>
      </pc:sldChg>
      <pc:sldChg chg="modSp">
        <pc:chgData name="Dr. Robert Butscher" userId="61bc653898ddc2e0" providerId="LiveId" clId="{51D723D9-59D9-44A1-A120-82CD4C10D8A5}" dt="2026-08-24T15:57:29.769" v="53" actId="1036"/>
        <pc:sldMkLst>
          <pc:docMk/>
          <pc:sldMk cId="436332533" sldId="3759"/>
        </pc:sldMkLst>
        <pc:spChg chg="mod">
          <ac:chgData name="Dr. Robert Butscher" userId="61bc653898ddc2e0" providerId="LiveId" clId="{51D723D9-59D9-44A1-A120-82CD4C10D8A5}" dt="2026-08-24T15:57:29.769" v="53" actId="1036"/>
          <ac:spMkLst>
            <pc:docMk/>
            <pc:sldMk cId="436332533" sldId="3759"/>
            <ac:spMk id="56" creationId="{683BFC76-8220-EEB4-4324-A1C79D149D2E}"/>
          </ac:spMkLst>
        </pc:spChg>
        <pc:spChg chg="mod">
          <ac:chgData name="Dr. Robert Butscher" userId="61bc653898ddc2e0" providerId="LiveId" clId="{51D723D9-59D9-44A1-A120-82CD4C10D8A5}" dt="2026-08-24T15:57:29.769" v="53" actId="1036"/>
          <ac:spMkLst>
            <pc:docMk/>
            <pc:sldMk cId="436332533" sldId="3759"/>
            <ac:spMk id="92" creationId="{270EF92D-4EA5-7120-F3C8-749C1EA61F9B}"/>
          </ac:spMkLst>
        </pc:spChg>
        <pc:spChg chg="mod">
          <ac:chgData name="Dr. Robert Butscher" userId="61bc653898ddc2e0" providerId="LiveId" clId="{51D723D9-59D9-44A1-A120-82CD4C10D8A5}" dt="2026-08-24T15:57:29.769" v="53" actId="1036"/>
          <ac:spMkLst>
            <pc:docMk/>
            <pc:sldMk cId="436332533" sldId="3759"/>
            <ac:spMk id="94" creationId="{B9AECD13-8F27-E6DB-43DD-5611389F6C25}"/>
          </ac:spMkLst>
        </pc:spChg>
        <pc:spChg chg="mod">
          <ac:chgData name="Dr. Robert Butscher" userId="61bc653898ddc2e0" providerId="LiveId" clId="{51D723D9-59D9-44A1-A120-82CD4C10D8A5}" dt="2026-08-24T15:57:29.769" v="53" actId="1036"/>
          <ac:spMkLst>
            <pc:docMk/>
            <pc:sldMk cId="436332533" sldId="3759"/>
            <ac:spMk id="106" creationId="{3145495F-A9B5-691C-EA88-C9E3C4B14730}"/>
          </ac:spMkLst>
        </pc:spChg>
        <pc:spChg chg="mod">
          <ac:chgData name="Dr. Robert Butscher" userId="61bc653898ddc2e0" providerId="LiveId" clId="{51D723D9-59D9-44A1-A120-82CD4C10D8A5}" dt="2026-08-24T15:57:29.769" v="53" actId="1036"/>
          <ac:spMkLst>
            <pc:docMk/>
            <pc:sldMk cId="436332533" sldId="3759"/>
            <ac:spMk id="108" creationId="{6FBF5EF5-09B1-E47A-97C1-1577BFAF726A}"/>
          </ac:spMkLst>
        </pc:spChg>
        <pc:spChg chg="mod">
          <ac:chgData name="Dr. Robert Butscher" userId="61bc653898ddc2e0" providerId="LiveId" clId="{51D723D9-59D9-44A1-A120-82CD4C10D8A5}" dt="2026-08-24T15:57:29.769" v="53" actId="1036"/>
          <ac:spMkLst>
            <pc:docMk/>
            <pc:sldMk cId="436332533" sldId="3759"/>
            <ac:spMk id="134" creationId="{BFD03ACB-939A-E3CF-7CD4-8E69350C03D3}"/>
          </ac:spMkLst>
        </pc:spChg>
        <pc:spChg chg="mod">
          <ac:chgData name="Dr. Robert Butscher" userId="61bc653898ddc2e0" providerId="LiveId" clId="{51D723D9-59D9-44A1-A120-82CD4C10D8A5}" dt="2026-08-24T15:57:29.769" v="53" actId="1036"/>
          <ac:spMkLst>
            <pc:docMk/>
            <pc:sldMk cId="436332533" sldId="3759"/>
            <ac:spMk id="137" creationId="{46677A73-04A1-2043-6E7B-1A0DA6F7E210}"/>
          </ac:spMkLst>
        </pc:spChg>
        <pc:spChg chg="mod">
          <ac:chgData name="Dr. Robert Butscher" userId="61bc653898ddc2e0" providerId="LiveId" clId="{51D723D9-59D9-44A1-A120-82CD4C10D8A5}" dt="2026-08-24T15:57:29.769" v="53" actId="1036"/>
          <ac:spMkLst>
            <pc:docMk/>
            <pc:sldMk cId="436332533" sldId="3759"/>
            <ac:spMk id="142" creationId="{A021CA4D-2F42-B134-54FF-97B7219F731B}"/>
          </ac:spMkLst>
        </pc:spChg>
        <pc:spChg chg="mod">
          <ac:chgData name="Dr. Robert Butscher" userId="61bc653898ddc2e0" providerId="LiveId" clId="{51D723D9-59D9-44A1-A120-82CD4C10D8A5}" dt="2026-08-24T15:57:29.769" v="53" actId="1036"/>
          <ac:spMkLst>
            <pc:docMk/>
            <pc:sldMk cId="436332533" sldId="3759"/>
            <ac:spMk id="169" creationId="{62BCF453-14AB-0669-9E40-7BFDC3748C06}"/>
          </ac:spMkLst>
        </pc:spChg>
        <pc:spChg chg="mod">
          <ac:chgData name="Dr. Robert Butscher" userId="61bc653898ddc2e0" providerId="LiveId" clId="{51D723D9-59D9-44A1-A120-82CD4C10D8A5}" dt="2026-08-24T15:57:29.769" v="53" actId="1036"/>
          <ac:spMkLst>
            <pc:docMk/>
            <pc:sldMk cId="436332533" sldId="3759"/>
            <ac:spMk id="178" creationId="{C0C3553A-133F-FA05-B93D-FA1399B69312}"/>
          </ac:spMkLst>
        </pc:spChg>
      </pc:sldChg>
      <pc:sldChg chg="modSp">
        <pc:chgData name="Dr. Robert Butscher" userId="61bc653898ddc2e0" providerId="LiveId" clId="{51D723D9-59D9-44A1-A120-82CD4C10D8A5}" dt="2026-08-24T15:58:03.260" v="65" actId="1036"/>
        <pc:sldMkLst>
          <pc:docMk/>
          <pc:sldMk cId="96567187" sldId="3760"/>
        </pc:sldMkLst>
        <pc:spChg chg="mod">
          <ac:chgData name="Dr. Robert Butscher" userId="61bc653898ddc2e0" providerId="LiveId" clId="{51D723D9-59D9-44A1-A120-82CD4C10D8A5}" dt="2026-08-24T15:58:03.260" v="65" actId="1036"/>
          <ac:spMkLst>
            <pc:docMk/>
            <pc:sldMk cId="96567187" sldId="3760"/>
            <ac:spMk id="112" creationId="{F69D880D-3C1D-36CB-655C-53971E7F8B11}"/>
          </ac:spMkLst>
        </pc:spChg>
        <pc:spChg chg="mod">
          <ac:chgData name="Dr. Robert Butscher" userId="61bc653898ddc2e0" providerId="LiveId" clId="{51D723D9-59D9-44A1-A120-82CD4C10D8A5}" dt="2026-08-24T15:58:03.260" v="65" actId="1036"/>
          <ac:spMkLst>
            <pc:docMk/>
            <pc:sldMk cId="96567187" sldId="3760"/>
            <ac:spMk id="120" creationId="{C698B2DA-9475-1E17-EEB9-9B1153219AE2}"/>
          </ac:spMkLst>
        </pc:spChg>
        <pc:spChg chg="mod">
          <ac:chgData name="Dr. Robert Butscher" userId="61bc653898ddc2e0" providerId="LiveId" clId="{51D723D9-59D9-44A1-A120-82CD4C10D8A5}" dt="2026-08-24T15:58:03.260" v="65" actId="1036"/>
          <ac:spMkLst>
            <pc:docMk/>
            <pc:sldMk cId="96567187" sldId="3760"/>
            <ac:spMk id="158" creationId="{44C2A4C2-15CD-A91A-4565-80266F716160}"/>
          </ac:spMkLst>
        </pc:spChg>
        <pc:spChg chg="mod">
          <ac:chgData name="Dr. Robert Butscher" userId="61bc653898ddc2e0" providerId="LiveId" clId="{51D723D9-59D9-44A1-A120-82CD4C10D8A5}" dt="2026-08-24T15:58:03.260" v="65" actId="1036"/>
          <ac:spMkLst>
            <pc:docMk/>
            <pc:sldMk cId="96567187" sldId="3760"/>
            <ac:spMk id="159" creationId="{C0B9A019-8306-12FB-F882-5441925B57C7}"/>
          </ac:spMkLst>
        </pc:spChg>
        <pc:spChg chg="mod">
          <ac:chgData name="Dr. Robert Butscher" userId="61bc653898ddc2e0" providerId="LiveId" clId="{51D723D9-59D9-44A1-A120-82CD4C10D8A5}" dt="2026-08-24T15:58:03.260" v="65" actId="1036"/>
          <ac:spMkLst>
            <pc:docMk/>
            <pc:sldMk cId="96567187" sldId="3760"/>
            <ac:spMk id="166" creationId="{99F7BA19-3785-6369-9034-91EC1AF61228}"/>
          </ac:spMkLst>
        </pc:spChg>
        <pc:spChg chg="mod">
          <ac:chgData name="Dr. Robert Butscher" userId="61bc653898ddc2e0" providerId="LiveId" clId="{51D723D9-59D9-44A1-A120-82CD4C10D8A5}" dt="2026-08-24T15:58:03.260" v="65" actId="1036"/>
          <ac:spMkLst>
            <pc:docMk/>
            <pc:sldMk cId="96567187" sldId="3760"/>
            <ac:spMk id="172" creationId="{FE49688D-D513-91F0-1BC3-25FC625F5816}"/>
          </ac:spMkLst>
        </pc:spChg>
        <pc:spChg chg="mod">
          <ac:chgData name="Dr. Robert Butscher" userId="61bc653898ddc2e0" providerId="LiveId" clId="{51D723D9-59D9-44A1-A120-82CD4C10D8A5}" dt="2026-08-24T15:58:03.260" v="65" actId="1036"/>
          <ac:spMkLst>
            <pc:docMk/>
            <pc:sldMk cId="96567187" sldId="3760"/>
            <ac:spMk id="175" creationId="{21255292-6F8B-CA01-0E08-31387C604EA1}"/>
          </ac:spMkLst>
        </pc:spChg>
        <pc:spChg chg="mod">
          <ac:chgData name="Dr. Robert Butscher" userId="61bc653898ddc2e0" providerId="LiveId" clId="{51D723D9-59D9-44A1-A120-82CD4C10D8A5}" dt="2026-08-24T15:58:03.260" v="65" actId="1036"/>
          <ac:spMkLst>
            <pc:docMk/>
            <pc:sldMk cId="96567187" sldId="3760"/>
            <ac:spMk id="205" creationId="{67BE7625-81DE-AEEC-1370-899B32967115}"/>
          </ac:spMkLst>
        </pc:spChg>
        <pc:spChg chg="mod">
          <ac:chgData name="Dr. Robert Butscher" userId="61bc653898ddc2e0" providerId="LiveId" clId="{51D723D9-59D9-44A1-A120-82CD4C10D8A5}" dt="2026-08-24T15:58:03.260" v="65" actId="1036"/>
          <ac:spMkLst>
            <pc:docMk/>
            <pc:sldMk cId="96567187" sldId="3760"/>
            <ac:spMk id="208" creationId="{30A8B580-FE3F-5A93-6B20-97DE37303537}"/>
          </ac:spMkLst>
        </pc:spChg>
        <pc:spChg chg="mod">
          <ac:chgData name="Dr. Robert Butscher" userId="61bc653898ddc2e0" providerId="LiveId" clId="{51D723D9-59D9-44A1-A120-82CD4C10D8A5}" dt="2026-08-24T15:58:03.260" v="65" actId="1036"/>
          <ac:spMkLst>
            <pc:docMk/>
            <pc:sldMk cId="96567187" sldId="3760"/>
            <ac:spMk id="211" creationId="{29F5AF75-07B0-13AA-A0F2-CD686439D073}"/>
          </ac:spMkLst>
        </pc:spChg>
      </pc:sldChg>
      <pc:sldChg chg="add">
        <pc:chgData name="Dr. Robert Butscher" userId="61bc653898ddc2e0" providerId="LiveId" clId="{51D723D9-59D9-44A1-A120-82CD4C10D8A5}" dt="2026-08-24T18:36:29.815" v="166"/>
        <pc:sldMkLst>
          <pc:docMk/>
          <pc:sldMk cId="484018142" sldId="3763"/>
        </pc:sldMkLst>
      </pc:sldChg>
      <pc:sldChg chg="modSp">
        <pc:chgData name="Dr. Robert Butscher" userId="61bc653898ddc2e0" providerId="LiveId" clId="{51D723D9-59D9-44A1-A120-82CD4C10D8A5}" dt="2026-08-24T16:11:48.412" v="69"/>
        <pc:sldMkLst>
          <pc:docMk/>
          <pc:sldMk cId="1864628863" sldId="3770"/>
        </pc:sldMkLst>
        <pc:spChg chg="mod">
          <ac:chgData name="Dr. Robert Butscher" userId="61bc653898ddc2e0" providerId="LiveId" clId="{51D723D9-59D9-44A1-A120-82CD4C10D8A5}" dt="2026-08-24T16:11:48.412" v="69"/>
          <ac:spMkLst>
            <pc:docMk/>
            <pc:sldMk cId="1864628863" sldId="3770"/>
            <ac:spMk id="9" creationId="{79E54433-A3A6-EFBC-8C70-D6523B28279E}"/>
          </ac:spMkLst>
        </pc:spChg>
      </pc:sldChg>
      <pc:sldChg chg="ord">
        <pc:chgData name="Dr. Robert Butscher" userId="61bc653898ddc2e0" providerId="LiveId" clId="{51D723D9-59D9-44A1-A120-82CD4C10D8A5}" dt="2026-08-24T18:32:30.393" v="164"/>
        <pc:sldMkLst>
          <pc:docMk/>
          <pc:sldMk cId="419159568" sldId="3774"/>
        </pc:sldMkLst>
      </pc:sldChg>
      <pc:sldChg chg="add">
        <pc:chgData name="Dr. Robert Butscher" userId="61bc653898ddc2e0" providerId="LiveId" clId="{51D723D9-59D9-44A1-A120-82CD4C10D8A5}" dt="2026-08-24T18:36:29.815" v="166"/>
        <pc:sldMkLst>
          <pc:docMk/>
          <pc:sldMk cId="3111725126" sldId="3788"/>
        </pc:sldMkLst>
      </pc:sldChg>
      <pc:sldChg chg="add">
        <pc:chgData name="Dr. Robert Butscher" userId="61bc653898ddc2e0" providerId="LiveId" clId="{51D723D9-59D9-44A1-A120-82CD4C10D8A5}" dt="2026-08-24T18:36:29.815" v="166"/>
        <pc:sldMkLst>
          <pc:docMk/>
          <pc:sldMk cId="3255608988" sldId="3791"/>
        </pc:sldMkLst>
      </pc:sldChg>
      <pc:sldChg chg="add">
        <pc:chgData name="Dr. Robert Butscher" userId="61bc653898ddc2e0" providerId="LiveId" clId="{51D723D9-59D9-44A1-A120-82CD4C10D8A5}" dt="2026-08-24T18:36:29.815" v="166"/>
        <pc:sldMkLst>
          <pc:docMk/>
          <pc:sldMk cId="923434518" sldId="3792"/>
        </pc:sldMkLst>
      </pc:sldChg>
      <pc:sldChg chg="add">
        <pc:chgData name="Dr. Robert Butscher" userId="61bc653898ddc2e0" providerId="LiveId" clId="{51D723D9-59D9-44A1-A120-82CD4C10D8A5}" dt="2026-08-24T18:36:29.815" v="166"/>
        <pc:sldMkLst>
          <pc:docMk/>
          <pc:sldMk cId="261702479" sldId="3793"/>
        </pc:sldMkLst>
      </pc:sldChg>
      <pc:sldChg chg="add">
        <pc:chgData name="Dr. Robert Butscher" userId="61bc653898ddc2e0" providerId="LiveId" clId="{51D723D9-59D9-44A1-A120-82CD4C10D8A5}" dt="2026-08-24T18:36:29.815" v="166"/>
        <pc:sldMkLst>
          <pc:docMk/>
          <pc:sldMk cId="313153959" sldId="3794"/>
        </pc:sldMkLst>
      </pc:sldChg>
      <pc:sldChg chg="add">
        <pc:chgData name="Dr. Robert Butscher" userId="61bc653898ddc2e0" providerId="LiveId" clId="{51D723D9-59D9-44A1-A120-82CD4C10D8A5}" dt="2026-08-24T18:36:29.815" v="166"/>
        <pc:sldMkLst>
          <pc:docMk/>
          <pc:sldMk cId="2975870571" sldId="3795"/>
        </pc:sldMkLst>
      </pc:sldChg>
      <pc:sldChg chg="add">
        <pc:chgData name="Dr. Robert Butscher" userId="61bc653898ddc2e0" providerId="LiveId" clId="{51D723D9-59D9-44A1-A120-82CD4C10D8A5}" dt="2026-08-24T18:36:29.815" v="166"/>
        <pc:sldMkLst>
          <pc:docMk/>
          <pc:sldMk cId="4045662949" sldId="3796"/>
        </pc:sldMkLst>
      </pc:sldChg>
      <pc:sldChg chg="addSp delSp modSp">
        <pc:chgData name="Dr. Robert Butscher" userId="61bc653898ddc2e0" providerId="LiveId" clId="{51D723D9-59D9-44A1-A120-82CD4C10D8A5}" dt="2026-08-24T15:30:49.979" v="1"/>
        <pc:sldMkLst>
          <pc:docMk/>
          <pc:sldMk cId="2128346769" sldId="3818"/>
        </pc:sldMkLst>
        <pc:spChg chg="add del mod">
          <ac:chgData name="Dr. Robert Butscher" userId="61bc653898ddc2e0" providerId="LiveId" clId="{51D723D9-59D9-44A1-A120-82CD4C10D8A5}" dt="2026-08-24T15:30:49.979" v="1"/>
          <ac:spMkLst>
            <pc:docMk/>
            <pc:sldMk cId="2128346769" sldId="3818"/>
            <ac:spMk id="5" creationId="{15332BFC-F68F-E732-1D04-6CC4B9257EBC}"/>
          </ac:spMkLst>
        </pc:spChg>
      </pc:sldChg>
      <pc:sldChg chg="add">
        <pc:chgData name="Dr. Robert Butscher" userId="61bc653898ddc2e0" providerId="LiveId" clId="{51D723D9-59D9-44A1-A120-82CD4C10D8A5}" dt="2026-08-24T18:36:29.815" v="166"/>
        <pc:sldMkLst>
          <pc:docMk/>
          <pc:sldMk cId="872297383" sldId="3827"/>
        </pc:sldMkLst>
      </pc:sldChg>
      <pc:sldChg chg="add">
        <pc:chgData name="Dr. Robert Butscher" userId="61bc653898ddc2e0" providerId="LiveId" clId="{51D723D9-59D9-44A1-A120-82CD4C10D8A5}" dt="2026-08-24T18:36:29.815" v="166"/>
        <pc:sldMkLst>
          <pc:docMk/>
          <pc:sldMk cId="3007551824" sldId="3828"/>
        </pc:sldMkLst>
      </pc:sldChg>
      <pc:sldChg chg="add ord">
        <pc:chgData name="Dr. Robert Butscher" userId="61bc653898ddc2e0" providerId="LiveId" clId="{51D723D9-59D9-44A1-A120-82CD4C10D8A5}" dt="2026-08-24T18:46:53.315" v="167"/>
        <pc:sldMkLst>
          <pc:docMk/>
          <pc:sldMk cId="1747959772" sldId="3833"/>
        </pc:sldMkLst>
      </pc:sldChg>
      <pc:sldChg chg="add">
        <pc:chgData name="Dr. Robert Butscher" userId="61bc653898ddc2e0" providerId="LiveId" clId="{51D723D9-59D9-44A1-A120-82CD4C10D8A5}" dt="2026-08-24T18:36:29.815" v="166"/>
        <pc:sldMkLst>
          <pc:docMk/>
          <pc:sldMk cId="1678289571" sldId="3834"/>
        </pc:sldMkLst>
      </pc:sldChg>
      <pc:sldChg chg="add">
        <pc:chgData name="Dr. Robert Butscher" userId="61bc653898ddc2e0" providerId="LiveId" clId="{51D723D9-59D9-44A1-A120-82CD4C10D8A5}" dt="2026-08-24T18:36:29.815" v="166"/>
        <pc:sldMkLst>
          <pc:docMk/>
          <pc:sldMk cId="2513135601" sldId="3835"/>
        </pc:sldMkLst>
      </pc:sldChg>
      <pc:sldChg chg="add">
        <pc:chgData name="Dr. Robert Butscher" userId="61bc653898ddc2e0" providerId="LiveId" clId="{51D723D9-59D9-44A1-A120-82CD4C10D8A5}" dt="2026-08-24T18:36:29.815" v="166"/>
        <pc:sldMkLst>
          <pc:docMk/>
          <pc:sldMk cId="3123543744" sldId="3870"/>
        </pc:sldMkLst>
      </pc:sldChg>
      <pc:sldChg chg="add">
        <pc:chgData name="Dr. Robert Butscher" userId="61bc653898ddc2e0" providerId="LiveId" clId="{51D723D9-59D9-44A1-A120-82CD4C10D8A5}" dt="2026-08-24T18:36:29.815" v="166"/>
        <pc:sldMkLst>
          <pc:docMk/>
          <pc:sldMk cId="1494264399" sldId="3871"/>
        </pc:sldMkLst>
      </pc:sldChg>
      <pc:sldChg chg="add">
        <pc:chgData name="Dr. Robert Butscher" userId="61bc653898ddc2e0" providerId="LiveId" clId="{51D723D9-59D9-44A1-A120-82CD4C10D8A5}" dt="2026-08-24T18:36:29.815" v="166"/>
        <pc:sldMkLst>
          <pc:docMk/>
          <pc:sldMk cId="555117604" sldId="3872"/>
        </pc:sldMkLst>
      </pc:sldChg>
      <pc:sldChg chg="add">
        <pc:chgData name="Dr. Robert Butscher" userId="61bc653898ddc2e0" providerId="LiveId" clId="{51D723D9-59D9-44A1-A120-82CD4C10D8A5}" dt="2026-08-24T18:36:29.815" v="166"/>
        <pc:sldMkLst>
          <pc:docMk/>
          <pc:sldMk cId="728138932" sldId="3873"/>
        </pc:sldMkLst>
      </pc:sldChg>
      <pc:sldChg chg="add">
        <pc:chgData name="Dr. Robert Butscher" userId="61bc653898ddc2e0" providerId="LiveId" clId="{51D723D9-59D9-44A1-A120-82CD4C10D8A5}" dt="2026-08-24T18:36:29.815" v="166"/>
        <pc:sldMkLst>
          <pc:docMk/>
          <pc:sldMk cId="1163605179" sldId="3878"/>
        </pc:sldMkLst>
      </pc:sldChg>
      <pc:sldChg chg="add">
        <pc:chgData name="Dr. Robert Butscher" userId="61bc653898ddc2e0" providerId="LiveId" clId="{51D723D9-59D9-44A1-A120-82CD4C10D8A5}" dt="2026-08-24T18:36:29.815" v="166"/>
        <pc:sldMkLst>
          <pc:docMk/>
          <pc:sldMk cId="3436869014" sldId="3880"/>
        </pc:sldMkLst>
      </pc:sldChg>
      <pc:sldChg chg="add">
        <pc:chgData name="Dr. Robert Butscher" userId="61bc653898ddc2e0" providerId="LiveId" clId="{51D723D9-59D9-44A1-A120-82CD4C10D8A5}" dt="2026-08-24T18:36:29.815" v="166"/>
        <pc:sldMkLst>
          <pc:docMk/>
          <pc:sldMk cId="4173638370" sldId="3881"/>
        </pc:sldMkLst>
      </pc:sldChg>
      <pc:sldChg chg="add">
        <pc:chgData name="Dr. Robert Butscher" userId="61bc653898ddc2e0" providerId="LiveId" clId="{51D723D9-59D9-44A1-A120-82CD4C10D8A5}" dt="2026-08-24T18:36:29.815" v="166"/>
        <pc:sldMkLst>
          <pc:docMk/>
          <pc:sldMk cId="4263600499" sldId="3882"/>
        </pc:sldMkLst>
      </pc:sldChg>
      <pc:sldChg chg="add">
        <pc:chgData name="Dr. Robert Butscher" userId="61bc653898ddc2e0" providerId="LiveId" clId="{51D723D9-59D9-44A1-A120-82CD4C10D8A5}" dt="2026-08-24T18:36:29.815" v="166"/>
        <pc:sldMkLst>
          <pc:docMk/>
          <pc:sldMk cId="1644494107" sldId="3883"/>
        </pc:sldMkLst>
      </pc:sldChg>
      <pc:sldChg chg="add">
        <pc:chgData name="Dr. Robert Butscher" userId="61bc653898ddc2e0" providerId="LiveId" clId="{51D723D9-59D9-44A1-A120-82CD4C10D8A5}" dt="2026-08-24T18:36:29.815" v="166"/>
        <pc:sldMkLst>
          <pc:docMk/>
          <pc:sldMk cId="1589826554" sldId="3884"/>
        </pc:sldMkLst>
      </pc:sldChg>
      <pc:sldChg chg="add">
        <pc:chgData name="Dr. Robert Butscher" userId="61bc653898ddc2e0" providerId="LiveId" clId="{51D723D9-59D9-44A1-A120-82CD4C10D8A5}" dt="2026-08-24T18:36:29.815" v="166"/>
        <pc:sldMkLst>
          <pc:docMk/>
          <pc:sldMk cId="3744032579" sldId="3885"/>
        </pc:sldMkLst>
      </pc:sldChg>
      <pc:sldChg chg="add">
        <pc:chgData name="Dr. Robert Butscher" userId="61bc653898ddc2e0" providerId="LiveId" clId="{51D723D9-59D9-44A1-A120-82CD4C10D8A5}" dt="2026-08-24T18:36:29.815" v="166"/>
        <pc:sldMkLst>
          <pc:docMk/>
          <pc:sldMk cId="417477759" sldId="3886"/>
        </pc:sldMkLst>
      </pc:sldChg>
      <pc:sldChg chg="add">
        <pc:chgData name="Dr. Robert Butscher" userId="61bc653898ddc2e0" providerId="LiveId" clId="{51D723D9-59D9-44A1-A120-82CD4C10D8A5}" dt="2026-08-24T18:36:29.815" v="166"/>
        <pc:sldMkLst>
          <pc:docMk/>
          <pc:sldMk cId="1427949855" sldId="3887"/>
        </pc:sldMkLst>
      </pc:sldChg>
      <pc:sldChg chg="add">
        <pc:chgData name="Dr. Robert Butscher" userId="61bc653898ddc2e0" providerId="LiveId" clId="{51D723D9-59D9-44A1-A120-82CD4C10D8A5}" dt="2026-08-24T18:36:29.815" v="166"/>
        <pc:sldMkLst>
          <pc:docMk/>
          <pc:sldMk cId="3568244171" sldId="3888"/>
        </pc:sldMkLst>
      </pc:sldChg>
      <pc:sldChg chg="add">
        <pc:chgData name="Dr. Robert Butscher" userId="61bc653898ddc2e0" providerId="LiveId" clId="{51D723D9-59D9-44A1-A120-82CD4C10D8A5}" dt="2026-08-24T18:36:29.815" v="166"/>
        <pc:sldMkLst>
          <pc:docMk/>
          <pc:sldMk cId="246208504" sldId="3897"/>
        </pc:sldMkLst>
      </pc:sldChg>
      <pc:sldChg chg="add">
        <pc:chgData name="Dr. Robert Butscher" userId="61bc653898ddc2e0" providerId="LiveId" clId="{51D723D9-59D9-44A1-A120-82CD4C10D8A5}" dt="2026-08-24T18:36:29.815" v="166"/>
        <pc:sldMkLst>
          <pc:docMk/>
          <pc:sldMk cId="2988997527" sldId="3898"/>
        </pc:sldMkLst>
      </pc:sldChg>
      <pc:sldChg chg="add">
        <pc:chgData name="Dr. Robert Butscher" userId="61bc653898ddc2e0" providerId="LiveId" clId="{51D723D9-59D9-44A1-A120-82CD4C10D8A5}" dt="2026-08-24T18:36:29.815" v="166"/>
        <pc:sldMkLst>
          <pc:docMk/>
          <pc:sldMk cId="2400921247" sldId="3899"/>
        </pc:sldMkLst>
      </pc:sldChg>
      <pc:sldChg chg="modSp add">
        <pc:chgData name="Dr. Robert Butscher" userId="61bc653898ddc2e0" providerId="LiveId" clId="{51D723D9-59D9-44A1-A120-82CD4C10D8A5}" dt="2026-08-24T18:56:47.697" v="175"/>
        <pc:sldMkLst>
          <pc:docMk/>
          <pc:sldMk cId="2170027711" sldId="4251"/>
        </pc:sldMkLst>
        <pc:spChg chg="mod">
          <ac:chgData name="Dr. Robert Butscher" userId="61bc653898ddc2e0" providerId="LiveId" clId="{51D723D9-59D9-44A1-A120-82CD4C10D8A5}" dt="2026-08-24T18:56:47.697" v="175"/>
          <ac:spMkLst>
            <pc:docMk/>
            <pc:sldMk cId="2170027711" sldId="4251"/>
            <ac:spMk id="7" creationId="{00000000-0000-0000-0000-000000000000}"/>
          </ac:spMkLst>
        </pc:spChg>
      </pc:sldChg>
      <pc:sldChg chg="modSp add">
        <pc:chgData name="Dr. Robert Butscher" userId="61bc653898ddc2e0" providerId="LiveId" clId="{51D723D9-59D9-44A1-A120-82CD4C10D8A5}" dt="2026-08-24T19:40:41.573" v="181"/>
        <pc:sldMkLst>
          <pc:docMk/>
          <pc:sldMk cId="539032127" sldId="4252"/>
        </pc:sldMkLst>
        <pc:spChg chg="mod">
          <ac:chgData name="Dr. Robert Butscher" userId="61bc653898ddc2e0" providerId="LiveId" clId="{51D723D9-59D9-44A1-A120-82CD4C10D8A5}" dt="2026-08-24T19:40:16.216" v="180"/>
          <ac:spMkLst>
            <pc:docMk/>
            <pc:sldMk cId="539032127" sldId="4252"/>
            <ac:spMk id="2" creationId="{6D2F9CA2-64EC-8763-C8B9-C04D75C73ED6}"/>
          </ac:spMkLst>
        </pc:spChg>
        <pc:spChg chg="mod">
          <ac:chgData name="Dr. Robert Butscher" userId="61bc653898ddc2e0" providerId="LiveId" clId="{51D723D9-59D9-44A1-A120-82CD4C10D8A5}" dt="2026-08-24T18:56:34.584" v="172"/>
          <ac:spMkLst>
            <pc:docMk/>
            <pc:sldMk cId="539032127" sldId="4252"/>
            <ac:spMk id="7" creationId="{00000000-0000-0000-0000-000000000000}"/>
          </ac:spMkLst>
        </pc:spChg>
        <pc:graphicFrameChg chg="mod">
          <ac:chgData name="Dr. Robert Butscher" userId="61bc653898ddc2e0" providerId="LiveId" clId="{51D723D9-59D9-44A1-A120-82CD4C10D8A5}" dt="2026-08-24T19:40:41.573" v="181"/>
          <ac:graphicFrameMkLst>
            <pc:docMk/>
            <pc:sldMk cId="539032127" sldId="4252"/>
            <ac:graphicFrameMk id="10" creationId="{675B375A-CB50-9397-65E4-A4CEF7828F57}"/>
          </ac:graphicFrameMkLst>
        </pc:graphicFrameChg>
      </pc:sldChg>
      <pc:sldChg chg="modSp add">
        <pc:chgData name="Dr. Robert Butscher" userId="61bc653898ddc2e0" providerId="LiveId" clId="{51D723D9-59D9-44A1-A120-82CD4C10D8A5}" dt="2026-08-24T19:41:07.349" v="182"/>
        <pc:sldMkLst>
          <pc:docMk/>
          <pc:sldMk cId="4067622867" sldId="4253"/>
        </pc:sldMkLst>
        <pc:spChg chg="mod">
          <ac:chgData name="Dr. Robert Butscher" userId="61bc653898ddc2e0" providerId="LiveId" clId="{51D723D9-59D9-44A1-A120-82CD4C10D8A5}" dt="2026-08-24T18:56:39.062" v="173"/>
          <ac:spMkLst>
            <pc:docMk/>
            <pc:sldMk cId="4067622867" sldId="4253"/>
            <ac:spMk id="7" creationId="{00000000-0000-0000-0000-000000000000}"/>
          </ac:spMkLst>
        </pc:spChg>
        <pc:spChg chg="mod">
          <ac:chgData name="Dr. Robert Butscher" userId="61bc653898ddc2e0" providerId="LiveId" clId="{51D723D9-59D9-44A1-A120-82CD4C10D8A5}" dt="2026-08-24T19:41:07.349" v="182"/>
          <ac:spMkLst>
            <pc:docMk/>
            <pc:sldMk cId="4067622867" sldId="4253"/>
            <ac:spMk id="8" creationId="{F5C94411-E6FE-2794-FADB-195144315BEB}"/>
          </ac:spMkLst>
        </pc:spChg>
      </pc:sldChg>
      <pc:sldChg chg="modSp add">
        <pc:chgData name="Dr. Robert Butscher" userId="61bc653898ddc2e0" providerId="LiveId" clId="{51D723D9-59D9-44A1-A120-82CD4C10D8A5}" dt="2026-08-24T18:56:42.854" v="174"/>
        <pc:sldMkLst>
          <pc:docMk/>
          <pc:sldMk cId="1478461178" sldId="4254"/>
        </pc:sldMkLst>
        <pc:spChg chg="mod">
          <ac:chgData name="Dr. Robert Butscher" userId="61bc653898ddc2e0" providerId="LiveId" clId="{51D723D9-59D9-44A1-A120-82CD4C10D8A5}" dt="2026-08-24T18:56:42.854" v="174"/>
          <ac:spMkLst>
            <pc:docMk/>
            <pc:sldMk cId="1478461178" sldId="4254"/>
            <ac:spMk id="7" creationId="{00000000-0000-0000-0000-000000000000}"/>
          </ac:spMkLst>
        </pc:spChg>
      </pc:sldChg>
      <pc:sldChg chg="modSp add ord">
        <pc:chgData name="Dr. Robert Butscher" userId="61bc653898ddc2e0" providerId="LiveId" clId="{51D723D9-59D9-44A1-A120-82CD4C10D8A5}" dt="2026-08-24T18:32:13.699" v="163"/>
        <pc:sldMkLst>
          <pc:docMk/>
          <pc:sldMk cId="659153365" sldId="4649"/>
        </pc:sldMkLst>
        <pc:spChg chg="mod">
          <ac:chgData name="Dr. Robert Butscher" userId="61bc653898ddc2e0" providerId="LiveId" clId="{51D723D9-59D9-44A1-A120-82CD4C10D8A5}" dt="2026-08-24T18:32:13.699" v="163"/>
          <ac:spMkLst>
            <pc:docMk/>
            <pc:sldMk cId="659153365" sldId="4649"/>
            <ac:spMk id="14" creationId="{7A472DF9-0F5B-4775-A654-22C06567F631}"/>
          </ac:spMkLst>
        </pc:spChg>
      </pc:sldChg>
      <pc:sldChg chg="modSp add">
        <pc:chgData name="Dr. Robert Butscher" userId="61bc653898ddc2e0" providerId="LiveId" clId="{51D723D9-59D9-44A1-A120-82CD4C10D8A5}" dt="2026-08-24T18:56:30.450" v="171"/>
        <pc:sldMkLst>
          <pc:docMk/>
          <pc:sldMk cId="2314299983" sldId="4681"/>
        </pc:sldMkLst>
        <pc:spChg chg="mod">
          <ac:chgData name="Dr. Robert Butscher" userId="61bc653898ddc2e0" providerId="LiveId" clId="{51D723D9-59D9-44A1-A120-82CD4C10D8A5}" dt="2026-08-24T18:56:30.450" v="171"/>
          <ac:spMkLst>
            <pc:docMk/>
            <pc:sldMk cId="2314299983" sldId="4681"/>
            <ac:spMk id="9" creationId="{FAFFA90D-A93E-4481-82D3-6EC68265D82B}"/>
          </ac:spMkLst>
        </pc:spChg>
      </pc:sldChg>
      <pc:sldChg chg="add">
        <pc:chgData name="Dr. Robert Butscher" userId="61bc653898ddc2e0" providerId="LiveId" clId="{51D723D9-59D9-44A1-A120-82CD4C10D8A5}" dt="2026-08-24T18:36:29.815" v="166"/>
        <pc:sldMkLst>
          <pc:docMk/>
          <pc:sldMk cId="906262992" sldId="4739"/>
        </pc:sldMkLst>
      </pc:sldChg>
      <pc:sldChg chg="modSp add">
        <pc:chgData name="Dr. Robert Butscher" userId="61bc653898ddc2e0" providerId="LiveId" clId="{51D723D9-59D9-44A1-A120-82CD4C10D8A5}" dt="2026-08-24T18:56:25.209" v="170"/>
        <pc:sldMkLst>
          <pc:docMk/>
          <pc:sldMk cId="435179019" sldId="4746"/>
        </pc:sldMkLst>
        <pc:spChg chg="mod">
          <ac:chgData name="Dr. Robert Butscher" userId="61bc653898ddc2e0" providerId="LiveId" clId="{51D723D9-59D9-44A1-A120-82CD4C10D8A5}" dt="2026-08-24T18:56:25.209" v="170"/>
          <ac:spMkLst>
            <pc:docMk/>
            <pc:sldMk cId="435179019" sldId="4746"/>
            <ac:spMk id="2" creationId="{8AA6BCA6-C3C0-0ED8-9479-2D712FCEA39A}"/>
          </ac:spMkLst>
        </pc:spChg>
      </pc:sldChg>
      <pc:sldChg chg="add">
        <pc:chgData name="Dr. Robert Butscher" userId="61bc653898ddc2e0" providerId="LiveId" clId="{51D723D9-59D9-44A1-A120-82CD4C10D8A5}" dt="2026-08-24T18:36:29.815" v="166"/>
        <pc:sldMkLst>
          <pc:docMk/>
          <pc:sldMk cId="834663840" sldId="4759"/>
        </pc:sldMkLst>
      </pc:sldChg>
      <pc:sldChg chg="modSp">
        <pc:chgData name="Dr. Robert Butscher" userId="61bc653898ddc2e0" providerId="LiveId" clId="{51D723D9-59D9-44A1-A120-82CD4C10D8A5}" dt="2026-08-24T16:30:25.496" v="83"/>
        <pc:sldMkLst>
          <pc:docMk/>
          <pc:sldMk cId="3256194418" sldId="4862"/>
        </pc:sldMkLst>
        <pc:picChg chg="mod">
          <ac:chgData name="Dr. Robert Butscher" userId="61bc653898ddc2e0" providerId="LiveId" clId="{51D723D9-59D9-44A1-A120-82CD4C10D8A5}" dt="2026-08-24T16:30:25.496" v="83"/>
          <ac:picMkLst>
            <pc:docMk/>
            <pc:sldMk cId="3256194418" sldId="4862"/>
            <ac:picMk id="6" creationId="{E9ADAB11-98BB-28DE-A02C-5CDFFDB98A1C}"/>
          </ac:picMkLst>
        </pc:picChg>
      </pc:sldChg>
      <pc:sldChg chg="modSp">
        <pc:chgData name="Dr. Robert Butscher" userId="61bc653898ddc2e0" providerId="LiveId" clId="{51D723D9-59D9-44A1-A120-82CD4C10D8A5}" dt="2026-08-24T16:30:31.710" v="89"/>
        <pc:sldMkLst>
          <pc:docMk/>
          <pc:sldMk cId="563923620" sldId="4863"/>
        </pc:sldMkLst>
        <pc:picChg chg="mod">
          <ac:chgData name="Dr. Robert Butscher" userId="61bc653898ddc2e0" providerId="LiveId" clId="{51D723D9-59D9-44A1-A120-82CD4C10D8A5}" dt="2026-08-24T16:30:31.710" v="89"/>
          <ac:picMkLst>
            <pc:docMk/>
            <pc:sldMk cId="563923620" sldId="4863"/>
            <ac:picMk id="5" creationId="{D36A4638-B01A-E7F5-4377-7CA4A9D69863}"/>
          </ac:picMkLst>
        </pc:picChg>
      </pc:sldChg>
      <pc:sldChg chg="modSp">
        <pc:chgData name="Dr. Robert Butscher" userId="61bc653898ddc2e0" providerId="LiveId" clId="{51D723D9-59D9-44A1-A120-82CD4C10D8A5}" dt="2026-08-24T16:33:11.543" v="96"/>
        <pc:sldMkLst>
          <pc:docMk/>
          <pc:sldMk cId="2313711391" sldId="4866"/>
        </pc:sldMkLst>
        <pc:picChg chg="mod">
          <ac:chgData name="Dr. Robert Butscher" userId="61bc653898ddc2e0" providerId="LiveId" clId="{51D723D9-59D9-44A1-A120-82CD4C10D8A5}" dt="2026-08-24T16:33:11.543" v="96"/>
          <ac:picMkLst>
            <pc:docMk/>
            <pc:sldMk cId="2313711391" sldId="4866"/>
            <ac:picMk id="6" creationId="{2B843966-85BF-780C-9C27-37AAD6DEAB48}"/>
          </ac:picMkLst>
        </pc:picChg>
      </pc:sldChg>
      <pc:sldChg chg="modSp">
        <pc:chgData name="Dr. Robert Butscher" userId="61bc653898ddc2e0" providerId="LiveId" clId="{51D723D9-59D9-44A1-A120-82CD4C10D8A5}" dt="2026-08-24T17:20:43.926" v="139"/>
        <pc:sldMkLst>
          <pc:docMk/>
          <pc:sldMk cId="2697294952" sldId="4892"/>
        </pc:sldMkLst>
        <pc:spChg chg="mod">
          <ac:chgData name="Dr. Robert Butscher" userId="61bc653898ddc2e0" providerId="LiveId" clId="{51D723D9-59D9-44A1-A120-82CD4C10D8A5}" dt="2026-08-24T17:20:43.926" v="139"/>
          <ac:spMkLst>
            <pc:docMk/>
            <pc:sldMk cId="2697294952" sldId="4892"/>
            <ac:spMk id="3" creationId="{74F68ED6-8D71-439C-82A1-2AC05C03A968}"/>
          </ac:spMkLst>
        </pc:spChg>
      </pc:sldChg>
      <pc:sldChg chg="modSp">
        <pc:chgData name="Dr. Robert Butscher" userId="61bc653898ddc2e0" providerId="LiveId" clId="{51D723D9-59D9-44A1-A120-82CD4C10D8A5}" dt="2026-08-24T17:20:48.430" v="140"/>
        <pc:sldMkLst>
          <pc:docMk/>
          <pc:sldMk cId="3823615172" sldId="4894"/>
        </pc:sldMkLst>
        <pc:spChg chg="mod">
          <ac:chgData name="Dr. Robert Butscher" userId="61bc653898ddc2e0" providerId="LiveId" clId="{51D723D9-59D9-44A1-A120-82CD4C10D8A5}" dt="2026-08-24T17:20:48.430" v="140"/>
          <ac:spMkLst>
            <pc:docMk/>
            <pc:sldMk cId="3823615172" sldId="4894"/>
            <ac:spMk id="3" creationId="{74F68ED6-8D71-439C-82A1-2AC05C03A968}"/>
          </ac:spMkLst>
        </pc:spChg>
      </pc:sldChg>
      <pc:sldChg chg="modSp">
        <pc:chgData name="Dr. Robert Butscher" userId="61bc653898ddc2e0" providerId="LiveId" clId="{51D723D9-59D9-44A1-A120-82CD4C10D8A5}" dt="2026-08-24T18:00:24.837" v="155" actId="1076"/>
        <pc:sldMkLst>
          <pc:docMk/>
          <pc:sldMk cId="2969489361" sldId="5221"/>
        </pc:sldMkLst>
        <pc:spChg chg="mod">
          <ac:chgData name="Dr. Robert Butscher" userId="61bc653898ddc2e0" providerId="LiveId" clId="{51D723D9-59D9-44A1-A120-82CD4C10D8A5}" dt="2026-08-24T18:00:24.837" v="155" actId="1076"/>
          <ac:spMkLst>
            <pc:docMk/>
            <pc:sldMk cId="2969489361" sldId="5221"/>
            <ac:spMk id="40" creationId="{3F6DC8CB-AD89-2F19-B562-A4ABE4527969}"/>
          </ac:spMkLst>
        </pc:spChg>
        <pc:spChg chg="mod">
          <ac:chgData name="Dr. Robert Butscher" userId="61bc653898ddc2e0" providerId="LiveId" clId="{51D723D9-59D9-44A1-A120-82CD4C10D8A5}" dt="2026-08-24T18:00:24.837" v="155" actId="1076"/>
          <ac:spMkLst>
            <pc:docMk/>
            <pc:sldMk cId="2969489361" sldId="5221"/>
            <ac:spMk id="41" creationId="{885C1616-4480-B328-64FE-950CCBA69D3C}"/>
          </ac:spMkLst>
        </pc:spChg>
        <pc:spChg chg="mod">
          <ac:chgData name="Dr. Robert Butscher" userId="61bc653898ddc2e0" providerId="LiveId" clId="{51D723D9-59D9-44A1-A120-82CD4C10D8A5}" dt="2026-08-24T18:00:24.837" v="155" actId="1076"/>
          <ac:spMkLst>
            <pc:docMk/>
            <pc:sldMk cId="2969489361" sldId="5221"/>
            <ac:spMk id="43" creationId="{04C60064-2DB3-8645-45AB-2CBC4EA59B7C}"/>
          </ac:spMkLst>
        </pc:spChg>
        <pc:spChg chg="mod">
          <ac:chgData name="Dr. Robert Butscher" userId="61bc653898ddc2e0" providerId="LiveId" clId="{51D723D9-59D9-44A1-A120-82CD4C10D8A5}" dt="2026-08-24T18:00:24.837" v="155" actId="1076"/>
          <ac:spMkLst>
            <pc:docMk/>
            <pc:sldMk cId="2969489361" sldId="5221"/>
            <ac:spMk id="44" creationId="{4327587C-EB95-BD24-8885-3160B9FF691C}"/>
          </ac:spMkLst>
        </pc:spChg>
        <pc:spChg chg="mod">
          <ac:chgData name="Dr. Robert Butscher" userId="61bc653898ddc2e0" providerId="LiveId" clId="{51D723D9-59D9-44A1-A120-82CD4C10D8A5}" dt="2026-08-24T18:00:24.837" v="155" actId="1076"/>
          <ac:spMkLst>
            <pc:docMk/>
            <pc:sldMk cId="2969489361" sldId="5221"/>
            <ac:spMk id="45" creationId="{329A3A89-A3A0-413E-F206-EB2CBEE82177}"/>
          </ac:spMkLst>
        </pc:spChg>
        <pc:spChg chg="mod">
          <ac:chgData name="Dr. Robert Butscher" userId="61bc653898ddc2e0" providerId="LiveId" clId="{51D723D9-59D9-44A1-A120-82CD4C10D8A5}" dt="2026-08-24T18:00:24.837" v="155" actId="1076"/>
          <ac:spMkLst>
            <pc:docMk/>
            <pc:sldMk cId="2969489361" sldId="5221"/>
            <ac:spMk id="46" creationId="{1F71527D-4299-6AEF-E7DA-50BC795D2E06}"/>
          </ac:spMkLst>
        </pc:spChg>
        <pc:spChg chg="mod">
          <ac:chgData name="Dr. Robert Butscher" userId="61bc653898ddc2e0" providerId="LiveId" clId="{51D723D9-59D9-44A1-A120-82CD4C10D8A5}" dt="2026-08-24T18:00:24.837" v="155" actId="1076"/>
          <ac:spMkLst>
            <pc:docMk/>
            <pc:sldMk cId="2969489361" sldId="5221"/>
            <ac:spMk id="49" creationId="{C2B1409D-4D2F-2FCE-CE0C-6BB4FBDCD91D}"/>
          </ac:spMkLst>
        </pc:spChg>
        <pc:spChg chg="mod">
          <ac:chgData name="Dr. Robert Butscher" userId="61bc653898ddc2e0" providerId="LiveId" clId="{51D723D9-59D9-44A1-A120-82CD4C10D8A5}" dt="2026-08-24T18:00:24.837" v="155" actId="1076"/>
          <ac:spMkLst>
            <pc:docMk/>
            <pc:sldMk cId="2969489361" sldId="5221"/>
            <ac:spMk id="55" creationId="{F2FBC6D7-7BFF-320E-0B4A-04C70656E6A4}"/>
          </ac:spMkLst>
        </pc:spChg>
        <pc:spChg chg="mod">
          <ac:chgData name="Dr. Robert Butscher" userId="61bc653898ddc2e0" providerId="LiveId" clId="{51D723D9-59D9-44A1-A120-82CD4C10D8A5}" dt="2026-08-24T18:00:24.837" v="155" actId="1076"/>
          <ac:spMkLst>
            <pc:docMk/>
            <pc:sldMk cId="2969489361" sldId="5221"/>
            <ac:spMk id="56" creationId="{FAAF36A1-66FA-A057-DDE3-D5EBDF1DA215}"/>
          </ac:spMkLst>
        </pc:spChg>
        <pc:spChg chg="mod">
          <ac:chgData name="Dr. Robert Butscher" userId="61bc653898ddc2e0" providerId="LiveId" clId="{51D723D9-59D9-44A1-A120-82CD4C10D8A5}" dt="2026-08-24T18:00:24.837" v="155" actId="1076"/>
          <ac:spMkLst>
            <pc:docMk/>
            <pc:sldMk cId="2969489361" sldId="5221"/>
            <ac:spMk id="57" creationId="{34E0CC03-7971-4074-29DB-959E73144676}"/>
          </ac:spMkLst>
        </pc:spChg>
      </pc:sldChg>
      <pc:sldChg chg="modSp ord">
        <pc:chgData name="Dr. Robert Butscher" userId="61bc653898ddc2e0" providerId="LiveId" clId="{51D723D9-59D9-44A1-A120-82CD4C10D8A5}" dt="2026-08-24T18:32:35.879" v="165"/>
        <pc:sldMkLst>
          <pc:docMk/>
          <pc:sldMk cId="3129593645" sldId="5224"/>
        </pc:sldMkLst>
        <pc:spChg chg="mod">
          <ac:chgData name="Dr. Robert Butscher" userId="61bc653898ddc2e0" providerId="LiveId" clId="{51D723D9-59D9-44A1-A120-82CD4C10D8A5}" dt="2026-08-24T18:00:54.790" v="157" actId="12788"/>
          <ac:spMkLst>
            <pc:docMk/>
            <pc:sldMk cId="3129593645" sldId="5224"/>
            <ac:spMk id="3" creationId="{CBB51491-AC46-444F-A58B-B456DF519FF0}"/>
          </ac:spMkLst>
        </pc:spChg>
        <pc:spChg chg="mod">
          <ac:chgData name="Dr. Robert Butscher" userId="61bc653898ddc2e0" providerId="LiveId" clId="{51D723D9-59D9-44A1-A120-82CD4C10D8A5}" dt="2026-08-24T18:00:54.790" v="157" actId="12788"/>
          <ac:spMkLst>
            <pc:docMk/>
            <pc:sldMk cId="3129593645" sldId="5224"/>
            <ac:spMk id="15" creationId="{6ED6FD5F-DC10-409A-A64C-C00CF5BCDC55}"/>
          </ac:spMkLst>
        </pc:spChg>
        <pc:spChg chg="mod">
          <ac:chgData name="Dr. Robert Butscher" userId="61bc653898ddc2e0" providerId="LiveId" clId="{51D723D9-59D9-44A1-A120-82CD4C10D8A5}" dt="2026-08-24T18:00:54.790" v="157" actId="12788"/>
          <ac:spMkLst>
            <pc:docMk/>
            <pc:sldMk cId="3129593645" sldId="5224"/>
            <ac:spMk id="26" creationId="{A89B7112-5A94-4BD3-84BE-045CB49DE4CF}"/>
          </ac:spMkLst>
        </pc:spChg>
        <pc:spChg chg="mod">
          <ac:chgData name="Dr. Robert Butscher" userId="61bc653898ddc2e0" providerId="LiveId" clId="{51D723D9-59D9-44A1-A120-82CD4C10D8A5}" dt="2026-08-24T18:01:09.791" v="158" actId="1076"/>
          <ac:spMkLst>
            <pc:docMk/>
            <pc:sldMk cId="3129593645" sldId="5224"/>
            <ac:spMk id="43" creationId="{46D1E662-608A-4004-876E-F042C804474B}"/>
          </ac:spMkLst>
        </pc:spChg>
        <pc:spChg chg="mod">
          <ac:chgData name="Dr. Robert Butscher" userId="61bc653898ddc2e0" providerId="LiveId" clId="{51D723D9-59D9-44A1-A120-82CD4C10D8A5}" dt="2026-08-24T18:01:09.791" v="158" actId="1076"/>
          <ac:spMkLst>
            <pc:docMk/>
            <pc:sldMk cId="3129593645" sldId="5224"/>
            <ac:spMk id="44" creationId="{17081FDD-962C-4039-803C-BF7D810520E8}"/>
          </ac:spMkLst>
        </pc:spChg>
        <pc:spChg chg="mod">
          <ac:chgData name="Dr. Robert Butscher" userId="61bc653898ddc2e0" providerId="LiveId" clId="{51D723D9-59D9-44A1-A120-82CD4C10D8A5}" dt="2026-08-24T18:01:09.791" v="158" actId="1076"/>
          <ac:spMkLst>
            <pc:docMk/>
            <pc:sldMk cId="3129593645" sldId="5224"/>
            <ac:spMk id="48" creationId="{8A0E2CBD-237A-4E20-948D-EC067AC022CF}"/>
          </ac:spMkLst>
        </pc:spChg>
        <pc:spChg chg="mod">
          <ac:chgData name="Dr. Robert Butscher" userId="61bc653898ddc2e0" providerId="LiveId" clId="{51D723D9-59D9-44A1-A120-82CD4C10D8A5}" dt="2026-08-24T18:01:09.791" v="158" actId="1076"/>
          <ac:spMkLst>
            <pc:docMk/>
            <pc:sldMk cId="3129593645" sldId="5224"/>
            <ac:spMk id="51" creationId="{B58D2237-DBB6-42A3-9926-DE203584336D}"/>
          </ac:spMkLst>
        </pc:spChg>
        <pc:spChg chg="mod">
          <ac:chgData name="Dr. Robert Butscher" userId="61bc653898ddc2e0" providerId="LiveId" clId="{51D723D9-59D9-44A1-A120-82CD4C10D8A5}" dt="2026-08-24T18:01:09.791" v="158" actId="1076"/>
          <ac:spMkLst>
            <pc:docMk/>
            <pc:sldMk cId="3129593645" sldId="5224"/>
            <ac:spMk id="52" creationId="{B76287B1-10CB-4C2D-84FC-328207A63331}"/>
          </ac:spMkLst>
        </pc:spChg>
        <pc:spChg chg="mod">
          <ac:chgData name="Dr. Robert Butscher" userId="61bc653898ddc2e0" providerId="LiveId" clId="{51D723D9-59D9-44A1-A120-82CD4C10D8A5}" dt="2026-08-24T18:01:09.791" v="158" actId="1076"/>
          <ac:spMkLst>
            <pc:docMk/>
            <pc:sldMk cId="3129593645" sldId="5224"/>
            <ac:spMk id="53" creationId="{E868D0CD-2EEF-4A4A-A3F8-5AB5FCD5A727}"/>
          </ac:spMkLst>
        </pc:spChg>
        <pc:spChg chg="mod">
          <ac:chgData name="Dr. Robert Butscher" userId="61bc653898ddc2e0" providerId="LiveId" clId="{51D723D9-59D9-44A1-A120-82CD4C10D8A5}" dt="2026-08-24T18:01:09.791" v="158" actId="1076"/>
          <ac:spMkLst>
            <pc:docMk/>
            <pc:sldMk cId="3129593645" sldId="5224"/>
            <ac:spMk id="54" creationId="{C3A3F18E-0B64-4BC5-8FB3-9FB3F4C8F144}"/>
          </ac:spMkLst>
        </pc:spChg>
        <pc:spChg chg="mod">
          <ac:chgData name="Dr. Robert Butscher" userId="61bc653898ddc2e0" providerId="LiveId" clId="{51D723D9-59D9-44A1-A120-82CD4C10D8A5}" dt="2026-08-24T18:01:09.791" v="158" actId="1076"/>
          <ac:spMkLst>
            <pc:docMk/>
            <pc:sldMk cId="3129593645" sldId="5224"/>
            <ac:spMk id="56" creationId="{916ECF8C-6BFD-4F61-BEE8-923685AC5FFD}"/>
          </ac:spMkLst>
        </pc:spChg>
        <pc:spChg chg="mod">
          <ac:chgData name="Dr. Robert Butscher" userId="61bc653898ddc2e0" providerId="LiveId" clId="{51D723D9-59D9-44A1-A120-82CD4C10D8A5}" dt="2026-08-24T18:01:09.791" v="158" actId="1076"/>
          <ac:spMkLst>
            <pc:docMk/>
            <pc:sldMk cId="3129593645" sldId="5224"/>
            <ac:spMk id="58" creationId="{BE23A5D5-E3E7-4909-B58D-52D16CDFEA76}"/>
          </ac:spMkLst>
        </pc:spChg>
        <pc:spChg chg="mod">
          <ac:chgData name="Dr. Robert Butscher" userId="61bc653898ddc2e0" providerId="LiveId" clId="{51D723D9-59D9-44A1-A120-82CD4C10D8A5}" dt="2026-08-24T18:01:09.791" v="158" actId="1076"/>
          <ac:spMkLst>
            <pc:docMk/>
            <pc:sldMk cId="3129593645" sldId="5224"/>
            <ac:spMk id="60" creationId="{3E9FC355-3F05-4093-837A-C6A50D3C664B}"/>
          </ac:spMkLst>
        </pc:spChg>
      </pc:sldChg>
      <pc:sldChg chg="ord">
        <pc:chgData name="Dr. Robert Butscher" userId="61bc653898ddc2e0" providerId="LiveId" clId="{51D723D9-59D9-44A1-A120-82CD4C10D8A5}" dt="2026-08-24T16:14:14.182" v="71"/>
        <pc:sldMkLst>
          <pc:docMk/>
          <pc:sldMk cId="935582241" sldId="5804"/>
        </pc:sldMkLst>
      </pc:sldChg>
      <pc:sldChg chg="ord">
        <pc:chgData name="Dr. Robert Butscher" userId="61bc653898ddc2e0" providerId="LiveId" clId="{51D723D9-59D9-44A1-A120-82CD4C10D8A5}" dt="2026-08-24T16:14:07.695" v="70"/>
        <pc:sldMkLst>
          <pc:docMk/>
          <pc:sldMk cId="183997612" sldId="5805"/>
        </pc:sldMkLst>
      </pc:sldChg>
      <pc:sldChg chg="modSp">
        <pc:chgData name="Dr. Robert Butscher" userId="61bc653898ddc2e0" providerId="LiveId" clId="{51D723D9-59D9-44A1-A120-82CD4C10D8A5}" dt="2026-08-24T15:58:53.753" v="67"/>
        <pc:sldMkLst>
          <pc:docMk/>
          <pc:sldMk cId="3293655669" sldId="5826"/>
        </pc:sldMkLst>
        <pc:spChg chg="mod">
          <ac:chgData name="Dr. Robert Butscher" userId="61bc653898ddc2e0" providerId="LiveId" clId="{51D723D9-59D9-44A1-A120-82CD4C10D8A5}" dt="2026-08-24T15:58:53.753" v="67"/>
          <ac:spMkLst>
            <pc:docMk/>
            <pc:sldMk cId="3293655669" sldId="5826"/>
            <ac:spMk id="2" creationId="{05DDE3E6-7D68-E6F9-9B9E-5941F7404D4D}"/>
          </ac:spMkLst>
        </pc:spChg>
      </pc:sldChg>
      <pc:sldChg chg="modSp">
        <pc:chgData name="Dr. Robert Butscher" userId="61bc653898ddc2e0" providerId="LiveId" clId="{51D723D9-59D9-44A1-A120-82CD4C10D8A5}" dt="2026-08-24T16:47:17.940" v="109" actId="1076"/>
        <pc:sldMkLst>
          <pc:docMk/>
          <pc:sldMk cId="2565884666" sldId="5983"/>
        </pc:sldMkLst>
        <pc:spChg chg="mod">
          <ac:chgData name="Dr. Robert Butscher" userId="61bc653898ddc2e0" providerId="LiveId" clId="{51D723D9-59D9-44A1-A120-82CD4C10D8A5}" dt="2026-08-24T16:47:17.940" v="109" actId="1076"/>
          <ac:spMkLst>
            <pc:docMk/>
            <pc:sldMk cId="2565884666" sldId="5983"/>
            <ac:spMk id="9" creationId="{D439D3D4-2294-49D1-BA02-A024FA09E9BE}"/>
          </ac:spMkLst>
        </pc:spChg>
        <pc:spChg chg="mod">
          <ac:chgData name="Dr. Robert Butscher" userId="61bc653898ddc2e0" providerId="LiveId" clId="{51D723D9-59D9-44A1-A120-82CD4C10D8A5}" dt="2026-08-24T16:47:17.940" v="109" actId="1076"/>
          <ac:spMkLst>
            <pc:docMk/>
            <pc:sldMk cId="2565884666" sldId="5983"/>
            <ac:spMk id="10" creationId="{AC5B63D5-7E25-40A4-9CBC-3C6DE05D1A6E}"/>
          </ac:spMkLst>
        </pc:spChg>
        <pc:spChg chg="mod">
          <ac:chgData name="Dr. Robert Butscher" userId="61bc653898ddc2e0" providerId="LiveId" clId="{51D723D9-59D9-44A1-A120-82CD4C10D8A5}" dt="2026-08-24T16:47:17.940" v="109" actId="1076"/>
          <ac:spMkLst>
            <pc:docMk/>
            <pc:sldMk cId="2565884666" sldId="5983"/>
            <ac:spMk id="20" creationId="{6D9E42A9-6BCF-44AC-9775-3687B124F089}"/>
          </ac:spMkLst>
        </pc:spChg>
        <pc:spChg chg="mod">
          <ac:chgData name="Dr. Robert Butscher" userId="61bc653898ddc2e0" providerId="LiveId" clId="{51D723D9-59D9-44A1-A120-82CD4C10D8A5}" dt="2026-08-24T16:47:17.940" v="109" actId="1076"/>
          <ac:spMkLst>
            <pc:docMk/>
            <pc:sldMk cId="2565884666" sldId="5983"/>
            <ac:spMk id="22" creationId="{F6CFBF70-64C5-4ECE-BE5F-29428EBAE25D}"/>
          </ac:spMkLst>
        </pc:spChg>
        <pc:spChg chg="mod">
          <ac:chgData name="Dr. Robert Butscher" userId="61bc653898ddc2e0" providerId="LiveId" clId="{51D723D9-59D9-44A1-A120-82CD4C10D8A5}" dt="2026-08-24T16:47:17.940" v="109" actId="1076"/>
          <ac:spMkLst>
            <pc:docMk/>
            <pc:sldMk cId="2565884666" sldId="5983"/>
            <ac:spMk id="29" creationId="{ADD2DB4F-C40C-44E9-9179-170D97A6135A}"/>
          </ac:spMkLst>
        </pc:spChg>
        <pc:spChg chg="mod">
          <ac:chgData name="Dr. Robert Butscher" userId="61bc653898ddc2e0" providerId="LiveId" clId="{51D723D9-59D9-44A1-A120-82CD4C10D8A5}" dt="2026-08-24T16:47:17.940" v="109" actId="1076"/>
          <ac:spMkLst>
            <pc:docMk/>
            <pc:sldMk cId="2565884666" sldId="5983"/>
            <ac:spMk id="36" creationId="{B1E8961D-89EE-4E09-9BC7-BC39A311C8CB}"/>
          </ac:spMkLst>
        </pc:spChg>
        <pc:spChg chg="mod">
          <ac:chgData name="Dr. Robert Butscher" userId="61bc653898ddc2e0" providerId="LiveId" clId="{51D723D9-59D9-44A1-A120-82CD4C10D8A5}" dt="2026-08-24T16:47:17.940" v="109" actId="1076"/>
          <ac:spMkLst>
            <pc:docMk/>
            <pc:sldMk cId="2565884666" sldId="5983"/>
            <ac:spMk id="43" creationId="{552E13FD-575F-4817-8282-2B2F06EC06AA}"/>
          </ac:spMkLst>
        </pc:spChg>
        <pc:picChg chg="mod">
          <ac:chgData name="Dr. Robert Butscher" userId="61bc653898ddc2e0" providerId="LiveId" clId="{51D723D9-59D9-44A1-A120-82CD4C10D8A5}" dt="2026-08-24T16:47:17.940" v="109" actId="1076"/>
          <ac:picMkLst>
            <pc:docMk/>
            <pc:sldMk cId="2565884666" sldId="5983"/>
            <ac:picMk id="34" creationId="{38881D21-9905-4712-A258-5105CDE3ADB4}"/>
          </ac:picMkLst>
        </pc:picChg>
        <pc:picChg chg="mod">
          <ac:chgData name="Dr. Robert Butscher" userId="61bc653898ddc2e0" providerId="LiveId" clId="{51D723D9-59D9-44A1-A120-82CD4C10D8A5}" dt="2026-08-24T16:47:17.940" v="109" actId="1076"/>
          <ac:picMkLst>
            <pc:docMk/>
            <pc:sldMk cId="2565884666" sldId="5983"/>
            <ac:picMk id="39" creationId="{3DB19AC3-7EB3-4B7B-B068-F5CA3B7FC9CF}"/>
          </ac:picMkLst>
        </pc:picChg>
        <pc:picChg chg="mod">
          <ac:chgData name="Dr. Robert Butscher" userId="61bc653898ddc2e0" providerId="LiveId" clId="{51D723D9-59D9-44A1-A120-82CD4C10D8A5}" dt="2026-08-24T16:47:17.940" v="109" actId="1076"/>
          <ac:picMkLst>
            <pc:docMk/>
            <pc:sldMk cId="2565884666" sldId="5983"/>
            <ac:picMk id="47" creationId="{F736355F-0D30-4256-8AB7-6137AEC65F15}"/>
          </ac:picMkLst>
        </pc:picChg>
      </pc:sldChg>
      <pc:sldChg chg="add">
        <pc:chgData name="Dr. Robert Butscher" userId="61bc653898ddc2e0" providerId="LiveId" clId="{51D723D9-59D9-44A1-A120-82CD4C10D8A5}" dt="2026-08-24T18:36:29.815" v="166"/>
        <pc:sldMkLst>
          <pc:docMk/>
          <pc:sldMk cId="704812422" sldId="6024"/>
        </pc:sldMkLst>
      </pc:sldChg>
      <pc:sldChg chg="add">
        <pc:chgData name="Dr. Robert Butscher" userId="61bc653898ddc2e0" providerId="LiveId" clId="{51D723D9-59D9-44A1-A120-82CD4C10D8A5}" dt="2026-08-24T18:36:29.815" v="166"/>
        <pc:sldMkLst>
          <pc:docMk/>
          <pc:sldMk cId="1441009692" sldId="6025"/>
        </pc:sldMkLst>
      </pc:sldChg>
      <pc:sldChg chg="add">
        <pc:chgData name="Dr. Robert Butscher" userId="61bc653898ddc2e0" providerId="LiveId" clId="{51D723D9-59D9-44A1-A120-82CD4C10D8A5}" dt="2026-08-24T18:36:29.815" v="166"/>
        <pc:sldMkLst>
          <pc:docMk/>
          <pc:sldMk cId="4159649996" sldId="6026"/>
        </pc:sldMkLst>
      </pc:sldChg>
      <pc:sldChg chg="add">
        <pc:chgData name="Dr. Robert Butscher" userId="61bc653898ddc2e0" providerId="LiveId" clId="{51D723D9-59D9-44A1-A120-82CD4C10D8A5}" dt="2026-08-24T18:36:29.815" v="166"/>
        <pc:sldMkLst>
          <pc:docMk/>
          <pc:sldMk cId="521846756" sldId="6027"/>
        </pc:sldMkLst>
      </pc:sldChg>
      <pc:sldChg chg="add">
        <pc:chgData name="Dr. Robert Butscher" userId="61bc653898ddc2e0" providerId="LiveId" clId="{51D723D9-59D9-44A1-A120-82CD4C10D8A5}" dt="2026-08-24T18:36:29.815" v="166"/>
        <pc:sldMkLst>
          <pc:docMk/>
          <pc:sldMk cId="4172148764" sldId="6028"/>
        </pc:sldMkLst>
      </pc:sldChg>
      <pc:sldChg chg="add">
        <pc:chgData name="Dr. Robert Butscher" userId="61bc653898ddc2e0" providerId="LiveId" clId="{51D723D9-59D9-44A1-A120-82CD4C10D8A5}" dt="2026-08-24T18:36:29.815" v="166"/>
        <pc:sldMkLst>
          <pc:docMk/>
          <pc:sldMk cId="1479232850" sldId="6029"/>
        </pc:sldMkLst>
      </pc:sldChg>
      <pc:sldChg chg="add">
        <pc:chgData name="Dr. Robert Butscher" userId="61bc653898ddc2e0" providerId="LiveId" clId="{51D723D9-59D9-44A1-A120-82CD4C10D8A5}" dt="2026-08-24T18:36:29.815" v="166"/>
        <pc:sldMkLst>
          <pc:docMk/>
          <pc:sldMk cId="446144171" sldId="6030"/>
        </pc:sldMkLst>
      </pc:sldChg>
      <pc:sldChg chg="modSp">
        <pc:chgData name="Dr. Robert Butscher" userId="61bc653898ddc2e0" providerId="LiveId" clId="{51D723D9-59D9-44A1-A120-82CD4C10D8A5}" dt="2026-08-24T15:33:19.021" v="4" actId="1076"/>
        <pc:sldMkLst>
          <pc:docMk/>
          <pc:sldMk cId="2777047198" sldId="6902"/>
        </pc:sldMkLst>
        <pc:spChg chg="mod">
          <ac:chgData name="Dr. Robert Butscher" userId="61bc653898ddc2e0" providerId="LiveId" clId="{51D723D9-59D9-44A1-A120-82CD4C10D8A5}" dt="2026-08-24T15:33:19.021" v="4" actId="1076"/>
          <ac:spMkLst>
            <pc:docMk/>
            <pc:sldMk cId="2777047198" sldId="6902"/>
            <ac:spMk id="33" creationId="{999473CC-6715-92EB-894F-B1EFE2525A14}"/>
          </ac:spMkLst>
        </pc:spChg>
        <pc:spChg chg="mod">
          <ac:chgData name="Dr. Robert Butscher" userId="61bc653898ddc2e0" providerId="LiveId" clId="{51D723D9-59D9-44A1-A120-82CD4C10D8A5}" dt="2026-08-24T15:33:19.021" v="4" actId="1076"/>
          <ac:spMkLst>
            <pc:docMk/>
            <pc:sldMk cId="2777047198" sldId="6902"/>
            <ac:spMk id="35" creationId="{FB875D36-1DAC-3365-0593-0F0874787B84}"/>
          </ac:spMkLst>
        </pc:spChg>
        <pc:spChg chg="mod">
          <ac:chgData name="Dr. Robert Butscher" userId="61bc653898ddc2e0" providerId="LiveId" clId="{51D723D9-59D9-44A1-A120-82CD4C10D8A5}" dt="2026-08-24T15:33:19.021" v="4" actId="1076"/>
          <ac:spMkLst>
            <pc:docMk/>
            <pc:sldMk cId="2777047198" sldId="6902"/>
            <ac:spMk id="36" creationId="{31BE761C-9B18-F31E-493F-36936CAB0A47}"/>
          </ac:spMkLst>
        </pc:spChg>
        <pc:spChg chg="mod">
          <ac:chgData name="Dr. Robert Butscher" userId="61bc653898ddc2e0" providerId="LiveId" clId="{51D723D9-59D9-44A1-A120-82CD4C10D8A5}" dt="2026-08-24T15:33:19.021" v="4" actId="1076"/>
          <ac:spMkLst>
            <pc:docMk/>
            <pc:sldMk cId="2777047198" sldId="6902"/>
            <ac:spMk id="38" creationId="{3F73FDB0-54E6-37F6-ABB8-3AC5C63EFE28}"/>
          </ac:spMkLst>
        </pc:spChg>
        <pc:spChg chg="mod">
          <ac:chgData name="Dr. Robert Butscher" userId="61bc653898ddc2e0" providerId="LiveId" clId="{51D723D9-59D9-44A1-A120-82CD4C10D8A5}" dt="2026-08-24T15:33:19.021" v="4" actId="1076"/>
          <ac:spMkLst>
            <pc:docMk/>
            <pc:sldMk cId="2777047198" sldId="6902"/>
            <ac:spMk id="39" creationId="{0A878526-1C19-B1E9-4E87-806B9B3777B0}"/>
          </ac:spMkLst>
        </pc:spChg>
        <pc:spChg chg="mod">
          <ac:chgData name="Dr. Robert Butscher" userId="61bc653898ddc2e0" providerId="LiveId" clId="{51D723D9-59D9-44A1-A120-82CD4C10D8A5}" dt="2026-08-24T15:33:19.021" v="4" actId="1076"/>
          <ac:spMkLst>
            <pc:docMk/>
            <pc:sldMk cId="2777047198" sldId="6902"/>
            <ac:spMk id="40" creationId="{75B1000D-C7BE-B033-AFD3-7250728447D6}"/>
          </ac:spMkLst>
        </pc:spChg>
        <pc:spChg chg="mod">
          <ac:chgData name="Dr. Robert Butscher" userId="61bc653898ddc2e0" providerId="LiveId" clId="{51D723D9-59D9-44A1-A120-82CD4C10D8A5}" dt="2026-08-24T15:33:19.021" v="4" actId="1076"/>
          <ac:spMkLst>
            <pc:docMk/>
            <pc:sldMk cId="2777047198" sldId="6902"/>
            <ac:spMk id="42" creationId="{A77A8972-7894-C7E5-91CA-EB57334682BD}"/>
          </ac:spMkLst>
        </pc:spChg>
        <pc:spChg chg="mod">
          <ac:chgData name="Dr. Robert Butscher" userId="61bc653898ddc2e0" providerId="LiveId" clId="{51D723D9-59D9-44A1-A120-82CD4C10D8A5}" dt="2026-08-24T15:33:19.021" v="4" actId="1076"/>
          <ac:spMkLst>
            <pc:docMk/>
            <pc:sldMk cId="2777047198" sldId="6902"/>
            <ac:spMk id="43" creationId="{2F7A48B5-7F2D-80A4-5266-2F449862CB78}"/>
          </ac:spMkLst>
        </pc:spChg>
        <pc:spChg chg="mod">
          <ac:chgData name="Dr. Robert Butscher" userId="61bc653898ddc2e0" providerId="LiveId" clId="{51D723D9-59D9-44A1-A120-82CD4C10D8A5}" dt="2026-08-24T15:33:19.021" v="4" actId="1076"/>
          <ac:spMkLst>
            <pc:docMk/>
            <pc:sldMk cId="2777047198" sldId="6902"/>
            <ac:spMk id="46" creationId="{BF7B08CB-2706-6283-32E6-15CA77359DB3}"/>
          </ac:spMkLst>
        </pc:spChg>
        <pc:spChg chg="mod">
          <ac:chgData name="Dr. Robert Butscher" userId="61bc653898ddc2e0" providerId="LiveId" clId="{51D723D9-59D9-44A1-A120-82CD4C10D8A5}" dt="2026-08-24T15:33:19.021" v="4" actId="1076"/>
          <ac:spMkLst>
            <pc:docMk/>
            <pc:sldMk cId="2777047198" sldId="6902"/>
            <ac:spMk id="48" creationId="{D9FCDB6E-44F9-7A00-34F8-38A861D66497}"/>
          </ac:spMkLst>
        </pc:spChg>
      </pc:sldChg>
      <pc:sldChg chg="modSp">
        <pc:chgData name="Dr. Robert Butscher" userId="61bc653898ddc2e0" providerId="LiveId" clId="{51D723D9-59D9-44A1-A120-82CD4C10D8A5}" dt="2026-08-24T18:01:41.869" v="159" actId="555"/>
        <pc:sldMkLst>
          <pc:docMk/>
          <pc:sldMk cId="2153457478" sldId="6957"/>
        </pc:sldMkLst>
        <pc:spChg chg="mod">
          <ac:chgData name="Dr. Robert Butscher" userId="61bc653898ddc2e0" providerId="LiveId" clId="{51D723D9-59D9-44A1-A120-82CD4C10D8A5}" dt="2026-08-24T15:34:26.788" v="5"/>
          <ac:spMkLst>
            <pc:docMk/>
            <pc:sldMk cId="2153457478" sldId="6957"/>
            <ac:spMk id="8" creationId="{BE32DBA0-287B-5DDF-5C38-0F37509ABEF5}"/>
          </ac:spMkLst>
        </pc:spChg>
        <pc:spChg chg="mod">
          <ac:chgData name="Dr. Robert Butscher" userId="61bc653898ddc2e0" providerId="LiveId" clId="{51D723D9-59D9-44A1-A120-82CD4C10D8A5}" dt="2026-08-24T18:01:41.869" v="159" actId="555"/>
          <ac:spMkLst>
            <pc:docMk/>
            <pc:sldMk cId="2153457478" sldId="6957"/>
            <ac:spMk id="13" creationId="{621A9476-C5C4-4458-A180-E2DF4F4BBE3A}"/>
          </ac:spMkLst>
        </pc:spChg>
        <pc:spChg chg="mod">
          <ac:chgData name="Dr. Robert Butscher" userId="61bc653898ddc2e0" providerId="LiveId" clId="{51D723D9-59D9-44A1-A120-82CD4C10D8A5}" dt="2026-08-24T18:01:41.869" v="159" actId="555"/>
          <ac:spMkLst>
            <pc:docMk/>
            <pc:sldMk cId="2153457478" sldId="6957"/>
            <ac:spMk id="14" creationId="{0471C569-54EB-4E37-95D9-9DD1848CB948}"/>
          </ac:spMkLst>
        </pc:spChg>
        <pc:spChg chg="mod">
          <ac:chgData name="Dr. Robert Butscher" userId="61bc653898ddc2e0" providerId="LiveId" clId="{51D723D9-59D9-44A1-A120-82CD4C10D8A5}" dt="2026-08-24T15:35:22.844" v="7" actId="1076"/>
          <ac:spMkLst>
            <pc:docMk/>
            <pc:sldMk cId="2153457478" sldId="6957"/>
            <ac:spMk id="16" creationId="{67765EA6-0D0D-B075-15E8-5AFEC1FA95E4}"/>
          </ac:spMkLst>
        </pc:spChg>
        <pc:spChg chg="mod">
          <ac:chgData name="Dr. Robert Butscher" userId="61bc653898ddc2e0" providerId="LiveId" clId="{51D723D9-59D9-44A1-A120-82CD4C10D8A5}" dt="2026-08-24T15:35:22.844" v="7" actId="1076"/>
          <ac:spMkLst>
            <pc:docMk/>
            <pc:sldMk cId="2153457478" sldId="6957"/>
            <ac:spMk id="18" creationId="{5B8CDF41-B413-074A-F43E-62166856434F}"/>
          </ac:spMkLst>
        </pc:spChg>
        <pc:spChg chg="mod">
          <ac:chgData name="Dr. Robert Butscher" userId="61bc653898ddc2e0" providerId="LiveId" clId="{51D723D9-59D9-44A1-A120-82CD4C10D8A5}" dt="2026-08-24T15:35:22.844" v="7" actId="1076"/>
          <ac:spMkLst>
            <pc:docMk/>
            <pc:sldMk cId="2153457478" sldId="6957"/>
            <ac:spMk id="20" creationId="{86D1BEEB-DAD1-2AF6-8893-6759630CF26D}"/>
          </ac:spMkLst>
        </pc:spChg>
        <pc:spChg chg="mod">
          <ac:chgData name="Dr. Robert Butscher" userId="61bc653898ddc2e0" providerId="LiveId" clId="{51D723D9-59D9-44A1-A120-82CD4C10D8A5}" dt="2026-08-24T15:35:22.844" v="7" actId="1076"/>
          <ac:spMkLst>
            <pc:docMk/>
            <pc:sldMk cId="2153457478" sldId="6957"/>
            <ac:spMk id="22" creationId="{94D9964B-9CB4-1714-CDE4-69B015FF2E14}"/>
          </ac:spMkLst>
        </pc:spChg>
        <pc:spChg chg="mod">
          <ac:chgData name="Dr. Robert Butscher" userId="61bc653898ddc2e0" providerId="LiveId" clId="{51D723D9-59D9-44A1-A120-82CD4C10D8A5}" dt="2026-08-24T15:35:22.844" v="7" actId="1076"/>
          <ac:spMkLst>
            <pc:docMk/>
            <pc:sldMk cId="2153457478" sldId="6957"/>
            <ac:spMk id="25" creationId="{C7159C36-05D4-692B-3815-505183F31E67}"/>
          </ac:spMkLst>
        </pc:spChg>
        <pc:spChg chg="mod">
          <ac:chgData name="Dr. Robert Butscher" userId="61bc653898ddc2e0" providerId="LiveId" clId="{51D723D9-59D9-44A1-A120-82CD4C10D8A5}" dt="2026-08-24T15:35:22.844" v="7" actId="1076"/>
          <ac:spMkLst>
            <pc:docMk/>
            <pc:sldMk cId="2153457478" sldId="6957"/>
            <ac:spMk id="27" creationId="{663756C9-BC0A-E5B4-D12B-59BE2B4F679C}"/>
          </ac:spMkLst>
        </pc:spChg>
        <pc:spChg chg="mod">
          <ac:chgData name="Dr. Robert Butscher" userId="61bc653898ddc2e0" providerId="LiveId" clId="{51D723D9-59D9-44A1-A120-82CD4C10D8A5}" dt="2026-08-24T15:35:22.844" v="7" actId="1076"/>
          <ac:spMkLst>
            <pc:docMk/>
            <pc:sldMk cId="2153457478" sldId="6957"/>
            <ac:spMk id="32" creationId="{A75D68FC-B61F-82C6-5F19-03E13A640CDA}"/>
          </ac:spMkLst>
        </pc:spChg>
        <pc:spChg chg="mod">
          <ac:chgData name="Dr. Robert Butscher" userId="61bc653898ddc2e0" providerId="LiveId" clId="{51D723D9-59D9-44A1-A120-82CD4C10D8A5}" dt="2026-08-24T15:35:22.844" v="7" actId="1076"/>
          <ac:spMkLst>
            <pc:docMk/>
            <pc:sldMk cId="2153457478" sldId="6957"/>
            <ac:spMk id="34" creationId="{FEA4963B-32C0-8628-38E8-1EB8755BAF94}"/>
          </ac:spMkLst>
        </pc:spChg>
        <pc:spChg chg="mod">
          <ac:chgData name="Dr. Robert Butscher" userId="61bc653898ddc2e0" providerId="LiveId" clId="{51D723D9-59D9-44A1-A120-82CD4C10D8A5}" dt="2026-08-24T15:35:22.844" v="7" actId="1076"/>
          <ac:spMkLst>
            <pc:docMk/>
            <pc:sldMk cId="2153457478" sldId="6957"/>
            <ac:spMk id="36" creationId="{459A1194-F28C-0A82-4481-E4A05DC79D1E}"/>
          </ac:spMkLst>
        </pc:spChg>
        <pc:spChg chg="mod">
          <ac:chgData name="Dr. Robert Butscher" userId="61bc653898ddc2e0" providerId="LiveId" clId="{51D723D9-59D9-44A1-A120-82CD4C10D8A5}" dt="2026-08-24T15:35:22.844" v="7" actId="1076"/>
          <ac:spMkLst>
            <pc:docMk/>
            <pc:sldMk cId="2153457478" sldId="6957"/>
            <ac:spMk id="37" creationId="{42B151D6-24FA-7CCE-E4EB-285FCDAFB84A}"/>
          </ac:spMkLst>
        </pc:spChg>
        <pc:spChg chg="mod">
          <ac:chgData name="Dr. Robert Butscher" userId="61bc653898ddc2e0" providerId="LiveId" clId="{51D723D9-59D9-44A1-A120-82CD4C10D8A5}" dt="2026-08-24T15:35:25.916" v="8" actId="1076"/>
          <ac:spMkLst>
            <pc:docMk/>
            <pc:sldMk cId="2153457478" sldId="6957"/>
            <ac:spMk id="39" creationId="{06C648C7-19BE-A40B-8603-3D7DB2D46E1C}"/>
          </ac:spMkLst>
        </pc:spChg>
        <pc:spChg chg="mod">
          <ac:chgData name="Dr. Robert Butscher" userId="61bc653898ddc2e0" providerId="LiveId" clId="{51D723D9-59D9-44A1-A120-82CD4C10D8A5}" dt="2026-08-24T15:35:25.916" v="8" actId="1076"/>
          <ac:spMkLst>
            <pc:docMk/>
            <pc:sldMk cId="2153457478" sldId="6957"/>
            <ac:spMk id="40" creationId="{3F6DC8CB-AD89-2F19-B562-A4ABE4527969}"/>
          </ac:spMkLst>
        </pc:spChg>
        <pc:spChg chg="mod">
          <ac:chgData name="Dr. Robert Butscher" userId="61bc653898ddc2e0" providerId="LiveId" clId="{51D723D9-59D9-44A1-A120-82CD4C10D8A5}" dt="2026-08-24T15:35:25.916" v="8" actId="1076"/>
          <ac:spMkLst>
            <pc:docMk/>
            <pc:sldMk cId="2153457478" sldId="6957"/>
            <ac:spMk id="41" creationId="{885C1616-4480-B328-64FE-950CCBA69D3C}"/>
          </ac:spMkLst>
        </pc:spChg>
        <pc:spChg chg="mod">
          <ac:chgData name="Dr. Robert Butscher" userId="61bc653898ddc2e0" providerId="LiveId" clId="{51D723D9-59D9-44A1-A120-82CD4C10D8A5}" dt="2026-08-24T15:35:25.916" v="8" actId="1076"/>
          <ac:spMkLst>
            <pc:docMk/>
            <pc:sldMk cId="2153457478" sldId="6957"/>
            <ac:spMk id="43" creationId="{04C60064-2DB3-8645-45AB-2CBC4EA59B7C}"/>
          </ac:spMkLst>
        </pc:spChg>
        <pc:spChg chg="mod">
          <ac:chgData name="Dr. Robert Butscher" userId="61bc653898ddc2e0" providerId="LiveId" clId="{51D723D9-59D9-44A1-A120-82CD4C10D8A5}" dt="2026-08-24T15:35:25.916" v="8" actId="1076"/>
          <ac:spMkLst>
            <pc:docMk/>
            <pc:sldMk cId="2153457478" sldId="6957"/>
            <ac:spMk id="48" creationId="{73FC5BE2-B15D-4A29-1EA8-E364DBDB0A32}"/>
          </ac:spMkLst>
        </pc:spChg>
        <pc:spChg chg="mod">
          <ac:chgData name="Dr. Robert Butscher" userId="61bc653898ddc2e0" providerId="LiveId" clId="{51D723D9-59D9-44A1-A120-82CD4C10D8A5}" dt="2026-08-24T15:35:25.916" v="8" actId="1076"/>
          <ac:spMkLst>
            <pc:docMk/>
            <pc:sldMk cId="2153457478" sldId="6957"/>
            <ac:spMk id="50" creationId="{0E9E0B71-B23D-6C5B-C688-690F2EB136D0}"/>
          </ac:spMkLst>
        </pc:spChg>
        <pc:spChg chg="mod">
          <ac:chgData name="Dr. Robert Butscher" userId="61bc653898ddc2e0" providerId="LiveId" clId="{51D723D9-59D9-44A1-A120-82CD4C10D8A5}" dt="2026-08-24T15:35:25.916" v="8" actId="1076"/>
          <ac:spMkLst>
            <pc:docMk/>
            <pc:sldMk cId="2153457478" sldId="6957"/>
            <ac:spMk id="51" creationId="{B73DF180-91E1-F94E-7FD7-5975CB3B0646}"/>
          </ac:spMkLst>
        </pc:spChg>
        <pc:spChg chg="mod">
          <ac:chgData name="Dr. Robert Butscher" userId="61bc653898ddc2e0" providerId="LiveId" clId="{51D723D9-59D9-44A1-A120-82CD4C10D8A5}" dt="2026-08-24T15:35:25.916" v="8" actId="1076"/>
          <ac:spMkLst>
            <pc:docMk/>
            <pc:sldMk cId="2153457478" sldId="6957"/>
            <ac:spMk id="52" creationId="{839C2D75-9176-7D2A-4A71-32139359C4C2}"/>
          </ac:spMkLst>
        </pc:spChg>
        <pc:spChg chg="mod">
          <ac:chgData name="Dr. Robert Butscher" userId="61bc653898ddc2e0" providerId="LiveId" clId="{51D723D9-59D9-44A1-A120-82CD4C10D8A5}" dt="2026-08-24T15:35:25.916" v="8" actId="1076"/>
          <ac:spMkLst>
            <pc:docMk/>
            <pc:sldMk cId="2153457478" sldId="6957"/>
            <ac:spMk id="53" creationId="{10120162-71AA-28EF-3432-8A2D86CB3886}"/>
          </ac:spMkLst>
        </pc:spChg>
        <pc:spChg chg="mod">
          <ac:chgData name="Dr. Robert Butscher" userId="61bc653898ddc2e0" providerId="LiveId" clId="{51D723D9-59D9-44A1-A120-82CD4C10D8A5}" dt="2026-08-24T15:35:25.916" v="8" actId="1076"/>
          <ac:spMkLst>
            <pc:docMk/>
            <pc:sldMk cId="2153457478" sldId="6957"/>
            <ac:spMk id="55" creationId="{F2FBC6D7-7BFF-320E-0B4A-04C70656E6A4}"/>
          </ac:spMkLst>
        </pc:spChg>
      </pc:sldChg>
      <pc:sldChg chg="modSp">
        <pc:chgData name="Dr. Robert Butscher" userId="61bc653898ddc2e0" providerId="LiveId" clId="{51D723D9-59D9-44A1-A120-82CD4C10D8A5}" dt="2026-08-24T16:20:29.130" v="77"/>
        <pc:sldMkLst>
          <pc:docMk/>
          <pc:sldMk cId="3115233069" sldId="7023"/>
        </pc:sldMkLst>
        <pc:spChg chg="mod">
          <ac:chgData name="Dr. Robert Butscher" userId="61bc653898ddc2e0" providerId="LiveId" clId="{51D723D9-59D9-44A1-A120-82CD4C10D8A5}" dt="2026-08-24T16:20:29.130" v="77"/>
          <ac:spMkLst>
            <pc:docMk/>
            <pc:sldMk cId="3115233069" sldId="7023"/>
            <ac:spMk id="9" creationId="{C5FB4338-E2F2-B238-0309-A270EB89A7D9}"/>
          </ac:spMkLst>
        </pc:spChg>
        <pc:spChg chg="mod">
          <ac:chgData name="Dr. Robert Butscher" userId="61bc653898ddc2e0" providerId="LiveId" clId="{51D723D9-59D9-44A1-A120-82CD4C10D8A5}" dt="2026-08-24T16:16:43.376" v="74"/>
          <ac:spMkLst>
            <pc:docMk/>
            <pc:sldMk cId="3115233069" sldId="7023"/>
            <ac:spMk id="1400" creationId="{00000000-0000-0000-0000-000000000000}"/>
          </ac:spMkLst>
        </pc:spChg>
        <pc:spChg chg="mod">
          <ac:chgData name="Dr. Robert Butscher" userId="61bc653898ddc2e0" providerId="LiveId" clId="{51D723D9-59D9-44A1-A120-82CD4C10D8A5}" dt="2026-08-24T16:17:03.386" v="75"/>
          <ac:spMkLst>
            <pc:docMk/>
            <pc:sldMk cId="3115233069" sldId="7023"/>
            <ac:spMk id="1402" creationId="{00000000-0000-0000-0000-000000000000}"/>
          </ac:spMkLst>
        </pc:spChg>
        <pc:spChg chg="mod">
          <ac:chgData name="Dr. Robert Butscher" userId="61bc653898ddc2e0" providerId="LiveId" clId="{51D723D9-59D9-44A1-A120-82CD4C10D8A5}" dt="2026-08-24T16:17:53.181" v="76"/>
          <ac:spMkLst>
            <pc:docMk/>
            <pc:sldMk cId="3115233069" sldId="7023"/>
            <ac:spMk id="1404" creationId="{00000000-0000-0000-0000-000000000000}"/>
          </ac:spMkLst>
        </pc:spChg>
      </pc:sldChg>
      <pc:sldChg chg="modSp">
        <pc:chgData name="Dr. Robert Butscher" userId="61bc653898ddc2e0" providerId="LiveId" clId="{51D723D9-59D9-44A1-A120-82CD4C10D8A5}" dt="2026-08-24T16:30:50.777" v="90"/>
        <pc:sldMkLst>
          <pc:docMk/>
          <pc:sldMk cId="1549585879" sldId="7051"/>
        </pc:sldMkLst>
        <pc:spChg chg="mod">
          <ac:chgData name="Dr. Robert Butscher" userId="61bc653898ddc2e0" providerId="LiveId" clId="{51D723D9-59D9-44A1-A120-82CD4C10D8A5}" dt="2026-08-24T16:30:50.777" v="90"/>
          <ac:spMkLst>
            <pc:docMk/>
            <pc:sldMk cId="1549585879" sldId="7051"/>
            <ac:spMk id="5" creationId="{9DA1A662-E1C0-8900-8395-8015AD4E9825}"/>
          </ac:spMkLst>
        </pc:spChg>
      </pc:sldChg>
      <pc:sldChg chg="modSp">
        <pc:chgData name="Dr. Robert Butscher" userId="61bc653898ddc2e0" providerId="LiveId" clId="{51D723D9-59D9-44A1-A120-82CD4C10D8A5}" dt="2026-08-24T16:53:08.500" v="110"/>
        <pc:sldMkLst>
          <pc:docMk/>
          <pc:sldMk cId="3485116179" sldId="7068"/>
        </pc:sldMkLst>
        <pc:spChg chg="mod">
          <ac:chgData name="Dr. Robert Butscher" userId="61bc653898ddc2e0" providerId="LiveId" clId="{51D723D9-59D9-44A1-A120-82CD4C10D8A5}" dt="2026-08-24T16:53:08.500" v="110"/>
          <ac:spMkLst>
            <pc:docMk/>
            <pc:sldMk cId="3485116179" sldId="7068"/>
            <ac:spMk id="8" creationId="{41CB5BF6-E984-3D15-FDD1-797147B3805A}"/>
          </ac:spMkLst>
        </pc:spChg>
      </pc:sldChg>
      <pc:sldChg chg="modSp">
        <pc:chgData name="Dr. Robert Butscher" userId="61bc653898ddc2e0" providerId="LiveId" clId="{51D723D9-59D9-44A1-A120-82CD4C10D8A5}" dt="2026-08-24T18:03:14.116" v="160"/>
        <pc:sldMkLst>
          <pc:docMk/>
          <pc:sldMk cId="3547430028" sldId="7108"/>
        </pc:sldMkLst>
        <pc:spChg chg="mod">
          <ac:chgData name="Dr. Robert Butscher" userId="61bc653898ddc2e0" providerId="LiveId" clId="{51D723D9-59D9-44A1-A120-82CD4C10D8A5}" dt="2026-08-24T18:03:14.116" v="160"/>
          <ac:spMkLst>
            <pc:docMk/>
            <pc:sldMk cId="3547430028" sldId="7108"/>
            <ac:spMk id="5" creationId="{DD4B62E8-433F-64E3-47BC-2FBCBAA08AB5}"/>
          </ac:spMkLst>
        </pc:spChg>
      </pc:sldChg>
      <pc:sldChg chg="modSp">
        <pc:chgData name="Dr. Robert Butscher" userId="61bc653898ddc2e0" providerId="LiveId" clId="{51D723D9-59D9-44A1-A120-82CD4C10D8A5}" dt="2026-08-24T15:32:11.640" v="3"/>
        <pc:sldMkLst>
          <pc:docMk/>
          <pc:sldMk cId="1135795379" sldId="7109"/>
        </pc:sldMkLst>
        <pc:spChg chg="mod">
          <ac:chgData name="Dr. Robert Butscher" userId="61bc653898ddc2e0" providerId="LiveId" clId="{51D723D9-59D9-44A1-A120-82CD4C10D8A5}" dt="2026-08-24T15:32:11.640" v="3"/>
          <ac:spMkLst>
            <pc:docMk/>
            <pc:sldMk cId="1135795379" sldId="7109"/>
            <ac:spMk id="4" creationId="{9A2F1BBF-236F-C262-DDA2-03ABBE88A5B7}"/>
          </ac:spMkLst>
        </pc:spChg>
      </pc:sldChg>
      <pc:sldChg chg="modSp">
        <pc:chgData name="Dr. Robert Butscher" userId="61bc653898ddc2e0" providerId="LiveId" clId="{51D723D9-59D9-44A1-A120-82CD4C10D8A5}" dt="2026-08-24T17:17:26.729" v="113"/>
        <pc:sldMkLst>
          <pc:docMk/>
          <pc:sldMk cId="141240052" sldId="7120"/>
        </pc:sldMkLst>
        <pc:spChg chg="mod">
          <ac:chgData name="Dr. Robert Butscher" userId="61bc653898ddc2e0" providerId="LiveId" clId="{51D723D9-59D9-44A1-A120-82CD4C10D8A5}" dt="2026-08-24T17:17:26.729" v="113"/>
          <ac:spMkLst>
            <pc:docMk/>
            <pc:sldMk cId="141240052" sldId="7120"/>
            <ac:spMk id="7" creationId="{FB4E7D94-8BBD-EFF8-5883-DEE205CD4FB6}"/>
          </ac:spMkLst>
        </pc:spChg>
      </pc:sldChg>
      <pc:sldChg chg="modSp">
        <pc:chgData name="Dr. Robert Butscher" userId="61bc653898ddc2e0" providerId="LiveId" clId="{51D723D9-59D9-44A1-A120-82CD4C10D8A5}" dt="2026-08-24T17:17:34.603" v="114"/>
        <pc:sldMkLst>
          <pc:docMk/>
          <pc:sldMk cId="493335438" sldId="7123"/>
        </pc:sldMkLst>
        <pc:spChg chg="mod">
          <ac:chgData name="Dr. Robert Butscher" userId="61bc653898ddc2e0" providerId="LiveId" clId="{51D723D9-59D9-44A1-A120-82CD4C10D8A5}" dt="2026-08-24T17:17:34.603" v="114"/>
          <ac:spMkLst>
            <pc:docMk/>
            <pc:sldMk cId="493335438" sldId="7123"/>
            <ac:spMk id="3" creationId="{00000000-0000-0000-0000-000000000000}"/>
          </ac:spMkLst>
        </pc:spChg>
      </pc:sldChg>
      <pc:sldChg chg="modSp">
        <pc:chgData name="Dr. Robert Butscher" userId="61bc653898ddc2e0" providerId="LiveId" clId="{51D723D9-59D9-44A1-A120-82CD4C10D8A5}" dt="2026-08-24T17:17:39.080" v="115"/>
        <pc:sldMkLst>
          <pc:docMk/>
          <pc:sldMk cId="1025120392" sldId="7125"/>
        </pc:sldMkLst>
        <pc:spChg chg="mod">
          <ac:chgData name="Dr. Robert Butscher" userId="61bc653898ddc2e0" providerId="LiveId" clId="{51D723D9-59D9-44A1-A120-82CD4C10D8A5}" dt="2026-08-24T17:17:39.080" v="115"/>
          <ac:spMkLst>
            <pc:docMk/>
            <pc:sldMk cId="1025120392" sldId="7125"/>
            <ac:spMk id="3" creationId="{00000000-0000-0000-0000-000000000000}"/>
          </ac:spMkLst>
        </pc:spChg>
      </pc:sldChg>
      <pc:sldChg chg="modSp">
        <pc:chgData name="Dr. Robert Butscher" userId="61bc653898ddc2e0" providerId="LiveId" clId="{51D723D9-59D9-44A1-A120-82CD4C10D8A5}" dt="2026-08-24T17:17:43.645" v="116"/>
        <pc:sldMkLst>
          <pc:docMk/>
          <pc:sldMk cId="3507775848" sldId="7126"/>
        </pc:sldMkLst>
        <pc:spChg chg="mod">
          <ac:chgData name="Dr. Robert Butscher" userId="61bc653898ddc2e0" providerId="LiveId" clId="{51D723D9-59D9-44A1-A120-82CD4C10D8A5}" dt="2026-08-24T17:17:43.645" v="116"/>
          <ac:spMkLst>
            <pc:docMk/>
            <pc:sldMk cId="3507775848" sldId="7126"/>
            <ac:spMk id="3" creationId="{00000000-0000-0000-0000-000000000000}"/>
          </ac:spMkLst>
        </pc:spChg>
      </pc:sldChg>
      <pc:sldChg chg="modSp">
        <pc:chgData name="Dr. Robert Butscher" userId="61bc653898ddc2e0" providerId="LiveId" clId="{51D723D9-59D9-44A1-A120-82CD4C10D8A5}" dt="2026-08-24T17:17:48.793" v="117"/>
        <pc:sldMkLst>
          <pc:docMk/>
          <pc:sldMk cId="2852233746" sldId="7128"/>
        </pc:sldMkLst>
        <pc:spChg chg="mod">
          <ac:chgData name="Dr. Robert Butscher" userId="61bc653898ddc2e0" providerId="LiveId" clId="{51D723D9-59D9-44A1-A120-82CD4C10D8A5}" dt="2026-08-24T17:17:48.793" v="117"/>
          <ac:spMkLst>
            <pc:docMk/>
            <pc:sldMk cId="2852233746" sldId="7128"/>
            <ac:spMk id="3" creationId="{00000000-0000-0000-0000-000000000000}"/>
          </ac:spMkLst>
        </pc:spChg>
      </pc:sldChg>
      <pc:sldChg chg="modSp">
        <pc:chgData name="Dr. Robert Butscher" userId="61bc653898ddc2e0" providerId="LiveId" clId="{51D723D9-59D9-44A1-A120-82CD4C10D8A5}" dt="2026-08-24T17:17:52.942" v="118"/>
        <pc:sldMkLst>
          <pc:docMk/>
          <pc:sldMk cId="4083984868" sldId="7129"/>
        </pc:sldMkLst>
        <pc:spChg chg="mod">
          <ac:chgData name="Dr. Robert Butscher" userId="61bc653898ddc2e0" providerId="LiveId" clId="{51D723D9-59D9-44A1-A120-82CD4C10D8A5}" dt="2026-08-24T17:17:52.942" v="118"/>
          <ac:spMkLst>
            <pc:docMk/>
            <pc:sldMk cId="4083984868" sldId="7129"/>
            <ac:spMk id="3" creationId="{00000000-0000-0000-0000-000000000000}"/>
          </ac:spMkLst>
        </pc:spChg>
      </pc:sldChg>
      <pc:sldChg chg="modSp">
        <pc:chgData name="Dr. Robert Butscher" userId="61bc653898ddc2e0" providerId="LiveId" clId="{51D723D9-59D9-44A1-A120-82CD4C10D8A5}" dt="2026-08-24T17:19:01.923" v="122"/>
        <pc:sldMkLst>
          <pc:docMk/>
          <pc:sldMk cId="4203181156" sldId="7131"/>
        </pc:sldMkLst>
        <pc:spChg chg="mod">
          <ac:chgData name="Dr. Robert Butscher" userId="61bc653898ddc2e0" providerId="LiveId" clId="{51D723D9-59D9-44A1-A120-82CD4C10D8A5}" dt="2026-08-24T17:19:01.923" v="122"/>
          <ac:spMkLst>
            <pc:docMk/>
            <pc:sldMk cId="4203181156" sldId="7131"/>
            <ac:spMk id="3" creationId="{00000000-0000-0000-0000-000000000000}"/>
          </ac:spMkLst>
        </pc:spChg>
      </pc:sldChg>
      <pc:sldChg chg="modSp">
        <pc:chgData name="Dr. Robert Butscher" userId="61bc653898ddc2e0" providerId="LiveId" clId="{51D723D9-59D9-44A1-A120-82CD4C10D8A5}" dt="2026-08-24T17:19:07.923" v="123"/>
        <pc:sldMkLst>
          <pc:docMk/>
          <pc:sldMk cId="2562805985" sldId="7132"/>
        </pc:sldMkLst>
        <pc:spChg chg="mod">
          <ac:chgData name="Dr. Robert Butscher" userId="61bc653898ddc2e0" providerId="LiveId" clId="{51D723D9-59D9-44A1-A120-82CD4C10D8A5}" dt="2026-08-24T17:19:07.923" v="123"/>
          <ac:spMkLst>
            <pc:docMk/>
            <pc:sldMk cId="2562805985" sldId="7132"/>
            <ac:spMk id="3" creationId="{00000000-0000-0000-0000-000000000000}"/>
          </ac:spMkLst>
        </pc:spChg>
      </pc:sldChg>
      <pc:sldChg chg="modSp">
        <pc:chgData name="Dr. Robert Butscher" userId="61bc653898ddc2e0" providerId="LiveId" clId="{51D723D9-59D9-44A1-A120-82CD4C10D8A5}" dt="2026-08-24T17:19:12.390" v="124"/>
        <pc:sldMkLst>
          <pc:docMk/>
          <pc:sldMk cId="1382941870" sldId="7133"/>
        </pc:sldMkLst>
        <pc:spChg chg="mod">
          <ac:chgData name="Dr. Robert Butscher" userId="61bc653898ddc2e0" providerId="LiveId" clId="{51D723D9-59D9-44A1-A120-82CD4C10D8A5}" dt="2026-08-24T17:19:12.390" v="124"/>
          <ac:spMkLst>
            <pc:docMk/>
            <pc:sldMk cId="1382941870" sldId="7133"/>
            <ac:spMk id="3" creationId="{00000000-0000-0000-0000-000000000000}"/>
          </ac:spMkLst>
        </pc:spChg>
      </pc:sldChg>
      <pc:sldChg chg="modSp">
        <pc:chgData name="Dr. Robert Butscher" userId="61bc653898ddc2e0" providerId="LiveId" clId="{51D723D9-59D9-44A1-A120-82CD4C10D8A5}" dt="2026-08-24T17:19:17.468" v="125"/>
        <pc:sldMkLst>
          <pc:docMk/>
          <pc:sldMk cId="2321899807" sldId="7134"/>
        </pc:sldMkLst>
        <pc:spChg chg="mod">
          <ac:chgData name="Dr. Robert Butscher" userId="61bc653898ddc2e0" providerId="LiveId" clId="{51D723D9-59D9-44A1-A120-82CD4C10D8A5}" dt="2026-08-24T17:19:17.468" v="125"/>
          <ac:spMkLst>
            <pc:docMk/>
            <pc:sldMk cId="2321899807" sldId="7134"/>
            <ac:spMk id="3" creationId="{00000000-0000-0000-0000-000000000000}"/>
          </ac:spMkLst>
        </pc:spChg>
      </pc:sldChg>
      <pc:sldChg chg="modSp">
        <pc:chgData name="Dr. Robert Butscher" userId="61bc653898ddc2e0" providerId="LiveId" clId="{51D723D9-59D9-44A1-A120-82CD4C10D8A5}" dt="2026-08-24T17:19:44.038" v="129"/>
        <pc:sldMkLst>
          <pc:docMk/>
          <pc:sldMk cId="188059934" sldId="7135"/>
        </pc:sldMkLst>
        <pc:spChg chg="mod">
          <ac:chgData name="Dr. Robert Butscher" userId="61bc653898ddc2e0" providerId="LiveId" clId="{51D723D9-59D9-44A1-A120-82CD4C10D8A5}" dt="2026-08-24T17:19:44.038" v="129"/>
          <ac:spMkLst>
            <pc:docMk/>
            <pc:sldMk cId="188059934" sldId="7135"/>
            <ac:spMk id="3" creationId="{00000000-0000-0000-0000-000000000000}"/>
          </ac:spMkLst>
        </pc:spChg>
      </pc:sldChg>
      <pc:sldChg chg="modSp">
        <pc:chgData name="Dr. Robert Butscher" userId="61bc653898ddc2e0" providerId="LiveId" clId="{51D723D9-59D9-44A1-A120-82CD4C10D8A5}" dt="2026-08-24T17:20:04.925" v="131"/>
        <pc:sldMkLst>
          <pc:docMk/>
          <pc:sldMk cId="1058348043" sldId="7136"/>
        </pc:sldMkLst>
        <pc:spChg chg="mod">
          <ac:chgData name="Dr. Robert Butscher" userId="61bc653898ddc2e0" providerId="LiveId" clId="{51D723D9-59D9-44A1-A120-82CD4C10D8A5}" dt="2026-08-24T17:20:04.925" v="131"/>
          <ac:spMkLst>
            <pc:docMk/>
            <pc:sldMk cId="1058348043" sldId="7136"/>
            <ac:spMk id="3" creationId="{00000000-0000-0000-0000-000000000000}"/>
          </ac:spMkLst>
        </pc:spChg>
      </pc:sldChg>
      <pc:sldChg chg="modSp">
        <pc:chgData name="Dr. Robert Butscher" userId="61bc653898ddc2e0" providerId="LiveId" clId="{51D723D9-59D9-44A1-A120-82CD4C10D8A5}" dt="2026-08-24T17:20:08.266" v="132"/>
        <pc:sldMkLst>
          <pc:docMk/>
          <pc:sldMk cId="1183216204" sldId="7137"/>
        </pc:sldMkLst>
        <pc:spChg chg="mod">
          <ac:chgData name="Dr. Robert Butscher" userId="61bc653898ddc2e0" providerId="LiveId" clId="{51D723D9-59D9-44A1-A120-82CD4C10D8A5}" dt="2026-08-24T17:20:08.266" v="132"/>
          <ac:spMkLst>
            <pc:docMk/>
            <pc:sldMk cId="1183216204" sldId="7137"/>
            <ac:spMk id="3" creationId="{00000000-0000-0000-0000-000000000000}"/>
          </ac:spMkLst>
        </pc:spChg>
      </pc:sldChg>
      <pc:sldChg chg="modSp">
        <pc:chgData name="Dr. Robert Butscher" userId="61bc653898ddc2e0" providerId="LiveId" clId="{51D723D9-59D9-44A1-A120-82CD4C10D8A5}" dt="2026-08-24T17:20:12.304" v="133"/>
        <pc:sldMkLst>
          <pc:docMk/>
          <pc:sldMk cId="2853555802" sldId="7138"/>
        </pc:sldMkLst>
        <pc:spChg chg="mod">
          <ac:chgData name="Dr. Robert Butscher" userId="61bc653898ddc2e0" providerId="LiveId" clId="{51D723D9-59D9-44A1-A120-82CD4C10D8A5}" dt="2026-08-24T17:20:12.304" v="133"/>
          <ac:spMkLst>
            <pc:docMk/>
            <pc:sldMk cId="2853555802" sldId="7138"/>
            <ac:spMk id="3" creationId="{5AEC6156-CE58-1056-FE25-7E08F3694AC0}"/>
          </ac:spMkLst>
        </pc:spChg>
      </pc:sldChg>
      <pc:sldChg chg="modSp">
        <pc:chgData name="Dr. Robert Butscher" userId="61bc653898ddc2e0" providerId="LiveId" clId="{51D723D9-59D9-44A1-A120-82CD4C10D8A5}" dt="2026-08-24T17:20:15.662" v="134"/>
        <pc:sldMkLst>
          <pc:docMk/>
          <pc:sldMk cId="2880823954" sldId="7139"/>
        </pc:sldMkLst>
        <pc:spChg chg="mod">
          <ac:chgData name="Dr. Robert Butscher" userId="61bc653898ddc2e0" providerId="LiveId" clId="{51D723D9-59D9-44A1-A120-82CD4C10D8A5}" dt="2026-08-24T17:20:15.662" v="134"/>
          <ac:spMkLst>
            <pc:docMk/>
            <pc:sldMk cId="2880823954" sldId="7139"/>
            <ac:spMk id="3" creationId="{00000000-0000-0000-0000-000000000000}"/>
          </ac:spMkLst>
        </pc:spChg>
      </pc:sldChg>
      <pc:sldChg chg="modSp">
        <pc:chgData name="Dr. Robert Butscher" userId="61bc653898ddc2e0" providerId="LiveId" clId="{51D723D9-59D9-44A1-A120-82CD4C10D8A5}" dt="2026-08-24T17:20:19.412" v="135"/>
        <pc:sldMkLst>
          <pc:docMk/>
          <pc:sldMk cId="1923590358" sldId="7140"/>
        </pc:sldMkLst>
        <pc:spChg chg="mod">
          <ac:chgData name="Dr. Robert Butscher" userId="61bc653898ddc2e0" providerId="LiveId" clId="{51D723D9-59D9-44A1-A120-82CD4C10D8A5}" dt="2026-08-24T17:20:19.412" v="135"/>
          <ac:spMkLst>
            <pc:docMk/>
            <pc:sldMk cId="1923590358" sldId="7140"/>
            <ac:spMk id="3" creationId="{9CAF0192-F589-BDC3-ADD4-9594464B5BAB}"/>
          </ac:spMkLst>
        </pc:spChg>
      </pc:sldChg>
      <pc:sldChg chg="modSp">
        <pc:chgData name="Dr. Robert Butscher" userId="61bc653898ddc2e0" providerId="LiveId" clId="{51D723D9-59D9-44A1-A120-82CD4C10D8A5}" dt="2026-08-24T17:20:38.145" v="138"/>
        <pc:sldMkLst>
          <pc:docMk/>
          <pc:sldMk cId="4282405511" sldId="7141"/>
        </pc:sldMkLst>
        <pc:spChg chg="mod">
          <ac:chgData name="Dr. Robert Butscher" userId="61bc653898ddc2e0" providerId="LiveId" clId="{51D723D9-59D9-44A1-A120-82CD4C10D8A5}" dt="2026-08-24T17:20:38.145" v="138"/>
          <ac:spMkLst>
            <pc:docMk/>
            <pc:sldMk cId="4282405511" sldId="7141"/>
            <ac:spMk id="3" creationId="{00000000-0000-0000-0000-000000000000}"/>
          </ac:spMkLst>
        </pc:spChg>
      </pc:sldChg>
      <pc:sldChg chg="modSp">
        <pc:chgData name="Dr. Robert Butscher" userId="61bc653898ddc2e0" providerId="LiveId" clId="{51D723D9-59D9-44A1-A120-82CD4C10D8A5}" dt="2026-08-24T17:20:22.860" v="136"/>
        <pc:sldMkLst>
          <pc:docMk/>
          <pc:sldMk cId="3517568758" sldId="7142"/>
        </pc:sldMkLst>
        <pc:spChg chg="mod">
          <ac:chgData name="Dr. Robert Butscher" userId="61bc653898ddc2e0" providerId="LiveId" clId="{51D723D9-59D9-44A1-A120-82CD4C10D8A5}" dt="2026-08-24T17:20:22.860" v="136"/>
          <ac:spMkLst>
            <pc:docMk/>
            <pc:sldMk cId="3517568758" sldId="7142"/>
            <ac:spMk id="3" creationId="{00000000-0000-0000-0000-000000000000}"/>
          </ac:spMkLst>
        </pc:spChg>
      </pc:sldChg>
      <pc:sldChg chg="modSp">
        <pc:chgData name="Dr. Robert Butscher" userId="61bc653898ddc2e0" providerId="LiveId" clId="{51D723D9-59D9-44A1-A120-82CD4C10D8A5}" dt="2026-08-24T17:20:52.904" v="141"/>
        <pc:sldMkLst>
          <pc:docMk/>
          <pc:sldMk cId="3006272612" sldId="7143"/>
        </pc:sldMkLst>
        <pc:spChg chg="mod">
          <ac:chgData name="Dr. Robert Butscher" userId="61bc653898ddc2e0" providerId="LiveId" clId="{51D723D9-59D9-44A1-A120-82CD4C10D8A5}" dt="2026-08-24T17:20:52.904" v="141"/>
          <ac:spMkLst>
            <pc:docMk/>
            <pc:sldMk cId="3006272612" sldId="7143"/>
            <ac:spMk id="3" creationId="{00000000-0000-0000-0000-000000000000}"/>
          </ac:spMkLst>
        </pc:spChg>
      </pc:sldChg>
      <pc:sldChg chg="modSp">
        <pc:chgData name="Dr. Robert Butscher" userId="61bc653898ddc2e0" providerId="LiveId" clId="{51D723D9-59D9-44A1-A120-82CD4C10D8A5}" dt="2026-08-24T17:20:58.048" v="142"/>
        <pc:sldMkLst>
          <pc:docMk/>
          <pc:sldMk cId="1202458318" sldId="7144"/>
        </pc:sldMkLst>
        <pc:spChg chg="mod">
          <ac:chgData name="Dr. Robert Butscher" userId="61bc653898ddc2e0" providerId="LiveId" clId="{51D723D9-59D9-44A1-A120-82CD4C10D8A5}" dt="2026-08-24T17:20:58.048" v="142"/>
          <ac:spMkLst>
            <pc:docMk/>
            <pc:sldMk cId="1202458318" sldId="7144"/>
            <ac:spMk id="3" creationId="{00000000-0000-0000-0000-000000000000}"/>
          </ac:spMkLst>
        </pc:spChg>
      </pc:sldChg>
      <pc:sldChg chg="modSp">
        <pc:chgData name="Dr. Robert Butscher" userId="61bc653898ddc2e0" providerId="LiveId" clId="{51D723D9-59D9-44A1-A120-82CD4C10D8A5}" dt="2026-08-24T17:21:14.630" v="144"/>
        <pc:sldMkLst>
          <pc:docMk/>
          <pc:sldMk cId="1297366138" sldId="7145"/>
        </pc:sldMkLst>
        <pc:spChg chg="mod">
          <ac:chgData name="Dr. Robert Butscher" userId="61bc653898ddc2e0" providerId="LiveId" clId="{51D723D9-59D9-44A1-A120-82CD4C10D8A5}" dt="2026-08-24T17:21:14.630" v="144"/>
          <ac:spMkLst>
            <pc:docMk/>
            <pc:sldMk cId="1297366138" sldId="7145"/>
            <ac:spMk id="3" creationId="{00000000-0000-0000-0000-000000000000}"/>
          </ac:spMkLst>
        </pc:spChg>
      </pc:sldChg>
      <pc:sldChg chg="modSp">
        <pc:chgData name="Dr. Robert Butscher" userId="61bc653898ddc2e0" providerId="LiveId" clId="{51D723D9-59D9-44A1-A120-82CD4C10D8A5}" dt="2026-08-24T17:21:17.924" v="145"/>
        <pc:sldMkLst>
          <pc:docMk/>
          <pc:sldMk cId="4015960061" sldId="7146"/>
        </pc:sldMkLst>
        <pc:spChg chg="mod">
          <ac:chgData name="Dr. Robert Butscher" userId="61bc653898ddc2e0" providerId="LiveId" clId="{51D723D9-59D9-44A1-A120-82CD4C10D8A5}" dt="2026-08-24T17:21:17.924" v="145"/>
          <ac:spMkLst>
            <pc:docMk/>
            <pc:sldMk cId="4015960061" sldId="7146"/>
            <ac:spMk id="3" creationId="{00000000-0000-0000-0000-000000000000}"/>
          </ac:spMkLst>
        </pc:spChg>
      </pc:sldChg>
      <pc:sldChg chg="modSp">
        <pc:chgData name="Dr. Robert Butscher" userId="61bc653898ddc2e0" providerId="LiveId" clId="{51D723D9-59D9-44A1-A120-82CD4C10D8A5}" dt="2026-08-24T17:21:21.462" v="146"/>
        <pc:sldMkLst>
          <pc:docMk/>
          <pc:sldMk cId="2289263854" sldId="7147"/>
        </pc:sldMkLst>
        <pc:spChg chg="mod">
          <ac:chgData name="Dr. Robert Butscher" userId="61bc653898ddc2e0" providerId="LiveId" clId="{51D723D9-59D9-44A1-A120-82CD4C10D8A5}" dt="2026-08-24T17:21:21.462" v="146"/>
          <ac:spMkLst>
            <pc:docMk/>
            <pc:sldMk cId="2289263854" sldId="7147"/>
            <ac:spMk id="3" creationId="{00000000-0000-0000-0000-000000000000}"/>
          </ac:spMkLst>
        </pc:spChg>
      </pc:sldChg>
      <pc:sldChg chg="modSp">
        <pc:chgData name="Dr. Robert Butscher" userId="61bc653898ddc2e0" providerId="LiveId" clId="{51D723D9-59D9-44A1-A120-82CD4C10D8A5}" dt="2026-08-24T17:21:26.443" v="147"/>
        <pc:sldMkLst>
          <pc:docMk/>
          <pc:sldMk cId="3885461838" sldId="7148"/>
        </pc:sldMkLst>
        <pc:spChg chg="mod">
          <ac:chgData name="Dr. Robert Butscher" userId="61bc653898ddc2e0" providerId="LiveId" clId="{51D723D9-59D9-44A1-A120-82CD4C10D8A5}" dt="2026-08-24T17:21:26.443" v="147"/>
          <ac:spMkLst>
            <pc:docMk/>
            <pc:sldMk cId="3885461838" sldId="7148"/>
            <ac:spMk id="3" creationId="{00000000-0000-0000-0000-000000000000}"/>
          </ac:spMkLst>
        </pc:spChg>
      </pc:sldChg>
      <pc:sldChg chg="modSp">
        <pc:chgData name="Dr. Robert Butscher" userId="61bc653898ddc2e0" providerId="LiveId" clId="{51D723D9-59D9-44A1-A120-82CD4C10D8A5}" dt="2026-08-24T17:21:48.250" v="150"/>
        <pc:sldMkLst>
          <pc:docMk/>
          <pc:sldMk cId="1856865982" sldId="7149"/>
        </pc:sldMkLst>
        <pc:spChg chg="mod">
          <ac:chgData name="Dr. Robert Butscher" userId="61bc653898ddc2e0" providerId="LiveId" clId="{51D723D9-59D9-44A1-A120-82CD4C10D8A5}" dt="2026-08-24T17:21:48.250" v="150"/>
          <ac:spMkLst>
            <pc:docMk/>
            <pc:sldMk cId="1856865982" sldId="7149"/>
            <ac:spMk id="3" creationId="{00000000-0000-0000-0000-000000000000}"/>
          </ac:spMkLst>
        </pc:spChg>
      </pc:sldChg>
      <pc:sldChg chg="modSp">
        <pc:chgData name="Dr. Robert Butscher" userId="61bc653898ddc2e0" providerId="LiveId" clId="{51D723D9-59D9-44A1-A120-82CD4C10D8A5}" dt="2026-08-24T17:22:10.153" v="153"/>
        <pc:sldMkLst>
          <pc:docMk/>
          <pc:sldMk cId="3983460136" sldId="7150"/>
        </pc:sldMkLst>
        <pc:spChg chg="mod">
          <ac:chgData name="Dr. Robert Butscher" userId="61bc653898ddc2e0" providerId="LiveId" clId="{51D723D9-59D9-44A1-A120-82CD4C10D8A5}" dt="2026-08-24T17:22:10.153" v="153"/>
          <ac:spMkLst>
            <pc:docMk/>
            <pc:sldMk cId="3983460136" sldId="7150"/>
            <ac:spMk id="3" creationId="{00000000-0000-0000-0000-000000000000}"/>
          </ac:spMkLst>
        </pc:spChg>
      </pc:sldChg>
      <pc:sldChg chg="modSp">
        <pc:chgData name="Dr. Robert Butscher" userId="61bc653898ddc2e0" providerId="LiveId" clId="{51D723D9-59D9-44A1-A120-82CD4C10D8A5}" dt="2026-08-24T17:17:56.105" v="119"/>
        <pc:sldMkLst>
          <pc:docMk/>
          <pc:sldMk cId="2210137541" sldId="7153"/>
        </pc:sldMkLst>
        <pc:spChg chg="mod">
          <ac:chgData name="Dr. Robert Butscher" userId="61bc653898ddc2e0" providerId="LiveId" clId="{51D723D9-59D9-44A1-A120-82CD4C10D8A5}" dt="2026-08-24T17:17:56.105" v="119"/>
          <ac:spMkLst>
            <pc:docMk/>
            <pc:sldMk cId="2210137541" sldId="7153"/>
            <ac:spMk id="3" creationId="{A3A3B5BB-6840-0FD4-7E8D-55794AD0E8FC}"/>
          </ac:spMkLst>
        </pc:spChg>
      </pc:sldChg>
      <pc:sldChg chg="modSp">
        <pc:chgData name="Dr. Robert Butscher" userId="61bc653898ddc2e0" providerId="LiveId" clId="{51D723D9-59D9-44A1-A120-82CD4C10D8A5}" dt="2026-08-24T17:18:54.831" v="121"/>
        <pc:sldMkLst>
          <pc:docMk/>
          <pc:sldMk cId="2210137541" sldId="7154"/>
        </pc:sldMkLst>
        <pc:spChg chg="mod">
          <ac:chgData name="Dr. Robert Butscher" userId="61bc653898ddc2e0" providerId="LiveId" clId="{51D723D9-59D9-44A1-A120-82CD4C10D8A5}" dt="2026-08-24T17:18:54.831" v="121"/>
          <ac:spMkLst>
            <pc:docMk/>
            <pc:sldMk cId="2210137541" sldId="7154"/>
            <ac:spMk id="3" creationId="{23719AA4-0556-27DB-6459-0351EE8E75D5}"/>
          </ac:spMkLst>
        </pc:spChg>
      </pc:sldChg>
      <pc:sldChg chg="modSp">
        <pc:chgData name="Dr. Robert Butscher" userId="61bc653898ddc2e0" providerId="LiveId" clId="{51D723D9-59D9-44A1-A120-82CD4C10D8A5}" dt="2026-08-24T17:19:35.399" v="127"/>
        <pc:sldMkLst>
          <pc:docMk/>
          <pc:sldMk cId="2210137541" sldId="7155"/>
        </pc:sldMkLst>
        <pc:spChg chg="mod">
          <ac:chgData name="Dr. Robert Butscher" userId="61bc653898ddc2e0" providerId="LiveId" clId="{51D723D9-59D9-44A1-A120-82CD4C10D8A5}" dt="2026-08-24T17:19:35.399" v="127"/>
          <ac:spMkLst>
            <pc:docMk/>
            <pc:sldMk cId="2210137541" sldId="7155"/>
            <ac:spMk id="3" creationId="{F2CFF43B-6C82-C31E-EB4F-7300889A3E1E}"/>
          </ac:spMkLst>
        </pc:spChg>
      </pc:sldChg>
      <pc:sldChg chg="modSp">
        <pc:chgData name="Dr. Robert Butscher" userId="61bc653898ddc2e0" providerId="LiveId" clId="{51D723D9-59D9-44A1-A120-82CD4C10D8A5}" dt="2026-08-24T17:19:53.424" v="130"/>
        <pc:sldMkLst>
          <pc:docMk/>
          <pc:sldMk cId="2210137541" sldId="7156"/>
        </pc:sldMkLst>
        <pc:spChg chg="mod">
          <ac:chgData name="Dr. Robert Butscher" userId="61bc653898ddc2e0" providerId="LiveId" clId="{51D723D9-59D9-44A1-A120-82CD4C10D8A5}" dt="2026-08-24T17:19:53.424" v="130"/>
          <ac:spMkLst>
            <pc:docMk/>
            <pc:sldMk cId="2210137541" sldId="7156"/>
            <ac:spMk id="3" creationId="{C3AFE325-7275-337A-64CB-1B63BDF818E4}"/>
          </ac:spMkLst>
        </pc:spChg>
      </pc:sldChg>
      <pc:sldChg chg="modSp">
        <pc:chgData name="Dr. Robert Butscher" userId="61bc653898ddc2e0" providerId="LiveId" clId="{51D723D9-59D9-44A1-A120-82CD4C10D8A5}" dt="2026-08-24T17:20:29.878" v="137"/>
        <pc:sldMkLst>
          <pc:docMk/>
          <pc:sldMk cId="2210137541" sldId="7157"/>
        </pc:sldMkLst>
        <pc:spChg chg="mod">
          <ac:chgData name="Dr. Robert Butscher" userId="61bc653898ddc2e0" providerId="LiveId" clId="{51D723D9-59D9-44A1-A120-82CD4C10D8A5}" dt="2026-08-24T17:20:29.878" v="137"/>
          <ac:spMkLst>
            <pc:docMk/>
            <pc:sldMk cId="2210137541" sldId="7157"/>
            <ac:spMk id="3" creationId="{2D6F58B6-6F30-2FA5-0FE1-AC28FCB0FD18}"/>
          </ac:spMkLst>
        </pc:spChg>
      </pc:sldChg>
      <pc:sldChg chg="modSp">
        <pc:chgData name="Dr. Robert Butscher" userId="61bc653898ddc2e0" providerId="LiveId" clId="{51D723D9-59D9-44A1-A120-82CD4C10D8A5}" dt="2026-08-24T17:21:07.502" v="143"/>
        <pc:sldMkLst>
          <pc:docMk/>
          <pc:sldMk cId="2210137541" sldId="7158"/>
        </pc:sldMkLst>
        <pc:spChg chg="mod">
          <ac:chgData name="Dr. Robert Butscher" userId="61bc653898ddc2e0" providerId="LiveId" clId="{51D723D9-59D9-44A1-A120-82CD4C10D8A5}" dt="2026-08-24T17:21:07.502" v="143"/>
          <ac:spMkLst>
            <pc:docMk/>
            <pc:sldMk cId="2210137541" sldId="7158"/>
            <ac:spMk id="3" creationId="{EBF2AFDC-E43F-7E99-F80A-DB9EC1E0508C}"/>
          </ac:spMkLst>
        </pc:spChg>
      </pc:sldChg>
      <pc:sldChg chg="modSp">
        <pc:chgData name="Dr. Robert Butscher" userId="61bc653898ddc2e0" providerId="LiveId" clId="{51D723D9-59D9-44A1-A120-82CD4C10D8A5}" dt="2026-08-24T17:21:42.417" v="149"/>
        <pc:sldMkLst>
          <pc:docMk/>
          <pc:sldMk cId="2210137541" sldId="7159"/>
        </pc:sldMkLst>
        <pc:spChg chg="mod">
          <ac:chgData name="Dr. Robert Butscher" userId="61bc653898ddc2e0" providerId="LiveId" clId="{51D723D9-59D9-44A1-A120-82CD4C10D8A5}" dt="2026-08-24T17:21:34.231" v="148"/>
          <ac:spMkLst>
            <pc:docMk/>
            <pc:sldMk cId="2210137541" sldId="7159"/>
            <ac:spMk id="3" creationId="{F3FDD762-899C-450D-6091-B3D1FD070427}"/>
          </ac:spMkLst>
        </pc:spChg>
        <pc:spChg chg="mod">
          <ac:chgData name="Dr. Robert Butscher" userId="61bc653898ddc2e0" providerId="LiveId" clId="{51D723D9-59D9-44A1-A120-82CD4C10D8A5}" dt="2026-08-24T17:21:42.417" v="149"/>
          <ac:spMkLst>
            <pc:docMk/>
            <pc:sldMk cId="2210137541" sldId="7159"/>
            <ac:spMk id="6" creationId="{8A88B9E7-9ABE-3268-F5CD-581B15686259}"/>
          </ac:spMkLst>
        </pc:spChg>
      </pc:sldChg>
      <pc:sldChg chg="modSp">
        <pc:chgData name="Dr. Robert Butscher" userId="61bc653898ddc2e0" providerId="LiveId" clId="{51D723D9-59D9-44A1-A120-82CD4C10D8A5}" dt="2026-08-24T17:22:00.549" v="152"/>
        <pc:sldMkLst>
          <pc:docMk/>
          <pc:sldMk cId="2210137541" sldId="7160"/>
        </pc:sldMkLst>
        <pc:spChg chg="mod">
          <ac:chgData name="Dr. Robert Butscher" userId="61bc653898ddc2e0" providerId="LiveId" clId="{51D723D9-59D9-44A1-A120-82CD4C10D8A5}" dt="2026-08-24T17:22:00.549" v="152"/>
          <ac:spMkLst>
            <pc:docMk/>
            <pc:sldMk cId="2210137541" sldId="7160"/>
            <ac:spMk id="3" creationId="{48EF7503-0FCB-85AD-718F-895CC65B9C19}"/>
          </ac:spMkLst>
        </pc:spChg>
      </pc:sldChg>
      <pc:sldChg chg="addSp modSp add">
        <pc:chgData name="Dr. Robert Butscher" userId="61bc653898ddc2e0" providerId="LiveId" clId="{51D723D9-59D9-44A1-A120-82CD4C10D8A5}" dt="2026-08-24T15:52:29.394" v="13"/>
        <pc:sldMkLst>
          <pc:docMk/>
          <pc:sldMk cId="394028718" sldId="7162"/>
        </pc:sldMkLst>
        <pc:spChg chg="add mod">
          <ac:chgData name="Dr. Robert Butscher" userId="61bc653898ddc2e0" providerId="LiveId" clId="{51D723D9-59D9-44A1-A120-82CD4C10D8A5}" dt="2026-08-24T15:52:29.024" v="12"/>
          <ac:spMkLst>
            <pc:docMk/>
            <pc:sldMk cId="394028718" sldId="7162"/>
            <ac:spMk id="2" creationId="{EDE42489-F181-C2B0-5112-03ED23BC2526}"/>
          </ac:spMkLst>
        </pc:spChg>
        <pc:spChg chg="add mod">
          <ac:chgData name="Dr. Robert Butscher" userId="61bc653898ddc2e0" providerId="LiveId" clId="{51D723D9-59D9-44A1-A120-82CD4C10D8A5}" dt="2026-08-24T15:52:29.024" v="12"/>
          <ac:spMkLst>
            <pc:docMk/>
            <pc:sldMk cId="394028718" sldId="7162"/>
            <ac:spMk id="3" creationId="{A5B3A9C0-EB1C-1392-1D85-689B53A6B492}"/>
          </ac:spMkLst>
        </pc:spChg>
        <pc:spChg chg="add mod">
          <ac:chgData name="Dr. Robert Butscher" userId="61bc653898ddc2e0" providerId="LiveId" clId="{51D723D9-59D9-44A1-A120-82CD4C10D8A5}" dt="2026-08-24T15:52:29.394" v="13"/>
          <ac:spMkLst>
            <pc:docMk/>
            <pc:sldMk cId="394028718" sldId="7162"/>
            <ac:spMk id="4" creationId="{2655FFA2-0457-C707-23FB-404C6094B246}"/>
          </ac:spMkLst>
        </pc:spChg>
      </pc:sldChg>
      <pc:sldChg chg="addSp modSp add">
        <pc:chgData name="Dr. Robert Butscher" userId="61bc653898ddc2e0" providerId="LiveId" clId="{51D723D9-59D9-44A1-A120-82CD4C10D8A5}" dt="2026-08-24T15:53:03.129" v="40"/>
        <pc:sldMkLst>
          <pc:docMk/>
          <pc:sldMk cId="316189942" sldId="7163"/>
        </pc:sldMkLst>
        <pc:spChg chg="mod">
          <ac:chgData name="Dr. Robert Butscher" userId="61bc653898ddc2e0" providerId="LiveId" clId="{51D723D9-59D9-44A1-A120-82CD4C10D8A5}" dt="2026-08-24T15:53:03.129" v="40"/>
          <ac:spMkLst>
            <pc:docMk/>
            <pc:sldMk cId="316189942" sldId="7163"/>
            <ac:spMk id="3" creationId="{D78E21C9-B442-8C9A-6C9C-32381EC78A5F}"/>
          </ac:spMkLst>
        </pc:spChg>
        <pc:spChg chg="mod">
          <ac:chgData name="Dr. Robert Butscher" userId="61bc653898ddc2e0" providerId="LiveId" clId="{51D723D9-59D9-44A1-A120-82CD4C10D8A5}" dt="2026-08-24T15:53:03.129" v="40"/>
          <ac:spMkLst>
            <pc:docMk/>
            <pc:sldMk cId="316189942" sldId="7163"/>
            <ac:spMk id="6" creationId="{ADF5B270-B84C-6AF9-29F4-45679AEDA58F}"/>
          </ac:spMkLst>
        </pc:spChg>
        <pc:spChg chg="mod">
          <ac:chgData name="Dr. Robert Butscher" userId="61bc653898ddc2e0" providerId="LiveId" clId="{51D723D9-59D9-44A1-A120-82CD4C10D8A5}" dt="2026-08-24T15:53:03.129" v="40"/>
          <ac:spMkLst>
            <pc:docMk/>
            <pc:sldMk cId="316189942" sldId="7163"/>
            <ac:spMk id="8" creationId="{75DEB70D-2A0C-62C2-96D8-AF003B8EA6E0}"/>
          </ac:spMkLst>
        </pc:spChg>
        <pc:spChg chg="mod">
          <ac:chgData name="Dr. Robert Butscher" userId="61bc653898ddc2e0" providerId="LiveId" clId="{51D723D9-59D9-44A1-A120-82CD4C10D8A5}" dt="2026-08-24T15:53:03.129" v="40"/>
          <ac:spMkLst>
            <pc:docMk/>
            <pc:sldMk cId="316189942" sldId="7163"/>
            <ac:spMk id="10" creationId="{E13416A4-351A-6F1E-D404-8F563CB5D388}"/>
          </ac:spMkLst>
        </pc:spChg>
        <pc:spChg chg="mod">
          <ac:chgData name="Dr. Robert Butscher" userId="61bc653898ddc2e0" providerId="LiveId" clId="{51D723D9-59D9-44A1-A120-82CD4C10D8A5}" dt="2026-08-24T15:53:03.129" v="40"/>
          <ac:spMkLst>
            <pc:docMk/>
            <pc:sldMk cId="316189942" sldId="7163"/>
            <ac:spMk id="11" creationId="{A8D86233-421A-1DDA-7D34-C5AF79D53680}"/>
          </ac:spMkLst>
        </pc:spChg>
        <pc:spChg chg="mod">
          <ac:chgData name="Dr. Robert Butscher" userId="61bc653898ddc2e0" providerId="LiveId" clId="{51D723D9-59D9-44A1-A120-82CD4C10D8A5}" dt="2026-08-24T15:53:03.129" v="40"/>
          <ac:spMkLst>
            <pc:docMk/>
            <pc:sldMk cId="316189942" sldId="7163"/>
            <ac:spMk id="12" creationId="{1FF51236-A687-B524-4384-67426115B753}"/>
          </ac:spMkLst>
        </pc:spChg>
        <pc:spChg chg="mod">
          <ac:chgData name="Dr. Robert Butscher" userId="61bc653898ddc2e0" providerId="LiveId" clId="{51D723D9-59D9-44A1-A120-82CD4C10D8A5}" dt="2026-08-24T15:53:03.129" v="40"/>
          <ac:spMkLst>
            <pc:docMk/>
            <pc:sldMk cId="316189942" sldId="7163"/>
            <ac:spMk id="13" creationId="{B8385015-DAE2-7BE1-732E-977DB006B908}"/>
          </ac:spMkLst>
        </pc:spChg>
        <pc:spChg chg="mod">
          <ac:chgData name="Dr. Robert Butscher" userId="61bc653898ddc2e0" providerId="LiveId" clId="{51D723D9-59D9-44A1-A120-82CD4C10D8A5}" dt="2026-08-24T15:53:03.129" v="40"/>
          <ac:spMkLst>
            <pc:docMk/>
            <pc:sldMk cId="316189942" sldId="7163"/>
            <ac:spMk id="14" creationId="{F8C3DBCC-DCAD-CF57-71D8-2D1B775859D5}"/>
          </ac:spMkLst>
        </pc:spChg>
        <pc:spChg chg="mod">
          <ac:chgData name="Dr. Robert Butscher" userId="61bc653898ddc2e0" providerId="LiveId" clId="{51D723D9-59D9-44A1-A120-82CD4C10D8A5}" dt="2026-08-24T15:53:03.129" v="40"/>
          <ac:spMkLst>
            <pc:docMk/>
            <pc:sldMk cId="316189942" sldId="7163"/>
            <ac:spMk id="18" creationId="{092F22C2-8AC5-DB20-6034-CBB909923BD5}"/>
          </ac:spMkLst>
        </pc:spChg>
        <pc:spChg chg="mod">
          <ac:chgData name="Dr. Robert Butscher" userId="61bc653898ddc2e0" providerId="LiveId" clId="{51D723D9-59D9-44A1-A120-82CD4C10D8A5}" dt="2026-08-24T15:53:03.129" v="40"/>
          <ac:spMkLst>
            <pc:docMk/>
            <pc:sldMk cId="316189942" sldId="7163"/>
            <ac:spMk id="19" creationId="{CFBAC202-2851-7EC5-9A66-EB8FA172AC39}"/>
          </ac:spMkLst>
        </pc:spChg>
      </pc:sldChg>
      <pc:sldChg chg="modSp">
        <pc:chgData name="Dr. Robert Butscher" userId="61bc653898ddc2e0" providerId="LiveId" clId="{51D723D9-59D9-44A1-A120-82CD4C10D8A5}" dt="2026-08-24T18:47:49.820" v="168"/>
        <pc:sldMkLst>
          <pc:docMk/>
          <pc:sldMk cId="3713486288" sldId="7165"/>
        </pc:sldMkLst>
        <pc:spChg chg="mod">
          <ac:chgData name="Dr. Robert Butscher" userId="61bc653898ddc2e0" providerId="LiveId" clId="{51D723D9-59D9-44A1-A120-82CD4C10D8A5}" dt="2026-08-24T18:47:49.820" v="168"/>
          <ac:spMkLst>
            <pc:docMk/>
            <pc:sldMk cId="3713486288" sldId="7165"/>
            <ac:spMk id="2" creationId="{58C15F9C-FCA5-77F9-20C2-420D8BC0601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latin typeface="Segoe UI"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B2D4D-C61F-4A02-858F-4EE81162AE51}" type="datetimeFigureOut">
              <a:rPr lang="de-DE">
                <a:latin typeface="Segoe UI" pitchFamily="34" charset="0"/>
              </a:rPr>
              <a:pPr/>
              <a:t>25.08.2026</a:t>
            </a:fld>
            <a:endParaRPr lang="de-DE">
              <a:latin typeface="Segoe UI"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latin typeface="Segoe UI"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0E28A04-8011-4DCE-8777-B5018D5B4F32}" type="slidenum">
              <a:rPr lang="de-DE">
                <a:latin typeface="Segoe UI" pitchFamily="34" charset="0"/>
              </a:rPr>
              <a:pPr/>
              <a:t>‹#›</a:t>
            </a:fld>
            <a:endParaRPr lang="de-DE">
              <a:latin typeface="Segoe UI" pitchFamily="34" charset="0"/>
            </a:endParaRPr>
          </a:p>
        </p:txBody>
      </p:sp>
    </p:spTree>
    <p:extLst>
      <p:ext uri="{BB962C8B-B14F-4D97-AF65-F5344CB8AC3E}">
        <p14:creationId xmlns:p14="http://schemas.microsoft.com/office/powerpoint/2010/main" val="2768172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2E1CCC5-01B8-284F-B77B-84D835A7601B}" type="datetimeFigureOut">
              <a:rPr lang="de-DE"/>
              <a:pPr/>
              <a:t>25.08.2026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Segoe UI"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Segoe UI" pitchFamily="34" charset="0"/>
              </a:defRPr>
            </a:lvl1pPr>
          </a:lstStyle>
          <a:p>
            <a:fld id="{C873CC87-18E6-904B-91DF-7AB1BE26DDED}" type="slidenum">
              <a:rPr lang="de-DE"/>
              <a:pPr/>
              <a:t>‹#›</a:t>
            </a:fld>
            <a:endParaRPr lang="de-DE"/>
          </a:p>
        </p:txBody>
      </p:sp>
    </p:spTree>
    <p:extLst>
      <p:ext uri="{BB962C8B-B14F-4D97-AF65-F5344CB8AC3E}">
        <p14:creationId xmlns:p14="http://schemas.microsoft.com/office/powerpoint/2010/main" val="1717939700"/>
      </p:ext>
    </p:extLst>
  </p:cSld>
  <p:clrMap bg1="lt1" tx1="dk1" bg2="lt2" tx2="dk2" accent1="accent1" accent2="accent2" accent3="accent3" accent4="accent4" accent5="accent5" accent6="accent6" hlink="hlink" folHlink="folHlink"/>
  <p:notesStyle>
    <a:lvl1pPr marL="0" algn="l" defTabSz="650230" rtl="0" eaLnBrk="1" latinLnBrk="0" hangingPunct="1">
      <a:defRPr sz="1700" kern="1200">
        <a:solidFill>
          <a:schemeClr val="tx1"/>
        </a:solidFill>
        <a:latin typeface="Segoe UI" pitchFamily="34" charset="0"/>
        <a:ea typeface="+mn-ea"/>
        <a:cs typeface="+mn-cs"/>
      </a:defRPr>
    </a:lvl1pPr>
    <a:lvl2pPr marL="650230" algn="l" defTabSz="650230" rtl="0" eaLnBrk="1" latinLnBrk="0" hangingPunct="1">
      <a:defRPr sz="1700" kern="1200">
        <a:solidFill>
          <a:schemeClr val="tx1"/>
        </a:solidFill>
        <a:latin typeface="Segoe UI" pitchFamily="34" charset="0"/>
        <a:ea typeface="+mn-ea"/>
        <a:cs typeface="+mn-cs"/>
      </a:defRPr>
    </a:lvl2pPr>
    <a:lvl3pPr marL="1300460" algn="l" defTabSz="650230" rtl="0" eaLnBrk="1" latinLnBrk="0" hangingPunct="1">
      <a:defRPr sz="1700" kern="1200">
        <a:solidFill>
          <a:schemeClr val="tx1"/>
        </a:solidFill>
        <a:latin typeface="Segoe UI" pitchFamily="34" charset="0"/>
        <a:ea typeface="+mn-ea"/>
        <a:cs typeface="+mn-cs"/>
      </a:defRPr>
    </a:lvl3pPr>
    <a:lvl4pPr marL="1950690" algn="l" defTabSz="650230" rtl="0" eaLnBrk="1" latinLnBrk="0" hangingPunct="1">
      <a:defRPr sz="1700" kern="1200">
        <a:solidFill>
          <a:schemeClr val="tx1"/>
        </a:solidFill>
        <a:latin typeface="Segoe UI" pitchFamily="34" charset="0"/>
        <a:ea typeface="+mn-ea"/>
        <a:cs typeface="+mn-cs"/>
      </a:defRPr>
    </a:lvl4pPr>
    <a:lvl5pPr marL="2600919" algn="l" defTabSz="650230" rtl="0" eaLnBrk="1" latinLnBrk="0" hangingPunct="1">
      <a:defRPr sz="1700" kern="1200">
        <a:solidFill>
          <a:schemeClr val="tx1"/>
        </a:solidFill>
        <a:latin typeface="Segoe UI" pitchFamily="34" charset="0"/>
        <a:ea typeface="+mn-ea"/>
        <a:cs typeface="+mn-cs"/>
      </a:defRPr>
    </a:lvl5pPr>
    <a:lvl6pPr marL="3251149" algn="l" defTabSz="650230" rtl="0" eaLnBrk="1" latinLnBrk="0" hangingPunct="1">
      <a:defRPr sz="1700" kern="1200">
        <a:solidFill>
          <a:schemeClr val="tx1"/>
        </a:solidFill>
        <a:latin typeface="+mn-lt"/>
        <a:ea typeface="+mn-ea"/>
        <a:cs typeface="+mn-cs"/>
      </a:defRPr>
    </a:lvl6pPr>
    <a:lvl7pPr marL="3901379" algn="l" defTabSz="650230" rtl="0" eaLnBrk="1" latinLnBrk="0" hangingPunct="1">
      <a:defRPr sz="1700" kern="1200">
        <a:solidFill>
          <a:schemeClr val="tx1"/>
        </a:solidFill>
        <a:latin typeface="+mn-lt"/>
        <a:ea typeface="+mn-ea"/>
        <a:cs typeface="+mn-cs"/>
      </a:defRPr>
    </a:lvl7pPr>
    <a:lvl8pPr marL="4551609" algn="l" defTabSz="650230" rtl="0" eaLnBrk="1" latinLnBrk="0" hangingPunct="1">
      <a:defRPr sz="1700" kern="1200">
        <a:solidFill>
          <a:schemeClr val="tx1"/>
        </a:solidFill>
        <a:latin typeface="+mn-lt"/>
        <a:ea typeface="+mn-ea"/>
        <a:cs typeface="+mn-cs"/>
      </a:defRPr>
    </a:lvl8pPr>
    <a:lvl9pPr marL="5201839" algn="l" defTabSz="65023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Sechs Notebooks, sechs Verfahren, ein Vorgehensmodell. Wir laufen einen Fall vollständig durch und sehen an den fünf anderen, was jeweils anders 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Lesen Sie die sechs Fragen laut vor. Sie klingen nach sechs völlig verschiedenen Aufgaben — und das sind sie auch. Genau deshalb ist es bemerkenswert, dass der Weg zur Antwort in allen sechs derselbe ist. Dieser Weg heißt CRISP-DM.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Weisen Sie auf die Leiste am Fuß der Folien hin: Sie zeigt jederzeit, in welcher Phase wir gerade sind. Wo ein Feld sandfarben mit rotem Rand erscheint, ist an dieser Stelle zurückgesprungen worden.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bauen in diesem Kapitel die Landkarte. Sie ist bewusst knapp gehalten — sechs Phasen, was jede beantwortet, wo die Rücksprünge sitzen. Konkret wird das erst im nächsten Kapitel am ersten Fall. Wer die Karte jetzt abstrakt findet, hat recht: Sie IST abstrakt, bis der erste Fall sie füllt. Deshalb steht sie hier nur zwölf Folien lang.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Fragen Sie hier in den Raum: Wer hat schon einmal eine Auswertung gemacht und dabei das Erfolgskriterium erst festgelegt, als das Ergebnis schon auf dem Tisch lag? Fast alle haben. Das ist keine Nachlässigkeit, sondern die natürliche Reihenfolge — und genau deshalb braucht es ein Modell, das dagegen hält.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Kette liest sich von links nach rechts, aber sie ist ein KREIS. Das Wort Kreislauf steht nicht zufällig im Namen. Auf der übernächsten Folie sehen wir, wo in unseren sechs Fällen tatsächlich zurückgesprungen wurde — in vier von sechs.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die Phase, die am häufigsten übersprungen wird — und die einzige, die man nicht nachholen kann. Ein Erfolgskriterium, das nach dem Ergebnis festgelegt wird, ist keins.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wird nicht modelliert, hier wird GESEHEN. Wer diese Phase abkürzt, modelliert später Artefakte. In Notebook 6 kostet genau das eine ganze Runde.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teuerste Phase, und die mit der gefährlichsten Falle: Merkmale, die es zum Vorhersagezeitpunkt gar nicht gibt. Dazu gleich mehr.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kürzeste Phase. Sie wirkt in jedem Lehrbuch wie die Hauptsache und ist in der Praxis der kleinste Teil.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entscheidet sich, ob das Projekt weitergeht. Und hier zeigt sich, ob die Kriterien aus Phase 1 etwas taugten.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Phase, die in Lehrbeispielen fast immer fehlt. Ein Modell, das niemand aufruft, hat keinen Wert — und eines, das niemand überwacht, ist eine tickende Uhr.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ist das Herz des Kapitels. Studierende lesen CRISP-DM als Abarbeitungsliste und empfinden einen Rücksprung als Fehler. In Wahrheit ist der Rücksprung der Beleg dafür, dass jemand hingesehen hat. In Notebook 6 kann man ihn Zelle für Zelle mitlesen.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zweite Fehler steht auf der nächsten Folie: das Verfahren wählen, bevor die Frage steht. Beide Fehler haben dieselbe Wurzel — man fängt bei dem an, was Spaß macht, statt bei dem, was entschieden werden soll.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Tabelle ist der Fahrplan für den Rest des Decks. Sie taucht in der Synthese am Ende noch einmal auf, dann ausgefüllt mit dem, was wir unterwegs gesehen haben.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Fälle zeigen auf Phase 5 — Fall 1 und Fall 5 —, aber aus verschiedenen Richtungen: der eine, weil die gemittelte Kennzahl täuscht, der andere, weil vorab gesetzte Hürden radikal sieben. Das ist kein Zufall: Phase 5 ist die Phase, in der sich entscheidet, ob die Arbeit der Phasen 1 bis 4 etwas taugte.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Dieses Kapitel ist das Rückgrat des Decks. Es läuft alle sechs Phasen vollständig durch, mit den echten Zahlen aus Notebook 1. Die Regression ist bewusst gewählt: Sie ist das vertrauteste Verfahren, deshalb bleibt die Aufmerksamkeit beim VORGEHEN statt beim Verfahren. Alle folgenden Fälle setzen dieses Kapitel voraus. Bitten Sie die Studierenden, das Notebook parallel offen zu haben — jede Folie nennt in der Fußzeile ihren Abschnitt.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ist der Einstieg in den ganzen Fall, und sie ist unbequem: Der Einwand kommt nicht aus der Statistik, sondern aus dem Produkt. Ein Modell, das eine Zahl liefert, die der Nutzer selbst besser kennt, ist technisch einwandfrei und trotzdem nutzlos. Lassen Sie die Studierenden zuerst selbst überlegen, was man dagegen tun kann — die meisten schlagen ein besseres Verfahren vor. Die Antwort auf der nächsten Folie ist eine andere.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der Satz, den die Studierenden aus Notebook 1 mitnehmen sollen. Leakage wird meistens als Liste verbotener Spaltennamen gelehrt. Hier sieht man, dass dieselbe Spalte je nach Prozess verboten oder erlaubt ist. Wer nur die Liste gelernt hat, hätte die Zielstation weiterhin gesperrt — und damit das bessere Produkt verhindert.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ist der Grund, warum das Notebook glaubwürdig ist. Es wäre leicht gewesen, den Unterschied zwischen geplantem und tatsächlichem Ziel zu übergehen — niemand hätte es gemerkt. Fragen Sie die Studierenden, welche Zahl auf den folgenden Folien dadurch kleiner würde. Antwort: alle.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letzte Zeile ist der ungewöhnliche Teil. In den meisten Lehrbeispielen kommt der Rücksprung, weil etwas schiefgeht. Hier kommt er, obwohl das Kriterium hält. Warum, sehen wir in Phase 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Sprung vom Preis zur Dauer ist die eigentliche Modellierungsentscheidung dieser Phase, und sie fällt hier, nicht in Phase 4. Wer den Preis direkt schätzt, schätzt zwei Dinge auf einmal: die Dauer und die Tariflogik. Die zweite kennt er aber genau.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Geltungsbereich entscheidet mit darüber, wie gut ein Modell aussieht. Wer ihn eng zieht, bekommt bessere Zahlen für ein kleineres Produkt. Deshalb gehört er in Phase 1 und nicht in die Datenaufbereitung — sonst gerät er zur nachträglichen Ausrede.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Zeigen Sie auf die Spalte preis_pro_minute_eur: 0,10 gegen 0,25 gegen 0,50 Euro. Dieselbe 50-Cent-Grenze bedeutet damit für das City-Rad fünf Minuten Spielraum und für das Lastenrad eine einzige. Diese Spreizung entscheidet in Phase 5 über das Urteil — und sie steht schon hier, in Phase 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steht bewusst vor allen Kennzahlen. Studierende beginnen Phase 2 meistens mit einer Verteilung der Zielgröße. Sinnvoller ist die Frage, ob jede Zeile überhaupt den Sachverhalt beschreibt, um den es geht — hier tut das jede fünfte Zeile nicht.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 20 Prozent der Fahrten enden frei im Geschäftsgebiet und haben deshalb kein Ziel. Das sieht aus wie ein Datenqualitätsproblem und ist in Wahrheit ein beworbenes Produktmerkmal. Wer es wegbereinigt, verliert ein Fünftel der Daten für nichts — wer es als Fehler meldet, blamiert sich vor dem Fachbereich.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16,5 Prozent klingt nach einer Randgruppe. Es sind aber genau die Fahrten, bei denen das neue Verfahren nichts gewinnt — der Kunde wählt als Ziel den Start und bekommt trotzdem keine belastbare Auskunft. Die App sagt das später offen.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lohnt eine Vorwarnung an die Studierenden: Das ganze Notebook ist um die Zielinformation herum gebaut, und schon in Phase 2 zeigt sich, dass sie wenig beiträgt. Ein Projekt, das diese Zahl verschweigt, verkauft seinen eigenen Umbau schöner, als er ist.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Grün, was beim Antippen von „Preis schätzen“ bekannt ist. Rot, was erst beim Abstellen entsteht. Die Zielstation steht auf der grünen Seite — im alten Entwurf stand sie auf der roten. Nichts an den Daten hat sich geändert, nur der Prozess. Der sandfarbene Kasten rechts hält den Vorbehalt fest, damit das Bild nicht mehr verspricht, als das Notebook belegen kann.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Lassen Sie die Studierenden die letzte Zeile lesen. end_station_id ist erlaubt, weil der Kunde sie gewählt hat — mit dem Vorbehalt aus dem Kasten. Auch temp_mittel_c ist gesperrt: Das Tagesmittel der Temperatur kennt man erst am Abend. Wer Wetter verwenden will, braucht archivierte Prognosen, keine Messwerte.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übliche Fehler ist ein zweigeteilter Datensatz. Dann prüft man nach dem Rücksprung auf demselben Testzeitraum, auf dem man schon einmal geprüft hat — und weiß nicht mehr, ob das Ergebnis hält oder ob man sich an den Testdaten entlanggehangelt hat. Vier Abschnitte kosten nichts außer Vorausdenken.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Punkt 2 der Ausgabe ist der wichtigere: Test 2 trägt in Phase 6 die Auswahl des Artefakts UND die Freigabe. Damit ist er eine Kalibrierung, keine unabhängige Endprüfung mehr. Das steht so im Notebook — und es ist die Sorte Satz, die man in Projektberichten selten liest.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Vergleich B gegen C ist lehrreich: Der Radtyp — also die Eigenschaft, an der das Preisblatt hängt — sagt über die Dauer fast nichts. Die Startstation sagt viel. Studierende erwarten das umgekehrt, weil E-Bikes schneller sind. Sie sind schneller, aber die Leute fahren mit ihnen weiter.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Fragen Sie an dieser Stelle: Rechtfertigen 0,27 Minuten einen Umbau der App? Die ehrliche Antwort ist, dass die Zahl allein es nicht tut. Was sie rechtfertigt, ist das ANDERE Produkt, das dadurch möglich wird — eine Auskunft zum gewählten Ziel statt einer Zahl, die der Kunde ohnehin besser kennt.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Pipeline ist keine Stilfrage. Wer den Kodierer getrennt vom Modell speichert, hat zwei Dateien, die zusammenpassen müssen — und irgendwann tun sie es nicht mehr. handle_unknown='ignore' ist die zweite Vorsorge: Eine Station, die es beim Training noch nicht gab, führt zu einer Vorhersage aus lauter Nullen statt zu einem Absturz. Ob diese Vorhersage etwas taugt, ist eine andere Frage — in Phase 6 wird sie deshalb gar nicht erst angeboten.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Vergleich in der dritten Spalte ist der ehrliche: nicht gegen das Nullmodell, sondern gegen die beste Baseline. Gegen das Nullmodell wären es 51 Prozent — eine Zahl, die gut klingt und nichts bedeutet, weil niemand das Nullmodell ausliefern würde.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Ablation ist die billigste Selbstkontrolle, die es gibt: einmal ohne das Merkmal rechnen, an dem das Projekt hängt. Wer sie weglässt, kann nicht ausschließen, dass sein Umbau nichts bringt. Hier bringt er etwas — nur weniger, als die Erzählung nahelegt.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Spalte ganz rechts ist die eigentliche Nachricht dieser Folie: Bei CITY liegt die Anzeige in 74 Prozent der Fälle innerhalb der Toleranz — also bei rund jeder vierten Fahrt außerhalb. Der Mittelwert von 0,41 Euro sagt darüber nichts. Merken Sie sich diese 26 Prozent; sie sind gleich der Grund für den Rücksprung.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Tabelle ist der Kern von Phase 5. Das Modell ist für alle drei Radtypen gleich gut; das fachliche Urteil fällt trotzdem verschieden aus. Wer nur MAE und R² berichtet, sieht das nie.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schützt vor einer bequemen Fehldiagnose. Man könnte aus der vorigen Tabelle schließen, das Modell tauge für teure Räder nicht — und dann Monate mit besseren Verfahren verbringen. Es liegt aber nicht am Modell, sondern daran, dass 50 Cent von 1,67 Euro etwas anderes sind als 50 Cent von 11,97 Euro.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beiden schlechteren Fenster sind Sommer. Das Modell wird im Sommer schlechter, weil dann mehr aus Vergnügen gefahren wird. Diese Beobachtung erklärt später, warum die Tabelle quartalsweise neu gerechnet werden muss — und sie ist ein Beispiel dafür, dass eine einzelne Testzahl eine Jahreszeit sein kann.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zweiter Befund derselben Zelle: Rundtouren haben 6,05 Minuten MAE gegen 3,49 bei echten Wegen. Beides sagt dasselbe — was eine Fahrt lang macht, ist der Zweck, und der steht in keiner Spalte. Ob überhaupt kein Merkmal das könnte, wissen wir nicht: Nutzerabsicht, Höhenprofil und Stationsauslastung sind ungeprüfte Kandidaten.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der ungewöhnlichste Moment des Falls. Der Rücksprung kommt nicht aus einem Fehlschlag, sondern aus zwei Beobachtungen, die das Erfolgskriterium selbst nicht abbildet. Genau deshalb reicht es nicht, Kriterien abzuhaken — man muss sie auch daraufhin ansehen, was sie NICHT messen.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Beide Zeilen zusammen sind ein gutes Beispiel dafür, wie ein Kriterium aussehen muss: Eine Bedingung allein lässt sich immer erfüllen, indem man die andere verletzt. Erst das Paar beschreibt ein Produkt.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Zeile „verworfen, weil zu breit“ ist die interessanteste: Über die Hälfte der Spannen des Modells wäre für den Kunden wertlos. Was das Modell gut macht, ist gerade das Weglassen — es antwortet nur dort, wo es eine schmale Spanne bilden kann.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Weisen Sie darauf hin, dass die Bewertung nur zählt, was die App tatsächlich ANZEIGEN würde. Eine Spanne über einem Euro wird nicht angezeigt, also darf sie auch nicht in die Abdeckung eingehen. Über den Median gerechnet hätte ein Kandidat mit wenigen sehr breiten Spannen deutlich besser ausgesehen, als er ist.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dritte Weg wäre, die Vorhersagen des Modells für jede Kombination vorab auszurechnen und zu tabellieren: bessere Treffsicherheit, gleiche Betriebsform. Der Preis wäre, dass die Zeilen nicht mehr für sich sprechen — eine Modellvorhersage kann man nicht nachrechnen, indem man in die Historie sieht. Diese Abwägung gehört dem Auftraggeber, nicht der Analyse.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Gehen Sie den Weg einmal von rechts nach links: Jede Zeile, die es in das grüne Feld geschafft hat, hat drei Prüfungen bestanden. Und jede Zeile, die im roten Feld gelandet ist, führt in der App nicht zu einer schlechteren Anzeige, sondern zu gar keiner. Das ist der Unterschied zwischen einem Produkt mit Geltungsbereich und einem, das auf jede Frage irgendetwas antwortet.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zweite Punkt der Sandkarte ist eine ehrliche Einschränkung, die man leicht übergeht: Die 80 Prozent sind insgesamt und je Radtyp geprüft, nicht je Verbindung. Ausgeschlossen wird nur, was messbar durchfällt — nicht alles, was ungeprüft ist. Das steht so auch in der Liste der offenen Punkte am Ende des Notebooks.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Achten Sie auf die letzte Spalte: fahrten_grundlage. Jede Zeile sagt, auf wie vielen vergleichbaren Fahrten sie beruht. Damit kann jeder im Betrieb nachsehen, wie belastbar eine einzelne Auskunft ist — bei 192 Fahrten anders als bei 42. Genau das kann eine Modellvorhersage nicht.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 Prozent klingen nach einem mageren Ergebnis, und in einer Projektpräsentation würde diese Zahl gern fehlen. Sie ist aber die einzige, die beschreibt, was der Kunde erlebt. Fragen Sie die Studierenden, welche Zahl sie stattdessen berichtet hätten — die meisten nennen die 84,5 Prozent Abdeckung, und die gilt nur für die Fahrten, bei denen überhaupt etwas angezeigt wird.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dritte Antwort deckt zwei sehr verschiedene Fälle ab: eine bekannte Verbindung ohne genügend Fahrten und eine Station, die es gar nicht gibt. Beide führen zur selben Auskunft, und das ist richtig so — der Kunde soll nicht erfahren, wie die Tabelle gebaut ist, sondern nur, ob er eine Zahl bekommt.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Zelle ist die Brücke zwischen Notebook und Produkt. Die Tabelle wird nach velocity.preisschaetzung geladen, die Website liest sie über eine Sicht und zeigt beim Radtyp einen kleinen Preisschätzer an — ein- und ausschaltbar über eine Option im Kundenkonto. Damit ist Phase 6 hier keine Übung, sondern eine ausgelieferte Funktion.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Maßgeblich ist das Wilson-Intervall zum Niveau 95 Prozent, nicht der Schätzwert. Damit entscheidet nicht eine gesetzte Ersatzschwelle, sondern die Frage, ob die Daten überhaupt für eine Aussage reichen. Wer schneller abschalten will, braucht mehr Fahrten je Fenster — keine andere Zahl. Die letzte Zeile ist die feinste: Die Tabelle enthält Euro, nicht nur Minuten. Eine Tarifänderung macht sie in einer Nacht falsch.</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schließt sich der Kreis zur dritten Folie dieses Kapitels. Die Annahme wurde am Anfang benannt, hat das ganze Notebook getragen — und am Ende steht, wie man sie prüfen würde und dass es noch nicht geschehen ist. Das ist der Unterschied zwischen einer offenen Frage und einer verschwiegenen.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Tabelle steht wörtlich am Ende von Notebook 1. Die Studierenden finden sie dort wieder — Folie und Notebook sollen dieselbe Sprache sprechen, damit die Nacharbeit nicht bei null anfängt.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Gehen Sie diese Liste langsam durch. Sie ist der beste Teil des Notebooks: Jeder Punkt ist eine Einschränkung, die niemand bemerkt hätte. Ein Bericht, der so etwas aufschreibt, ist mehr wert als einer mit besseren Zahlen — weil man auf ihm aufbauen kann.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Dieser Fall zeigt Phase 6 von innen. Das Modell gewinnt hier — aber erst der Vergleich mit der Faustregel des Werkstattmeisters macht seinen Beitrag benennbar. Ohne diesen Maßstab stünde im Notebook eine Trefferquote, und niemand könnte sagen, ob sie gut ist. Der Fall ist damit das Gegenstück zu Fall 1, wo eine schlichte Tabelle das Rennen macht.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Kostenmatrix in Zeile 4 ist der Unterschied zu Fall 1. Dort waren beide Fehlerrichtungen gleich ärgerlich; hier kostet die eine das Siebenfache der anderen. Das gehört ins Modell, nicht in die Nachbetrachtung.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Fragen Sie, woher solche Zahlen kommen. Antwort: aus dem Betrieb, nicht aus den Daten. Ein Datenprojekt, das sie nicht erfragt, erfindet sie implizit — meist als 1 : 1, und das ist fast immer falsch.</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letzte Zeile ist die wichtigste. Ein Nullmodell zu schlagen ist leicht. Den Menschen zu schlagen, der die Arbeit heute macht, ist die eigentliche Messlatte — und die fehlt in fast allen Lehrbeispielen.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Satz „44 Prozent melden sich, die Werkstatt schafft 26“ ist der Grund, warum es überhaupt eine Rangfolge braucht. Es geht nicht darum, alle Defekte zu finden, sondern die richtigen 60 Räder auszuwählen.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Zeilenzahlen stehen mit Absicht in der Ausgabe. Wer sie nicht ausgibt, merkt nicht, wenn ein Stichtag leer bleibt oder ein Filter mehr wegnimmt als gedacht.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beiden Regeln kosten zusammen zwei Zeilen und zehn Minuten. Wer sie nicht rechnet, kann am Ende nicht sagen, ob das Modell etwas beigetragen hat — er kann nur sagen, dass es funktioniert.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Beachten Sie die zweite Zeile: Die Faustregel des Werkstattmeisters ist mit Abstand die beste der drei Regeln und lässt die anderen weit hinter sich. Der Wald schlägt sie trotzdem — in Treffern wie in Kosten. In der Bedeutungsgrafik steht km_seit_meldung ganz vorn: Der Wald hat die Regel des Meisters gefunden und ist dann noch ein Stück weiter gegangen. Das ist der Normalfall eines gelungenen Modells.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Notebook prüft hier gegen die Kriterien, die in Phase 1 festgelegt wurden, und nicht gegen das, was sich gerade anbietet. Der Unterschied ist klein: 71,7 gegen 63,3 Prozent, gut tausend Euro im Quartal. Klein genug, dass man ihn ohne den vorher gebauten Maßstab gar nicht bemerkt hätte.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Modell muss seinen Unterhalt verdienen. Hier verdient es ihn. Fiele die Trefferquote gleich aus, wäre die Regel die bessere Lösung, und der Bericht müsste das so schreiben, statt das Modell auszuliefern, weil man es nun einmal gebaut hat. Genau dieser Fall tritt in Notebook 1 ein — dort gewinnt die Tabelle.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mittlere Punkt wird in Projekten regelmäßig vergessen. Man baut eine Überwachung auf Kennzahlen des Modells — Trefferquote, Kalibrierung — und merkt nicht, dass sich die Welt geändert hat, weil alle Kennzahlen mitwandern. Eine unveränderliche Faustregel als Referenzlinie kostet nichts und meldet genau das.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Modell sabotiert sich selbst, wenn es erfolgreich ist. Der Ausweg ist eine Kontrollgruppe: ein Teil der Flotte wird bewusst nicht nach Liste gewartet, damit man weiter lernt, was ohne Eingriff passiert wäre. Das kostet Geld und ist trotzdem richtig.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Modell muss seinen Unterhalt verdienen. Dieser Satz ist die Quintessenz des Falls — und er gilt weit über die Wartung hinaus.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erste Fall ohne Label. Niemand sagt dem Verfahren, was richtig ist. Genau deshalb zeigt dieser Fall Phase 1 von innen: Die Erfolgskriterien müssen völlig anders gebaut werden — und sie sind trotzdem prüfbar.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Zeile 4 ist der Kern dieses Kapitels. Vier Kriterien, keines davon eine Kennzahl aus der Statistik. Sie sind trotzdem prüfbar — und sie stehen vor der Analyse fest, genau wie in Fall 1.</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Fragen Sie: Welches dieser vier Kriterien ist statistisch? Keines. Und trotzdem kann man an jedem scheitern. Das ist der Beweis, dass Erfolgskriterien aus dem Fach kommen und nicht aus dem Verfahren.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Standardisieren ist bei k-Means nicht optional. Das Verfahren misst Abstände; eine Spalte in Euro und eine in Stückzahl haben völlig verschiedene Größenordnungen. Ohne Standardisierung entscheidet allein die Spalte mit den größten Zahlen.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der Unterschied zu den überwachten Verfahren: Dort sagt eine Kennzahl, welches Modell besser ist. Hier sagt keine Kennzahl, welches k richtig ist. Die Fachlichkeit entscheidet — und deshalb standen die Kriterien vorher fest.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Zeigen Sie auf die Spalte Silhouette: Der Unterschied zwischen k=3 und k=4 ist klein. Wer allein danach ginge, könnte würfeln. Erst die Frage, ob die Disposition den Gruppen einen Namen geben kann, entscheidet.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passiert das, wovon CRISP-DM lebt: Die Analyse bringt eine Frage hervor, die vorher niemand gestellt hatte. Nicht „welche Segmente gibt es?“, sondern „sind die Freiminuten dort richtig eingesetzt, wo sie liegen?“ Betonen Sie: Es gibt bei VeloCity keine Grundgebühr — das ist Teil des Produktversprechens, nicht ein Versäumnis.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handwerklich vorbildlich und gehört betont: Eine Rechnung, die auf einer Annahme beruht, kennzeichnet sich selbst — im Code, nicht nur im Fließtext daneben. Wer nur die Ausgabe kopiert, kopiert die Warnung mit.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Datenschutzvorbehalt gehört auf die Folie und nicht in eine Fußnote. Studierende bauen später Segmentierungen in Unternehmen — und die Frage nach der Rechtsgrundlage kommt dort garantiert.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100 Prozent in Zeile 5 sind eine Besonderheit dieses Lehrdatensatzes: Die Stationstypen sind beim Erzeugen bewusst eingebaut worden, deshalb gibt es eine verdeckte Wahrheit zum Gegenprüfen. In echten Daten hat man die nicht — dort bleiben nur die vier Kriterien aus Phase 1.</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Dieser Fall zeigt Phase 3 von innen. Zwei Dinge gehen hier anders als in allen bisherigen Fällen: Die Aufteilung muss der Zeit folgen, und eine Störgröße macht einen Effekt vor, den es so nicht gibt.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Zeile 4 ist ungewöhnlich und wichtig: ein Erfolgskriterium, das nichts mit Genauigkeit zu tun hat. Ein Modell, das um 20 Uhr fertig wird, hat die Aufgabe verfehlt, auch wenn es perfekt trifft.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Prüfstein: Vergleichen Sie Ferien- und Nichtferientage BEI gleicher Temperatur. Dann schrumpft der Effekt zusammen. Genau diese Kontrolle unterscheidet eine Datenanalyse von einer Korrelationsjagd.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die schärfste Zelle des Notebooks. Die rohe Zahl legt nahe, Ferien wirkten schwach dämpfend. Kontrolliert man die Temperatur, ist der Effekt deutlich stärker — er war vorher vom Sommer überdeckt. Lassen Sie die beiden Faktoren nebeneinander stehen.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Fehler ist deshalb so gefährlich, weil er sich nicht durch eine schlechte Kennzahl verrät — im Gegenteil, die Kennzahl wird besser. Auffallen würde er erst im Betrieb, Wochen später.</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Faustregel lautet sinngemäß: so viele wie am gleichen Wochentag der Vorwoche. Das ist erstaunlich stark und schlägt das Nullmodell deutlich. Wer sie nicht mitrechnet, hält sein Modell für besser, als es ist.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für viele die überraschendste Folie des ganzen Decks. Ein absichtlich schlechteres Modell ist das bessere Werkzeug. Der Grund steht in Phase 1: die ungleichen Fehlerkosten. Wer Phase 1 übersprungen hat, kann diese Entscheidung gar nicht treffen.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Ohne diese Rechnung wäre der Aufschlag reine Bauchentscheidung. Mit ihr ist er eine belegte Optimierung — und genau das ist der Unterschied zwischen Erfahrung und Willkür.</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Versuchung, den schönen Wert zu berichten, ist groß — er ist ja korrekt gerechnet. Er beantwortet nur nicht die Frage, die im Betrieb gestellt wird. Dasselbe Muster wie der Schattenbetrieb in Fall 1.</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Zeile sagt es selbst: „unrealistisch“ und „realistisch“. Wer in einem Bericht nur die erste Zahl zeigt, hat nicht gelogen und trotzdem getäuscht. Das Notebook nimmt einem die Entscheidung ab, indem es beide nebeneinander stellt.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Merksatz für diesen Fall: Bei allem, was mit Zeit zu tun hat, ist die Aufteilung die erste Frage — nicht das Verfahren.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Dieser Fall zeigt Phase 5 von innen. Er ist der beste Beleg dafür, wozu vorab festgelegte Kriterien gut sind: Von 32 gefundenen Regeln übersteht keine einzige beide Hürden — und die stärkste verfehlt sie um ein Hundertstel Prozentpunkt. Genau das ist der Moment, in dem die Versuchung am größten ist, das Kriterium nachträglich zu senken.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drei Kennzahlen sind mit Absicht von Hand gerechnet und nicht aus einer Bibliothek geholt. Wer die drei Divisionen einmal selbst gemacht hat, verwechselt Konfidenz und Lift nie wieder.</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klassische Handelsbeispiel: Brot und Milch haben hohen Support und hohe Konfidenz — aber Lift um 1,0. Sie werden zusammen gekauft, weil beide oft gekauft werden, nicht weil sie zusammengehören.</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dritte Erfolgskriterium aus Phase 1 tut hier genau seine Arbeit. Ohne es wäre die stärkste Regel des Datensatzes das Hauptergebnis gewesen — und der Bericht wertlos.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Vorbehalt rechts ist wichtig: Eine Entscheidung, die gesetzt und nicht geprüft wurde, gehört benannt. Sonst liest sie sich später wie ein Befund.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 diese drei Divisionen einmal selbst gesehen hat, verwechselt Konfidenz und Lift nicht mehr. Deshalb steht die Rechnung im Notebook ausgeschrieben und nicht als Bibliotheksaufruf.</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Warum schließen sie einander fast aus? Ein sehr spezifisches Muster ist selten (niedriger Support), ein sehr häufiges ist unspezifisch (niedriger Lift). Wer nur eine der beiden Hürden setzt, findet entweder Belangloses oder Zufälliges. Hier kommt beides zusammen — und das Ergebnis ist eine leere Liste.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 ist die vielleicht wichtigste Folie des ganzen Decks. Der Fall ist so knapp, dass jede Ausrede greifbar wäre — und genau daran zeigt sich, ob ein Erfolgskriterium ernst gemeint war. Fragen Sie die Studierenden ehrlich, was sie täten. Die meisten würden senken. Genau deshalb steht diese Folie hier.</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Ausgabe ist der beste Beleg des ganzen Decks dafür, wozu vorab gesetzte Kriterien gut sind. Beachten Sie die letzten Zeilen: Das Notebook rechnet aus, wie weit die beste Regel danebenliegt, statt das Scheitern nur zu behaupten. Wer den Abstand kennt, kann in Phase 1 begründet darüber reden — wer ihn nicht kennt, senkt die Hürde aus dem Bauch heraus.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Hinweis rechts unten ist kein Beiwerk. Aus Start-Ziel-Paaren mit Zeitstempel lassen sich Bewegungsprofile bilden. Wer damit arbeitet, braucht eine Rechtsgrundlage.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Merksatz: Die auffälligste Regel ist meistens die uninteressanteste. Erst die vorab gesetzten Hürden trennen Fund von Rauschen.</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einzige Fall, in dem der Rücksprung nicht am Ende steht, sondern mitten im Notebook Zelle für Zelle mitzulesen ist. Und der einzige, der mit einem ausdrücklich negativen Ergebnis endet.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5 Prozent in Zeile 3 überraschen. Sie kommen aus einer Kosten-Nutzen-Rechnung: Ein gefundener Vorgang spart mehr, als neun Fehlalarme an Prüfzeit kosten. Erfolgskriterien sind nicht immer anspruchsvoll — sie müssen begründet sein.</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Dazu kommt: Die Distanz fehlt bei 42 Prozent der Fahrten — derselbe Befund wie in Fall 1. Ein Merkmal, das bei zwei von fünf Fahrten fehlt und ansonsten nur Bekanntes wiederholt, ist keine gute Wahl.</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die wichtigste Folie dieses Kapitels. Jede Kennzahl hätte hier grün gemeldet — das Verfahren hat sauber gearbeitet und stabile Ausreißer gefunden. Nur der Blick auf die Fälle zeigt, dass es die Preisklasse war.</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Keine Kennzahl hätte das gemeldet. Der Isolation Forest hat sauber gearbeitet und stabile Ausreißer gefunden. Erst die Tabelle zeigt, dass es die falschen sind. Das ist die Begründung für die Regel: Sehen Sie sich immer die Extremfälle an.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Von 2 auf 36 Prozent durch eine Normierung — von einem Treffer unter fünfzig auf achtzehn. Studierende sollen mitnehmen: Der größte Hebel lag nicht im Verfahren, sondern in der Datenaufbereitung, wie so oft. Und beachten Sie den Maßstab: 20 Prozent sind das Erfolgskriterium, nicht die Rentabilitätsschwelle. Rechnen würde sich die Liste schon ab 5 Prozent — aber eine Liste, bei der neunzehn von zwanzig Einträgen unnötig sind, öffnet nach zwei Wochen niemand mehr.</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Vergleichen Sie mit der Folie davor. Dieselbe Auswertung, dieselben Daten, ein normiertes Merkmal — und ein völlig anderes Bild. Der Hebel lag in Phase 3, nicht im Verfahren.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Satz, der bleiben soll: Kein Verfahren kann Information erzeugen, die in den Daten nicht steckt. Ein negatives Ergebnis, sauber begründet, ist ein vollwertiges Projektergebnis — es verhindert, dass jemand anderes dieselbe Sackgasse noch einmal ausprobiert.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negatives Ergebnis, das ausgerechnet und dokumentiert ist, hat einen echten Wert: Es verhindert, dass jemand anderes dieselbe Sackgasse noch einmal ausprobiert.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dritte Punkt ist der Gegensatz zu Fall 2: Dort zerstörte die Nutzung die Lerngrundlage, hier schafft sie eine. Es lohnt sich, bei jedem Projekt zu fragen, in welche Richtung die Rückkopplung läuft.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Sätze aus diesem Notebook gehören an die Tafel: „Sehen Sie sich immer die Extremfälle an, die ein Modell meldet.“ Und: „Kein Verfahren kann Information erzeugen, die in den Daten nicht steckt.“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Abschluss legen wir die sechs Fälle zurück auf die Karte aus Kapitel 1. Jetzt ist sie nicht mehr abstrakt.</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Gehen Sie die sechs Zeilen einzeln durch und lassen Sie die Studierenden sagen, an welcher Stelle im jeweiligen Notebook das stand. Wer das kann, hat den Kreislauf verstanden.</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fünf Punkte sind das eigentliche Lernziel des Blocks. Die Verfahren kann man nachschlagen; diese Reihenfolge muss man sich angewöhnen.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Wenn die Studierenden aus diesem Block eine Sache mitnehmen: Der spannende Teil ist nicht der, den man erwartet. Wer Data Science lernt, um Modelle zu bauen, verbringt 70 Prozent seiner Zeit mit etwas anderem.</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Empfehlen Sie, die Vorführfassung zu lesen und die Übungsfassung zu rechnen. Beide tragen dieselbe Phasenstruktur, sodass man beim Steckenbleiben in der einen die Antwort in der anderen findet.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acht Sätze fassen die sechs Fälle zusammen. Keiner davon ist verfahrensspezifisch — sie gelten für die Regression genauso wie für die Anomalieerkennung. Das ist der Sinn eines Vorgehensmodells.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letzte Punkt ist der wichtigste für die Berufspraxis. Ein Modell, das Zusammenhänge findet, wird im Unternehmen regelmäßig als Beleg für Ursachen gelesen. Fall 4 ist das beste Gegenbeispiel, das dieses Deck zu bieten hat.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slideMaster" Target="../slideMasters/slideMaster1.xml"/><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slideMaster" Target="../slideMasters/slideMaster1.xml"/><Relationship Id="rId5"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6.emf"/><Relationship Id="rId5"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page_Digital">
    <p:bg>
      <p:bgRef idx="1001">
        <a:schemeClr val="bg1"/>
      </p:bgRef>
    </p:bg>
    <p:spTree>
      <p:nvGrpSpPr>
        <p:cNvPr id="1" name=""/>
        <p:cNvGrpSpPr/>
        <p:nvPr/>
      </p:nvGrpSpPr>
      <p:grpSpPr>
        <a:xfrm>
          <a:off x="0" y="0"/>
          <a:ext cx="0" cy="0"/>
          <a:chOff x="0" y="0"/>
          <a:chExt cx="0" cy="0"/>
        </a:xfrm>
      </p:grpSpPr>
      <p:sp>
        <p:nvSpPr>
          <p:cNvPr id="18" name="Textfeld 17">
            <a:extLst>
              <a:ext uri="{FF2B5EF4-FFF2-40B4-BE49-F238E27FC236}">
                <a16:creationId xmlns:a16="http://schemas.microsoft.com/office/drawing/2014/main" id="{82F72504-C6A4-4470-ADDB-7433834FA233}"/>
              </a:ext>
            </a:extLst>
          </p:cNvPr>
          <p:cNvSpPr txBox="1"/>
          <p:nvPr userDrawn="1"/>
        </p:nvSpPr>
        <p:spPr>
          <a:xfrm>
            <a:off x="3717925" y="3828733"/>
            <a:ext cx="184731" cy="461665"/>
          </a:xfrm>
          <a:prstGeom prst="rect">
            <a:avLst/>
          </a:prstGeom>
          <a:noFill/>
        </p:spPr>
        <p:txBody>
          <a:bodyPr wrap="none" rtlCol="0">
            <a:spAutoFit/>
          </a:bodyPr>
          <a:lstStyle/>
          <a:p>
            <a:endParaRPr lang="de-DE" sz="2400"/>
          </a:p>
        </p:txBody>
      </p:sp>
      <p:sp>
        <p:nvSpPr>
          <p:cNvPr id="2" name="Rechteck 1">
            <a:extLst>
              <a:ext uri="{FF2B5EF4-FFF2-40B4-BE49-F238E27FC236}">
                <a16:creationId xmlns:a16="http://schemas.microsoft.com/office/drawing/2014/main" id="{DE34105A-6F50-468D-8CF7-9D52E49981CC}"/>
              </a:ext>
            </a:extLst>
          </p:cNvPr>
          <p:cNvSpPr/>
          <p:nvPr userDrawn="1"/>
        </p:nvSpPr>
        <p:spPr>
          <a:xfrm>
            <a:off x="352269" y="6693109"/>
            <a:ext cx="12449331" cy="562131"/>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24" name="Rechteck 23">
            <a:extLst>
              <a:ext uri="{FF2B5EF4-FFF2-40B4-BE49-F238E27FC236}">
                <a16:creationId xmlns:a16="http://schemas.microsoft.com/office/drawing/2014/main" id="{DC89D101-F44A-1A73-2ECC-371C966E4AA6}"/>
              </a:ext>
            </a:extLst>
          </p:cNvPr>
          <p:cNvSpPr/>
          <p:nvPr userDrawn="1"/>
        </p:nvSpPr>
        <p:spPr>
          <a:xfrm>
            <a:off x="0" y="0"/>
            <a:ext cx="13004800" cy="4396740"/>
          </a:xfrm>
          <a:prstGeom prst="rect">
            <a:avLst/>
          </a:prstGeom>
          <a:solidFill>
            <a:srgbClr val="FEFB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5" name="Rechteck 4">
            <a:extLst>
              <a:ext uri="{FF2B5EF4-FFF2-40B4-BE49-F238E27FC236}">
                <a16:creationId xmlns:a16="http://schemas.microsoft.com/office/drawing/2014/main" id="{2E71BD18-DF01-46F7-BE1B-0A3FA49A49DC}"/>
              </a:ext>
            </a:extLst>
          </p:cNvPr>
          <p:cNvSpPr/>
          <p:nvPr userDrawn="1"/>
        </p:nvSpPr>
        <p:spPr>
          <a:xfrm>
            <a:off x="0" y="4295160"/>
            <a:ext cx="13004800" cy="3038834"/>
          </a:xfrm>
          <a:prstGeom prst="rect">
            <a:avLst/>
          </a:prstGeom>
          <a:solidFill>
            <a:srgbClr val="FF6A0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4" name="Textplatzhalter 3">
            <a:extLst>
              <a:ext uri="{FF2B5EF4-FFF2-40B4-BE49-F238E27FC236}">
                <a16:creationId xmlns:a16="http://schemas.microsoft.com/office/drawing/2014/main" id="{3E1A5861-9721-4D31-8EAE-C0F695D2C84B}"/>
              </a:ext>
            </a:extLst>
          </p:cNvPr>
          <p:cNvSpPr>
            <a:spLocks noGrp="1"/>
          </p:cNvSpPr>
          <p:nvPr>
            <p:ph type="body" sz="quarter" idx="10"/>
          </p:nvPr>
        </p:nvSpPr>
        <p:spPr>
          <a:xfrm>
            <a:off x="488950" y="2793600"/>
            <a:ext cx="12134850" cy="442394"/>
          </a:xfrm>
          <a:prstGeom prst="rect">
            <a:avLst/>
          </a:prstGeom>
        </p:spPr>
        <p:txBody>
          <a:bodyPr wrap="none" lIns="0" tIns="0" rIns="0" bIns="0" anchor="b"/>
          <a:lstStyle>
            <a:lvl1pPr marL="0">
              <a:spcBef>
                <a:spcPct val="0"/>
              </a:spcBef>
              <a:defRPr sz="2500">
                <a:solidFill>
                  <a:srgbClr val="FF6A00"/>
                </a:solidFill>
                <a:latin typeface="GT Planar Light" pitchFamily="50" charset="0"/>
                <a:ea typeface="GT Planar Light" pitchFamily="50" charset="0"/>
                <a:cs typeface="Segoe UI Semilight" panose="020B0402040204020203" pitchFamily="34" charset="0"/>
              </a:defRPr>
            </a:lvl1pPr>
          </a:lstStyle>
          <a:p>
            <a:pPr lvl="0"/>
            <a:r>
              <a:rPr lang="de-DE"/>
              <a:t>Mastertextformat bearbeiten</a:t>
            </a:r>
          </a:p>
        </p:txBody>
      </p:sp>
      <p:sp>
        <p:nvSpPr>
          <p:cNvPr id="11" name="Textplatzhalter 10">
            <a:extLst>
              <a:ext uri="{FF2B5EF4-FFF2-40B4-BE49-F238E27FC236}">
                <a16:creationId xmlns:a16="http://schemas.microsoft.com/office/drawing/2014/main" id="{DA75D82C-4435-4B5E-BD1D-78484DE50382}"/>
              </a:ext>
            </a:extLst>
          </p:cNvPr>
          <p:cNvSpPr>
            <a:spLocks noGrp="1"/>
          </p:cNvSpPr>
          <p:nvPr>
            <p:ph type="body" sz="quarter" idx="11"/>
          </p:nvPr>
        </p:nvSpPr>
        <p:spPr>
          <a:xfrm>
            <a:off x="488950" y="3366000"/>
            <a:ext cx="12134850" cy="722384"/>
          </a:xfrm>
          <a:prstGeom prst="rect">
            <a:avLst/>
          </a:prstGeom>
        </p:spPr>
        <p:txBody>
          <a:bodyPr wrap="none" lIns="0" tIns="0" rIns="0" bIns="0">
            <a:noAutofit/>
          </a:bodyPr>
          <a:lstStyle>
            <a:lvl1pPr marL="0">
              <a:spcBef>
                <a:spcPct val="0"/>
              </a:spcBef>
              <a:defRPr sz="4500">
                <a:solidFill>
                  <a:srgbClr val="003E6E"/>
                </a:solidFill>
                <a:latin typeface="GT Planar Medium" pitchFamily="50" charset="0"/>
                <a:ea typeface="GT Planar Medium" pitchFamily="50" charset="0"/>
              </a:defRPr>
            </a:lvl1pPr>
            <a:lvl2pPr marL="486000" indent="0">
              <a:buNone/>
              <a:defRPr/>
            </a:lvl2pPr>
          </a:lstStyle>
          <a:p>
            <a:pPr lvl="0"/>
            <a:r>
              <a:rPr lang="de-DE"/>
              <a:t>Mastertextformat bearbeiten</a:t>
            </a:r>
          </a:p>
        </p:txBody>
      </p:sp>
      <p:pic>
        <p:nvPicPr>
          <p:cNvPr id="16" name="Grafik 15">
            <a:extLst>
              <a:ext uri="{FF2B5EF4-FFF2-40B4-BE49-F238E27FC236}">
                <a16:creationId xmlns:a16="http://schemas.microsoft.com/office/drawing/2014/main" id="{6601639C-449A-EAF8-13F9-1EC60C02ECA8}"/>
              </a:ext>
            </a:extLst>
          </p:cNvPr>
          <p:cNvPicPr>
            <a:picLocks noChangeAspect="1"/>
          </p:cNvPicPr>
          <p:nvPr userDrawn="1"/>
        </p:nvPicPr>
        <p:blipFill rotWithShape="1">
          <a:blip r:embed="rId2" cstate="print">
            <a:clrChange>
              <a:clrFrom>
                <a:srgbClr val="191919"/>
              </a:clrFrom>
              <a:clrTo>
                <a:srgbClr val="191919">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b="6435"/>
          <a:stretch/>
        </p:blipFill>
        <p:spPr>
          <a:xfrm flipH="1">
            <a:off x="-3" y="4290398"/>
            <a:ext cx="4968768" cy="3038834"/>
          </a:xfrm>
          <a:prstGeom prst="rect">
            <a:avLst/>
          </a:prstGeom>
        </p:spPr>
      </p:pic>
      <p:sp>
        <p:nvSpPr>
          <p:cNvPr id="3" name="Textfeld 2">
            <a:extLst>
              <a:ext uri="{FF2B5EF4-FFF2-40B4-BE49-F238E27FC236}">
                <a16:creationId xmlns:a16="http://schemas.microsoft.com/office/drawing/2014/main" id="{3CD236FF-6633-667D-E120-5B6338A93C41}"/>
              </a:ext>
            </a:extLst>
          </p:cNvPr>
          <p:cNvSpPr txBox="1"/>
          <p:nvPr userDrawn="1"/>
        </p:nvSpPr>
        <p:spPr>
          <a:xfrm>
            <a:off x="488950" y="6904563"/>
            <a:ext cx="12134847" cy="276999"/>
          </a:xfrm>
          <a:prstGeom prst="rect">
            <a:avLst/>
          </a:prstGeom>
          <a:noFill/>
        </p:spPr>
        <p:txBody>
          <a:bodyPr wrap="square" lIns="0" tIns="0" rIns="0" bIns="0" rtlCol="0">
            <a:spAutoFit/>
          </a:bodyPr>
          <a:lstStyle/>
          <a:p>
            <a:pPr algn="r"/>
            <a:r>
              <a:rPr lang="de-DE" sz="900">
                <a:solidFill>
                  <a:schemeClr val="bg1"/>
                </a:solidFill>
                <a:latin typeface="GT Planar Light" pitchFamily="50" charset="0"/>
                <a:ea typeface="GT Planar Light" pitchFamily="50" charset="0"/>
              </a:rPr>
              <a:t>Prof. Dr. Robert Butscher | BBA – Datenbanken | Wintersemester </a:t>
            </a:r>
            <a:r>
              <a:rPr lang="de-DE" sz="1800">
                <a:solidFill>
                  <a:schemeClr val="bg1"/>
                </a:solidFill>
                <a:latin typeface="GT Planar Medium" pitchFamily="50" charset="0"/>
                <a:ea typeface="GT Planar Medium" pitchFamily="50" charset="0"/>
              </a:rPr>
              <a:t>2026/27</a:t>
            </a:r>
            <a:endParaRPr lang="de-DE" sz="1800">
              <a:solidFill>
                <a:schemeClr val="bg1"/>
              </a:solidFill>
              <a:latin typeface="GT Planar Light" pitchFamily="50" charset="0"/>
              <a:ea typeface="GT Planar Light" pitchFamily="50" charset="0"/>
            </a:endParaRPr>
          </a:p>
        </p:txBody>
      </p:sp>
      <p:pic>
        <p:nvPicPr>
          <p:cNvPr id="6" name="Grafik 5">
            <a:extLst>
              <a:ext uri="{FF2B5EF4-FFF2-40B4-BE49-F238E27FC236}">
                <a16:creationId xmlns:a16="http://schemas.microsoft.com/office/drawing/2014/main" id="{EF6ED13E-8C19-BE2C-360F-3DAD03E6123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35978"/>
          <a:stretch/>
        </p:blipFill>
        <p:spPr>
          <a:xfrm>
            <a:off x="10462846" y="344016"/>
            <a:ext cx="2207781" cy="862118"/>
          </a:xfrm>
          <a:prstGeom prst="rect">
            <a:avLst/>
          </a:prstGeom>
        </p:spPr>
      </p:pic>
    </p:spTree>
    <p:extLst>
      <p:ext uri="{BB962C8B-B14F-4D97-AF65-F5344CB8AC3E}">
        <p14:creationId xmlns:p14="http://schemas.microsoft.com/office/powerpoint/2010/main" val="454554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5" name="Titel 18">
            <a:extLst>
              <a:ext uri="{FF2B5EF4-FFF2-40B4-BE49-F238E27FC236}">
                <a16:creationId xmlns:a16="http://schemas.microsoft.com/office/drawing/2014/main" id="{2C50B4E3-9F06-4238-9569-03EBE7812348}"/>
              </a:ext>
            </a:extLst>
          </p:cNvPr>
          <p:cNvSpPr>
            <a:spLocks noGrp="1"/>
          </p:cNvSpPr>
          <p:nvPr>
            <p:ph type="title"/>
          </p:nvPr>
        </p:nvSpPr>
        <p:spPr>
          <a:xfrm>
            <a:off x="489600" y="270112"/>
            <a:ext cx="12134200" cy="622086"/>
          </a:xfrm>
          <a:prstGeom prst="rect">
            <a:avLst/>
          </a:prstGeom>
        </p:spPr>
        <p:txBody>
          <a:bodyPr lIns="0" tIns="0" rIns="0" bIns="0" anchor="ctr"/>
          <a:lstStyle>
            <a:lvl1pPr algn="l">
              <a:lnSpc>
                <a:spcPct val="100000"/>
              </a:lnSpc>
              <a:defRPr sz="29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cxnSp>
        <p:nvCxnSpPr>
          <p:cNvPr id="6" name="Gerader Verbinder 5">
            <a:extLst>
              <a:ext uri="{FF2B5EF4-FFF2-40B4-BE49-F238E27FC236}">
                <a16:creationId xmlns:a16="http://schemas.microsoft.com/office/drawing/2014/main" id="{C2D42809-64B2-4533-AA2A-3D1483F493B6}"/>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85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0"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0" y="277341"/>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69" cy="180750"/>
          </a:xfrm>
          <a:prstGeom prst="rect">
            <a:avLst/>
          </a:prstGeom>
        </p:spPr>
        <p:txBody>
          <a:bodyPr lIns="0" tIns="0" rIns="0" bIns="0" anchor="b"/>
          <a:lstStyle>
            <a:lvl1pPr marL="127363" indent="0" algn="r">
              <a:buFontTx/>
              <a:buNone/>
              <a:defRPr sz="900">
                <a:solidFill>
                  <a:srgbClr val="404040"/>
                </a:solidFill>
                <a:latin typeface="GT Planar Light" pitchFamily="50" charset="0"/>
                <a:ea typeface="GT Planar Light" pitchFamily="50" charset="0"/>
              </a:defRPr>
            </a:lvl1pPr>
            <a:lvl2pPr marL="486000" indent="0">
              <a:buNone/>
              <a:defRPr/>
            </a:lvl2pPr>
            <a:lvl3pPr marL="846000" indent="0">
              <a:buNone/>
              <a:defRPr/>
            </a:lvl3pPr>
            <a:lvl4pPr marL="1206000" indent="0">
              <a:buNone/>
              <a:defRPr/>
            </a:lvl4pPr>
            <a:lvl5pPr marL="1566000" indent="0">
              <a:buNone/>
              <a:defRPr/>
            </a:lvl5pPr>
          </a:lstStyle>
          <a:p>
            <a:pPr lvl="0"/>
            <a:r>
              <a:rPr lang="de-DE"/>
              <a:t>Quelle:</a:t>
            </a:r>
          </a:p>
        </p:txBody>
      </p:sp>
    </p:spTree>
    <p:extLst>
      <p:ext uri="{BB962C8B-B14F-4D97-AF65-F5344CB8AC3E}">
        <p14:creationId xmlns:p14="http://schemas.microsoft.com/office/powerpoint/2010/main" val="322718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sa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pic>
        <p:nvPicPr>
          <p:cNvPr id="2" name="Grafik 1">
            <a:extLst>
              <a:ext uri="{FF2B5EF4-FFF2-40B4-BE49-F238E27FC236}">
                <a16:creationId xmlns:a16="http://schemas.microsoft.com/office/drawing/2014/main" id="{C28D40FA-AA8E-1D8F-9289-A10897B52F3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 y="1189323"/>
            <a:ext cx="609206" cy="609206"/>
          </a:xfrm>
          <a:prstGeom prst="rect">
            <a:avLst/>
          </a:prstGeom>
        </p:spPr>
      </p:pic>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1518409918"/>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9">
          <p15:clr>
            <a:srgbClr val="FBAE40"/>
          </p15:clr>
        </p15:guide>
        <p15:guide id="4" pos="4096">
          <p15:clr>
            <a:srgbClr val="FBAE40"/>
          </p15:clr>
        </p15:guide>
        <p15:guide id="5" pos="7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ol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4" name="Grafik 3" descr="Tools Silhouette">
            <a:extLst>
              <a:ext uri="{FF2B5EF4-FFF2-40B4-BE49-F238E27FC236}">
                <a16:creationId xmlns:a16="http://schemas.microsoft.com/office/drawing/2014/main" id="{7AFBD869-C1D0-8A6A-DB68-DDB86046F2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361" y="1189324"/>
            <a:ext cx="561100" cy="561100"/>
          </a:xfrm>
          <a:prstGeom prst="rect">
            <a:avLst/>
          </a:prstGeom>
        </p:spPr>
      </p:pic>
    </p:spTree>
    <p:extLst>
      <p:ext uri="{BB962C8B-B14F-4D97-AF65-F5344CB8AC3E}">
        <p14:creationId xmlns:p14="http://schemas.microsoft.com/office/powerpoint/2010/main" val="848614985"/>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t_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C1090B-BF82-6D37-CA7B-B91C5B62E78A}"/>
              </a:ext>
            </a:extLst>
          </p:cNvPr>
          <p:cNvGraphicFramePr>
            <a:graphicFrameLocks/>
          </p:cNvGraphicFramePr>
          <p:nvPr userDrawn="1">
            <p:custDataLst>
              <p:tags r:id="rId1"/>
            </p:custDataLst>
            <p:extLst>
              <p:ext uri="{D42A27DB-BD31-4B8C-83A1-F6EECF244321}">
                <p14:modId xmlns:p14="http://schemas.microsoft.com/office/powerpoint/2010/main" val="42884402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3" name="think-cell data - do not delete" hidden="1">
                        <a:extLst>
                          <a:ext uri="{FF2B5EF4-FFF2-40B4-BE49-F238E27FC236}">
                            <a16:creationId xmlns:a16="http://schemas.microsoft.com/office/drawing/2014/main" id="{19C1090B-BF82-6D37-CA7B-B91C5B62E7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el 5">
            <a:extLst>
              <a:ext uri="{FF2B5EF4-FFF2-40B4-BE49-F238E27FC236}">
                <a16:creationId xmlns:a16="http://schemas.microsoft.com/office/drawing/2014/main" id="{2AA8AC17-FF5F-4D51-A17A-29980F454FB4}"/>
              </a:ext>
            </a:extLst>
          </p:cNvPr>
          <p:cNvSpPr>
            <a:spLocks noGrp="1"/>
          </p:cNvSpPr>
          <p:nvPr>
            <p:ph type="title"/>
          </p:nvPr>
        </p:nvSpPr>
        <p:spPr>
          <a:xfrm>
            <a:off x="488951" y="544107"/>
            <a:ext cx="12131271" cy="340206"/>
          </a:xfrm>
          <a:prstGeom prst="rect">
            <a:avLst/>
          </a:prstGeom>
        </p:spPr>
        <p:txBody>
          <a:bodyPr vert="horz"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nvPr>
        </p:nvSpPr>
        <p:spPr>
          <a:xfrm>
            <a:off x="522288" y="6429600"/>
            <a:ext cx="12097932"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60602" y="1146175"/>
            <a:ext cx="11560175"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2" name="Grafik 1" descr="Roboter Silhouette">
            <a:extLst>
              <a:ext uri="{FF2B5EF4-FFF2-40B4-BE49-F238E27FC236}">
                <a16:creationId xmlns:a16="http://schemas.microsoft.com/office/drawing/2014/main" id="{217B98FA-02D7-8133-3DA7-AF89B9A5903E}"/>
              </a:ext>
            </a:extLst>
          </p:cNvPr>
          <p:cNvPicPr>
            <a:picLocks/>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7456" y="1121960"/>
            <a:ext cx="845399" cy="772940"/>
          </a:xfrm>
          <a:prstGeom prst="rect">
            <a:avLst/>
          </a:prstGeom>
        </p:spPr>
      </p:pic>
    </p:spTree>
    <p:extLst>
      <p:ext uri="{BB962C8B-B14F-4D97-AF65-F5344CB8AC3E}">
        <p14:creationId xmlns:p14="http://schemas.microsoft.com/office/powerpoint/2010/main" val="2477627681"/>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_Page_blue">
    <p:bg>
      <p:bgPr>
        <a:solidFill>
          <a:schemeClr val="accent6"/>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5EF9F1C-7B1C-3265-57D7-5B9F6A502870}"/>
              </a:ext>
            </a:extLst>
          </p:cNvPr>
          <p:cNvSpPr/>
          <p:nvPr userDrawn="1"/>
        </p:nvSpPr>
        <p:spPr>
          <a:xfrm>
            <a:off x="243840" y="6682740"/>
            <a:ext cx="12557760" cy="518160"/>
          </a:xfrm>
          <a:prstGeom prst="rect">
            <a:avLst/>
          </a:prstGeom>
          <a:solidFill>
            <a:srgbClr val="003E6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Tree>
    <p:extLst>
      <p:ext uri="{BB962C8B-B14F-4D97-AF65-F5344CB8AC3E}">
        <p14:creationId xmlns:p14="http://schemas.microsoft.com/office/powerpoint/2010/main" val="29447423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Blank">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6218275D-4364-40DB-8ADE-3B2A339CA9DE}"/>
              </a:ext>
            </a:extLst>
          </p:cNvPr>
          <p:cNvSpPr/>
          <p:nvPr userDrawn="1">
            <p:custDataLst>
              <p:tags r:id="rId1"/>
            </p:custDataLst>
          </p:nvPr>
        </p:nvSpPr>
        <p:spPr>
          <a:xfrm>
            <a:off x="0" y="0"/>
            <a:ext cx="13004800" cy="7315200"/>
          </a:xfrm>
          <a:prstGeom prst="rect">
            <a:avLst/>
          </a:prstGeom>
          <a:solidFill>
            <a:srgbClr val="D6510B"/>
          </a:solidFill>
          <a:ln>
            <a:solidFill>
              <a:srgbClr val="D6510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600">
              <a:solidFill>
                <a:schemeClr val="tx1"/>
              </a:solidFill>
            </a:endParaRPr>
          </a:p>
        </p:txBody>
      </p:sp>
    </p:spTree>
    <p:extLst>
      <p:ext uri="{BB962C8B-B14F-4D97-AF65-F5344CB8AC3E}">
        <p14:creationId xmlns:p14="http://schemas.microsoft.com/office/powerpoint/2010/main" val="2707331837"/>
      </p:ext>
    </p:extLst>
  </p:cSld>
  <p:clrMapOvr>
    <a:masterClrMapping/>
  </p:clrMapOvr>
  <p:hf hd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tags" Target="../tags/tag2.xml"/><Relationship Id="rId11" Type="http://schemas.openxmlformats.org/officeDocument/2006/relationships/tags" Target="../tags/tag3.xml"/><Relationship Id="rId12" Type="http://schemas.openxmlformats.org/officeDocument/2006/relationships/tags" Target="../tags/tag4.xml"/><Relationship Id="rId13"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983E3E8-F639-4D6D-A742-77F8DF856A3F}"/>
              </a:ext>
            </a:extLst>
          </p:cNvPr>
          <p:cNvSpPr txBox="1">
            <a:spLocks/>
          </p:cNvSpPr>
          <p:nvPr userDrawn="1">
            <p:custDataLst>
              <p:tags r:id="rId10"/>
            </p:custDataLst>
          </p:nvPr>
        </p:nvSpPr>
        <p:spPr>
          <a:xfrm>
            <a:off x="1137229" y="6780214"/>
            <a:ext cx="9776460" cy="388938"/>
          </a:xfrm>
          <a:prstGeom prst="rect">
            <a:avLst/>
          </a:prstGeom>
          <a:noFill/>
        </p:spPr>
        <p:txBody>
          <a:bodyPr wrap="none" lIns="0" tIns="0" rIns="0" bIns="0" rtlCol="0" anchor="ctr">
            <a:noAutofit/>
          </a:bodyPr>
          <a:lstStyle/>
          <a:p>
            <a:pPr marL="0" marR="0" lvl="0" indent="0" algn="l" defTabSz="650230" rtl="0" eaLnBrk="1" fontAlgn="auto" latinLnBrk="0" hangingPunct="1">
              <a:lnSpc>
                <a:spcPct val="100000"/>
              </a:lnSpc>
              <a:spcBef>
                <a:spcPts val="0"/>
              </a:spcBef>
              <a:spcAft>
                <a:spcPts val="0"/>
              </a:spcAft>
              <a:buClrTx/>
              <a:buSzTx/>
              <a:buFontTx/>
              <a:buNone/>
              <a:tabLst/>
              <a:defRPr/>
            </a:pPr>
            <a:r>
              <a:rPr lang="de-DE" sz="900">
                <a:solidFill>
                  <a:schemeClr val="tx1">
                    <a:lumMod val="60000"/>
                    <a:lumOff val="40000"/>
                  </a:schemeClr>
                </a:solidFill>
                <a:latin typeface="GT Planar Light" pitchFamily="50" charset="0"/>
                <a:ea typeface="GT Planar Light" pitchFamily="50" charset="0"/>
              </a:rPr>
              <a:t>| Prof. Dr. Robert Butscher | BBA – Datenbanken | Wintersemester 2026/27</a:t>
            </a:r>
          </a:p>
        </p:txBody>
      </p:sp>
      <p:sp>
        <p:nvSpPr>
          <p:cNvPr id="6" name="Textfeld 5">
            <a:extLst>
              <a:ext uri="{FF2B5EF4-FFF2-40B4-BE49-F238E27FC236}">
                <a16:creationId xmlns:a16="http://schemas.microsoft.com/office/drawing/2014/main" id="{BC3CFE55-A1C6-48D9-9699-AFBE36FEC75D}"/>
              </a:ext>
            </a:extLst>
          </p:cNvPr>
          <p:cNvSpPr txBox="1">
            <a:spLocks/>
          </p:cNvSpPr>
          <p:nvPr userDrawn="1"/>
        </p:nvSpPr>
        <p:spPr>
          <a:xfrm>
            <a:off x="11041380" y="6780214"/>
            <a:ext cx="1582420" cy="388938"/>
          </a:xfrm>
          <a:prstGeom prst="rect">
            <a:avLst/>
          </a:prstGeom>
          <a:noFill/>
        </p:spPr>
        <p:txBody>
          <a:bodyPr wrap="none" lIns="0" tIns="0" rIns="0" bIns="0" rtlCol="0" anchor="ctr">
            <a:noAutofit/>
          </a:bodyPr>
          <a:lstStyle/>
          <a:p>
            <a:pPr marL="0" marR="0" lvl="0" indent="0" algn="r" defTabSz="650230" rtl="0" eaLnBrk="1" fontAlgn="auto" latinLnBrk="0" hangingPunct="1">
              <a:lnSpc>
                <a:spcPct val="100000"/>
              </a:lnSpc>
              <a:spcBef>
                <a:spcPts val="0"/>
              </a:spcBef>
              <a:spcAft>
                <a:spcPts val="0"/>
              </a:spcAft>
              <a:buClrTx/>
              <a:buSzTx/>
              <a:buFontTx/>
              <a:buNone/>
              <a:tabLst/>
              <a:defRPr/>
            </a:pPr>
            <a:fld id="{1C860507-29B6-496C-BEDA-15D4EE3885EC}" type="slidenum">
              <a:rPr lang="de-DE" sz="2100" b="0" smtClean="0">
                <a:solidFill>
                  <a:srgbClr val="FF6A00"/>
                </a:solidFill>
                <a:latin typeface="GT Planar Medium" pitchFamily="50" charset="0"/>
                <a:ea typeface="GT Planar Medium" pitchFamily="50" charset="0"/>
              </a:rPr>
              <a:t>‹#›</a:t>
            </a:fld>
            <a:endParaRPr lang="de-DE" sz="2100" b="0">
              <a:solidFill>
                <a:srgbClr val="FF6A00"/>
              </a:solidFill>
              <a:latin typeface="GT Planar Medium" pitchFamily="50" charset="0"/>
              <a:ea typeface="GT Planar Medium" pitchFamily="50" charset="0"/>
            </a:endParaRPr>
          </a:p>
        </p:txBody>
      </p:sp>
      <p:sp>
        <p:nvSpPr>
          <p:cNvPr id="2" name="empower - DO NOT DELETE!!!" hidden="1">
            <a:extLst>
              <a:ext uri="{FF2B5EF4-FFF2-40B4-BE49-F238E27FC236}">
                <a16:creationId xmlns:a16="http://schemas.microsoft.com/office/drawing/2014/main" id="{754EF810-7F57-46D8-A069-D4A74C5C1B42}"/>
              </a:ext>
            </a:extLst>
          </p:cNvPr>
          <p:cNvSpPr/>
          <p:nvPr userDrawn="1">
            <p:custDataLst>
              <p:tags r:id="rId11"/>
            </p:custDataLst>
          </p:nvPr>
        </p:nvSpPr>
        <p:spPr>
          <a:xfrm>
            <a:off x="0" y="0"/>
            <a:ext cx="0" cy="0"/>
          </a:xfrm>
          <a:prstGeom prst="ellipse">
            <a:avLst/>
          </a:prstGeom>
          <a:solidFill>
            <a:schemeClr val="accent3">
              <a:lumMod val="40000"/>
              <a:lumOff val="60000"/>
              <a:alpha val="5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9" name="Textfeld 8">
            <a:extLst>
              <a:ext uri="{FF2B5EF4-FFF2-40B4-BE49-F238E27FC236}">
                <a16:creationId xmlns:a16="http://schemas.microsoft.com/office/drawing/2014/main" id="{23C6B9F3-A2CC-4951-8BA3-704D29E6CD61}"/>
              </a:ext>
            </a:extLst>
          </p:cNvPr>
          <p:cNvSpPr txBox="1"/>
          <p:nvPr userDrawn="1">
            <p:custDataLst>
              <p:tags r:id="rId12"/>
            </p:custDataLst>
          </p:nvPr>
        </p:nvSpPr>
        <p:spPr>
          <a:xfrm>
            <a:off x="488953" y="6780214"/>
            <a:ext cx="827614" cy="388938"/>
          </a:xfrm>
          <a:prstGeom prst="rect">
            <a:avLst/>
          </a:prstGeom>
          <a:noFill/>
        </p:spPr>
        <p:txBody>
          <a:bodyPr wrap="square" lIns="0" tIns="0" rIns="0" bIns="0" rtlCol="0" anchor="ctr">
            <a:noAutofit/>
          </a:bodyPr>
          <a:lstStyle/>
          <a:p>
            <a:fld id="{D1676114-34E2-4D99-8B9A-DD4156C5F75C}" type="datetime1">
              <a:rPr lang="de-DE" sz="900" kern="1200" smtClean="0">
                <a:solidFill>
                  <a:schemeClr val="tx1">
                    <a:lumMod val="60000"/>
                    <a:lumOff val="40000"/>
                  </a:schemeClr>
                </a:solidFill>
                <a:latin typeface="GT Planar Light" pitchFamily="50" charset="0"/>
                <a:ea typeface="GT Planar Light" pitchFamily="50" charset="0"/>
                <a:cs typeface="+mn-cs"/>
              </a:rPr>
              <a:t>25.08.2026</a:t>
            </a:fld>
            <a:endParaRPr lang="de-DE" sz="900" kern="1200">
              <a:solidFill>
                <a:schemeClr val="tx1">
                  <a:lumMod val="60000"/>
                  <a:lumOff val="40000"/>
                </a:schemeClr>
              </a:solidFill>
              <a:latin typeface="GT Planar Light" pitchFamily="50" charset="0"/>
              <a:ea typeface="GT Planar Light" pitchFamily="50" charset="0"/>
              <a:cs typeface="+mn-cs"/>
            </a:endParaRPr>
          </a:p>
        </p:txBody>
      </p:sp>
    </p:spTree>
    <p:extLst>
      <p:ext uri="{BB962C8B-B14F-4D97-AF65-F5344CB8AC3E}">
        <p14:creationId xmlns:p14="http://schemas.microsoft.com/office/powerpoint/2010/main" val="352063907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93" r:id="rId4"/>
    <p:sldLayoutId id="2147483694" r:id="rId5"/>
    <p:sldLayoutId id="2147483695" r:id="rId6"/>
    <p:sldLayoutId id="2147483686" r:id="rId7"/>
    <p:sldLayoutId id="2147483687" r:id="rId8"/>
  </p:sldLayoutIdLst>
  <p:hf hdr="0"/>
  <p:txStyles>
    <p:titleStyle>
      <a:lvl1pPr algn="ctr" defTabSz="1300460" rtl="0" eaLnBrk="1" latinLnBrk="0" hangingPunct="1">
        <a:lnSpc>
          <a:spcPts val="4000"/>
        </a:lnSpc>
        <a:spcBef>
          <a:spcPct val="0"/>
        </a:spcBef>
        <a:buNone/>
        <a:defRPr sz="3400" kern="1200">
          <a:solidFill>
            <a:schemeClr val="tx1"/>
          </a:solidFill>
          <a:latin typeface="+mj-lt"/>
          <a:ea typeface="+mj-ea"/>
          <a:cs typeface="Segoe UI" pitchFamily="34" charset="0"/>
        </a:defRPr>
      </a:lvl1pPr>
    </p:titleStyle>
    <p:bodyStyle>
      <a:lvl1pPr marL="127363" indent="0" algn="l" defTabSz="1300460" rtl="0" eaLnBrk="1" latinLnBrk="0" hangingPunct="1">
        <a:spcBef>
          <a:spcPct val="20000"/>
        </a:spcBef>
        <a:buClr>
          <a:srgbClr val="90D033"/>
        </a:buClr>
        <a:buSzPct val="100000"/>
        <a:buFontTx/>
        <a:buNone/>
        <a:defRPr sz="2000" b="0" kern="1200">
          <a:solidFill>
            <a:schemeClr val="tx1"/>
          </a:solidFill>
          <a:latin typeface="Segoe UI" pitchFamily="34" charset="0"/>
          <a:ea typeface="+mn-ea"/>
          <a:cs typeface="Segoe UI" pitchFamily="34" charset="0"/>
        </a:defRPr>
      </a:lvl1pPr>
      <a:lvl2pPr marL="846000" indent="-360000" algn="l" defTabSz="1300460" rtl="0" eaLnBrk="1" latinLnBrk="0" hangingPunct="1">
        <a:spcBef>
          <a:spcPct val="20000"/>
        </a:spcBef>
        <a:buClr>
          <a:srgbClr val="90D033"/>
        </a:buClr>
        <a:buSzPct val="65000"/>
        <a:buFont typeface="Wingdings" panose="05000000000000000000" pitchFamily="2" charset="2"/>
        <a:buChar char=""/>
        <a:defRPr sz="2400" kern="1200">
          <a:solidFill>
            <a:schemeClr val="tx1"/>
          </a:solidFill>
          <a:latin typeface="Segoe UI" pitchFamily="34" charset="0"/>
          <a:ea typeface="+mn-ea"/>
          <a:cs typeface="Segoe UI" pitchFamily="34" charset="0"/>
        </a:defRPr>
      </a:lvl2pPr>
      <a:lvl3pPr marL="120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mn-ea"/>
          <a:cs typeface="Segoe UI" pitchFamily="34" charset="0"/>
        </a:defRPr>
      </a:lvl3pPr>
      <a:lvl4pPr marL="1566000" indent="-360000" algn="l" defTabSz="1300460" rtl="0" eaLnBrk="1" latinLnBrk="0" hangingPunct="1">
        <a:spcBef>
          <a:spcPct val="20000"/>
        </a:spcBef>
        <a:buClr>
          <a:srgbClr val="90D033"/>
        </a:buClr>
        <a:buSzPct val="65000"/>
        <a:buFontTx/>
        <a:buBlip>
          <a:blip r:embed="rId13"/>
        </a:buBlip>
        <a:defRPr sz="2400" kern="1200">
          <a:solidFill>
            <a:schemeClr val="tx1"/>
          </a:solidFill>
          <a:latin typeface="Segoe UI" pitchFamily="34" charset="0"/>
          <a:ea typeface="+mn-ea"/>
          <a:cs typeface="Segoe UI" pitchFamily="34" charset="0"/>
        </a:defRPr>
      </a:lvl4pPr>
      <a:lvl5pPr marL="192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Segoe UI" panose="020B0502040204020203" pitchFamily="34" charset="0"/>
          <a:cs typeface="Segoe UI" pitchFamily="34" charset="0"/>
        </a:defRPr>
      </a:lvl5pPr>
      <a:lvl6pPr marL="228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6pPr>
      <a:lvl7pPr marL="264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7pPr>
      <a:lvl8pPr marL="300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8pPr>
      <a:lvl9pPr marL="336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9pPr>
    </p:bodyStyle>
    <p:otherStyle>
      <a:defPPr>
        <a:defRPr lang="de-DE"/>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8">
          <p15:clr>
            <a:srgbClr val="A4A3A4"/>
          </p15:clr>
        </p15:guide>
        <p15:guide id="4" pos="7952">
          <p15:clr>
            <a:srgbClr val="A4A3A4"/>
          </p15:clr>
        </p15:guide>
        <p15:guide id="7" orient="horz" pos="416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3.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CRISP-DM an sechs Fallbeispielen</a:t>
            </a:r>
          </a:p>
        </p:txBody>
      </p:sp>
      <p:sp>
        <p:nvSpPr>
          <p:cNvPr id="3" name="Text Placeholder 2"/>
          <p:cNvSpPr>
            <a:spLocks noGrp="1"/>
          </p:cNvSpPr>
          <p:nvPr>
            <p:ph type="body" idx="11" sz="quarter"/>
          </p:nvPr>
        </p:nvSpPr>
        <p:spPr/>
        <p:txBody>
          <a:bodyPr/>
          <a:lstStyle/>
          <a:p>
            <a:r>
              <a:t>Sechs Datenprojekte bei VeloCity — und ein Vorgehen, das in allen sechs dasselbe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Sechs Projekte, sechs Verfahren — und sechsmal dieselbe Reihenfolge</a:t>
            </a:r>
          </a:p>
        </p:txBody>
      </p:sp>
      <p:sp>
        <p:nvSpPr>
          <p:cNvPr id="3" name="Text Placeholder 2"/>
          <p:cNvSpPr>
            <a:spLocks noGrp="1"/>
          </p:cNvSpPr>
          <p:nvPr>
            <p:ph type="body" idx="12" sz="quarter"/>
          </p:nvPr>
        </p:nvSpPr>
        <p:spPr/>
        <p:txBody>
          <a:bodyPr/>
          <a:lstStyle/>
          <a:p>
            <a:r>
              <a:t>Der Ausgangspunkt</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Regression, Klassifikation, Clustering, Zeitreihe, Assoziation, Anomalieerkennung. Verschiedene Fragen, verschiedene Mathematik. Der Weg zum Ergebnis ist in allen sechs Fällen derselbe.</a:t>
            </a:r>
          </a:p>
        </p:txBody>
      </p:sp>
      <p:sp>
        <p:nvSpPr>
          <p:cNvPr id="6" name="Rectangle 5"/>
          <p:cNvSpPr/>
          <p:nvPr/>
        </p:nvSpPr>
        <p:spPr>
          <a:xfrm>
            <a:off x="1153160" y="1879600"/>
            <a:ext cx="3175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Notebook</a:t>
            </a:r>
          </a:p>
        </p:txBody>
      </p:sp>
      <p:sp>
        <p:nvSpPr>
          <p:cNvPr id="7" name="Rectangle 6"/>
          <p:cNvSpPr/>
          <p:nvPr/>
        </p:nvSpPr>
        <p:spPr>
          <a:xfrm>
            <a:off x="4328160" y="1879600"/>
            <a:ext cx="829945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Frage an die Daten</a:t>
            </a:r>
          </a:p>
        </p:txBody>
      </p:sp>
      <p:sp>
        <p:nvSpPr>
          <p:cNvPr id="8" name="Rectangle 7"/>
          <p:cNvSpPr/>
          <p:nvPr/>
        </p:nvSpPr>
        <p:spPr>
          <a:xfrm>
            <a:off x="1153160" y="2387600"/>
            <a:ext cx="3175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 Regression</a:t>
            </a:r>
          </a:p>
        </p:txBody>
      </p:sp>
      <p:sp>
        <p:nvSpPr>
          <p:cNvPr id="9" name="Rectangle 8"/>
          <p:cNvSpPr/>
          <p:nvPr/>
        </p:nvSpPr>
        <p:spPr>
          <a:xfrm>
            <a:off x="4328160" y="2387600"/>
            <a:ext cx="8299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Wie lange dauert diese Fahrt?</a:t>
            </a:r>
          </a:p>
        </p:txBody>
      </p:sp>
      <p:sp>
        <p:nvSpPr>
          <p:cNvPr id="10" name="Rectangle 9"/>
          <p:cNvSpPr/>
          <p:nvPr/>
        </p:nvSpPr>
        <p:spPr>
          <a:xfrm>
            <a:off x="1153160" y="2895600"/>
            <a:ext cx="3175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2 Klassifikation</a:t>
            </a:r>
          </a:p>
        </p:txBody>
      </p:sp>
      <p:sp>
        <p:nvSpPr>
          <p:cNvPr id="11" name="Rectangle 10"/>
          <p:cNvSpPr/>
          <p:nvPr/>
        </p:nvSpPr>
        <p:spPr>
          <a:xfrm>
            <a:off x="4328160" y="2895600"/>
            <a:ext cx="8299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Welche Räder müssen als Nächstes in die Werkstatt?</a:t>
            </a:r>
          </a:p>
        </p:txBody>
      </p:sp>
      <p:sp>
        <p:nvSpPr>
          <p:cNvPr id="12" name="Rectangle 11"/>
          <p:cNvSpPr/>
          <p:nvPr/>
        </p:nvSpPr>
        <p:spPr>
          <a:xfrm>
            <a:off x="1153160" y="3403600"/>
            <a:ext cx="3175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 Clustering</a:t>
            </a:r>
          </a:p>
        </p:txBody>
      </p:sp>
      <p:sp>
        <p:nvSpPr>
          <p:cNvPr id="13" name="Rectangle 12"/>
          <p:cNvSpPr/>
          <p:nvPr/>
        </p:nvSpPr>
        <p:spPr>
          <a:xfrm>
            <a:off x="4328160" y="3403600"/>
            <a:ext cx="8299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Welche Gruppen stecken in den Daten?</a:t>
            </a:r>
          </a:p>
        </p:txBody>
      </p:sp>
      <p:sp>
        <p:nvSpPr>
          <p:cNvPr id="14" name="Rectangle 13"/>
          <p:cNvSpPr/>
          <p:nvPr/>
        </p:nvSpPr>
        <p:spPr>
          <a:xfrm>
            <a:off x="1153160" y="3911600"/>
            <a:ext cx="3175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4 Zeitreihe</a:t>
            </a:r>
          </a:p>
        </p:txBody>
      </p:sp>
      <p:sp>
        <p:nvSpPr>
          <p:cNvPr id="15" name="Rectangle 14"/>
          <p:cNvSpPr/>
          <p:nvPr/>
        </p:nvSpPr>
        <p:spPr>
          <a:xfrm>
            <a:off x="4328160" y="3911600"/>
            <a:ext cx="8299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Wie viele Fahrten kommen morgen?</a:t>
            </a:r>
          </a:p>
        </p:txBody>
      </p:sp>
      <p:sp>
        <p:nvSpPr>
          <p:cNvPr id="16" name="Rectangle 15"/>
          <p:cNvSpPr/>
          <p:nvPr/>
        </p:nvSpPr>
        <p:spPr>
          <a:xfrm>
            <a:off x="1153160" y="4419600"/>
            <a:ext cx="3175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5 Assoziation</a:t>
            </a:r>
          </a:p>
        </p:txBody>
      </p:sp>
      <p:sp>
        <p:nvSpPr>
          <p:cNvPr id="17" name="Rectangle 16"/>
          <p:cNvSpPr/>
          <p:nvPr/>
        </p:nvSpPr>
        <p:spPr>
          <a:xfrm>
            <a:off x="4328160" y="4419600"/>
            <a:ext cx="8299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Welche Wege gehören zusammen?</a:t>
            </a:r>
          </a:p>
        </p:txBody>
      </p:sp>
      <p:sp>
        <p:nvSpPr>
          <p:cNvPr id="18" name="Rectangle 17"/>
          <p:cNvSpPr/>
          <p:nvPr/>
        </p:nvSpPr>
        <p:spPr>
          <a:xfrm>
            <a:off x="1153160" y="4927600"/>
            <a:ext cx="3175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Anomalieerkennung</a:t>
            </a:r>
          </a:p>
        </p:txBody>
      </p:sp>
      <p:sp>
        <p:nvSpPr>
          <p:cNvPr id="19" name="Rectangle 18"/>
          <p:cNvSpPr/>
          <p:nvPr/>
        </p:nvSpPr>
        <p:spPr>
          <a:xfrm>
            <a:off x="4328160" y="4927600"/>
            <a:ext cx="8299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Was ist gestern schiefgelaufen?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dieses Deck gebaut ist — und warum so</a:t>
            </a:r>
          </a:p>
        </p:txBody>
      </p:sp>
      <p:sp>
        <p:nvSpPr>
          <p:cNvPr id="3" name="Text Placeholder 2"/>
          <p:cNvSpPr>
            <a:spLocks noGrp="1"/>
          </p:cNvSpPr>
          <p:nvPr>
            <p:ph type="body" idx="12" sz="quarter"/>
          </p:nvPr>
        </p:nvSpPr>
        <p:spPr/>
        <p:txBody>
          <a:bodyPr/>
          <a:lstStyle/>
          <a:p>
            <a:r>
              <a:t>Wegweiser</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Der Kreislauf wird nicht sechsmal wiederholt. Ein Fall läuft vollständig durch, die anderen fünf gehen dort in die Tiefe, wo sie etwas Neues zeigen.</a:t>
            </a:r>
          </a:p>
        </p:txBody>
      </p:sp>
      <p:sp>
        <p:nvSpPr>
          <p:cNvPr id="6" name="Rectangle 5"/>
          <p:cNvSpPr/>
          <p:nvPr/>
        </p:nvSpPr>
        <p:spPr>
          <a:xfrm>
            <a:off x="1153160" y="18796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2108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1955800"/>
            <a:ext cx="10458450" cy="635000"/>
          </a:xfrm>
          <a:prstGeom prst="rect">
            <a:avLst/>
          </a:prstGeom>
          <a:noFill/>
        </p:spPr>
        <p:txBody>
          <a:bodyPr wrap="square" lIns="0" tIns="0" rIns="0" bIns="0" anchor="ctr">
            <a:spAutoFit/>
          </a:bodyPr>
          <a:lstStyle/>
          <a:p>
            <a:pPr>
              <a:lnSpc>
                <a:spcPct val="95000"/>
              </a:lnSpc>
            </a:pPr>
            <a:r>
              <a:rPr sz="1300" b="1">
                <a:solidFill>
                  <a:srgbClr val="003E6E"/>
                </a:solidFill>
              </a:rPr>
              <a:t>Kapitel 1 — Die Karte  </a:t>
            </a:r>
            <a:r>
              <a:rPr sz="1300">
                <a:solidFill>
                  <a:srgbClr val="404040"/>
                </a:solidFill>
              </a:rPr>
              <a:t>Der Kreislauf einmal kompakt. Bewusst knapp: Er bleibt abstrakt, bis der erste Fall ihn füllt</a:t>
            </a:r>
          </a:p>
        </p:txBody>
      </p:sp>
      <p:sp>
        <p:nvSpPr>
          <p:cNvPr id="10" name="Rectangle 9"/>
          <p:cNvSpPr/>
          <p:nvPr/>
        </p:nvSpPr>
        <p:spPr>
          <a:xfrm>
            <a:off x="1153160" y="27813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27813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30960" y="30099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3" name="TextBox 12"/>
          <p:cNvSpPr txBox="1"/>
          <p:nvPr/>
        </p:nvSpPr>
        <p:spPr>
          <a:xfrm>
            <a:off x="1788160" y="2857500"/>
            <a:ext cx="10458450" cy="635000"/>
          </a:xfrm>
          <a:prstGeom prst="rect">
            <a:avLst/>
          </a:prstGeom>
          <a:noFill/>
        </p:spPr>
        <p:txBody>
          <a:bodyPr wrap="square" lIns="0" tIns="0" rIns="0" bIns="0" anchor="ctr">
            <a:spAutoFit/>
          </a:bodyPr>
          <a:lstStyle/>
          <a:p>
            <a:pPr>
              <a:lnSpc>
                <a:spcPct val="95000"/>
              </a:lnSpc>
            </a:pPr>
            <a:r>
              <a:rPr sz="1300" b="1">
                <a:solidFill>
                  <a:srgbClr val="003E6E"/>
                </a:solidFill>
              </a:rPr>
              <a:t>Kapitel 2 — Fall 1 ganz  </a:t>
            </a:r>
            <a:r>
              <a:rPr sz="1300">
                <a:solidFill>
                  <a:srgbClr val="404040"/>
                </a:solidFill>
              </a:rPr>
              <a:t>Regression, alle sechs Phasen, mit den echten Zahlen. Hier wird die Karte konkret</a:t>
            </a:r>
          </a:p>
        </p:txBody>
      </p:sp>
      <p:sp>
        <p:nvSpPr>
          <p:cNvPr id="14" name="Rectangle 13"/>
          <p:cNvSpPr/>
          <p:nvPr/>
        </p:nvSpPr>
        <p:spPr>
          <a:xfrm>
            <a:off x="1153160" y="36830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53160" y="36830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330960" y="39116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7" name="TextBox 16"/>
          <p:cNvSpPr txBox="1"/>
          <p:nvPr/>
        </p:nvSpPr>
        <p:spPr>
          <a:xfrm>
            <a:off x="1788160" y="3759200"/>
            <a:ext cx="10458450" cy="635000"/>
          </a:xfrm>
          <a:prstGeom prst="rect">
            <a:avLst/>
          </a:prstGeom>
          <a:noFill/>
        </p:spPr>
        <p:txBody>
          <a:bodyPr wrap="square" lIns="0" tIns="0" rIns="0" bIns="0" anchor="ctr">
            <a:spAutoFit/>
          </a:bodyPr>
          <a:lstStyle/>
          <a:p>
            <a:pPr>
              <a:lnSpc>
                <a:spcPct val="95000"/>
              </a:lnSpc>
            </a:pPr>
            <a:r>
              <a:rPr sz="1300" b="1">
                <a:solidFill>
                  <a:srgbClr val="003E6E"/>
                </a:solidFill>
              </a:rPr>
              <a:t>Kapitel 3 bis 7 — fünf Fälle  </a:t>
            </a:r>
            <a:r>
              <a:rPr sz="1300">
                <a:solidFill>
                  <a:srgbClr val="404040"/>
                </a:solidFill>
              </a:rPr>
              <a:t>Gleiches Gerüst, Tiefe nur an der Stelle, an der dieser Fall etwas beisteuert</a:t>
            </a:r>
          </a:p>
        </p:txBody>
      </p:sp>
      <p:sp>
        <p:nvSpPr>
          <p:cNvPr id="18" name="Rectangle 17"/>
          <p:cNvSpPr/>
          <p:nvPr/>
        </p:nvSpPr>
        <p:spPr>
          <a:xfrm>
            <a:off x="1153160" y="45847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53160" y="45847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330960" y="48133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1" name="TextBox 20"/>
          <p:cNvSpPr txBox="1"/>
          <p:nvPr/>
        </p:nvSpPr>
        <p:spPr>
          <a:xfrm>
            <a:off x="1788160" y="4660900"/>
            <a:ext cx="10458450" cy="635000"/>
          </a:xfrm>
          <a:prstGeom prst="rect">
            <a:avLst/>
          </a:prstGeom>
          <a:noFill/>
        </p:spPr>
        <p:txBody>
          <a:bodyPr wrap="square" lIns="0" tIns="0" rIns="0" bIns="0" anchor="ctr">
            <a:spAutoFit/>
          </a:bodyPr>
          <a:lstStyle/>
          <a:p>
            <a:pPr>
              <a:lnSpc>
                <a:spcPct val="95000"/>
              </a:lnSpc>
            </a:pPr>
            <a:r>
              <a:rPr sz="1300" b="1">
                <a:solidFill>
                  <a:srgbClr val="003E6E"/>
                </a:solidFill>
              </a:rPr>
              <a:t>Kapitel 8 — Synthese  </a:t>
            </a:r>
            <a:r>
              <a:rPr sz="1300">
                <a:solidFill>
                  <a:srgbClr val="404040"/>
                </a:solidFill>
              </a:rPr>
              <a:t>Die sechs Fälle zurück auf die Karte gelegt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 Der Kreislauf</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Warum braucht ein Datenprojekt überhaupt eine feste Schrittfolge?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Ohne Reihenfolge ist ein Werkzeugkasten nur ein Haufen Werkzeug</a:t>
            </a:r>
          </a:p>
        </p:txBody>
      </p:sp>
      <p:sp>
        <p:nvSpPr>
          <p:cNvPr id="3" name="Text Placeholder 2"/>
          <p:cNvSpPr>
            <a:spLocks noGrp="1"/>
          </p:cNvSpPr>
          <p:nvPr>
            <p:ph type="body" idx="12" sz="quarter"/>
          </p:nvPr>
        </p:nvSpPr>
        <p:spPr/>
        <p:txBody>
          <a:bodyPr/>
          <a:lstStyle/>
          <a:p>
            <a:r>
              <a:t>Ausgangslage</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Verfahren sind lernbar und in wenigen Zeilen aufgerufen. Was Projekte scheitern lässt, ist fast nie die Mathematik — es ist die Reihenfolge.</a:t>
            </a:r>
          </a:p>
        </p:txBody>
      </p:sp>
      <p:sp>
        <p:nvSpPr>
          <p:cNvPr id="6" name="Rectangle 5"/>
          <p:cNvSpPr/>
          <p:nvPr/>
        </p:nvSpPr>
        <p:spPr>
          <a:xfrm>
            <a:off x="1153160" y="1879600"/>
            <a:ext cx="3545840" cy="2260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2260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006600"/>
            <a:ext cx="3215640" cy="2006600"/>
          </a:xfrm>
          <a:prstGeom prst="rect">
            <a:avLst/>
          </a:prstGeom>
          <a:noFill/>
        </p:spPr>
        <p:txBody>
          <a:bodyPr wrap="square" lIns="0" tIns="0" rIns="0" bIns="0">
            <a:spAutoFit/>
          </a:bodyPr>
          <a:lstStyle/>
          <a:p>
            <a:pPr algn="l">
              <a:lnSpc>
                <a:spcPct val="95000"/>
              </a:lnSpc>
            </a:pPr>
            <a:r>
              <a:rPr sz="1500" b="1">
                <a:solidFill>
                  <a:srgbClr val="003E6E"/>
                </a:solidFill>
              </a:rPr>
              <a:t>Ohne Modell</a:t>
            </a:r>
          </a:p>
          <a:p>
            <a:pPr algn="l">
              <a:lnSpc>
                <a:spcPct val="95000"/>
              </a:lnSpc>
              <a:spcBef>
                <a:spcPts val="500"/>
              </a:spcBef>
            </a:pPr>
            <a:r>
              <a:rPr sz="1300" b="0">
                <a:solidFill>
                  <a:srgbClr val="404040"/>
                </a:solidFill>
              </a:rPr>
              <a:t>Man beginnt mit den Daten, die da sind</a:t>
            </a:r>
          </a:p>
          <a:p>
            <a:pPr algn="l">
              <a:lnSpc>
                <a:spcPct val="95000"/>
              </a:lnSpc>
              <a:spcBef>
                <a:spcPts val="500"/>
              </a:spcBef>
            </a:pPr>
            <a:r>
              <a:rPr sz="1300" b="0">
                <a:solidFill>
                  <a:srgbClr val="404040"/>
                </a:solidFill>
              </a:rPr>
              <a:t>Das Ziel entsteht unterwegs</a:t>
            </a:r>
          </a:p>
          <a:p>
            <a:pPr algn="l">
              <a:lnSpc>
                <a:spcPct val="95000"/>
              </a:lnSpc>
              <a:spcBef>
                <a:spcPts val="500"/>
              </a:spcBef>
            </a:pPr>
            <a:r>
              <a:rPr sz="1300" b="0">
                <a:solidFill>
                  <a:srgbClr val="404040"/>
                </a:solidFill>
              </a:rPr>
              <a:t>Erfolg wird beurteilt, nachdem</a:t>
            </a:r>
          </a:p>
          <a:p>
            <a:pPr algn="l">
              <a:lnSpc>
                <a:spcPct val="95000"/>
              </a:lnSpc>
              <a:spcBef>
                <a:spcPts val="500"/>
              </a:spcBef>
            </a:pPr>
            <a:r>
              <a:rPr sz="1300" b="0">
                <a:solidFill>
                  <a:srgbClr val="404040"/>
                </a:solidFill>
              </a:rPr>
              <a:t>man das Ergebnis gesehen hat</a:t>
            </a:r>
          </a:p>
        </p:txBody>
      </p:sp>
      <p:sp>
        <p:nvSpPr>
          <p:cNvPr id="9" name="Rectangle 8"/>
          <p:cNvSpPr/>
          <p:nvPr/>
        </p:nvSpPr>
        <p:spPr>
          <a:xfrm>
            <a:off x="5113020" y="1879600"/>
            <a:ext cx="3545840" cy="2260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879600"/>
            <a:ext cx="50800" cy="2260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006600"/>
            <a:ext cx="3215640" cy="2006600"/>
          </a:xfrm>
          <a:prstGeom prst="rect">
            <a:avLst/>
          </a:prstGeom>
          <a:noFill/>
        </p:spPr>
        <p:txBody>
          <a:bodyPr wrap="square" lIns="0" tIns="0" rIns="0" bIns="0">
            <a:spAutoFit/>
          </a:bodyPr>
          <a:lstStyle/>
          <a:p>
            <a:pPr algn="l">
              <a:lnSpc>
                <a:spcPct val="95000"/>
              </a:lnSpc>
            </a:pPr>
            <a:r>
              <a:rPr sz="1500" b="1">
                <a:solidFill>
                  <a:srgbClr val="003E6E"/>
                </a:solidFill>
              </a:rPr>
              <a:t>Die Folge</a:t>
            </a:r>
          </a:p>
          <a:p>
            <a:pPr algn="l">
              <a:lnSpc>
                <a:spcPct val="95000"/>
              </a:lnSpc>
              <a:spcBef>
                <a:spcPts val="500"/>
              </a:spcBef>
            </a:pPr>
            <a:r>
              <a:rPr sz="1300" b="0">
                <a:solidFill>
                  <a:srgbClr val="404040"/>
                </a:solidFill>
              </a:rPr>
              <a:t>Jedes Ergebnis lässt sich</a:t>
            </a:r>
          </a:p>
          <a:p>
            <a:pPr algn="l">
              <a:lnSpc>
                <a:spcPct val="95000"/>
              </a:lnSpc>
              <a:spcBef>
                <a:spcPts val="500"/>
              </a:spcBef>
            </a:pPr>
            <a:r>
              <a:rPr sz="1300" b="0">
                <a:solidFill>
                  <a:srgbClr val="404040"/>
                </a:solidFill>
              </a:rPr>
              <a:t>im Nachhinein gut finden</a:t>
            </a:r>
          </a:p>
          <a:p>
            <a:pPr algn="l">
              <a:lnSpc>
                <a:spcPct val="95000"/>
              </a:lnSpc>
              <a:spcBef>
                <a:spcPts val="500"/>
              </a:spcBef>
            </a:pPr>
            <a:r>
              <a:rPr sz="1300" b="0">
                <a:solidFill>
                  <a:srgbClr val="404040"/>
                </a:solidFill>
              </a:rPr>
              <a:t>Niemand kann sagen, ob das</a:t>
            </a:r>
          </a:p>
          <a:p>
            <a:pPr algn="l">
              <a:lnSpc>
                <a:spcPct val="95000"/>
              </a:lnSpc>
              <a:spcBef>
                <a:spcPts val="500"/>
              </a:spcBef>
            </a:pPr>
            <a:r>
              <a:rPr sz="1300" b="0">
                <a:solidFill>
                  <a:srgbClr val="404040"/>
                </a:solidFill>
              </a:rPr>
              <a:t>Projekt sein Ziel erreicht hat</a:t>
            </a:r>
          </a:p>
        </p:txBody>
      </p:sp>
      <p:sp>
        <p:nvSpPr>
          <p:cNvPr id="12" name="Rectangle 11"/>
          <p:cNvSpPr/>
          <p:nvPr/>
        </p:nvSpPr>
        <p:spPr>
          <a:xfrm>
            <a:off x="9081770" y="1879600"/>
            <a:ext cx="3545840" cy="2260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879600"/>
            <a:ext cx="50800" cy="2260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006600"/>
            <a:ext cx="3215640" cy="2006600"/>
          </a:xfrm>
          <a:prstGeom prst="rect">
            <a:avLst/>
          </a:prstGeom>
          <a:noFill/>
        </p:spPr>
        <p:txBody>
          <a:bodyPr wrap="square" lIns="0" tIns="0" rIns="0" bIns="0">
            <a:spAutoFit/>
          </a:bodyPr>
          <a:lstStyle/>
          <a:p>
            <a:pPr algn="l">
              <a:lnSpc>
                <a:spcPct val="95000"/>
              </a:lnSpc>
            </a:pPr>
            <a:r>
              <a:rPr sz="1500" b="1">
                <a:solidFill>
                  <a:srgbClr val="003E6E"/>
                </a:solidFill>
              </a:rPr>
              <a:t>Mit CRISP-DM</a:t>
            </a:r>
          </a:p>
          <a:p>
            <a:pPr algn="l">
              <a:lnSpc>
                <a:spcPct val="95000"/>
              </a:lnSpc>
              <a:spcBef>
                <a:spcPts val="500"/>
              </a:spcBef>
            </a:pPr>
            <a:r>
              <a:rPr sz="1300" b="0">
                <a:solidFill>
                  <a:srgbClr val="404040"/>
                </a:solidFill>
              </a:rPr>
              <a:t>Die Frage steht vor den Daten</a:t>
            </a:r>
          </a:p>
          <a:p>
            <a:pPr algn="l">
              <a:lnSpc>
                <a:spcPct val="95000"/>
              </a:lnSpc>
              <a:spcBef>
                <a:spcPts val="500"/>
              </a:spcBef>
            </a:pPr>
            <a:r>
              <a:rPr sz="1300" b="0">
                <a:solidFill>
                  <a:srgbClr val="404040"/>
                </a:solidFill>
              </a:rPr>
              <a:t>Die Hürde steht vor dem Ergebnis</a:t>
            </a:r>
          </a:p>
          <a:p>
            <a:pPr algn="l">
              <a:lnSpc>
                <a:spcPct val="95000"/>
              </a:lnSpc>
              <a:spcBef>
                <a:spcPts val="500"/>
              </a:spcBef>
            </a:pPr>
            <a:r>
              <a:rPr sz="1300" b="0">
                <a:solidFill>
                  <a:srgbClr val="404040"/>
                </a:solidFill>
              </a:rPr>
              <a:t>Und es gibt einen benannten Ort</a:t>
            </a:r>
          </a:p>
          <a:p>
            <a:pPr algn="l">
              <a:lnSpc>
                <a:spcPct val="95000"/>
              </a:lnSpc>
              <a:spcBef>
                <a:spcPts val="500"/>
              </a:spcBef>
            </a:pPr>
            <a:r>
              <a:rPr sz="1300" b="0">
                <a:solidFill>
                  <a:srgbClr val="404040"/>
                </a:solidFill>
              </a:rPr>
              <a:t>für das Eingeständnis: zurück</a:t>
            </a:r>
          </a:p>
        </p:txBody>
      </p:sp>
      <p:sp>
        <p:nvSpPr>
          <p:cNvPr id="15" name="Rectangle 14"/>
          <p:cNvSpPr/>
          <p:nvPr/>
        </p:nvSpPr>
        <p:spPr>
          <a:xfrm>
            <a:off x="1153160" y="43434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56360" y="44196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CRISP-DM ist kein Werkzeug, sondern eine Reihenfolge mit verbindlichen Zwischenständen. Der Wert steckt nicht in den sechs Namen, sondern darin, dass man sie NICHT überspringen darf.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Sechs Phasen, und jede beantwortet genau eine Frage</a:t>
            </a:r>
          </a:p>
        </p:txBody>
      </p:sp>
      <p:sp>
        <p:nvSpPr>
          <p:cNvPr id="3" name="Text Placeholder 2"/>
          <p:cNvSpPr>
            <a:spLocks noGrp="1"/>
          </p:cNvSpPr>
          <p:nvPr>
            <p:ph type="body" idx="12" sz="quarter"/>
          </p:nvPr>
        </p:nvSpPr>
        <p:spPr/>
        <p:txBody>
          <a:bodyPr/>
          <a:lstStyle/>
          <a:p>
            <a:r>
              <a:t>Überblick</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Von der Geschäftsfrage zum laufenden Betrieb. Die Reihenfolge ist verbindlich, aber sie ist keine Einbahnstraße.</a:t>
            </a:r>
          </a:p>
        </p:txBody>
      </p:sp>
      <p:sp>
        <p:nvSpPr>
          <p:cNvPr id="6" name="Rectangle 5"/>
          <p:cNvSpPr/>
          <p:nvPr/>
        </p:nvSpPr>
        <p:spPr>
          <a:xfrm>
            <a:off x="1051560" y="3011971"/>
            <a:ext cx="11677650" cy="1900856"/>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crispdm-kreis.png"/>
          <p:cNvPicPr>
            <a:picLocks noChangeAspect="1"/>
          </p:cNvPicPr>
          <p:nvPr/>
        </p:nvPicPr>
        <p:blipFill>
          <a:blip r:embed="rId2"/>
          <a:stretch>
            <a:fillRect/>
          </a:stretch>
        </p:blipFill>
        <p:spPr>
          <a:xfrm>
            <a:off x="1153160" y="3113571"/>
            <a:ext cx="11474450" cy="1697656"/>
          </a:xfrm>
          <a:prstGeom prst="rect">
            <a:avLst/>
          </a:prstGeom>
        </p:spPr>
      </p:pic>
      <p:sp>
        <p:nvSpPr>
          <p:cNvPr id="8" name="Rectangle 7"/>
          <p:cNvSpPr/>
          <p:nvPr/>
        </p:nvSpPr>
        <p:spPr>
          <a:xfrm>
            <a:off x="1153160" y="3302000"/>
            <a:ext cx="11474450" cy="1346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153160" y="3302000"/>
            <a:ext cx="50800" cy="1346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56360" y="3429000"/>
            <a:ext cx="11093450" cy="1092200"/>
          </a:xfrm>
          <a:prstGeom prst="rect">
            <a:avLst/>
          </a:prstGeom>
          <a:noFill/>
        </p:spPr>
        <p:txBody>
          <a:bodyPr wrap="square" lIns="0" tIns="0" rIns="0" bIns="0">
            <a:spAutoFit/>
          </a:bodyPr>
          <a:lstStyle/>
          <a:p>
            <a:pPr algn="l">
              <a:lnSpc>
                <a:spcPct val="95000"/>
              </a:lnSpc>
            </a:pPr>
            <a:r>
              <a:rPr sz="1500" b="1">
                <a:solidFill>
                  <a:srgbClr val="003E6E"/>
                </a:solidFill>
              </a:rPr>
              <a:t>Die Faustregel, die alle unterschätzen</a:t>
            </a:r>
          </a:p>
          <a:p>
            <a:pPr algn="l">
              <a:lnSpc>
                <a:spcPct val="95000"/>
              </a:lnSpc>
              <a:spcBef>
                <a:spcPts val="500"/>
              </a:spcBef>
            </a:pPr>
            <a:r>
              <a:rPr sz="1300" b="0">
                <a:solidFill>
                  <a:srgbClr val="404040"/>
                </a:solidFill>
              </a:rPr>
              <a:t>Phase 2 und 3 kosten in echten Projekten 60 bis 80 Prozent der Zeit.</a:t>
            </a:r>
          </a:p>
          <a:p>
            <a:pPr algn="l">
              <a:lnSpc>
                <a:spcPct val="95000"/>
              </a:lnSpc>
              <a:spcBef>
                <a:spcPts val="500"/>
              </a:spcBef>
            </a:pPr>
            <a:r>
              <a:rPr sz="1300" b="0">
                <a:solidFill>
                  <a:srgbClr val="404040"/>
                </a:solidFill>
              </a:rPr>
              <a:t>Phase 4 — das Modellieren, an das alle denken — sind oft zehn Zeilen Code.</a:t>
            </a:r>
          </a:p>
          <a:p>
            <a:pPr algn="l">
              <a:lnSpc>
                <a:spcPct val="95000"/>
              </a:lnSpc>
              <a:spcBef>
                <a:spcPts val="500"/>
              </a:spcBef>
            </a:pPr>
            <a:r>
              <a:rPr sz="1300" b="0">
                <a:solidFill>
                  <a:srgbClr val="404040"/>
                </a:solidFill>
              </a:rPr>
              <a:t>Wer beim Lesen eines Notebooks die Zeilen zählt, sieht dasselbe Verhältnis.</a:t>
            </a:r>
          </a:p>
        </p:txBody>
      </p:sp>
      <p:sp>
        <p:nvSpPr>
          <p:cNvPr id="11" name="Rectangle 10"/>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3" name="Rectangle 12"/>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5" name="Rectangle 14"/>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17" name="Rectangle 16"/>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19" name="Rectangle 18"/>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1" name="Rectangle 20"/>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Understanding: Was ist das Problem — und woran messen wir Erfolg?</a:t>
            </a:r>
          </a:p>
        </p:txBody>
      </p:sp>
      <p:sp>
        <p:nvSpPr>
          <p:cNvPr id="3" name="Text Placeholder 2"/>
          <p:cNvSpPr>
            <a:spLocks noGrp="1"/>
          </p:cNvSpPr>
          <p:nvPr>
            <p:ph type="body" idx="12" sz="quarter"/>
          </p:nvPr>
        </p:nvSpPr>
        <p:spPr/>
        <p:txBody>
          <a:bodyPr/>
          <a:lstStyle/>
          <a:p>
            <a:r>
              <a:t>Phase 1 von 6</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Rectangle 4"/>
          <p:cNvSpPr/>
          <p:nvPr/>
        </p:nvSpPr>
        <p:spPr>
          <a:xfrm>
            <a:off x="1153160" y="13462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30960" y="1524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8" name="TextBox 7"/>
          <p:cNvSpPr txBox="1"/>
          <p:nvPr/>
        </p:nvSpPr>
        <p:spPr>
          <a:xfrm>
            <a:off x="1788160" y="14224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Geschäftsziel  </a:t>
            </a:r>
            <a:r>
              <a:rPr sz="1300">
                <a:solidFill>
                  <a:srgbClr val="404040"/>
                </a:solidFill>
              </a:rPr>
              <a:t>Was soll sich im Betrieb ändern? In der Sprache des Fachs, nicht der Statistik</a:t>
            </a:r>
          </a:p>
        </p:txBody>
      </p:sp>
      <p:sp>
        <p:nvSpPr>
          <p:cNvPr id="9" name="Rectangle 8"/>
          <p:cNvSpPr/>
          <p:nvPr/>
        </p:nvSpPr>
        <p:spPr>
          <a:xfrm>
            <a:off x="1153160" y="21336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21336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0960" y="2311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2" name="TextBox 11"/>
          <p:cNvSpPr txBox="1"/>
          <p:nvPr/>
        </p:nvSpPr>
        <p:spPr>
          <a:xfrm>
            <a:off x="1788160" y="22098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Analytisches Ziel  </a:t>
            </a:r>
            <a:r>
              <a:rPr sz="1300">
                <a:solidFill>
                  <a:srgbClr val="404040"/>
                </a:solidFill>
              </a:rPr>
              <a:t>Was genau soll geschätzt, sortiert oder gruppiert werden?</a:t>
            </a:r>
          </a:p>
        </p:txBody>
      </p:sp>
      <p:sp>
        <p:nvSpPr>
          <p:cNvPr id="13" name="Rectangle 12"/>
          <p:cNvSpPr/>
          <p:nvPr/>
        </p:nvSpPr>
        <p:spPr>
          <a:xfrm>
            <a:off x="1153160" y="29210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53160" y="29210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30960" y="30988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6" name="TextBox 15"/>
          <p:cNvSpPr txBox="1"/>
          <p:nvPr/>
        </p:nvSpPr>
        <p:spPr>
          <a:xfrm>
            <a:off x="1788160" y="29972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Erfolgskriterium  </a:t>
            </a:r>
            <a:r>
              <a:rPr sz="1300">
                <a:solidFill>
                  <a:srgbClr val="404040"/>
                </a:solidFill>
              </a:rPr>
              <a:t>Eine Zahl mit einer Hürde — festgelegt, BEVOR jemand die Daten gesehen hat</a:t>
            </a:r>
          </a:p>
        </p:txBody>
      </p:sp>
      <p:sp>
        <p:nvSpPr>
          <p:cNvPr id="17" name="Rectangle 16"/>
          <p:cNvSpPr/>
          <p:nvPr/>
        </p:nvSpPr>
        <p:spPr>
          <a:xfrm>
            <a:off x="1153160" y="37084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53160" y="37084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330960" y="3886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0" name="TextBox 19"/>
          <p:cNvSpPr txBox="1"/>
          <p:nvPr/>
        </p:nvSpPr>
        <p:spPr>
          <a:xfrm>
            <a:off x="1788160" y="37846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Fehlerkosten  </a:t>
            </a:r>
            <a:r>
              <a:rPr sz="1300">
                <a:solidFill>
                  <a:srgbClr val="404040"/>
                </a:solidFill>
              </a:rPr>
              <a:t>Welcher Fehler ist teurer? Fast nie sind beide gleich teuer</a:t>
            </a:r>
          </a:p>
        </p:txBody>
      </p:sp>
      <p:sp>
        <p:nvSpPr>
          <p:cNvPr id="21" name="Rectangle 20"/>
          <p:cNvSpPr/>
          <p:nvPr/>
        </p:nvSpPr>
        <p:spPr>
          <a:xfrm>
            <a:off x="1153160"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1 Business</a:t>
            </a:r>
          </a:p>
          <a:p>
            <a:pPr algn="ctr">
              <a:lnSpc>
                <a:spcPct val="95000"/>
              </a:lnSpc>
            </a:pPr>
            <a:r>
              <a:rPr sz="1300" b="1">
                <a:solidFill>
                  <a:srgbClr val="FFFFFF"/>
                </a:solidFill>
              </a:rPr>
              <a:t>Understanding</a:t>
            </a:r>
          </a:p>
        </p:txBody>
      </p:sp>
      <p:sp>
        <p:nvSpPr>
          <p:cNvPr id="23" name="Rectangle 22"/>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5" name="Rectangle 24"/>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7" name="Rectangle 26"/>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9" name="Rectangle 28"/>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1" name="Rectangle 30"/>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Understanding: Tragen die Daten die Frage überhaupt?</a:t>
            </a:r>
          </a:p>
        </p:txBody>
      </p:sp>
      <p:sp>
        <p:nvSpPr>
          <p:cNvPr id="3" name="Text Placeholder 2"/>
          <p:cNvSpPr>
            <a:spLocks noGrp="1"/>
          </p:cNvSpPr>
          <p:nvPr>
            <p:ph type="body" idx="12" sz="quarter"/>
          </p:nvPr>
        </p:nvSpPr>
        <p:spPr/>
        <p:txBody>
          <a:bodyPr/>
          <a:lstStyle/>
          <a:p>
            <a:r>
              <a:t>Phase 2 von 6</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Rectangle 4"/>
          <p:cNvSpPr/>
          <p:nvPr/>
        </p:nvSpPr>
        <p:spPr>
          <a:xfrm>
            <a:off x="1153160" y="13462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30960" y="1524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8" name="TextBox 7"/>
          <p:cNvSpPr txBox="1"/>
          <p:nvPr/>
        </p:nvSpPr>
        <p:spPr>
          <a:xfrm>
            <a:off x="1788160" y="14224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Beschaffen  </a:t>
            </a:r>
            <a:r>
              <a:rPr sz="1300">
                <a:solidFill>
                  <a:srgbClr val="404040"/>
                </a:solidFill>
              </a:rPr>
              <a:t>Woher kommen die Daten, und was fehlt?</a:t>
            </a:r>
          </a:p>
        </p:txBody>
      </p:sp>
      <p:sp>
        <p:nvSpPr>
          <p:cNvPr id="9" name="Rectangle 8"/>
          <p:cNvSpPr/>
          <p:nvPr/>
        </p:nvSpPr>
        <p:spPr>
          <a:xfrm>
            <a:off x="1153160" y="21336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21336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0960" y="2311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2" name="TextBox 11"/>
          <p:cNvSpPr txBox="1"/>
          <p:nvPr/>
        </p:nvSpPr>
        <p:spPr>
          <a:xfrm>
            <a:off x="1788160" y="22098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Beschreiben  </a:t>
            </a:r>
            <a:r>
              <a:rPr sz="1300">
                <a:solidFill>
                  <a:srgbClr val="404040"/>
                </a:solidFill>
              </a:rPr>
              <a:t>Wie viele Zeilen, welche Spalten, welche Lücken?</a:t>
            </a:r>
          </a:p>
        </p:txBody>
      </p:sp>
      <p:sp>
        <p:nvSpPr>
          <p:cNvPr id="13" name="Rectangle 12"/>
          <p:cNvSpPr/>
          <p:nvPr/>
        </p:nvSpPr>
        <p:spPr>
          <a:xfrm>
            <a:off x="1153160" y="29210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53160" y="29210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30960" y="30988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6" name="TextBox 15"/>
          <p:cNvSpPr txBox="1"/>
          <p:nvPr/>
        </p:nvSpPr>
        <p:spPr>
          <a:xfrm>
            <a:off x="1788160" y="29972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Erkunden  </a:t>
            </a:r>
            <a:r>
              <a:rPr sz="1300">
                <a:solidFill>
                  <a:srgbClr val="404040"/>
                </a:solidFill>
              </a:rPr>
              <a:t>Zuerst die Zielgröße ansehen, dann die Zusammenhänge</a:t>
            </a:r>
          </a:p>
        </p:txBody>
      </p:sp>
      <p:sp>
        <p:nvSpPr>
          <p:cNvPr id="17" name="Rectangle 16"/>
          <p:cNvSpPr/>
          <p:nvPr/>
        </p:nvSpPr>
        <p:spPr>
          <a:xfrm>
            <a:off x="1153160" y="37084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53160" y="37084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330960" y="3886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0" name="TextBox 19"/>
          <p:cNvSpPr txBox="1"/>
          <p:nvPr/>
        </p:nvSpPr>
        <p:spPr>
          <a:xfrm>
            <a:off x="1788160" y="37846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Qualität prüfen  </a:t>
            </a:r>
            <a:r>
              <a:rPr sz="1300">
                <a:solidFill>
                  <a:srgbClr val="404040"/>
                </a:solidFill>
              </a:rPr>
              <a:t>Was ist unplausibel — und ist es ein Fehler oder ein Befund?</a:t>
            </a:r>
          </a:p>
        </p:txBody>
      </p:sp>
      <p:sp>
        <p:nvSpPr>
          <p:cNvPr id="21" name="Rectangle 20"/>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3" name="Rectangle 22"/>
          <p:cNvSpPr/>
          <p:nvPr/>
        </p:nvSpPr>
        <p:spPr>
          <a:xfrm>
            <a:off x="3076151"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2 Data</a:t>
            </a:r>
          </a:p>
          <a:p>
            <a:pPr algn="ctr">
              <a:lnSpc>
                <a:spcPct val="95000"/>
              </a:lnSpc>
            </a:pPr>
            <a:r>
              <a:rPr sz="1300" b="1">
                <a:solidFill>
                  <a:srgbClr val="FFFFFF"/>
                </a:solidFill>
              </a:rPr>
              <a:t>Understanding</a:t>
            </a:r>
          </a:p>
        </p:txBody>
      </p:sp>
      <p:sp>
        <p:nvSpPr>
          <p:cNvPr id="25" name="Rectangle 24"/>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7" name="Rectangle 26"/>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9" name="Rectangle 28"/>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1" name="Rectangle 30"/>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Preparation: Wie werden aus Rohdaten Merkmale, die man verwenden darf?</a:t>
            </a:r>
          </a:p>
        </p:txBody>
      </p:sp>
      <p:sp>
        <p:nvSpPr>
          <p:cNvPr id="3" name="Text Placeholder 2"/>
          <p:cNvSpPr>
            <a:spLocks noGrp="1"/>
          </p:cNvSpPr>
          <p:nvPr>
            <p:ph type="body" idx="12" sz="quarter"/>
          </p:nvPr>
        </p:nvSpPr>
        <p:spPr/>
        <p:txBody>
          <a:bodyPr/>
          <a:lstStyle/>
          <a:p>
            <a:r>
              <a:t>Phase 3 von 6</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Rectangle 4"/>
          <p:cNvSpPr/>
          <p:nvPr/>
        </p:nvSpPr>
        <p:spPr>
          <a:xfrm>
            <a:off x="1153160" y="13462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30960" y="1524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8" name="TextBox 7"/>
          <p:cNvSpPr txBox="1"/>
          <p:nvPr/>
        </p:nvSpPr>
        <p:spPr>
          <a:xfrm>
            <a:off x="1788160" y="14224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Auswählen  </a:t>
            </a:r>
            <a:r>
              <a:rPr sz="1300">
                <a:solidFill>
                  <a:srgbClr val="404040"/>
                </a:solidFill>
              </a:rPr>
              <a:t>Zeilen und Spalten begründet ausschließen — jeder Filter mit Zeilenzahl davor und danach</a:t>
            </a:r>
          </a:p>
        </p:txBody>
      </p:sp>
      <p:sp>
        <p:nvSpPr>
          <p:cNvPr id="9" name="Rectangle 8"/>
          <p:cNvSpPr/>
          <p:nvPr/>
        </p:nvSpPr>
        <p:spPr>
          <a:xfrm>
            <a:off x="1153160" y="21336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21336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0960" y="2311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2" name="TextBox 11"/>
          <p:cNvSpPr txBox="1"/>
          <p:nvPr/>
        </p:nvSpPr>
        <p:spPr>
          <a:xfrm>
            <a:off x="1788160" y="22098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Bereinigen  </a:t>
            </a:r>
            <a:r>
              <a:rPr sz="1300">
                <a:solidFill>
                  <a:srgbClr val="404040"/>
                </a:solidFill>
              </a:rPr>
              <a:t>Fehlende Werte, Ausreißer, Dubletten</a:t>
            </a:r>
          </a:p>
        </p:txBody>
      </p:sp>
      <p:sp>
        <p:nvSpPr>
          <p:cNvPr id="13" name="Rectangle 12"/>
          <p:cNvSpPr/>
          <p:nvPr/>
        </p:nvSpPr>
        <p:spPr>
          <a:xfrm>
            <a:off x="1153160" y="29210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53160" y="29210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30960" y="30988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6" name="TextBox 15"/>
          <p:cNvSpPr txBox="1"/>
          <p:nvPr/>
        </p:nvSpPr>
        <p:spPr>
          <a:xfrm>
            <a:off x="1788160" y="29972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Merkmale bauen  </a:t>
            </a:r>
            <a:r>
              <a:rPr sz="1300">
                <a:solidFill>
                  <a:srgbClr val="404040"/>
                </a:solidFill>
              </a:rPr>
              <a:t>Aus Zeitstempel wird Stunde, Wochentag, Feiertag</a:t>
            </a:r>
          </a:p>
        </p:txBody>
      </p:sp>
      <p:sp>
        <p:nvSpPr>
          <p:cNvPr id="17" name="Rectangle 16"/>
          <p:cNvSpPr/>
          <p:nvPr/>
        </p:nvSpPr>
        <p:spPr>
          <a:xfrm>
            <a:off x="1153160" y="37084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53160" y="37084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330960" y="3886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0" name="TextBox 19"/>
          <p:cNvSpPr txBox="1"/>
          <p:nvPr/>
        </p:nvSpPr>
        <p:spPr>
          <a:xfrm>
            <a:off x="1788160" y="37846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Aufteilen  </a:t>
            </a:r>
            <a:r>
              <a:rPr sz="1300">
                <a:solidFill>
                  <a:srgbClr val="404040"/>
                </a:solidFill>
              </a:rPr>
              <a:t>Trainings- und Testmenge — bei Zeitbezug entlang der Zeit, nicht zufällig</a:t>
            </a:r>
          </a:p>
        </p:txBody>
      </p:sp>
      <p:sp>
        <p:nvSpPr>
          <p:cNvPr id="21" name="Rectangle 20"/>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3" name="Rectangle 22"/>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5" name="Rectangle 24"/>
          <p:cNvSpPr/>
          <p:nvPr/>
        </p:nvSpPr>
        <p:spPr>
          <a:xfrm>
            <a:off x="4999143"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3 Data</a:t>
            </a:r>
          </a:p>
          <a:p>
            <a:pPr algn="ctr">
              <a:lnSpc>
                <a:spcPct val="95000"/>
              </a:lnSpc>
            </a:pPr>
            <a:r>
              <a:rPr sz="1300" b="1">
                <a:solidFill>
                  <a:srgbClr val="FFFFFF"/>
                </a:solidFill>
              </a:rPr>
              <a:t>Preparation</a:t>
            </a:r>
          </a:p>
        </p:txBody>
      </p:sp>
      <p:sp>
        <p:nvSpPr>
          <p:cNvPr id="27" name="Rectangle 26"/>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9" name="Rectangle 28"/>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1" name="Rectangle 30"/>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Modeling: Welches Verfahren, und woran messen wir es?</a:t>
            </a:r>
          </a:p>
        </p:txBody>
      </p:sp>
      <p:sp>
        <p:nvSpPr>
          <p:cNvPr id="3" name="Text Placeholder 2"/>
          <p:cNvSpPr>
            <a:spLocks noGrp="1"/>
          </p:cNvSpPr>
          <p:nvPr>
            <p:ph type="body" idx="12" sz="quarter"/>
          </p:nvPr>
        </p:nvSpPr>
        <p:spPr/>
        <p:txBody>
          <a:bodyPr/>
          <a:lstStyle/>
          <a:p>
            <a:r>
              <a:t>Phase 4 von 6</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Rectangle 4"/>
          <p:cNvSpPr/>
          <p:nvPr/>
        </p:nvSpPr>
        <p:spPr>
          <a:xfrm>
            <a:off x="1153160" y="13462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30960" y="1524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8" name="TextBox 7"/>
          <p:cNvSpPr txBox="1"/>
          <p:nvPr/>
        </p:nvSpPr>
        <p:spPr>
          <a:xfrm>
            <a:off x="1788160" y="14224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Nullmodell zuerst  </a:t>
            </a:r>
            <a:r>
              <a:rPr sz="1300">
                <a:solidFill>
                  <a:srgbClr val="404040"/>
                </a:solidFill>
              </a:rPr>
              <a:t>Der einfachste denkbare Tipp. Wer den nicht schlägt, hat nichts gewonnen</a:t>
            </a:r>
          </a:p>
        </p:txBody>
      </p:sp>
      <p:sp>
        <p:nvSpPr>
          <p:cNvPr id="9" name="Rectangle 8"/>
          <p:cNvSpPr/>
          <p:nvPr/>
        </p:nvSpPr>
        <p:spPr>
          <a:xfrm>
            <a:off x="1153160" y="21336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21336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0960" y="2311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2" name="TextBox 11"/>
          <p:cNvSpPr txBox="1"/>
          <p:nvPr/>
        </p:nvSpPr>
        <p:spPr>
          <a:xfrm>
            <a:off x="1788160" y="22098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Faustregel als Maßstab  </a:t>
            </a:r>
            <a:r>
              <a:rPr sz="1300">
                <a:solidFill>
                  <a:srgbClr val="404040"/>
                </a:solidFill>
              </a:rPr>
              <a:t>Was macht der Betrieb heute ohne Modell?</a:t>
            </a:r>
          </a:p>
        </p:txBody>
      </p:sp>
      <p:sp>
        <p:nvSpPr>
          <p:cNvPr id="13" name="Rectangle 12"/>
          <p:cNvSpPr/>
          <p:nvPr/>
        </p:nvSpPr>
        <p:spPr>
          <a:xfrm>
            <a:off x="1153160" y="29210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53160" y="29210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30960" y="30988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6" name="TextBox 15"/>
          <p:cNvSpPr txBox="1"/>
          <p:nvPr/>
        </p:nvSpPr>
        <p:spPr>
          <a:xfrm>
            <a:off x="1788160" y="29972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Dann erst Verfahren  </a:t>
            </a:r>
            <a:r>
              <a:rPr sz="1300">
                <a:solidFill>
                  <a:srgbClr val="404040"/>
                </a:solidFill>
              </a:rPr>
              <a:t>Vom Durchschaubaren zum Stärkeren, nicht umgekehrt</a:t>
            </a:r>
          </a:p>
        </p:txBody>
      </p:sp>
      <p:sp>
        <p:nvSpPr>
          <p:cNvPr id="17" name="Rectangle 16"/>
          <p:cNvSpPr/>
          <p:nvPr/>
        </p:nvSpPr>
        <p:spPr>
          <a:xfrm>
            <a:off x="1153160" y="37084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53160" y="37084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330960" y="3886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0" name="TextBox 19"/>
          <p:cNvSpPr txBox="1"/>
          <p:nvPr/>
        </p:nvSpPr>
        <p:spPr>
          <a:xfrm>
            <a:off x="1788160" y="37846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Kosten einbauen  </a:t>
            </a:r>
            <a:r>
              <a:rPr sz="1300">
                <a:solidFill>
                  <a:srgbClr val="404040"/>
                </a:solidFill>
              </a:rPr>
              <a:t>Ungleiche Fehlerkosten gehören ins Modell, nicht in die Nachbetrachtung</a:t>
            </a:r>
          </a:p>
        </p:txBody>
      </p:sp>
      <p:sp>
        <p:nvSpPr>
          <p:cNvPr id="21" name="Rectangle 20"/>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3" name="Rectangle 22"/>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5" name="Rectangle 24"/>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7" name="Rectangle 26"/>
          <p:cNvSpPr/>
          <p:nvPr/>
        </p:nvSpPr>
        <p:spPr>
          <a:xfrm>
            <a:off x="6922134"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4 Modeling</a:t>
            </a:r>
          </a:p>
        </p:txBody>
      </p:sp>
      <p:sp>
        <p:nvSpPr>
          <p:cNvPr id="29" name="Rectangle 28"/>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1" name="Rectangle 30"/>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Reicht das für die Entscheidung, um die es geht?</a:t>
            </a:r>
          </a:p>
        </p:txBody>
      </p:sp>
      <p:sp>
        <p:nvSpPr>
          <p:cNvPr id="3" name="Text Placeholder 2"/>
          <p:cNvSpPr>
            <a:spLocks noGrp="1"/>
          </p:cNvSpPr>
          <p:nvPr>
            <p:ph type="body" idx="12" sz="quarter"/>
          </p:nvPr>
        </p:nvSpPr>
        <p:spPr/>
        <p:txBody>
          <a:bodyPr/>
          <a:lstStyle/>
          <a:p>
            <a:r>
              <a:t>Phase 5 von 6</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Rectangle 4"/>
          <p:cNvSpPr/>
          <p:nvPr/>
        </p:nvSpPr>
        <p:spPr>
          <a:xfrm>
            <a:off x="1153160" y="13462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30960" y="1524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8" name="TextBox 7"/>
          <p:cNvSpPr txBox="1"/>
          <p:nvPr/>
        </p:nvSpPr>
        <p:spPr>
          <a:xfrm>
            <a:off x="1788160" y="14224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Technische Güte  </a:t>
            </a:r>
            <a:r>
              <a:rPr sz="1300">
                <a:solidFill>
                  <a:srgbClr val="404040"/>
                </a:solidFill>
              </a:rPr>
              <a:t>MAE, Trefferquote, Silhouette — notwendig, aber nie hinreichend</a:t>
            </a:r>
          </a:p>
        </p:txBody>
      </p:sp>
      <p:sp>
        <p:nvSpPr>
          <p:cNvPr id="9" name="Rectangle 8"/>
          <p:cNvSpPr/>
          <p:nvPr/>
        </p:nvSpPr>
        <p:spPr>
          <a:xfrm>
            <a:off x="1153160" y="21336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21336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0960" y="2311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2" name="TextBox 11"/>
          <p:cNvSpPr txBox="1"/>
          <p:nvPr/>
        </p:nvSpPr>
        <p:spPr>
          <a:xfrm>
            <a:off x="1788160" y="22098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Gegen die Hürde  </a:t>
            </a:r>
            <a:r>
              <a:rPr sz="1300">
                <a:solidFill>
                  <a:srgbClr val="404040"/>
                </a:solidFill>
              </a:rPr>
              <a:t>Die Zahl aus Phase 1 — bestanden oder nicht</a:t>
            </a:r>
          </a:p>
        </p:txBody>
      </p:sp>
      <p:sp>
        <p:nvSpPr>
          <p:cNvPr id="13" name="Rectangle 12"/>
          <p:cNvSpPr/>
          <p:nvPr/>
        </p:nvSpPr>
        <p:spPr>
          <a:xfrm>
            <a:off x="1153160" y="29210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53160" y="29210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30960" y="30988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6" name="TextBox 15"/>
          <p:cNvSpPr txBox="1"/>
          <p:nvPr/>
        </p:nvSpPr>
        <p:spPr>
          <a:xfrm>
            <a:off x="1788160" y="29972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Fehler ansehen  </a:t>
            </a:r>
            <a:r>
              <a:rPr sz="1300">
                <a:solidFill>
                  <a:srgbClr val="404040"/>
                </a:solidFill>
              </a:rPr>
              <a:t>Nicht nur wie gut, sondern WORAN es scheitert</a:t>
            </a:r>
          </a:p>
        </p:txBody>
      </p:sp>
      <p:sp>
        <p:nvSpPr>
          <p:cNvPr id="17" name="Rectangle 16"/>
          <p:cNvSpPr/>
          <p:nvPr/>
        </p:nvSpPr>
        <p:spPr>
          <a:xfrm>
            <a:off x="1153160" y="37084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53160" y="37084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330960" y="3886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0" name="TextBox 19"/>
          <p:cNvSpPr txBox="1"/>
          <p:nvPr/>
        </p:nvSpPr>
        <p:spPr>
          <a:xfrm>
            <a:off x="1788160" y="37846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Urteil fällen  </a:t>
            </a:r>
            <a:r>
              <a:rPr sz="1300">
                <a:solidFill>
                  <a:srgbClr val="404040"/>
                </a:solidFill>
              </a:rPr>
              <a:t>Weiter, zurück, oder ehrlich abbrechen</a:t>
            </a:r>
          </a:p>
        </p:txBody>
      </p:sp>
      <p:sp>
        <p:nvSpPr>
          <p:cNvPr id="21" name="Rectangle 20"/>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3" name="Rectangle 22"/>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5" name="Rectangle 24"/>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7" name="Rectangle 26"/>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9" name="Rectangle 28"/>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31" name="Rectangle 30"/>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 Wie kommt das Ergebnis in den Betrieb — und wer merkt, wenn es kippt?</a:t>
            </a:r>
          </a:p>
        </p:txBody>
      </p:sp>
      <p:sp>
        <p:nvSpPr>
          <p:cNvPr id="3" name="Text Placeholder 2"/>
          <p:cNvSpPr>
            <a:spLocks noGrp="1"/>
          </p:cNvSpPr>
          <p:nvPr>
            <p:ph type="body" idx="12" sz="quarter"/>
          </p:nvPr>
        </p:nvSpPr>
        <p:spPr/>
        <p:txBody>
          <a:bodyPr/>
          <a:lstStyle/>
          <a:p>
            <a:r>
              <a:t>Phase 6 von 6</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Rectangle 4"/>
          <p:cNvSpPr/>
          <p:nvPr/>
        </p:nvSpPr>
        <p:spPr>
          <a:xfrm>
            <a:off x="1153160" y="13462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30960" y="1524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8" name="TextBox 7"/>
          <p:cNvSpPr txBox="1"/>
          <p:nvPr/>
        </p:nvSpPr>
        <p:spPr>
          <a:xfrm>
            <a:off x="1788160" y="14224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Haltbar machen  </a:t>
            </a:r>
            <a:r>
              <a:rPr sz="1300">
                <a:solidFill>
                  <a:srgbClr val="404040"/>
                </a:solidFill>
              </a:rPr>
              <a:t>Modell und Merkmalsliste zusammen speichern</a:t>
            </a:r>
          </a:p>
        </p:txBody>
      </p:sp>
      <p:sp>
        <p:nvSpPr>
          <p:cNvPr id="9" name="Rectangle 8"/>
          <p:cNvSpPr/>
          <p:nvPr/>
        </p:nvSpPr>
        <p:spPr>
          <a:xfrm>
            <a:off x="1153160" y="21336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21336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0960" y="23114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2" name="TextBox 11"/>
          <p:cNvSpPr txBox="1"/>
          <p:nvPr/>
        </p:nvSpPr>
        <p:spPr>
          <a:xfrm>
            <a:off x="1788160" y="22098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Einbauen  </a:t>
            </a:r>
            <a:r>
              <a:rPr sz="1300">
                <a:solidFill>
                  <a:srgbClr val="404040"/>
                </a:solidFill>
              </a:rPr>
              <a:t>Die Funktion, die der Betrieb tatsächlich aufruft</a:t>
            </a:r>
          </a:p>
        </p:txBody>
      </p:sp>
      <p:sp>
        <p:nvSpPr>
          <p:cNvPr id="13" name="Rectangle 12"/>
          <p:cNvSpPr/>
          <p:nvPr/>
        </p:nvSpPr>
        <p:spPr>
          <a:xfrm>
            <a:off x="1153160" y="29210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53160" y="29210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30960" y="30988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6" name="TextBox 15"/>
          <p:cNvSpPr txBox="1"/>
          <p:nvPr/>
        </p:nvSpPr>
        <p:spPr>
          <a:xfrm>
            <a:off x="1788160" y="29972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Überwachen  </a:t>
            </a:r>
            <a:r>
              <a:rPr sz="1300">
                <a:solidFill>
                  <a:srgbClr val="404040"/>
                </a:solidFill>
              </a:rPr>
              <a:t>Woran erkennt man, dass das Modell veraltet?</a:t>
            </a:r>
          </a:p>
        </p:txBody>
      </p:sp>
      <p:sp>
        <p:nvSpPr>
          <p:cNvPr id="17" name="Rectangle 16"/>
          <p:cNvSpPr/>
          <p:nvPr/>
        </p:nvSpPr>
        <p:spPr>
          <a:xfrm>
            <a:off x="1153160" y="3708400"/>
            <a:ext cx="11474450" cy="685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53160" y="3708400"/>
            <a:ext cx="508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330960" y="3886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0" name="TextBox 19"/>
          <p:cNvSpPr txBox="1"/>
          <p:nvPr/>
        </p:nvSpPr>
        <p:spPr>
          <a:xfrm>
            <a:off x="1788160" y="3784600"/>
            <a:ext cx="7283450" cy="533400"/>
          </a:xfrm>
          <a:prstGeom prst="rect">
            <a:avLst/>
          </a:prstGeom>
          <a:noFill/>
        </p:spPr>
        <p:txBody>
          <a:bodyPr wrap="square" lIns="0" tIns="0" rIns="0" bIns="0" anchor="ctr">
            <a:spAutoFit/>
          </a:bodyPr>
          <a:lstStyle/>
          <a:p>
            <a:pPr>
              <a:lnSpc>
                <a:spcPct val="95000"/>
              </a:lnSpc>
            </a:pPr>
            <a:r>
              <a:rPr sz="1300" b="1">
                <a:solidFill>
                  <a:srgbClr val="003E6E"/>
                </a:solidFill>
              </a:rPr>
              <a:t>Rückkopplung bedenken  </a:t>
            </a:r>
            <a:r>
              <a:rPr sz="1300">
                <a:solidFill>
                  <a:srgbClr val="404040"/>
                </a:solidFill>
              </a:rPr>
              <a:t>Verändert die Auslieferung die Daten, aus denen wir künftig lernen?</a:t>
            </a:r>
          </a:p>
        </p:txBody>
      </p:sp>
      <p:sp>
        <p:nvSpPr>
          <p:cNvPr id="21" name="Rectangle 20"/>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3" name="Rectangle 22"/>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5" name="Rectangle 24"/>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7" name="Rectangle 26"/>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9" name="Rectangle 28"/>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1" name="Rectangle 30"/>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Rücksprung ist kein Scheitern — er ist das Verfahren</a:t>
            </a:r>
          </a:p>
        </p:txBody>
      </p:sp>
      <p:sp>
        <p:nvSpPr>
          <p:cNvPr id="3" name="Text Placeholder 2"/>
          <p:cNvSpPr>
            <a:spLocks noGrp="1"/>
          </p:cNvSpPr>
          <p:nvPr>
            <p:ph type="body" idx="12" sz="quarter"/>
          </p:nvPr>
        </p:nvSpPr>
        <p:spPr/>
        <p:txBody>
          <a:bodyPr/>
          <a:lstStyle/>
          <a:p>
            <a:r>
              <a:t>Der Kern</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Was CRISP-DM von einer Checkliste unterscheidet, sind die Pfeile zurück. In unseren sechs Fällen wurde viermal zurückgesprungen.</a:t>
            </a:r>
          </a:p>
        </p:txBody>
      </p:sp>
      <p:sp>
        <p:nvSpPr>
          <p:cNvPr id="6" name="Rectangle 5"/>
          <p:cNvSpPr/>
          <p:nvPr/>
        </p:nvSpPr>
        <p:spPr>
          <a:xfrm>
            <a:off x="1153160" y="1879600"/>
            <a:ext cx="19050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Fall</a:t>
            </a:r>
          </a:p>
        </p:txBody>
      </p:sp>
      <p:sp>
        <p:nvSpPr>
          <p:cNvPr id="7" name="Rectangle 6"/>
          <p:cNvSpPr/>
          <p:nvPr/>
        </p:nvSpPr>
        <p:spPr>
          <a:xfrm>
            <a:off x="3058160" y="1879600"/>
            <a:ext cx="16510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Rücksprung</a:t>
            </a:r>
          </a:p>
        </p:txBody>
      </p:sp>
      <p:sp>
        <p:nvSpPr>
          <p:cNvPr id="8" name="Rectangle 7"/>
          <p:cNvSpPr/>
          <p:nvPr/>
        </p:nvSpPr>
        <p:spPr>
          <a:xfrm>
            <a:off x="4709160" y="1879600"/>
            <a:ext cx="791845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Warum</a:t>
            </a:r>
          </a:p>
        </p:txBody>
      </p:sp>
      <p:sp>
        <p:nvSpPr>
          <p:cNvPr id="9" name="Rectangle 8"/>
          <p:cNvSpPr/>
          <p:nvPr/>
        </p:nvSpPr>
        <p:spPr>
          <a:xfrm>
            <a:off x="1153160" y="2438400"/>
            <a:ext cx="1905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 Regression</a:t>
            </a:r>
          </a:p>
        </p:txBody>
      </p:sp>
      <p:sp>
        <p:nvSpPr>
          <p:cNvPr id="10" name="Rectangle 9"/>
          <p:cNvSpPr/>
          <p:nvPr/>
        </p:nvSpPr>
        <p:spPr>
          <a:xfrm>
            <a:off x="3058160" y="2438400"/>
            <a:ext cx="1651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 → 1</a:t>
            </a:r>
          </a:p>
        </p:txBody>
      </p:sp>
      <p:sp>
        <p:nvSpPr>
          <p:cNvPr id="11" name="Rectangle 10"/>
          <p:cNvSpPr/>
          <p:nvPr/>
        </p:nvSpPr>
        <p:spPr>
          <a:xfrm>
            <a:off x="4709160" y="2438400"/>
            <a:ext cx="791845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Für zwei von drei Radtypen ist eine Punktschätzung die falsche Zusage — eine Spanne wäre ehrlich</a:t>
            </a:r>
          </a:p>
        </p:txBody>
      </p:sp>
      <p:sp>
        <p:nvSpPr>
          <p:cNvPr id="12" name="Rectangle 11"/>
          <p:cNvSpPr/>
          <p:nvPr/>
        </p:nvSpPr>
        <p:spPr>
          <a:xfrm>
            <a:off x="1153160" y="2997200"/>
            <a:ext cx="190500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 Clustering</a:t>
            </a:r>
          </a:p>
        </p:txBody>
      </p:sp>
      <p:sp>
        <p:nvSpPr>
          <p:cNvPr id="13" name="Rectangle 12"/>
          <p:cNvSpPr/>
          <p:nvPr/>
        </p:nvSpPr>
        <p:spPr>
          <a:xfrm>
            <a:off x="3058160" y="2997200"/>
            <a:ext cx="165100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 → 1</a:t>
            </a:r>
          </a:p>
        </p:txBody>
      </p:sp>
      <p:sp>
        <p:nvSpPr>
          <p:cNvPr id="14" name="Rectangle 13"/>
          <p:cNvSpPr/>
          <p:nvPr/>
        </p:nvSpPr>
        <p:spPr>
          <a:xfrm>
            <a:off x="4709160" y="2997200"/>
            <a:ext cx="791845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Die Analyse brachte eine bessere Frage hervor, als die war, mit der wir angefangen hatten</a:t>
            </a:r>
          </a:p>
        </p:txBody>
      </p:sp>
      <p:sp>
        <p:nvSpPr>
          <p:cNvPr id="15" name="Rectangle 14"/>
          <p:cNvSpPr/>
          <p:nvPr/>
        </p:nvSpPr>
        <p:spPr>
          <a:xfrm>
            <a:off x="1153160" y="3556000"/>
            <a:ext cx="1905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Anomalie</a:t>
            </a:r>
          </a:p>
        </p:txBody>
      </p:sp>
      <p:sp>
        <p:nvSpPr>
          <p:cNvPr id="16" name="Rectangle 15"/>
          <p:cNvSpPr/>
          <p:nvPr/>
        </p:nvSpPr>
        <p:spPr>
          <a:xfrm>
            <a:off x="3058160" y="3556000"/>
            <a:ext cx="1651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4 → 3</a:t>
            </a:r>
          </a:p>
        </p:txBody>
      </p:sp>
      <p:sp>
        <p:nvSpPr>
          <p:cNvPr id="17" name="Rectangle 16"/>
          <p:cNvSpPr/>
          <p:nvPr/>
        </p:nvSpPr>
        <p:spPr>
          <a:xfrm>
            <a:off x="4709160" y="3556000"/>
            <a:ext cx="791845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Das Modell fand die Preisklasse statt der Anomalien — die Merkmale mussten normiert werden</a:t>
            </a:r>
          </a:p>
        </p:txBody>
      </p:sp>
      <p:sp>
        <p:nvSpPr>
          <p:cNvPr id="18" name="Rectangle 17"/>
          <p:cNvSpPr/>
          <p:nvPr/>
        </p:nvSpPr>
        <p:spPr>
          <a:xfrm>
            <a:off x="1153160" y="4114800"/>
            <a:ext cx="190500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Anomalie</a:t>
            </a:r>
          </a:p>
        </p:txBody>
      </p:sp>
      <p:sp>
        <p:nvSpPr>
          <p:cNvPr id="19" name="Rectangle 18"/>
          <p:cNvSpPr/>
          <p:nvPr/>
        </p:nvSpPr>
        <p:spPr>
          <a:xfrm>
            <a:off x="3058160" y="4114800"/>
            <a:ext cx="165100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 → Ende</a:t>
            </a:r>
          </a:p>
        </p:txBody>
      </p:sp>
      <p:sp>
        <p:nvSpPr>
          <p:cNvPr id="20" name="Rectangle 19"/>
          <p:cNvSpPr/>
          <p:nvPr/>
        </p:nvSpPr>
        <p:spPr>
          <a:xfrm>
            <a:off x="4709160" y="4114800"/>
            <a:ext cx="791845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Aufgabe B scheitert an den Grunddaten. Ein negatives Ergebnis, ausdrücklich nicht ausgeliefert</a:t>
            </a:r>
          </a:p>
        </p:txBody>
      </p:sp>
      <p:sp>
        <p:nvSpPr>
          <p:cNvPr id="21" name="Rectangle 20"/>
          <p:cNvSpPr/>
          <p:nvPr/>
        </p:nvSpPr>
        <p:spPr>
          <a:xfrm>
            <a:off x="1153160" y="48260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356360" y="49022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Ein Projekt, das ohne einen einzigen Rücksprung durchläuft, hat entweder eine triviale Frage gestellt — oder nicht genau genug hingesehen.</a:t>
            </a:r>
          </a:p>
        </p:txBody>
      </p:sp>
      <p:sp>
        <p:nvSpPr>
          <p:cNvPr id="23" name="Rectangle 22"/>
          <p:cNvSpPr/>
          <p:nvPr/>
        </p:nvSpPr>
        <p:spPr>
          <a:xfrm>
            <a:off x="1153160" y="5765800"/>
            <a:ext cx="1859491" cy="508000"/>
          </a:xfrm>
          <a:prstGeom prst="rect">
            <a:avLst/>
          </a:prstGeom>
          <a:solidFill>
            <a:srgbClr val="E3DED1"/>
          </a:solidFill>
          <a:ln w="9525">
            <a:solidFill>
              <a:srgbClr val="A326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A32638"/>
                </a:solidFill>
              </a:rPr>
              <a:t>1 Business</a:t>
            </a:r>
          </a:p>
          <a:p>
            <a:pPr algn="ctr">
              <a:lnSpc>
                <a:spcPct val="95000"/>
              </a:lnSpc>
            </a:pPr>
            <a:r>
              <a:rPr sz="1300" b="0">
                <a:solidFill>
                  <a:srgbClr val="A32638"/>
                </a:solidFill>
              </a:rPr>
              <a:t>Understanding</a:t>
            </a:r>
          </a:p>
        </p:txBody>
      </p:sp>
      <p:sp>
        <p:nvSpPr>
          <p:cNvPr id="25" name="Rectangle 24"/>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7" name="Rectangle 26"/>
          <p:cNvSpPr/>
          <p:nvPr/>
        </p:nvSpPr>
        <p:spPr>
          <a:xfrm>
            <a:off x="4999143" y="5765800"/>
            <a:ext cx="1859491" cy="508000"/>
          </a:xfrm>
          <a:prstGeom prst="rect">
            <a:avLst/>
          </a:prstGeom>
          <a:solidFill>
            <a:srgbClr val="E3DED1"/>
          </a:solidFill>
          <a:ln w="9525">
            <a:solidFill>
              <a:srgbClr val="A326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A32638"/>
                </a:solidFill>
              </a:rPr>
              <a:t>3 Data</a:t>
            </a:r>
          </a:p>
          <a:p>
            <a:pPr algn="ctr">
              <a:lnSpc>
                <a:spcPct val="95000"/>
              </a:lnSpc>
            </a:pPr>
            <a:r>
              <a:rPr sz="1300" b="0">
                <a:solidFill>
                  <a:srgbClr val="A32638"/>
                </a:solidFill>
              </a:rPr>
              <a:t>Preparation</a:t>
            </a:r>
          </a:p>
        </p:txBody>
      </p:sp>
      <p:sp>
        <p:nvSpPr>
          <p:cNvPr id="29" name="Rectangle 28"/>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31" name="Rectangle 30"/>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3" name="Rectangle 32"/>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Fehler, die man in fast jedem Erstprojekt sieht</a:t>
            </a:r>
          </a:p>
        </p:txBody>
      </p:sp>
      <p:sp>
        <p:nvSpPr>
          <p:cNvPr id="3" name="Text Placeholder 2"/>
          <p:cNvSpPr>
            <a:spLocks noGrp="1"/>
          </p:cNvSpPr>
          <p:nvPr>
            <p:ph type="body" idx="12" sz="quarter"/>
          </p:nvPr>
        </p:nvSpPr>
        <p:spPr/>
        <p:txBody>
          <a:bodyPr/>
          <a:lstStyle/>
          <a:p>
            <a:r>
              <a:t>Zwei Fehler</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Rectangle 4"/>
          <p:cNvSpPr/>
          <p:nvPr/>
        </p:nvSpPr>
        <p:spPr>
          <a:xfrm>
            <a:off x="1153160" y="1346200"/>
            <a:ext cx="5524500" cy="2819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05560" y="1397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So läuft es meistens</a:t>
            </a:r>
          </a:p>
        </p:txBody>
      </p:sp>
      <p:sp>
        <p:nvSpPr>
          <p:cNvPr id="8" name="TextBox 7"/>
          <p:cNvSpPr txBox="1"/>
          <p:nvPr/>
        </p:nvSpPr>
        <p:spPr>
          <a:xfrm>
            <a:off x="1330960" y="1854200"/>
            <a:ext cx="5194300" cy="2184400"/>
          </a:xfrm>
          <a:prstGeom prst="rect">
            <a:avLst/>
          </a:prstGeom>
          <a:noFill/>
        </p:spPr>
        <p:txBody>
          <a:bodyPr wrap="square" lIns="0" tIns="0" rIns="0" bIns="0">
            <a:spAutoFit/>
          </a:bodyPr>
          <a:lstStyle/>
          <a:p>
            <a:pPr algn="l">
              <a:lnSpc>
                <a:spcPct val="95000"/>
              </a:lnSpc>
            </a:pPr>
            <a:r>
              <a:rPr sz="1400" b="1">
                <a:solidFill>
                  <a:srgbClr val="A32638"/>
                </a:solidFill>
              </a:rPr>
              <a:t>Kriterium nach dem Ergebnis</a:t>
            </a:r>
          </a:p>
          <a:p>
            <a:pPr algn="l">
              <a:lnSpc>
                <a:spcPct val="95000"/>
              </a:lnSpc>
              <a:spcBef>
                <a:spcPts val="300"/>
              </a:spcBef>
            </a:pPr>
            <a:r>
              <a:rPr sz="1300" b="0">
                <a:solidFill>
                  <a:srgbClr val="404040"/>
                </a:solidFill>
              </a:rPr>
              <a:t>1. Daten laden, Modell rechnen</a:t>
            </a:r>
          </a:p>
          <a:p>
            <a:pPr algn="l">
              <a:lnSpc>
                <a:spcPct val="95000"/>
              </a:lnSpc>
              <a:spcBef>
                <a:spcPts val="300"/>
              </a:spcBef>
            </a:pPr>
            <a:r>
              <a:rPr sz="1300" b="0">
                <a:solidFill>
                  <a:srgbClr val="404040"/>
                </a:solidFill>
              </a:rPr>
              <a:t>2. Der Fehler liegt bei 3,96 Minuten</a:t>
            </a:r>
          </a:p>
          <a:p>
            <a:pPr algn="l">
              <a:lnSpc>
                <a:spcPct val="95000"/>
              </a:lnSpc>
              <a:spcBef>
                <a:spcPts val="300"/>
              </a:spcBef>
            </a:pPr>
            <a:r>
              <a:rPr sz="1300" b="0">
                <a:solidFill>
                  <a:srgbClr val="404040"/>
                </a:solidFill>
              </a:rPr>
              <a:t>3. „Unter vier Minuten — ordentlich.“</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Die Hürde wurde an das Ergebnis</a:t>
            </a:r>
          </a:p>
          <a:p>
            <a:pPr algn="l">
              <a:lnSpc>
                <a:spcPct val="95000"/>
              </a:lnSpc>
              <a:spcBef>
                <a:spcPts val="300"/>
              </a:spcBef>
            </a:pPr>
            <a:r>
              <a:rPr sz="1300" b="0">
                <a:solidFill>
                  <a:srgbClr val="404040"/>
                </a:solidFill>
              </a:rPr>
              <a:t>angelegt, nicht umgekehrt. So kann</a:t>
            </a:r>
          </a:p>
          <a:p>
            <a:pPr algn="l">
              <a:lnSpc>
                <a:spcPct val="95000"/>
              </a:lnSpc>
              <a:spcBef>
                <a:spcPts val="300"/>
              </a:spcBef>
            </a:pPr>
            <a:r>
              <a:rPr sz="1300" b="0">
                <a:solidFill>
                  <a:srgbClr val="404040"/>
                </a:solidFill>
              </a:rPr>
              <a:t>kein Projekt scheitern — und deshalb</a:t>
            </a:r>
          </a:p>
          <a:p>
            <a:pPr algn="l">
              <a:lnSpc>
                <a:spcPct val="95000"/>
              </a:lnSpc>
              <a:spcBef>
                <a:spcPts val="300"/>
              </a:spcBef>
            </a:pPr>
            <a:r>
              <a:rPr sz="1300" b="0">
                <a:solidFill>
                  <a:srgbClr val="404040"/>
                </a:solidFill>
              </a:rPr>
              <a:t>sagt sein Erfolg auch nichts.</a:t>
            </a:r>
          </a:p>
        </p:txBody>
      </p:sp>
      <p:sp>
        <p:nvSpPr>
          <p:cNvPr id="9" name="Rectangle 8"/>
          <p:cNvSpPr/>
          <p:nvPr/>
        </p:nvSpPr>
        <p:spPr>
          <a:xfrm>
            <a:off x="7096759" y="1346200"/>
            <a:ext cx="5524500" cy="2819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096759" y="13462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49159" y="13970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So gehört es</a:t>
            </a:r>
          </a:p>
        </p:txBody>
      </p:sp>
      <p:sp>
        <p:nvSpPr>
          <p:cNvPr id="12" name="TextBox 11"/>
          <p:cNvSpPr txBox="1"/>
          <p:nvPr/>
        </p:nvSpPr>
        <p:spPr>
          <a:xfrm>
            <a:off x="7274559" y="1854200"/>
            <a:ext cx="5194300" cy="2184400"/>
          </a:xfrm>
          <a:prstGeom prst="rect">
            <a:avLst/>
          </a:prstGeom>
          <a:noFill/>
        </p:spPr>
        <p:txBody>
          <a:bodyPr wrap="square" lIns="0" tIns="0" rIns="0" bIns="0">
            <a:spAutoFit/>
          </a:bodyPr>
          <a:lstStyle/>
          <a:p>
            <a:pPr algn="l">
              <a:lnSpc>
                <a:spcPct val="95000"/>
              </a:lnSpc>
            </a:pPr>
            <a:r>
              <a:rPr sz="1400" b="1">
                <a:solidFill>
                  <a:srgbClr val="55801C"/>
                </a:solidFill>
              </a:rPr>
              <a:t>Kriterium vor den Daten</a:t>
            </a:r>
          </a:p>
          <a:p>
            <a:pPr algn="l">
              <a:lnSpc>
                <a:spcPct val="95000"/>
              </a:lnSpc>
              <a:spcBef>
                <a:spcPts val="300"/>
              </a:spcBef>
            </a:pPr>
            <a:r>
              <a:rPr sz="1300" b="0">
                <a:solidFill>
                  <a:srgbClr val="404040"/>
                </a:solidFill>
              </a:rPr>
              <a:t>1. „Der Preisfehler muss unter</a:t>
            </a:r>
          </a:p>
          <a:p>
            <a:pPr algn="l">
              <a:lnSpc>
                <a:spcPct val="95000"/>
              </a:lnSpc>
              <a:spcBef>
                <a:spcPts val="300"/>
              </a:spcBef>
            </a:pPr>
            <a:r>
              <a:rPr sz="1300" b="0">
                <a:solidFill>
                  <a:srgbClr val="404040"/>
                </a:solidFill>
              </a:rPr>
              <a:t>   50 Cent liegen“ — vor allem</a:t>
            </a:r>
          </a:p>
          <a:p>
            <a:pPr algn="l">
              <a:lnSpc>
                <a:spcPct val="95000"/>
              </a:lnSpc>
              <a:spcBef>
                <a:spcPts val="300"/>
              </a:spcBef>
            </a:pPr>
            <a:r>
              <a:rPr sz="1300" b="0">
                <a:solidFill>
                  <a:srgbClr val="404040"/>
                </a:solidFill>
              </a:rPr>
              <a:t>   anderen festgelegt</a:t>
            </a:r>
          </a:p>
          <a:p>
            <a:pPr algn="l">
              <a:lnSpc>
                <a:spcPct val="95000"/>
              </a:lnSpc>
              <a:spcBef>
                <a:spcPts val="300"/>
              </a:spcBef>
            </a:pPr>
            <a:r>
              <a:rPr sz="1300" b="0">
                <a:solidFill>
                  <a:srgbClr val="404040"/>
                </a:solidFill>
              </a:rPr>
              <a:t>2. Daten laden, Modell rechnen</a:t>
            </a:r>
          </a:p>
          <a:p>
            <a:pPr algn="l">
              <a:lnSpc>
                <a:spcPct val="95000"/>
              </a:lnSpc>
              <a:spcBef>
                <a:spcPts val="300"/>
              </a:spcBef>
            </a:pPr>
            <a:r>
              <a:rPr sz="1300" b="0">
                <a:solidFill>
                  <a:srgbClr val="404040"/>
                </a:solidFill>
              </a:rPr>
              <a:t>3. CITY 0,41 € hält, EBIKE 0,85 €</a:t>
            </a:r>
          </a:p>
          <a:p>
            <a:pPr algn="l">
              <a:lnSpc>
                <a:spcPct val="95000"/>
              </a:lnSpc>
              <a:spcBef>
                <a:spcPts val="300"/>
              </a:spcBef>
            </a:pPr>
            <a:r>
              <a:rPr sz="1300" b="0">
                <a:solidFill>
                  <a:srgbClr val="404040"/>
                </a:solidFill>
              </a:rPr>
              <a:t>   und CARGO 2,48 € reißen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Genau so steht es in Notebook 1 —</a:t>
            </a:r>
          </a:p>
          <a:p>
            <a:pPr algn="l">
              <a:lnSpc>
                <a:spcPct val="95000"/>
              </a:lnSpc>
              <a:spcBef>
                <a:spcPts val="300"/>
              </a:spcBef>
            </a:pPr>
            <a:r>
              <a:rPr sz="1300" b="0">
                <a:solidFill>
                  <a:srgbClr val="404040"/>
                </a:solidFill>
              </a:rPr>
              <a:t>und deshalb ist das Ergebnis dort</a:t>
            </a:r>
          </a:p>
          <a:p>
            <a:pPr algn="l">
              <a:lnSpc>
                <a:spcPct val="95000"/>
              </a:lnSpc>
              <a:spcBef>
                <a:spcPts val="300"/>
              </a:spcBef>
            </a:pPr>
            <a:r>
              <a:rPr sz="1300" b="0">
                <a:solidFill>
                  <a:srgbClr val="404040"/>
                </a:solidFill>
              </a:rPr>
              <a:t>eine Erkenntnis statt einer Ausrede.</a:t>
            </a:r>
          </a:p>
        </p:txBody>
      </p:sp>
      <p:sp>
        <p:nvSpPr>
          <p:cNvPr id="13" name="Rectangle 12"/>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5" name="Rectangle 14"/>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7" name="Rectangle 16"/>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19" name="Rectangle 18"/>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1" name="Rectangle 20"/>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3" name="Rectangle 22"/>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Sechs Fälle — und jeder zeigt eine andere Phase von innen</a:t>
            </a:r>
          </a:p>
        </p:txBody>
      </p:sp>
      <p:sp>
        <p:nvSpPr>
          <p:cNvPr id="3" name="Text Placeholder 2"/>
          <p:cNvSpPr>
            <a:spLocks noGrp="1"/>
          </p:cNvSpPr>
          <p:nvPr>
            <p:ph type="body" idx="12" sz="quarter"/>
          </p:nvPr>
        </p:nvSpPr>
        <p:spPr/>
        <p:txBody>
          <a:bodyPr/>
          <a:lstStyle/>
          <a:p>
            <a:r>
              <a:t>Wegweiser</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Deshalb wird der Kreislauf hier nicht sechsmal wiederholt. Fall 1 läuft vollständig durch; die übrigen fünf gehen dort in die Tiefe, wo sie etwas Neues zu zeigen haben.</a:t>
            </a:r>
          </a:p>
        </p:txBody>
      </p:sp>
      <p:sp>
        <p:nvSpPr>
          <p:cNvPr id="6" name="Rectangle 5"/>
          <p:cNvSpPr/>
          <p:nvPr/>
        </p:nvSpPr>
        <p:spPr>
          <a:xfrm>
            <a:off x="1153160" y="1879600"/>
            <a:ext cx="635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Fall</a:t>
            </a:r>
          </a:p>
        </p:txBody>
      </p:sp>
      <p:sp>
        <p:nvSpPr>
          <p:cNvPr id="7" name="Rectangle 6"/>
          <p:cNvSpPr/>
          <p:nvPr/>
        </p:nvSpPr>
        <p:spPr>
          <a:xfrm>
            <a:off x="1788160" y="1879600"/>
            <a:ext cx="1651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Verfahren</a:t>
            </a:r>
          </a:p>
        </p:txBody>
      </p:sp>
      <p:sp>
        <p:nvSpPr>
          <p:cNvPr id="8" name="Rectangle 7"/>
          <p:cNvSpPr/>
          <p:nvPr/>
        </p:nvSpPr>
        <p:spPr>
          <a:xfrm>
            <a:off x="3439160" y="1879600"/>
            <a:ext cx="1397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Zeigt</a:t>
            </a:r>
          </a:p>
        </p:txBody>
      </p:sp>
      <p:sp>
        <p:nvSpPr>
          <p:cNvPr id="9" name="Rectangle 8"/>
          <p:cNvSpPr/>
          <p:nvPr/>
        </p:nvSpPr>
        <p:spPr>
          <a:xfrm>
            <a:off x="4836160" y="1879600"/>
            <a:ext cx="779145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Der Satz, der bleibt</a:t>
            </a:r>
          </a:p>
        </p:txBody>
      </p:sp>
      <p:sp>
        <p:nvSpPr>
          <p:cNvPr id="10" name="Rectangle 9"/>
          <p:cNvSpPr/>
          <p:nvPr/>
        </p:nvSpPr>
        <p:spPr>
          <a:xfrm>
            <a:off x="1153160" y="2413000"/>
            <a:ext cx="635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a:t>
            </a:r>
          </a:p>
        </p:txBody>
      </p:sp>
      <p:sp>
        <p:nvSpPr>
          <p:cNvPr id="11" name="Rectangle 10"/>
          <p:cNvSpPr/>
          <p:nvPr/>
        </p:nvSpPr>
        <p:spPr>
          <a:xfrm>
            <a:off x="1788160" y="2413000"/>
            <a:ext cx="165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Regression</a:t>
            </a:r>
          </a:p>
        </p:txBody>
      </p:sp>
      <p:sp>
        <p:nvSpPr>
          <p:cNvPr id="12" name="Rectangle 11"/>
          <p:cNvSpPr/>
          <p:nvPr/>
        </p:nvSpPr>
        <p:spPr>
          <a:xfrm>
            <a:off x="3439160" y="2413000"/>
            <a:ext cx="1397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alle sechs</a:t>
            </a:r>
          </a:p>
        </p:txBody>
      </p:sp>
      <p:sp>
        <p:nvSpPr>
          <p:cNvPr id="13" name="Rectangle 12"/>
          <p:cNvSpPr/>
          <p:nvPr/>
        </p:nvSpPr>
        <p:spPr>
          <a:xfrm>
            <a:off x="4836160" y="2413000"/>
            <a:ext cx="7791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Ob ein Merkmal erlaubt ist, entscheidet der Prozess — nicht der Spaltenname</a:t>
            </a:r>
          </a:p>
        </p:txBody>
      </p:sp>
      <p:sp>
        <p:nvSpPr>
          <p:cNvPr id="14" name="Rectangle 13"/>
          <p:cNvSpPr/>
          <p:nvPr/>
        </p:nvSpPr>
        <p:spPr>
          <a:xfrm>
            <a:off x="1153160" y="2946400"/>
            <a:ext cx="635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2</a:t>
            </a:r>
          </a:p>
        </p:txBody>
      </p:sp>
      <p:sp>
        <p:nvSpPr>
          <p:cNvPr id="15" name="Rectangle 14"/>
          <p:cNvSpPr/>
          <p:nvPr/>
        </p:nvSpPr>
        <p:spPr>
          <a:xfrm>
            <a:off x="1788160" y="2946400"/>
            <a:ext cx="165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Klassifikation</a:t>
            </a:r>
          </a:p>
        </p:txBody>
      </p:sp>
      <p:sp>
        <p:nvSpPr>
          <p:cNvPr id="16" name="Rectangle 15"/>
          <p:cNvSpPr/>
          <p:nvPr/>
        </p:nvSpPr>
        <p:spPr>
          <a:xfrm>
            <a:off x="3439160" y="2946400"/>
            <a:ext cx="1397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Phase 6</a:t>
            </a:r>
          </a:p>
        </p:txBody>
      </p:sp>
      <p:sp>
        <p:nvSpPr>
          <p:cNvPr id="17" name="Rectangle 16"/>
          <p:cNvSpPr/>
          <p:nvPr/>
        </p:nvSpPr>
        <p:spPr>
          <a:xfrm>
            <a:off x="4836160" y="2946400"/>
            <a:ext cx="7791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Ein Modell muss seinen Unterhalt verdienen — hier verdient es ihn</a:t>
            </a:r>
          </a:p>
        </p:txBody>
      </p:sp>
      <p:sp>
        <p:nvSpPr>
          <p:cNvPr id="18" name="Rectangle 17"/>
          <p:cNvSpPr/>
          <p:nvPr/>
        </p:nvSpPr>
        <p:spPr>
          <a:xfrm>
            <a:off x="1153160" y="3479800"/>
            <a:ext cx="635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a:t>
            </a:r>
          </a:p>
        </p:txBody>
      </p:sp>
      <p:sp>
        <p:nvSpPr>
          <p:cNvPr id="19" name="Rectangle 18"/>
          <p:cNvSpPr/>
          <p:nvPr/>
        </p:nvSpPr>
        <p:spPr>
          <a:xfrm>
            <a:off x="1788160" y="3479800"/>
            <a:ext cx="165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Clustering</a:t>
            </a:r>
          </a:p>
        </p:txBody>
      </p:sp>
      <p:sp>
        <p:nvSpPr>
          <p:cNvPr id="20" name="Rectangle 19"/>
          <p:cNvSpPr/>
          <p:nvPr/>
        </p:nvSpPr>
        <p:spPr>
          <a:xfrm>
            <a:off x="3439160" y="3479800"/>
            <a:ext cx="1397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Phase 1</a:t>
            </a:r>
          </a:p>
        </p:txBody>
      </p:sp>
      <p:sp>
        <p:nvSpPr>
          <p:cNvPr id="21" name="Rectangle 20"/>
          <p:cNvSpPr/>
          <p:nvPr/>
        </p:nvSpPr>
        <p:spPr>
          <a:xfrm>
            <a:off x="4836160" y="3479800"/>
            <a:ext cx="7791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Erfolgskriterien auch ohne Zielgröße</a:t>
            </a:r>
          </a:p>
        </p:txBody>
      </p:sp>
      <p:sp>
        <p:nvSpPr>
          <p:cNvPr id="22" name="Rectangle 21"/>
          <p:cNvSpPr/>
          <p:nvPr/>
        </p:nvSpPr>
        <p:spPr>
          <a:xfrm>
            <a:off x="1153160" y="4013200"/>
            <a:ext cx="635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4</a:t>
            </a:r>
          </a:p>
        </p:txBody>
      </p:sp>
      <p:sp>
        <p:nvSpPr>
          <p:cNvPr id="23" name="Rectangle 22"/>
          <p:cNvSpPr/>
          <p:nvPr/>
        </p:nvSpPr>
        <p:spPr>
          <a:xfrm>
            <a:off x="1788160" y="4013200"/>
            <a:ext cx="165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Zeitreihe</a:t>
            </a:r>
          </a:p>
        </p:txBody>
      </p:sp>
      <p:sp>
        <p:nvSpPr>
          <p:cNvPr id="24" name="Rectangle 23"/>
          <p:cNvSpPr/>
          <p:nvPr/>
        </p:nvSpPr>
        <p:spPr>
          <a:xfrm>
            <a:off x="3439160" y="4013200"/>
            <a:ext cx="1397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Phase 3</a:t>
            </a:r>
          </a:p>
        </p:txBody>
      </p:sp>
      <p:sp>
        <p:nvSpPr>
          <p:cNvPr id="25" name="Rectangle 24"/>
          <p:cNvSpPr/>
          <p:nvPr/>
        </p:nvSpPr>
        <p:spPr>
          <a:xfrm>
            <a:off x="4836160" y="4013200"/>
            <a:ext cx="7791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Die genaueste Prognose ist nicht die günstigste</a:t>
            </a:r>
          </a:p>
        </p:txBody>
      </p:sp>
      <p:sp>
        <p:nvSpPr>
          <p:cNvPr id="26" name="Rectangle 25"/>
          <p:cNvSpPr/>
          <p:nvPr/>
        </p:nvSpPr>
        <p:spPr>
          <a:xfrm>
            <a:off x="1153160" y="4546600"/>
            <a:ext cx="635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5</a:t>
            </a:r>
          </a:p>
        </p:txBody>
      </p:sp>
      <p:sp>
        <p:nvSpPr>
          <p:cNvPr id="27" name="Rectangle 26"/>
          <p:cNvSpPr/>
          <p:nvPr/>
        </p:nvSpPr>
        <p:spPr>
          <a:xfrm>
            <a:off x="1788160" y="4546600"/>
            <a:ext cx="165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Assoziation</a:t>
            </a:r>
          </a:p>
        </p:txBody>
      </p:sp>
      <p:sp>
        <p:nvSpPr>
          <p:cNvPr id="28" name="Rectangle 27"/>
          <p:cNvSpPr/>
          <p:nvPr/>
        </p:nvSpPr>
        <p:spPr>
          <a:xfrm>
            <a:off x="3439160" y="4546600"/>
            <a:ext cx="1397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Phase 5</a:t>
            </a:r>
          </a:p>
        </p:txBody>
      </p:sp>
      <p:sp>
        <p:nvSpPr>
          <p:cNvPr id="29" name="Rectangle 28"/>
          <p:cNvSpPr/>
          <p:nvPr/>
        </p:nvSpPr>
        <p:spPr>
          <a:xfrm>
            <a:off x="4836160" y="4546600"/>
            <a:ext cx="7791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Keine Regel nimmt beide Hürden — und die Hürde bleibt trotzdem stehen</a:t>
            </a:r>
          </a:p>
        </p:txBody>
      </p:sp>
      <p:sp>
        <p:nvSpPr>
          <p:cNvPr id="30" name="Rectangle 29"/>
          <p:cNvSpPr/>
          <p:nvPr/>
        </p:nvSpPr>
        <p:spPr>
          <a:xfrm>
            <a:off x="1153160" y="5080000"/>
            <a:ext cx="635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a:t>
            </a:r>
          </a:p>
        </p:txBody>
      </p:sp>
      <p:sp>
        <p:nvSpPr>
          <p:cNvPr id="31" name="Rectangle 30"/>
          <p:cNvSpPr/>
          <p:nvPr/>
        </p:nvSpPr>
        <p:spPr>
          <a:xfrm>
            <a:off x="1788160" y="5080000"/>
            <a:ext cx="165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Anomalie</a:t>
            </a:r>
          </a:p>
        </p:txBody>
      </p:sp>
      <p:sp>
        <p:nvSpPr>
          <p:cNvPr id="32" name="Rectangle 31"/>
          <p:cNvSpPr/>
          <p:nvPr/>
        </p:nvSpPr>
        <p:spPr>
          <a:xfrm>
            <a:off x="3439160" y="5080000"/>
            <a:ext cx="1397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Rücksprung</a:t>
            </a:r>
          </a:p>
        </p:txBody>
      </p:sp>
      <p:sp>
        <p:nvSpPr>
          <p:cNvPr id="33" name="Rectangle 32"/>
          <p:cNvSpPr/>
          <p:nvPr/>
        </p:nvSpPr>
        <p:spPr>
          <a:xfrm>
            <a:off x="4836160" y="5080000"/>
            <a:ext cx="7791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 Verfahren erzeugt Information, die in den Daten nicht steckt</a:t>
            </a:r>
          </a:p>
        </p:txBody>
      </p:sp>
      <p:sp>
        <p:nvSpPr>
          <p:cNvPr id="34" name="Rectangle 33"/>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36" name="Rectangle 35"/>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38" name="Rectangle 3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40" name="Rectangle 3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42" name="Rectangle 4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44" name="Rectangle 43"/>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Dieselbe Zuordnung als Bild</a:t>
            </a:r>
          </a:p>
        </p:txBody>
      </p:sp>
      <p:sp>
        <p:nvSpPr>
          <p:cNvPr id="3" name="Text Placeholder 2"/>
          <p:cNvSpPr>
            <a:spLocks noGrp="1"/>
          </p:cNvSpPr>
          <p:nvPr>
            <p:ph type="body" idx="12" sz="quarter"/>
          </p:nvPr>
        </p:nvSpPr>
        <p:spPr/>
        <p:txBody>
          <a:bodyPr/>
          <a:lstStyle/>
          <a:p>
            <a:r>
              <a:t>Wegweiser</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Welcher Fall beleuchtet welche Phase? Diese Zuordnung ist der Grund für den Aufbau des Decks.</a:t>
            </a:r>
          </a:p>
        </p:txBody>
      </p:sp>
      <p:sp>
        <p:nvSpPr>
          <p:cNvPr id="6" name="Rectangle 5"/>
          <p:cNvSpPr/>
          <p:nvPr/>
        </p:nvSpPr>
        <p:spPr>
          <a:xfrm>
            <a:off x="1051560" y="2262831"/>
            <a:ext cx="11677650" cy="2967336"/>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crispdm-faelle.png"/>
          <p:cNvPicPr>
            <a:picLocks noChangeAspect="1"/>
          </p:cNvPicPr>
          <p:nvPr/>
        </p:nvPicPr>
        <p:blipFill>
          <a:blip r:embed="rId2"/>
          <a:stretch>
            <a:fillRect/>
          </a:stretch>
        </p:blipFill>
        <p:spPr>
          <a:xfrm>
            <a:off x="1153160" y="2364431"/>
            <a:ext cx="11474450" cy="276413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 Fall 1 — Regression: der volle Durchlauf</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Was kostet die Fahrt zu diesem Ziel — und wann sagt die App besser gar nichts?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Einwand, mit dem dieses Notebook anfängt</a:t>
            </a:r>
          </a:p>
        </p:txBody>
      </p:sp>
      <p:sp>
        <p:nvSpPr>
          <p:cNvPr id="3" name="Text Placeholder 2"/>
          <p:cNvSpPr>
            <a:spLocks noGrp="1"/>
          </p:cNvSpPr>
          <p:nvPr>
            <p:ph type="body" idx="12" sz="quarter"/>
          </p:nvPr>
        </p:nvSpPr>
        <p:spPr/>
        <p:txBody>
          <a:bodyPr/>
          <a:lstStyle/>
          <a:p>
            <a:r>
              <a:t>Fall 1</a:t>
            </a:r>
          </a:p>
        </p:txBody>
      </p:sp>
      <p:sp>
        <p:nvSpPr>
          <p:cNvPr id="4" name="Text Placeholder 3"/>
          <p:cNvSpPr>
            <a:spLocks noGrp="1"/>
          </p:cNvSpPr>
          <p:nvPr>
            <p:ph type="body" idx="13" sz="quarter"/>
          </p:nvPr>
        </p:nvSpPr>
        <p:spPr/>
        <p:txBody>
          <a:bodyPr/>
          <a:lstStyle/>
          <a:p>
            <a:r>
              <a:t>analytics/notebooks/01_Regression_Fahrtdauer.ipynb</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naheliegende Idee: Beim Entsperren schätzt ein Modell die Fahrtdauer, das Tarifblatt macht daraus einen Preis. Diese Idee hat einen Fehler — und zwar keinen technischen.</a:t>
            </a:r>
          </a:p>
        </p:txBody>
      </p:sp>
      <p:sp>
        <p:nvSpPr>
          <p:cNvPr id="6" name="Rectangle 5"/>
          <p:cNvSpPr/>
          <p:nvPr/>
        </p:nvSpPr>
        <p:spPr>
          <a:xfrm>
            <a:off x="1153160" y="1879600"/>
            <a:ext cx="5524500" cy="2616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9304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Die naheliegende Idee</a:t>
            </a:r>
          </a:p>
        </p:txBody>
      </p:sp>
      <p:sp>
        <p:nvSpPr>
          <p:cNvPr id="9" name="TextBox 8"/>
          <p:cNvSpPr txBox="1"/>
          <p:nvPr/>
        </p:nvSpPr>
        <p:spPr>
          <a:xfrm>
            <a:off x="1330960" y="2387600"/>
            <a:ext cx="5194300" cy="1981200"/>
          </a:xfrm>
          <a:prstGeom prst="rect">
            <a:avLst/>
          </a:prstGeom>
          <a:noFill/>
        </p:spPr>
        <p:txBody>
          <a:bodyPr wrap="square" lIns="0" tIns="0" rIns="0" bIns="0">
            <a:spAutoFit/>
          </a:bodyPr>
          <a:lstStyle/>
          <a:p>
            <a:pPr algn="l">
              <a:lnSpc>
                <a:spcPct val="95000"/>
              </a:lnSpc>
            </a:pPr>
            <a:r>
              <a:rPr sz="1400" b="1">
                <a:solidFill>
                  <a:srgbClr val="A32638"/>
                </a:solidFill>
              </a:rPr>
              <a:t>Schätzen beim Entsperren</a:t>
            </a:r>
          </a:p>
          <a:p>
            <a:pPr algn="l">
              <a:lnSpc>
                <a:spcPct val="95000"/>
              </a:lnSpc>
              <a:spcBef>
                <a:spcPts val="300"/>
              </a:spcBef>
            </a:pPr>
            <a:r>
              <a:rPr sz="1300" b="0">
                <a:solidFill>
                  <a:srgbClr val="404040"/>
                </a:solidFill>
              </a:rPr>
              <a:t>Das Modell kennt Startstation,</a:t>
            </a:r>
          </a:p>
          <a:p>
            <a:pPr algn="l">
              <a:lnSpc>
                <a:spcPct val="95000"/>
              </a:lnSpc>
              <a:spcBef>
                <a:spcPts val="300"/>
              </a:spcBef>
            </a:pPr>
            <a:r>
              <a:rPr sz="1300" b="0">
                <a:solidFill>
                  <a:srgbClr val="404040"/>
                </a:solidFill>
              </a:rPr>
              <a:t>Uhrzeit und Wochentag.</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Damit kann es zwei Fahrten nicht</a:t>
            </a:r>
          </a:p>
          <a:p>
            <a:pPr algn="l">
              <a:lnSpc>
                <a:spcPct val="95000"/>
              </a:lnSpc>
              <a:spcBef>
                <a:spcPts val="300"/>
              </a:spcBef>
            </a:pPr>
            <a:r>
              <a:rPr sz="1300" b="0">
                <a:solidFill>
                  <a:srgbClr val="404040"/>
                </a:solidFill>
              </a:rPr>
              <a:t>unterscheiden, die gleich beginnen:</a:t>
            </a:r>
          </a:p>
          <a:p>
            <a:pPr algn="l">
              <a:lnSpc>
                <a:spcPct val="95000"/>
              </a:lnSpc>
              <a:spcBef>
                <a:spcPts val="300"/>
              </a:spcBef>
            </a:pPr>
            <a:r>
              <a:rPr sz="1300" b="0">
                <a:solidFill>
                  <a:srgbClr val="404040"/>
                </a:solidFill>
              </a:rPr>
              <a:t>acht Minuten zum Bahnhof gegen</a:t>
            </a:r>
          </a:p>
          <a:p>
            <a:pPr algn="l">
              <a:lnSpc>
                <a:spcPct val="95000"/>
              </a:lnSpc>
              <a:spcBef>
                <a:spcPts val="300"/>
              </a:spcBef>
            </a:pPr>
            <a:r>
              <a:rPr sz="1300" b="0">
                <a:solidFill>
                  <a:srgbClr val="404040"/>
                </a:solidFill>
              </a:rPr>
              <a:t>neunzig Minuten am Main entlang.</a:t>
            </a:r>
          </a:p>
        </p:txBody>
      </p:sp>
      <p:sp>
        <p:nvSpPr>
          <p:cNvPr id="10" name="Rectangle 9"/>
          <p:cNvSpPr/>
          <p:nvPr/>
        </p:nvSpPr>
        <p:spPr>
          <a:xfrm>
            <a:off x="7096759" y="1879600"/>
            <a:ext cx="5524500" cy="2616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8796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9304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Der Einwand</a:t>
            </a:r>
          </a:p>
        </p:txBody>
      </p:sp>
      <p:sp>
        <p:nvSpPr>
          <p:cNvPr id="13" name="TextBox 12"/>
          <p:cNvSpPr txBox="1"/>
          <p:nvPr/>
        </p:nvSpPr>
        <p:spPr>
          <a:xfrm>
            <a:off x="7274559" y="2387600"/>
            <a:ext cx="5194300" cy="1981200"/>
          </a:xfrm>
          <a:prstGeom prst="rect">
            <a:avLst/>
          </a:prstGeom>
          <a:noFill/>
        </p:spPr>
        <p:txBody>
          <a:bodyPr wrap="square" lIns="0" tIns="0" rIns="0" bIns="0">
            <a:spAutoFit/>
          </a:bodyPr>
          <a:lstStyle/>
          <a:p>
            <a:pPr algn="l">
              <a:lnSpc>
                <a:spcPct val="95000"/>
              </a:lnSpc>
            </a:pPr>
            <a:r>
              <a:rPr sz="1400" b="1">
                <a:solidFill>
                  <a:srgbClr val="55801C"/>
                </a:solidFill>
              </a:rPr>
              <a:t>Der Nutzer weiß es besser</a:t>
            </a:r>
          </a:p>
          <a:p>
            <a:pPr algn="l">
              <a:lnSpc>
                <a:spcPct val="95000"/>
              </a:lnSpc>
              <a:spcBef>
                <a:spcPts val="300"/>
              </a:spcBef>
            </a:pPr>
            <a:r>
              <a:rPr sz="1300" b="0">
                <a:solidFill>
                  <a:srgbClr val="404040"/>
                </a:solidFill>
              </a:rPr>
              <a:t>Er kennt sein Ziel.</a:t>
            </a:r>
          </a:p>
          <a:p>
            <a:pPr algn="l">
              <a:lnSpc>
                <a:spcPct val="95000"/>
              </a:lnSpc>
              <a:spcBef>
                <a:spcPts val="300"/>
              </a:spcBef>
            </a:pPr>
            <a:r>
              <a:rPr sz="1300" b="0">
                <a:solidFill>
                  <a:srgbClr val="404040"/>
                </a:solidFill>
              </a:rPr>
              <a:t>Er weiß, ob er es eilig hat.</a:t>
            </a:r>
          </a:p>
          <a:p>
            <a:pPr algn="l">
              <a:lnSpc>
                <a:spcPct val="95000"/>
              </a:lnSpc>
              <a:spcBef>
                <a:spcPts val="300"/>
              </a:spcBef>
            </a:pPr>
            <a:r>
              <a:rPr sz="1300" b="0">
                <a:solidFill>
                  <a:srgbClr val="404040"/>
                </a:solidFill>
              </a:rPr>
              <a:t>Er weiß, ob er unterwegs anhält.</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Wozu soll ein Modell etwas</a:t>
            </a:r>
          </a:p>
          <a:p>
            <a:pPr algn="l">
              <a:lnSpc>
                <a:spcPct val="95000"/>
              </a:lnSpc>
              <a:spcBef>
                <a:spcPts val="300"/>
              </a:spcBef>
            </a:pPr>
            <a:r>
              <a:rPr sz="1300" b="0">
                <a:solidFill>
                  <a:srgbClr val="404040"/>
                </a:solidFill>
              </a:rPr>
              <a:t>vorhersagen, das der Mensch</a:t>
            </a:r>
          </a:p>
          <a:p>
            <a:pPr algn="l">
              <a:lnSpc>
                <a:spcPct val="95000"/>
              </a:lnSpc>
              <a:spcBef>
                <a:spcPts val="300"/>
              </a:spcBef>
            </a:pPr>
            <a:r>
              <a:rPr sz="1300" b="0">
                <a:solidFill>
                  <a:srgbClr val="404040"/>
                </a:solidFill>
              </a:rPr>
              <a:t>davor längst weiß?</a:t>
            </a:r>
          </a:p>
        </p:txBody>
      </p:sp>
      <p:sp>
        <p:nvSpPr>
          <p:cNvPr id="14" name="Rectangle 13"/>
          <p:cNvSpPr/>
          <p:nvPr/>
        </p:nvSpPr>
        <p:spPr>
          <a:xfrm>
            <a:off x="1153160"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1 Business</a:t>
            </a:r>
          </a:p>
          <a:p>
            <a:pPr algn="ctr">
              <a:lnSpc>
                <a:spcPct val="95000"/>
              </a:lnSpc>
            </a:pPr>
            <a:r>
              <a:rPr sz="1300" b="1">
                <a:solidFill>
                  <a:srgbClr val="FFFFFF"/>
                </a:solidFill>
              </a:rPr>
              <a:t>Understanding</a:t>
            </a:r>
          </a:p>
        </p:txBody>
      </p:sp>
      <p:sp>
        <p:nvSpPr>
          <p:cNvPr id="16" name="Rectangle 15"/>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8" name="Rectangle 1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0" name="Rectangle 1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2" name="Rectangle 2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4" name="Rectangle 23"/>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Nicht das Verfahren ändern — den Prozess</a:t>
            </a:r>
          </a:p>
        </p:txBody>
      </p:sp>
      <p:sp>
        <p:nvSpPr>
          <p:cNvPr id="3" name="Text Placeholder 2"/>
          <p:cNvSpPr>
            <a:spLocks noGrp="1"/>
          </p:cNvSpPr>
          <p:nvPr>
            <p:ph type="body" idx="12" sz="quarter"/>
          </p:nvPr>
        </p:nvSpPr>
        <p:spPr/>
        <p:txBody>
          <a:bodyPr/>
          <a:lstStyle/>
          <a:p>
            <a:r>
              <a:t>Fall 1</a:t>
            </a:r>
          </a:p>
        </p:txBody>
      </p:sp>
      <p:sp>
        <p:nvSpPr>
          <p:cNvPr id="4" name="Text Placeholder 3"/>
          <p:cNvSpPr>
            <a:spLocks noGrp="1"/>
          </p:cNvSpPr>
          <p:nvPr>
            <p:ph type="body" idx="13" sz="quarter"/>
          </p:nvPr>
        </p:nvSpPr>
        <p:spPr/>
        <p:txBody>
          <a:bodyPr/>
          <a:lstStyle/>
          <a:p>
            <a:r>
              <a:t>analytics/notebooks/01_Regression_Fahrtdauer.ipynb</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Das Problem ist keins des Verfahrens, sondern eines der Information. Fehlende Information holt man nicht durch mehr Rechenleistung herein, sondern indem man fragt.</a:t>
            </a:r>
          </a:p>
        </p:txBody>
      </p:sp>
      <p:sp>
        <p:nvSpPr>
          <p:cNvPr id="6" name="Rounded Rectangle 5"/>
          <p:cNvSpPr/>
          <p:nvPr/>
        </p:nvSpPr>
        <p:spPr>
          <a:xfrm>
            <a:off x="1153160" y="1955800"/>
            <a:ext cx="1651000" cy="1066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404040"/>
                </a:solidFill>
              </a:rPr>
              <a:t>App an der
Station</a:t>
            </a:r>
          </a:p>
        </p:txBody>
      </p:sp>
      <p:sp>
        <p:nvSpPr>
          <p:cNvPr id="7" name="Pentagon 6"/>
          <p:cNvSpPr/>
          <p:nvPr/>
        </p:nvSpPr>
        <p:spPr>
          <a:xfrm>
            <a:off x="2880360" y="1955800"/>
            <a:ext cx="2622550"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1 · Ziel auf der
Karte wählen</a:t>
            </a:r>
          </a:p>
        </p:txBody>
      </p:sp>
      <p:sp>
        <p:nvSpPr>
          <p:cNvPr id="8" name="Pentagon 7"/>
          <p:cNvSpPr/>
          <p:nvPr/>
        </p:nvSpPr>
        <p:spPr>
          <a:xfrm>
            <a:off x="5579110" y="1955800"/>
            <a:ext cx="2622550"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2 · „Preis
schätzen“</a:t>
            </a:r>
          </a:p>
        </p:txBody>
      </p:sp>
      <p:sp>
        <p:nvSpPr>
          <p:cNvPr id="9" name="Pentagon 8"/>
          <p:cNvSpPr/>
          <p:nvPr/>
        </p:nvSpPr>
        <p:spPr>
          <a:xfrm>
            <a:off x="8277859" y="1955800"/>
            <a:ext cx="2622550"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3 · Spanne wird
angezeigt</a:t>
            </a:r>
          </a:p>
        </p:txBody>
      </p:sp>
      <p:sp>
        <p:nvSpPr>
          <p:cNvPr id="10" name="Rounded Rectangle 9"/>
          <p:cNvSpPr/>
          <p:nvPr/>
        </p:nvSpPr>
        <p:spPr>
          <a:xfrm>
            <a:off x="10976610" y="1955800"/>
            <a:ext cx="1651000" cy="1066800"/>
          </a:xfrm>
          <a:prstGeom prst="round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FFFFFF"/>
                </a:solidFill>
              </a:rPr>
              <a:t>Kunde
entscheidet</a:t>
            </a:r>
          </a:p>
        </p:txBody>
      </p:sp>
      <p:sp>
        <p:nvSpPr>
          <p:cNvPr id="11" name="Rectangle 10"/>
          <p:cNvSpPr/>
          <p:nvPr/>
        </p:nvSpPr>
        <p:spPr>
          <a:xfrm>
            <a:off x="1153160" y="3225800"/>
            <a:ext cx="11474450" cy="15875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153160" y="3225800"/>
            <a:ext cx="50800" cy="15875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56360" y="3352800"/>
            <a:ext cx="11093450" cy="1333500"/>
          </a:xfrm>
          <a:prstGeom prst="rect">
            <a:avLst/>
          </a:prstGeom>
          <a:noFill/>
        </p:spPr>
        <p:txBody>
          <a:bodyPr wrap="square" lIns="0" tIns="0" rIns="0" bIns="0">
            <a:spAutoFit/>
          </a:bodyPr>
          <a:lstStyle/>
          <a:p>
            <a:pPr algn="l">
              <a:lnSpc>
                <a:spcPct val="95000"/>
              </a:lnSpc>
            </a:pPr>
            <a:r>
              <a:rPr sz="1500" b="1">
                <a:solidFill>
                  <a:srgbClr val="003E6E"/>
                </a:solidFill>
              </a:rPr>
              <a:t>Und daraus folgt die Einsicht, die das ganze Notebook trägt</a:t>
            </a:r>
          </a:p>
          <a:p>
            <a:pPr algn="l">
              <a:lnSpc>
                <a:spcPct val="95000"/>
              </a:lnSpc>
              <a:spcBef>
                <a:spcPts val="500"/>
              </a:spcBef>
            </a:pPr>
            <a:r>
              <a:rPr sz="1300" b="0">
                <a:solidFill>
                  <a:srgbClr val="404040"/>
                </a:solidFill>
              </a:rPr>
              <a:t>Ob ein Merkmal verwendet werden darf, entscheidet nicht sein Spaltenname, sondern der Zeitpunkt, zu dem es im Prozess entsteht.</a:t>
            </a:r>
          </a:p>
          <a:p>
            <a:pPr algn="l">
              <a:lnSpc>
                <a:spcPct val="95000"/>
              </a:lnSpc>
              <a:spcBef>
                <a:spcPts val="500"/>
              </a:spcBef>
            </a:pPr>
            <a:r>
              <a:rPr sz="1300" b="0">
                <a:solidFill>
                  <a:srgbClr val="404040"/>
                </a:solidFill>
              </a:rPr>
              <a:t>Die Zielstation war im alten Entwurf verboten. Im neuen ist sie erlaubt — nicht, weil sich die Daten geändert hätten, sondern weil der Kunde sie jetzt vorher eingibt.</a:t>
            </a:r>
          </a:p>
          <a:p>
            <a:pPr algn="l">
              <a:lnSpc>
                <a:spcPct val="95000"/>
              </a:lnSpc>
              <a:spcBef>
                <a:spcPts val="500"/>
              </a:spcBef>
            </a:pPr>
            <a:r>
              <a:rPr sz="1300" b="0">
                <a:solidFill>
                  <a:srgbClr val="404040"/>
                </a:solidFill>
              </a:rPr>
              <a:t>Ändert man den Prozess, ändert sich die Antwort auf die Frage, was Leakage ist.</a:t>
            </a:r>
          </a:p>
        </p:txBody>
      </p:sp>
      <p:sp>
        <p:nvSpPr>
          <p:cNvPr id="14" name="Rectangle 13"/>
          <p:cNvSpPr/>
          <p:nvPr/>
        </p:nvSpPr>
        <p:spPr>
          <a:xfrm>
            <a:off x="1153160"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1 Business</a:t>
            </a:r>
          </a:p>
          <a:p>
            <a:pPr algn="ctr">
              <a:lnSpc>
                <a:spcPct val="95000"/>
              </a:lnSpc>
            </a:pPr>
            <a:r>
              <a:rPr sz="1300" b="1">
                <a:solidFill>
                  <a:srgbClr val="FFFFFF"/>
                </a:solidFill>
              </a:rPr>
              <a:t>Understanding</a:t>
            </a:r>
          </a:p>
        </p:txBody>
      </p:sp>
      <p:sp>
        <p:nvSpPr>
          <p:cNvPr id="16" name="Rectangle 15"/>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8" name="Rectangle 1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0" name="Rectangle 1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2" name="Rectangle 2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4" name="Rectangle 23"/>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Annahme, auf der alles Weitere ruht</a:t>
            </a:r>
          </a:p>
        </p:txBody>
      </p:sp>
      <p:sp>
        <p:nvSpPr>
          <p:cNvPr id="3" name="Text Placeholder 2"/>
          <p:cNvSpPr>
            <a:spLocks noGrp="1"/>
          </p:cNvSpPr>
          <p:nvPr>
            <p:ph type="body" idx="12" sz="quarter"/>
          </p:nvPr>
        </p:nvSpPr>
        <p:spPr/>
        <p:txBody>
          <a:bodyPr/>
          <a:lstStyle/>
          <a:p>
            <a:r>
              <a:t>Fall 1</a:t>
            </a:r>
          </a:p>
        </p:txBody>
      </p:sp>
      <p:sp>
        <p:nvSpPr>
          <p:cNvPr id="4" name="Text Placeholder 3"/>
          <p:cNvSpPr>
            <a:spLocks noGrp="1"/>
          </p:cNvSpPr>
          <p:nvPr>
            <p:ph type="body" idx="13" sz="quarter"/>
          </p:nvPr>
        </p:nvSpPr>
        <p:spPr/>
        <p:txBody>
          <a:bodyPr/>
          <a:lstStyle/>
          <a:p>
            <a:r>
              <a:t>analytics/notebooks/01_Regression_Fahrtdauer.ipynb</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 Prozess, den wir künftig ändern, macht eine historische Ergebnisspalte nicht rückwirkend zu einer Eingabe. Das muss auf den Tisch, bevor irgendeine Zahl fällt.</a:t>
            </a:r>
          </a:p>
        </p:txBody>
      </p:sp>
      <p:sp>
        <p:nvSpPr>
          <p:cNvPr id="6" name="Rectangle 5"/>
          <p:cNvSpPr/>
          <p:nvPr/>
        </p:nvSpPr>
        <p:spPr>
          <a:xfrm>
            <a:off x="1153160" y="1879600"/>
            <a:ext cx="3545840" cy="2362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2362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006600"/>
            <a:ext cx="3215640" cy="2108200"/>
          </a:xfrm>
          <a:prstGeom prst="rect">
            <a:avLst/>
          </a:prstGeom>
          <a:noFill/>
        </p:spPr>
        <p:txBody>
          <a:bodyPr wrap="square" lIns="0" tIns="0" rIns="0" bIns="0">
            <a:spAutoFit/>
          </a:bodyPr>
          <a:lstStyle/>
          <a:p>
            <a:pPr algn="l">
              <a:lnSpc>
                <a:spcPct val="95000"/>
              </a:lnSpc>
            </a:pPr>
            <a:r>
              <a:rPr sz="1500" b="1">
                <a:solidFill>
                  <a:srgbClr val="003E6E"/>
                </a:solidFill>
              </a:rPr>
              <a:t>Worauf trainiert wird</a:t>
            </a:r>
          </a:p>
          <a:p>
            <a:pPr algn="l">
              <a:lnSpc>
                <a:spcPct val="95000"/>
              </a:lnSpc>
              <a:spcBef>
                <a:spcPts val="500"/>
              </a:spcBef>
            </a:pPr>
            <a:r>
              <a:rPr sz="1300" b="0">
                <a:solidFill>
                  <a:srgbClr val="404040"/>
                </a:solidFill>
              </a:rPr>
              <a:t>end_station_id — die Station,</a:t>
            </a:r>
          </a:p>
          <a:p>
            <a:pPr algn="l">
              <a:lnSpc>
                <a:spcPct val="95000"/>
              </a:lnSpc>
              <a:spcBef>
                <a:spcPts val="500"/>
              </a:spcBef>
            </a:pPr>
            <a:r>
              <a:rPr sz="1300" b="0">
                <a:solidFill>
                  <a:srgbClr val="404040"/>
                </a:solidFill>
              </a:rPr>
              <a:t>an der die Fahrt tatsächlich</a:t>
            </a:r>
          </a:p>
          <a:p>
            <a:pPr algn="l">
              <a:lnSpc>
                <a:spcPct val="95000"/>
              </a:lnSpc>
              <a:spcBef>
                <a:spcPts val="500"/>
              </a:spcBef>
            </a:pPr>
            <a:r>
              <a:rPr sz="1300" b="0">
                <a:solidFill>
                  <a:srgbClr val="404040"/>
                </a:solidFill>
              </a:rPr>
              <a:t>geendet hat.</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Das steht so in den</a:t>
            </a:r>
          </a:p>
          <a:p>
            <a:pPr algn="l">
              <a:lnSpc>
                <a:spcPct val="95000"/>
              </a:lnSpc>
              <a:spcBef>
                <a:spcPts val="500"/>
              </a:spcBef>
            </a:pPr>
            <a:r>
              <a:rPr sz="1300" b="0">
                <a:solidFill>
                  <a:srgbClr val="404040"/>
                </a:solidFill>
              </a:rPr>
              <a:t>historischen Daten.</a:t>
            </a:r>
          </a:p>
        </p:txBody>
      </p:sp>
      <p:sp>
        <p:nvSpPr>
          <p:cNvPr id="9" name="Rectangle 8"/>
          <p:cNvSpPr/>
          <p:nvPr/>
        </p:nvSpPr>
        <p:spPr>
          <a:xfrm>
            <a:off x="5113020" y="1879600"/>
            <a:ext cx="3545840" cy="2362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879600"/>
            <a:ext cx="50800" cy="2362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006600"/>
            <a:ext cx="3215640" cy="2108200"/>
          </a:xfrm>
          <a:prstGeom prst="rect">
            <a:avLst/>
          </a:prstGeom>
          <a:noFill/>
        </p:spPr>
        <p:txBody>
          <a:bodyPr wrap="square" lIns="0" tIns="0" rIns="0" bIns="0">
            <a:spAutoFit/>
          </a:bodyPr>
          <a:lstStyle/>
          <a:p>
            <a:pPr algn="l">
              <a:lnSpc>
                <a:spcPct val="95000"/>
              </a:lnSpc>
            </a:pPr>
            <a:r>
              <a:rPr sz="1500" b="1">
                <a:solidFill>
                  <a:srgbClr val="003E6E"/>
                </a:solidFill>
              </a:rPr>
              <a:t>Was im Betrieb ankommt</a:t>
            </a:r>
          </a:p>
          <a:p>
            <a:pPr algn="l">
              <a:lnSpc>
                <a:spcPct val="95000"/>
              </a:lnSpc>
              <a:spcBef>
                <a:spcPts val="500"/>
              </a:spcBef>
            </a:pPr>
            <a:r>
              <a:rPr sz="1300" b="0">
                <a:solidFill>
                  <a:srgbClr val="404040"/>
                </a:solidFill>
              </a:rPr>
              <a:t>Die Station, die der Kunde</a:t>
            </a:r>
          </a:p>
          <a:p>
            <a:pPr algn="l">
              <a:lnSpc>
                <a:spcPct val="95000"/>
              </a:lnSpc>
              <a:spcBef>
                <a:spcPts val="500"/>
              </a:spcBef>
            </a:pPr>
            <a:r>
              <a:rPr sz="1300" b="0">
                <a:solidFill>
                  <a:srgbClr val="404040"/>
                </a:solidFill>
              </a:rPr>
              <a:t>vorher gewählt hat.</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Beide fallen auseinander,</a:t>
            </a:r>
          </a:p>
          <a:p>
            <a:pPr algn="l">
              <a:lnSpc>
                <a:spcPct val="95000"/>
              </a:lnSpc>
              <a:spcBef>
                <a:spcPts val="500"/>
              </a:spcBef>
            </a:pPr>
            <a:r>
              <a:rPr sz="1300" b="0">
                <a:solidFill>
                  <a:srgbClr val="404040"/>
                </a:solidFill>
              </a:rPr>
              <a:t>wenn jemand umplant oder</a:t>
            </a:r>
          </a:p>
          <a:p>
            <a:pPr algn="l">
              <a:lnSpc>
                <a:spcPct val="95000"/>
              </a:lnSpc>
              <a:spcBef>
                <a:spcPts val="500"/>
              </a:spcBef>
            </a:pPr>
            <a:r>
              <a:rPr sz="1300" b="0">
                <a:solidFill>
                  <a:srgbClr val="404040"/>
                </a:solidFill>
              </a:rPr>
              <a:t>die Zielstation voll ist.</a:t>
            </a:r>
          </a:p>
        </p:txBody>
      </p:sp>
      <p:sp>
        <p:nvSpPr>
          <p:cNvPr id="12" name="Rectangle 11"/>
          <p:cNvSpPr/>
          <p:nvPr/>
        </p:nvSpPr>
        <p:spPr>
          <a:xfrm>
            <a:off x="9081770" y="1879600"/>
            <a:ext cx="3545840" cy="2362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879600"/>
            <a:ext cx="50800" cy="2362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006600"/>
            <a:ext cx="3215640" cy="2108200"/>
          </a:xfrm>
          <a:prstGeom prst="rect">
            <a:avLst/>
          </a:prstGeom>
          <a:noFill/>
        </p:spPr>
        <p:txBody>
          <a:bodyPr wrap="square" lIns="0" tIns="0" rIns="0" bIns="0">
            <a:spAutoFit/>
          </a:bodyPr>
          <a:lstStyle/>
          <a:p>
            <a:pPr algn="l">
              <a:lnSpc>
                <a:spcPct val="95000"/>
              </a:lnSpc>
            </a:pPr>
            <a:r>
              <a:rPr sz="1500" b="1">
                <a:solidFill>
                  <a:srgbClr val="003E6E"/>
                </a:solidFill>
              </a:rPr>
              <a:t>Was daraus folgt</a:t>
            </a:r>
          </a:p>
          <a:p>
            <a:pPr algn="l">
              <a:lnSpc>
                <a:spcPct val="95000"/>
              </a:lnSpc>
              <a:spcBef>
                <a:spcPts val="500"/>
              </a:spcBef>
            </a:pPr>
            <a:r>
              <a:rPr sz="1300" b="0">
                <a:solidFill>
                  <a:srgbClr val="404040"/>
                </a:solidFill>
              </a:rPr>
              <a:t>Das tatsächliche Ziel ist ein</a:t>
            </a:r>
          </a:p>
          <a:p>
            <a:pPr algn="l">
              <a:lnSpc>
                <a:spcPct val="95000"/>
              </a:lnSpc>
              <a:spcBef>
                <a:spcPts val="500"/>
              </a:spcBef>
            </a:pPr>
            <a:r>
              <a:rPr sz="1300" b="0">
                <a:solidFill>
                  <a:srgbClr val="404040"/>
                </a:solidFill>
              </a:rPr>
              <a:t>unvalidierter Stellvertreter</a:t>
            </a:r>
          </a:p>
          <a:p>
            <a:pPr algn="l">
              <a:lnSpc>
                <a:spcPct val="95000"/>
              </a:lnSpc>
              <a:spcBef>
                <a:spcPts val="500"/>
              </a:spcBef>
            </a:pPr>
            <a:r>
              <a:rPr sz="1300" b="0">
                <a:solidFill>
                  <a:srgbClr val="404040"/>
                </a:solidFill>
              </a:rPr>
              <a:t>für das geplante.</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Jede Zahl in diesem Notebook</a:t>
            </a:r>
          </a:p>
          <a:p>
            <a:pPr algn="l">
              <a:lnSpc>
                <a:spcPct val="95000"/>
              </a:lnSpc>
              <a:spcBef>
                <a:spcPts val="500"/>
              </a:spcBef>
            </a:pPr>
            <a:r>
              <a:rPr sz="1300" b="0">
                <a:solidFill>
                  <a:srgbClr val="404040"/>
                </a:solidFill>
              </a:rPr>
              <a:t>ist deshalb eine Obergrenze.</a:t>
            </a:r>
          </a:p>
        </p:txBody>
      </p:sp>
      <p:sp>
        <p:nvSpPr>
          <p:cNvPr id="15" name="Rectangle 14"/>
          <p:cNvSpPr/>
          <p:nvPr/>
        </p:nvSpPr>
        <p:spPr>
          <a:xfrm>
            <a:off x="1153160" y="43688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56360" y="44450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Prüfen lässt sich diese Annahme erst, wenn die App das geplante Ziel speichert. Bis dahin steht sie als Vorbehalt im Notebook — nicht in einer Fußnote am Ende.</a:t>
            </a:r>
          </a:p>
        </p:txBody>
      </p:sp>
      <p:sp>
        <p:nvSpPr>
          <p:cNvPr id="17" name="Rectangle 16"/>
          <p:cNvSpPr/>
          <p:nvPr/>
        </p:nvSpPr>
        <p:spPr>
          <a:xfrm>
            <a:off x="1153160"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1 Business</a:t>
            </a:r>
          </a:p>
          <a:p>
            <a:pPr algn="ctr">
              <a:lnSpc>
                <a:spcPct val="95000"/>
              </a:lnSpc>
            </a:pPr>
            <a:r>
              <a:rPr sz="1300" b="1">
                <a:solidFill>
                  <a:srgbClr val="FFFFFF"/>
                </a:solidFill>
              </a:rPr>
              <a:t>Understanding</a:t>
            </a:r>
          </a:p>
        </p:txBody>
      </p:sp>
      <p:sp>
        <p:nvSpPr>
          <p:cNvPr id="19" name="Rectangle 18"/>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1" name="Rectangle 20"/>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3" name="Rectangle 22"/>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5" name="Rectangle 24"/>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7" name="Rectangle 26"/>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Fall auf einen Blick</a:t>
            </a:r>
          </a:p>
        </p:txBody>
      </p:sp>
      <p:sp>
        <p:nvSpPr>
          <p:cNvPr id="3" name="Text Placeholder 2"/>
          <p:cNvSpPr>
            <a:spLocks noGrp="1"/>
          </p:cNvSpPr>
          <p:nvPr>
            <p:ph type="body" idx="12" sz="quarter"/>
          </p:nvPr>
        </p:nvSpPr>
        <p:spPr/>
        <p:txBody>
          <a:bodyPr/>
          <a:lstStyle/>
          <a:p>
            <a:r>
              <a:t>Fall 1</a:t>
            </a:r>
          </a:p>
        </p:txBody>
      </p:sp>
      <p:sp>
        <p:nvSpPr>
          <p:cNvPr id="4" name="Text Placeholder 3"/>
          <p:cNvSpPr>
            <a:spLocks noGrp="1"/>
          </p:cNvSpPr>
          <p:nvPr>
            <p:ph type="body" idx="13" sz="quarter"/>
          </p:nvPr>
        </p:nvSpPr>
        <p:spPr/>
        <p:txBody>
          <a:bodyPr/>
          <a:lstStyle/>
          <a:p>
            <a:r>
              <a:t>analytics/notebooks/01_Regression_Fahrtdauer.ipynb</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Bevor wir loslaufen: wohin die Reise geht. Das Urteil steht hier schon — interessant ist der Weg dorthin.</a:t>
            </a:r>
          </a:p>
        </p:txBody>
      </p:sp>
      <p:sp>
        <p:nvSpPr>
          <p:cNvPr id="6" name="Rectangle 5"/>
          <p:cNvSpPr/>
          <p:nvPr/>
        </p:nvSpPr>
        <p:spPr>
          <a:xfrm>
            <a:off x="1153160" y="1651000"/>
            <a:ext cx="11474450" cy="27940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76200" cy="2794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407160" y="17526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Geschäftsfrage</a:t>
            </a:r>
          </a:p>
        </p:txBody>
      </p:sp>
      <p:sp>
        <p:nvSpPr>
          <p:cNvPr id="9" name="TextBox 8"/>
          <p:cNvSpPr txBox="1"/>
          <p:nvPr/>
        </p:nvSpPr>
        <p:spPr>
          <a:xfrm>
            <a:off x="3820160" y="17526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Kann die App den Preis nennen, nachdem der Kunde sein Ziel gewählt hat?</a:t>
            </a:r>
          </a:p>
        </p:txBody>
      </p:sp>
      <p:sp>
        <p:nvSpPr>
          <p:cNvPr id="10" name="TextBox 9"/>
          <p:cNvSpPr txBox="1"/>
          <p:nvPr/>
        </p:nvSpPr>
        <p:spPr>
          <a:xfrm>
            <a:off x="1407160" y="21844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Analytisches Ziel</a:t>
            </a:r>
          </a:p>
        </p:txBody>
      </p:sp>
      <p:sp>
        <p:nvSpPr>
          <p:cNvPr id="11" name="TextBox 10"/>
          <p:cNvSpPr txBox="1"/>
          <p:nvPr/>
        </p:nvSpPr>
        <p:spPr>
          <a:xfrm>
            <a:off x="3820160" y="21844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Die Dauer in Minuten schätzen — der Preis folgt daraus über das Tarifblatt</a:t>
            </a:r>
          </a:p>
        </p:txBody>
      </p:sp>
      <p:sp>
        <p:nvSpPr>
          <p:cNvPr id="12" name="TextBox 11"/>
          <p:cNvSpPr txBox="1"/>
          <p:nvPr/>
        </p:nvSpPr>
        <p:spPr>
          <a:xfrm>
            <a:off x="1407160" y="26162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Erfolgskriterium</a:t>
            </a:r>
          </a:p>
        </p:txBody>
      </p:sp>
      <p:sp>
        <p:nvSpPr>
          <p:cNvPr id="13" name="TextBox 12"/>
          <p:cNvSpPr txBox="1"/>
          <p:nvPr/>
        </p:nvSpPr>
        <p:spPr>
          <a:xfrm>
            <a:off x="3820160" y="26162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Preisfehler unter 50 Cent, festgelegt vor dem ersten Blick in die Daten</a:t>
            </a:r>
          </a:p>
        </p:txBody>
      </p:sp>
      <p:sp>
        <p:nvSpPr>
          <p:cNvPr id="14" name="TextBox 13"/>
          <p:cNvSpPr txBox="1"/>
          <p:nvPr/>
        </p:nvSpPr>
        <p:spPr>
          <a:xfrm>
            <a:off x="1407160" y="30480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Daten</a:t>
            </a:r>
          </a:p>
        </p:txBody>
      </p:sp>
      <p:sp>
        <p:nvSpPr>
          <p:cNvPr id="15" name="TextBox 14"/>
          <p:cNvSpPr txBox="1"/>
          <p:nvPr/>
        </p:nvSpPr>
        <p:spPr>
          <a:xfrm>
            <a:off x="3820160" y="30480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60.425 Vorgänge aus drei Jahren, davon 47.054 im Geltungsbereich</a:t>
            </a:r>
          </a:p>
        </p:txBody>
      </p:sp>
      <p:sp>
        <p:nvSpPr>
          <p:cNvPr id="16" name="TextBox 15"/>
          <p:cNvSpPr txBox="1"/>
          <p:nvPr/>
        </p:nvSpPr>
        <p:spPr>
          <a:xfrm>
            <a:off x="1407160" y="3479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Verfahren</a:t>
            </a:r>
          </a:p>
        </p:txBody>
      </p:sp>
      <p:sp>
        <p:nvSpPr>
          <p:cNvPr id="17" name="TextBox 16"/>
          <p:cNvSpPr txBox="1"/>
          <p:nvPr/>
        </p:nvSpPr>
        <p:spPr>
          <a:xfrm>
            <a:off x="3820160" y="3479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Vier Baselines, dann lineare Regression, Baum, Random Forest</a:t>
            </a:r>
          </a:p>
        </p:txBody>
      </p:sp>
      <p:sp>
        <p:nvSpPr>
          <p:cNvPr id="18" name="TextBox 17"/>
          <p:cNvSpPr txBox="1"/>
          <p:nvPr/>
        </p:nvSpPr>
        <p:spPr>
          <a:xfrm>
            <a:off x="1407160" y="39116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Urteil</a:t>
            </a:r>
          </a:p>
        </p:txBody>
      </p:sp>
      <p:sp>
        <p:nvSpPr>
          <p:cNvPr id="19" name="TextBox 18"/>
          <p:cNvSpPr txBox="1"/>
          <p:nvPr/>
        </p:nvSpPr>
        <p:spPr>
          <a:xfrm>
            <a:off x="3820160" y="39116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CITY hält die Grenze — und wir springen trotzdem zurück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Wunsch zur Zahl</a:t>
            </a:r>
          </a:p>
        </p:txBody>
      </p:sp>
      <p:sp>
        <p:nvSpPr>
          <p:cNvPr id="3" name="Text Placeholder 2"/>
          <p:cNvSpPr>
            <a:spLocks noGrp="1"/>
          </p:cNvSpPr>
          <p:nvPr>
            <p:ph type="body" idx="12" sz="quarter"/>
          </p:nvPr>
        </p:nvSpPr>
        <p:spPr/>
        <p:txBody>
          <a:bodyPr/>
          <a:lstStyle/>
          <a:p>
            <a:r>
              <a:t>Phase 1 · Business Understanding</a:t>
            </a:r>
          </a:p>
        </p:txBody>
      </p:sp>
      <p:sp>
        <p:nvSpPr>
          <p:cNvPr id="4" name="Text Placeholder 3"/>
          <p:cNvSpPr>
            <a:spLocks noGrp="1"/>
          </p:cNvSpPr>
          <p:nvPr>
            <p:ph type="body" idx="13" sz="quarter"/>
          </p:nvPr>
        </p:nvSpPr>
        <p:spPr/>
        <p:txBody>
          <a:bodyPr/>
          <a:lstStyle/>
          <a:p>
            <a:r>
              <a:t>analytics/notebooks/01_Regression_Fahrtdauer.ipynb · Abschnitt 1</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„Der Kunde soll wissen, was es kostet.“ Das ist ein Wunsch, kein Auftrag. Aus ihm wird in drei Schritten etwas Messbares.</a:t>
            </a:r>
          </a:p>
        </p:txBody>
      </p:sp>
      <p:sp>
        <p:nvSpPr>
          <p:cNvPr id="6" name="Rectangle 5"/>
          <p:cNvSpPr/>
          <p:nvPr/>
        </p:nvSpPr>
        <p:spPr>
          <a:xfrm>
            <a:off x="1153160" y="1879600"/>
            <a:ext cx="1147445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20193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1955800"/>
            <a:ext cx="7283450" cy="457200"/>
          </a:xfrm>
          <a:prstGeom prst="rect">
            <a:avLst/>
          </a:prstGeom>
          <a:noFill/>
        </p:spPr>
        <p:txBody>
          <a:bodyPr wrap="square" lIns="0" tIns="0" rIns="0" bIns="0" anchor="ctr">
            <a:spAutoFit/>
          </a:bodyPr>
          <a:lstStyle/>
          <a:p>
            <a:pPr>
              <a:lnSpc>
                <a:spcPct val="95000"/>
              </a:lnSpc>
            </a:pPr>
            <a:r>
              <a:rPr sz="1300" b="1">
                <a:solidFill>
                  <a:srgbClr val="003E6E"/>
                </a:solidFill>
              </a:rPr>
              <a:t>Geschäftsziel  </a:t>
            </a:r>
            <a:r>
              <a:rPr sz="1300">
                <a:solidFill>
                  <a:srgbClr val="404040"/>
                </a:solidFill>
              </a:rPr>
              <a:t>Nach der Zielwahl steht eine Preisangabe auf dem Bildschirm</a:t>
            </a:r>
          </a:p>
        </p:txBody>
      </p:sp>
      <p:sp>
        <p:nvSpPr>
          <p:cNvPr id="10" name="Rectangle 9"/>
          <p:cNvSpPr/>
          <p:nvPr/>
        </p:nvSpPr>
        <p:spPr>
          <a:xfrm>
            <a:off x="1153160" y="2603500"/>
            <a:ext cx="1147445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26035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30960" y="2743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3" name="TextBox 12"/>
          <p:cNvSpPr txBox="1"/>
          <p:nvPr/>
        </p:nvSpPr>
        <p:spPr>
          <a:xfrm>
            <a:off x="1788160" y="2679700"/>
            <a:ext cx="7283450" cy="457200"/>
          </a:xfrm>
          <a:prstGeom prst="rect">
            <a:avLst/>
          </a:prstGeom>
          <a:noFill/>
        </p:spPr>
        <p:txBody>
          <a:bodyPr wrap="square" lIns="0" tIns="0" rIns="0" bIns="0" anchor="ctr">
            <a:spAutoFit/>
          </a:bodyPr>
          <a:lstStyle/>
          <a:p>
            <a:pPr>
              <a:lnSpc>
                <a:spcPct val="95000"/>
              </a:lnSpc>
            </a:pPr>
            <a:r>
              <a:rPr sz="1300" b="1">
                <a:solidFill>
                  <a:srgbClr val="003E6E"/>
                </a:solidFill>
              </a:rPr>
              <a:t>Analytisches Ziel  </a:t>
            </a:r>
            <a:r>
              <a:rPr sz="1300">
                <a:solidFill>
                  <a:srgbClr val="404040"/>
                </a:solidFill>
              </a:rPr>
              <a:t>Geschätzt wird die DAUER, nicht der Preis</a:t>
            </a:r>
          </a:p>
        </p:txBody>
      </p:sp>
      <p:sp>
        <p:nvSpPr>
          <p:cNvPr id="14" name="Rectangle 13"/>
          <p:cNvSpPr/>
          <p:nvPr/>
        </p:nvSpPr>
        <p:spPr>
          <a:xfrm>
            <a:off x="1153160" y="3327400"/>
            <a:ext cx="1147445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53160" y="33274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330960" y="34671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7" name="TextBox 16"/>
          <p:cNvSpPr txBox="1"/>
          <p:nvPr/>
        </p:nvSpPr>
        <p:spPr>
          <a:xfrm>
            <a:off x="1788160" y="3403600"/>
            <a:ext cx="7283450" cy="457200"/>
          </a:xfrm>
          <a:prstGeom prst="rect">
            <a:avLst/>
          </a:prstGeom>
          <a:noFill/>
        </p:spPr>
        <p:txBody>
          <a:bodyPr wrap="square" lIns="0" tIns="0" rIns="0" bIns="0" anchor="ctr">
            <a:spAutoFit/>
          </a:bodyPr>
          <a:lstStyle/>
          <a:p>
            <a:pPr>
              <a:lnSpc>
                <a:spcPct val="95000"/>
              </a:lnSpc>
            </a:pPr>
            <a:r>
              <a:rPr sz="1300" b="1">
                <a:solidFill>
                  <a:srgbClr val="003E6E"/>
                </a:solidFill>
              </a:rPr>
              <a:t>Erfolgskriterium  </a:t>
            </a:r>
            <a:r>
              <a:rPr sz="1300">
                <a:solidFill>
                  <a:srgbClr val="404040"/>
                </a:solidFill>
              </a:rPr>
              <a:t>Die Angabe liegt im Mittel unter 50 Cent daneben — die Grenze kommt aus dem Produktmanagement</a:t>
            </a:r>
          </a:p>
        </p:txBody>
      </p:sp>
      <p:sp>
        <p:nvSpPr>
          <p:cNvPr id="18" name="Rectangle 17"/>
          <p:cNvSpPr/>
          <p:nvPr/>
        </p:nvSpPr>
        <p:spPr>
          <a:xfrm>
            <a:off x="1153160" y="4051300"/>
            <a:ext cx="1147445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53160" y="40513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330960" y="4191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1" name="TextBox 20"/>
          <p:cNvSpPr txBox="1"/>
          <p:nvPr/>
        </p:nvSpPr>
        <p:spPr>
          <a:xfrm>
            <a:off x="1788160" y="4127500"/>
            <a:ext cx="7283450" cy="457200"/>
          </a:xfrm>
          <a:prstGeom prst="rect">
            <a:avLst/>
          </a:prstGeom>
          <a:noFill/>
        </p:spPr>
        <p:txBody>
          <a:bodyPr wrap="square" lIns="0" tIns="0" rIns="0" bIns="0" anchor="ctr">
            <a:spAutoFit/>
          </a:bodyPr>
          <a:lstStyle/>
          <a:p>
            <a:pPr>
              <a:lnSpc>
                <a:spcPct val="95000"/>
              </a:lnSpc>
            </a:pPr>
            <a:r>
              <a:rPr sz="1300" b="1">
                <a:solidFill>
                  <a:srgbClr val="003E6E"/>
                </a:solidFill>
              </a:rPr>
              <a:t>Gemessen auf  </a:t>
            </a:r>
            <a:r>
              <a:rPr sz="1300">
                <a:solidFill>
                  <a:srgbClr val="404040"/>
                </a:solidFill>
              </a:rPr>
              <a:t>einem Zeitraum, den das Modell beim Training nie gesehen hat</a:t>
            </a:r>
          </a:p>
        </p:txBody>
      </p:sp>
      <p:sp>
        <p:nvSpPr>
          <p:cNvPr id="22" name="Rectangle 21"/>
          <p:cNvSpPr/>
          <p:nvPr/>
        </p:nvSpPr>
        <p:spPr>
          <a:xfrm>
            <a:off x="1153160" y="48387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56360" y="49149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Man schätzt nie, was man ausrechnen kann. Das Tarifblatt ist exakt bekannt — es zu schätzen wäre ein zusätzlicher Fehler ohne jeden Gegenwert.</a:t>
            </a:r>
          </a:p>
        </p:txBody>
      </p:sp>
      <p:sp>
        <p:nvSpPr>
          <p:cNvPr id="24" name="Rectangle 23"/>
          <p:cNvSpPr/>
          <p:nvPr/>
        </p:nvSpPr>
        <p:spPr>
          <a:xfrm>
            <a:off x="1153160"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1 Business</a:t>
            </a:r>
          </a:p>
          <a:p>
            <a:pPr algn="ctr">
              <a:lnSpc>
                <a:spcPct val="95000"/>
              </a:lnSpc>
            </a:pPr>
            <a:r>
              <a:rPr sz="1300" b="1">
                <a:solidFill>
                  <a:srgbClr val="FFFFFF"/>
                </a:solidFill>
              </a:rPr>
              <a:t>Understanding</a:t>
            </a:r>
          </a:p>
        </p:txBody>
      </p:sp>
      <p:sp>
        <p:nvSpPr>
          <p:cNvPr id="26" name="Rectangle 25"/>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8" name="Rectangle 2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30" name="Rectangle 2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32" name="Rectangle 3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4" name="Rectangle 33"/>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Geltungsbereich — was ausdrücklich nicht dazugehört</a:t>
            </a:r>
          </a:p>
        </p:txBody>
      </p:sp>
      <p:sp>
        <p:nvSpPr>
          <p:cNvPr id="3" name="Text Placeholder 2"/>
          <p:cNvSpPr>
            <a:spLocks noGrp="1"/>
          </p:cNvSpPr>
          <p:nvPr>
            <p:ph type="body" idx="12" sz="quarter"/>
          </p:nvPr>
        </p:nvSpPr>
        <p:spPr/>
        <p:txBody>
          <a:bodyPr/>
          <a:lstStyle/>
          <a:p>
            <a:r>
              <a:t>Phase 1 · Business Understanding</a:t>
            </a:r>
          </a:p>
        </p:txBody>
      </p:sp>
      <p:sp>
        <p:nvSpPr>
          <p:cNvPr id="4" name="Text Placeholder 3"/>
          <p:cNvSpPr>
            <a:spLocks noGrp="1"/>
          </p:cNvSpPr>
          <p:nvPr>
            <p:ph type="body" idx="13" sz="quarter"/>
          </p:nvPr>
        </p:nvSpPr>
        <p:spPr/>
        <p:txBody>
          <a:bodyPr/>
          <a:lstStyle/>
          <a:p>
            <a:r>
              <a:t>analytics/notebooks/01_Regression_Fahrtdauer.ipynb · Abschnitt 1</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Drei Einschränkungen, und die dritte ist eine Setzung. Der Unterschied gehört benannt, nicht versteckt.</a:t>
            </a:r>
          </a:p>
        </p:txBody>
      </p:sp>
      <p:sp>
        <p:nvSpPr>
          <p:cNvPr id="6" name="Rectangle 5"/>
          <p:cNvSpPr/>
          <p:nvPr/>
        </p:nvSpPr>
        <p:spPr>
          <a:xfrm>
            <a:off x="1153160" y="1651000"/>
            <a:ext cx="2794000" cy="736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Einschränkung</a:t>
            </a:r>
          </a:p>
        </p:txBody>
      </p:sp>
      <p:sp>
        <p:nvSpPr>
          <p:cNvPr id="7" name="Rectangle 6"/>
          <p:cNvSpPr/>
          <p:nvPr/>
        </p:nvSpPr>
        <p:spPr>
          <a:xfrm>
            <a:off x="3947160" y="1651000"/>
            <a:ext cx="4445000" cy="736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Warum</a:t>
            </a:r>
          </a:p>
        </p:txBody>
      </p:sp>
      <p:sp>
        <p:nvSpPr>
          <p:cNvPr id="8" name="Rectangle 7"/>
          <p:cNvSpPr/>
          <p:nvPr/>
        </p:nvSpPr>
        <p:spPr>
          <a:xfrm>
            <a:off x="8392160" y="1651000"/>
            <a:ext cx="4235450" cy="736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Belegt oder gesetzt?</a:t>
            </a:r>
          </a:p>
        </p:txBody>
      </p:sp>
      <p:sp>
        <p:nvSpPr>
          <p:cNvPr id="9" name="Rectangle 8"/>
          <p:cNvSpPr/>
          <p:nvPr/>
        </p:nvSpPr>
        <p:spPr>
          <a:xfrm>
            <a:off x="1153160" y="2387600"/>
            <a:ext cx="2794000" cy="736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Nur abgeschlossene Fahrten</a:t>
            </a:r>
          </a:p>
        </p:txBody>
      </p:sp>
      <p:sp>
        <p:nvSpPr>
          <p:cNvPr id="10" name="Rectangle 9"/>
          <p:cNvSpPr/>
          <p:nvPr/>
        </p:nvSpPr>
        <p:spPr>
          <a:xfrm>
            <a:off x="3947160" y="2387600"/>
            <a:ext cx="4445000" cy="736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Abbrüche und Stornierungen sind keine Fahrten</a:t>
            </a:r>
          </a:p>
        </p:txBody>
      </p:sp>
      <p:sp>
        <p:nvSpPr>
          <p:cNvPr id="11" name="Rectangle 10"/>
          <p:cNvSpPr/>
          <p:nvPr/>
        </p:nvSpPr>
        <p:spPr>
          <a:xfrm>
            <a:off x="8392160" y="2387600"/>
            <a:ext cx="4235450" cy="736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belegt — sie dauern zwei Minuten</a:t>
            </a:r>
          </a:p>
        </p:txBody>
      </p:sp>
      <p:sp>
        <p:nvSpPr>
          <p:cNvPr id="12" name="Rectangle 11"/>
          <p:cNvSpPr/>
          <p:nvPr/>
        </p:nvSpPr>
        <p:spPr>
          <a:xfrm>
            <a:off x="1153160" y="3124200"/>
            <a:ext cx="2794000" cy="736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Nur Station zu Station</a:t>
            </a:r>
          </a:p>
        </p:txBody>
      </p:sp>
      <p:sp>
        <p:nvSpPr>
          <p:cNvPr id="13" name="Rectangle 12"/>
          <p:cNvSpPr/>
          <p:nvPr/>
        </p:nvSpPr>
        <p:spPr>
          <a:xfrm>
            <a:off x="3947160" y="3124200"/>
            <a:ext cx="4445000" cy="736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Wer frei im Gebiet abstellt, hat kein Ziel gewählt</a:t>
            </a:r>
          </a:p>
        </p:txBody>
      </p:sp>
      <p:sp>
        <p:nvSpPr>
          <p:cNvPr id="14" name="Rectangle 13"/>
          <p:cNvSpPr/>
          <p:nvPr/>
        </p:nvSpPr>
        <p:spPr>
          <a:xfrm>
            <a:off x="8392160" y="3124200"/>
            <a:ext cx="4235450" cy="736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belegt — betrifft ein Fünftel</a:t>
            </a:r>
          </a:p>
        </p:txBody>
      </p:sp>
      <p:sp>
        <p:nvSpPr>
          <p:cNvPr id="15" name="Rectangle 14"/>
          <p:cNvSpPr/>
          <p:nvPr/>
        </p:nvSpPr>
        <p:spPr>
          <a:xfrm>
            <a:off x="1153160" y="3860800"/>
            <a:ext cx="2794000" cy="736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Nur Fahrten bis acht Stunden</a:t>
            </a:r>
          </a:p>
        </p:txBody>
      </p:sp>
      <p:sp>
        <p:nvSpPr>
          <p:cNvPr id="16" name="Rectangle 15"/>
          <p:cNvSpPr/>
          <p:nvPr/>
        </p:nvSpPr>
        <p:spPr>
          <a:xfrm>
            <a:off x="3947160" y="3860800"/>
            <a:ext cx="4445000" cy="736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Darüber liegt eine vergessene Rückgabe, ein eigener Geschäftsfall</a:t>
            </a:r>
          </a:p>
        </p:txBody>
      </p:sp>
      <p:sp>
        <p:nvSpPr>
          <p:cNvPr id="17" name="Rectangle 16"/>
          <p:cNvSpPr/>
          <p:nvPr/>
        </p:nvSpPr>
        <p:spPr>
          <a:xfrm>
            <a:off x="8392160" y="3860800"/>
            <a:ext cx="4235450" cy="736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gesetzt — es gibt keine Statusangabe, die das trennt</a:t>
            </a:r>
          </a:p>
        </p:txBody>
      </p:sp>
      <p:sp>
        <p:nvSpPr>
          <p:cNvPr id="18" name="Rectangle 17"/>
          <p:cNvSpPr/>
          <p:nvPr/>
        </p:nvSpPr>
        <p:spPr>
          <a:xfrm>
            <a:off x="1153160" y="47752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356360" y="48514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Die dritte Zeile ist die ehrlichste der Folie: Acht Stunden sind eine Verabredung, keine Messung. Sie gehört fachlich abgesichert — und bis dahin steht sie als offener Punkt im Notebook.</a:t>
            </a:r>
          </a:p>
        </p:txBody>
      </p:sp>
      <p:sp>
        <p:nvSpPr>
          <p:cNvPr id="20" name="Rectangle 19"/>
          <p:cNvSpPr/>
          <p:nvPr/>
        </p:nvSpPr>
        <p:spPr>
          <a:xfrm>
            <a:off x="1153160"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1 Business</a:t>
            </a:r>
          </a:p>
          <a:p>
            <a:pPr algn="ctr">
              <a:lnSpc>
                <a:spcPct val="95000"/>
              </a:lnSpc>
            </a:pPr>
            <a:r>
              <a:rPr sz="1300" b="1">
                <a:solidFill>
                  <a:srgbClr val="FFFFFF"/>
                </a:solidFill>
              </a:rPr>
              <a:t>Understanding</a:t>
            </a:r>
          </a:p>
        </p:txBody>
      </p:sp>
      <p:sp>
        <p:nvSpPr>
          <p:cNvPr id="22" name="Rectangle 21"/>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4" name="Rectangle 23"/>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6" name="Rectangle 25"/>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8" name="Rectangle 27"/>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0" name="Rectangle 29"/>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Tarifblatt: drei Räder, drei Minutenpreise</a:t>
            </a:r>
          </a:p>
        </p:txBody>
      </p:sp>
      <p:sp>
        <p:nvSpPr>
          <p:cNvPr id="3" name="Text Placeholder 2"/>
          <p:cNvSpPr>
            <a:spLocks noGrp="1"/>
          </p:cNvSpPr>
          <p:nvPr>
            <p:ph type="body" idx="12" sz="quarter"/>
          </p:nvPr>
        </p:nvSpPr>
        <p:spPr/>
        <p:txBody>
          <a:bodyPr/>
          <a:lstStyle/>
          <a:p>
            <a:r>
              <a:t>Phase 1 · im Notebook</a:t>
            </a:r>
          </a:p>
        </p:txBody>
      </p:sp>
      <p:sp>
        <p:nvSpPr>
          <p:cNvPr id="4" name="Text Placeholder 3"/>
          <p:cNvSpPr>
            <a:spLocks noGrp="1"/>
          </p:cNvSpPr>
          <p:nvPr>
            <p:ph type="body" idx="13" sz="quarter"/>
          </p:nvPr>
        </p:nvSpPr>
        <p:spPr/>
        <p:txBody>
          <a:bodyPr/>
          <a:lstStyle/>
          <a:p>
            <a:r>
              <a:t>analytics/notebooks/01_Regression_Fahrtdauer.ipynb · Abschnitt 1 — Das Tarifblatt</a:t>
            </a:r>
          </a:p>
        </p:txBody>
      </p:sp>
      <p:sp>
        <p:nvSpPr>
          <p:cNvPr id="5" name="Rectangle 4"/>
          <p:cNvSpPr/>
          <p:nvPr/>
        </p:nvSpPr>
        <p:spPr>
          <a:xfrm>
            <a:off x="1825706" y="1168400"/>
            <a:ext cx="10129357" cy="436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1-tarif.png"/>
          <p:cNvPicPr>
            <a:picLocks noChangeAspect="1"/>
          </p:cNvPicPr>
          <p:nvPr/>
        </p:nvPicPr>
        <p:blipFill>
          <a:blip r:embed="rId2"/>
          <a:stretch>
            <a:fillRect/>
          </a:stretch>
        </p:blipFill>
        <p:spPr>
          <a:xfrm>
            <a:off x="1927306" y="1270000"/>
            <a:ext cx="9926157" cy="4165600"/>
          </a:xfrm>
          <a:prstGeom prst="rect">
            <a:avLst/>
          </a:prstGeom>
        </p:spPr>
      </p:pic>
      <p:sp>
        <p:nvSpPr>
          <p:cNvPr id="7" name="Rectangle 6"/>
          <p:cNvSpPr/>
          <p:nvPr/>
        </p:nvSpPr>
        <p:spPr>
          <a:xfrm>
            <a:off x="1153160" y="56134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6896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Startgebühr, Minutenpreis, Tageshöchstpreis — daraus wird später der Preis gerechnet, nicht geschätzt.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Nicht jeder Vorgang ist eine Fahrt</a:t>
            </a:r>
          </a:p>
        </p:txBody>
      </p:sp>
      <p:sp>
        <p:nvSpPr>
          <p:cNvPr id="3" name="Text Placeholder 2"/>
          <p:cNvSpPr>
            <a:spLocks noGrp="1"/>
          </p:cNvSpPr>
          <p:nvPr>
            <p:ph type="body" idx="12" sz="quarter"/>
          </p:nvPr>
        </p:nvSpPr>
        <p:spPr/>
        <p:txBody>
          <a:bodyPr/>
          <a:lstStyle/>
          <a:p>
            <a:r>
              <a:t>Phase 2 · Data Understanding</a:t>
            </a:r>
          </a:p>
        </p:txBody>
      </p:sp>
      <p:sp>
        <p:nvSpPr>
          <p:cNvPr id="4" name="Text Placeholder 3"/>
          <p:cNvSpPr>
            <a:spLocks noGrp="1"/>
          </p:cNvSpPr>
          <p:nvPr>
            <p:ph type="body" idx="13" sz="quarter"/>
          </p:nvPr>
        </p:nvSpPr>
        <p:spPr/>
        <p:txBody>
          <a:bodyPr/>
          <a:lstStyle/>
          <a:p>
            <a:r>
              <a:t>analytics/notebooks/01_Regression_Fahrtdauer.ipynb · Abschnitt 2</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Bevor irgendetwas gerechnet wird: Was steht überhaupt in der Tabelle? Die Antwort ändert die Datenmenge um ein Fünftel.</a:t>
            </a:r>
          </a:p>
        </p:txBody>
      </p:sp>
      <p:sp>
        <p:nvSpPr>
          <p:cNvPr id="6" name="Rectangle 5"/>
          <p:cNvSpPr/>
          <p:nvPr/>
        </p:nvSpPr>
        <p:spPr>
          <a:xfrm>
            <a:off x="1153160" y="1879600"/>
            <a:ext cx="24130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Status</a:t>
            </a:r>
          </a:p>
        </p:txBody>
      </p:sp>
      <p:sp>
        <p:nvSpPr>
          <p:cNvPr id="7" name="Rectangle 6"/>
          <p:cNvSpPr/>
          <p:nvPr/>
        </p:nvSpPr>
        <p:spPr>
          <a:xfrm>
            <a:off x="3566160" y="1879600"/>
            <a:ext cx="15240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Anzahl</a:t>
            </a:r>
          </a:p>
        </p:txBody>
      </p:sp>
      <p:sp>
        <p:nvSpPr>
          <p:cNvPr id="8" name="Rectangle 7"/>
          <p:cNvSpPr/>
          <p:nvPr/>
        </p:nvSpPr>
        <p:spPr>
          <a:xfrm>
            <a:off x="5090160" y="1879600"/>
            <a:ext cx="19050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Mediandauer</a:t>
            </a:r>
          </a:p>
        </p:txBody>
      </p:sp>
      <p:sp>
        <p:nvSpPr>
          <p:cNvPr id="9" name="Rectangle 8"/>
          <p:cNvSpPr/>
          <p:nvPr/>
        </p:nvSpPr>
        <p:spPr>
          <a:xfrm>
            <a:off x="6995159" y="1879600"/>
            <a:ext cx="563245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Was das heißt</a:t>
            </a:r>
          </a:p>
        </p:txBody>
      </p:sp>
      <p:sp>
        <p:nvSpPr>
          <p:cNvPr id="10" name="Rectangle 9"/>
          <p:cNvSpPr/>
          <p:nvPr/>
        </p:nvSpPr>
        <p:spPr>
          <a:xfrm>
            <a:off x="1153160" y="2463800"/>
            <a:ext cx="2413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abgeschlossen</a:t>
            </a:r>
          </a:p>
        </p:txBody>
      </p:sp>
      <p:sp>
        <p:nvSpPr>
          <p:cNvPr id="11" name="Rectangle 10"/>
          <p:cNvSpPr/>
          <p:nvPr/>
        </p:nvSpPr>
        <p:spPr>
          <a:xfrm>
            <a:off x="3566160" y="2463800"/>
            <a:ext cx="1524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58.737</a:t>
            </a:r>
          </a:p>
        </p:txBody>
      </p:sp>
      <p:sp>
        <p:nvSpPr>
          <p:cNvPr id="12" name="Rectangle 11"/>
          <p:cNvSpPr/>
          <p:nvPr/>
        </p:nvSpPr>
        <p:spPr>
          <a:xfrm>
            <a:off x="5090160" y="2463800"/>
            <a:ext cx="1905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11 Minuten</a:t>
            </a:r>
          </a:p>
        </p:txBody>
      </p:sp>
      <p:sp>
        <p:nvSpPr>
          <p:cNvPr id="13" name="Rectangle 12"/>
          <p:cNvSpPr/>
          <p:nvPr/>
        </p:nvSpPr>
        <p:spPr>
          <a:xfrm>
            <a:off x="6995159" y="2463800"/>
            <a:ext cx="563245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das sind Fahrten</a:t>
            </a:r>
          </a:p>
        </p:txBody>
      </p:sp>
      <p:sp>
        <p:nvSpPr>
          <p:cNvPr id="14" name="Rectangle 13"/>
          <p:cNvSpPr/>
          <p:nvPr/>
        </p:nvSpPr>
        <p:spPr>
          <a:xfrm>
            <a:off x="1153160" y="3048000"/>
            <a:ext cx="241300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abgebrochen</a:t>
            </a:r>
          </a:p>
        </p:txBody>
      </p:sp>
      <p:sp>
        <p:nvSpPr>
          <p:cNvPr id="15" name="Rectangle 14"/>
          <p:cNvSpPr/>
          <p:nvPr/>
        </p:nvSpPr>
        <p:spPr>
          <a:xfrm>
            <a:off x="3566160" y="3048000"/>
            <a:ext cx="152400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1.364</a:t>
            </a:r>
          </a:p>
        </p:txBody>
      </p:sp>
      <p:sp>
        <p:nvSpPr>
          <p:cNvPr id="16" name="Rectangle 15"/>
          <p:cNvSpPr/>
          <p:nvPr/>
        </p:nvSpPr>
        <p:spPr>
          <a:xfrm>
            <a:off x="5090160" y="3048000"/>
            <a:ext cx="190500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2 Minuten</a:t>
            </a:r>
          </a:p>
        </p:txBody>
      </p:sp>
      <p:sp>
        <p:nvSpPr>
          <p:cNvPr id="17" name="Rectangle 16"/>
          <p:cNvSpPr/>
          <p:nvPr/>
        </p:nvSpPr>
        <p:spPr>
          <a:xfrm>
            <a:off x="6995159" y="3048000"/>
            <a:ext cx="563245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Vorgänge, die nie eine wurden</a:t>
            </a:r>
          </a:p>
        </p:txBody>
      </p:sp>
      <p:sp>
        <p:nvSpPr>
          <p:cNvPr id="18" name="Rectangle 17"/>
          <p:cNvSpPr/>
          <p:nvPr/>
        </p:nvSpPr>
        <p:spPr>
          <a:xfrm>
            <a:off x="1153160" y="3632200"/>
            <a:ext cx="2413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storniert</a:t>
            </a:r>
          </a:p>
        </p:txBody>
      </p:sp>
      <p:sp>
        <p:nvSpPr>
          <p:cNvPr id="19" name="Rectangle 18"/>
          <p:cNvSpPr/>
          <p:nvPr/>
        </p:nvSpPr>
        <p:spPr>
          <a:xfrm>
            <a:off x="3566160" y="3632200"/>
            <a:ext cx="1524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324</a:t>
            </a:r>
          </a:p>
        </p:txBody>
      </p:sp>
      <p:sp>
        <p:nvSpPr>
          <p:cNvPr id="20" name="Rectangle 19"/>
          <p:cNvSpPr/>
          <p:nvPr/>
        </p:nvSpPr>
        <p:spPr>
          <a:xfrm>
            <a:off x="5090160" y="3632200"/>
            <a:ext cx="1905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 Minute</a:t>
            </a:r>
          </a:p>
        </p:txBody>
      </p:sp>
      <p:sp>
        <p:nvSpPr>
          <p:cNvPr id="21" name="Rectangle 20"/>
          <p:cNvSpPr/>
          <p:nvPr/>
        </p:nvSpPr>
        <p:spPr>
          <a:xfrm>
            <a:off x="6995159" y="3632200"/>
            <a:ext cx="563245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dito — und beide verzerren die kurzen Wege</a:t>
            </a:r>
          </a:p>
        </p:txBody>
      </p:sp>
      <p:sp>
        <p:nvSpPr>
          <p:cNvPr id="22" name="Rectangle 21"/>
          <p:cNvSpPr/>
          <p:nvPr/>
        </p:nvSpPr>
        <p:spPr>
          <a:xfrm>
            <a:off x="1153160" y="43434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56360" y="44196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Zwei Minuten sind keine Fahrt, sondern ein Fehlgriff am Schloss. Wer sie mitzählt, drückt genau die kurzen Strecken nach unten, um die es hier geht.</a:t>
            </a:r>
          </a:p>
        </p:txBody>
      </p:sp>
      <p:sp>
        <p:nvSpPr>
          <p:cNvPr id="24" name="Rectangle 23"/>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6" name="Rectangle 25"/>
          <p:cNvSpPr/>
          <p:nvPr/>
        </p:nvSpPr>
        <p:spPr>
          <a:xfrm>
            <a:off x="3076151"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2 Data</a:t>
            </a:r>
          </a:p>
          <a:p>
            <a:pPr algn="ctr">
              <a:lnSpc>
                <a:spcPct val="95000"/>
              </a:lnSpc>
            </a:pPr>
            <a:r>
              <a:rPr sz="1300" b="1">
                <a:solidFill>
                  <a:srgbClr val="FFFFFF"/>
                </a:solidFill>
              </a:rPr>
              <a:t>Understanding</a:t>
            </a:r>
          </a:p>
        </p:txBody>
      </p:sp>
      <p:sp>
        <p:nvSpPr>
          <p:cNvPr id="28" name="Rectangle 2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30" name="Rectangle 2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32" name="Rectangle 3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4" name="Rectangle 33"/>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Trichter: von 60.425 auf 47.054 Fahrten</a:t>
            </a:r>
          </a:p>
        </p:txBody>
      </p:sp>
      <p:sp>
        <p:nvSpPr>
          <p:cNvPr id="3" name="Text Placeholder 2"/>
          <p:cNvSpPr>
            <a:spLocks noGrp="1"/>
          </p:cNvSpPr>
          <p:nvPr>
            <p:ph type="body" idx="12" sz="quarter"/>
          </p:nvPr>
        </p:nvSpPr>
        <p:spPr/>
        <p:txBody>
          <a:bodyPr/>
          <a:lstStyle/>
          <a:p>
            <a:r>
              <a:t>Phase 2 · im Notebook</a:t>
            </a:r>
          </a:p>
        </p:txBody>
      </p:sp>
      <p:sp>
        <p:nvSpPr>
          <p:cNvPr id="4" name="Text Placeholder 3"/>
          <p:cNvSpPr>
            <a:spLocks noGrp="1"/>
          </p:cNvSpPr>
          <p:nvPr>
            <p:ph type="body" idx="13" sz="quarter"/>
          </p:nvPr>
        </p:nvSpPr>
        <p:spPr/>
        <p:txBody>
          <a:bodyPr/>
          <a:lstStyle/>
          <a:p>
            <a:r>
              <a:t>analytics/notebooks/01_Regression_Fahrtdauer.ipynb · Abschnitt 2.2</a:t>
            </a:r>
          </a:p>
        </p:txBody>
      </p:sp>
      <p:sp>
        <p:nvSpPr>
          <p:cNvPr id="5" name="Rectangle 4"/>
          <p:cNvSpPr/>
          <p:nvPr/>
        </p:nvSpPr>
        <p:spPr>
          <a:xfrm>
            <a:off x="1051560" y="1440036"/>
            <a:ext cx="11677650" cy="3825526"/>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1-trichter.png"/>
          <p:cNvPicPr>
            <a:picLocks noChangeAspect="1"/>
          </p:cNvPicPr>
          <p:nvPr/>
        </p:nvPicPr>
        <p:blipFill>
          <a:blip r:embed="rId2"/>
          <a:stretch>
            <a:fillRect/>
          </a:stretch>
        </p:blipFill>
        <p:spPr>
          <a:xfrm>
            <a:off x="1153160" y="1541636"/>
            <a:ext cx="11474450" cy="3622326"/>
          </a:xfrm>
          <a:prstGeom prst="rect">
            <a:avLst/>
          </a:prstGeom>
        </p:spPr>
      </p:pic>
      <p:sp>
        <p:nvSpPr>
          <p:cNvPr id="7" name="Rectangle 6"/>
          <p:cNvSpPr/>
          <p:nvPr/>
        </p:nvSpPr>
        <p:spPr>
          <a:xfrm>
            <a:off x="1153160" y="56134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6896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Jeder Schritt mit Zeilenzahl. 77,9 Prozent bleiben übrig — und ein Fünftel fehlt aus einem Grund, der kein Fehler ist.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Rundtouren: dieselbe Verbindung, jede beliebige Dauer</a:t>
            </a:r>
          </a:p>
        </p:txBody>
      </p:sp>
      <p:sp>
        <p:nvSpPr>
          <p:cNvPr id="3" name="Text Placeholder 2"/>
          <p:cNvSpPr>
            <a:spLocks noGrp="1"/>
          </p:cNvSpPr>
          <p:nvPr>
            <p:ph type="body" idx="12" sz="quarter"/>
          </p:nvPr>
        </p:nvSpPr>
        <p:spPr/>
        <p:txBody>
          <a:bodyPr/>
          <a:lstStyle/>
          <a:p>
            <a:r>
              <a:t>Phase 2 · Data Understanding</a:t>
            </a:r>
          </a:p>
        </p:txBody>
      </p:sp>
      <p:sp>
        <p:nvSpPr>
          <p:cNvPr id="4" name="Text Placeholder 3"/>
          <p:cNvSpPr>
            <a:spLocks noGrp="1"/>
          </p:cNvSpPr>
          <p:nvPr>
            <p:ph type="body" idx="13" sz="quarter"/>
          </p:nvPr>
        </p:nvSpPr>
        <p:spPr/>
        <p:txBody>
          <a:bodyPr/>
          <a:lstStyle/>
          <a:p>
            <a:r>
              <a:t>analytics/notebooks/01_Regression_Fahrtdauer.ipynb · Abschnitt 2</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Bei jeder sechsten Fahrt mit Ziel ist das Ziel der Start. Für ein Modell, das aus der Verbindung lernt, ist das ein Problem.</a:t>
            </a:r>
          </a:p>
        </p:txBody>
      </p:sp>
      <p:sp>
        <p:nvSpPr>
          <p:cNvPr id="6" name="Rectangle 5"/>
          <p:cNvSpPr/>
          <p:nvPr/>
        </p:nvSpPr>
        <p:spPr>
          <a:xfrm>
            <a:off x="1153160" y="1879600"/>
            <a:ext cx="41910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Art der Fahrt</a:t>
            </a:r>
          </a:p>
        </p:txBody>
      </p:sp>
      <p:sp>
        <p:nvSpPr>
          <p:cNvPr id="7" name="Rectangle 6"/>
          <p:cNvSpPr/>
          <p:nvPr/>
        </p:nvSpPr>
        <p:spPr>
          <a:xfrm>
            <a:off x="5344160" y="1879600"/>
            <a:ext cx="15240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Anzahl</a:t>
            </a:r>
          </a:p>
        </p:txBody>
      </p:sp>
      <p:sp>
        <p:nvSpPr>
          <p:cNvPr id="8" name="Rectangle 7"/>
          <p:cNvSpPr/>
          <p:nvPr/>
        </p:nvSpPr>
        <p:spPr>
          <a:xfrm>
            <a:off x="6868159" y="1879600"/>
            <a:ext cx="20320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Mediandauer</a:t>
            </a:r>
          </a:p>
        </p:txBody>
      </p:sp>
      <p:sp>
        <p:nvSpPr>
          <p:cNvPr id="9" name="Rectangle 8"/>
          <p:cNvSpPr/>
          <p:nvPr/>
        </p:nvSpPr>
        <p:spPr>
          <a:xfrm>
            <a:off x="8900160" y="1879600"/>
            <a:ext cx="372745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Mittlere Hälfte</a:t>
            </a:r>
          </a:p>
        </p:txBody>
      </p:sp>
      <p:sp>
        <p:nvSpPr>
          <p:cNvPr id="10" name="Rectangle 9"/>
          <p:cNvSpPr/>
          <p:nvPr/>
        </p:nvSpPr>
        <p:spPr>
          <a:xfrm>
            <a:off x="1153160" y="2489200"/>
            <a:ext cx="4191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Rundtour — Start ist gleich Ziel</a:t>
            </a:r>
          </a:p>
        </p:txBody>
      </p:sp>
      <p:sp>
        <p:nvSpPr>
          <p:cNvPr id="11" name="Rectangle 10"/>
          <p:cNvSpPr/>
          <p:nvPr/>
        </p:nvSpPr>
        <p:spPr>
          <a:xfrm>
            <a:off x="5344160" y="2489200"/>
            <a:ext cx="1524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7.749</a:t>
            </a:r>
          </a:p>
        </p:txBody>
      </p:sp>
      <p:sp>
        <p:nvSpPr>
          <p:cNvPr id="12" name="Rectangle 11"/>
          <p:cNvSpPr/>
          <p:nvPr/>
        </p:nvSpPr>
        <p:spPr>
          <a:xfrm>
            <a:off x="6868159" y="2489200"/>
            <a:ext cx="2032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18 Minuten</a:t>
            </a:r>
          </a:p>
        </p:txBody>
      </p:sp>
      <p:sp>
        <p:nvSpPr>
          <p:cNvPr id="13" name="Rectangle 12"/>
          <p:cNvSpPr/>
          <p:nvPr/>
        </p:nvSpPr>
        <p:spPr>
          <a:xfrm>
            <a:off x="8900160" y="2489200"/>
            <a:ext cx="372745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11 bis 33 Minuten</a:t>
            </a:r>
          </a:p>
        </p:txBody>
      </p:sp>
      <p:sp>
        <p:nvSpPr>
          <p:cNvPr id="14" name="Rectangle 13"/>
          <p:cNvSpPr/>
          <p:nvPr/>
        </p:nvSpPr>
        <p:spPr>
          <a:xfrm>
            <a:off x="1153160" y="3098800"/>
            <a:ext cx="4191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echter Weg</a:t>
            </a:r>
          </a:p>
        </p:txBody>
      </p:sp>
      <p:sp>
        <p:nvSpPr>
          <p:cNvPr id="15" name="Rectangle 14"/>
          <p:cNvSpPr/>
          <p:nvPr/>
        </p:nvSpPr>
        <p:spPr>
          <a:xfrm>
            <a:off x="5344160" y="3098800"/>
            <a:ext cx="1524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39.305</a:t>
            </a:r>
          </a:p>
        </p:txBody>
      </p:sp>
      <p:sp>
        <p:nvSpPr>
          <p:cNvPr id="16" name="Rectangle 15"/>
          <p:cNvSpPr/>
          <p:nvPr/>
        </p:nvSpPr>
        <p:spPr>
          <a:xfrm>
            <a:off x="6868159" y="3098800"/>
            <a:ext cx="2032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10 Minuten</a:t>
            </a:r>
          </a:p>
        </p:txBody>
      </p:sp>
      <p:sp>
        <p:nvSpPr>
          <p:cNvPr id="17" name="Rectangle 16"/>
          <p:cNvSpPr/>
          <p:nvPr/>
        </p:nvSpPr>
        <p:spPr>
          <a:xfrm>
            <a:off x="8900160" y="3098800"/>
            <a:ext cx="372745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7 bis 16 Minuten</a:t>
            </a:r>
          </a:p>
        </p:txBody>
      </p:sp>
      <p:sp>
        <p:nvSpPr>
          <p:cNvPr id="18" name="Rectangle 17"/>
          <p:cNvSpPr/>
          <p:nvPr/>
        </p:nvSpPr>
        <p:spPr>
          <a:xfrm>
            <a:off x="1153160" y="3886200"/>
            <a:ext cx="11474450" cy="1346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53160" y="3886200"/>
            <a:ext cx="50800" cy="1346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56360" y="4013200"/>
            <a:ext cx="11093450" cy="1092200"/>
          </a:xfrm>
          <a:prstGeom prst="rect">
            <a:avLst/>
          </a:prstGeom>
          <a:noFill/>
        </p:spPr>
        <p:txBody>
          <a:bodyPr wrap="square" lIns="0" tIns="0" rIns="0" bIns="0">
            <a:spAutoFit/>
          </a:bodyPr>
          <a:lstStyle/>
          <a:p>
            <a:pPr algn="l">
              <a:lnSpc>
                <a:spcPct val="95000"/>
              </a:lnSpc>
            </a:pPr>
            <a:r>
              <a:rPr sz="1500" b="1">
                <a:solidFill>
                  <a:srgbClr val="003E6E"/>
                </a:solidFill>
              </a:rPr>
              <a:t>Warum das zählt</a:t>
            </a:r>
          </a:p>
          <a:p>
            <a:pPr algn="l">
              <a:lnSpc>
                <a:spcPct val="95000"/>
              </a:lnSpc>
              <a:spcBef>
                <a:spcPts val="500"/>
              </a:spcBef>
            </a:pPr>
            <a:r>
              <a:rPr sz="1300" b="0">
                <a:solidFill>
                  <a:srgbClr val="404040"/>
                </a:solidFill>
              </a:rPr>
              <a:t>Bei einer Rundtour trägt das Ziel per Definition nichts zur Dauer bei — es ist ja der Start.</a:t>
            </a:r>
          </a:p>
          <a:p>
            <a:pPr algn="l">
              <a:lnSpc>
                <a:spcPct val="95000"/>
              </a:lnSpc>
              <a:spcBef>
                <a:spcPts val="500"/>
              </a:spcBef>
            </a:pPr>
            <a:r>
              <a:rPr sz="1300" b="0">
                <a:solidFill>
                  <a:srgbClr val="404040"/>
                </a:solidFill>
              </a:rPr>
              <a:t>Und sie streuen doppelt so stark: 22 Minuten Spannweite gegen 9.</a:t>
            </a:r>
          </a:p>
          <a:p>
            <a:pPr algn="l">
              <a:lnSpc>
                <a:spcPct val="95000"/>
              </a:lnSpc>
              <a:spcBef>
                <a:spcPts val="500"/>
              </a:spcBef>
            </a:pPr>
            <a:r>
              <a:rPr sz="1300" b="0">
                <a:solidFill>
                  <a:srgbClr val="404040"/>
                </a:solidFill>
              </a:rPr>
              <a:t>Das ausgelieferte Produkt wird Rundtouren deshalb gar nicht beantworten. Diese Entscheidung fällt hier, nicht in Phase 6.</a:t>
            </a:r>
          </a:p>
        </p:txBody>
      </p:sp>
      <p:sp>
        <p:nvSpPr>
          <p:cNvPr id="21" name="Rectangle 20"/>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3" name="Rectangle 22"/>
          <p:cNvSpPr/>
          <p:nvPr/>
        </p:nvSpPr>
        <p:spPr>
          <a:xfrm>
            <a:off x="3076151"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2 Data</a:t>
            </a:r>
          </a:p>
          <a:p>
            <a:pPr algn="ctr">
              <a:lnSpc>
                <a:spcPct val="95000"/>
              </a:lnSpc>
            </a:pPr>
            <a:r>
              <a:rPr sz="1300" b="1">
                <a:solidFill>
                  <a:srgbClr val="FFFFFF"/>
                </a:solidFill>
              </a:rPr>
              <a:t>Understanding</a:t>
            </a:r>
          </a:p>
        </p:txBody>
      </p:sp>
      <p:sp>
        <p:nvSpPr>
          <p:cNvPr id="25" name="Rectangle 24"/>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7" name="Rectangle 26"/>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9" name="Rectangle 28"/>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1" name="Rectangle 30"/>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Verbindung erklärt — ein erster Blick ohne Modell</a:t>
            </a:r>
          </a:p>
        </p:txBody>
      </p:sp>
      <p:sp>
        <p:nvSpPr>
          <p:cNvPr id="3" name="Text Placeholder 2"/>
          <p:cNvSpPr>
            <a:spLocks noGrp="1"/>
          </p:cNvSpPr>
          <p:nvPr>
            <p:ph type="body" idx="12" sz="quarter"/>
          </p:nvPr>
        </p:nvSpPr>
        <p:spPr/>
        <p:txBody>
          <a:bodyPr/>
          <a:lstStyle/>
          <a:p>
            <a:r>
              <a:t>Phase 2 · Data Understanding</a:t>
            </a:r>
          </a:p>
        </p:txBody>
      </p:sp>
      <p:sp>
        <p:nvSpPr>
          <p:cNvPr id="4" name="Text Placeholder 3"/>
          <p:cNvSpPr>
            <a:spLocks noGrp="1"/>
          </p:cNvSpPr>
          <p:nvPr>
            <p:ph type="body" idx="13" sz="quarter"/>
          </p:nvPr>
        </p:nvSpPr>
        <p:spPr/>
        <p:txBody>
          <a:bodyPr/>
          <a:lstStyle/>
          <a:p>
            <a:r>
              <a:t>analytics/notebooks/01_Regression_Fahrtdauer.ipynb · Abschnitt 2</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Man kann den Nutzen der Zielinformation schätzen, bevor man ein Verfahren wählt: Wie weit kommt man mit dem bloßen Median?</a:t>
            </a:r>
          </a:p>
        </p:txBody>
      </p:sp>
      <p:sp>
        <p:nvSpPr>
          <p:cNvPr id="6" name="Rectangle 5"/>
          <p:cNvSpPr/>
          <p:nvPr/>
        </p:nvSpPr>
        <p:spPr>
          <a:xfrm>
            <a:off x="1153160" y="1879600"/>
            <a:ext cx="57150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Was man weiß</a:t>
            </a:r>
          </a:p>
        </p:txBody>
      </p:sp>
      <p:sp>
        <p:nvSpPr>
          <p:cNvPr id="7" name="Rectangle 6"/>
          <p:cNvSpPr/>
          <p:nvPr/>
        </p:nvSpPr>
        <p:spPr>
          <a:xfrm>
            <a:off x="6868159" y="1879600"/>
            <a:ext cx="575945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Mittlerer absoluter Fehler</a:t>
            </a:r>
          </a:p>
        </p:txBody>
      </p:sp>
      <p:sp>
        <p:nvSpPr>
          <p:cNvPr id="8" name="Rectangle 7"/>
          <p:cNvSpPr/>
          <p:nvPr/>
        </p:nvSpPr>
        <p:spPr>
          <a:xfrm>
            <a:off x="1153160" y="2463800"/>
            <a:ext cx="5715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gar nichts — der Median aller Fahrten</a:t>
            </a:r>
          </a:p>
        </p:txBody>
      </p:sp>
      <p:sp>
        <p:nvSpPr>
          <p:cNvPr id="9" name="Rectangle 8"/>
          <p:cNvSpPr/>
          <p:nvPr/>
        </p:nvSpPr>
        <p:spPr>
          <a:xfrm>
            <a:off x="6868159" y="2463800"/>
            <a:ext cx="575945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8,04 Minuten</a:t>
            </a:r>
          </a:p>
        </p:txBody>
      </p:sp>
      <p:sp>
        <p:nvSpPr>
          <p:cNvPr id="10" name="Rectangle 9"/>
          <p:cNvSpPr/>
          <p:nvPr/>
        </p:nvSpPr>
        <p:spPr>
          <a:xfrm>
            <a:off x="1153160" y="3048000"/>
            <a:ext cx="571500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die Startstation</a:t>
            </a:r>
          </a:p>
        </p:txBody>
      </p:sp>
      <p:sp>
        <p:nvSpPr>
          <p:cNvPr id="11" name="Rectangle 10"/>
          <p:cNvSpPr/>
          <p:nvPr/>
        </p:nvSpPr>
        <p:spPr>
          <a:xfrm>
            <a:off x="6868159" y="3048000"/>
            <a:ext cx="575945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5,29 Minuten</a:t>
            </a:r>
          </a:p>
        </p:txBody>
      </p:sp>
      <p:sp>
        <p:nvSpPr>
          <p:cNvPr id="12" name="Rectangle 11"/>
          <p:cNvSpPr/>
          <p:nvPr/>
        </p:nvSpPr>
        <p:spPr>
          <a:xfrm>
            <a:off x="1153160" y="3632200"/>
            <a:ext cx="5715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Start UND Ziel — die Verbindung</a:t>
            </a:r>
          </a:p>
        </p:txBody>
      </p:sp>
      <p:sp>
        <p:nvSpPr>
          <p:cNvPr id="13" name="Rectangle 12"/>
          <p:cNvSpPr/>
          <p:nvPr/>
        </p:nvSpPr>
        <p:spPr>
          <a:xfrm>
            <a:off x="6868159" y="3632200"/>
            <a:ext cx="575945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5,03 Minuten</a:t>
            </a:r>
          </a:p>
        </p:txBody>
      </p:sp>
      <p:sp>
        <p:nvSpPr>
          <p:cNvPr id="14" name="Rectangle 13"/>
          <p:cNvSpPr/>
          <p:nvPr/>
        </p:nvSpPr>
        <p:spPr>
          <a:xfrm>
            <a:off x="1153160" y="43434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44196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Der große Sprung kommt von der Startstation, nicht vom Ziel. Diese Zahl steht in Phase 2 — und sie wird in Phase 4 mit einem Modell noch einmal überprüft.</a:t>
            </a:r>
          </a:p>
        </p:txBody>
      </p:sp>
      <p:sp>
        <p:nvSpPr>
          <p:cNvPr id="16" name="Rectangle 15"/>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8" name="Rectangle 17"/>
          <p:cNvSpPr/>
          <p:nvPr/>
        </p:nvSpPr>
        <p:spPr>
          <a:xfrm>
            <a:off x="3076151"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2 Data</a:t>
            </a:r>
          </a:p>
          <a:p>
            <a:pPr algn="ctr">
              <a:lnSpc>
                <a:spcPct val="95000"/>
              </a:lnSpc>
            </a:pPr>
            <a:r>
              <a:rPr sz="1300" b="1">
                <a:solidFill>
                  <a:srgbClr val="FFFFFF"/>
                </a:solidFill>
              </a:rPr>
              <a:t>Understanding</a:t>
            </a:r>
          </a:p>
        </p:txBody>
      </p:sp>
      <p:sp>
        <p:nvSpPr>
          <p:cNvPr id="20" name="Rectangle 19"/>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2" name="Rectangle 21"/>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4" name="Rectangle 23"/>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6" name="Rectangle 25"/>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Leakage-Test: nicht welche Spalte, sondern wann sie entsteht</a:t>
            </a:r>
          </a:p>
        </p:txBody>
      </p:sp>
      <p:sp>
        <p:nvSpPr>
          <p:cNvPr id="3" name="Text Placeholder 2"/>
          <p:cNvSpPr>
            <a:spLocks noGrp="1"/>
          </p:cNvSpPr>
          <p:nvPr>
            <p:ph type="body" idx="12" sz="quarter"/>
          </p:nvPr>
        </p:nvSpPr>
        <p:spPr/>
        <p:txBody>
          <a:bodyPr/>
          <a:lstStyle/>
          <a:p>
            <a:r>
              <a:t>Phase 3 · Data Preparation</a:t>
            </a:r>
          </a:p>
        </p:txBody>
      </p:sp>
      <p:sp>
        <p:nvSpPr>
          <p:cNvPr id="4" name="Text Placeholder 3"/>
          <p:cNvSpPr>
            <a:spLocks noGrp="1"/>
          </p:cNvSpPr>
          <p:nvPr>
            <p:ph type="body" idx="13" sz="quarter"/>
          </p:nvPr>
        </p:nvSpPr>
        <p:spPr/>
        <p:txBody>
          <a:bodyPr/>
          <a:lstStyle/>
          <a:p>
            <a:r>
              <a:t>analytics/notebooks/01_Regression_Fahrtdauer.ipynb · Abschnitt 3.1</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Frage ist nicht statistisch, sondern zeitlich: Was steht in dem Moment zur Verfügung, in dem die Anzeige erscheinen soll?</a:t>
            </a:r>
          </a:p>
        </p:txBody>
      </p:sp>
      <p:sp>
        <p:nvSpPr>
          <p:cNvPr id="6" name="Rectangle 5"/>
          <p:cNvSpPr/>
          <p:nvPr/>
        </p:nvSpPr>
        <p:spPr>
          <a:xfrm>
            <a:off x="1051560" y="1952122"/>
            <a:ext cx="11677650" cy="3817355"/>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nb1-leakage.png"/>
          <p:cNvPicPr>
            <a:picLocks noChangeAspect="1"/>
          </p:cNvPicPr>
          <p:nvPr/>
        </p:nvPicPr>
        <p:blipFill>
          <a:blip r:embed="rId2"/>
          <a:stretch>
            <a:fillRect/>
          </a:stretch>
        </p:blipFill>
        <p:spPr>
          <a:xfrm>
            <a:off x="1153160" y="2053722"/>
            <a:ext cx="11474450" cy="3614155"/>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Gesperrt und erlaubt, jeweils mit Begründung</a:t>
            </a:r>
          </a:p>
        </p:txBody>
      </p:sp>
      <p:sp>
        <p:nvSpPr>
          <p:cNvPr id="3" name="Text Placeholder 2"/>
          <p:cNvSpPr>
            <a:spLocks noGrp="1"/>
          </p:cNvSpPr>
          <p:nvPr>
            <p:ph type="body" idx="12" sz="quarter"/>
          </p:nvPr>
        </p:nvSpPr>
        <p:spPr/>
        <p:txBody>
          <a:bodyPr/>
          <a:lstStyle/>
          <a:p>
            <a:r>
              <a:t>Phase 3 · im Notebook</a:t>
            </a:r>
          </a:p>
        </p:txBody>
      </p:sp>
      <p:sp>
        <p:nvSpPr>
          <p:cNvPr id="4" name="Text Placeholder 3"/>
          <p:cNvSpPr>
            <a:spLocks noGrp="1"/>
          </p:cNvSpPr>
          <p:nvPr>
            <p:ph type="body" idx="13" sz="quarter"/>
          </p:nvPr>
        </p:nvSpPr>
        <p:spPr/>
        <p:txBody>
          <a:bodyPr/>
          <a:lstStyle/>
          <a:p>
            <a:r>
              <a:t>analytics/notebooks/01_Regression_Fahrtdauer.ipynb · Abschnitt 3.1</a:t>
            </a:r>
          </a:p>
        </p:txBody>
      </p:sp>
      <p:sp>
        <p:nvSpPr>
          <p:cNvPr id="5" name="Rectangle 4"/>
          <p:cNvSpPr/>
          <p:nvPr/>
        </p:nvSpPr>
        <p:spPr>
          <a:xfrm>
            <a:off x="1051560" y="1179506"/>
            <a:ext cx="11677650" cy="4168786"/>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1-gesperrt.png"/>
          <p:cNvPicPr>
            <a:picLocks noChangeAspect="1"/>
          </p:cNvPicPr>
          <p:nvPr/>
        </p:nvPicPr>
        <p:blipFill>
          <a:blip r:embed="rId2"/>
          <a:stretch>
            <a:fillRect/>
          </a:stretch>
        </p:blipFill>
        <p:spPr>
          <a:xfrm>
            <a:off x="1153160" y="1281106"/>
            <a:ext cx="11474450" cy="3965586"/>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Fünf Spalten sind gesperrt, weil sie zum Anfragezeitpunkt nicht existieren. Eine ist erlaubt, obwohl sie nach „Ende“ klingt.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Aufteilen: vier Abschnitte entlang der Zeit, nicht zwei</a:t>
            </a:r>
          </a:p>
        </p:txBody>
      </p:sp>
      <p:sp>
        <p:nvSpPr>
          <p:cNvPr id="3" name="Text Placeholder 2"/>
          <p:cNvSpPr>
            <a:spLocks noGrp="1"/>
          </p:cNvSpPr>
          <p:nvPr>
            <p:ph type="body" idx="12" sz="quarter"/>
          </p:nvPr>
        </p:nvSpPr>
        <p:spPr/>
        <p:txBody>
          <a:bodyPr/>
          <a:lstStyle/>
          <a:p>
            <a:r>
              <a:t>Phase 3 · Data Preparation</a:t>
            </a:r>
          </a:p>
        </p:txBody>
      </p:sp>
      <p:sp>
        <p:nvSpPr>
          <p:cNvPr id="4" name="Text Placeholder 3"/>
          <p:cNvSpPr>
            <a:spLocks noGrp="1"/>
          </p:cNvSpPr>
          <p:nvPr>
            <p:ph type="body" idx="13" sz="quarter"/>
          </p:nvPr>
        </p:nvSpPr>
        <p:spPr/>
        <p:txBody>
          <a:bodyPr/>
          <a:lstStyle/>
          <a:p>
            <a:r>
              <a:t>analytics/notebooks/01_Regression_Fahrtdauer.ipynb · Abschnitt 3</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 Rücksprung ist eine neue Runde — und eine neue Runde braucht einen Zeitraum, den die alte nicht schon aufgebraucht hat.</a:t>
            </a:r>
          </a:p>
        </p:txBody>
      </p:sp>
      <p:sp>
        <p:nvSpPr>
          <p:cNvPr id="6" name="Rectangle 5"/>
          <p:cNvSpPr/>
          <p:nvPr/>
        </p:nvSpPr>
        <p:spPr>
          <a:xfrm>
            <a:off x="1153160" y="1879600"/>
            <a:ext cx="1905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Abschnitt</a:t>
            </a:r>
          </a:p>
        </p:txBody>
      </p:sp>
      <p:sp>
        <p:nvSpPr>
          <p:cNvPr id="7" name="Rectangle 6"/>
          <p:cNvSpPr/>
          <p:nvPr/>
        </p:nvSpPr>
        <p:spPr>
          <a:xfrm>
            <a:off x="3058160" y="1879600"/>
            <a:ext cx="1397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Fahrten</a:t>
            </a:r>
          </a:p>
        </p:txBody>
      </p:sp>
      <p:sp>
        <p:nvSpPr>
          <p:cNvPr id="8" name="Rectangle 7"/>
          <p:cNvSpPr/>
          <p:nvPr/>
        </p:nvSpPr>
        <p:spPr>
          <a:xfrm>
            <a:off x="4455160" y="1879600"/>
            <a:ext cx="3048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Zeitraum</a:t>
            </a:r>
          </a:p>
        </p:txBody>
      </p:sp>
      <p:sp>
        <p:nvSpPr>
          <p:cNvPr id="9" name="Rectangle 8"/>
          <p:cNvSpPr/>
          <p:nvPr/>
        </p:nvSpPr>
        <p:spPr>
          <a:xfrm>
            <a:off x="7503159" y="1879600"/>
            <a:ext cx="512445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Wofür</a:t>
            </a:r>
          </a:p>
        </p:txBody>
      </p:sp>
      <p:sp>
        <p:nvSpPr>
          <p:cNvPr id="10" name="Rectangle 9"/>
          <p:cNvSpPr/>
          <p:nvPr/>
        </p:nvSpPr>
        <p:spPr>
          <a:xfrm>
            <a:off x="1153160" y="2413000"/>
            <a:ext cx="1905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Training</a:t>
            </a:r>
          </a:p>
        </p:txBody>
      </p:sp>
      <p:sp>
        <p:nvSpPr>
          <p:cNvPr id="11" name="Rectangle 10"/>
          <p:cNvSpPr/>
          <p:nvPr/>
        </p:nvSpPr>
        <p:spPr>
          <a:xfrm>
            <a:off x="3058160" y="2413000"/>
            <a:ext cx="1397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28.232</a:t>
            </a:r>
          </a:p>
        </p:txBody>
      </p:sp>
      <p:sp>
        <p:nvSpPr>
          <p:cNvPr id="12" name="Rectangle 11"/>
          <p:cNvSpPr/>
          <p:nvPr/>
        </p:nvSpPr>
        <p:spPr>
          <a:xfrm>
            <a:off x="4455160" y="2413000"/>
            <a:ext cx="3048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09/2023 bis 07/2025</a:t>
            </a:r>
          </a:p>
        </p:txBody>
      </p:sp>
      <p:sp>
        <p:nvSpPr>
          <p:cNvPr id="13" name="Rectangle 12"/>
          <p:cNvSpPr/>
          <p:nvPr/>
        </p:nvSpPr>
        <p:spPr>
          <a:xfrm>
            <a:off x="7503159" y="2413000"/>
            <a:ext cx="5124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das Modell lernt</a:t>
            </a:r>
          </a:p>
        </p:txBody>
      </p:sp>
      <p:sp>
        <p:nvSpPr>
          <p:cNvPr id="14" name="Rectangle 13"/>
          <p:cNvSpPr/>
          <p:nvPr/>
        </p:nvSpPr>
        <p:spPr>
          <a:xfrm>
            <a:off x="1153160" y="2946400"/>
            <a:ext cx="1905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Validierung</a:t>
            </a:r>
          </a:p>
        </p:txBody>
      </p:sp>
      <p:sp>
        <p:nvSpPr>
          <p:cNvPr id="15" name="Rectangle 14"/>
          <p:cNvSpPr/>
          <p:nvPr/>
        </p:nvSpPr>
        <p:spPr>
          <a:xfrm>
            <a:off x="3058160" y="2946400"/>
            <a:ext cx="1397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7.058</a:t>
            </a:r>
          </a:p>
        </p:txBody>
      </p:sp>
      <p:sp>
        <p:nvSpPr>
          <p:cNvPr id="16" name="Rectangle 15"/>
          <p:cNvSpPr/>
          <p:nvPr/>
        </p:nvSpPr>
        <p:spPr>
          <a:xfrm>
            <a:off x="4455160" y="2946400"/>
            <a:ext cx="3048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07/2025 bis 12/2025</a:t>
            </a:r>
          </a:p>
        </p:txBody>
      </p:sp>
      <p:sp>
        <p:nvSpPr>
          <p:cNvPr id="17" name="Rectangle 16"/>
          <p:cNvSpPr/>
          <p:nvPr/>
        </p:nvSpPr>
        <p:spPr>
          <a:xfrm>
            <a:off x="7503159" y="2946400"/>
            <a:ext cx="5124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Modellwahl</a:t>
            </a:r>
          </a:p>
        </p:txBody>
      </p:sp>
      <p:sp>
        <p:nvSpPr>
          <p:cNvPr id="18" name="Rectangle 17"/>
          <p:cNvSpPr/>
          <p:nvPr/>
        </p:nvSpPr>
        <p:spPr>
          <a:xfrm>
            <a:off x="1153160" y="3479800"/>
            <a:ext cx="1905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Test 1</a:t>
            </a:r>
          </a:p>
        </p:txBody>
      </p:sp>
      <p:sp>
        <p:nvSpPr>
          <p:cNvPr id="19" name="Rectangle 18"/>
          <p:cNvSpPr/>
          <p:nvPr/>
        </p:nvSpPr>
        <p:spPr>
          <a:xfrm>
            <a:off x="3058160" y="3479800"/>
            <a:ext cx="1397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5.882</a:t>
            </a:r>
          </a:p>
        </p:txBody>
      </p:sp>
      <p:sp>
        <p:nvSpPr>
          <p:cNvPr id="20" name="Rectangle 19"/>
          <p:cNvSpPr/>
          <p:nvPr/>
        </p:nvSpPr>
        <p:spPr>
          <a:xfrm>
            <a:off x="4455160" y="3479800"/>
            <a:ext cx="3048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12/2025 bis 06/2026</a:t>
            </a:r>
          </a:p>
        </p:txBody>
      </p:sp>
      <p:sp>
        <p:nvSpPr>
          <p:cNvPr id="21" name="Rectangle 20"/>
          <p:cNvSpPr/>
          <p:nvPr/>
        </p:nvSpPr>
        <p:spPr>
          <a:xfrm>
            <a:off x="7503159" y="3479800"/>
            <a:ext cx="5124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Prüfung der Punktschätzung</a:t>
            </a:r>
          </a:p>
        </p:txBody>
      </p:sp>
      <p:sp>
        <p:nvSpPr>
          <p:cNvPr id="22" name="Rectangle 21"/>
          <p:cNvSpPr/>
          <p:nvPr/>
        </p:nvSpPr>
        <p:spPr>
          <a:xfrm>
            <a:off x="1153160" y="4013200"/>
            <a:ext cx="1905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Test 2</a:t>
            </a:r>
          </a:p>
        </p:txBody>
      </p:sp>
      <p:sp>
        <p:nvSpPr>
          <p:cNvPr id="23" name="Rectangle 22"/>
          <p:cNvSpPr/>
          <p:nvPr/>
        </p:nvSpPr>
        <p:spPr>
          <a:xfrm>
            <a:off x="3058160" y="4013200"/>
            <a:ext cx="1397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5.882</a:t>
            </a:r>
          </a:p>
        </p:txBody>
      </p:sp>
      <p:sp>
        <p:nvSpPr>
          <p:cNvPr id="24" name="Rectangle 23"/>
          <p:cNvSpPr/>
          <p:nvPr/>
        </p:nvSpPr>
        <p:spPr>
          <a:xfrm>
            <a:off x="4455160" y="4013200"/>
            <a:ext cx="3048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06/2026 bis 08/2026</a:t>
            </a:r>
          </a:p>
        </p:txBody>
      </p:sp>
      <p:sp>
        <p:nvSpPr>
          <p:cNvPr id="25" name="Rectangle 24"/>
          <p:cNvSpPr/>
          <p:nvPr/>
        </p:nvSpPr>
        <p:spPr>
          <a:xfrm>
            <a:off x="7503159" y="4013200"/>
            <a:ext cx="5124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Prüfung der Spanne nach dem Rücksprung</a:t>
            </a:r>
          </a:p>
        </p:txBody>
      </p:sp>
      <p:sp>
        <p:nvSpPr>
          <p:cNvPr id="26" name="Rectangle 25"/>
          <p:cNvSpPr/>
          <p:nvPr/>
        </p:nvSpPr>
        <p:spPr>
          <a:xfrm>
            <a:off x="1153160" y="47244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56360" y="48006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Test 1 ist Winter und Frühjahr, Test 2 ist Sommer. Das ist kein Zufall der Aufteilung, sondern eine Eigenschaft der Daten — und es wird uns in Phase 5 beschäftigen.</a:t>
            </a:r>
          </a:p>
        </p:txBody>
      </p:sp>
      <p:sp>
        <p:nvSpPr>
          <p:cNvPr id="28" name="Rectangle 27"/>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30" name="Rectangle 29"/>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32" name="Rectangle 31"/>
          <p:cNvSpPr/>
          <p:nvPr/>
        </p:nvSpPr>
        <p:spPr>
          <a:xfrm>
            <a:off x="4999143"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3 Data</a:t>
            </a:r>
          </a:p>
          <a:p>
            <a:pPr algn="ctr">
              <a:lnSpc>
                <a:spcPct val="95000"/>
              </a:lnSpc>
            </a:pPr>
            <a:r>
              <a:rPr sz="1300" b="1">
                <a:solidFill>
                  <a:srgbClr val="FFFFFF"/>
                </a:solidFill>
              </a:rPr>
              <a:t>Preparation</a:t>
            </a:r>
          </a:p>
        </p:txBody>
      </p:sp>
      <p:sp>
        <p:nvSpPr>
          <p:cNvPr id="34" name="Rectangle 33"/>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36" name="Rectangle 35"/>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8" name="Rectangle 37"/>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Aufteilung — samt zweier unbequemer Hinweise</a:t>
            </a:r>
          </a:p>
        </p:txBody>
      </p:sp>
      <p:sp>
        <p:nvSpPr>
          <p:cNvPr id="3" name="Text Placeholder 2"/>
          <p:cNvSpPr>
            <a:spLocks noGrp="1"/>
          </p:cNvSpPr>
          <p:nvPr>
            <p:ph type="body" idx="12" sz="quarter"/>
          </p:nvPr>
        </p:nvSpPr>
        <p:spPr/>
        <p:txBody>
          <a:bodyPr/>
          <a:lstStyle/>
          <a:p>
            <a:r>
              <a:t>Phase 3 · im Notebook</a:t>
            </a:r>
          </a:p>
        </p:txBody>
      </p:sp>
      <p:sp>
        <p:nvSpPr>
          <p:cNvPr id="4" name="Text Placeholder 3"/>
          <p:cNvSpPr>
            <a:spLocks noGrp="1"/>
          </p:cNvSpPr>
          <p:nvPr>
            <p:ph type="body" idx="13" sz="quarter"/>
          </p:nvPr>
        </p:nvSpPr>
        <p:spPr/>
        <p:txBody>
          <a:bodyPr/>
          <a:lstStyle/>
          <a:p>
            <a:r>
              <a:t>analytics/notebooks/01_Regression_Fahrtdauer.ipynb · Abschnitt 3.3</a:t>
            </a:r>
          </a:p>
        </p:txBody>
      </p:sp>
      <p:sp>
        <p:nvSpPr>
          <p:cNvPr id="5" name="Rectangle 4"/>
          <p:cNvSpPr/>
          <p:nvPr/>
        </p:nvSpPr>
        <p:spPr>
          <a:xfrm>
            <a:off x="2625263" y="1168400"/>
            <a:ext cx="8530242" cy="419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1-abschnitte.png"/>
          <p:cNvPicPr>
            <a:picLocks noChangeAspect="1"/>
          </p:cNvPicPr>
          <p:nvPr/>
        </p:nvPicPr>
        <p:blipFill>
          <a:blip r:embed="rId2"/>
          <a:stretch>
            <a:fillRect/>
          </a:stretch>
        </p:blipFill>
        <p:spPr>
          <a:xfrm>
            <a:off x="2726863" y="1270000"/>
            <a:ext cx="8327042" cy="3987800"/>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Das Notebook sagt selbst, wo seine Aufteilung nicht sauber ist: Die Erkundung in Phase 2 lief über den gesamten Datensatz.</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Baselines, bevor ein Modell gerechnet wird</a:t>
            </a:r>
          </a:p>
        </p:txBody>
      </p:sp>
      <p:sp>
        <p:nvSpPr>
          <p:cNvPr id="3" name="Text Placeholder 2"/>
          <p:cNvSpPr>
            <a:spLocks noGrp="1"/>
          </p:cNvSpPr>
          <p:nvPr>
            <p:ph type="body" idx="12" sz="quarter"/>
          </p:nvPr>
        </p:nvSpPr>
        <p:spPr/>
        <p:txBody>
          <a:bodyPr/>
          <a:lstStyle/>
          <a:p>
            <a:r>
              <a:t>Phase 4 · Modeling</a:t>
            </a:r>
          </a:p>
        </p:txBody>
      </p:sp>
      <p:sp>
        <p:nvSpPr>
          <p:cNvPr id="4" name="Text Placeholder 3"/>
          <p:cNvSpPr>
            <a:spLocks noGrp="1"/>
          </p:cNvSpPr>
          <p:nvPr>
            <p:ph type="body" idx="13" sz="quarter"/>
          </p:nvPr>
        </p:nvSpPr>
        <p:spPr/>
        <p:txBody>
          <a:bodyPr/>
          <a:lstStyle/>
          <a:p>
            <a:r>
              <a:t>analytics/notebooks/01_Regression_Fahrtdauer.ipynb · Abschnitt 4</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Ohne Maßstab ist jede Zahl gut. Diese vier Zeilen kosten zusammen zehn Minuten und entscheiden, was später als Erfolg gelten darf.</a:t>
            </a:r>
          </a:p>
        </p:txBody>
      </p:sp>
      <p:sp>
        <p:nvSpPr>
          <p:cNvPr id="6" name="Rectangle 5"/>
          <p:cNvSpPr/>
          <p:nvPr/>
        </p:nvSpPr>
        <p:spPr>
          <a:xfrm>
            <a:off x="1153160" y="1879600"/>
            <a:ext cx="3683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Baseline</a:t>
            </a:r>
          </a:p>
        </p:txBody>
      </p:sp>
      <p:sp>
        <p:nvSpPr>
          <p:cNvPr id="7" name="Rectangle 6"/>
          <p:cNvSpPr/>
          <p:nvPr/>
        </p:nvSpPr>
        <p:spPr>
          <a:xfrm>
            <a:off x="4836160" y="1879600"/>
            <a:ext cx="2032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MAE (Minuten)</a:t>
            </a:r>
          </a:p>
        </p:txBody>
      </p:sp>
      <p:sp>
        <p:nvSpPr>
          <p:cNvPr id="8" name="Rectangle 7"/>
          <p:cNvSpPr/>
          <p:nvPr/>
        </p:nvSpPr>
        <p:spPr>
          <a:xfrm>
            <a:off x="6868159" y="1879600"/>
            <a:ext cx="575945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Was sie beweist</a:t>
            </a:r>
          </a:p>
        </p:txBody>
      </p:sp>
      <p:sp>
        <p:nvSpPr>
          <p:cNvPr id="9" name="Rectangle 8"/>
          <p:cNvSpPr/>
          <p:nvPr/>
        </p:nvSpPr>
        <p:spPr>
          <a:xfrm>
            <a:off x="1153160" y="2413000"/>
            <a:ext cx="3683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  Median aller Fahrten</a:t>
            </a:r>
          </a:p>
        </p:txBody>
      </p:sp>
      <p:sp>
        <p:nvSpPr>
          <p:cNvPr id="10" name="Rectangle 9"/>
          <p:cNvSpPr/>
          <p:nvPr/>
        </p:nvSpPr>
        <p:spPr>
          <a:xfrm>
            <a:off x="4836160" y="2413000"/>
            <a:ext cx="2032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8,10</a:t>
            </a:r>
          </a:p>
        </p:txBody>
      </p:sp>
      <p:sp>
        <p:nvSpPr>
          <p:cNvPr id="11" name="Rectangle 10"/>
          <p:cNvSpPr/>
          <p:nvPr/>
        </p:nvSpPr>
        <p:spPr>
          <a:xfrm>
            <a:off x="6868159" y="2413000"/>
            <a:ext cx="5759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die Untergrenze des Nichtwissens</a:t>
            </a:r>
          </a:p>
        </p:txBody>
      </p:sp>
      <p:sp>
        <p:nvSpPr>
          <p:cNvPr id="12" name="Rectangle 11"/>
          <p:cNvSpPr/>
          <p:nvPr/>
        </p:nvSpPr>
        <p:spPr>
          <a:xfrm>
            <a:off x="1153160" y="2946400"/>
            <a:ext cx="3683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B  Median je Radtyp</a:t>
            </a:r>
          </a:p>
        </p:txBody>
      </p:sp>
      <p:sp>
        <p:nvSpPr>
          <p:cNvPr id="13" name="Rectangle 12"/>
          <p:cNvSpPr/>
          <p:nvPr/>
        </p:nvSpPr>
        <p:spPr>
          <a:xfrm>
            <a:off x="4836160" y="2946400"/>
            <a:ext cx="2032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8,01</a:t>
            </a:r>
          </a:p>
        </p:txBody>
      </p:sp>
      <p:sp>
        <p:nvSpPr>
          <p:cNvPr id="14" name="Rectangle 13"/>
          <p:cNvSpPr/>
          <p:nvPr/>
        </p:nvSpPr>
        <p:spPr>
          <a:xfrm>
            <a:off x="6868159" y="2946400"/>
            <a:ext cx="5759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der Radtyp allein bringt fast nichts</a:t>
            </a:r>
          </a:p>
        </p:txBody>
      </p:sp>
      <p:sp>
        <p:nvSpPr>
          <p:cNvPr id="15" name="Rectangle 14"/>
          <p:cNvSpPr/>
          <p:nvPr/>
        </p:nvSpPr>
        <p:spPr>
          <a:xfrm>
            <a:off x="1153160" y="3479800"/>
            <a:ext cx="3683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C  Median je Startstation</a:t>
            </a:r>
          </a:p>
        </p:txBody>
      </p:sp>
      <p:sp>
        <p:nvSpPr>
          <p:cNvPr id="16" name="Rectangle 15"/>
          <p:cNvSpPr/>
          <p:nvPr/>
        </p:nvSpPr>
        <p:spPr>
          <a:xfrm>
            <a:off x="4836160" y="3479800"/>
            <a:ext cx="2032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5,29</a:t>
            </a:r>
          </a:p>
        </p:txBody>
      </p:sp>
      <p:sp>
        <p:nvSpPr>
          <p:cNvPr id="17" name="Rectangle 16"/>
          <p:cNvSpPr/>
          <p:nvPr/>
        </p:nvSpPr>
        <p:spPr>
          <a:xfrm>
            <a:off x="6868159" y="3479800"/>
            <a:ext cx="5759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der große Sprung — 2,81 Minuten</a:t>
            </a:r>
          </a:p>
        </p:txBody>
      </p:sp>
      <p:sp>
        <p:nvSpPr>
          <p:cNvPr id="18" name="Rectangle 17"/>
          <p:cNvSpPr/>
          <p:nvPr/>
        </p:nvSpPr>
        <p:spPr>
          <a:xfrm>
            <a:off x="1153160" y="4013200"/>
            <a:ext cx="3683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D  Median je Verbindung</a:t>
            </a:r>
          </a:p>
        </p:txBody>
      </p:sp>
      <p:sp>
        <p:nvSpPr>
          <p:cNvPr id="19" name="Rectangle 18"/>
          <p:cNvSpPr/>
          <p:nvPr/>
        </p:nvSpPr>
        <p:spPr>
          <a:xfrm>
            <a:off x="4836160" y="4013200"/>
            <a:ext cx="2032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5,02</a:t>
            </a:r>
          </a:p>
        </p:txBody>
      </p:sp>
      <p:sp>
        <p:nvSpPr>
          <p:cNvPr id="20" name="Rectangle 19"/>
          <p:cNvSpPr/>
          <p:nvPr/>
        </p:nvSpPr>
        <p:spPr>
          <a:xfrm>
            <a:off x="6868159" y="4013200"/>
            <a:ext cx="5759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das Ziel bringt 0,27 Minuten dazu</a:t>
            </a:r>
          </a:p>
        </p:txBody>
      </p:sp>
      <p:sp>
        <p:nvSpPr>
          <p:cNvPr id="21" name="Rectangle 20"/>
          <p:cNvSpPr/>
          <p:nvPr/>
        </p:nvSpPr>
        <p:spPr>
          <a:xfrm>
            <a:off x="1153160" y="47244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356360" y="48006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Baseline D ist der eigentliche Gegner: Sie ist eine Nachschlagetabelle aus Medianen und kostet keine Zeile Modellcode. Alles, was ein Verfahren später beiträgt, muss über diesen 5,02 Minuten liegen.</a:t>
            </a:r>
          </a:p>
        </p:txBody>
      </p:sp>
      <p:sp>
        <p:nvSpPr>
          <p:cNvPr id="23" name="Rectangle 22"/>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5" name="Rectangle 24"/>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7" name="Rectangle 26"/>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9" name="Rectangle 28"/>
          <p:cNvSpPr/>
          <p:nvPr/>
        </p:nvSpPr>
        <p:spPr>
          <a:xfrm>
            <a:off x="6922134"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4 Modeling</a:t>
            </a:r>
          </a:p>
        </p:txBody>
      </p:sp>
      <p:sp>
        <p:nvSpPr>
          <p:cNvPr id="31" name="Rectangle 30"/>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3" name="Rectangle 32"/>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vier Baselines, wie sie im Notebook stehen</a:t>
            </a:r>
          </a:p>
        </p:txBody>
      </p:sp>
      <p:sp>
        <p:nvSpPr>
          <p:cNvPr id="3" name="Text Placeholder 2"/>
          <p:cNvSpPr>
            <a:spLocks noGrp="1"/>
          </p:cNvSpPr>
          <p:nvPr>
            <p:ph type="body" idx="12" sz="quarter"/>
          </p:nvPr>
        </p:nvSpPr>
        <p:spPr/>
        <p:txBody>
          <a:bodyPr/>
          <a:lstStyle/>
          <a:p>
            <a:r>
              <a:t>Phase 4 · im Notebook</a:t>
            </a:r>
          </a:p>
        </p:txBody>
      </p:sp>
      <p:sp>
        <p:nvSpPr>
          <p:cNvPr id="4" name="Text Placeholder 3"/>
          <p:cNvSpPr>
            <a:spLocks noGrp="1"/>
          </p:cNvSpPr>
          <p:nvPr>
            <p:ph type="body" idx="13" sz="quarter"/>
          </p:nvPr>
        </p:nvSpPr>
        <p:spPr/>
        <p:txBody>
          <a:bodyPr/>
          <a:lstStyle/>
          <a:p>
            <a:r>
              <a:t>analytics/notebooks/01_Regression_Fahrtdauer.ipynb · Abschnitt 4.1</a:t>
            </a:r>
          </a:p>
        </p:txBody>
      </p:sp>
      <p:sp>
        <p:nvSpPr>
          <p:cNvPr id="5" name="Rectangle 4"/>
          <p:cNvSpPr/>
          <p:nvPr/>
        </p:nvSpPr>
        <p:spPr>
          <a:xfrm>
            <a:off x="1051560" y="1403895"/>
            <a:ext cx="11677650" cy="3720008"/>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1-baselines.png"/>
          <p:cNvPicPr>
            <a:picLocks noChangeAspect="1"/>
          </p:cNvPicPr>
          <p:nvPr/>
        </p:nvPicPr>
        <p:blipFill>
          <a:blip r:embed="rId2"/>
          <a:stretch>
            <a:fillRect/>
          </a:stretch>
        </p:blipFill>
        <p:spPr>
          <a:xfrm>
            <a:off x="1153160" y="1505495"/>
            <a:ext cx="11474450" cy="3516808"/>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2,81 Minuten kommen von der Startstation, 0,27 vom Ziel. Diese beiden Zahlen tragen die ganze Diskussion um den Prozessumbau.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Pipeline, damit im Betrieb nichts auseinanderfällt</a:t>
            </a:r>
          </a:p>
        </p:txBody>
      </p:sp>
      <p:sp>
        <p:nvSpPr>
          <p:cNvPr id="3" name="Text Placeholder 2"/>
          <p:cNvSpPr>
            <a:spLocks noGrp="1"/>
          </p:cNvSpPr>
          <p:nvPr>
            <p:ph type="body" idx="12" sz="quarter"/>
          </p:nvPr>
        </p:nvSpPr>
        <p:spPr/>
        <p:txBody>
          <a:bodyPr/>
          <a:lstStyle/>
          <a:p>
            <a:r>
              <a:t>Phase 4 · Modeling</a:t>
            </a:r>
          </a:p>
        </p:txBody>
      </p:sp>
      <p:sp>
        <p:nvSpPr>
          <p:cNvPr id="4" name="Text Placeholder 3"/>
          <p:cNvSpPr>
            <a:spLocks noGrp="1"/>
          </p:cNvSpPr>
          <p:nvPr>
            <p:ph type="body" idx="13" sz="quarter"/>
          </p:nvPr>
        </p:nvSpPr>
        <p:spPr/>
        <p:txBody>
          <a:bodyPr/>
          <a:lstStyle/>
          <a:p>
            <a:r>
              <a:t>analytics/notebooks/01_Regression_Fahrtdauer.ipynb · Abschnitt 4</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Kodierung und Modell gehören in ein Objekt. Getrennt gespeichert überleben sie den ersten Betriebsmonat nicht.</a:t>
            </a:r>
          </a:p>
        </p:txBody>
      </p:sp>
      <p:sp>
        <p:nvSpPr>
          <p:cNvPr id="6" name="Rectangle 5"/>
          <p:cNvSpPr/>
          <p:nvPr/>
        </p:nvSpPr>
        <p:spPr>
          <a:xfrm>
            <a:off x="1153160" y="1651000"/>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1765300"/>
            <a:ext cx="5194300" cy="2311400"/>
          </a:xfrm>
          <a:prstGeom prst="rect">
            <a:avLst/>
          </a:prstGeom>
          <a:noFill/>
        </p:spPr>
        <p:txBody>
          <a:bodyPr wrap="square" lIns="0" tIns="0" rIns="0" bIns="0">
            <a:spAutoFit/>
          </a:bodyPr>
          <a:lstStyle/>
          <a:p>
            <a:pPr algn="l">
              <a:lnSpc>
                <a:spcPct val="95000"/>
              </a:lnSpc>
            </a:pPr>
            <a:r>
              <a:rPr sz="1400" b="1">
                <a:solidFill>
                  <a:srgbClr val="003E6E"/>
                </a:solidFill>
              </a:rPr>
              <a:t>Was zusammengehört</a:t>
            </a:r>
          </a:p>
          <a:p>
            <a:pPr algn="l">
              <a:lnSpc>
                <a:spcPct val="95000"/>
              </a:lnSpc>
              <a:spcBef>
                <a:spcPts val="200"/>
              </a:spcBef>
            </a:pPr>
            <a:r>
              <a:rPr sz="1300" b="0">
                <a:solidFill>
                  <a:srgbClr val="404040"/>
                </a:solidFill>
                <a:latin typeface="Consolas"/>
              </a:rPr>
              <a:t>ColumnTransformer</a:t>
            </a:r>
          </a:p>
          <a:p>
            <a:pPr algn="l">
              <a:lnSpc>
                <a:spcPct val="95000"/>
              </a:lnSpc>
              <a:spcBef>
                <a:spcPts val="200"/>
              </a:spcBef>
            </a:pPr>
            <a:r>
              <a:rPr sz="1300" b="0">
                <a:solidFill>
                  <a:srgbClr val="404040"/>
                </a:solidFill>
                <a:latin typeface="Consolas"/>
              </a:rPr>
              <a:t>  OneHotEncoder(</a:t>
            </a:r>
          </a:p>
          <a:p>
            <a:pPr algn="l">
              <a:lnSpc>
                <a:spcPct val="95000"/>
              </a:lnSpc>
              <a:spcBef>
                <a:spcPts val="200"/>
              </a:spcBef>
            </a:pPr>
            <a:r>
              <a:rPr sz="1300" b="0">
                <a:solidFill>
                  <a:srgbClr val="404040"/>
                </a:solidFill>
                <a:latin typeface="Consolas"/>
              </a:rPr>
              <a:t>    handle_unknown='ignore')</a:t>
            </a:r>
          </a:p>
          <a:p>
            <a:pPr algn="l">
              <a:lnSpc>
                <a:spcPct val="95000"/>
              </a:lnSpc>
              <a:spcBef>
                <a:spcPts val="200"/>
              </a:spcBef>
            </a:pPr>
            <a:r>
              <a:rPr sz="1300" b="0">
                <a:solidFill>
                  <a:srgbClr val="404040"/>
                </a:solidFill>
                <a:latin typeface="Consolas"/>
              </a:rPr>
              <a:t>  numerische Spalten</a:t>
            </a:r>
          </a:p>
          <a:p>
            <a:pPr algn="l">
              <a:lnSpc>
                <a:spcPct val="95000"/>
              </a:lnSpc>
              <a:spcBef>
                <a:spcPts val="200"/>
              </a:spcBef>
            </a:pPr>
            <a:r>
              <a:rPr sz="1300" b="0">
                <a:solidFill>
                  <a:srgbClr val="404040"/>
                </a:solidFill>
                <a:latin typeface="Consolas"/>
              </a:rPr>
              <a:t>+ RandomForestRegressor</a:t>
            </a:r>
          </a:p>
          <a:p>
            <a:pPr algn="l">
              <a:lnSpc>
                <a:spcPct val="95000"/>
              </a:lnSpc>
              <a:spcBef>
                <a:spcPts val="200"/>
              </a:spcBef>
            </a:pPr>
            <a:r>
              <a:rPr sz="1300" b="0">
                <a:solidFill>
                  <a:srgbClr val="404040"/>
                </a:solidFill>
                <a:latin typeface="Consolas"/>
              </a:rPr>
              <a:t>= eine Pipeline</a:t>
            </a:r>
          </a:p>
        </p:txBody>
      </p:sp>
      <p:sp>
        <p:nvSpPr>
          <p:cNvPr id="9" name="Rectangle 8"/>
          <p:cNvSpPr/>
          <p:nvPr/>
        </p:nvSpPr>
        <p:spPr>
          <a:xfrm>
            <a:off x="7096759" y="1651000"/>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096759" y="1651000"/>
            <a:ext cx="50800" cy="2540000"/>
          </a:xfrm>
          <a:prstGeom prst="rect">
            <a:avLst/>
          </a:prstGeom>
          <a:solidFill>
            <a:srgbClr val="4AB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74559" y="1765300"/>
            <a:ext cx="5194300" cy="2311400"/>
          </a:xfrm>
          <a:prstGeom prst="rect">
            <a:avLst/>
          </a:prstGeom>
          <a:noFill/>
        </p:spPr>
        <p:txBody>
          <a:bodyPr wrap="square" lIns="0" tIns="0" rIns="0" bIns="0">
            <a:spAutoFit/>
          </a:bodyPr>
          <a:lstStyle/>
          <a:p>
            <a:pPr algn="l">
              <a:lnSpc>
                <a:spcPct val="95000"/>
              </a:lnSpc>
            </a:pPr>
            <a:r>
              <a:rPr sz="1400" b="1">
                <a:solidFill>
                  <a:srgbClr val="4AB5C4"/>
                </a:solidFill>
              </a:rPr>
              <a:t>Warum zusammen</a:t>
            </a:r>
          </a:p>
          <a:p>
            <a:pPr algn="l">
              <a:lnSpc>
                <a:spcPct val="95000"/>
              </a:lnSpc>
              <a:spcBef>
                <a:spcPts val="200"/>
              </a:spcBef>
            </a:pPr>
            <a:r>
              <a:rPr sz="1300" b="0">
                <a:solidFill>
                  <a:srgbClr val="404040"/>
                </a:solidFill>
                <a:latin typeface="Consolas"/>
              </a:rPr>
              <a:t>Die Spaltenreihenfolge steckt</a:t>
            </a:r>
          </a:p>
          <a:p>
            <a:pPr algn="l">
              <a:lnSpc>
                <a:spcPct val="95000"/>
              </a:lnSpc>
              <a:spcBef>
                <a:spcPts val="200"/>
              </a:spcBef>
            </a:pPr>
            <a:r>
              <a:rPr sz="1300" b="0">
                <a:solidFill>
                  <a:srgbClr val="404040"/>
                </a:solidFill>
                <a:latin typeface="Consolas"/>
              </a:rPr>
              <a:t>im selben Objekt wie das</a:t>
            </a:r>
          </a:p>
          <a:p>
            <a:pPr algn="l">
              <a:lnSpc>
                <a:spcPct val="95000"/>
              </a:lnSpc>
              <a:spcBef>
                <a:spcPts val="200"/>
              </a:spcBef>
            </a:pPr>
            <a:r>
              <a:rPr sz="1300" b="0">
                <a:solidFill>
                  <a:srgbClr val="404040"/>
                </a:solidFill>
                <a:latin typeface="Consolas"/>
              </a:rPr>
              <a:t>Modell — sie kann nicht mehr</a:t>
            </a:r>
          </a:p>
          <a:p>
            <a:pPr algn="l">
              <a:lnSpc>
                <a:spcPct val="95000"/>
              </a:lnSpc>
              <a:spcBef>
                <a:spcPts val="200"/>
              </a:spcBef>
            </a:pPr>
            <a:r>
              <a:rPr sz="1300" b="0">
                <a:solidFill>
                  <a:srgbClr val="404040"/>
                </a:solidFill>
                <a:latin typeface="Consolas"/>
              </a:rPr>
              <a:t>verrutschen.</a:t>
            </a:r>
          </a:p>
          <a:p>
            <a:pPr algn="l">
              <a:lnSpc>
                <a:spcPct val="95000"/>
              </a:lnSpc>
              <a:spcBef>
                <a:spcPts val="200"/>
              </a:spcBef>
            </a:pPr>
            <a:r>
              <a:rPr sz="1300" b="0">
                <a:solidFill>
                  <a:srgbClr val="404040"/>
                </a:solidFill>
                <a:latin typeface="Consolas"/>
              </a:rPr>
              <a:t>handle_unknown: eine neue</a:t>
            </a:r>
          </a:p>
          <a:p>
            <a:pPr algn="l">
              <a:lnSpc>
                <a:spcPct val="95000"/>
              </a:lnSpc>
              <a:spcBef>
                <a:spcPts val="200"/>
              </a:spcBef>
            </a:pPr>
            <a:r>
              <a:rPr sz="1300" b="0">
                <a:solidFill>
                  <a:srgbClr val="404040"/>
                </a:solidFill>
                <a:latin typeface="Consolas"/>
              </a:rPr>
              <a:t>Station wirft keinen Fehler.</a:t>
            </a:r>
          </a:p>
        </p:txBody>
      </p:sp>
      <p:sp>
        <p:nvSpPr>
          <p:cNvPr id="12" name="Rectangle 11"/>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4" name="Rectangle 13"/>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6" name="Rectangle 15"/>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18" name="Rectangle 17"/>
          <p:cNvSpPr/>
          <p:nvPr/>
        </p:nvSpPr>
        <p:spPr>
          <a:xfrm>
            <a:off x="6922134"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4 Modeling</a:t>
            </a:r>
          </a:p>
        </p:txBody>
      </p:sp>
      <p:sp>
        <p:nvSpPr>
          <p:cNvPr id="20" name="Rectangle 19"/>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2" name="Rectangle 21"/>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Modelle, gewählt wird auf der Validierung</a:t>
            </a:r>
          </a:p>
        </p:txBody>
      </p:sp>
      <p:sp>
        <p:nvSpPr>
          <p:cNvPr id="3" name="Text Placeholder 2"/>
          <p:cNvSpPr>
            <a:spLocks noGrp="1"/>
          </p:cNvSpPr>
          <p:nvPr>
            <p:ph type="body" idx="12" sz="quarter"/>
          </p:nvPr>
        </p:nvSpPr>
        <p:spPr/>
        <p:txBody>
          <a:bodyPr/>
          <a:lstStyle/>
          <a:p>
            <a:r>
              <a:t>Phase 4 · Modeling</a:t>
            </a:r>
          </a:p>
        </p:txBody>
      </p:sp>
      <p:sp>
        <p:nvSpPr>
          <p:cNvPr id="4" name="Text Placeholder 3"/>
          <p:cNvSpPr>
            <a:spLocks noGrp="1"/>
          </p:cNvSpPr>
          <p:nvPr>
            <p:ph type="body" idx="13" sz="quarter"/>
          </p:nvPr>
        </p:nvSpPr>
        <p:spPr/>
        <p:txBody>
          <a:bodyPr/>
          <a:lstStyle/>
          <a:p>
            <a:r>
              <a:t>analytics/notebooks/01_Regression_Fahrtdauer.ipynb · Abschnitt 4</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Nicht auf dem Test. Der Unterschied trennt eine Modellwahl von einer nachträglichen Begründung.</a:t>
            </a:r>
          </a:p>
        </p:txBody>
      </p:sp>
      <p:sp>
        <p:nvSpPr>
          <p:cNvPr id="6" name="Rectangle 5"/>
          <p:cNvSpPr/>
          <p:nvPr/>
        </p:nvSpPr>
        <p:spPr>
          <a:xfrm>
            <a:off x="1153160" y="1651000"/>
            <a:ext cx="4445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Modell</a:t>
            </a:r>
          </a:p>
        </p:txBody>
      </p:sp>
      <p:sp>
        <p:nvSpPr>
          <p:cNvPr id="7" name="Rectangle 6"/>
          <p:cNvSpPr/>
          <p:nvPr/>
        </p:nvSpPr>
        <p:spPr>
          <a:xfrm>
            <a:off x="5598160" y="1651000"/>
            <a:ext cx="2921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MAE auf der Validierung</a:t>
            </a:r>
          </a:p>
        </p:txBody>
      </p:sp>
      <p:sp>
        <p:nvSpPr>
          <p:cNvPr id="8" name="Rectangle 7"/>
          <p:cNvSpPr/>
          <p:nvPr/>
        </p:nvSpPr>
        <p:spPr>
          <a:xfrm>
            <a:off x="8519160" y="1651000"/>
            <a:ext cx="410845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Was es beisteuert</a:t>
            </a:r>
          </a:p>
        </p:txBody>
      </p:sp>
      <p:sp>
        <p:nvSpPr>
          <p:cNvPr id="9" name="Rectangle 8"/>
          <p:cNvSpPr/>
          <p:nvPr/>
        </p:nvSpPr>
        <p:spPr>
          <a:xfrm>
            <a:off x="1153160" y="2159000"/>
            <a:ext cx="4445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Nullmodell (Median)</a:t>
            </a:r>
          </a:p>
        </p:txBody>
      </p:sp>
      <p:sp>
        <p:nvSpPr>
          <p:cNvPr id="10" name="Rectangle 9"/>
          <p:cNvSpPr/>
          <p:nvPr/>
        </p:nvSpPr>
        <p:spPr>
          <a:xfrm>
            <a:off x="5598160" y="2159000"/>
            <a:ext cx="2921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8,10 Minuten</a:t>
            </a:r>
          </a:p>
        </p:txBody>
      </p:sp>
      <p:sp>
        <p:nvSpPr>
          <p:cNvPr id="11" name="Rectangle 10"/>
          <p:cNvSpPr/>
          <p:nvPr/>
        </p:nvSpPr>
        <p:spPr>
          <a:xfrm>
            <a:off x="8519160" y="2159000"/>
            <a:ext cx="4108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der Median, ohne jedes Merkmal</a:t>
            </a:r>
          </a:p>
        </p:txBody>
      </p:sp>
      <p:sp>
        <p:nvSpPr>
          <p:cNvPr id="12" name="Rectangle 11"/>
          <p:cNvSpPr/>
          <p:nvPr/>
        </p:nvSpPr>
        <p:spPr>
          <a:xfrm>
            <a:off x="1153160" y="2667000"/>
            <a:ext cx="4445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Lineare Regression</a:t>
            </a:r>
          </a:p>
        </p:txBody>
      </p:sp>
      <p:sp>
        <p:nvSpPr>
          <p:cNvPr id="13" name="Rectangle 12"/>
          <p:cNvSpPr/>
          <p:nvPr/>
        </p:nvSpPr>
        <p:spPr>
          <a:xfrm>
            <a:off x="5598160" y="2667000"/>
            <a:ext cx="2921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4,61 Minuten</a:t>
            </a:r>
          </a:p>
        </p:txBody>
      </p:sp>
      <p:sp>
        <p:nvSpPr>
          <p:cNvPr id="14" name="Rectangle 13"/>
          <p:cNvSpPr/>
          <p:nvPr/>
        </p:nvSpPr>
        <p:spPr>
          <a:xfrm>
            <a:off x="8519160" y="2667000"/>
            <a:ext cx="4108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schon besser als Baseline D</a:t>
            </a:r>
          </a:p>
        </p:txBody>
      </p:sp>
      <p:sp>
        <p:nvSpPr>
          <p:cNvPr id="15" name="Rectangle 14"/>
          <p:cNvSpPr/>
          <p:nvPr/>
        </p:nvSpPr>
        <p:spPr>
          <a:xfrm>
            <a:off x="1153160" y="3175000"/>
            <a:ext cx="4445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Entscheidungsbaum (Tiefe 10)</a:t>
            </a:r>
          </a:p>
        </p:txBody>
      </p:sp>
      <p:sp>
        <p:nvSpPr>
          <p:cNvPr id="16" name="Rectangle 15"/>
          <p:cNvSpPr/>
          <p:nvPr/>
        </p:nvSpPr>
        <p:spPr>
          <a:xfrm>
            <a:off x="5598160" y="3175000"/>
            <a:ext cx="2921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4,23 Minuten</a:t>
            </a:r>
          </a:p>
        </p:txBody>
      </p:sp>
      <p:sp>
        <p:nvSpPr>
          <p:cNvPr id="17" name="Rectangle 16"/>
          <p:cNvSpPr/>
          <p:nvPr/>
        </p:nvSpPr>
        <p:spPr>
          <a:xfrm>
            <a:off x="8519160" y="3175000"/>
            <a:ext cx="4108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nichtlineare Zusammenhänge</a:t>
            </a:r>
          </a:p>
        </p:txBody>
      </p:sp>
      <p:sp>
        <p:nvSpPr>
          <p:cNvPr id="18" name="Rectangle 17"/>
          <p:cNvSpPr/>
          <p:nvPr/>
        </p:nvSpPr>
        <p:spPr>
          <a:xfrm>
            <a:off x="1153160" y="3683000"/>
            <a:ext cx="4445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Random Forest (200 Bäume) — gewählt</a:t>
            </a:r>
          </a:p>
        </p:txBody>
      </p:sp>
      <p:sp>
        <p:nvSpPr>
          <p:cNvPr id="19" name="Rectangle 18"/>
          <p:cNvSpPr/>
          <p:nvPr/>
        </p:nvSpPr>
        <p:spPr>
          <a:xfrm>
            <a:off x="5598160" y="3683000"/>
            <a:ext cx="2921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3,96 Minuten</a:t>
            </a:r>
          </a:p>
        </p:txBody>
      </p:sp>
      <p:sp>
        <p:nvSpPr>
          <p:cNvPr id="20" name="Rectangle 19"/>
          <p:cNvSpPr/>
          <p:nvPr/>
        </p:nvSpPr>
        <p:spPr>
          <a:xfrm>
            <a:off x="8519160" y="3683000"/>
            <a:ext cx="4108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21 % besser als Baseline D</a:t>
            </a:r>
          </a:p>
        </p:txBody>
      </p:sp>
      <p:sp>
        <p:nvSpPr>
          <p:cNvPr id="21" name="Rectangle 20"/>
          <p:cNvSpPr/>
          <p:nvPr/>
        </p:nvSpPr>
        <p:spPr>
          <a:xfrm>
            <a:off x="1153160" y="43688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356360" y="44450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21 Prozent gegenüber einer Nachschlagetabelle aus Medianen: ein realer Gewinn, aber kein spektakulärer. Ob er den Betrieb eines Modells rechtfertigt, entscheidet Phase 6.</a:t>
            </a:r>
          </a:p>
        </p:txBody>
      </p:sp>
      <p:sp>
        <p:nvSpPr>
          <p:cNvPr id="23" name="Rectangle 22"/>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5" name="Rectangle 24"/>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7" name="Rectangle 26"/>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9" name="Rectangle 28"/>
          <p:cNvSpPr/>
          <p:nvPr/>
        </p:nvSpPr>
        <p:spPr>
          <a:xfrm>
            <a:off x="6922134"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4 Modeling</a:t>
            </a:r>
          </a:p>
        </p:txBody>
      </p:sp>
      <p:sp>
        <p:nvSpPr>
          <p:cNvPr id="31" name="Rectangle 30"/>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3" name="Rectangle 32"/>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Bringt das Ziel wirklich etwas? Eine Ablation</a:t>
            </a:r>
          </a:p>
        </p:txBody>
      </p:sp>
      <p:sp>
        <p:nvSpPr>
          <p:cNvPr id="3" name="Text Placeholder 2"/>
          <p:cNvSpPr>
            <a:spLocks noGrp="1"/>
          </p:cNvSpPr>
          <p:nvPr>
            <p:ph type="body" idx="12" sz="quarter"/>
          </p:nvPr>
        </p:nvSpPr>
        <p:spPr/>
        <p:txBody>
          <a:bodyPr/>
          <a:lstStyle/>
          <a:p>
            <a:r>
              <a:t>Phase 4 · Modeling</a:t>
            </a:r>
          </a:p>
        </p:txBody>
      </p:sp>
      <p:sp>
        <p:nvSpPr>
          <p:cNvPr id="4" name="Text Placeholder 3"/>
          <p:cNvSpPr>
            <a:spLocks noGrp="1"/>
          </p:cNvSpPr>
          <p:nvPr>
            <p:ph type="body" idx="13" sz="quarter"/>
          </p:nvPr>
        </p:nvSpPr>
        <p:spPr/>
        <p:txBody>
          <a:bodyPr/>
          <a:lstStyle/>
          <a:p>
            <a:r>
              <a:t>analytics/notebooks/01_Regression_Fahrtdauer.ipynb · Abschnitt 4</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Das ganze Projekt ruht auf der Annahme, dass die Zielwahl hilft. Also wird sie geprüft — indem man sie wegnimmt.</a:t>
            </a:r>
          </a:p>
        </p:txBody>
      </p:sp>
      <p:sp>
        <p:nvSpPr>
          <p:cNvPr id="6" name="Rectangle 5"/>
          <p:cNvSpPr/>
          <p:nvPr/>
        </p:nvSpPr>
        <p:spPr>
          <a:xfrm>
            <a:off x="1153160" y="1651000"/>
            <a:ext cx="552450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Ohne Zielmerkmale</a:t>
            </a:r>
          </a:p>
        </p:txBody>
      </p:sp>
      <p:sp>
        <p:nvSpPr>
          <p:cNvPr id="9" name="TextBox 8"/>
          <p:cNvSpPr txBox="1"/>
          <p:nvPr/>
        </p:nvSpPr>
        <p:spPr>
          <a:xfrm>
            <a:off x="1330960" y="2159000"/>
            <a:ext cx="5194300" cy="1854200"/>
          </a:xfrm>
          <a:prstGeom prst="rect">
            <a:avLst/>
          </a:prstGeom>
          <a:noFill/>
        </p:spPr>
        <p:txBody>
          <a:bodyPr wrap="square" lIns="0" tIns="0" rIns="0" bIns="0">
            <a:spAutoFit/>
          </a:bodyPr>
          <a:lstStyle/>
          <a:p>
            <a:pPr algn="l">
              <a:lnSpc>
                <a:spcPct val="95000"/>
              </a:lnSpc>
            </a:pPr>
            <a:r>
              <a:rPr sz="1400" b="1">
                <a:solidFill>
                  <a:srgbClr val="A32638"/>
                </a:solidFill>
              </a:rPr>
              <a:t>Nur Start, Zeit, Radtyp</a:t>
            </a:r>
          </a:p>
          <a:p>
            <a:pPr algn="l">
              <a:lnSpc>
                <a:spcPct val="95000"/>
              </a:lnSpc>
              <a:spcBef>
                <a:spcPts val="300"/>
              </a:spcBef>
            </a:pPr>
            <a:r>
              <a:rPr sz="1300" b="0">
                <a:solidFill>
                  <a:srgbClr val="404040"/>
                </a:solidFill>
              </a:rPr>
              <a:t>MAE  4,35 Minuten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Das Modell weiß nicht, wohin</a:t>
            </a:r>
          </a:p>
          <a:p>
            <a:pPr algn="l">
              <a:lnSpc>
                <a:spcPct val="95000"/>
              </a:lnSpc>
              <a:spcBef>
                <a:spcPts val="300"/>
              </a:spcBef>
            </a:pPr>
            <a:r>
              <a:rPr sz="1300" b="0">
                <a:solidFill>
                  <a:srgbClr val="404040"/>
                </a:solidFill>
              </a:rPr>
              <a:t>die Fahrt geht — und ist</a:t>
            </a:r>
          </a:p>
          <a:p>
            <a:pPr algn="l">
              <a:lnSpc>
                <a:spcPct val="95000"/>
              </a:lnSpc>
              <a:spcBef>
                <a:spcPts val="300"/>
              </a:spcBef>
            </a:pPr>
            <a:r>
              <a:rPr sz="1300" b="0">
                <a:solidFill>
                  <a:srgbClr val="404040"/>
                </a:solidFill>
              </a:rPr>
              <a:t>trotzdem deutlich besser als</a:t>
            </a:r>
          </a:p>
          <a:p>
            <a:pPr algn="l">
              <a:lnSpc>
                <a:spcPct val="95000"/>
              </a:lnSpc>
              <a:spcBef>
                <a:spcPts val="300"/>
              </a:spcBef>
            </a:pPr>
            <a:r>
              <a:rPr sz="1300" b="0">
                <a:solidFill>
                  <a:srgbClr val="404040"/>
                </a:solidFill>
              </a:rPr>
              <a:t>jede Baseline.</a:t>
            </a:r>
          </a:p>
        </p:txBody>
      </p:sp>
      <p:sp>
        <p:nvSpPr>
          <p:cNvPr id="10" name="Rectangle 9"/>
          <p:cNvSpPr/>
          <p:nvPr/>
        </p:nvSpPr>
        <p:spPr>
          <a:xfrm>
            <a:off x="7096759" y="1651000"/>
            <a:ext cx="552450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6510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Mit Zielmerkmalen</a:t>
            </a:r>
          </a:p>
        </p:txBody>
      </p:sp>
      <p:sp>
        <p:nvSpPr>
          <p:cNvPr id="13" name="TextBox 12"/>
          <p:cNvSpPr txBox="1"/>
          <p:nvPr/>
        </p:nvSpPr>
        <p:spPr>
          <a:xfrm>
            <a:off x="7274559" y="2159000"/>
            <a:ext cx="5194300" cy="1854200"/>
          </a:xfrm>
          <a:prstGeom prst="rect">
            <a:avLst/>
          </a:prstGeom>
          <a:noFill/>
        </p:spPr>
        <p:txBody>
          <a:bodyPr wrap="square" lIns="0" tIns="0" rIns="0" bIns="0">
            <a:spAutoFit/>
          </a:bodyPr>
          <a:lstStyle/>
          <a:p>
            <a:pPr algn="l">
              <a:lnSpc>
                <a:spcPct val="95000"/>
              </a:lnSpc>
            </a:pPr>
            <a:r>
              <a:rPr sz="1400" b="1">
                <a:solidFill>
                  <a:srgbClr val="55801C"/>
                </a:solidFill>
              </a:rPr>
              <a:t>Ziel und Luftlinie dazu</a:t>
            </a:r>
          </a:p>
          <a:p>
            <a:pPr algn="l">
              <a:lnSpc>
                <a:spcPct val="95000"/>
              </a:lnSpc>
              <a:spcBef>
                <a:spcPts val="300"/>
              </a:spcBef>
            </a:pPr>
            <a:r>
              <a:rPr sz="1300" b="0">
                <a:solidFill>
                  <a:srgbClr val="404040"/>
                </a:solidFill>
              </a:rPr>
              <a:t>MAE  3,96 Minuten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Beitrag des Ziels:</a:t>
            </a:r>
          </a:p>
          <a:p>
            <a:pPr algn="l">
              <a:lnSpc>
                <a:spcPct val="95000"/>
              </a:lnSpc>
              <a:spcBef>
                <a:spcPts val="300"/>
              </a:spcBef>
            </a:pPr>
            <a:r>
              <a:rPr sz="1300" b="0">
                <a:solidFill>
                  <a:srgbClr val="404040"/>
                </a:solidFill>
              </a:rPr>
              <a:t>0,39 Minuten — neun Prozent.</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Real, aber bescheiden.</a:t>
            </a:r>
          </a:p>
        </p:txBody>
      </p:sp>
      <p:sp>
        <p:nvSpPr>
          <p:cNvPr id="14" name="Rectangle 13"/>
          <p:cNvSpPr/>
          <p:nvPr/>
        </p:nvSpPr>
        <p:spPr>
          <a:xfrm>
            <a:off x="1153160" y="42672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43434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Das gehört in den Bericht, nicht in eine Fußnote: Die neue Geschäftslogik ist richtig, ihr messbarer Zusatznutzen in diesem Datensatz ist klein.</a:t>
            </a:r>
          </a:p>
        </p:txBody>
      </p:sp>
      <p:sp>
        <p:nvSpPr>
          <p:cNvPr id="16" name="Rectangle 15"/>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8" name="Rectangle 17"/>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0" name="Rectangle 19"/>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2" name="Rectangle 21"/>
          <p:cNvSpPr/>
          <p:nvPr/>
        </p:nvSpPr>
        <p:spPr>
          <a:xfrm>
            <a:off x="6922134"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4 Modeling</a:t>
            </a:r>
          </a:p>
        </p:txBody>
      </p:sp>
      <p:sp>
        <p:nvSpPr>
          <p:cNvPr id="24" name="Rectangle 23"/>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6" name="Rectangle 25"/>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Minuten zu Euro — mit der vollen Tariflogik</a:t>
            </a:r>
          </a:p>
        </p:txBody>
      </p:sp>
      <p:sp>
        <p:nvSpPr>
          <p:cNvPr id="3" name="Text Placeholder 2"/>
          <p:cNvSpPr>
            <a:spLocks noGrp="1"/>
          </p:cNvSpPr>
          <p:nvPr>
            <p:ph type="body" idx="12" sz="quarter"/>
          </p:nvPr>
        </p:nvSpPr>
        <p:spPr/>
        <p:txBody>
          <a:bodyPr/>
          <a:lstStyle/>
          <a:p>
            <a:r>
              <a:t>Phase 5 · Evaluation</a:t>
            </a:r>
          </a:p>
        </p:txBody>
      </p:sp>
      <p:sp>
        <p:nvSpPr>
          <p:cNvPr id="4" name="Text Placeholder 3"/>
          <p:cNvSpPr>
            <a:spLocks noGrp="1"/>
          </p:cNvSpPr>
          <p:nvPr>
            <p:ph type="body" idx="13" sz="quarter"/>
          </p:nvPr>
        </p:nvSpPr>
        <p:spPr/>
        <p:txBody>
          <a:bodyPr/>
          <a:lstStyle/>
          <a:p>
            <a:r>
              <a:t>analytics/notebooks/01_Regression_Fahrtdauer.ipynb · Abschnitt 5</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3,93 Minuten auf Test 1. Diese Zahl beantwortet die Frage aus Phase 1 nicht. Erst die Umrechnung in Euro tut das.</a:t>
            </a:r>
          </a:p>
        </p:txBody>
      </p:sp>
      <p:sp>
        <p:nvSpPr>
          <p:cNvPr id="6" name="Rectangle 5"/>
          <p:cNvSpPr/>
          <p:nvPr/>
        </p:nvSpPr>
        <p:spPr>
          <a:xfrm>
            <a:off x="1153160" y="1651000"/>
            <a:ext cx="13970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Radtyp</a:t>
            </a:r>
          </a:p>
        </p:txBody>
      </p:sp>
      <p:sp>
        <p:nvSpPr>
          <p:cNvPr id="7" name="Rectangle 6"/>
          <p:cNvSpPr/>
          <p:nvPr/>
        </p:nvSpPr>
        <p:spPr>
          <a:xfrm>
            <a:off x="2550160" y="1651000"/>
            <a:ext cx="13970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Fahrten</a:t>
            </a:r>
          </a:p>
        </p:txBody>
      </p:sp>
      <p:sp>
        <p:nvSpPr>
          <p:cNvPr id="8" name="Rectangle 7"/>
          <p:cNvSpPr/>
          <p:nvPr/>
        </p:nvSpPr>
        <p:spPr>
          <a:xfrm>
            <a:off x="3947160" y="1651000"/>
            <a:ext cx="20320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Fahrt kostet</a:t>
            </a:r>
          </a:p>
        </p:txBody>
      </p:sp>
      <p:sp>
        <p:nvSpPr>
          <p:cNvPr id="9" name="Rectangle 8"/>
          <p:cNvSpPr/>
          <p:nvPr/>
        </p:nvSpPr>
        <p:spPr>
          <a:xfrm>
            <a:off x="5979160" y="1651000"/>
            <a:ext cx="20320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Abweichung</a:t>
            </a:r>
          </a:p>
        </p:txBody>
      </p:sp>
      <p:sp>
        <p:nvSpPr>
          <p:cNvPr id="10" name="Rectangle 9"/>
          <p:cNvSpPr/>
          <p:nvPr/>
        </p:nvSpPr>
        <p:spPr>
          <a:xfrm>
            <a:off x="8011159" y="1651000"/>
            <a:ext cx="20320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unter 0,50 €</a:t>
            </a:r>
          </a:p>
        </p:txBody>
      </p:sp>
      <p:sp>
        <p:nvSpPr>
          <p:cNvPr id="11" name="Rectangle 10"/>
          <p:cNvSpPr/>
          <p:nvPr/>
        </p:nvSpPr>
        <p:spPr>
          <a:xfrm>
            <a:off x="10043160" y="1651000"/>
            <a:ext cx="258445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Kriterium</a:t>
            </a:r>
          </a:p>
        </p:txBody>
      </p:sp>
      <p:sp>
        <p:nvSpPr>
          <p:cNvPr id="12" name="Rectangle 11"/>
          <p:cNvSpPr/>
          <p:nvPr/>
        </p:nvSpPr>
        <p:spPr>
          <a:xfrm>
            <a:off x="1153160" y="2235200"/>
            <a:ext cx="1397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CITY</a:t>
            </a:r>
          </a:p>
        </p:txBody>
      </p:sp>
      <p:sp>
        <p:nvSpPr>
          <p:cNvPr id="13" name="Rectangle 12"/>
          <p:cNvSpPr/>
          <p:nvPr/>
        </p:nvSpPr>
        <p:spPr>
          <a:xfrm>
            <a:off x="2550160" y="2235200"/>
            <a:ext cx="1397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3.325</a:t>
            </a:r>
          </a:p>
        </p:txBody>
      </p:sp>
      <p:sp>
        <p:nvSpPr>
          <p:cNvPr id="14" name="Rectangle 13"/>
          <p:cNvSpPr/>
          <p:nvPr/>
        </p:nvSpPr>
        <p:spPr>
          <a:xfrm>
            <a:off x="3947160" y="2235200"/>
            <a:ext cx="2032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1,67 €</a:t>
            </a:r>
          </a:p>
        </p:txBody>
      </p:sp>
      <p:sp>
        <p:nvSpPr>
          <p:cNvPr id="15" name="Rectangle 14"/>
          <p:cNvSpPr/>
          <p:nvPr/>
        </p:nvSpPr>
        <p:spPr>
          <a:xfrm>
            <a:off x="5979160" y="2235200"/>
            <a:ext cx="2032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0,41 €</a:t>
            </a:r>
          </a:p>
        </p:txBody>
      </p:sp>
      <p:sp>
        <p:nvSpPr>
          <p:cNvPr id="16" name="Rectangle 15"/>
          <p:cNvSpPr/>
          <p:nvPr/>
        </p:nvSpPr>
        <p:spPr>
          <a:xfrm>
            <a:off x="8011159" y="2235200"/>
            <a:ext cx="2032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74 %</a:t>
            </a:r>
          </a:p>
        </p:txBody>
      </p:sp>
      <p:sp>
        <p:nvSpPr>
          <p:cNvPr id="17" name="Rectangle 16"/>
          <p:cNvSpPr/>
          <p:nvPr/>
        </p:nvSpPr>
        <p:spPr>
          <a:xfrm>
            <a:off x="10043160" y="2235200"/>
            <a:ext cx="258445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erfüllt</a:t>
            </a:r>
          </a:p>
        </p:txBody>
      </p:sp>
      <p:sp>
        <p:nvSpPr>
          <p:cNvPr id="18" name="Rectangle 17"/>
          <p:cNvSpPr/>
          <p:nvPr/>
        </p:nvSpPr>
        <p:spPr>
          <a:xfrm>
            <a:off x="1153160" y="2819400"/>
            <a:ext cx="139700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EBIKE</a:t>
            </a:r>
          </a:p>
        </p:txBody>
      </p:sp>
      <p:sp>
        <p:nvSpPr>
          <p:cNvPr id="19" name="Rectangle 18"/>
          <p:cNvSpPr/>
          <p:nvPr/>
        </p:nvSpPr>
        <p:spPr>
          <a:xfrm>
            <a:off x="2550160" y="2819400"/>
            <a:ext cx="139700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2.049</a:t>
            </a:r>
          </a:p>
        </p:txBody>
      </p:sp>
      <p:sp>
        <p:nvSpPr>
          <p:cNvPr id="20" name="Rectangle 19"/>
          <p:cNvSpPr/>
          <p:nvPr/>
        </p:nvSpPr>
        <p:spPr>
          <a:xfrm>
            <a:off x="3947160" y="2819400"/>
            <a:ext cx="203200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4,34 €</a:t>
            </a:r>
          </a:p>
        </p:txBody>
      </p:sp>
      <p:sp>
        <p:nvSpPr>
          <p:cNvPr id="21" name="Rectangle 20"/>
          <p:cNvSpPr/>
          <p:nvPr/>
        </p:nvSpPr>
        <p:spPr>
          <a:xfrm>
            <a:off x="5979160" y="2819400"/>
            <a:ext cx="203200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0,85 €</a:t>
            </a:r>
          </a:p>
        </p:txBody>
      </p:sp>
      <p:sp>
        <p:nvSpPr>
          <p:cNvPr id="22" name="Rectangle 21"/>
          <p:cNvSpPr/>
          <p:nvPr/>
        </p:nvSpPr>
        <p:spPr>
          <a:xfrm>
            <a:off x="8011159" y="2819400"/>
            <a:ext cx="203200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51 %</a:t>
            </a:r>
          </a:p>
        </p:txBody>
      </p:sp>
      <p:sp>
        <p:nvSpPr>
          <p:cNvPr id="23" name="Rectangle 22"/>
          <p:cNvSpPr/>
          <p:nvPr/>
        </p:nvSpPr>
        <p:spPr>
          <a:xfrm>
            <a:off x="10043160" y="2819400"/>
            <a:ext cx="2584450" cy="584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gerissen</a:t>
            </a:r>
          </a:p>
        </p:txBody>
      </p:sp>
      <p:sp>
        <p:nvSpPr>
          <p:cNvPr id="24" name="Rectangle 23"/>
          <p:cNvSpPr/>
          <p:nvPr/>
        </p:nvSpPr>
        <p:spPr>
          <a:xfrm>
            <a:off x="1153160" y="3403600"/>
            <a:ext cx="1397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CARGO</a:t>
            </a:r>
          </a:p>
        </p:txBody>
      </p:sp>
      <p:sp>
        <p:nvSpPr>
          <p:cNvPr id="25" name="Rectangle 24"/>
          <p:cNvSpPr/>
          <p:nvPr/>
        </p:nvSpPr>
        <p:spPr>
          <a:xfrm>
            <a:off x="2550160" y="3403600"/>
            <a:ext cx="1397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508</a:t>
            </a:r>
          </a:p>
        </p:txBody>
      </p:sp>
      <p:sp>
        <p:nvSpPr>
          <p:cNvPr id="26" name="Rectangle 25"/>
          <p:cNvSpPr/>
          <p:nvPr/>
        </p:nvSpPr>
        <p:spPr>
          <a:xfrm>
            <a:off x="3947160" y="3403600"/>
            <a:ext cx="2032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11,97 €</a:t>
            </a:r>
          </a:p>
        </p:txBody>
      </p:sp>
      <p:sp>
        <p:nvSpPr>
          <p:cNvPr id="27" name="Rectangle 26"/>
          <p:cNvSpPr/>
          <p:nvPr/>
        </p:nvSpPr>
        <p:spPr>
          <a:xfrm>
            <a:off x="5979160" y="3403600"/>
            <a:ext cx="2032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2,48 €</a:t>
            </a:r>
          </a:p>
        </p:txBody>
      </p:sp>
      <p:sp>
        <p:nvSpPr>
          <p:cNvPr id="28" name="Rectangle 27"/>
          <p:cNvSpPr/>
          <p:nvPr/>
        </p:nvSpPr>
        <p:spPr>
          <a:xfrm>
            <a:off x="8011159" y="3403600"/>
            <a:ext cx="203200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19 %</a:t>
            </a:r>
          </a:p>
        </p:txBody>
      </p:sp>
      <p:sp>
        <p:nvSpPr>
          <p:cNvPr id="29" name="Rectangle 28"/>
          <p:cNvSpPr/>
          <p:nvPr/>
        </p:nvSpPr>
        <p:spPr>
          <a:xfrm>
            <a:off x="10043160" y="3403600"/>
            <a:ext cx="2584450" cy="584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gerissen</a:t>
            </a:r>
          </a:p>
        </p:txBody>
      </p:sp>
      <p:sp>
        <p:nvSpPr>
          <p:cNvPr id="30" name="Rectangle 29"/>
          <p:cNvSpPr/>
          <p:nvPr/>
        </p:nvSpPr>
        <p:spPr>
          <a:xfrm>
            <a:off x="1153160" y="4165600"/>
            <a:ext cx="11474450" cy="1346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1153160" y="4165600"/>
            <a:ext cx="50800" cy="1346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356360" y="4292600"/>
            <a:ext cx="11093450" cy="1092200"/>
          </a:xfrm>
          <a:prstGeom prst="rect">
            <a:avLst/>
          </a:prstGeom>
          <a:noFill/>
        </p:spPr>
        <p:txBody>
          <a:bodyPr wrap="square" lIns="0" tIns="0" rIns="0" bIns="0">
            <a:spAutoFit/>
          </a:bodyPr>
          <a:lstStyle/>
          <a:p>
            <a:pPr algn="l">
              <a:lnSpc>
                <a:spcPct val="95000"/>
              </a:lnSpc>
            </a:pPr>
            <a:r>
              <a:rPr sz="1500" b="1">
                <a:solidFill>
                  <a:srgbClr val="003E6E"/>
                </a:solidFill>
              </a:rPr>
              <a:t>Gerechnet wird der volle Tarif, nicht Minuten mal Minutenpreis</a:t>
            </a:r>
          </a:p>
          <a:p>
            <a:pPr algn="l">
              <a:lnSpc>
                <a:spcPct val="95000"/>
              </a:lnSpc>
              <a:spcBef>
                <a:spcPts val="500"/>
              </a:spcBef>
            </a:pPr>
            <a:r>
              <a:rPr sz="1300" b="0">
                <a:solidFill>
                  <a:srgbClr val="404040"/>
                </a:solidFill>
              </a:rPr>
              <a:t>Startgebühr plus Minuten mal Minutenpreis, gedeckelt auf den Tageshöchstpreis — für den tatsächlichen und den geschätzten Wert getrennt.</a:t>
            </a:r>
          </a:p>
          <a:p>
            <a:pPr algn="l">
              <a:lnSpc>
                <a:spcPct val="95000"/>
              </a:lnSpc>
              <a:spcBef>
                <a:spcPts val="500"/>
              </a:spcBef>
            </a:pPr>
            <a:r>
              <a:rPr sz="1300" b="0">
                <a:solidFill>
                  <a:srgbClr val="404040"/>
                </a:solidFill>
              </a:rPr>
              <a:t>Nur so entspricht die Zahl dem, was auf der Rechnung des Kunden steht.</a:t>
            </a:r>
          </a:p>
        </p:txBody>
      </p:sp>
      <p:sp>
        <p:nvSpPr>
          <p:cNvPr id="33" name="Rectangle 32"/>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35" name="Rectangle 34"/>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37" name="Rectangle 36"/>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39" name="Rectangle 38"/>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41" name="Rectangle 40"/>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43" name="Rectangle 42"/>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entscheidende Rechnung, Zeile für Zeile</a:t>
            </a:r>
          </a:p>
        </p:txBody>
      </p:sp>
      <p:sp>
        <p:nvSpPr>
          <p:cNvPr id="3" name="Text Placeholder 2"/>
          <p:cNvSpPr>
            <a:spLocks noGrp="1"/>
          </p:cNvSpPr>
          <p:nvPr>
            <p:ph type="body" idx="12" sz="quarter"/>
          </p:nvPr>
        </p:nvSpPr>
        <p:spPr/>
        <p:txBody>
          <a:bodyPr/>
          <a:lstStyle/>
          <a:p>
            <a:r>
              <a:t>Phase 5 · im Notebook</a:t>
            </a:r>
          </a:p>
        </p:txBody>
      </p:sp>
      <p:sp>
        <p:nvSpPr>
          <p:cNvPr id="4" name="Text Placeholder 3"/>
          <p:cNvSpPr>
            <a:spLocks noGrp="1"/>
          </p:cNvSpPr>
          <p:nvPr>
            <p:ph type="body" idx="13" sz="quarter"/>
          </p:nvPr>
        </p:nvSpPr>
        <p:spPr/>
        <p:txBody>
          <a:bodyPr/>
          <a:lstStyle/>
          <a:p>
            <a:r>
              <a:t>analytics/notebooks/01_Regression_Fahrtdauer.ipynb · Abschnitt 5.2</a:t>
            </a:r>
          </a:p>
        </p:txBody>
      </p:sp>
      <p:sp>
        <p:nvSpPr>
          <p:cNvPr id="5" name="Rectangle 4"/>
          <p:cNvSpPr/>
          <p:nvPr/>
        </p:nvSpPr>
        <p:spPr>
          <a:xfrm>
            <a:off x="1051560" y="2376449"/>
            <a:ext cx="11677649" cy="1774901"/>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1-preisfehler.png"/>
          <p:cNvPicPr>
            <a:picLocks noChangeAspect="1"/>
          </p:cNvPicPr>
          <p:nvPr/>
        </p:nvPicPr>
        <p:blipFill>
          <a:blip r:embed="rId2"/>
          <a:stretch>
            <a:fillRect/>
          </a:stretch>
        </p:blipFill>
        <p:spPr>
          <a:xfrm>
            <a:off x="1153160" y="2478049"/>
            <a:ext cx="11474449" cy="1571701"/>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Drei Zeilen, drei Urteile — und die Statistik ist bei allen dreien dieselbe. Was sich unterscheidet, ist der Minutenpreis.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Gegenproben — und beide fallen negativ aus</a:t>
            </a:r>
          </a:p>
        </p:txBody>
      </p:sp>
      <p:sp>
        <p:nvSpPr>
          <p:cNvPr id="3" name="Text Placeholder 2"/>
          <p:cNvSpPr>
            <a:spLocks noGrp="1"/>
          </p:cNvSpPr>
          <p:nvPr>
            <p:ph type="body" idx="12" sz="quarter"/>
          </p:nvPr>
        </p:nvSpPr>
        <p:spPr/>
        <p:txBody>
          <a:bodyPr/>
          <a:lstStyle/>
          <a:p>
            <a:r>
              <a:t>Phase 5 · Evaluation</a:t>
            </a:r>
          </a:p>
        </p:txBody>
      </p:sp>
      <p:sp>
        <p:nvSpPr>
          <p:cNvPr id="4" name="Text Placeholder 3"/>
          <p:cNvSpPr>
            <a:spLocks noGrp="1"/>
          </p:cNvSpPr>
          <p:nvPr>
            <p:ph type="body" idx="13" sz="quarter"/>
          </p:nvPr>
        </p:nvSpPr>
        <p:spPr/>
        <p:txBody>
          <a:bodyPr/>
          <a:lstStyle/>
          <a:p>
            <a:r>
              <a:t>analytics/notebooks/01_Regression_Fahrtdauer.ipynb · Abschnitt 5</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Bevor man ein Ergebnis erklärt, prüft man die zwei naheliegenden Erklärungen. Hier trägt keine von beiden.</a:t>
            </a:r>
          </a:p>
        </p:txBody>
      </p:sp>
      <p:sp>
        <p:nvSpPr>
          <p:cNvPr id="6" name="Rectangle 5"/>
          <p:cNvSpPr/>
          <p:nvPr/>
        </p:nvSpPr>
        <p:spPr>
          <a:xfrm>
            <a:off x="1153160" y="1651000"/>
            <a:ext cx="552450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Vermutung 1</a:t>
            </a:r>
          </a:p>
        </p:txBody>
      </p:sp>
      <p:sp>
        <p:nvSpPr>
          <p:cNvPr id="9" name="TextBox 8"/>
          <p:cNvSpPr txBox="1"/>
          <p:nvPr/>
        </p:nvSpPr>
        <p:spPr>
          <a:xfrm>
            <a:off x="1330960" y="2159000"/>
            <a:ext cx="5194300" cy="1854200"/>
          </a:xfrm>
          <a:prstGeom prst="rect">
            <a:avLst/>
          </a:prstGeom>
          <a:noFill/>
        </p:spPr>
        <p:txBody>
          <a:bodyPr wrap="square" lIns="0" tIns="0" rIns="0" bIns="0">
            <a:spAutoFit/>
          </a:bodyPr>
          <a:lstStyle/>
          <a:p>
            <a:pPr algn="l">
              <a:lnSpc>
                <a:spcPct val="95000"/>
              </a:lnSpc>
            </a:pPr>
            <a:r>
              <a:rPr sz="1400" b="1">
                <a:solidFill>
                  <a:srgbClr val="A32638"/>
                </a:solidFill>
              </a:rPr>
              <a:t>Schätzen wir systematisch zu hoch?</a:t>
            </a:r>
          </a:p>
          <a:p>
            <a:pPr algn="l">
              <a:lnSpc>
                <a:spcPct val="95000"/>
              </a:lnSpc>
              <a:spcBef>
                <a:spcPts val="300"/>
              </a:spcBef>
            </a:pPr>
            <a:r>
              <a:rPr sz="1300" b="0">
                <a:solidFill>
                  <a:srgbClr val="404040"/>
                </a:solidFill>
              </a:rPr>
              <a:t>CARGO   − 0,25 €</a:t>
            </a:r>
          </a:p>
          <a:p>
            <a:pPr algn="l">
              <a:lnSpc>
                <a:spcPct val="95000"/>
              </a:lnSpc>
              <a:spcBef>
                <a:spcPts val="300"/>
              </a:spcBef>
            </a:pPr>
            <a:r>
              <a:rPr sz="1300" b="0">
                <a:solidFill>
                  <a:srgbClr val="404040"/>
                </a:solidFill>
              </a:rPr>
              <a:t>CITY    + 0,04 €</a:t>
            </a:r>
          </a:p>
          <a:p>
            <a:pPr algn="l">
              <a:lnSpc>
                <a:spcPct val="95000"/>
              </a:lnSpc>
              <a:spcBef>
                <a:spcPts val="300"/>
              </a:spcBef>
            </a:pPr>
            <a:r>
              <a:rPr sz="1300" b="0">
                <a:solidFill>
                  <a:srgbClr val="404040"/>
                </a:solidFill>
              </a:rPr>
              <a:t>EBIKE   + 0,11 €</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Nein. Über- und Unterschätzung</a:t>
            </a:r>
          </a:p>
          <a:p>
            <a:pPr algn="l">
              <a:lnSpc>
                <a:spcPct val="95000"/>
              </a:lnSpc>
              <a:spcBef>
                <a:spcPts val="300"/>
              </a:spcBef>
            </a:pPr>
            <a:r>
              <a:rPr sz="1300" b="0">
                <a:solidFill>
                  <a:srgbClr val="404040"/>
                </a:solidFill>
              </a:rPr>
              <a:t>heben sich weitgehend auf.</a:t>
            </a:r>
          </a:p>
        </p:txBody>
      </p:sp>
      <p:sp>
        <p:nvSpPr>
          <p:cNvPr id="10" name="Rectangle 9"/>
          <p:cNvSpPr/>
          <p:nvPr/>
        </p:nvSpPr>
        <p:spPr>
          <a:xfrm>
            <a:off x="7096759" y="1651000"/>
            <a:ext cx="552450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6510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Vermutung 2</a:t>
            </a:r>
          </a:p>
        </p:txBody>
      </p:sp>
      <p:sp>
        <p:nvSpPr>
          <p:cNvPr id="13" name="TextBox 12"/>
          <p:cNvSpPr txBox="1"/>
          <p:nvPr/>
        </p:nvSpPr>
        <p:spPr>
          <a:xfrm>
            <a:off x="7274559" y="2159000"/>
            <a:ext cx="5194300" cy="1854200"/>
          </a:xfrm>
          <a:prstGeom prst="rect">
            <a:avLst/>
          </a:prstGeom>
          <a:noFill/>
        </p:spPr>
        <p:txBody>
          <a:bodyPr wrap="square" lIns="0" tIns="0" rIns="0" bIns="0">
            <a:spAutoFit/>
          </a:bodyPr>
          <a:lstStyle/>
          <a:p>
            <a:pPr algn="l">
              <a:lnSpc>
                <a:spcPct val="95000"/>
              </a:lnSpc>
            </a:pPr>
            <a:r>
              <a:rPr sz="1400" b="1">
                <a:solidFill>
                  <a:srgbClr val="55801C"/>
                </a:solidFill>
              </a:rPr>
              <a:t>Ist das Modell bei teuren Rädern schlechter?</a:t>
            </a:r>
          </a:p>
          <a:p>
            <a:pPr algn="l">
              <a:lnSpc>
                <a:spcPct val="95000"/>
              </a:lnSpc>
              <a:spcBef>
                <a:spcPts val="300"/>
              </a:spcBef>
            </a:pPr>
            <a:r>
              <a:rPr sz="1300" b="0">
                <a:solidFill>
                  <a:srgbClr val="404040"/>
                </a:solidFill>
              </a:rPr>
              <a:t>CARGO   2,48 € von 11,97 €  = 21 %</a:t>
            </a:r>
          </a:p>
          <a:p>
            <a:pPr algn="l">
              <a:lnSpc>
                <a:spcPct val="95000"/>
              </a:lnSpc>
              <a:spcBef>
                <a:spcPts val="300"/>
              </a:spcBef>
            </a:pPr>
            <a:r>
              <a:rPr sz="1300" b="0">
                <a:solidFill>
                  <a:srgbClr val="404040"/>
                </a:solidFill>
              </a:rPr>
              <a:t>CITY    0,41 € von  1,67 €  = 24 %</a:t>
            </a:r>
          </a:p>
          <a:p>
            <a:pPr algn="l">
              <a:lnSpc>
                <a:spcPct val="95000"/>
              </a:lnSpc>
              <a:spcBef>
                <a:spcPts val="300"/>
              </a:spcBef>
            </a:pPr>
            <a:r>
              <a:rPr sz="1300" b="0">
                <a:solidFill>
                  <a:srgbClr val="404040"/>
                </a:solidFill>
              </a:rPr>
              <a:t>EBIKE   0,85 € von  4,34 €  = 20 %</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Nein. Relativ zum Fahrpreis ist</a:t>
            </a:r>
          </a:p>
          <a:p>
            <a:pPr algn="l">
              <a:lnSpc>
                <a:spcPct val="95000"/>
              </a:lnSpc>
              <a:spcBef>
                <a:spcPts val="300"/>
              </a:spcBef>
            </a:pPr>
            <a:r>
              <a:rPr sz="1300" b="0">
                <a:solidFill>
                  <a:srgbClr val="404040"/>
                </a:solidFill>
              </a:rPr>
              <a:t>die Abweichung überall ähnlich.</a:t>
            </a:r>
          </a:p>
        </p:txBody>
      </p:sp>
      <p:sp>
        <p:nvSpPr>
          <p:cNvPr id="14" name="Rectangle 13"/>
          <p:cNvSpPr/>
          <p:nvPr/>
        </p:nvSpPr>
        <p:spPr>
          <a:xfrm>
            <a:off x="1153160" y="42672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43434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Was sich unterscheidet, ist nicht das Modell, sondern die Strenge einer festen 50-Cent-Grenze bei drei sehr verschiedenen Fahrpreisen.</a:t>
            </a:r>
          </a:p>
        </p:txBody>
      </p:sp>
      <p:sp>
        <p:nvSpPr>
          <p:cNvPr id="16" name="Rectangle 15"/>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8" name="Rectangle 17"/>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0" name="Rectangle 19"/>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2" name="Rectangle 21"/>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4" name="Rectangle 23"/>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26" name="Rectangle 25"/>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belastbar ist das? Vier Fenster statt einer Zahl</a:t>
            </a:r>
          </a:p>
        </p:txBody>
      </p:sp>
      <p:sp>
        <p:nvSpPr>
          <p:cNvPr id="3" name="Text Placeholder 2"/>
          <p:cNvSpPr>
            <a:spLocks noGrp="1"/>
          </p:cNvSpPr>
          <p:nvPr>
            <p:ph type="body" idx="12" sz="quarter"/>
          </p:nvPr>
        </p:nvSpPr>
        <p:spPr/>
        <p:txBody>
          <a:bodyPr/>
          <a:lstStyle/>
          <a:p>
            <a:r>
              <a:t>Phase 5 · Evaluation</a:t>
            </a:r>
          </a:p>
        </p:txBody>
      </p:sp>
      <p:sp>
        <p:nvSpPr>
          <p:cNvPr id="4" name="Text Placeholder 3"/>
          <p:cNvSpPr>
            <a:spLocks noGrp="1"/>
          </p:cNvSpPr>
          <p:nvPr>
            <p:ph type="body" idx="13" sz="quarter"/>
          </p:nvPr>
        </p:nvSpPr>
        <p:spPr/>
        <p:txBody>
          <a:bodyPr/>
          <a:lstStyle/>
          <a:p>
            <a:r>
              <a:t>analytics/notebooks/01_Regression_Fahrtdauer.ipynb · Abschnitt 5</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Ein einzelner Testzeitraum kann günstig liegen. Rollierend geprüft sieht man, wie stark das Ergebnis schwankt.</a:t>
            </a:r>
          </a:p>
        </p:txBody>
      </p:sp>
      <p:sp>
        <p:nvSpPr>
          <p:cNvPr id="6" name="Rectangle 5"/>
          <p:cNvSpPr/>
          <p:nvPr/>
        </p:nvSpPr>
        <p:spPr>
          <a:xfrm>
            <a:off x="1153160" y="1651000"/>
            <a:ext cx="3810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Fenster</a:t>
            </a:r>
          </a:p>
        </p:txBody>
      </p:sp>
      <p:sp>
        <p:nvSpPr>
          <p:cNvPr id="7" name="Rectangle 6"/>
          <p:cNvSpPr/>
          <p:nvPr/>
        </p:nvSpPr>
        <p:spPr>
          <a:xfrm>
            <a:off x="4963160" y="1651000"/>
            <a:ext cx="1651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Fahrten</a:t>
            </a:r>
          </a:p>
        </p:txBody>
      </p:sp>
      <p:sp>
        <p:nvSpPr>
          <p:cNvPr id="8" name="Rectangle 7"/>
          <p:cNvSpPr/>
          <p:nvPr/>
        </p:nvSpPr>
        <p:spPr>
          <a:xfrm>
            <a:off x="6614159" y="1651000"/>
            <a:ext cx="2540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MAE (Minuten)</a:t>
            </a:r>
          </a:p>
        </p:txBody>
      </p:sp>
      <p:sp>
        <p:nvSpPr>
          <p:cNvPr id="9" name="Rectangle 8"/>
          <p:cNvSpPr/>
          <p:nvPr/>
        </p:nvSpPr>
        <p:spPr>
          <a:xfrm>
            <a:off x="9154160" y="1651000"/>
            <a:ext cx="347345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CITY-Preisfehler</a:t>
            </a:r>
          </a:p>
        </p:txBody>
      </p:sp>
      <p:sp>
        <p:nvSpPr>
          <p:cNvPr id="10" name="Rectangle 9"/>
          <p:cNvSpPr/>
          <p:nvPr/>
        </p:nvSpPr>
        <p:spPr>
          <a:xfrm>
            <a:off x="1153160" y="2159000"/>
            <a:ext cx="3810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10/2024 bis 02/2025</a:t>
            </a:r>
          </a:p>
        </p:txBody>
      </p:sp>
      <p:sp>
        <p:nvSpPr>
          <p:cNvPr id="11" name="Rectangle 10"/>
          <p:cNvSpPr/>
          <p:nvPr/>
        </p:nvSpPr>
        <p:spPr>
          <a:xfrm>
            <a:off x="4963160" y="2159000"/>
            <a:ext cx="1651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3.529</a:t>
            </a:r>
          </a:p>
        </p:txBody>
      </p:sp>
      <p:sp>
        <p:nvSpPr>
          <p:cNvPr id="12" name="Rectangle 11"/>
          <p:cNvSpPr/>
          <p:nvPr/>
        </p:nvSpPr>
        <p:spPr>
          <a:xfrm>
            <a:off x="6614159" y="2159000"/>
            <a:ext cx="2540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3,52</a:t>
            </a:r>
          </a:p>
        </p:txBody>
      </p:sp>
      <p:sp>
        <p:nvSpPr>
          <p:cNvPr id="13" name="Rectangle 12"/>
          <p:cNvSpPr/>
          <p:nvPr/>
        </p:nvSpPr>
        <p:spPr>
          <a:xfrm>
            <a:off x="9154160" y="2159000"/>
            <a:ext cx="3473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0,37 €</a:t>
            </a:r>
          </a:p>
        </p:txBody>
      </p:sp>
      <p:sp>
        <p:nvSpPr>
          <p:cNvPr id="14" name="Rectangle 13"/>
          <p:cNvSpPr/>
          <p:nvPr/>
        </p:nvSpPr>
        <p:spPr>
          <a:xfrm>
            <a:off x="1153160" y="2667000"/>
            <a:ext cx="3810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02/2025 bis 05/2025</a:t>
            </a:r>
          </a:p>
        </p:txBody>
      </p:sp>
      <p:sp>
        <p:nvSpPr>
          <p:cNvPr id="15" name="Rectangle 14"/>
          <p:cNvSpPr/>
          <p:nvPr/>
        </p:nvSpPr>
        <p:spPr>
          <a:xfrm>
            <a:off x="4963160" y="2667000"/>
            <a:ext cx="1651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3.529</a:t>
            </a:r>
          </a:p>
        </p:txBody>
      </p:sp>
      <p:sp>
        <p:nvSpPr>
          <p:cNvPr id="16" name="Rectangle 15"/>
          <p:cNvSpPr/>
          <p:nvPr/>
        </p:nvSpPr>
        <p:spPr>
          <a:xfrm>
            <a:off x="6614159" y="2667000"/>
            <a:ext cx="2540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3,73</a:t>
            </a:r>
          </a:p>
        </p:txBody>
      </p:sp>
      <p:sp>
        <p:nvSpPr>
          <p:cNvPr id="17" name="Rectangle 16"/>
          <p:cNvSpPr/>
          <p:nvPr/>
        </p:nvSpPr>
        <p:spPr>
          <a:xfrm>
            <a:off x="9154160" y="2667000"/>
            <a:ext cx="3473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0,38 €</a:t>
            </a:r>
          </a:p>
        </p:txBody>
      </p:sp>
      <p:sp>
        <p:nvSpPr>
          <p:cNvPr id="18" name="Rectangle 17"/>
          <p:cNvSpPr/>
          <p:nvPr/>
        </p:nvSpPr>
        <p:spPr>
          <a:xfrm>
            <a:off x="1153160" y="3175000"/>
            <a:ext cx="3810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05/2025 bis 07/2025</a:t>
            </a:r>
          </a:p>
        </p:txBody>
      </p:sp>
      <p:sp>
        <p:nvSpPr>
          <p:cNvPr id="19" name="Rectangle 18"/>
          <p:cNvSpPr/>
          <p:nvPr/>
        </p:nvSpPr>
        <p:spPr>
          <a:xfrm>
            <a:off x="4963160" y="3175000"/>
            <a:ext cx="1651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3.529</a:t>
            </a:r>
          </a:p>
        </p:txBody>
      </p:sp>
      <p:sp>
        <p:nvSpPr>
          <p:cNvPr id="20" name="Rectangle 19"/>
          <p:cNvSpPr/>
          <p:nvPr/>
        </p:nvSpPr>
        <p:spPr>
          <a:xfrm>
            <a:off x="6614159" y="3175000"/>
            <a:ext cx="2540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4,39</a:t>
            </a:r>
          </a:p>
        </p:txBody>
      </p:sp>
      <p:sp>
        <p:nvSpPr>
          <p:cNvPr id="21" name="Rectangle 20"/>
          <p:cNvSpPr/>
          <p:nvPr/>
        </p:nvSpPr>
        <p:spPr>
          <a:xfrm>
            <a:off x="9154160" y="3175000"/>
            <a:ext cx="3473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0,45 €</a:t>
            </a:r>
          </a:p>
        </p:txBody>
      </p:sp>
      <p:sp>
        <p:nvSpPr>
          <p:cNvPr id="22" name="Rectangle 21"/>
          <p:cNvSpPr/>
          <p:nvPr/>
        </p:nvSpPr>
        <p:spPr>
          <a:xfrm>
            <a:off x="1153160" y="3683000"/>
            <a:ext cx="3810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07/2025 bis 09/2025</a:t>
            </a:r>
          </a:p>
        </p:txBody>
      </p:sp>
      <p:sp>
        <p:nvSpPr>
          <p:cNvPr id="23" name="Rectangle 22"/>
          <p:cNvSpPr/>
          <p:nvPr/>
        </p:nvSpPr>
        <p:spPr>
          <a:xfrm>
            <a:off x="4963160" y="3683000"/>
            <a:ext cx="1651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3.529</a:t>
            </a:r>
          </a:p>
        </p:txBody>
      </p:sp>
      <p:sp>
        <p:nvSpPr>
          <p:cNvPr id="24" name="Rectangle 23"/>
          <p:cNvSpPr/>
          <p:nvPr/>
        </p:nvSpPr>
        <p:spPr>
          <a:xfrm>
            <a:off x="6614159" y="3683000"/>
            <a:ext cx="2540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4,33</a:t>
            </a:r>
          </a:p>
        </p:txBody>
      </p:sp>
      <p:sp>
        <p:nvSpPr>
          <p:cNvPr id="25" name="Rectangle 24"/>
          <p:cNvSpPr/>
          <p:nvPr/>
        </p:nvSpPr>
        <p:spPr>
          <a:xfrm>
            <a:off x="9154160" y="3683000"/>
            <a:ext cx="3473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0,45 €</a:t>
            </a:r>
          </a:p>
        </p:txBody>
      </p:sp>
      <p:sp>
        <p:nvSpPr>
          <p:cNvPr id="26" name="Rectangle 25"/>
          <p:cNvSpPr/>
          <p:nvPr/>
        </p:nvSpPr>
        <p:spPr>
          <a:xfrm>
            <a:off x="1153160" y="43688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56360" y="44450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Der CITY-Preisfehler schwankt zwischen 0,37 € und 0,45 €. Die Grenze von 0,50 € liegt oberhalb der gesamten Schwankung — im schlechtesten Fenster mit fünf Cent Abstand. Für CITY ist die Punktschätzung damit belastbar.</a:t>
            </a:r>
          </a:p>
        </p:txBody>
      </p:sp>
      <p:sp>
        <p:nvSpPr>
          <p:cNvPr id="28" name="Rectangle 27"/>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30" name="Rectangle 29"/>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32" name="Rectangle 31"/>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34" name="Rectangle 33"/>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36" name="Rectangle 35"/>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38" name="Rectangle 37"/>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es liegt — und woran nicht</a:t>
            </a:r>
          </a:p>
        </p:txBody>
      </p:sp>
      <p:sp>
        <p:nvSpPr>
          <p:cNvPr id="3" name="Text Placeholder 2"/>
          <p:cNvSpPr>
            <a:spLocks noGrp="1"/>
          </p:cNvSpPr>
          <p:nvPr>
            <p:ph type="body" idx="12" sz="quarter"/>
          </p:nvPr>
        </p:nvSpPr>
        <p:spPr/>
        <p:txBody>
          <a:bodyPr/>
          <a:lstStyle/>
          <a:p>
            <a:r>
              <a:t>Phase 5 · Evaluation</a:t>
            </a:r>
          </a:p>
        </p:txBody>
      </p:sp>
      <p:sp>
        <p:nvSpPr>
          <p:cNvPr id="4" name="Text Placeholder 3"/>
          <p:cNvSpPr>
            <a:spLocks noGrp="1"/>
          </p:cNvSpPr>
          <p:nvPr>
            <p:ph type="body" idx="13" sz="quarter"/>
          </p:nvPr>
        </p:nvSpPr>
        <p:spPr/>
        <p:txBody>
          <a:bodyPr/>
          <a:lstStyle/>
          <a:p>
            <a:r>
              <a:t>analytics/notebooks/01_Regression_Fahrtdauer.ipynb · Abschnitt 5</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Nicht wie gut, sondern woran es scheitert. Das Muster ist kein statistisches, sondern ein menschliches.</a:t>
            </a:r>
          </a:p>
        </p:txBody>
      </p:sp>
      <p:sp>
        <p:nvSpPr>
          <p:cNvPr id="6" name="Rectangle 5"/>
          <p:cNvSpPr/>
          <p:nvPr/>
        </p:nvSpPr>
        <p:spPr>
          <a:xfrm>
            <a:off x="1153160" y="1651000"/>
            <a:ext cx="552450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Schwierig</a:t>
            </a:r>
          </a:p>
        </p:txBody>
      </p:sp>
      <p:sp>
        <p:nvSpPr>
          <p:cNvPr id="9" name="TextBox 8"/>
          <p:cNvSpPr txBox="1"/>
          <p:nvPr/>
        </p:nvSpPr>
        <p:spPr>
          <a:xfrm>
            <a:off x="1330960" y="2159000"/>
            <a:ext cx="5194300" cy="1854200"/>
          </a:xfrm>
          <a:prstGeom prst="rect">
            <a:avLst/>
          </a:prstGeom>
          <a:noFill/>
        </p:spPr>
        <p:txBody>
          <a:bodyPr wrap="square" lIns="0" tIns="0" rIns="0" bIns="0">
            <a:spAutoFit/>
          </a:bodyPr>
          <a:lstStyle/>
          <a:p>
            <a:pPr algn="l">
              <a:lnSpc>
                <a:spcPct val="95000"/>
              </a:lnSpc>
            </a:pPr>
            <a:r>
              <a:rPr sz="1400" b="1">
                <a:solidFill>
                  <a:srgbClr val="A32638"/>
                </a:solidFill>
              </a:rPr>
              <a:t>Gefahren, um zu fahren</a:t>
            </a:r>
          </a:p>
          <a:p>
            <a:pPr algn="l">
              <a:lnSpc>
                <a:spcPct val="95000"/>
              </a:lnSpc>
              <a:spcBef>
                <a:spcPts val="300"/>
              </a:spcBef>
            </a:pPr>
            <a:r>
              <a:rPr sz="1300" b="0">
                <a:solidFill>
                  <a:srgbClr val="404040"/>
                </a:solidFill>
              </a:rPr>
              <a:t>Dom → Residenz</a:t>
            </a:r>
          </a:p>
          <a:p>
            <a:pPr algn="l">
              <a:lnSpc>
                <a:spcPct val="95000"/>
              </a:lnSpc>
              <a:spcBef>
                <a:spcPts val="300"/>
              </a:spcBef>
            </a:pPr>
            <a:r>
              <a:rPr sz="1300" b="0">
                <a:solidFill>
                  <a:srgbClr val="404040"/>
                </a:solidFill>
              </a:rPr>
              <a:t>  32 Min · Abweichung 0,77 €</a:t>
            </a:r>
          </a:p>
          <a:p>
            <a:pPr algn="l">
              <a:lnSpc>
                <a:spcPct val="95000"/>
              </a:lnSpc>
              <a:spcBef>
                <a:spcPts val="300"/>
              </a:spcBef>
            </a:pPr>
            <a:r>
              <a:rPr sz="1300" b="0">
                <a:solidFill>
                  <a:srgbClr val="404040"/>
                </a:solidFill>
              </a:rPr>
              <a:t>Residenz → Juliuspromenade</a:t>
            </a:r>
          </a:p>
          <a:p>
            <a:pPr algn="l">
              <a:lnSpc>
                <a:spcPct val="95000"/>
              </a:lnSpc>
              <a:spcBef>
                <a:spcPts val="300"/>
              </a:spcBef>
            </a:pPr>
            <a:r>
              <a:rPr sz="1300" b="0">
                <a:solidFill>
                  <a:srgbClr val="404040"/>
                </a:solidFill>
              </a:rPr>
              <a:t>  28 Min · Abweichung 0,78 €</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Je nach Anlass zwanzig oder</a:t>
            </a:r>
          </a:p>
          <a:p>
            <a:pPr algn="l">
              <a:lnSpc>
                <a:spcPct val="95000"/>
              </a:lnSpc>
              <a:spcBef>
                <a:spcPts val="300"/>
              </a:spcBef>
            </a:pPr>
            <a:r>
              <a:rPr sz="1300" b="0">
                <a:solidFill>
                  <a:srgbClr val="404040"/>
                </a:solidFill>
              </a:rPr>
              <a:t>vierzig Minuten unterwegs.</a:t>
            </a:r>
          </a:p>
        </p:txBody>
      </p:sp>
      <p:sp>
        <p:nvSpPr>
          <p:cNvPr id="10" name="Rectangle 9"/>
          <p:cNvSpPr/>
          <p:nvPr/>
        </p:nvSpPr>
        <p:spPr>
          <a:xfrm>
            <a:off x="7096759" y="1651000"/>
            <a:ext cx="552450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6510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Treffsicher</a:t>
            </a:r>
          </a:p>
        </p:txBody>
      </p:sp>
      <p:sp>
        <p:nvSpPr>
          <p:cNvPr id="13" name="TextBox 12"/>
          <p:cNvSpPr txBox="1"/>
          <p:nvPr/>
        </p:nvSpPr>
        <p:spPr>
          <a:xfrm>
            <a:off x="7274559" y="2159000"/>
            <a:ext cx="5194300" cy="1854200"/>
          </a:xfrm>
          <a:prstGeom prst="rect">
            <a:avLst/>
          </a:prstGeom>
          <a:noFill/>
        </p:spPr>
        <p:txBody>
          <a:bodyPr wrap="square" lIns="0" tIns="0" rIns="0" bIns="0">
            <a:spAutoFit/>
          </a:bodyPr>
          <a:lstStyle/>
          <a:p>
            <a:pPr algn="l">
              <a:lnSpc>
                <a:spcPct val="95000"/>
              </a:lnSpc>
            </a:pPr>
            <a:r>
              <a:rPr sz="1400" b="1">
                <a:solidFill>
                  <a:srgbClr val="55801C"/>
                </a:solidFill>
              </a:rPr>
              <a:t>Gefahren, um anzukommen</a:t>
            </a:r>
          </a:p>
          <a:p>
            <a:pPr algn="l">
              <a:lnSpc>
                <a:spcPct val="95000"/>
              </a:lnSpc>
              <a:spcBef>
                <a:spcPts val="300"/>
              </a:spcBef>
            </a:pPr>
            <a:r>
              <a:rPr sz="1300" b="0">
                <a:solidFill>
                  <a:srgbClr val="404040"/>
                </a:solidFill>
              </a:rPr>
              <a:t>Grombühl Klinikum → Sanderau</a:t>
            </a:r>
          </a:p>
          <a:p>
            <a:pPr algn="l">
              <a:lnSpc>
                <a:spcPct val="95000"/>
              </a:lnSpc>
              <a:spcBef>
                <a:spcPts val="300"/>
              </a:spcBef>
            </a:pPr>
            <a:r>
              <a:rPr sz="1300" b="0">
                <a:solidFill>
                  <a:srgbClr val="404040"/>
                </a:solidFill>
              </a:rPr>
              <a:t>  7 Min · Abweichung 0,09 €</a:t>
            </a:r>
          </a:p>
          <a:p>
            <a:pPr algn="l">
              <a:lnSpc>
                <a:spcPct val="95000"/>
              </a:lnSpc>
              <a:spcBef>
                <a:spcPts val="300"/>
              </a:spcBef>
            </a:pPr>
            <a:r>
              <a:rPr sz="1300" b="0">
                <a:solidFill>
                  <a:srgbClr val="404040"/>
                </a:solidFill>
              </a:rPr>
              <a:t>Sanderau → Uni Sanderring</a:t>
            </a:r>
          </a:p>
          <a:p>
            <a:pPr algn="l">
              <a:lnSpc>
                <a:spcPct val="95000"/>
              </a:lnSpc>
              <a:spcBef>
                <a:spcPts val="300"/>
              </a:spcBef>
            </a:pPr>
            <a:r>
              <a:rPr sz="1300" b="0">
                <a:solidFill>
                  <a:srgbClr val="404040"/>
                </a:solidFill>
              </a:rPr>
              <a:t>  7 Min · Abweichung 0,11 €</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Pendelwege, jeden Tag</a:t>
            </a:r>
          </a:p>
          <a:p>
            <a:pPr algn="l">
              <a:lnSpc>
                <a:spcPct val="95000"/>
              </a:lnSpc>
              <a:spcBef>
                <a:spcPts val="300"/>
              </a:spcBef>
            </a:pPr>
            <a:r>
              <a:rPr sz="1300" b="0">
                <a:solidFill>
                  <a:srgbClr val="404040"/>
                </a:solidFill>
              </a:rPr>
              <a:t>ungefähr gleich.</a:t>
            </a:r>
          </a:p>
        </p:txBody>
      </p:sp>
      <p:sp>
        <p:nvSpPr>
          <p:cNvPr id="14" name="Rectangle 13"/>
          <p:cNvSpPr/>
          <p:nvPr/>
        </p:nvSpPr>
        <p:spPr>
          <a:xfrm>
            <a:off x="1153160" y="42672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43434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Das Modell ist genau, wo gefahren wird, um anzukommen — und ungenau, wo gefahren wird, um zu fahren.</a:t>
            </a:r>
          </a:p>
        </p:txBody>
      </p:sp>
      <p:sp>
        <p:nvSpPr>
          <p:cNvPr id="16" name="Rectangle 15"/>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8" name="Rectangle 17"/>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0" name="Rectangle 19"/>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2" name="Rectangle 21"/>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4" name="Rectangle 23"/>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26" name="Rectangle 25"/>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Rücksprung — obwohl das Kriterium hält</a:t>
            </a:r>
          </a:p>
        </p:txBody>
      </p:sp>
      <p:sp>
        <p:nvSpPr>
          <p:cNvPr id="3" name="Text Placeholder 2"/>
          <p:cNvSpPr>
            <a:spLocks noGrp="1"/>
          </p:cNvSpPr>
          <p:nvPr>
            <p:ph type="body" idx="12" sz="quarter"/>
          </p:nvPr>
        </p:nvSpPr>
        <p:spPr/>
        <p:txBody>
          <a:bodyPr/>
          <a:lstStyle/>
          <a:p>
            <a:r>
              <a:t>Phase 5 · Evaluation</a:t>
            </a:r>
          </a:p>
        </p:txBody>
      </p:sp>
      <p:sp>
        <p:nvSpPr>
          <p:cNvPr id="4" name="Text Placeholder 3"/>
          <p:cNvSpPr>
            <a:spLocks noGrp="1"/>
          </p:cNvSpPr>
          <p:nvPr>
            <p:ph type="body" idx="13" sz="quarter"/>
          </p:nvPr>
        </p:nvSpPr>
        <p:spPr/>
        <p:txBody>
          <a:bodyPr/>
          <a:lstStyle/>
          <a:p>
            <a:r>
              <a:t>analytics/notebooks/01_Regression_Fahrtdauer.ipynb · Abschnitt 5</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Für CITY könnten wir jetzt ausliefern. Wir tun es nicht, und zwar aus zwei Gründen, die nichts mit einem gerissenen Kriterium zu tun haben.</a:t>
            </a:r>
          </a:p>
        </p:txBody>
      </p:sp>
      <p:sp>
        <p:nvSpPr>
          <p:cNvPr id="6" name="Rectangle 5"/>
          <p:cNvSpPr/>
          <p:nvPr/>
        </p:nvSpPr>
        <p:spPr>
          <a:xfrm>
            <a:off x="1153160" y="1879600"/>
            <a:ext cx="354584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2489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006600"/>
            <a:ext cx="3215640" cy="2235200"/>
          </a:xfrm>
          <a:prstGeom prst="rect">
            <a:avLst/>
          </a:prstGeom>
          <a:noFill/>
        </p:spPr>
        <p:txBody>
          <a:bodyPr wrap="square" lIns="0" tIns="0" rIns="0" bIns="0">
            <a:spAutoFit/>
          </a:bodyPr>
          <a:lstStyle/>
          <a:p>
            <a:pPr algn="l">
              <a:lnSpc>
                <a:spcPct val="95000"/>
              </a:lnSpc>
            </a:pPr>
            <a:r>
              <a:rPr sz="1500" b="1">
                <a:solidFill>
                  <a:srgbClr val="003E6E"/>
                </a:solidFill>
              </a:rPr>
              <a:t>Ein Mittelwert ist
keine Erfahrung</a:t>
            </a:r>
          </a:p>
          <a:p>
            <a:pPr algn="l">
              <a:lnSpc>
                <a:spcPct val="95000"/>
              </a:lnSpc>
              <a:spcBef>
                <a:spcPts val="500"/>
              </a:spcBef>
            </a:pPr>
            <a:r>
              <a:rPr sz="1300" b="0">
                <a:solidFill>
                  <a:srgbClr val="404040"/>
                </a:solidFill>
              </a:rPr>
              <a:t>0,41 € im Mittel klingt gut.</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Bei rund jeder vierten</a:t>
            </a:r>
          </a:p>
          <a:p>
            <a:pPr algn="l">
              <a:lnSpc>
                <a:spcPct val="95000"/>
              </a:lnSpc>
              <a:spcBef>
                <a:spcPts val="500"/>
              </a:spcBef>
            </a:pPr>
            <a:r>
              <a:rPr sz="1300" b="0">
                <a:solidFill>
                  <a:srgbClr val="404040"/>
                </a:solidFill>
              </a:rPr>
              <a:t>CITY-Fahrt liegt die Anzeige</a:t>
            </a:r>
          </a:p>
          <a:p>
            <a:pPr algn="l">
              <a:lnSpc>
                <a:spcPct val="95000"/>
              </a:lnSpc>
              <a:spcBef>
                <a:spcPts val="500"/>
              </a:spcBef>
            </a:pPr>
            <a:r>
              <a:rPr sz="1300" b="0">
                <a:solidFill>
                  <a:srgbClr val="404040"/>
                </a:solidFill>
              </a:rPr>
              <a:t>aber um mehr als 50 Cent</a:t>
            </a:r>
          </a:p>
          <a:p>
            <a:pPr algn="l">
              <a:lnSpc>
                <a:spcPct val="95000"/>
              </a:lnSpc>
              <a:spcBef>
                <a:spcPts val="500"/>
              </a:spcBef>
            </a:pPr>
            <a:r>
              <a:rPr sz="1300" b="0">
                <a:solidFill>
                  <a:srgbClr val="404040"/>
                </a:solidFill>
              </a:rPr>
              <a:t>daneben. Ein Kunde erlebt</a:t>
            </a:r>
          </a:p>
          <a:p>
            <a:pPr algn="l">
              <a:lnSpc>
                <a:spcPct val="95000"/>
              </a:lnSpc>
              <a:spcBef>
                <a:spcPts val="500"/>
              </a:spcBef>
            </a:pPr>
            <a:r>
              <a:rPr sz="1300" b="0">
                <a:solidFill>
                  <a:srgbClr val="404040"/>
                </a:solidFill>
              </a:rPr>
              <a:t>keinen Mittelwert.</a:t>
            </a:r>
          </a:p>
        </p:txBody>
      </p:sp>
      <p:sp>
        <p:nvSpPr>
          <p:cNvPr id="9" name="Rectangle 8"/>
          <p:cNvSpPr/>
          <p:nvPr/>
        </p:nvSpPr>
        <p:spPr>
          <a:xfrm>
            <a:off x="5113020" y="1879600"/>
            <a:ext cx="354584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879600"/>
            <a:ext cx="50800" cy="2489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006600"/>
            <a:ext cx="3215640" cy="2235200"/>
          </a:xfrm>
          <a:prstGeom prst="rect">
            <a:avLst/>
          </a:prstGeom>
          <a:noFill/>
        </p:spPr>
        <p:txBody>
          <a:bodyPr wrap="square" lIns="0" tIns="0" rIns="0" bIns="0">
            <a:spAutoFit/>
          </a:bodyPr>
          <a:lstStyle/>
          <a:p>
            <a:pPr algn="l">
              <a:lnSpc>
                <a:spcPct val="95000"/>
              </a:lnSpc>
            </a:pPr>
            <a:r>
              <a:rPr sz="1500" b="1">
                <a:solidFill>
                  <a:srgbClr val="003E6E"/>
                </a:solidFill>
              </a:rPr>
              <a:t>Zwei von drei Radtypen
haben kein Produkt</a:t>
            </a:r>
          </a:p>
          <a:p>
            <a:pPr algn="l">
              <a:lnSpc>
                <a:spcPct val="95000"/>
              </a:lnSpc>
              <a:spcBef>
                <a:spcPts val="500"/>
              </a:spcBef>
            </a:pPr>
            <a:r>
              <a:rPr sz="1300" b="0">
                <a:solidFill>
                  <a:srgbClr val="404040"/>
                </a:solidFill>
              </a:rPr>
              <a:t>EBIKE und CARGO reißen die</a:t>
            </a:r>
          </a:p>
          <a:p>
            <a:pPr algn="l">
              <a:lnSpc>
                <a:spcPct val="95000"/>
              </a:lnSpc>
              <a:spcBef>
                <a:spcPts val="500"/>
              </a:spcBef>
            </a:pPr>
            <a:r>
              <a:rPr sz="1300" b="0">
                <a:solidFill>
                  <a:srgbClr val="404040"/>
                </a:solidFill>
              </a:rPr>
              <a:t>Grenze deutlich.</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Eine Lösung nur für das</a:t>
            </a:r>
          </a:p>
          <a:p>
            <a:pPr algn="l">
              <a:lnSpc>
                <a:spcPct val="95000"/>
              </a:lnSpc>
              <a:spcBef>
                <a:spcPts val="500"/>
              </a:spcBef>
            </a:pPr>
            <a:r>
              <a:rPr sz="1300" b="0">
                <a:solidFill>
                  <a:srgbClr val="404040"/>
                </a:solidFill>
              </a:rPr>
              <a:t>billigste Rad beantwortet</a:t>
            </a:r>
          </a:p>
          <a:p>
            <a:pPr algn="l">
              <a:lnSpc>
                <a:spcPct val="95000"/>
              </a:lnSpc>
              <a:spcBef>
                <a:spcPts val="500"/>
              </a:spcBef>
            </a:pPr>
            <a:r>
              <a:rPr sz="1300" b="0">
                <a:solidFill>
                  <a:srgbClr val="404040"/>
                </a:solidFill>
              </a:rPr>
              <a:t>die Geschäftsfrage nicht.</a:t>
            </a:r>
          </a:p>
        </p:txBody>
      </p:sp>
      <p:sp>
        <p:nvSpPr>
          <p:cNvPr id="12" name="Rectangle 11"/>
          <p:cNvSpPr/>
          <p:nvPr/>
        </p:nvSpPr>
        <p:spPr>
          <a:xfrm>
            <a:off x="9081770" y="1879600"/>
            <a:ext cx="354584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879600"/>
            <a:ext cx="50800" cy="2489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006600"/>
            <a:ext cx="3215640" cy="2235200"/>
          </a:xfrm>
          <a:prstGeom prst="rect">
            <a:avLst/>
          </a:prstGeom>
          <a:noFill/>
        </p:spPr>
        <p:txBody>
          <a:bodyPr wrap="square" lIns="0" tIns="0" rIns="0" bIns="0">
            <a:spAutoFit/>
          </a:bodyPr>
          <a:lstStyle/>
          <a:p>
            <a:pPr algn="l">
              <a:lnSpc>
                <a:spcPct val="95000"/>
              </a:lnSpc>
            </a:pPr>
            <a:r>
              <a:rPr sz="1500" b="1">
                <a:solidFill>
                  <a:srgbClr val="003E6E"/>
                </a:solidFill>
              </a:rPr>
              <a:t>Also: die Zusage ändern</a:t>
            </a:r>
          </a:p>
          <a:p>
            <a:pPr algn="l">
              <a:lnSpc>
                <a:spcPct val="95000"/>
              </a:lnSpc>
              <a:spcBef>
                <a:spcPts val="500"/>
              </a:spcBef>
            </a:pPr>
            <a:r>
              <a:rPr sz="1300" b="0">
                <a:solidFill>
                  <a:srgbClr val="404040"/>
                </a:solidFill>
              </a:rPr>
              <a:t>Nicht die Grenze lockern —</a:t>
            </a:r>
          </a:p>
          <a:p>
            <a:pPr algn="l">
              <a:lnSpc>
                <a:spcPct val="95000"/>
              </a:lnSpc>
              <a:spcBef>
                <a:spcPts val="500"/>
              </a:spcBef>
            </a:pPr>
            <a:r>
              <a:rPr sz="1300" b="0">
                <a:solidFill>
                  <a:srgbClr val="404040"/>
                </a:solidFill>
              </a:rPr>
              <a:t>verboten und hier unnötig.</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Nicht das Verfahren tauschen —</a:t>
            </a:r>
          </a:p>
          <a:p>
            <a:pPr algn="l">
              <a:lnSpc>
                <a:spcPct val="95000"/>
              </a:lnSpc>
              <a:spcBef>
                <a:spcPts val="500"/>
              </a:spcBef>
            </a:pPr>
            <a:r>
              <a:rPr sz="1300" b="0">
                <a:solidFill>
                  <a:srgbClr val="404040"/>
                </a:solidFill>
              </a:rPr>
              <a:t>die Ablation zeigt, dass die</a:t>
            </a:r>
          </a:p>
          <a:p>
            <a:pPr algn="l">
              <a:lnSpc>
                <a:spcPct val="95000"/>
              </a:lnSpc>
              <a:spcBef>
                <a:spcPts val="500"/>
              </a:spcBef>
            </a:pPr>
            <a:r>
              <a:rPr sz="1300" b="0">
                <a:solidFill>
                  <a:srgbClr val="404040"/>
                </a:solidFill>
              </a:rPr>
              <a:t>Information fehlt, nicht die</a:t>
            </a:r>
          </a:p>
          <a:p>
            <a:pPr algn="l">
              <a:lnSpc>
                <a:spcPct val="95000"/>
              </a:lnSpc>
              <a:spcBef>
                <a:spcPts val="500"/>
              </a:spcBef>
            </a:pPr>
            <a:r>
              <a:rPr sz="1300" b="0">
                <a:solidFill>
                  <a:srgbClr val="404040"/>
                </a:solidFill>
              </a:rPr>
              <a:t>Rechenkraft.</a:t>
            </a:r>
          </a:p>
        </p:txBody>
      </p:sp>
      <p:sp>
        <p:nvSpPr>
          <p:cNvPr id="15" name="Rectangle 14"/>
          <p:cNvSpPr/>
          <p:nvPr/>
        </p:nvSpPr>
        <p:spPr>
          <a:xfrm>
            <a:off x="1153160" y="5765800"/>
            <a:ext cx="1859491" cy="508000"/>
          </a:xfrm>
          <a:prstGeom prst="rect">
            <a:avLst/>
          </a:prstGeom>
          <a:solidFill>
            <a:srgbClr val="E3DED1"/>
          </a:solidFill>
          <a:ln w="9525">
            <a:solidFill>
              <a:srgbClr val="A326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A32638"/>
                </a:solidFill>
              </a:rPr>
              <a:t>1 Business</a:t>
            </a:r>
          </a:p>
          <a:p>
            <a:pPr algn="ctr">
              <a:lnSpc>
                <a:spcPct val="95000"/>
              </a:lnSpc>
            </a:pPr>
            <a:r>
              <a:rPr sz="1300" b="0">
                <a:solidFill>
                  <a:srgbClr val="A32638"/>
                </a:solidFill>
              </a:rPr>
              <a:t>Understanding</a:t>
            </a:r>
          </a:p>
        </p:txBody>
      </p:sp>
      <p:sp>
        <p:nvSpPr>
          <p:cNvPr id="17" name="Rectangle 1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9" name="Rectangle 18"/>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1" name="Rectangle 20"/>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3" name="Rectangle 22"/>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25" name="Rectangle 24"/>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neue Kriterium — wieder vor der Messung festgelegt</a:t>
            </a:r>
          </a:p>
        </p:txBody>
      </p:sp>
      <p:sp>
        <p:nvSpPr>
          <p:cNvPr id="3" name="Text Placeholder 2"/>
          <p:cNvSpPr>
            <a:spLocks noGrp="1"/>
          </p:cNvSpPr>
          <p:nvPr>
            <p:ph type="body" idx="12" sz="quarter"/>
          </p:nvPr>
        </p:nvSpPr>
        <p:spPr/>
        <p:txBody>
          <a:bodyPr/>
          <a:lstStyle/>
          <a:p>
            <a:r>
              <a:t>Phase 5 · Evaluation</a:t>
            </a:r>
          </a:p>
        </p:txBody>
      </p:sp>
      <p:sp>
        <p:nvSpPr>
          <p:cNvPr id="4" name="Text Placeholder 3"/>
          <p:cNvSpPr>
            <a:spLocks noGrp="1"/>
          </p:cNvSpPr>
          <p:nvPr>
            <p:ph type="body" idx="13" sz="quarter"/>
          </p:nvPr>
        </p:nvSpPr>
        <p:spPr/>
        <p:txBody>
          <a:bodyPr/>
          <a:lstStyle/>
          <a:p>
            <a:r>
              <a:t>analytics/notebooks/01_Regression_Fahrtdauer.ipynb · Abschnitt 5</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Statt einer Zahl eine Spanne. Damit ändert sich nicht die Verfahrensklasse, sondern das, was die App verspricht.</a:t>
            </a:r>
          </a:p>
        </p:txBody>
      </p:sp>
      <p:sp>
        <p:nvSpPr>
          <p:cNvPr id="6" name="Rectangle 5"/>
          <p:cNvSpPr/>
          <p:nvPr/>
        </p:nvSpPr>
        <p:spPr>
          <a:xfrm>
            <a:off x="1153160" y="1651000"/>
            <a:ext cx="22860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
            </a:r>
          </a:p>
        </p:txBody>
      </p:sp>
      <p:sp>
        <p:nvSpPr>
          <p:cNvPr id="7" name="Rectangle 6"/>
          <p:cNvSpPr/>
          <p:nvPr/>
        </p:nvSpPr>
        <p:spPr>
          <a:xfrm>
            <a:off x="3439160" y="1651000"/>
            <a:ext cx="918845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Neues Erfolgskriterium</a:t>
            </a:r>
          </a:p>
        </p:txBody>
      </p:sp>
      <p:sp>
        <p:nvSpPr>
          <p:cNvPr id="8" name="Rectangle 7"/>
          <p:cNvSpPr/>
          <p:nvPr/>
        </p:nvSpPr>
        <p:spPr>
          <a:xfrm>
            <a:off x="1153160" y="2336800"/>
            <a:ext cx="2286000" cy="685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trifft</a:t>
            </a:r>
          </a:p>
        </p:txBody>
      </p:sp>
      <p:sp>
        <p:nvSpPr>
          <p:cNvPr id="9" name="Rectangle 8"/>
          <p:cNvSpPr/>
          <p:nvPr/>
        </p:nvSpPr>
        <p:spPr>
          <a:xfrm>
            <a:off x="3439160" y="2336800"/>
            <a:ext cx="9188450" cy="685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Die angezeigte Spanne enthält den tatsächlichen Preis in mindestens 80 % der Fälle — insgesamt UND je Radtyp</a:t>
            </a:r>
          </a:p>
        </p:txBody>
      </p:sp>
      <p:sp>
        <p:nvSpPr>
          <p:cNvPr id="10" name="Rectangle 9"/>
          <p:cNvSpPr/>
          <p:nvPr/>
        </p:nvSpPr>
        <p:spPr>
          <a:xfrm>
            <a:off x="1153160" y="3022600"/>
            <a:ext cx="2286000" cy="685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nützt</a:t>
            </a:r>
          </a:p>
        </p:txBody>
      </p:sp>
      <p:sp>
        <p:nvSpPr>
          <p:cNvPr id="11" name="Rectangle 10"/>
          <p:cNvSpPr/>
          <p:nvPr/>
        </p:nvSpPr>
        <p:spPr>
          <a:xfrm>
            <a:off x="3439160" y="3022600"/>
            <a:ext cx="9188450" cy="685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Die Spanne ist höchstens 1,00 € breit. Ist sie breiter, zeigt die App gar nichts an</a:t>
            </a:r>
          </a:p>
        </p:txBody>
      </p:sp>
      <p:sp>
        <p:nvSpPr>
          <p:cNvPr id="12" name="Rectangle 11"/>
          <p:cNvSpPr/>
          <p:nvPr/>
        </p:nvSpPr>
        <p:spPr>
          <a:xfrm>
            <a:off x="1153160" y="3708400"/>
            <a:ext cx="2286000" cy="685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gemessen auf</a:t>
            </a:r>
          </a:p>
        </p:txBody>
      </p:sp>
      <p:sp>
        <p:nvSpPr>
          <p:cNvPr id="13" name="Rectangle 12"/>
          <p:cNvSpPr/>
          <p:nvPr/>
        </p:nvSpPr>
        <p:spPr>
          <a:xfrm>
            <a:off x="3439160" y="3708400"/>
            <a:ext cx="9188450" cy="685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Test 2 — dem Zeitraum, den bis hierher nichts berührt hat</a:t>
            </a:r>
          </a:p>
        </p:txBody>
      </p:sp>
      <p:sp>
        <p:nvSpPr>
          <p:cNvPr id="14" name="Rectangle 13"/>
          <p:cNvSpPr/>
          <p:nvPr/>
        </p:nvSpPr>
        <p:spPr>
          <a:xfrm>
            <a:off x="1153160" y="45720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46482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Die zweite Zeile ist die wichtigere. Eine Spanne von 4 bis 12 Euro trifft fast immer — und nützt niemandem. Ohne die Breitenregel wäre das Kriterium wertlos.</a:t>
            </a:r>
          </a:p>
        </p:txBody>
      </p:sp>
      <p:sp>
        <p:nvSpPr>
          <p:cNvPr id="16" name="Rectangle 15"/>
          <p:cNvSpPr/>
          <p:nvPr/>
        </p:nvSpPr>
        <p:spPr>
          <a:xfrm>
            <a:off x="1153160" y="5765800"/>
            <a:ext cx="1859491" cy="508000"/>
          </a:xfrm>
          <a:prstGeom prst="rect">
            <a:avLst/>
          </a:prstGeom>
          <a:solidFill>
            <a:srgbClr val="E3DED1"/>
          </a:solidFill>
          <a:ln w="9525">
            <a:solidFill>
              <a:srgbClr val="A326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A32638"/>
                </a:solidFill>
              </a:rPr>
              <a:t>1 Business</a:t>
            </a:r>
          </a:p>
          <a:p>
            <a:pPr algn="ctr">
              <a:lnSpc>
                <a:spcPct val="95000"/>
              </a:lnSpc>
            </a:pPr>
            <a:r>
              <a:rPr sz="1300" b="0">
                <a:solidFill>
                  <a:srgbClr val="A32638"/>
                </a:solidFill>
              </a:rPr>
              <a:t>Understanding</a:t>
            </a:r>
          </a:p>
        </p:txBody>
      </p:sp>
      <p:sp>
        <p:nvSpPr>
          <p:cNvPr id="18" name="Rectangle 17"/>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0" name="Rectangle 19"/>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2" name="Rectangle 21"/>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4" name="Rectangle 23"/>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26" name="Rectangle 25"/>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Kandidaten für dieselbe Zusage</a:t>
            </a:r>
          </a:p>
        </p:txBody>
      </p:sp>
      <p:sp>
        <p:nvSpPr>
          <p:cNvPr id="3" name="Text Placeholder 2"/>
          <p:cNvSpPr>
            <a:spLocks noGrp="1"/>
          </p:cNvSpPr>
          <p:nvPr>
            <p:ph type="body" idx="12" sz="quarter"/>
          </p:nvPr>
        </p:nvSpPr>
        <p:spPr/>
        <p:txBody>
          <a:bodyPr/>
          <a:lstStyle/>
          <a:p>
            <a:r>
              <a:t>Phase 5 · Evaluation</a:t>
            </a:r>
          </a:p>
        </p:txBody>
      </p:sp>
      <p:sp>
        <p:nvSpPr>
          <p:cNvPr id="4" name="Text Placeholder 3"/>
          <p:cNvSpPr>
            <a:spLocks noGrp="1"/>
          </p:cNvSpPr>
          <p:nvPr>
            <p:ph type="body" idx="13" sz="quarter"/>
          </p:nvPr>
        </p:nvSpPr>
        <p:spPr/>
        <p:txBody>
          <a:bodyPr/>
          <a:lstStyle/>
          <a:p>
            <a:r>
              <a:t>analytics/notebooks/01_Regression_Fahrtdauer.ipynb · Abschnitt 5</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Eine Spanne kann man rechnen lassen oder nachschlagen. Beide Wege werden gebaut und gegen dasselbe Kriterium gehalten.</a:t>
            </a:r>
          </a:p>
        </p:txBody>
      </p:sp>
      <p:sp>
        <p:nvSpPr>
          <p:cNvPr id="6" name="Rectangle 5"/>
          <p:cNvSpPr/>
          <p:nvPr/>
        </p:nvSpPr>
        <p:spPr>
          <a:xfrm>
            <a:off x="1153160" y="1651000"/>
            <a:ext cx="355600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
            </a:r>
          </a:p>
        </p:txBody>
      </p:sp>
      <p:sp>
        <p:nvSpPr>
          <p:cNvPr id="7" name="Rectangle 6"/>
          <p:cNvSpPr/>
          <p:nvPr/>
        </p:nvSpPr>
        <p:spPr>
          <a:xfrm>
            <a:off x="4709160" y="1651000"/>
            <a:ext cx="406400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Quantilregression</a:t>
            </a:r>
          </a:p>
        </p:txBody>
      </p:sp>
      <p:sp>
        <p:nvSpPr>
          <p:cNvPr id="8" name="Rectangle 7"/>
          <p:cNvSpPr/>
          <p:nvPr/>
        </p:nvSpPr>
        <p:spPr>
          <a:xfrm>
            <a:off x="8773160" y="1651000"/>
            <a:ext cx="3854450" cy="406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Perzentiltabelle</a:t>
            </a:r>
          </a:p>
        </p:txBody>
      </p:sp>
      <p:sp>
        <p:nvSpPr>
          <p:cNvPr id="9" name="Rectangle 8"/>
          <p:cNvSpPr/>
          <p:nvPr/>
        </p:nvSpPr>
        <p:spPr>
          <a:xfrm>
            <a:off x="1153160" y="2057400"/>
            <a:ext cx="3556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antwortet bei</a:t>
            </a:r>
          </a:p>
        </p:txBody>
      </p:sp>
      <p:sp>
        <p:nvSpPr>
          <p:cNvPr id="10" name="Rectangle 9"/>
          <p:cNvSpPr/>
          <p:nvPr/>
        </p:nvSpPr>
        <p:spPr>
          <a:xfrm>
            <a:off x="4709160" y="2057400"/>
            <a:ext cx="4064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45,4 % der Anfragen</a:t>
            </a:r>
          </a:p>
        </p:txBody>
      </p:sp>
      <p:sp>
        <p:nvSpPr>
          <p:cNvPr id="11" name="Rectangle 10"/>
          <p:cNvSpPr/>
          <p:nvPr/>
        </p:nvSpPr>
        <p:spPr>
          <a:xfrm>
            <a:off x="8773160" y="2057400"/>
            <a:ext cx="385445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31,0 %</a:t>
            </a:r>
          </a:p>
        </p:txBody>
      </p:sp>
      <p:sp>
        <p:nvSpPr>
          <p:cNvPr id="12" name="Rectangle 11"/>
          <p:cNvSpPr/>
          <p:nvPr/>
        </p:nvSpPr>
        <p:spPr>
          <a:xfrm>
            <a:off x="1153160" y="2463800"/>
            <a:ext cx="3556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Abdeckung (angezeigt)</a:t>
            </a:r>
          </a:p>
        </p:txBody>
      </p:sp>
      <p:sp>
        <p:nvSpPr>
          <p:cNvPr id="13" name="Rectangle 12"/>
          <p:cNvSpPr/>
          <p:nvPr/>
        </p:nvSpPr>
        <p:spPr>
          <a:xfrm>
            <a:off x="4709160" y="2463800"/>
            <a:ext cx="4064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87,5 %</a:t>
            </a:r>
          </a:p>
        </p:txBody>
      </p:sp>
      <p:sp>
        <p:nvSpPr>
          <p:cNvPr id="14" name="Rectangle 13"/>
          <p:cNvSpPr/>
          <p:nvPr/>
        </p:nvSpPr>
        <p:spPr>
          <a:xfrm>
            <a:off x="8773160" y="2463800"/>
            <a:ext cx="385445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83,2 %</a:t>
            </a:r>
          </a:p>
        </p:txBody>
      </p:sp>
      <p:sp>
        <p:nvSpPr>
          <p:cNvPr id="15" name="Rectangle 14"/>
          <p:cNvSpPr/>
          <p:nvPr/>
        </p:nvSpPr>
        <p:spPr>
          <a:xfrm>
            <a:off x="1153160" y="2870200"/>
            <a:ext cx="3556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schlechtester Radtyp</a:t>
            </a:r>
          </a:p>
        </p:txBody>
      </p:sp>
      <p:sp>
        <p:nvSpPr>
          <p:cNvPr id="16" name="Rectangle 15"/>
          <p:cNvSpPr/>
          <p:nvPr/>
        </p:nvSpPr>
        <p:spPr>
          <a:xfrm>
            <a:off x="4709160" y="2870200"/>
            <a:ext cx="4064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86,5 %</a:t>
            </a:r>
          </a:p>
        </p:txBody>
      </p:sp>
      <p:sp>
        <p:nvSpPr>
          <p:cNvPr id="17" name="Rectangle 16"/>
          <p:cNvSpPr/>
          <p:nvPr/>
        </p:nvSpPr>
        <p:spPr>
          <a:xfrm>
            <a:off x="8773160" y="2870200"/>
            <a:ext cx="385445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74,6 % — EBIKE</a:t>
            </a:r>
          </a:p>
        </p:txBody>
      </p:sp>
      <p:sp>
        <p:nvSpPr>
          <p:cNvPr id="18" name="Rectangle 17"/>
          <p:cNvSpPr/>
          <p:nvPr/>
        </p:nvSpPr>
        <p:spPr>
          <a:xfrm>
            <a:off x="1153160" y="3276600"/>
            <a:ext cx="3556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verworfen, weil zu breit</a:t>
            </a:r>
          </a:p>
        </p:txBody>
      </p:sp>
      <p:sp>
        <p:nvSpPr>
          <p:cNvPr id="19" name="Rectangle 18"/>
          <p:cNvSpPr/>
          <p:nvPr/>
        </p:nvSpPr>
        <p:spPr>
          <a:xfrm>
            <a:off x="4709160" y="3276600"/>
            <a:ext cx="406400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54,6 %</a:t>
            </a:r>
          </a:p>
        </p:txBody>
      </p:sp>
      <p:sp>
        <p:nvSpPr>
          <p:cNvPr id="20" name="Rectangle 19"/>
          <p:cNvSpPr/>
          <p:nvPr/>
        </p:nvSpPr>
        <p:spPr>
          <a:xfrm>
            <a:off x="8773160" y="3276600"/>
            <a:ext cx="3854450" cy="406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0 % (per Konstruktion)</a:t>
            </a:r>
          </a:p>
        </p:txBody>
      </p:sp>
      <p:sp>
        <p:nvSpPr>
          <p:cNvPr id="21" name="Rectangle 20"/>
          <p:cNvSpPr/>
          <p:nvPr/>
        </p:nvSpPr>
        <p:spPr>
          <a:xfrm>
            <a:off x="1153160" y="3683000"/>
            <a:ext cx="3556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Kriterium insgesamt</a:t>
            </a:r>
          </a:p>
        </p:txBody>
      </p:sp>
      <p:sp>
        <p:nvSpPr>
          <p:cNvPr id="22" name="Rectangle 21"/>
          <p:cNvSpPr/>
          <p:nvPr/>
        </p:nvSpPr>
        <p:spPr>
          <a:xfrm>
            <a:off x="4709160" y="3683000"/>
            <a:ext cx="406400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erfüllt</a:t>
            </a:r>
          </a:p>
        </p:txBody>
      </p:sp>
      <p:sp>
        <p:nvSpPr>
          <p:cNvPr id="23" name="Rectangle 22"/>
          <p:cNvSpPr/>
          <p:nvPr/>
        </p:nvSpPr>
        <p:spPr>
          <a:xfrm>
            <a:off x="8773160" y="3683000"/>
            <a:ext cx="3854450" cy="406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verfehlt</a:t>
            </a:r>
          </a:p>
        </p:txBody>
      </p:sp>
      <p:sp>
        <p:nvSpPr>
          <p:cNvPr id="24" name="Rectangle 23"/>
          <p:cNvSpPr/>
          <p:nvPr/>
        </p:nvSpPr>
        <p:spPr>
          <a:xfrm>
            <a:off x="1153160" y="42672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56360" y="43434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Gemessen am eigenen Kriterium ist die Quantilregression der bessere Kandidat. Das gehört so gesagt — auch wenn die Entscheidung gleich anders ausfällt.</a:t>
            </a:r>
          </a:p>
        </p:txBody>
      </p:sp>
      <p:sp>
        <p:nvSpPr>
          <p:cNvPr id="26" name="Rectangle 25"/>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8" name="Rectangle 27"/>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30" name="Rectangle 29"/>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32" name="Rectangle 31"/>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34" name="Rectangle 33"/>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36" name="Rectangle 35"/>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Kandidatenvergleich, wie er im Notebook steht</a:t>
            </a:r>
          </a:p>
        </p:txBody>
      </p:sp>
      <p:sp>
        <p:nvSpPr>
          <p:cNvPr id="3" name="Text Placeholder 2"/>
          <p:cNvSpPr>
            <a:spLocks noGrp="1"/>
          </p:cNvSpPr>
          <p:nvPr>
            <p:ph type="body" idx="12" sz="quarter"/>
          </p:nvPr>
        </p:nvSpPr>
        <p:spPr/>
        <p:txBody>
          <a:bodyPr/>
          <a:lstStyle/>
          <a:p>
            <a:r>
              <a:t>Phase 5 · im Notebook</a:t>
            </a:r>
          </a:p>
        </p:txBody>
      </p:sp>
      <p:sp>
        <p:nvSpPr>
          <p:cNvPr id="4" name="Text Placeholder 3"/>
          <p:cNvSpPr>
            <a:spLocks noGrp="1"/>
          </p:cNvSpPr>
          <p:nvPr>
            <p:ph type="body" idx="13" sz="quarter"/>
          </p:nvPr>
        </p:nvSpPr>
        <p:spPr/>
        <p:txBody>
          <a:bodyPr/>
          <a:lstStyle/>
          <a:p>
            <a:r>
              <a:t>analytics/notebooks/01_Regression_Fahrtdauer.ipynb · Abschnitt 5.6</a:t>
            </a:r>
          </a:p>
        </p:txBody>
      </p:sp>
      <p:sp>
        <p:nvSpPr>
          <p:cNvPr id="5" name="Rectangle 4"/>
          <p:cNvSpPr/>
          <p:nvPr/>
        </p:nvSpPr>
        <p:spPr>
          <a:xfrm>
            <a:off x="1051560" y="2373199"/>
            <a:ext cx="11677650" cy="1781401"/>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1-kandidaten.png"/>
          <p:cNvPicPr>
            <a:picLocks noChangeAspect="1"/>
          </p:cNvPicPr>
          <p:nvPr/>
        </p:nvPicPr>
        <p:blipFill>
          <a:blip r:embed="rId2"/>
          <a:stretch>
            <a:fillRect/>
          </a:stretch>
        </p:blipFill>
        <p:spPr>
          <a:xfrm>
            <a:off x="1153160" y="2474799"/>
            <a:ext cx="11474450" cy="1578201"/>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Hätte man nur die Dauerabdeckung gemessen, sähen beide gut aus. Erst die vollständige Prüfung — Preis, je Radtyp, Breite — trennt sie.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trotzdem die Tabelle ausgeliefert wird</a:t>
            </a:r>
          </a:p>
        </p:txBody>
      </p:sp>
      <p:sp>
        <p:nvSpPr>
          <p:cNvPr id="3" name="Text Placeholder 2"/>
          <p:cNvSpPr>
            <a:spLocks noGrp="1"/>
          </p:cNvSpPr>
          <p:nvPr>
            <p:ph type="body" idx="12" sz="quarter"/>
          </p:nvPr>
        </p:nvSpPr>
        <p:spPr/>
        <p:txBody>
          <a:bodyPr/>
          <a:lstStyle/>
          <a:p>
            <a:r>
              <a:t>Phase 5 · Evaluation</a:t>
            </a:r>
          </a:p>
        </p:txBody>
      </p:sp>
      <p:sp>
        <p:nvSpPr>
          <p:cNvPr id="4" name="Text Placeholder 3"/>
          <p:cNvSpPr>
            <a:spLocks noGrp="1"/>
          </p:cNvSpPr>
          <p:nvPr>
            <p:ph type="body" idx="13" sz="quarter"/>
          </p:nvPr>
        </p:nvSpPr>
        <p:spPr/>
        <p:txBody>
          <a:bodyPr/>
          <a:lstStyle/>
          <a:p>
            <a:r>
              <a:t>analytics/notebooks/01_Regression_Fahrtdauer.ipynb · Abschnitt 5</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Nicht wegen der Güte — die spricht für das Modell. Sondern weil die App eine statische Seite ohne Python ist.</a:t>
            </a:r>
          </a:p>
        </p:txBody>
      </p:sp>
      <p:sp>
        <p:nvSpPr>
          <p:cNvPr id="6" name="Rectangle 5"/>
          <p:cNvSpPr/>
          <p:nvPr/>
        </p:nvSpPr>
        <p:spPr>
          <a:xfrm>
            <a:off x="1153160" y="1651000"/>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Quantilregression</a:t>
            </a:r>
          </a:p>
        </p:txBody>
      </p:sp>
      <p:sp>
        <p:nvSpPr>
          <p:cNvPr id="9" name="TextBox 8"/>
          <p:cNvSpPr txBox="1"/>
          <p:nvPr/>
        </p:nvSpPr>
        <p:spPr>
          <a:xfrm>
            <a:off x="1330960" y="2159000"/>
            <a:ext cx="5194300" cy="1905000"/>
          </a:xfrm>
          <a:prstGeom prst="rect">
            <a:avLst/>
          </a:prstGeom>
          <a:noFill/>
        </p:spPr>
        <p:txBody>
          <a:bodyPr wrap="square" lIns="0" tIns="0" rIns="0" bIns="0">
            <a:spAutoFit/>
          </a:bodyPr>
          <a:lstStyle/>
          <a:p>
            <a:pPr algn="l">
              <a:lnSpc>
                <a:spcPct val="95000"/>
              </a:lnSpc>
            </a:pPr>
            <a:r>
              <a:rPr sz="1400" b="1">
                <a:solidFill>
                  <a:srgbClr val="A32638"/>
                </a:solidFill>
              </a:rPr>
              <a:t>Was für sie spricht</a:t>
            </a:r>
          </a:p>
          <a:p>
            <a:pPr algn="l">
              <a:lnSpc>
                <a:spcPct val="95000"/>
              </a:lnSpc>
              <a:spcBef>
                <a:spcPts val="300"/>
              </a:spcBef>
            </a:pPr>
            <a:r>
              <a:rPr sz="1300" b="0">
                <a:solidFill>
                  <a:srgbClr val="404040"/>
                </a:solidFill>
              </a:rPr>
              <a:t>trifft häufiger und antwortet öfter</a:t>
            </a:r>
          </a:p>
          <a:p>
            <a:pPr algn="l">
              <a:lnSpc>
                <a:spcPct val="95000"/>
              </a:lnSpc>
              <a:spcBef>
                <a:spcPts val="300"/>
              </a:spcBef>
            </a:pPr>
            <a:r>
              <a:rPr sz="1300" b="0">
                <a:solidFill>
                  <a:srgbClr val="404040"/>
                </a:solidFill>
              </a:rPr>
              <a:t>kann eine neue Verbindung</a:t>
            </a:r>
          </a:p>
          <a:p>
            <a:pPr algn="l">
              <a:lnSpc>
                <a:spcPct val="95000"/>
              </a:lnSpc>
              <a:spcBef>
                <a:spcPts val="300"/>
              </a:spcBef>
            </a:pPr>
            <a:r>
              <a:rPr sz="1300" b="0">
                <a:solidFill>
                  <a:srgbClr val="404040"/>
                </a:solidFill>
              </a:rPr>
              <a:t>  einschätzen</a:t>
            </a:r>
          </a:p>
          <a:p>
            <a:pPr algn="l">
              <a:lnSpc>
                <a:spcPct val="95000"/>
              </a:lnSpc>
              <a:spcBef>
                <a:spcPts val="300"/>
              </a:spcBef>
            </a:pPr>
            <a:r>
              <a:rPr sz="1300" b="0">
                <a:solidFill>
                  <a:srgbClr val="404040"/>
                </a:solidFill>
              </a:rPr>
              <a:t>berücksichtigt Wochentag</a:t>
            </a:r>
          </a:p>
          <a:p>
            <a:pPr algn="l">
              <a:lnSpc>
                <a:spcPct val="95000"/>
              </a:lnSpc>
              <a:spcBef>
                <a:spcPts val="300"/>
              </a:spcBef>
            </a:pPr>
            <a:r>
              <a:rPr sz="1300" b="0">
                <a:solidFill>
                  <a:srgbClr val="404040"/>
                </a:solidFill>
              </a:rPr>
              <a:t>  und Saison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Braucht aber Python im Betrieb.</a:t>
            </a:r>
          </a:p>
        </p:txBody>
      </p:sp>
      <p:sp>
        <p:nvSpPr>
          <p:cNvPr id="10" name="Rectangle 9"/>
          <p:cNvSpPr/>
          <p:nvPr/>
        </p:nvSpPr>
        <p:spPr>
          <a:xfrm>
            <a:off x="7096759" y="1651000"/>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6510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Perzentiltabelle</a:t>
            </a:r>
          </a:p>
        </p:txBody>
      </p:sp>
      <p:sp>
        <p:nvSpPr>
          <p:cNvPr id="13" name="TextBox 12"/>
          <p:cNvSpPr txBox="1"/>
          <p:nvPr/>
        </p:nvSpPr>
        <p:spPr>
          <a:xfrm>
            <a:off x="7274559" y="2159000"/>
            <a:ext cx="5194300" cy="1905000"/>
          </a:xfrm>
          <a:prstGeom prst="rect">
            <a:avLst/>
          </a:prstGeom>
          <a:noFill/>
        </p:spPr>
        <p:txBody>
          <a:bodyPr wrap="square" lIns="0" tIns="0" rIns="0" bIns="0">
            <a:spAutoFit/>
          </a:bodyPr>
          <a:lstStyle/>
          <a:p>
            <a:pPr algn="l">
              <a:lnSpc>
                <a:spcPct val="95000"/>
              </a:lnSpc>
            </a:pPr>
            <a:r>
              <a:rPr sz="1400" b="1">
                <a:solidFill>
                  <a:srgbClr val="55801C"/>
                </a:solidFill>
              </a:rPr>
              <a:t>Was für sie spricht</a:t>
            </a:r>
          </a:p>
          <a:p>
            <a:pPr algn="l">
              <a:lnSpc>
                <a:spcPct val="95000"/>
              </a:lnSpc>
              <a:spcBef>
                <a:spcPts val="300"/>
              </a:spcBef>
            </a:pPr>
            <a:r>
              <a:rPr sz="1300" b="0">
                <a:solidFill>
                  <a:srgbClr val="404040"/>
                </a:solidFill>
              </a:rPr>
              <a:t>läuft ohne Python — 136 Zeilen</a:t>
            </a:r>
          </a:p>
          <a:p>
            <a:pPr algn="l">
              <a:lnSpc>
                <a:spcPct val="95000"/>
              </a:lnSpc>
              <a:spcBef>
                <a:spcPts val="300"/>
              </a:spcBef>
            </a:pPr>
            <a:r>
              <a:rPr sz="1300" b="0">
                <a:solidFill>
                  <a:srgbClr val="404040"/>
                </a:solidFill>
              </a:rPr>
              <a:t>  in der Datenbank</a:t>
            </a:r>
          </a:p>
          <a:p>
            <a:pPr algn="l">
              <a:lnSpc>
                <a:spcPct val="95000"/>
              </a:lnSpc>
              <a:spcBef>
                <a:spcPts val="300"/>
              </a:spcBef>
            </a:pPr>
            <a:r>
              <a:rPr sz="1300" b="0">
                <a:solidFill>
                  <a:srgbClr val="404040"/>
                </a:solidFill>
              </a:rPr>
              <a:t>ist von Hand nachprüfbar</a:t>
            </a:r>
          </a:p>
          <a:p>
            <a:pPr algn="l">
              <a:lnSpc>
                <a:spcPct val="95000"/>
              </a:lnSpc>
              <a:spcBef>
                <a:spcPts val="300"/>
              </a:spcBef>
            </a:pPr>
            <a:r>
              <a:rPr sz="1300" b="0">
                <a:solidFill>
                  <a:srgbClr val="404040"/>
                </a:solidFill>
              </a:rPr>
              <a:t>wer Ortskenntnis hat, kann</a:t>
            </a:r>
          </a:p>
          <a:p>
            <a:pPr algn="l">
              <a:lnSpc>
                <a:spcPct val="95000"/>
              </a:lnSpc>
              <a:spcBef>
                <a:spcPts val="300"/>
              </a:spcBef>
            </a:pPr>
            <a:r>
              <a:rPr sz="1300" b="0">
                <a:solidFill>
                  <a:srgbClr val="404040"/>
                </a:solidFill>
              </a:rPr>
              <a:t>  widersprechen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Antwortet dafür seltener.</a:t>
            </a:r>
          </a:p>
        </p:txBody>
      </p:sp>
      <p:sp>
        <p:nvSpPr>
          <p:cNvPr id="14" name="Rectangle 13"/>
          <p:cNvSpPr/>
          <p:nvPr/>
        </p:nvSpPr>
        <p:spPr>
          <a:xfrm>
            <a:off x="1153160" y="43180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56360" y="43942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Wir liefern den schwächeren Kandidaten aus, weil der stärkere nicht dorthin passt, wo er laufen müsste. Der dritte Weg — die Modellvorhersagen vorab tabellieren — steht als offene Entscheidung im Notebook.</a:t>
            </a:r>
          </a:p>
        </p:txBody>
      </p:sp>
      <p:sp>
        <p:nvSpPr>
          <p:cNvPr id="16" name="Rectangle 15"/>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8" name="Rectangle 17"/>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0" name="Rectangle 19"/>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2" name="Rectangle 21"/>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4" name="Rectangle 23"/>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26" name="Rectangle 25"/>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Datensatz zum Artefakt — durch Streichen</a:t>
            </a:r>
          </a:p>
        </p:txBody>
      </p:sp>
      <p:sp>
        <p:nvSpPr>
          <p:cNvPr id="3" name="Text Placeholder 2"/>
          <p:cNvSpPr>
            <a:spLocks noGrp="1"/>
          </p:cNvSpPr>
          <p:nvPr>
            <p:ph type="body" idx="12" sz="quarter"/>
          </p:nvPr>
        </p:nvSpPr>
        <p:spPr/>
        <p:txBody>
          <a:bodyPr/>
          <a:lstStyle/>
          <a:p>
            <a:r>
              <a:t>Phase 6 · Deployment</a:t>
            </a:r>
          </a:p>
        </p:txBody>
      </p:sp>
      <p:sp>
        <p:nvSpPr>
          <p:cNvPr id="4" name="Text Placeholder 3"/>
          <p:cNvSpPr>
            <a:spLocks noGrp="1"/>
          </p:cNvSpPr>
          <p:nvPr>
            <p:ph type="body" idx="13" sz="quarter"/>
          </p:nvPr>
        </p:nvSpPr>
        <p:spPr/>
        <p:txBody>
          <a:bodyPr/>
          <a:lstStyle/>
          <a:p>
            <a:r>
              <a:t>analytics/notebooks/01_Regression_Fahrtdauer.ipynb · Abschnitt 6.1 bis 6.3</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Drei Filter stehen zwischen 60.425 Rohzeilen und 136 Tabellenzeilen. Jeder von ihnen erzeugt Schweigen, wo keine Auskunft trägt.</a:t>
            </a:r>
          </a:p>
        </p:txBody>
      </p:sp>
      <p:sp>
        <p:nvSpPr>
          <p:cNvPr id="6" name="Rectangle 5"/>
          <p:cNvSpPr/>
          <p:nvPr/>
        </p:nvSpPr>
        <p:spPr>
          <a:xfrm>
            <a:off x="1051560" y="2745628"/>
            <a:ext cx="11677650" cy="2408143"/>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nb1-artefakt.png"/>
          <p:cNvPicPr>
            <a:picLocks noChangeAspect="1"/>
          </p:cNvPicPr>
          <p:nvPr/>
        </p:nvPicPr>
        <p:blipFill>
          <a:blip r:embed="rId2"/>
          <a:stretch>
            <a:fillRect/>
          </a:stretch>
        </p:blipFill>
        <p:spPr>
          <a:xfrm>
            <a:off x="1153160" y="2847228"/>
            <a:ext cx="11474450" cy="2204943"/>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Freigabe steckt in der Tabelle</a:t>
            </a:r>
          </a:p>
        </p:txBody>
      </p:sp>
      <p:sp>
        <p:nvSpPr>
          <p:cNvPr id="3" name="Text Placeholder 2"/>
          <p:cNvSpPr>
            <a:spLocks noGrp="1"/>
          </p:cNvSpPr>
          <p:nvPr>
            <p:ph type="body" idx="12" sz="quarter"/>
          </p:nvPr>
        </p:nvSpPr>
        <p:spPr/>
        <p:txBody>
          <a:bodyPr/>
          <a:lstStyle/>
          <a:p>
            <a:r>
              <a:t>Phase 6 · Deployment</a:t>
            </a:r>
          </a:p>
        </p:txBody>
      </p:sp>
      <p:sp>
        <p:nvSpPr>
          <p:cNvPr id="4" name="Text Placeholder 3"/>
          <p:cNvSpPr>
            <a:spLocks noGrp="1"/>
          </p:cNvSpPr>
          <p:nvPr>
            <p:ph type="body" idx="13" sz="quarter"/>
          </p:nvPr>
        </p:nvSpPr>
        <p:spPr/>
        <p:txBody>
          <a:bodyPr/>
          <a:lstStyle/>
          <a:p>
            <a:r>
              <a:t>analytics/notebooks/01_Regression_Fahrtdauer.ipynb · Abschnitt 6</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Nicht in einer Aktennotiz und nicht in einer Bedingung im Anwendungscode: Was nicht trägt, hat keine Zeile.</a:t>
            </a:r>
          </a:p>
        </p:txBody>
      </p:sp>
      <p:sp>
        <p:nvSpPr>
          <p:cNvPr id="6" name="TextBox 5"/>
          <p:cNvSpPr txBox="1"/>
          <p:nvPr/>
        </p:nvSpPr>
        <p:spPr>
          <a:xfrm>
            <a:off x="5521960" y="1651000"/>
            <a:ext cx="1168400" cy="304800"/>
          </a:xfrm>
          <a:prstGeom prst="rect">
            <a:avLst/>
          </a:prstGeom>
          <a:noFill/>
        </p:spPr>
        <p:txBody>
          <a:bodyPr wrap="square" lIns="0" tIns="0" rIns="0" bIns="0">
            <a:spAutoFit/>
          </a:bodyPr>
          <a:lstStyle/>
          <a:p>
            <a:pPr algn="ctr">
              <a:lnSpc>
                <a:spcPct val="95000"/>
              </a:lnSpc>
            </a:pPr>
            <a:r>
              <a:rPr sz="1300" b="1">
                <a:solidFill>
                  <a:srgbClr val="555148"/>
                </a:solidFill>
              </a:rPr>
              <a:t>80 %</a:t>
            </a:r>
          </a:p>
        </p:txBody>
      </p:sp>
      <p:sp>
        <p:nvSpPr>
          <p:cNvPr id="7" name="Rectangle 6"/>
          <p:cNvSpPr/>
          <p:nvPr/>
        </p:nvSpPr>
        <p:spPr>
          <a:xfrm>
            <a:off x="1153160" y="1981200"/>
            <a:ext cx="1147445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153160" y="19812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6360" y="2044700"/>
            <a:ext cx="3937000" cy="482600"/>
          </a:xfrm>
          <a:prstGeom prst="rect">
            <a:avLst/>
          </a:prstGeom>
          <a:noFill/>
        </p:spPr>
        <p:txBody>
          <a:bodyPr wrap="square" lIns="0" tIns="0" rIns="0" bIns="0" anchor="ctr">
            <a:spAutoFit/>
          </a:bodyPr>
          <a:lstStyle/>
          <a:p>
            <a:pPr algn="l">
              <a:lnSpc>
                <a:spcPct val="95000"/>
              </a:lnSpc>
            </a:pPr>
            <a:r>
              <a:rPr sz="1300" b="1">
                <a:solidFill>
                  <a:srgbClr val="003E6E"/>
                </a:solidFill>
              </a:rPr>
              <a:t>CITY — 84,0 % auf Test 2</a:t>
            </a:r>
          </a:p>
        </p:txBody>
      </p:sp>
      <p:sp>
        <p:nvSpPr>
          <p:cNvPr id="10" name="Rounded Rectangle 9"/>
          <p:cNvSpPr/>
          <p:nvPr/>
        </p:nvSpPr>
        <p:spPr>
          <a:xfrm>
            <a:off x="5521960" y="2108200"/>
            <a:ext cx="1168400" cy="355600"/>
          </a:xfrm>
          <a:prstGeom prst="round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1" name="TextBox 10"/>
          <p:cNvSpPr txBox="1"/>
          <p:nvPr/>
        </p:nvSpPr>
        <p:spPr>
          <a:xfrm>
            <a:off x="6893559" y="2044700"/>
            <a:ext cx="5607050" cy="482600"/>
          </a:xfrm>
          <a:prstGeom prst="rect">
            <a:avLst/>
          </a:prstGeom>
          <a:noFill/>
        </p:spPr>
        <p:txBody>
          <a:bodyPr wrap="square" lIns="0" tIns="0" rIns="0" bIns="0" anchor="ctr">
            <a:spAutoFit/>
          </a:bodyPr>
          <a:lstStyle/>
          <a:p>
            <a:pPr algn="l">
              <a:lnSpc>
                <a:spcPct val="95000"/>
              </a:lnSpc>
            </a:pPr>
            <a:r>
              <a:rPr sz="1300" b="0">
                <a:solidFill>
                  <a:srgbClr val="555148"/>
                </a:solidFill>
              </a:rPr>
              <a:t>1.408 Prüffahrten. Freigegeben</a:t>
            </a:r>
          </a:p>
        </p:txBody>
      </p:sp>
      <p:sp>
        <p:nvSpPr>
          <p:cNvPr id="12" name="Rectangle 11"/>
          <p:cNvSpPr/>
          <p:nvPr/>
        </p:nvSpPr>
        <p:spPr>
          <a:xfrm>
            <a:off x="1153160" y="2692400"/>
            <a:ext cx="1147445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53160" y="26924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56360" y="2755900"/>
            <a:ext cx="3937000" cy="482600"/>
          </a:xfrm>
          <a:prstGeom prst="rect">
            <a:avLst/>
          </a:prstGeom>
          <a:noFill/>
        </p:spPr>
        <p:txBody>
          <a:bodyPr wrap="square" lIns="0" tIns="0" rIns="0" bIns="0" anchor="ctr">
            <a:spAutoFit/>
          </a:bodyPr>
          <a:lstStyle/>
          <a:p>
            <a:pPr algn="l">
              <a:lnSpc>
                <a:spcPct val="95000"/>
              </a:lnSpc>
            </a:pPr>
            <a:r>
              <a:rPr sz="1300" b="1">
                <a:solidFill>
                  <a:srgbClr val="003E6E"/>
                </a:solidFill>
              </a:rPr>
              <a:t>EBIKE — 74,6 % auf Test 2</a:t>
            </a:r>
          </a:p>
        </p:txBody>
      </p:sp>
      <p:sp>
        <p:nvSpPr>
          <p:cNvPr id="15" name="Rounded Rectangle 14"/>
          <p:cNvSpPr/>
          <p:nvPr/>
        </p:nvSpPr>
        <p:spPr>
          <a:xfrm>
            <a:off x="5521960" y="2819400"/>
            <a:ext cx="11684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16" name="TextBox 15"/>
          <p:cNvSpPr txBox="1"/>
          <p:nvPr/>
        </p:nvSpPr>
        <p:spPr>
          <a:xfrm>
            <a:off x="6893559" y="2755900"/>
            <a:ext cx="5607050" cy="482600"/>
          </a:xfrm>
          <a:prstGeom prst="rect">
            <a:avLst/>
          </a:prstGeom>
          <a:noFill/>
        </p:spPr>
        <p:txBody>
          <a:bodyPr wrap="square" lIns="0" tIns="0" rIns="0" bIns="0" anchor="ctr">
            <a:spAutoFit/>
          </a:bodyPr>
          <a:lstStyle/>
          <a:p>
            <a:pPr algn="l">
              <a:lnSpc>
                <a:spcPct val="95000"/>
              </a:lnSpc>
            </a:pPr>
            <a:r>
              <a:rPr sz="1300" b="0">
                <a:solidFill>
                  <a:srgbClr val="555148"/>
                </a:solidFill>
              </a:rPr>
              <a:t>nur 134 Prüffahrten. Keine Zeile in der Tabelle</a:t>
            </a:r>
          </a:p>
        </p:txBody>
      </p:sp>
      <p:sp>
        <p:nvSpPr>
          <p:cNvPr id="17" name="Rectangle 16"/>
          <p:cNvSpPr/>
          <p:nvPr/>
        </p:nvSpPr>
        <p:spPr>
          <a:xfrm>
            <a:off x="1153160" y="3403600"/>
            <a:ext cx="1147445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53160" y="34036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356360" y="3467100"/>
            <a:ext cx="3937000" cy="482600"/>
          </a:xfrm>
          <a:prstGeom prst="rect">
            <a:avLst/>
          </a:prstGeom>
          <a:noFill/>
        </p:spPr>
        <p:txBody>
          <a:bodyPr wrap="square" lIns="0" tIns="0" rIns="0" bIns="0" anchor="ctr">
            <a:spAutoFit/>
          </a:bodyPr>
          <a:lstStyle/>
          <a:p>
            <a:pPr algn="l">
              <a:lnSpc>
                <a:spcPct val="95000"/>
              </a:lnSpc>
            </a:pPr>
            <a:r>
              <a:rPr sz="1300" b="1">
                <a:solidFill>
                  <a:srgbClr val="003E6E"/>
                </a:solidFill>
              </a:rPr>
              <a:t>CARGO — keine Kombination erreicht 30 Fahrten</a:t>
            </a:r>
          </a:p>
        </p:txBody>
      </p:sp>
      <p:sp>
        <p:nvSpPr>
          <p:cNvPr id="20" name="Rounded Rectangle 19"/>
          <p:cNvSpPr/>
          <p:nvPr/>
        </p:nvSpPr>
        <p:spPr>
          <a:xfrm>
            <a:off x="5521960" y="3530600"/>
            <a:ext cx="1168400" cy="355600"/>
          </a:xfrm>
          <a:prstGeom prst="round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600" b="1">
                <a:solidFill>
                  <a:srgbClr val="FFFFFF"/>
                </a:solidFill>
              </a:rPr>
              <a:t>×</a:t>
            </a:r>
          </a:p>
        </p:txBody>
      </p:sp>
      <p:sp>
        <p:nvSpPr>
          <p:cNvPr id="21" name="TextBox 20"/>
          <p:cNvSpPr txBox="1"/>
          <p:nvPr/>
        </p:nvSpPr>
        <p:spPr>
          <a:xfrm>
            <a:off x="6893559" y="3467100"/>
            <a:ext cx="5607050" cy="482600"/>
          </a:xfrm>
          <a:prstGeom prst="rect">
            <a:avLst/>
          </a:prstGeom>
          <a:noFill/>
        </p:spPr>
        <p:txBody>
          <a:bodyPr wrap="square" lIns="0" tIns="0" rIns="0" bIns="0" anchor="ctr">
            <a:spAutoFit/>
          </a:bodyPr>
          <a:lstStyle/>
          <a:p>
            <a:pPr algn="l">
              <a:lnSpc>
                <a:spcPct val="95000"/>
              </a:lnSpc>
            </a:pPr>
            <a:r>
              <a:rPr sz="1300" b="0">
                <a:solidFill>
                  <a:srgbClr val="555148"/>
                </a:solidFill>
              </a:rPr>
              <a:t>scheitert schon an der Datengrundlage</a:t>
            </a:r>
          </a:p>
        </p:txBody>
      </p:sp>
      <p:sp>
        <p:nvSpPr>
          <p:cNvPr id="22" name="Rectangle 21"/>
          <p:cNvSpPr/>
          <p:nvPr/>
        </p:nvSpPr>
        <p:spPr>
          <a:xfrm>
            <a:off x="1153160" y="4191000"/>
            <a:ext cx="11474450" cy="1346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53160" y="4191000"/>
            <a:ext cx="50800" cy="1346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356360" y="4318000"/>
            <a:ext cx="11093450" cy="1092200"/>
          </a:xfrm>
          <a:prstGeom prst="rect">
            <a:avLst/>
          </a:prstGeom>
          <a:noFill/>
        </p:spPr>
        <p:txBody>
          <a:bodyPr wrap="square" lIns="0" tIns="0" rIns="0" bIns="0">
            <a:spAutoFit/>
          </a:bodyPr>
          <a:lstStyle/>
          <a:p>
            <a:pPr algn="l">
              <a:lnSpc>
                <a:spcPct val="95000"/>
              </a:lnSpc>
            </a:pPr>
            <a:r>
              <a:rPr sz="1500" b="1">
                <a:solidFill>
                  <a:srgbClr val="003E6E"/>
                </a:solidFill>
              </a:rPr>
              <a:t>Und eine Ebene tiefer, je Kombination</a:t>
            </a:r>
          </a:p>
          <a:p>
            <a:pPr algn="l">
              <a:lnSpc>
                <a:spcPct val="95000"/>
              </a:lnSpc>
              <a:spcBef>
                <a:spcPts val="500"/>
              </a:spcBef>
            </a:pPr>
            <a:r>
              <a:rPr sz="1300" b="0">
                <a:solidFill>
                  <a:srgbClr val="404040"/>
                </a:solidFill>
              </a:rPr>
              <a:t>14 Kombinationen haben mindestens 20 Prüffahrten — 11 davon halten die 80 %, 3 nicht. Diese drei werden ausgeschlossen.</a:t>
            </a:r>
          </a:p>
          <a:p>
            <a:pPr algn="l">
              <a:lnSpc>
                <a:spcPct val="95000"/>
              </a:lnSpc>
              <a:spcBef>
                <a:spcPts val="500"/>
              </a:spcBef>
            </a:pPr>
            <a:r>
              <a:rPr sz="1300" b="0">
                <a:solidFill>
                  <a:srgbClr val="404040"/>
                </a:solidFill>
              </a:rPr>
              <a:t>140 Kombinationen haben weniger (im Median 7). Für sie lässt sich einzeln nichts Belastbares sagen — sie bleiben drin, aber die Zusage gilt nur insgesamt und je Radtyp.</a:t>
            </a:r>
          </a:p>
        </p:txBody>
      </p:sp>
      <p:sp>
        <p:nvSpPr>
          <p:cNvPr id="25" name="Rectangle 24"/>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7" name="Rectangle 2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9" name="Rectangle 28"/>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31" name="Rectangle 30"/>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33" name="Rectangle 32"/>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5" name="Rectangle 34"/>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ausgelieferte Artefakt, Zeile für Zeile</a:t>
            </a:r>
          </a:p>
        </p:txBody>
      </p:sp>
      <p:sp>
        <p:nvSpPr>
          <p:cNvPr id="3" name="Text Placeholder 2"/>
          <p:cNvSpPr>
            <a:spLocks noGrp="1"/>
          </p:cNvSpPr>
          <p:nvPr>
            <p:ph type="body" idx="12" sz="quarter"/>
          </p:nvPr>
        </p:nvSpPr>
        <p:spPr/>
        <p:txBody>
          <a:bodyPr/>
          <a:lstStyle/>
          <a:p>
            <a:r>
              <a:t>Phase 6 · im Notebook</a:t>
            </a:r>
          </a:p>
        </p:txBody>
      </p:sp>
      <p:sp>
        <p:nvSpPr>
          <p:cNvPr id="4" name="Text Placeholder 3"/>
          <p:cNvSpPr>
            <a:spLocks noGrp="1"/>
          </p:cNvSpPr>
          <p:nvPr>
            <p:ph type="body" idx="13" sz="quarter"/>
          </p:nvPr>
        </p:nvSpPr>
        <p:spPr/>
        <p:txBody>
          <a:bodyPr/>
          <a:lstStyle/>
          <a:p>
            <a:r>
              <a:t>analytics/notebooks/01_Regression_Fahrtdauer.ipynb · Abschnitt 6.3</a:t>
            </a:r>
          </a:p>
        </p:txBody>
      </p:sp>
      <p:sp>
        <p:nvSpPr>
          <p:cNvPr id="5" name="Rectangle 4"/>
          <p:cNvSpPr/>
          <p:nvPr/>
        </p:nvSpPr>
        <p:spPr>
          <a:xfrm>
            <a:off x="1229476" y="1168400"/>
            <a:ext cx="11321816" cy="419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1-tabelle.png"/>
          <p:cNvPicPr>
            <a:picLocks noChangeAspect="1"/>
          </p:cNvPicPr>
          <p:nvPr/>
        </p:nvPicPr>
        <p:blipFill>
          <a:blip r:embed="rId2"/>
          <a:stretch>
            <a:fillRect/>
          </a:stretch>
        </p:blipFill>
        <p:spPr>
          <a:xfrm>
            <a:off x="1331076" y="1270000"/>
            <a:ext cx="11118616" cy="3987800"/>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136 Zeilen, 60 Verbindungen, nur CITY. Zwei Stationen, ein Radtyp, ein Zeitfenster — und zwei Zahlen in Minuten und in Euro.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ehrliche Produktreichweite</a:t>
            </a:r>
          </a:p>
        </p:txBody>
      </p:sp>
      <p:sp>
        <p:nvSpPr>
          <p:cNvPr id="3" name="Text Placeholder 2"/>
          <p:cNvSpPr>
            <a:spLocks noGrp="1"/>
          </p:cNvSpPr>
          <p:nvPr>
            <p:ph type="body" idx="12" sz="quarter"/>
          </p:nvPr>
        </p:nvSpPr>
        <p:spPr/>
        <p:txBody>
          <a:bodyPr/>
          <a:lstStyle/>
          <a:p>
            <a:r>
              <a:t>Phase 6 · Deployment</a:t>
            </a:r>
          </a:p>
        </p:txBody>
      </p:sp>
      <p:sp>
        <p:nvSpPr>
          <p:cNvPr id="4" name="Text Placeholder 3"/>
          <p:cNvSpPr>
            <a:spLocks noGrp="1"/>
          </p:cNvSpPr>
          <p:nvPr>
            <p:ph type="body" idx="13" sz="quarter"/>
          </p:nvPr>
        </p:nvSpPr>
        <p:spPr/>
        <p:txBody>
          <a:bodyPr/>
          <a:lstStyle/>
          <a:p>
            <a:r>
              <a:t>analytics/notebooks/01_Regression_Fahrtdauer.ipynb · Abschnitt 6</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Was die App am Ende wirklich beantworten kann. Diese Zahl steht im Notebook, weil sie sonst niemand ausrechnet.</a:t>
            </a:r>
          </a:p>
        </p:txBody>
      </p:sp>
      <p:sp>
        <p:nvSpPr>
          <p:cNvPr id="6" name="Rectangle 5"/>
          <p:cNvSpPr/>
          <p:nvPr/>
        </p:nvSpPr>
        <p:spPr>
          <a:xfrm>
            <a:off x="1153160" y="17780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0">
                <a:solidFill>
                  <a:srgbClr val="404040"/>
                </a:solidFill>
              </a:rPr>
              <a:t>5.882 Fahrten im Prüfzeitraum — abgeschlossen und mit Ziel</a:t>
            </a:r>
          </a:p>
        </p:txBody>
      </p:sp>
      <p:sp>
        <p:nvSpPr>
          <p:cNvPr id="7" name="Isosceles Triangle 6"/>
          <p:cNvSpPr/>
          <p:nvPr/>
        </p:nvSpPr>
        <p:spPr>
          <a:xfrm rot="10800000">
            <a:off x="6801484" y="2451100"/>
            <a:ext cx="177800" cy="1524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153160" y="2616200"/>
            <a:ext cx="1147445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0">
                <a:solidFill>
                  <a:srgbClr val="404040"/>
                </a:solidFill>
              </a:rPr>
              <a:t>4.969 davon echte Wege, keine Rundtouren  ·  84 %</a:t>
            </a:r>
          </a:p>
        </p:txBody>
      </p:sp>
      <p:sp>
        <p:nvSpPr>
          <p:cNvPr id="9" name="Isosceles Triangle 8"/>
          <p:cNvSpPr/>
          <p:nvPr/>
        </p:nvSpPr>
        <p:spPr>
          <a:xfrm rot="10800000">
            <a:off x="6801484" y="3289300"/>
            <a:ext cx="177800" cy="152400"/>
          </a:xfrm>
          <a:prstGeom prst="triangle">
            <a:avLst/>
          </a:prstGeom>
          <a:solidFill>
            <a:srgbClr val="C9C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3454400"/>
            <a:ext cx="1147445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tIns="50800" rIns="203200" bIns="50800"/>
          <a:lstStyle/>
          <a:p>
            <a:pPr algn="l">
              <a:lnSpc>
                <a:spcPct val="95000"/>
              </a:lnSpc>
            </a:pPr>
            <a:r>
              <a:rPr sz="1400" b="1">
                <a:solidFill>
                  <a:srgbClr val="FFFFFF"/>
                </a:solidFill>
              </a:rPr>
              <a:t>1.326 davon mit einer freigegebenen Spanne  ·  23 % aller Fahrten</a:t>
            </a:r>
          </a:p>
        </p:txBody>
      </p:sp>
      <p:sp>
        <p:nvSpPr>
          <p:cNvPr id="11" name="Rectangle 10"/>
          <p:cNvSpPr/>
          <p:nvPr/>
        </p:nvSpPr>
        <p:spPr>
          <a:xfrm>
            <a:off x="1153160" y="4292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356360" y="4368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Die App kann für gut jede fünfte Fahrt einen Preis nennen. Für den Rest sagt sie, dass sie es nicht kann — und das ist besser als eine Zahl, die nicht trägt.</a:t>
            </a:r>
          </a:p>
        </p:txBody>
      </p:sp>
      <p:sp>
        <p:nvSpPr>
          <p:cNvPr id="13" name="Rectangle 12"/>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5" name="Rectangle 14"/>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7" name="Rectangle 16"/>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19" name="Rectangle 18"/>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1" name="Rectangle 20"/>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3" name="Rectangle 22"/>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Funktion, die die App aufruft — und wann sie schweigt</a:t>
            </a:r>
          </a:p>
        </p:txBody>
      </p:sp>
      <p:sp>
        <p:nvSpPr>
          <p:cNvPr id="3" name="Text Placeholder 2"/>
          <p:cNvSpPr>
            <a:spLocks noGrp="1"/>
          </p:cNvSpPr>
          <p:nvPr>
            <p:ph type="body" idx="12" sz="quarter"/>
          </p:nvPr>
        </p:nvSpPr>
        <p:spPr/>
        <p:txBody>
          <a:bodyPr/>
          <a:lstStyle/>
          <a:p>
            <a:r>
              <a:t>Phase 6 · Deployment</a:t>
            </a:r>
          </a:p>
        </p:txBody>
      </p:sp>
      <p:sp>
        <p:nvSpPr>
          <p:cNvPr id="4" name="Text Placeholder 3"/>
          <p:cNvSpPr>
            <a:spLocks noGrp="1"/>
          </p:cNvSpPr>
          <p:nvPr>
            <p:ph type="body" idx="13" sz="quarter"/>
          </p:nvPr>
        </p:nvSpPr>
        <p:spPr/>
        <p:txBody>
          <a:bodyPr/>
          <a:lstStyle/>
          <a:p>
            <a:r>
              <a:t>analytics/notebooks/01_Regression_Fahrtdauer.ipynb · Abschnitt 6</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Vier Eingaben, eine Antwort. In drei von vier Fällen lautet die Antwort: keine Anzeige.</a:t>
            </a:r>
          </a:p>
        </p:txBody>
      </p:sp>
      <p:sp>
        <p:nvSpPr>
          <p:cNvPr id="6" name="Rectangle 5"/>
          <p:cNvSpPr/>
          <p:nvPr/>
        </p:nvSpPr>
        <p:spPr>
          <a:xfrm>
            <a:off x="1153160" y="1651000"/>
            <a:ext cx="5524500" cy="2362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2362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1765300"/>
            <a:ext cx="5194300" cy="2133600"/>
          </a:xfrm>
          <a:prstGeom prst="rect">
            <a:avLst/>
          </a:prstGeom>
          <a:noFill/>
        </p:spPr>
        <p:txBody>
          <a:bodyPr wrap="square" lIns="0" tIns="0" rIns="0" bIns="0">
            <a:spAutoFit/>
          </a:bodyPr>
          <a:lstStyle/>
          <a:p>
            <a:pPr algn="l">
              <a:lnSpc>
                <a:spcPct val="95000"/>
              </a:lnSpc>
            </a:pPr>
            <a:r>
              <a:rPr sz="1400" b="1">
                <a:solidFill>
                  <a:srgbClr val="003E6E"/>
                </a:solidFill>
              </a:rPr>
              <a:t>Der Aufruf</a:t>
            </a:r>
          </a:p>
          <a:p>
            <a:pPr algn="l">
              <a:lnSpc>
                <a:spcPct val="95000"/>
              </a:lnSpc>
              <a:spcBef>
                <a:spcPts val="200"/>
              </a:spcBef>
            </a:pPr>
            <a:r>
              <a:rPr sz="1300" b="0">
                <a:solidFill>
                  <a:srgbClr val="404040"/>
                </a:solidFill>
                <a:latin typeface="Consolas"/>
              </a:rPr>
              <a:t>preis_schaetzen(</a:t>
            </a:r>
          </a:p>
          <a:p>
            <a:pPr algn="l">
              <a:lnSpc>
                <a:spcPct val="95000"/>
              </a:lnSpc>
              <a:spcBef>
                <a:spcPts val="200"/>
              </a:spcBef>
            </a:pPr>
            <a:r>
              <a:rPr sz="1300" b="0">
                <a:solidFill>
                  <a:srgbClr val="404040"/>
                </a:solidFill>
                <a:latin typeface="Consolas"/>
              </a:rPr>
              <a:t>  start_id=9,</a:t>
            </a:r>
          </a:p>
          <a:p>
            <a:pPr algn="l">
              <a:lnSpc>
                <a:spcPct val="95000"/>
              </a:lnSpc>
              <a:spcBef>
                <a:spcPts val="200"/>
              </a:spcBef>
            </a:pPr>
            <a:r>
              <a:rPr sz="1300" b="0">
                <a:solidFill>
                  <a:srgbClr val="404040"/>
                </a:solidFill>
                <a:latin typeface="Consolas"/>
              </a:rPr>
              <a:t>  ziel_id=6,</a:t>
            </a:r>
          </a:p>
          <a:p>
            <a:pPr algn="l">
              <a:lnSpc>
                <a:spcPct val="95000"/>
              </a:lnSpc>
              <a:spcBef>
                <a:spcPts val="200"/>
              </a:spcBef>
            </a:pPr>
            <a:r>
              <a:rPr sz="1300" b="0">
                <a:solidFill>
                  <a:srgbClr val="404040"/>
                </a:solidFill>
                <a:latin typeface="Consolas"/>
              </a:rPr>
              <a:t>  typ_code='CITY',</a:t>
            </a:r>
          </a:p>
          <a:p>
            <a:pPr algn="l">
              <a:lnSpc>
                <a:spcPct val="95000"/>
              </a:lnSpc>
              <a:spcBef>
                <a:spcPts val="200"/>
              </a:spcBef>
            </a:pPr>
            <a:r>
              <a:rPr sz="1300" b="0">
                <a:solidFill>
                  <a:srgbClr val="404040"/>
                </a:solidFill>
                <a:latin typeface="Consolas"/>
              </a:rPr>
              <a:t>  stunde=17,</a:t>
            </a:r>
          </a:p>
          <a:p>
            <a:pPr algn="l">
              <a:lnSpc>
                <a:spcPct val="95000"/>
              </a:lnSpc>
              <a:spcBef>
                <a:spcPts val="200"/>
              </a:spcBef>
            </a:pPr>
            <a:r>
              <a:rPr sz="1300" b="0">
                <a:solidFill>
                  <a:srgbClr val="404040"/>
                </a:solidFill>
                <a:latin typeface="Consolas"/>
              </a:rPr>
              <a:t>)</a:t>
            </a:r>
          </a:p>
        </p:txBody>
      </p:sp>
      <p:sp>
        <p:nvSpPr>
          <p:cNvPr id="9" name="Rectangle 8"/>
          <p:cNvSpPr/>
          <p:nvPr/>
        </p:nvSpPr>
        <p:spPr>
          <a:xfrm>
            <a:off x="7096759" y="1651000"/>
            <a:ext cx="5524500" cy="2362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096759" y="1651000"/>
            <a:ext cx="50800" cy="23622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74559" y="1765300"/>
            <a:ext cx="5194300" cy="2133600"/>
          </a:xfrm>
          <a:prstGeom prst="rect">
            <a:avLst/>
          </a:prstGeom>
          <a:noFill/>
        </p:spPr>
        <p:txBody>
          <a:bodyPr wrap="square" lIns="0" tIns="0" rIns="0" bIns="0">
            <a:spAutoFit/>
          </a:bodyPr>
          <a:lstStyle/>
          <a:p>
            <a:pPr algn="l">
              <a:lnSpc>
                <a:spcPct val="95000"/>
              </a:lnSpc>
            </a:pPr>
            <a:r>
              <a:rPr sz="1400" b="1">
                <a:solidFill>
                  <a:srgbClr val="55801C"/>
                </a:solidFill>
              </a:rPr>
              <a:t>Die vier möglichen Antworten</a:t>
            </a:r>
          </a:p>
          <a:p>
            <a:pPr algn="l">
              <a:lnSpc>
                <a:spcPct val="95000"/>
              </a:lnSpc>
              <a:spcBef>
                <a:spcPts val="200"/>
              </a:spcBef>
            </a:pPr>
            <a:r>
              <a:rPr sz="1300" b="0">
                <a:solidFill>
                  <a:srgbClr val="404040"/>
                </a:solidFill>
                <a:latin typeface="Consolas"/>
              </a:rPr>
              <a:t>0,60 bis 1,30 € · 5 bis 12 Min</a:t>
            </a:r>
          </a:p>
          <a:p>
            <a:pPr algn="l">
              <a:lnSpc>
                <a:spcPct val="95000"/>
              </a:lnSpc>
              <a:spcBef>
                <a:spcPts val="200"/>
              </a:spcBef>
            </a:pPr>
            <a:r>
              <a:rPr sz="1300" b="0">
                <a:solidFill>
                  <a:srgbClr val="404040"/>
                </a:solidFill>
                <a:latin typeface="Consolas"/>
              </a:rPr>
              <a:t>  Grundlage: 78 Fahrten</a:t>
            </a:r>
          </a:p>
          <a:p>
            <a:pPr algn="l">
              <a:lnSpc>
                <a:spcPct val="95000"/>
              </a:lnSpc>
              <a:spcBef>
                <a:spcPts val="200"/>
              </a:spcBef>
            </a:pPr>
            <a:r>
              <a:rPr sz="1300" b="0">
                <a:solidFill>
                  <a:srgbClr val="404040"/>
                </a:solidFill>
                <a:latin typeface="Consolas"/>
              </a:rPr>
              <a:t>— Für Rundfahrten schätzen wir</a:t>
            </a:r>
          </a:p>
          <a:p>
            <a:pPr algn="l">
              <a:lnSpc>
                <a:spcPct val="95000"/>
              </a:lnSpc>
              <a:spcBef>
                <a:spcPts val="200"/>
              </a:spcBef>
            </a:pPr>
            <a:r>
              <a:rPr sz="1300" b="0">
                <a:solidFill>
                  <a:srgbClr val="404040"/>
                </a:solidFill>
                <a:latin typeface="Consolas"/>
              </a:rPr>
              <a:t>  keinen Preis.</a:t>
            </a:r>
          </a:p>
          <a:p>
            <a:pPr algn="l">
              <a:lnSpc>
                <a:spcPct val="95000"/>
              </a:lnSpc>
              <a:spcBef>
                <a:spcPts val="200"/>
              </a:spcBef>
            </a:pPr>
            <a:r>
              <a:rPr sz="1300" b="0">
                <a:solidFill>
                  <a:srgbClr val="404040"/>
                </a:solidFill>
                <a:latin typeface="Consolas"/>
              </a:rPr>
              <a:t>— Für diese Verbindung liegt</a:t>
            </a:r>
          </a:p>
          <a:p>
            <a:pPr algn="l">
              <a:lnSpc>
                <a:spcPct val="95000"/>
              </a:lnSpc>
              <a:spcBef>
                <a:spcPts val="200"/>
              </a:spcBef>
            </a:pPr>
            <a:r>
              <a:rPr sz="1300" b="0">
                <a:solidFill>
                  <a:srgbClr val="404040"/>
                </a:solidFill>
                <a:latin typeface="Consolas"/>
              </a:rPr>
              <a:t>  keine belastbare Schätzung vor.</a:t>
            </a:r>
          </a:p>
        </p:txBody>
      </p:sp>
      <p:sp>
        <p:nvSpPr>
          <p:cNvPr id="12" name="Rectangle 11"/>
          <p:cNvSpPr/>
          <p:nvPr/>
        </p:nvSpPr>
        <p:spPr>
          <a:xfrm>
            <a:off x="1153160" y="41402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56360" y="42164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Die Begründung wird mitgeliefert, nicht nur das Schweigen. Eine App, die ohne Erklärung nichts anzeigt, wirkt kaputt — eine, die den Grund nennt, wirkt sorgfältig.</a:t>
            </a:r>
          </a:p>
        </p:txBody>
      </p:sp>
      <p:sp>
        <p:nvSpPr>
          <p:cNvPr id="14" name="Rectangle 13"/>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6" name="Rectangle 15"/>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8" name="Rectangle 1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0" name="Rectangle 1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2" name="Rectangle 2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4" name="Rectangle 23"/>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Anfragen, drei Absagen</a:t>
            </a:r>
          </a:p>
        </p:txBody>
      </p:sp>
      <p:sp>
        <p:nvSpPr>
          <p:cNvPr id="3" name="Text Placeholder 2"/>
          <p:cNvSpPr>
            <a:spLocks noGrp="1"/>
          </p:cNvSpPr>
          <p:nvPr>
            <p:ph type="body" idx="12" sz="quarter"/>
          </p:nvPr>
        </p:nvSpPr>
        <p:spPr/>
        <p:txBody>
          <a:bodyPr/>
          <a:lstStyle/>
          <a:p>
            <a:r>
              <a:t>Phase 6 · im Notebook</a:t>
            </a:r>
          </a:p>
        </p:txBody>
      </p:sp>
      <p:sp>
        <p:nvSpPr>
          <p:cNvPr id="4" name="Text Placeholder 3"/>
          <p:cNvSpPr>
            <a:spLocks noGrp="1"/>
          </p:cNvSpPr>
          <p:nvPr>
            <p:ph type="body" idx="13" sz="quarter"/>
          </p:nvPr>
        </p:nvSpPr>
        <p:spPr/>
        <p:txBody>
          <a:bodyPr/>
          <a:lstStyle/>
          <a:p>
            <a:r>
              <a:t>analytics/notebooks/01_Regression_Fahrtdauer.ipynb · Abschnitt 6.4</a:t>
            </a:r>
          </a:p>
        </p:txBody>
      </p:sp>
      <p:sp>
        <p:nvSpPr>
          <p:cNvPr id="5" name="Rectangle 4"/>
          <p:cNvSpPr/>
          <p:nvPr/>
        </p:nvSpPr>
        <p:spPr>
          <a:xfrm>
            <a:off x="1051560" y="1801878"/>
            <a:ext cx="11677650" cy="2924042"/>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1-app.png"/>
          <p:cNvPicPr>
            <a:picLocks noChangeAspect="1"/>
          </p:cNvPicPr>
          <p:nvPr/>
        </p:nvPicPr>
        <p:blipFill>
          <a:blip r:embed="rId2"/>
          <a:stretch>
            <a:fillRect/>
          </a:stretch>
        </p:blipFill>
        <p:spPr>
          <a:xfrm>
            <a:off x="1153160" y="1903478"/>
            <a:ext cx="11474450" cy="2720842"/>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So sieht die Schnittstelle zur Webanwendung aus: eine Zeile mit Preis, Minuten und Fallzahl — oder eine Absage mit Grund.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Überwachung: drei Fälle, die einander ausschließen</a:t>
            </a:r>
          </a:p>
        </p:txBody>
      </p:sp>
      <p:sp>
        <p:nvSpPr>
          <p:cNvPr id="3" name="Text Placeholder 2"/>
          <p:cNvSpPr>
            <a:spLocks noGrp="1"/>
          </p:cNvSpPr>
          <p:nvPr>
            <p:ph type="body" idx="12" sz="quarter"/>
          </p:nvPr>
        </p:nvSpPr>
        <p:spPr/>
        <p:txBody>
          <a:bodyPr/>
          <a:lstStyle/>
          <a:p>
            <a:r>
              <a:t>Phase 6 · Deployment</a:t>
            </a:r>
          </a:p>
        </p:txBody>
      </p:sp>
      <p:sp>
        <p:nvSpPr>
          <p:cNvPr id="4" name="Text Placeholder 3"/>
          <p:cNvSpPr>
            <a:spLocks noGrp="1"/>
          </p:cNvSpPr>
          <p:nvPr>
            <p:ph type="body" idx="13" sz="quarter"/>
          </p:nvPr>
        </p:nvSpPr>
        <p:spPr/>
        <p:txBody>
          <a:bodyPr/>
          <a:lstStyle/>
          <a:p>
            <a:r>
              <a:t>analytics/notebooks/01_Regression_Fahrtdauer.ipynb · Abschnitt 6</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Eine Schwelle allein genügt nicht. Bei 78 Prozent gemessener Abdeckung muss klar sein, welche Regel gilt — sonst greifen zwei gleichzeitig.</a:t>
            </a:r>
          </a:p>
        </p:txBody>
      </p:sp>
      <p:sp>
        <p:nvSpPr>
          <p:cNvPr id="6" name="Rectangle 5"/>
          <p:cNvSpPr/>
          <p:nvPr/>
        </p:nvSpPr>
        <p:spPr>
          <a:xfrm>
            <a:off x="1153160" y="1879600"/>
            <a:ext cx="29210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Auslöser</a:t>
            </a:r>
          </a:p>
        </p:txBody>
      </p:sp>
      <p:sp>
        <p:nvSpPr>
          <p:cNvPr id="7" name="Rectangle 6"/>
          <p:cNvSpPr/>
          <p:nvPr/>
        </p:nvSpPr>
        <p:spPr>
          <a:xfrm>
            <a:off x="4074160" y="1879600"/>
            <a:ext cx="33020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Schwelle</a:t>
            </a:r>
          </a:p>
        </p:txBody>
      </p:sp>
      <p:sp>
        <p:nvSpPr>
          <p:cNvPr id="8" name="Rectangle 7"/>
          <p:cNvSpPr/>
          <p:nvPr/>
        </p:nvSpPr>
        <p:spPr>
          <a:xfrm>
            <a:off x="7376159" y="1879600"/>
            <a:ext cx="525145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Handlung</a:t>
            </a:r>
          </a:p>
        </p:txBody>
      </p:sp>
      <p:sp>
        <p:nvSpPr>
          <p:cNvPr id="9" name="Rectangle 8"/>
          <p:cNvSpPr/>
          <p:nvPr/>
        </p:nvSpPr>
        <p:spPr>
          <a:xfrm>
            <a:off x="1153160" y="2438400"/>
            <a:ext cx="2921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Abdeckung je Kombination,
gleitend über 8 Wochen</a:t>
            </a:r>
          </a:p>
        </p:txBody>
      </p:sp>
      <p:sp>
        <p:nvSpPr>
          <p:cNvPr id="10" name="Rectangle 9"/>
          <p:cNvSpPr/>
          <p:nvPr/>
        </p:nvSpPr>
        <p:spPr>
          <a:xfrm>
            <a:off x="4074160" y="2438400"/>
            <a:ext cx="3302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untere Vertrauensgrenze ≥ 80 %</a:t>
            </a:r>
          </a:p>
        </p:txBody>
      </p:sp>
      <p:sp>
        <p:nvSpPr>
          <p:cNvPr id="11" name="Rectangle 10"/>
          <p:cNvSpPr/>
          <p:nvPr/>
        </p:nvSpPr>
        <p:spPr>
          <a:xfrm>
            <a:off x="7376159" y="2438400"/>
            <a:ext cx="525145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anzeigen</a:t>
            </a:r>
          </a:p>
        </p:txBody>
      </p:sp>
      <p:sp>
        <p:nvSpPr>
          <p:cNvPr id="12" name="Rectangle 11"/>
          <p:cNvSpPr/>
          <p:nvPr/>
        </p:nvSpPr>
        <p:spPr>
          <a:xfrm>
            <a:off x="1153160" y="2997200"/>
            <a:ext cx="292100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
            </a:r>
          </a:p>
        </p:txBody>
      </p:sp>
      <p:sp>
        <p:nvSpPr>
          <p:cNvPr id="13" name="Rectangle 12"/>
          <p:cNvSpPr/>
          <p:nvPr/>
        </p:nvSpPr>
        <p:spPr>
          <a:xfrm>
            <a:off x="4074160" y="2997200"/>
            <a:ext cx="330200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Intervall überlappt 80 %</a:t>
            </a:r>
          </a:p>
        </p:txBody>
      </p:sp>
      <p:sp>
        <p:nvSpPr>
          <p:cNvPr id="14" name="Rectangle 13"/>
          <p:cNvSpPr/>
          <p:nvPr/>
        </p:nvSpPr>
        <p:spPr>
          <a:xfrm>
            <a:off x="7376159" y="2997200"/>
            <a:ext cx="525145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anzeigen, aber Warnung und Neuberechnung</a:t>
            </a:r>
          </a:p>
        </p:txBody>
      </p:sp>
      <p:sp>
        <p:nvSpPr>
          <p:cNvPr id="15" name="Rectangle 14"/>
          <p:cNvSpPr/>
          <p:nvPr/>
        </p:nvSpPr>
        <p:spPr>
          <a:xfrm>
            <a:off x="1153160" y="3556000"/>
            <a:ext cx="2921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
            </a:r>
          </a:p>
        </p:txBody>
      </p:sp>
      <p:sp>
        <p:nvSpPr>
          <p:cNvPr id="16" name="Rectangle 15"/>
          <p:cNvSpPr/>
          <p:nvPr/>
        </p:nvSpPr>
        <p:spPr>
          <a:xfrm>
            <a:off x="4074160" y="3556000"/>
            <a:ext cx="3302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obere Vertrauensgrenze &lt; 80 %</a:t>
            </a:r>
          </a:p>
        </p:txBody>
      </p:sp>
      <p:sp>
        <p:nvSpPr>
          <p:cNvPr id="17" name="Rectangle 16"/>
          <p:cNvSpPr/>
          <p:nvPr/>
        </p:nvSpPr>
        <p:spPr>
          <a:xfrm>
            <a:off x="7376159" y="3556000"/>
            <a:ext cx="525145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Kombination abschalten</a:t>
            </a:r>
          </a:p>
        </p:txBody>
      </p:sp>
      <p:sp>
        <p:nvSpPr>
          <p:cNvPr id="18" name="Rectangle 17"/>
          <p:cNvSpPr/>
          <p:nvPr/>
        </p:nvSpPr>
        <p:spPr>
          <a:xfrm>
            <a:off x="1153160" y="4114800"/>
            <a:ext cx="292100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Fallzahl je Kombination</a:t>
            </a:r>
          </a:p>
        </p:txBody>
      </p:sp>
      <p:sp>
        <p:nvSpPr>
          <p:cNvPr id="19" name="Rectangle 18"/>
          <p:cNvSpPr/>
          <p:nvPr/>
        </p:nvSpPr>
        <p:spPr>
          <a:xfrm>
            <a:off x="4074160" y="4114800"/>
            <a:ext cx="330200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unter 20 im Fenster</a:t>
            </a:r>
          </a:p>
        </p:txBody>
      </p:sp>
      <p:sp>
        <p:nvSpPr>
          <p:cNvPr id="20" name="Rectangle 19"/>
          <p:cNvSpPr/>
          <p:nvPr/>
        </p:nvSpPr>
        <p:spPr>
          <a:xfrm>
            <a:off x="7376159" y="4114800"/>
            <a:ext cx="525145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keine Aussage möglich, Vorwoche weiterverwenden</a:t>
            </a:r>
          </a:p>
        </p:txBody>
      </p:sp>
      <p:sp>
        <p:nvSpPr>
          <p:cNvPr id="21" name="Rectangle 20"/>
          <p:cNvSpPr/>
          <p:nvPr/>
        </p:nvSpPr>
        <p:spPr>
          <a:xfrm>
            <a:off x="1153160" y="4673600"/>
            <a:ext cx="2921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Tarif ändert sich</a:t>
            </a:r>
          </a:p>
        </p:txBody>
      </p:sp>
      <p:sp>
        <p:nvSpPr>
          <p:cNvPr id="22" name="Rectangle 21"/>
          <p:cNvSpPr/>
          <p:nvPr/>
        </p:nvSpPr>
        <p:spPr>
          <a:xfrm>
            <a:off x="4074160" y="4673600"/>
            <a:ext cx="3302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Minutenpreis neu</a:t>
            </a:r>
          </a:p>
        </p:txBody>
      </p:sp>
      <p:sp>
        <p:nvSpPr>
          <p:cNvPr id="23" name="Rectangle 22"/>
          <p:cNvSpPr/>
          <p:nvPr/>
        </p:nvSpPr>
        <p:spPr>
          <a:xfrm>
            <a:off x="7376159" y="4673600"/>
            <a:ext cx="525145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gesamte Tabelle neu rechnen — sie enthält Euro</a:t>
            </a:r>
          </a:p>
        </p:txBody>
      </p:sp>
      <p:sp>
        <p:nvSpPr>
          <p:cNvPr id="24" name="Rectangle 23"/>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6" name="Rectangle 25"/>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8" name="Rectangle 2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30" name="Rectangle 2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32" name="Rectangle 3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4" name="Rectangle 33"/>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echter Schattenbetrieb wäre — und warum wir ihn nicht haben</a:t>
            </a:r>
          </a:p>
        </p:txBody>
      </p:sp>
      <p:sp>
        <p:nvSpPr>
          <p:cNvPr id="3" name="Text Placeholder 2"/>
          <p:cNvSpPr>
            <a:spLocks noGrp="1"/>
          </p:cNvSpPr>
          <p:nvPr>
            <p:ph type="body" idx="12" sz="quarter"/>
          </p:nvPr>
        </p:nvSpPr>
        <p:spPr/>
        <p:txBody>
          <a:bodyPr/>
          <a:lstStyle/>
          <a:p>
            <a:r>
              <a:t>Phase 6 · Deployment</a:t>
            </a:r>
          </a:p>
        </p:txBody>
      </p:sp>
      <p:sp>
        <p:nvSpPr>
          <p:cNvPr id="4" name="Text Placeholder 3"/>
          <p:cNvSpPr>
            <a:spLocks noGrp="1"/>
          </p:cNvSpPr>
          <p:nvPr>
            <p:ph type="body" idx="13" sz="quarter"/>
          </p:nvPr>
        </p:nvSpPr>
        <p:spPr/>
        <p:txBody>
          <a:bodyPr/>
          <a:lstStyle/>
          <a:p>
            <a:r>
              <a:t>analytics/notebooks/01_Regression_Fahrtdauer.ipynb · Abschnitt 6</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Was dieses Notebook Test 2 nennt, ist ein rückblickender Test auf vergangenen Daten. Ein Schattenbetrieb ist etwas anderes.</a:t>
            </a:r>
          </a:p>
        </p:txBody>
      </p:sp>
      <p:sp>
        <p:nvSpPr>
          <p:cNvPr id="6" name="Rectangle 5"/>
          <p:cNvSpPr/>
          <p:nvPr/>
        </p:nvSpPr>
        <p:spPr>
          <a:xfrm>
            <a:off x="1153160" y="18796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2108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1955800"/>
            <a:ext cx="8680450" cy="635000"/>
          </a:xfrm>
          <a:prstGeom prst="rect">
            <a:avLst/>
          </a:prstGeom>
          <a:noFill/>
        </p:spPr>
        <p:txBody>
          <a:bodyPr wrap="square" lIns="0" tIns="0" rIns="0" bIns="0" anchor="ctr">
            <a:spAutoFit/>
          </a:bodyPr>
          <a:lstStyle/>
          <a:p>
            <a:pPr>
              <a:lnSpc>
                <a:spcPct val="95000"/>
              </a:lnSpc>
            </a:pPr>
            <a:r>
              <a:rPr sz="1300" b="1">
                <a:solidFill>
                  <a:srgbClr val="003E6E"/>
                </a:solidFill>
              </a:rPr>
              <a:t>1 bis 3  </a:t>
            </a:r>
            <a:r>
              <a:rPr sz="1300">
                <a:solidFill>
                  <a:srgbClr val="404040"/>
                </a:solidFill>
              </a:rPr>
              <a:t>Tabelle einfrieren · in der App das GEPLANTE Ziel speichern · Schätzung berechnen, aber nicht anzeigen</a:t>
            </a:r>
          </a:p>
        </p:txBody>
      </p:sp>
      <p:sp>
        <p:nvSpPr>
          <p:cNvPr id="10" name="Rectangle 9"/>
          <p:cNvSpPr/>
          <p:nvPr/>
        </p:nvSpPr>
        <p:spPr>
          <a:xfrm>
            <a:off x="1153160" y="27940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27940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30960" y="30226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3" name="TextBox 12"/>
          <p:cNvSpPr txBox="1"/>
          <p:nvPr/>
        </p:nvSpPr>
        <p:spPr>
          <a:xfrm>
            <a:off x="1788160" y="2870200"/>
            <a:ext cx="8680450" cy="635000"/>
          </a:xfrm>
          <a:prstGeom prst="rect">
            <a:avLst/>
          </a:prstGeom>
          <a:noFill/>
        </p:spPr>
        <p:txBody>
          <a:bodyPr wrap="square" lIns="0" tIns="0" rIns="0" bIns="0" anchor="ctr">
            <a:spAutoFit/>
          </a:bodyPr>
          <a:lstStyle/>
          <a:p>
            <a:pPr>
              <a:lnSpc>
                <a:spcPct val="95000"/>
              </a:lnSpc>
            </a:pPr>
            <a:r>
              <a:rPr sz="1300" b="1">
                <a:solidFill>
                  <a:srgbClr val="003E6E"/>
                </a:solidFill>
              </a:rPr>
              <a:t>4 und 5  </a:t>
            </a:r>
            <a:r>
              <a:rPr sz="1300">
                <a:solidFill>
                  <a:srgbClr val="404040"/>
                </a:solidFill>
              </a:rPr>
              <a:t>Nach der Fahrt tatsächliches Ziel und Dauer ergänzen · geplantes gegen tatsächliches Ziel vergleichen</a:t>
            </a:r>
          </a:p>
        </p:txBody>
      </p:sp>
      <p:sp>
        <p:nvSpPr>
          <p:cNvPr id="14" name="Rectangle 13"/>
          <p:cNvSpPr/>
          <p:nvPr/>
        </p:nvSpPr>
        <p:spPr>
          <a:xfrm>
            <a:off x="1153160" y="37084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53160" y="37084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330960" y="39370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7" name="TextBox 16"/>
          <p:cNvSpPr txBox="1"/>
          <p:nvPr/>
        </p:nvSpPr>
        <p:spPr>
          <a:xfrm>
            <a:off x="1788160" y="3784600"/>
            <a:ext cx="8680450" cy="635000"/>
          </a:xfrm>
          <a:prstGeom prst="rect">
            <a:avLst/>
          </a:prstGeom>
          <a:noFill/>
        </p:spPr>
        <p:txBody>
          <a:bodyPr wrap="square" lIns="0" tIns="0" rIns="0" bIns="0" anchor="ctr">
            <a:spAutoFit/>
          </a:bodyPr>
          <a:lstStyle/>
          <a:p>
            <a:pPr>
              <a:lnSpc>
                <a:spcPct val="95000"/>
              </a:lnSpc>
            </a:pPr>
            <a:r>
              <a:rPr sz="1300" b="1">
                <a:solidFill>
                  <a:srgbClr val="003E6E"/>
                </a:solidFill>
              </a:rPr>
              <a:t>6 und 7  </a:t>
            </a:r>
            <a:r>
              <a:rPr sz="1300">
                <a:solidFill>
                  <a:srgbClr val="404040"/>
                </a:solidFill>
              </a:rPr>
              <a:t>Abdeckung, Breite, Reichweite und Ablehnungsgründe auswerten · erst danach sichtbar schalten</a:t>
            </a:r>
          </a:p>
        </p:txBody>
      </p:sp>
      <p:sp>
        <p:nvSpPr>
          <p:cNvPr id="18" name="Rectangle 17"/>
          <p:cNvSpPr/>
          <p:nvPr/>
        </p:nvSpPr>
        <p:spPr>
          <a:xfrm>
            <a:off x="1153160" y="4673600"/>
            <a:ext cx="11474450" cy="11049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53160" y="4673600"/>
            <a:ext cx="50800" cy="11049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56360" y="4800600"/>
            <a:ext cx="11093450" cy="850900"/>
          </a:xfrm>
          <a:prstGeom prst="rect">
            <a:avLst/>
          </a:prstGeom>
          <a:noFill/>
        </p:spPr>
        <p:txBody>
          <a:bodyPr wrap="square" lIns="0" tIns="0" rIns="0" bIns="0">
            <a:spAutoFit/>
          </a:bodyPr>
          <a:lstStyle/>
          <a:p>
            <a:pPr algn="l">
              <a:lnSpc>
                <a:spcPct val="95000"/>
              </a:lnSpc>
            </a:pPr>
            <a:r>
              <a:rPr sz="1500" b="1">
                <a:solidFill>
                  <a:srgbClr val="003E6E"/>
                </a:solidFill>
              </a:rPr>
              <a:t>Schritt 2 und 5 sind der Kern</a:t>
            </a:r>
          </a:p>
          <a:p>
            <a:pPr algn="l">
              <a:lnSpc>
                <a:spcPct val="95000"/>
              </a:lnSpc>
              <a:spcBef>
                <a:spcPts val="500"/>
              </a:spcBef>
            </a:pPr>
            <a:r>
              <a:rPr sz="1300" b="0">
                <a:solidFill>
                  <a:srgbClr val="404040"/>
                </a:solidFill>
              </a:rPr>
              <a:t>Sie prüfen die Annahme vom Anfang: Ist das geplante Ziel ein brauchbarer Stellvertreter für das tatsächliche?</a:t>
            </a:r>
          </a:p>
          <a:p>
            <a:pPr algn="l">
              <a:lnSpc>
                <a:spcPct val="95000"/>
              </a:lnSpc>
              <a:spcBef>
                <a:spcPts val="500"/>
              </a:spcBef>
            </a:pPr>
            <a:r>
              <a:rPr sz="1300" b="0">
                <a:solidFill>
                  <a:srgbClr val="404040"/>
                </a:solidFill>
              </a:rPr>
              <a:t>Ohne sie bleibt die Grundannahme dieses Notebooks ungeprüft — und alle Zahlen bleiben Obergrenzen.</a:t>
            </a:r>
          </a:p>
        </p:txBody>
      </p:sp>
      <p:sp>
        <p:nvSpPr>
          <p:cNvPr id="21" name="Rectangle 20"/>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3" name="Rectangle 22"/>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5" name="Rectangle 24"/>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7" name="Rectangle 26"/>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9" name="Rectangle 28"/>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1" name="Rectangle 30"/>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Kreislauf schließt sich</a:t>
            </a:r>
          </a:p>
        </p:txBody>
      </p:sp>
      <p:sp>
        <p:nvSpPr>
          <p:cNvPr id="3" name="Text Placeholder 2"/>
          <p:cNvSpPr>
            <a:spLocks noGrp="1"/>
          </p:cNvSpPr>
          <p:nvPr>
            <p:ph type="body" idx="12" sz="quarter"/>
          </p:nvPr>
        </p:nvSpPr>
        <p:spPr/>
        <p:txBody>
          <a:bodyPr/>
          <a:lstStyle/>
          <a:p>
            <a:r>
              <a:t>Fall 1 · Abschluss</a:t>
            </a:r>
          </a:p>
        </p:txBody>
      </p:sp>
      <p:sp>
        <p:nvSpPr>
          <p:cNvPr id="4" name="Text Placeholder 3"/>
          <p:cNvSpPr>
            <a:spLocks noGrp="1"/>
          </p:cNvSpPr>
          <p:nvPr>
            <p:ph type="body" idx="13" sz="quarter"/>
          </p:nvPr>
        </p:nvSpPr>
        <p:spPr/>
        <p:txBody>
          <a:bodyPr/>
          <a:lstStyle/>
          <a:p>
            <a:r>
              <a:t>analytics/notebooks/01_Regression_Fahrtdauer.ipynb</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Sechs Phasen, ein Rücksprung von Phase 5 zurück in Phase 1 — und ein Produkt, das öfter schweigt als spricht.</a:t>
            </a:r>
          </a:p>
        </p:txBody>
      </p:sp>
      <p:sp>
        <p:nvSpPr>
          <p:cNvPr id="6" name="Rectangle 5"/>
          <p:cNvSpPr/>
          <p:nvPr/>
        </p:nvSpPr>
        <p:spPr>
          <a:xfrm>
            <a:off x="1153160" y="1651000"/>
            <a:ext cx="2921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Phase</a:t>
            </a:r>
          </a:p>
        </p:txBody>
      </p:sp>
      <p:sp>
        <p:nvSpPr>
          <p:cNvPr id="7" name="Rectangle 6"/>
          <p:cNvSpPr/>
          <p:nvPr/>
        </p:nvSpPr>
        <p:spPr>
          <a:xfrm>
            <a:off x="4074160" y="1651000"/>
            <a:ext cx="855345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Was dabei herauskam</a:t>
            </a:r>
          </a:p>
        </p:txBody>
      </p:sp>
      <p:sp>
        <p:nvSpPr>
          <p:cNvPr id="8" name="Rectangle 7"/>
          <p:cNvSpPr/>
          <p:nvPr/>
        </p:nvSpPr>
        <p:spPr>
          <a:xfrm>
            <a:off x="1153160" y="2159000"/>
            <a:ext cx="2921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 Business Understanding</a:t>
            </a:r>
          </a:p>
        </p:txBody>
      </p:sp>
      <p:sp>
        <p:nvSpPr>
          <p:cNvPr id="9" name="Rectangle 8"/>
          <p:cNvSpPr/>
          <p:nvPr/>
        </p:nvSpPr>
        <p:spPr>
          <a:xfrm>
            <a:off x="4074160" y="2159000"/>
            <a:ext cx="8553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Der Prozess wurde geändert, nicht das Verfahren. Kriterium: unter 50 Cent</a:t>
            </a:r>
          </a:p>
        </p:txBody>
      </p:sp>
      <p:sp>
        <p:nvSpPr>
          <p:cNvPr id="10" name="Rectangle 9"/>
          <p:cNvSpPr/>
          <p:nvPr/>
        </p:nvSpPr>
        <p:spPr>
          <a:xfrm>
            <a:off x="1153160" y="2667000"/>
            <a:ext cx="2921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2 Data Understanding</a:t>
            </a:r>
          </a:p>
        </p:txBody>
      </p:sp>
      <p:sp>
        <p:nvSpPr>
          <p:cNvPr id="11" name="Rectangle 10"/>
          <p:cNvSpPr/>
          <p:nvPr/>
        </p:nvSpPr>
        <p:spPr>
          <a:xfrm>
            <a:off x="4074160" y="2667000"/>
            <a:ext cx="8553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Ein Fünftel endet frei im Gebiet, ein weiteres Fünftel sind Rundtouren</a:t>
            </a:r>
          </a:p>
        </p:txBody>
      </p:sp>
      <p:sp>
        <p:nvSpPr>
          <p:cNvPr id="12" name="Rectangle 11"/>
          <p:cNvSpPr/>
          <p:nvPr/>
        </p:nvSpPr>
        <p:spPr>
          <a:xfrm>
            <a:off x="1153160" y="3175000"/>
            <a:ext cx="2921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 Data Preparation</a:t>
            </a:r>
          </a:p>
        </p:txBody>
      </p:sp>
      <p:sp>
        <p:nvSpPr>
          <p:cNvPr id="13" name="Rectangle 12"/>
          <p:cNvSpPr/>
          <p:nvPr/>
        </p:nvSpPr>
        <p:spPr>
          <a:xfrm>
            <a:off x="4074160" y="3175000"/>
            <a:ext cx="8553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Zielstation erlaubt — als Stellvertreter. Wetter gesperrt. Vier Zeitabschnitte</a:t>
            </a:r>
          </a:p>
        </p:txBody>
      </p:sp>
      <p:sp>
        <p:nvSpPr>
          <p:cNvPr id="14" name="Rectangle 13"/>
          <p:cNvSpPr/>
          <p:nvPr/>
        </p:nvSpPr>
        <p:spPr>
          <a:xfrm>
            <a:off x="1153160" y="3683000"/>
            <a:ext cx="2921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4 Modeling</a:t>
            </a:r>
          </a:p>
        </p:txBody>
      </p:sp>
      <p:sp>
        <p:nvSpPr>
          <p:cNvPr id="15" name="Rectangle 14"/>
          <p:cNvSpPr/>
          <p:nvPr/>
        </p:nvSpPr>
        <p:spPr>
          <a:xfrm>
            <a:off x="4074160" y="3683000"/>
            <a:ext cx="8553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Vier Baselines, dann Modelle. Eine Ablation zeigt: das Ziel bringt 9 %</a:t>
            </a:r>
          </a:p>
        </p:txBody>
      </p:sp>
      <p:sp>
        <p:nvSpPr>
          <p:cNvPr id="16" name="Rectangle 15"/>
          <p:cNvSpPr/>
          <p:nvPr/>
        </p:nvSpPr>
        <p:spPr>
          <a:xfrm>
            <a:off x="1153160" y="4191000"/>
            <a:ext cx="2921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5 Evaluation</a:t>
            </a:r>
          </a:p>
        </p:txBody>
      </p:sp>
      <p:sp>
        <p:nvSpPr>
          <p:cNvPr id="17" name="Rectangle 16"/>
          <p:cNvSpPr/>
          <p:nvPr/>
        </p:nvSpPr>
        <p:spPr>
          <a:xfrm>
            <a:off x="4074160" y="4191000"/>
            <a:ext cx="8553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CITY hält die Grenze. Trotzdem Rücksprung — der Mittelwert bildet die einzelne Fahrt nicht ab</a:t>
            </a:r>
          </a:p>
        </p:txBody>
      </p:sp>
      <p:sp>
        <p:nvSpPr>
          <p:cNvPr id="18" name="Rectangle 17"/>
          <p:cNvSpPr/>
          <p:nvPr/>
        </p:nvSpPr>
        <p:spPr>
          <a:xfrm>
            <a:off x="1153160" y="4699000"/>
            <a:ext cx="2921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Deployment</a:t>
            </a:r>
          </a:p>
        </p:txBody>
      </p:sp>
      <p:sp>
        <p:nvSpPr>
          <p:cNvPr id="19" name="Rectangle 18"/>
          <p:cNvSpPr/>
          <p:nvPr/>
        </p:nvSpPr>
        <p:spPr>
          <a:xfrm>
            <a:off x="4074160" y="4699000"/>
            <a:ext cx="8553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Ausgeliefert wird die Tabelle, nicht das Modell. 136 Zeilen, nur CITY, 22,5 % Reichweite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offen bleibt — ausdrücklich</a:t>
            </a:r>
          </a:p>
        </p:txBody>
      </p:sp>
      <p:sp>
        <p:nvSpPr>
          <p:cNvPr id="3" name="Text Placeholder 2"/>
          <p:cNvSpPr>
            <a:spLocks noGrp="1"/>
          </p:cNvSpPr>
          <p:nvPr>
            <p:ph type="body" idx="12" sz="quarter"/>
          </p:nvPr>
        </p:nvSpPr>
        <p:spPr/>
        <p:txBody>
          <a:bodyPr/>
          <a:lstStyle/>
          <a:p>
            <a:r>
              <a:t>Fall 1 · Abschluss</a:t>
            </a:r>
          </a:p>
        </p:txBody>
      </p:sp>
      <p:sp>
        <p:nvSpPr>
          <p:cNvPr id="4" name="Text Placeholder 3"/>
          <p:cNvSpPr>
            <a:spLocks noGrp="1"/>
          </p:cNvSpPr>
          <p:nvPr>
            <p:ph type="body" idx="13" sz="quarter"/>
          </p:nvPr>
        </p:nvSpPr>
        <p:spPr/>
        <p:txBody>
          <a:bodyPr/>
          <a:lstStyle/>
          <a:p>
            <a:r>
              <a:t>analytics/notebooks/01_Regression_Fahrtdauer.ipynb</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Ein Projektbericht ohne diese Liste ist unvollständig. Sie steht am Ende des Notebooks, nicht im Kleingedruckten.</a:t>
            </a:r>
          </a:p>
        </p:txBody>
      </p:sp>
      <p:sp>
        <p:nvSpPr>
          <p:cNvPr id="6" name="Rectangle 5"/>
          <p:cNvSpPr/>
          <p:nvPr/>
        </p:nvSpPr>
        <p:spPr>
          <a:xfrm>
            <a:off x="1153160" y="1651000"/>
            <a:ext cx="4445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Offener Punkt</a:t>
            </a:r>
          </a:p>
        </p:txBody>
      </p:sp>
      <p:sp>
        <p:nvSpPr>
          <p:cNvPr id="7" name="Rectangle 6"/>
          <p:cNvSpPr/>
          <p:nvPr/>
        </p:nvSpPr>
        <p:spPr>
          <a:xfrm>
            <a:off x="5598160" y="1651000"/>
            <a:ext cx="702945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Was daraus folgt</a:t>
            </a:r>
          </a:p>
        </p:txBody>
      </p:sp>
      <p:sp>
        <p:nvSpPr>
          <p:cNvPr id="8" name="Rectangle 7"/>
          <p:cNvSpPr/>
          <p:nvPr/>
        </p:nvSpPr>
        <p:spPr>
          <a:xfrm>
            <a:off x="1153160" y="2184400"/>
            <a:ext cx="4445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Das geplante Ziel wird nicht erfasst</a:t>
            </a:r>
          </a:p>
        </p:txBody>
      </p:sp>
      <p:sp>
        <p:nvSpPr>
          <p:cNvPr id="9" name="Rectangle 8"/>
          <p:cNvSpPr/>
          <p:nvPr/>
        </p:nvSpPr>
        <p:spPr>
          <a:xfrm>
            <a:off x="5598160" y="2184400"/>
            <a:ext cx="7029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Alle Zahlen sind Obergrenzen</a:t>
            </a:r>
          </a:p>
        </p:txBody>
      </p:sp>
      <p:sp>
        <p:nvSpPr>
          <p:cNvPr id="10" name="Rectangle 9"/>
          <p:cNvSpPr/>
          <p:nvPr/>
        </p:nvSpPr>
        <p:spPr>
          <a:xfrm>
            <a:off x="1153160" y="2717800"/>
            <a:ext cx="4445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Kein echter Schattenbetrieb</a:t>
            </a:r>
          </a:p>
        </p:txBody>
      </p:sp>
      <p:sp>
        <p:nvSpPr>
          <p:cNvPr id="11" name="Rectangle 10"/>
          <p:cNvSpPr/>
          <p:nvPr/>
        </p:nvSpPr>
        <p:spPr>
          <a:xfrm>
            <a:off x="5598160" y="2717800"/>
            <a:ext cx="7029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Test 2 hat kalibriert und freigegeben — die unabhängige Endprüfung steht aus</a:t>
            </a:r>
          </a:p>
        </p:txBody>
      </p:sp>
      <p:sp>
        <p:nvSpPr>
          <p:cNvPr id="12" name="Rectangle 11"/>
          <p:cNvSpPr/>
          <p:nvPr/>
        </p:nvSpPr>
        <p:spPr>
          <a:xfrm>
            <a:off x="1153160" y="3251200"/>
            <a:ext cx="4445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Keine Zusage je Verbindung</a:t>
            </a:r>
          </a:p>
        </p:txBody>
      </p:sp>
      <p:sp>
        <p:nvSpPr>
          <p:cNvPr id="13" name="Rectangle 12"/>
          <p:cNvSpPr/>
          <p:nvPr/>
        </p:nvSpPr>
        <p:spPr>
          <a:xfrm>
            <a:off x="5598160" y="3251200"/>
            <a:ext cx="7029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Die 80 % gelten insgesamt und je Radtyp</a:t>
            </a:r>
          </a:p>
        </p:txBody>
      </p:sp>
      <p:sp>
        <p:nvSpPr>
          <p:cNvPr id="14" name="Rectangle 13"/>
          <p:cNvSpPr/>
          <p:nvPr/>
        </p:nvSpPr>
        <p:spPr>
          <a:xfrm>
            <a:off x="1153160" y="3784600"/>
            <a:ext cx="4445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Kein Wetter</a:t>
            </a:r>
          </a:p>
        </p:txBody>
      </p:sp>
      <p:sp>
        <p:nvSpPr>
          <p:cNvPr id="15" name="Rectangle 14"/>
          <p:cNvSpPr/>
          <p:nvPr/>
        </p:nvSpPr>
        <p:spPr>
          <a:xfrm>
            <a:off x="5598160" y="3784600"/>
            <a:ext cx="7029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Ohne archivierte Prognosen fehlt ein vermutlich starkes Merkmal</a:t>
            </a:r>
          </a:p>
        </p:txBody>
      </p:sp>
      <p:sp>
        <p:nvSpPr>
          <p:cNvPr id="16" name="Rectangle 15"/>
          <p:cNvSpPr/>
          <p:nvPr/>
        </p:nvSpPr>
        <p:spPr>
          <a:xfrm>
            <a:off x="1153160" y="4318000"/>
            <a:ext cx="4445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Kein Produkt für EBIKE und CARGO</a:t>
            </a:r>
          </a:p>
        </p:txBody>
      </p:sp>
      <p:sp>
        <p:nvSpPr>
          <p:cNvPr id="17" name="Rectangle 16"/>
          <p:cNvSpPr/>
          <p:nvPr/>
        </p:nvSpPr>
        <p:spPr>
          <a:xfrm>
            <a:off x="5598160" y="4318000"/>
            <a:ext cx="7029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Weder als Zahl noch als Spanne</a:t>
            </a:r>
          </a:p>
        </p:txBody>
      </p:sp>
      <p:sp>
        <p:nvSpPr>
          <p:cNvPr id="18" name="Rectangle 17"/>
          <p:cNvSpPr/>
          <p:nvPr/>
        </p:nvSpPr>
        <p:spPr>
          <a:xfrm>
            <a:off x="1153160" y="4851400"/>
            <a:ext cx="4445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Der bessere Kandidat wird nicht ausgeliefert</a:t>
            </a:r>
          </a:p>
        </p:txBody>
      </p:sp>
      <p:sp>
        <p:nvSpPr>
          <p:cNvPr id="19" name="Rectangle 18"/>
          <p:cNvSpPr/>
          <p:nvPr/>
        </p:nvSpPr>
        <p:spPr>
          <a:xfrm>
            <a:off x="5598160" y="4851400"/>
            <a:ext cx="7029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Die Modellvorhersagen zu tabellieren wäre der nächste Schritt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 Fall 2 — Klassifikation: was ein Modell wert sein muss</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Welche Räder müssen als Nächstes in die Werkstatt — und lohnt sich dafür der Betrieb eines Modells?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Fall auf einen Blick</a:t>
            </a:r>
          </a:p>
        </p:txBody>
      </p:sp>
      <p:sp>
        <p:nvSpPr>
          <p:cNvPr id="3" name="Text Placeholder 2"/>
          <p:cNvSpPr>
            <a:spLocks noGrp="1"/>
          </p:cNvSpPr>
          <p:nvPr>
            <p:ph type="body" idx="12" sz="quarter"/>
          </p:nvPr>
        </p:nvSpPr>
        <p:spPr/>
        <p:txBody>
          <a:bodyPr/>
          <a:lstStyle/>
          <a:p>
            <a:r>
              <a:t>Fall 2</a:t>
            </a:r>
          </a:p>
        </p:txBody>
      </p:sp>
      <p:sp>
        <p:nvSpPr>
          <p:cNvPr id="4" name="Text Placeholder 3"/>
          <p:cNvSpPr>
            <a:spLocks noGrp="1"/>
          </p:cNvSpPr>
          <p:nvPr>
            <p:ph type="body" idx="13" sz="quarter"/>
          </p:nvPr>
        </p:nvSpPr>
        <p:spPr/>
        <p:txBody>
          <a:bodyPr/>
          <a:lstStyle/>
          <a:p>
            <a:r>
              <a:t>analytics/notebooks/02_Klassifikation_Wartungsrisiko.ipynb</a:t>
            </a:r>
          </a:p>
        </p:txBody>
      </p:sp>
      <p:sp>
        <p:nvSpPr>
          <p:cNvPr id="5" name="Rectangle 4"/>
          <p:cNvSpPr/>
          <p:nvPr/>
        </p:nvSpPr>
        <p:spPr>
          <a:xfrm>
            <a:off x="1153160" y="1346200"/>
            <a:ext cx="11474450" cy="27940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76200" cy="2794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07160" y="1447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Geschäftsfrage</a:t>
            </a:r>
          </a:p>
        </p:txBody>
      </p:sp>
      <p:sp>
        <p:nvSpPr>
          <p:cNvPr id="8" name="TextBox 7"/>
          <p:cNvSpPr txBox="1"/>
          <p:nvPr/>
        </p:nvSpPr>
        <p:spPr>
          <a:xfrm>
            <a:off x="3820160" y="1447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Welche 60 Räder soll die Werkstatt im nächsten Quartal prüfen?</a:t>
            </a:r>
          </a:p>
        </p:txBody>
      </p:sp>
      <p:sp>
        <p:nvSpPr>
          <p:cNvPr id="9" name="TextBox 8"/>
          <p:cNvSpPr txBox="1"/>
          <p:nvPr/>
        </p:nvSpPr>
        <p:spPr>
          <a:xfrm>
            <a:off x="1407160" y="18796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Analytisches Ziel</a:t>
            </a:r>
          </a:p>
        </p:txBody>
      </p:sp>
      <p:sp>
        <p:nvSpPr>
          <p:cNvPr id="10" name="TextBox 9"/>
          <p:cNvSpPr txBox="1"/>
          <p:nvPr/>
        </p:nvSpPr>
        <p:spPr>
          <a:xfrm>
            <a:off x="3820160" y="18796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Je Rad die Wahrscheinlichkeit einer Schadensmeldung in den nächsten 90 Tagen</a:t>
            </a:r>
          </a:p>
        </p:txBody>
      </p:sp>
      <p:sp>
        <p:nvSpPr>
          <p:cNvPr id="11" name="TextBox 10"/>
          <p:cNvSpPr txBox="1"/>
          <p:nvPr/>
        </p:nvSpPr>
        <p:spPr>
          <a:xfrm>
            <a:off x="1407160" y="23114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Erfolgskriterium</a:t>
            </a:r>
          </a:p>
        </p:txBody>
      </p:sp>
      <p:sp>
        <p:nvSpPr>
          <p:cNvPr id="12" name="TextBox 11"/>
          <p:cNvSpPr txBox="1"/>
          <p:nvPr/>
        </p:nvSpPr>
        <p:spPr>
          <a:xfrm>
            <a:off x="3820160" y="23114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Zwei Hürden — und eine davon ist der Vergleich mit der heutigen Faustregel</a:t>
            </a:r>
          </a:p>
        </p:txBody>
      </p:sp>
      <p:sp>
        <p:nvSpPr>
          <p:cNvPr id="13" name="TextBox 12"/>
          <p:cNvSpPr txBox="1"/>
          <p:nvPr/>
        </p:nvSpPr>
        <p:spPr>
          <a:xfrm>
            <a:off x="1407160" y="27432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Fehlerkosten</a:t>
            </a:r>
          </a:p>
        </p:txBody>
      </p:sp>
      <p:sp>
        <p:nvSpPr>
          <p:cNvPr id="14" name="TextBox 13"/>
          <p:cNvSpPr txBox="1"/>
          <p:nvPr/>
        </p:nvSpPr>
        <p:spPr>
          <a:xfrm>
            <a:off x="3820160" y="27432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180 € je verpasstem Ausfall gegen 25 € je unnötiger Prüfung — rund 7 : 1</a:t>
            </a:r>
          </a:p>
        </p:txBody>
      </p:sp>
      <p:sp>
        <p:nvSpPr>
          <p:cNvPr id="15" name="TextBox 14"/>
          <p:cNvSpPr txBox="1"/>
          <p:nvPr/>
        </p:nvSpPr>
        <p:spPr>
          <a:xfrm>
            <a:off x="1407160" y="31750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Verfahren</a:t>
            </a:r>
          </a:p>
        </p:txBody>
      </p:sp>
      <p:sp>
        <p:nvSpPr>
          <p:cNvPr id="16" name="TextBox 15"/>
          <p:cNvSpPr txBox="1"/>
          <p:nvPr/>
        </p:nvSpPr>
        <p:spPr>
          <a:xfrm>
            <a:off x="3820160" y="31750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Zwei Faustregeln als Maßstab, dann Entscheidungsbaum und Random Forest</a:t>
            </a:r>
          </a:p>
        </p:txBody>
      </p:sp>
      <p:sp>
        <p:nvSpPr>
          <p:cNvPr id="17" name="TextBox 16"/>
          <p:cNvSpPr txBox="1"/>
          <p:nvPr/>
        </p:nvSpPr>
        <p:spPr>
          <a:xfrm>
            <a:off x="1407160" y="3606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Urteil</a:t>
            </a:r>
          </a:p>
        </p:txBody>
      </p:sp>
      <p:sp>
        <p:nvSpPr>
          <p:cNvPr id="18" name="TextBox 17"/>
          <p:cNvSpPr txBox="1"/>
          <p:nvPr/>
        </p:nvSpPr>
        <p:spPr>
          <a:xfrm>
            <a:off x="3820160" y="3606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Der Wald schlägt die Faustregel messbar — ausgeliefert wird das Modell, die Regel bleibt Rückfallebene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Kostenmatrix, aus der alles Weitere folgt</a:t>
            </a:r>
          </a:p>
        </p:txBody>
      </p:sp>
      <p:sp>
        <p:nvSpPr>
          <p:cNvPr id="3" name="Text Placeholder 2"/>
          <p:cNvSpPr>
            <a:spLocks noGrp="1"/>
          </p:cNvSpPr>
          <p:nvPr>
            <p:ph type="body" idx="12" sz="quarter"/>
          </p:nvPr>
        </p:nvSpPr>
        <p:spPr/>
        <p:txBody>
          <a:bodyPr/>
          <a:lstStyle/>
          <a:p>
            <a:r>
              <a:t>Phase 1 · im Notebook</a:t>
            </a:r>
          </a:p>
        </p:txBody>
      </p:sp>
      <p:sp>
        <p:nvSpPr>
          <p:cNvPr id="4" name="Text Placeholder 3"/>
          <p:cNvSpPr>
            <a:spLocks noGrp="1"/>
          </p:cNvSpPr>
          <p:nvPr>
            <p:ph type="body" idx="13" sz="quarter"/>
          </p:nvPr>
        </p:nvSpPr>
        <p:spPr/>
        <p:txBody>
          <a:bodyPr/>
          <a:lstStyle/>
          <a:p>
            <a:r>
              <a:t>analytics/notebooks/02_Klassifikation_Wartungsrisiko.ipynb · Abschnitt 1 — Fehlerkosten</a:t>
            </a:r>
          </a:p>
        </p:txBody>
      </p:sp>
      <p:sp>
        <p:nvSpPr>
          <p:cNvPr id="5" name="Rectangle 4"/>
          <p:cNvSpPr/>
          <p:nvPr/>
        </p:nvSpPr>
        <p:spPr>
          <a:xfrm>
            <a:off x="3641646" y="1168400"/>
            <a:ext cx="6497476" cy="436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2-kosten.png"/>
          <p:cNvPicPr>
            <a:picLocks noChangeAspect="1"/>
          </p:cNvPicPr>
          <p:nvPr/>
        </p:nvPicPr>
        <p:blipFill>
          <a:blip r:embed="rId2"/>
          <a:stretch>
            <a:fillRect/>
          </a:stretch>
        </p:blipFill>
        <p:spPr>
          <a:xfrm>
            <a:off x="3743246" y="1270000"/>
            <a:ext cx="6294276" cy="4165600"/>
          </a:xfrm>
          <a:prstGeom prst="rect">
            <a:avLst/>
          </a:prstGeom>
        </p:spPr>
      </p:pic>
      <p:sp>
        <p:nvSpPr>
          <p:cNvPr id="7" name="Rectangle 6"/>
          <p:cNvSpPr/>
          <p:nvPr/>
        </p:nvSpPr>
        <p:spPr>
          <a:xfrm>
            <a:off x="1153160" y="56134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6896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180 € gegen 25 €. Diese beiden Zahlen bestimmen das Erfolgskriterium, die Klassengewichte und am Ende die Auslieferung.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hier anders ist als in Fall 1</a:t>
            </a:r>
          </a:p>
        </p:txBody>
      </p:sp>
      <p:sp>
        <p:nvSpPr>
          <p:cNvPr id="3" name="Text Placeholder 2"/>
          <p:cNvSpPr>
            <a:spLocks noGrp="1"/>
          </p:cNvSpPr>
          <p:nvPr>
            <p:ph type="body" idx="12" sz="quarter"/>
          </p:nvPr>
        </p:nvSpPr>
        <p:spPr/>
        <p:txBody>
          <a:bodyPr/>
          <a:lstStyle/>
          <a:p>
            <a:r>
              <a:t>Fall 2</a:t>
            </a:r>
          </a:p>
        </p:txBody>
      </p:sp>
      <p:sp>
        <p:nvSpPr>
          <p:cNvPr id="4" name="Text Placeholder 3"/>
          <p:cNvSpPr>
            <a:spLocks noGrp="1"/>
          </p:cNvSpPr>
          <p:nvPr>
            <p:ph type="body" idx="13" sz="quarter"/>
          </p:nvPr>
        </p:nvSpPr>
        <p:spPr/>
        <p:txBody>
          <a:bodyPr/>
          <a:lstStyle/>
          <a:p>
            <a:r>
              <a:t>analytics/notebooks/02_Klassifikation_Wartungsrisiko.ipynb</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Drei Unterschiede — und jeder verändert eine Phase.</a:t>
            </a:r>
          </a:p>
        </p:txBody>
      </p:sp>
      <p:sp>
        <p:nvSpPr>
          <p:cNvPr id="6" name="Rectangle 5"/>
          <p:cNvSpPr/>
          <p:nvPr/>
        </p:nvSpPr>
        <p:spPr>
          <a:xfrm>
            <a:off x="1153160" y="1651000"/>
            <a:ext cx="19050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
            </a:r>
          </a:p>
        </p:txBody>
      </p:sp>
      <p:sp>
        <p:nvSpPr>
          <p:cNvPr id="7" name="Rectangle 6"/>
          <p:cNvSpPr/>
          <p:nvPr/>
        </p:nvSpPr>
        <p:spPr>
          <a:xfrm>
            <a:off x="3058160" y="1651000"/>
            <a:ext cx="35560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Fall 1 — Regression</a:t>
            </a:r>
          </a:p>
        </p:txBody>
      </p:sp>
      <p:sp>
        <p:nvSpPr>
          <p:cNvPr id="8" name="Rectangle 7"/>
          <p:cNvSpPr/>
          <p:nvPr/>
        </p:nvSpPr>
        <p:spPr>
          <a:xfrm>
            <a:off x="6614159" y="1651000"/>
            <a:ext cx="601345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Fall 2 — Klassifikation</a:t>
            </a:r>
          </a:p>
        </p:txBody>
      </p:sp>
      <p:sp>
        <p:nvSpPr>
          <p:cNvPr id="9" name="Rectangle 8"/>
          <p:cNvSpPr/>
          <p:nvPr/>
        </p:nvSpPr>
        <p:spPr>
          <a:xfrm>
            <a:off x="1153160" y="2260600"/>
            <a:ext cx="1905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Zielgröße</a:t>
            </a:r>
          </a:p>
        </p:txBody>
      </p:sp>
      <p:sp>
        <p:nvSpPr>
          <p:cNvPr id="10" name="Rectangle 9"/>
          <p:cNvSpPr/>
          <p:nvPr/>
        </p:nvSpPr>
        <p:spPr>
          <a:xfrm>
            <a:off x="3058160" y="2260600"/>
            <a:ext cx="3556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eine Zahl: Minuten</a:t>
            </a:r>
          </a:p>
        </p:txBody>
      </p:sp>
      <p:sp>
        <p:nvSpPr>
          <p:cNvPr id="11" name="Rectangle 10"/>
          <p:cNvSpPr/>
          <p:nvPr/>
        </p:nvSpPr>
        <p:spPr>
          <a:xfrm>
            <a:off x="6614159" y="2260600"/>
            <a:ext cx="601345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ja oder nein: meldet sich das Rad?</a:t>
            </a:r>
          </a:p>
        </p:txBody>
      </p:sp>
      <p:sp>
        <p:nvSpPr>
          <p:cNvPr id="12" name="Rectangle 11"/>
          <p:cNvSpPr/>
          <p:nvPr/>
        </p:nvSpPr>
        <p:spPr>
          <a:xfrm>
            <a:off x="1153160" y="2870200"/>
            <a:ext cx="1905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Fehlerkosten</a:t>
            </a:r>
          </a:p>
        </p:txBody>
      </p:sp>
      <p:sp>
        <p:nvSpPr>
          <p:cNvPr id="13" name="Rectangle 12"/>
          <p:cNvSpPr/>
          <p:nvPr/>
        </p:nvSpPr>
        <p:spPr>
          <a:xfrm>
            <a:off x="3058160" y="2870200"/>
            <a:ext cx="3556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beide Richtungen gleich</a:t>
            </a:r>
          </a:p>
        </p:txBody>
      </p:sp>
      <p:sp>
        <p:nvSpPr>
          <p:cNvPr id="14" name="Rectangle 13"/>
          <p:cNvSpPr/>
          <p:nvPr/>
        </p:nvSpPr>
        <p:spPr>
          <a:xfrm>
            <a:off x="6614159" y="2870200"/>
            <a:ext cx="601345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180 € gegen 25 € — rund 7 : 1</a:t>
            </a:r>
          </a:p>
        </p:txBody>
      </p:sp>
      <p:sp>
        <p:nvSpPr>
          <p:cNvPr id="15" name="Rectangle 14"/>
          <p:cNvSpPr/>
          <p:nvPr/>
        </p:nvSpPr>
        <p:spPr>
          <a:xfrm>
            <a:off x="1153160" y="3479800"/>
            <a:ext cx="1905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Aufteilung</a:t>
            </a:r>
          </a:p>
        </p:txBody>
      </p:sp>
      <p:sp>
        <p:nvSpPr>
          <p:cNvPr id="16" name="Rectangle 15"/>
          <p:cNvSpPr/>
          <p:nvPr/>
        </p:nvSpPr>
        <p:spPr>
          <a:xfrm>
            <a:off x="3058160" y="3479800"/>
            <a:ext cx="3556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zufällig zulässig</a:t>
            </a:r>
          </a:p>
        </p:txBody>
      </p:sp>
      <p:sp>
        <p:nvSpPr>
          <p:cNvPr id="17" name="Rectangle 16"/>
          <p:cNvSpPr/>
          <p:nvPr/>
        </p:nvSpPr>
        <p:spPr>
          <a:xfrm>
            <a:off x="6614159" y="3479800"/>
            <a:ext cx="601345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zeitlich zwingend: Merkmale aus 180 Tagen davor, Label aus 90 Tagen danach</a:t>
            </a:r>
          </a:p>
        </p:txBody>
      </p:sp>
      <p:sp>
        <p:nvSpPr>
          <p:cNvPr id="18" name="Rectangle 17"/>
          <p:cNvSpPr/>
          <p:nvPr/>
        </p:nvSpPr>
        <p:spPr>
          <a:xfrm>
            <a:off x="1153160" y="4089400"/>
            <a:ext cx="1905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Maßstab</a:t>
            </a:r>
          </a:p>
        </p:txBody>
      </p:sp>
      <p:sp>
        <p:nvSpPr>
          <p:cNvPr id="19" name="Rectangle 18"/>
          <p:cNvSpPr/>
          <p:nvPr/>
        </p:nvSpPr>
        <p:spPr>
          <a:xfrm>
            <a:off x="3058160" y="4089400"/>
            <a:ext cx="3556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Nullmodell</a:t>
            </a:r>
          </a:p>
        </p:txBody>
      </p:sp>
      <p:sp>
        <p:nvSpPr>
          <p:cNvPr id="20" name="Rectangle 19"/>
          <p:cNvSpPr/>
          <p:nvPr/>
        </p:nvSpPr>
        <p:spPr>
          <a:xfrm>
            <a:off x="6614159" y="4089400"/>
            <a:ext cx="601345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Nullmodell UND die heutige Faustregel der Werkstatt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Schnelldurchlauf</a:t>
            </a:r>
          </a:p>
        </p:txBody>
      </p:sp>
      <p:sp>
        <p:nvSpPr>
          <p:cNvPr id="3" name="Text Placeholder 2"/>
          <p:cNvSpPr>
            <a:spLocks noGrp="1"/>
          </p:cNvSpPr>
          <p:nvPr>
            <p:ph type="body" idx="12" sz="quarter"/>
          </p:nvPr>
        </p:nvSpPr>
        <p:spPr/>
        <p:txBody>
          <a:bodyPr/>
          <a:lstStyle/>
          <a:p>
            <a:r>
              <a:t>Fall 2 · Phasen 1 bis 3</a:t>
            </a:r>
          </a:p>
        </p:txBody>
      </p:sp>
      <p:sp>
        <p:nvSpPr>
          <p:cNvPr id="4" name="Text Placeholder 3"/>
          <p:cNvSpPr>
            <a:spLocks noGrp="1"/>
          </p:cNvSpPr>
          <p:nvPr>
            <p:ph type="body" idx="13" sz="quarter"/>
          </p:nvPr>
        </p:nvSpPr>
        <p:spPr/>
        <p:txBody>
          <a:bodyPr/>
          <a:lstStyle/>
          <a:p>
            <a:r>
              <a:t>analytics/notebooks/02_Klassifikation_Wartungsrisiko.ipynb</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Die ersten drei Phasen laufen wie in Fall 1. Was sie hier hervorbringen, steht in drei Zeilen.</a:t>
            </a:r>
          </a:p>
        </p:txBody>
      </p:sp>
      <p:sp>
        <p:nvSpPr>
          <p:cNvPr id="6" name="Rectangle 5"/>
          <p:cNvSpPr/>
          <p:nvPr/>
        </p:nvSpPr>
        <p:spPr>
          <a:xfrm>
            <a:off x="1153160" y="1651000"/>
            <a:ext cx="11474450" cy="965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965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19685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1727200"/>
            <a:ext cx="10458450" cy="812800"/>
          </a:xfrm>
          <a:prstGeom prst="rect">
            <a:avLst/>
          </a:prstGeom>
          <a:noFill/>
        </p:spPr>
        <p:txBody>
          <a:bodyPr wrap="square" lIns="0" tIns="0" rIns="0" bIns="0" anchor="ctr">
            <a:spAutoFit/>
          </a:bodyPr>
          <a:lstStyle/>
          <a:p>
            <a:pPr>
              <a:lnSpc>
                <a:spcPct val="95000"/>
              </a:lnSpc>
            </a:pPr>
            <a:r>
              <a:rPr sz="1300" b="1">
                <a:solidFill>
                  <a:srgbClr val="003E6E"/>
                </a:solidFill>
              </a:rPr>
              <a:t>Phase 1  </a:t>
            </a:r>
            <a:r>
              <a:rPr sz="1300">
                <a:solidFill>
                  <a:srgbClr val="404040"/>
                </a:solidFill>
              </a:rPr>
              <a:t>Aus „vorausschauend warten“ wird eine Kostenmatrix: 180 € gegen 25 €, und zwei Erfolgskriterien</a:t>
            </a:r>
          </a:p>
        </p:txBody>
      </p:sp>
      <p:sp>
        <p:nvSpPr>
          <p:cNvPr id="10" name="Rectangle 9"/>
          <p:cNvSpPr/>
          <p:nvPr/>
        </p:nvSpPr>
        <p:spPr>
          <a:xfrm>
            <a:off x="1153160" y="2743200"/>
            <a:ext cx="11474450" cy="965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2743200"/>
            <a:ext cx="50800" cy="965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30960" y="3060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3" name="TextBox 12"/>
          <p:cNvSpPr txBox="1"/>
          <p:nvPr/>
        </p:nvSpPr>
        <p:spPr>
          <a:xfrm>
            <a:off x="1788160" y="2819400"/>
            <a:ext cx="10458450" cy="812800"/>
          </a:xfrm>
          <a:prstGeom prst="rect">
            <a:avLst/>
          </a:prstGeom>
          <a:noFill/>
        </p:spPr>
        <p:txBody>
          <a:bodyPr wrap="square" lIns="0" tIns="0" rIns="0" bIns="0" anchor="ctr">
            <a:spAutoFit/>
          </a:bodyPr>
          <a:lstStyle/>
          <a:p>
            <a:pPr>
              <a:lnSpc>
                <a:spcPct val="95000"/>
              </a:lnSpc>
            </a:pPr>
            <a:r>
              <a:rPr sz="1300" b="1">
                <a:solidFill>
                  <a:srgbClr val="003E6E"/>
                </a:solidFill>
              </a:rPr>
              <a:t>Phase 2  </a:t>
            </a:r>
            <a:r>
              <a:rPr sz="1300">
                <a:solidFill>
                  <a:srgbClr val="404040"/>
                </a:solidFill>
              </a:rPr>
              <a:t>Nutzung und Meldungen hängen zusammen (r ≈ 0,7), aber nicht deterministisch. 44 % der Räder melden sich je Quartal, die Werkstatt schafft 26 %</a:t>
            </a:r>
          </a:p>
        </p:txBody>
      </p:sp>
      <p:sp>
        <p:nvSpPr>
          <p:cNvPr id="14" name="Rectangle 13"/>
          <p:cNvSpPr/>
          <p:nvPr/>
        </p:nvSpPr>
        <p:spPr>
          <a:xfrm>
            <a:off x="1153160" y="3835400"/>
            <a:ext cx="11474450" cy="965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53160" y="3835400"/>
            <a:ext cx="50800" cy="965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330960" y="41529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7" name="TextBox 16"/>
          <p:cNvSpPr txBox="1"/>
          <p:nvPr/>
        </p:nvSpPr>
        <p:spPr>
          <a:xfrm>
            <a:off x="1788160" y="3911600"/>
            <a:ext cx="10458450" cy="812800"/>
          </a:xfrm>
          <a:prstGeom prst="rect">
            <a:avLst/>
          </a:prstGeom>
          <a:noFill/>
        </p:spPr>
        <p:txBody>
          <a:bodyPr wrap="square" lIns="0" tIns="0" rIns="0" bIns="0" anchor="ctr">
            <a:spAutoFit/>
          </a:bodyPr>
          <a:lstStyle/>
          <a:p>
            <a:pPr>
              <a:lnSpc>
                <a:spcPct val="95000"/>
              </a:lnSpc>
            </a:pPr>
            <a:r>
              <a:rPr sz="1300" b="1">
                <a:solidFill>
                  <a:srgbClr val="003E6E"/>
                </a:solidFill>
              </a:rPr>
              <a:t>Phase 3  </a:t>
            </a:r>
            <a:r>
              <a:rPr sz="1300">
                <a:solidFill>
                  <a:srgbClr val="404040"/>
                </a:solidFill>
              </a:rPr>
              <a:t>Zeitlicher Schnitt: acht Stichtage, Merkmale aus 180 Tagen davor, Label aus 90 Tagen danach, Testmenge ist der jüngste Stichtag</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zeitliche Schnitt, in Zahlen</a:t>
            </a:r>
          </a:p>
        </p:txBody>
      </p:sp>
      <p:sp>
        <p:nvSpPr>
          <p:cNvPr id="3" name="Text Placeholder 2"/>
          <p:cNvSpPr>
            <a:spLocks noGrp="1"/>
          </p:cNvSpPr>
          <p:nvPr>
            <p:ph type="body" idx="12" sz="quarter"/>
          </p:nvPr>
        </p:nvSpPr>
        <p:spPr/>
        <p:txBody>
          <a:bodyPr/>
          <a:lstStyle/>
          <a:p>
            <a:r>
              <a:t>Phase 3 · im Notebook</a:t>
            </a:r>
          </a:p>
        </p:txBody>
      </p:sp>
      <p:sp>
        <p:nvSpPr>
          <p:cNvPr id="4" name="Text Placeholder 3"/>
          <p:cNvSpPr>
            <a:spLocks noGrp="1"/>
          </p:cNvSpPr>
          <p:nvPr>
            <p:ph type="body" idx="13" sz="quarter"/>
          </p:nvPr>
        </p:nvSpPr>
        <p:spPr/>
        <p:txBody>
          <a:bodyPr/>
          <a:lstStyle/>
          <a:p>
            <a:r>
              <a:t>analytics/notebooks/02_Klassifikation_Wartungsrisiko.ipynb · Abschnitt 3.3</a:t>
            </a:r>
          </a:p>
        </p:txBody>
      </p:sp>
      <p:sp>
        <p:nvSpPr>
          <p:cNvPr id="5" name="Rectangle 4"/>
          <p:cNvSpPr/>
          <p:nvPr/>
        </p:nvSpPr>
        <p:spPr>
          <a:xfrm>
            <a:off x="1051560" y="1178279"/>
            <a:ext cx="11677650" cy="434904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2-schnitt.png"/>
          <p:cNvPicPr>
            <a:picLocks noChangeAspect="1"/>
          </p:cNvPicPr>
          <p:nvPr/>
        </p:nvPicPr>
        <p:blipFill>
          <a:blip r:embed="rId2"/>
          <a:stretch>
            <a:fillRect/>
          </a:stretch>
        </p:blipFill>
        <p:spPr>
          <a:xfrm>
            <a:off x="1153160" y="1279879"/>
            <a:ext cx="11474450" cy="4145840"/>
          </a:xfrm>
          <a:prstGeom prst="rect">
            <a:avLst/>
          </a:prstGeom>
        </p:spPr>
      </p:pic>
      <p:sp>
        <p:nvSpPr>
          <p:cNvPr id="7" name="Rectangle 6"/>
          <p:cNvSpPr/>
          <p:nvPr/>
        </p:nvSpPr>
        <p:spPr>
          <a:xfrm>
            <a:off x="1153160" y="56134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6896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1458 Trainingszeilen aus sieben Stichtagen, getestet am jüngsten — kein einziger Blick in die Zukunft.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die Faustregeln — dann erst die Modelle</a:t>
            </a:r>
          </a:p>
        </p:txBody>
      </p:sp>
      <p:sp>
        <p:nvSpPr>
          <p:cNvPr id="3" name="Text Placeholder 2"/>
          <p:cNvSpPr>
            <a:spLocks noGrp="1"/>
          </p:cNvSpPr>
          <p:nvPr>
            <p:ph type="body" idx="12" sz="quarter"/>
          </p:nvPr>
        </p:nvSpPr>
        <p:spPr/>
        <p:txBody>
          <a:bodyPr/>
          <a:lstStyle/>
          <a:p>
            <a:r>
              <a:t>Fall 2 · Phase 4</a:t>
            </a:r>
          </a:p>
        </p:txBody>
      </p:sp>
      <p:sp>
        <p:nvSpPr>
          <p:cNvPr id="4" name="Text Placeholder 3"/>
          <p:cNvSpPr>
            <a:spLocks noGrp="1"/>
          </p:cNvSpPr>
          <p:nvPr>
            <p:ph type="body" idx="13" sz="quarter"/>
          </p:nvPr>
        </p:nvSpPr>
        <p:spPr/>
        <p:txBody>
          <a:bodyPr/>
          <a:lstStyle/>
          <a:p>
            <a:r>
              <a:t>analytics/notebooks/02_Klassifikation_Wartungsrisiko.ipynb · Abschnitt 4</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Zwei Regeln, wie sie die Werkstatt heute im Kopf hat. Sie sind der Maßstab, an dem sich jedes Modell messen lassen muss.</a:t>
            </a:r>
          </a:p>
        </p:txBody>
      </p:sp>
      <p:sp>
        <p:nvSpPr>
          <p:cNvPr id="6" name="Rectangle 5"/>
          <p:cNvSpPr/>
          <p:nvPr/>
        </p:nvSpPr>
        <p:spPr>
          <a:xfrm>
            <a:off x="1153160" y="1879600"/>
            <a:ext cx="5524500" cy="2286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2286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1993900"/>
            <a:ext cx="5194300" cy="2057400"/>
          </a:xfrm>
          <a:prstGeom prst="rect">
            <a:avLst/>
          </a:prstGeom>
          <a:noFill/>
        </p:spPr>
        <p:txBody>
          <a:bodyPr wrap="square" lIns="0" tIns="0" rIns="0" bIns="0">
            <a:spAutoFit/>
          </a:bodyPr>
          <a:lstStyle/>
          <a:p>
            <a:pPr algn="l">
              <a:lnSpc>
                <a:spcPct val="95000"/>
              </a:lnSpc>
            </a:pPr>
            <a:r>
              <a:rPr sz="1400" b="1">
                <a:solidFill>
                  <a:srgbClr val="ED7004"/>
                </a:solidFill>
              </a:rPr>
              <a:t>Regel A — Kilometerstand</a:t>
            </a:r>
          </a:p>
          <a:p>
            <a:pPr algn="l">
              <a:lnSpc>
                <a:spcPct val="95000"/>
              </a:lnSpc>
              <a:spcBef>
                <a:spcPts val="200"/>
              </a:spcBef>
            </a:pPr>
            <a:r>
              <a:rPr sz="1300" b="0">
                <a:solidFill>
                  <a:srgbClr val="404040"/>
                </a:solidFill>
                <a:latin typeface="Consolas"/>
              </a:rPr>
              <a:t>Die 60 Raeder mit den</a:t>
            </a:r>
          </a:p>
          <a:p>
            <a:pPr algn="l">
              <a:lnSpc>
                <a:spcPct val="95000"/>
              </a:lnSpc>
              <a:spcBef>
                <a:spcPts val="200"/>
              </a:spcBef>
            </a:pPr>
            <a:r>
              <a:rPr sz="1300" b="0">
                <a:solidFill>
                  <a:srgbClr val="404040"/>
                </a:solidFill>
                <a:latin typeface="Consolas"/>
              </a:rPr>
              <a:t>meisten Kilometern seit</a:t>
            </a:r>
          </a:p>
          <a:p>
            <a:pPr algn="l">
              <a:lnSpc>
                <a:spcPct val="95000"/>
              </a:lnSpc>
              <a:spcBef>
                <a:spcPts val="200"/>
              </a:spcBef>
            </a:pPr>
            <a:r>
              <a:rPr sz="1300" b="0">
                <a:solidFill>
                  <a:srgbClr val="404040"/>
                </a:solidFill>
                <a:latin typeface="Consolas"/>
              </a:rPr>
              <a:t>der letzten Wartung.</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Eine Zeile Code.</a:t>
            </a:r>
          </a:p>
        </p:txBody>
      </p:sp>
      <p:sp>
        <p:nvSpPr>
          <p:cNvPr id="9" name="Rectangle 8"/>
          <p:cNvSpPr/>
          <p:nvPr/>
        </p:nvSpPr>
        <p:spPr>
          <a:xfrm>
            <a:off x="7096759" y="1879600"/>
            <a:ext cx="5524500" cy="2286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096759" y="1879600"/>
            <a:ext cx="50800" cy="2286000"/>
          </a:xfrm>
          <a:prstGeom prst="rect">
            <a:avLst/>
          </a:prstGeom>
          <a:solidFill>
            <a:srgbClr val="5551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74559" y="1993900"/>
            <a:ext cx="5194300" cy="2057400"/>
          </a:xfrm>
          <a:prstGeom prst="rect">
            <a:avLst/>
          </a:prstGeom>
          <a:noFill/>
        </p:spPr>
        <p:txBody>
          <a:bodyPr wrap="square" lIns="0" tIns="0" rIns="0" bIns="0">
            <a:spAutoFit/>
          </a:bodyPr>
          <a:lstStyle/>
          <a:p>
            <a:pPr algn="l">
              <a:lnSpc>
                <a:spcPct val="95000"/>
              </a:lnSpc>
            </a:pPr>
            <a:r>
              <a:rPr sz="1400" b="1">
                <a:solidFill>
                  <a:srgbClr val="555148"/>
                </a:solidFill>
              </a:rPr>
              <a:t>Regel B — Alter</a:t>
            </a:r>
          </a:p>
          <a:p>
            <a:pPr algn="l">
              <a:lnSpc>
                <a:spcPct val="95000"/>
              </a:lnSpc>
              <a:spcBef>
                <a:spcPts val="200"/>
              </a:spcBef>
            </a:pPr>
            <a:r>
              <a:rPr sz="1300" b="0">
                <a:solidFill>
                  <a:srgbClr val="404040"/>
                </a:solidFill>
                <a:latin typeface="Consolas"/>
              </a:rPr>
              <a:t>Die 60 aeltesten Raeder</a:t>
            </a:r>
          </a:p>
          <a:p>
            <a:pPr algn="l">
              <a:lnSpc>
                <a:spcPct val="95000"/>
              </a:lnSpc>
              <a:spcBef>
                <a:spcPts val="200"/>
              </a:spcBef>
            </a:pPr>
            <a:r>
              <a:rPr sz="1300" b="0">
                <a:solidFill>
                  <a:srgbClr val="404040"/>
                </a:solidFill>
                <a:latin typeface="Consolas"/>
              </a:rPr>
              <a:t>der Flotte.</a:t>
            </a:r>
          </a:p>
          <a:p>
            <a:pPr algn="l">
              <a:lnSpc>
                <a:spcPct val="95000"/>
              </a:lnSpc>
              <a:spcBef>
                <a:spcPts val="200"/>
              </a:spcBef>
            </a:pPr>
            <a:r>
              <a:rPr sz="1300" b="0">
                <a:solidFill>
                  <a:srgbClr val="404040"/>
                </a:solidFill>
                <a:latin typeface="Consolas"/>
              </a:rPr>
              <a:t/>
            </a:r>
          </a:p>
          <a:p>
            <a:pPr algn="l">
              <a:lnSpc>
                <a:spcPct val="95000"/>
              </a:lnSpc>
              <a:spcBef>
                <a:spcPts val="200"/>
              </a:spcBef>
            </a:pPr>
            <a:r>
              <a:rPr sz="1300" b="0">
                <a:solidFill>
                  <a:srgbClr val="404040"/>
                </a:solidFill>
                <a:latin typeface="Consolas"/>
              </a:rPr>
              <a:t>Ebenfalls eine Zeile.</a:t>
            </a:r>
          </a:p>
          <a:p>
            <a:pPr algn="l">
              <a:lnSpc>
                <a:spcPct val="95000"/>
              </a:lnSpc>
              <a:spcBef>
                <a:spcPts val="200"/>
              </a:spcBef>
            </a:pPr>
            <a:r>
              <a:rPr sz="1300" b="0">
                <a:solidFill>
                  <a:srgbClr val="404040"/>
                </a:solidFill>
                <a:latin typeface="Consolas"/>
              </a:rPr>
              <a:t>Deutlich schwaecher als A.</a:t>
            </a:r>
          </a:p>
        </p:txBody>
      </p:sp>
      <p:sp>
        <p:nvSpPr>
          <p:cNvPr id="12" name="Rectangle 11"/>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4" name="Rectangle 13"/>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6" name="Rectangle 15"/>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18" name="Rectangle 17"/>
          <p:cNvSpPr/>
          <p:nvPr/>
        </p:nvSpPr>
        <p:spPr>
          <a:xfrm>
            <a:off x="6922134"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4 Modeling</a:t>
            </a:r>
          </a:p>
        </p:txBody>
      </p:sp>
      <p:sp>
        <p:nvSpPr>
          <p:cNvPr id="20" name="Rectangle 19"/>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2" name="Rectangle 21"/>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Wald schlägt die Faustregel — knapp</a:t>
            </a:r>
          </a:p>
        </p:txBody>
      </p:sp>
      <p:sp>
        <p:nvSpPr>
          <p:cNvPr id="3" name="Text Placeholder 2"/>
          <p:cNvSpPr>
            <a:spLocks noGrp="1"/>
          </p:cNvSpPr>
          <p:nvPr>
            <p:ph type="body" idx="12" sz="quarter"/>
          </p:nvPr>
        </p:nvSpPr>
        <p:spPr/>
        <p:txBody>
          <a:bodyPr/>
          <a:lstStyle/>
          <a:p>
            <a:r>
              <a:t>Fall 2 · Phase 5</a:t>
            </a:r>
          </a:p>
        </p:txBody>
      </p:sp>
      <p:sp>
        <p:nvSpPr>
          <p:cNvPr id="4" name="Text Placeholder 3"/>
          <p:cNvSpPr>
            <a:spLocks noGrp="1"/>
          </p:cNvSpPr>
          <p:nvPr>
            <p:ph type="body" idx="13" sz="quarter"/>
          </p:nvPr>
        </p:nvSpPr>
        <p:spPr/>
        <p:txBody>
          <a:bodyPr/>
          <a:lstStyle/>
          <a:p>
            <a:r>
              <a:t>analytics/notebooks/02_Klassifikation_Wartungsrisiko.ipynb · Abschnitt 5</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Beide Erfolgskriterien standen vor der Messung fest: mindestens 70 % Trefferquote, und günstiger als die heutige Faustregel.</a:t>
            </a:r>
          </a:p>
        </p:txBody>
      </p:sp>
      <p:sp>
        <p:nvSpPr>
          <p:cNvPr id="6" name="Rectangle 5"/>
          <p:cNvSpPr/>
          <p:nvPr/>
        </p:nvSpPr>
        <p:spPr>
          <a:xfrm>
            <a:off x="1153160" y="1879600"/>
            <a:ext cx="3810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Vorgehen</a:t>
            </a:r>
          </a:p>
        </p:txBody>
      </p:sp>
      <p:sp>
        <p:nvSpPr>
          <p:cNvPr id="7" name="Rectangle 6"/>
          <p:cNvSpPr/>
          <p:nvPr/>
        </p:nvSpPr>
        <p:spPr>
          <a:xfrm>
            <a:off x="4963160" y="1879600"/>
            <a:ext cx="1270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Treffer</a:t>
            </a:r>
          </a:p>
        </p:txBody>
      </p:sp>
      <p:sp>
        <p:nvSpPr>
          <p:cNvPr id="8" name="Rectangle 7"/>
          <p:cNvSpPr/>
          <p:nvPr/>
        </p:nvSpPr>
        <p:spPr>
          <a:xfrm>
            <a:off x="6233160" y="1879600"/>
            <a:ext cx="1905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Trefferquote</a:t>
            </a:r>
          </a:p>
        </p:txBody>
      </p:sp>
      <p:sp>
        <p:nvSpPr>
          <p:cNvPr id="9" name="Rectangle 8"/>
          <p:cNvSpPr/>
          <p:nvPr/>
        </p:nvSpPr>
        <p:spPr>
          <a:xfrm>
            <a:off x="8138159" y="1879600"/>
            <a:ext cx="2413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Kosten je Quartal</a:t>
            </a:r>
          </a:p>
        </p:txBody>
      </p:sp>
      <p:sp>
        <p:nvSpPr>
          <p:cNvPr id="10" name="Rectangle 9"/>
          <p:cNvSpPr/>
          <p:nvPr/>
        </p:nvSpPr>
        <p:spPr>
          <a:xfrm>
            <a:off x="10551160" y="1879600"/>
            <a:ext cx="207645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70-%-Hürde</a:t>
            </a:r>
          </a:p>
        </p:txBody>
      </p:sp>
      <p:sp>
        <p:nvSpPr>
          <p:cNvPr id="11" name="Rectangle 10"/>
          <p:cNvSpPr/>
          <p:nvPr/>
        </p:nvSpPr>
        <p:spPr>
          <a:xfrm>
            <a:off x="1153160" y="2387600"/>
            <a:ext cx="3810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gar nicht vorsorglich prüfen</a:t>
            </a:r>
          </a:p>
        </p:txBody>
      </p:sp>
      <p:sp>
        <p:nvSpPr>
          <p:cNvPr id="12" name="Rectangle 11"/>
          <p:cNvSpPr/>
          <p:nvPr/>
        </p:nvSpPr>
        <p:spPr>
          <a:xfrm>
            <a:off x="4963160" y="2387600"/>
            <a:ext cx="1270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a:t>
            </a:r>
          </a:p>
        </p:txBody>
      </p:sp>
      <p:sp>
        <p:nvSpPr>
          <p:cNvPr id="13" name="Rectangle 12"/>
          <p:cNvSpPr/>
          <p:nvPr/>
        </p:nvSpPr>
        <p:spPr>
          <a:xfrm>
            <a:off x="6233160" y="2387600"/>
            <a:ext cx="1905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0 %</a:t>
            </a:r>
          </a:p>
        </p:txBody>
      </p:sp>
      <p:sp>
        <p:nvSpPr>
          <p:cNvPr id="14" name="Rectangle 13"/>
          <p:cNvSpPr/>
          <p:nvPr/>
        </p:nvSpPr>
        <p:spPr>
          <a:xfrm>
            <a:off x="8138159" y="2387600"/>
            <a:ext cx="2413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18.540 €</a:t>
            </a:r>
          </a:p>
        </p:txBody>
      </p:sp>
      <p:sp>
        <p:nvSpPr>
          <p:cNvPr id="15" name="Rectangle 14"/>
          <p:cNvSpPr/>
          <p:nvPr/>
        </p:nvSpPr>
        <p:spPr>
          <a:xfrm>
            <a:off x="10551160" y="2387600"/>
            <a:ext cx="2076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t>
            </a:r>
          </a:p>
        </p:txBody>
      </p:sp>
      <p:sp>
        <p:nvSpPr>
          <p:cNvPr id="16" name="Rectangle 15"/>
          <p:cNvSpPr/>
          <p:nvPr/>
        </p:nvSpPr>
        <p:spPr>
          <a:xfrm>
            <a:off x="1153160" y="2895600"/>
            <a:ext cx="3810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Faustregel: km seit letzter Meldung</a:t>
            </a:r>
          </a:p>
        </p:txBody>
      </p:sp>
      <p:sp>
        <p:nvSpPr>
          <p:cNvPr id="17" name="Rectangle 16"/>
          <p:cNvSpPr/>
          <p:nvPr/>
        </p:nvSpPr>
        <p:spPr>
          <a:xfrm>
            <a:off x="4963160" y="2895600"/>
            <a:ext cx="1270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38</a:t>
            </a:r>
          </a:p>
        </p:txBody>
      </p:sp>
      <p:sp>
        <p:nvSpPr>
          <p:cNvPr id="18" name="Rectangle 17"/>
          <p:cNvSpPr/>
          <p:nvPr/>
        </p:nvSpPr>
        <p:spPr>
          <a:xfrm>
            <a:off x="6233160" y="2895600"/>
            <a:ext cx="1905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63,3 %</a:t>
            </a:r>
          </a:p>
        </p:txBody>
      </p:sp>
      <p:sp>
        <p:nvSpPr>
          <p:cNvPr id="19" name="Rectangle 18"/>
          <p:cNvSpPr/>
          <p:nvPr/>
        </p:nvSpPr>
        <p:spPr>
          <a:xfrm>
            <a:off x="8138159" y="2895600"/>
            <a:ext cx="2413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12.250 €</a:t>
            </a:r>
          </a:p>
        </p:txBody>
      </p:sp>
      <p:sp>
        <p:nvSpPr>
          <p:cNvPr id="20" name="Rectangle 19"/>
          <p:cNvSpPr/>
          <p:nvPr/>
        </p:nvSpPr>
        <p:spPr>
          <a:xfrm>
            <a:off x="10551160" y="2895600"/>
            <a:ext cx="2076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gerissen</a:t>
            </a:r>
          </a:p>
        </p:txBody>
      </p:sp>
      <p:sp>
        <p:nvSpPr>
          <p:cNvPr id="21" name="Rectangle 20"/>
          <p:cNvSpPr/>
          <p:nvPr/>
        </p:nvSpPr>
        <p:spPr>
          <a:xfrm>
            <a:off x="1153160" y="3403600"/>
            <a:ext cx="3810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Entscheidungsbaum</a:t>
            </a:r>
          </a:p>
        </p:txBody>
      </p:sp>
      <p:sp>
        <p:nvSpPr>
          <p:cNvPr id="22" name="Rectangle 21"/>
          <p:cNvSpPr/>
          <p:nvPr/>
        </p:nvSpPr>
        <p:spPr>
          <a:xfrm>
            <a:off x="4963160" y="3403600"/>
            <a:ext cx="1270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37</a:t>
            </a:r>
          </a:p>
        </p:txBody>
      </p:sp>
      <p:sp>
        <p:nvSpPr>
          <p:cNvPr id="23" name="Rectangle 22"/>
          <p:cNvSpPr/>
          <p:nvPr/>
        </p:nvSpPr>
        <p:spPr>
          <a:xfrm>
            <a:off x="6233160" y="3403600"/>
            <a:ext cx="1905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61,7 %</a:t>
            </a:r>
          </a:p>
        </p:txBody>
      </p:sp>
      <p:sp>
        <p:nvSpPr>
          <p:cNvPr id="24" name="Rectangle 23"/>
          <p:cNvSpPr/>
          <p:nvPr/>
        </p:nvSpPr>
        <p:spPr>
          <a:xfrm>
            <a:off x="8138159" y="3403600"/>
            <a:ext cx="2413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12.455 €</a:t>
            </a:r>
          </a:p>
        </p:txBody>
      </p:sp>
      <p:sp>
        <p:nvSpPr>
          <p:cNvPr id="25" name="Rectangle 24"/>
          <p:cNvSpPr/>
          <p:nvPr/>
        </p:nvSpPr>
        <p:spPr>
          <a:xfrm>
            <a:off x="10551160" y="3403600"/>
            <a:ext cx="2076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gerissen</a:t>
            </a:r>
          </a:p>
        </p:txBody>
      </p:sp>
      <p:sp>
        <p:nvSpPr>
          <p:cNvPr id="26" name="Rectangle 25"/>
          <p:cNvSpPr/>
          <p:nvPr/>
        </p:nvSpPr>
        <p:spPr>
          <a:xfrm>
            <a:off x="1153160" y="3911600"/>
            <a:ext cx="3810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Random Forest — gewählt</a:t>
            </a:r>
          </a:p>
        </p:txBody>
      </p:sp>
      <p:sp>
        <p:nvSpPr>
          <p:cNvPr id="27" name="Rectangle 26"/>
          <p:cNvSpPr/>
          <p:nvPr/>
        </p:nvSpPr>
        <p:spPr>
          <a:xfrm>
            <a:off x="4963160" y="3911600"/>
            <a:ext cx="1270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43</a:t>
            </a:r>
          </a:p>
        </p:txBody>
      </p:sp>
      <p:sp>
        <p:nvSpPr>
          <p:cNvPr id="28" name="Rectangle 27"/>
          <p:cNvSpPr/>
          <p:nvPr/>
        </p:nvSpPr>
        <p:spPr>
          <a:xfrm>
            <a:off x="6233160" y="3911600"/>
            <a:ext cx="1905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71,7 %</a:t>
            </a:r>
          </a:p>
        </p:txBody>
      </p:sp>
      <p:sp>
        <p:nvSpPr>
          <p:cNvPr id="29" name="Rectangle 28"/>
          <p:cNvSpPr/>
          <p:nvPr/>
        </p:nvSpPr>
        <p:spPr>
          <a:xfrm>
            <a:off x="8138159" y="3911600"/>
            <a:ext cx="2413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11.225 €</a:t>
            </a:r>
          </a:p>
        </p:txBody>
      </p:sp>
      <p:sp>
        <p:nvSpPr>
          <p:cNvPr id="30" name="Rectangle 29"/>
          <p:cNvSpPr/>
          <p:nvPr/>
        </p:nvSpPr>
        <p:spPr>
          <a:xfrm>
            <a:off x="10551160" y="3911600"/>
            <a:ext cx="2076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erfüllt</a:t>
            </a:r>
          </a:p>
        </p:txBody>
      </p:sp>
      <p:sp>
        <p:nvSpPr>
          <p:cNvPr id="31" name="Rectangle 30"/>
          <p:cNvSpPr/>
          <p:nvPr/>
        </p:nvSpPr>
        <p:spPr>
          <a:xfrm>
            <a:off x="1153160" y="45974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356360" y="46736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Erst die Regel macht das Modell bewertbar. Ohne sie stünde hier eine Trefferquote, und niemand könnte sagen, ob sie gut ist. Mit ihr steht hier ein Satz, den die Werkstatt versteht.</a:t>
            </a:r>
          </a:p>
        </p:txBody>
      </p:sp>
      <p:sp>
        <p:nvSpPr>
          <p:cNvPr id="33" name="Rectangle 32"/>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35" name="Rectangle 34"/>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37" name="Rectangle 36"/>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39" name="Rectangle 38"/>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41" name="Rectangle 40"/>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43" name="Rectangle 42"/>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Beide Kandidaten, gegen die Kriterien aus Phase 1 gehalten</a:t>
            </a:r>
          </a:p>
        </p:txBody>
      </p:sp>
      <p:sp>
        <p:nvSpPr>
          <p:cNvPr id="3" name="Text Placeholder 2"/>
          <p:cNvSpPr>
            <a:spLocks noGrp="1"/>
          </p:cNvSpPr>
          <p:nvPr>
            <p:ph type="body" idx="12" sz="quarter"/>
          </p:nvPr>
        </p:nvSpPr>
        <p:spPr/>
        <p:txBody>
          <a:bodyPr/>
          <a:lstStyle/>
          <a:p>
            <a:r>
              <a:t>Phase 5 · im Notebook</a:t>
            </a:r>
          </a:p>
        </p:txBody>
      </p:sp>
      <p:sp>
        <p:nvSpPr>
          <p:cNvPr id="4" name="Text Placeholder 3"/>
          <p:cNvSpPr>
            <a:spLocks noGrp="1"/>
          </p:cNvSpPr>
          <p:nvPr>
            <p:ph type="body" idx="13" sz="quarter"/>
          </p:nvPr>
        </p:nvSpPr>
        <p:spPr/>
        <p:txBody>
          <a:bodyPr/>
          <a:lstStyle/>
          <a:p>
            <a:r>
              <a:t>analytics/notebooks/02_Klassifikation_Wartungsrisiko.ipynb · Abschnitt 5.4</a:t>
            </a:r>
          </a:p>
        </p:txBody>
      </p:sp>
      <p:sp>
        <p:nvSpPr>
          <p:cNvPr id="5" name="Rectangle 4"/>
          <p:cNvSpPr/>
          <p:nvPr/>
        </p:nvSpPr>
        <p:spPr>
          <a:xfrm>
            <a:off x="1051559" y="1404263"/>
            <a:ext cx="11677650" cy="3719273"/>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2-kriterien.png"/>
          <p:cNvPicPr>
            <a:picLocks noChangeAspect="1"/>
          </p:cNvPicPr>
          <p:nvPr/>
        </p:nvPicPr>
        <p:blipFill>
          <a:blip r:embed="rId2"/>
          <a:stretch>
            <a:fillRect/>
          </a:stretch>
        </p:blipFill>
        <p:spPr>
          <a:xfrm>
            <a:off x="1153159" y="1505863"/>
            <a:ext cx="11474450" cy="3516073"/>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Die Faustregel reißt die 70-Prozent-Hürde, das Modell hält sie — und ist zugleich günstiger. Damit ist die Entscheidung gefallen.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Ausgeliefert wird das Modell — und die Regel bleibt im Paket</a:t>
            </a:r>
          </a:p>
        </p:txBody>
      </p:sp>
      <p:sp>
        <p:nvSpPr>
          <p:cNvPr id="3" name="Text Placeholder 2"/>
          <p:cNvSpPr>
            <a:spLocks noGrp="1"/>
          </p:cNvSpPr>
          <p:nvPr>
            <p:ph type="body" idx="12" sz="quarter"/>
          </p:nvPr>
        </p:nvSpPr>
        <p:spPr/>
        <p:txBody>
          <a:bodyPr/>
          <a:lstStyle/>
          <a:p>
            <a:r>
              <a:t>Fall 2 · Phase 6</a:t>
            </a:r>
          </a:p>
        </p:txBody>
      </p:sp>
      <p:sp>
        <p:nvSpPr>
          <p:cNvPr id="4" name="Text Placeholder 3"/>
          <p:cNvSpPr>
            <a:spLocks noGrp="1"/>
          </p:cNvSpPr>
          <p:nvPr>
            <p:ph type="body" idx="13" sz="quarter"/>
          </p:nvPr>
        </p:nvSpPr>
        <p:spPr/>
        <p:txBody>
          <a:bodyPr/>
          <a:lstStyle/>
          <a:p>
            <a:r>
              <a:t>analytics/notebooks/02_Klassifikation_Wartungsrisiko.ipynb · Abschnitt 6</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Das Modell erfüllt beide Kriterien und schlägt die Faustregel. Es geht in Betrieb. Kostenlos ist diese Entscheidung nicht.</a:t>
            </a:r>
          </a:p>
        </p:txBody>
      </p:sp>
      <p:sp>
        <p:nvSpPr>
          <p:cNvPr id="6" name="Rectangle 5"/>
          <p:cNvSpPr/>
          <p:nvPr/>
        </p:nvSpPr>
        <p:spPr>
          <a:xfrm>
            <a:off x="1153160" y="1879600"/>
            <a:ext cx="304800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
            </a:r>
          </a:p>
        </p:txBody>
      </p:sp>
      <p:sp>
        <p:nvSpPr>
          <p:cNvPr id="7" name="Rectangle 6"/>
          <p:cNvSpPr/>
          <p:nvPr/>
        </p:nvSpPr>
        <p:spPr>
          <a:xfrm>
            <a:off x="4201160" y="1879600"/>
            <a:ext cx="431800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Faustregel</a:t>
            </a:r>
          </a:p>
        </p:txBody>
      </p:sp>
      <p:sp>
        <p:nvSpPr>
          <p:cNvPr id="8" name="Rectangle 7"/>
          <p:cNvSpPr/>
          <p:nvPr/>
        </p:nvSpPr>
        <p:spPr>
          <a:xfrm>
            <a:off x="8519160" y="1879600"/>
            <a:ext cx="410845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Random Forest</a:t>
            </a:r>
          </a:p>
        </p:txBody>
      </p:sp>
      <p:sp>
        <p:nvSpPr>
          <p:cNvPr id="9" name="Rectangle 8"/>
          <p:cNvSpPr/>
          <p:nvPr/>
        </p:nvSpPr>
        <p:spPr>
          <a:xfrm>
            <a:off x="1153160" y="2336800"/>
            <a:ext cx="3048000" cy="457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Trefferquote</a:t>
            </a:r>
          </a:p>
        </p:txBody>
      </p:sp>
      <p:sp>
        <p:nvSpPr>
          <p:cNvPr id="10" name="Rectangle 9"/>
          <p:cNvSpPr/>
          <p:nvPr/>
        </p:nvSpPr>
        <p:spPr>
          <a:xfrm>
            <a:off x="4201160" y="2336800"/>
            <a:ext cx="4318000" cy="457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63,3 %</a:t>
            </a:r>
          </a:p>
        </p:txBody>
      </p:sp>
      <p:sp>
        <p:nvSpPr>
          <p:cNvPr id="11" name="Rectangle 10"/>
          <p:cNvSpPr/>
          <p:nvPr/>
        </p:nvSpPr>
        <p:spPr>
          <a:xfrm>
            <a:off x="8519160" y="2336800"/>
            <a:ext cx="4108450" cy="457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71,7 %</a:t>
            </a:r>
          </a:p>
        </p:txBody>
      </p:sp>
      <p:sp>
        <p:nvSpPr>
          <p:cNvPr id="12" name="Rectangle 11"/>
          <p:cNvSpPr/>
          <p:nvPr/>
        </p:nvSpPr>
        <p:spPr>
          <a:xfrm>
            <a:off x="1153160" y="2794000"/>
            <a:ext cx="3048000" cy="457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Kosten je Quartal</a:t>
            </a:r>
          </a:p>
        </p:txBody>
      </p:sp>
      <p:sp>
        <p:nvSpPr>
          <p:cNvPr id="13" name="Rectangle 12"/>
          <p:cNvSpPr/>
          <p:nvPr/>
        </p:nvSpPr>
        <p:spPr>
          <a:xfrm>
            <a:off x="4201160" y="2794000"/>
            <a:ext cx="4318000" cy="457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12.250 €</a:t>
            </a:r>
          </a:p>
        </p:txBody>
      </p:sp>
      <p:sp>
        <p:nvSpPr>
          <p:cNvPr id="14" name="Rectangle 13"/>
          <p:cNvSpPr/>
          <p:nvPr/>
        </p:nvSpPr>
        <p:spPr>
          <a:xfrm>
            <a:off x="8519160" y="2794000"/>
            <a:ext cx="4108450" cy="457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11.225 €</a:t>
            </a:r>
          </a:p>
        </p:txBody>
      </p:sp>
      <p:sp>
        <p:nvSpPr>
          <p:cNvPr id="15" name="Rectangle 14"/>
          <p:cNvSpPr/>
          <p:nvPr/>
        </p:nvSpPr>
        <p:spPr>
          <a:xfrm>
            <a:off x="1153160" y="3251200"/>
            <a:ext cx="3048000" cy="457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erklärbar</a:t>
            </a:r>
          </a:p>
        </p:txBody>
      </p:sp>
      <p:sp>
        <p:nvSpPr>
          <p:cNvPr id="16" name="Rectangle 15"/>
          <p:cNvSpPr/>
          <p:nvPr/>
        </p:nvSpPr>
        <p:spPr>
          <a:xfrm>
            <a:off x="4201160" y="3251200"/>
            <a:ext cx="4318000" cy="457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„seit 288 km nicht in der Werkstatt“</a:t>
            </a:r>
          </a:p>
        </p:txBody>
      </p:sp>
      <p:sp>
        <p:nvSpPr>
          <p:cNvPr id="17" name="Rectangle 16"/>
          <p:cNvSpPr/>
          <p:nvPr/>
        </p:nvSpPr>
        <p:spPr>
          <a:xfrm>
            <a:off x="8519160" y="3251200"/>
            <a:ext cx="4108450" cy="457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nur über Umwege</a:t>
            </a:r>
          </a:p>
        </p:txBody>
      </p:sp>
      <p:sp>
        <p:nvSpPr>
          <p:cNvPr id="18" name="Rectangle 17"/>
          <p:cNvSpPr/>
          <p:nvPr/>
        </p:nvSpPr>
        <p:spPr>
          <a:xfrm>
            <a:off x="1153160" y="3708400"/>
            <a:ext cx="3048000" cy="457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Wartungsaufwand</a:t>
            </a:r>
          </a:p>
        </p:txBody>
      </p:sp>
      <p:sp>
        <p:nvSpPr>
          <p:cNvPr id="19" name="Rectangle 18"/>
          <p:cNvSpPr/>
          <p:nvPr/>
        </p:nvSpPr>
        <p:spPr>
          <a:xfrm>
            <a:off x="4201160" y="3708400"/>
            <a:ext cx="4318000" cy="457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keiner</a:t>
            </a:r>
          </a:p>
        </p:txBody>
      </p:sp>
      <p:sp>
        <p:nvSpPr>
          <p:cNvPr id="20" name="Rectangle 19"/>
          <p:cNvSpPr/>
          <p:nvPr/>
        </p:nvSpPr>
        <p:spPr>
          <a:xfrm>
            <a:off x="8519160" y="3708400"/>
            <a:ext cx="4108450" cy="457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vierteljährlich nachtrainieren</a:t>
            </a:r>
          </a:p>
        </p:txBody>
      </p:sp>
      <p:sp>
        <p:nvSpPr>
          <p:cNvPr id="21" name="Rectangle 20"/>
          <p:cNvSpPr/>
          <p:nvPr/>
        </p:nvSpPr>
        <p:spPr>
          <a:xfrm>
            <a:off x="1153160" y="4165600"/>
            <a:ext cx="3048000" cy="457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Abhängigkeiten im Betrieb</a:t>
            </a:r>
          </a:p>
        </p:txBody>
      </p:sp>
      <p:sp>
        <p:nvSpPr>
          <p:cNvPr id="22" name="Rectangle 21"/>
          <p:cNvSpPr/>
          <p:nvPr/>
        </p:nvSpPr>
        <p:spPr>
          <a:xfrm>
            <a:off x="4201160" y="4165600"/>
            <a:ext cx="4318000" cy="457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keine</a:t>
            </a:r>
          </a:p>
        </p:txBody>
      </p:sp>
      <p:sp>
        <p:nvSpPr>
          <p:cNvPr id="23" name="Rectangle 22"/>
          <p:cNvSpPr/>
          <p:nvPr/>
        </p:nvSpPr>
        <p:spPr>
          <a:xfrm>
            <a:off x="8519160" y="4165600"/>
            <a:ext cx="4108450" cy="457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scikit-learn, joblib, Versionsstände</a:t>
            </a:r>
          </a:p>
        </p:txBody>
      </p:sp>
      <p:sp>
        <p:nvSpPr>
          <p:cNvPr id="24" name="Rectangle 23"/>
          <p:cNvSpPr/>
          <p:nvPr/>
        </p:nvSpPr>
        <p:spPr>
          <a:xfrm>
            <a:off x="1153160" y="4800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56360" y="4876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Die unteren drei Zeilen sind der Preis. Er ist hier gerechtfertigt, weil die oberen beiden zugunsten des Modells ausfallen — und nur deshalb.</a:t>
            </a:r>
          </a:p>
        </p:txBody>
      </p:sp>
      <p:sp>
        <p:nvSpPr>
          <p:cNvPr id="26" name="Rectangle 25"/>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8" name="Rectangle 27"/>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30" name="Rectangle 29"/>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32" name="Rectangle 31"/>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34" name="Rectangle 33"/>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6" name="Rectangle 35"/>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Regel trotzdem mit ausgeliefert wird</a:t>
            </a:r>
          </a:p>
        </p:txBody>
      </p:sp>
      <p:sp>
        <p:nvSpPr>
          <p:cNvPr id="3" name="Text Placeholder 2"/>
          <p:cNvSpPr>
            <a:spLocks noGrp="1"/>
          </p:cNvSpPr>
          <p:nvPr>
            <p:ph type="body" idx="12" sz="quarter"/>
          </p:nvPr>
        </p:nvSpPr>
        <p:spPr/>
        <p:txBody>
          <a:bodyPr/>
          <a:lstStyle/>
          <a:p>
            <a:r>
              <a:t>Fall 2 · Phase 6</a:t>
            </a:r>
          </a:p>
        </p:txBody>
      </p:sp>
      <p:sp>
        <p:nvSpPr>
          <p:cNvPr id="4" name="Text Placeholder 3"/>
          <p:cNvSpPr>
            <a:spLocks noGrp="1"/>
          </p:cNvSpPr>
          <p:nvPr>
            <p:ph type="body" idx="13" sz="quarter"/>
          </p:nvPr>
        </p:nvSpPr>
        <p:spPr/>
        <p:txBody>
          <a:bodyPr/>
          <a:lstStyle/>
          <a:p>
            <a:r>
              <a:t>analytics/notebooks/02_Klassifikation_Wartungsrisiko.ipynb · Abschnitt 6</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Sie ist nicht der Verlierer des Vergleichs, sondern zwei Dinge, die das Modell im Betrieb braucht.</a:t>
            </a:r>
          </a:p>
        </p:txBody>
      </p:sp>
      <p:sp>
        <p:nvSpPr>
          <p:cNvPr id="6" name="Rectangle 5"/>
          <p:cNvSpPr/>
          <p:nvPr/>
        </p:nvSpPr>
        <p:spPr>
          <a:xfrm>
            <a:off x="1153160" y="16510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17780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Rückfallebene</a:t>
            </a:r>
          </a:p>
          <a:p>
            <a:pPr algn="l">
              <a:lnSpc>
                <a:spcPct val="95000"/>
              </a:lnSpc>
              <a:spcBef>
                <a:spcPts val="500"/>
              </a:spcBef>
            </a:pPr>
            <a:r>
              <a:rPr sz="1300" b="0">
                <a:solidFill>
                  <a:srgbClr val="404040"/>
                </a:solidFill>
              </a:rPr>
              <a:t>Wenn das Modell einmal nicht</a:t>
            </a:r>
          </a:p>
          <a:p>
            <a:pPr algn="l">
              <a:lnSpc>
                <a:spcPct val="95000"/>
              </a:lnSpc>
              <a:spcBef>
                <a:spcPts val="500"/>
              </a:spcBef>
            </a:pPr>
            <a:r>
              <a:rPr sz="1300" b="0">
                <a:solidFill>
                  <a:srgbClr val="404040"/>
                </a:solidFill>
              </a:rPr>
              <a:t>lädt — falscher Versionsstand,</a:t>
            </a:r>
          </a:p>
          <a:p>
            <a:pPr algn="l">
              <a:lnSpc>
                <a:spcPct val="95000"/>
              </a:lnSpc>
              <a:spcBef>
                <a:spcPts val="500"/>
              </a:spcBef>
            </a:pPr>
            <a:r>
              <a:rPr sz="1300" b="0">
                <a:solidFill>
                  <a:srgbClr val="404040"/>
                </a:solidFill>
              </a:rPr>
              <a:t>fehlende Bibliothek —,</a:t>
            </a:r>
          </a:p>
          <a:p>
            <a:pPr algn="l">
              <a:lnSpc>
                <a:spcPct val="95000"/>
              </a:lnSpc>
              <a:spcBef>
                <a:spcPts val="500"/>
              </a:spcBef>
            </a:pPr>
            <a:r>
              <a:rPr sz="1300" b="0">
                <a:solidFill>
                  <a:srgbClr val="404040"/>
                </a:solidFill>
              </a:rPr>
              <a:t>steht die Werkstatt nicht</a:t>
            </a:r>
          </a:p>
          <a:p>
            <a:pPr algn="l">
              <a:lnSpc>
                <a:spcPct val="95000"/>
              </a:lnSpc>
              <a:spcBef>
                <a:spcPts val="500"/>
              </a:spcBef>
            </a:pPr>
            <a:r>
              <a:rPr sz="1300" b="0">
                <a:solidFill>
                  <a:srgbClr val="404040"/>
                </a:solidFill>
              </a:rPr>
              <a:t>ohne Liste da.</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Eine SQL-Abfrage genügt.</a:t>
            </a:r>
          </a:p>
        </p:txBody>
      </p:sp>
      <p:sp>
        <p:nvSpPr>
          <p:cNvPr id="9" name="Rectangle 8"/>
          <p:cNvSpPr/>
          <p:nvPr/>
        </p:nvSpPr>
        <p:spPr>
          <a:xfrm>
            <a:off x="5113020" y="16510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6510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17780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Maßstab der Überwachung</a:t>
            </a:r>
          </a:p>
          <a:p>
            <a:pPr algn="l">
              <a:lnSpc>
                <a:spcPct val="95000"/>
              </a:lnSpc>
              <a:spcBef>
                <a:spcPts val="500"/>
              </a:spcBef>
            </a:pPr>
            <a:r>
              <a:rPr sz="1300" b="0">
                <a:solidFill>
                  <a:srgbClr val="404040"/>
                </a:solidFill>
              </a:rPr>
              <a:t>Ein Modell ohne Vergleichsgröße</a:t>
            </a:r>
          </a:p>
          <a:p>
            <a:pPr algn="l">
              <a:lnSpc>
                <a:spcPct val="95000"/>
              </a:lnSpc>
              <a:spcBef>
                <a:spcPts val="500"/>
              </a:spcBef>
            </a:pPr>
            <a:r>
              <a:rPr sz="1300" b="0">
                <a:solidFill>
                  <a:srgbClr val="404040"/>
                </a:solidFill>
              </a:rPr>
              <a:t>merkt sein eigenes Nachlassen</a:t>
            </a:r>
          </a:p>
          <a:p>
            <a:pPr algn="l">
              <a:lnSpc>
                <a:spcPct val="95000"/>
              </a:lnSpc>
              <a:spcBef>
                <a:spcPts val="500"/>
              </a:spcBef>
            </a:pPr>
            <a:r>
              <a:rPr sz="1300" b="0">
                <a:solidFill>
                  <a:srgbClr val="404040"/>
                </a:solidFill>
              </a:rPr>
              <a:t>nicht.</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Fällt der Abstand zur Regel auf</a:t>
            </a:r>
          </a:p>
          <a:p>
            <a:pPr algn="l">
              <a:lnSpc>
                <a:spcPct val="95000"/>
              </a:lnSpc>
              <a:spcBef>
                <a:spcPts val="500"/>
              </a:spcBef>
            </a:pPr>
            <a:r>
              <a:rPr sz="1300" b="0">
                <a:solidFill>
                  <a:srgbClr val="404040"/>
                </a:solidFill>
              </a:rPr>
              <a:t>null, ist die Nachricht klar —</a:t>
            </a:r>
          </a:p>
          <a:p>
            <a:pPr algn="l">
              <a:lnSpc>
                <a:spcPct val="95000"/>
              </a:lnSpc>
              <a:spcBef>
                <a:spcPts val="500"/>
              </a:spcBef>
            </a:pPr>
            <a:r>
              <a:rPr sz="1300" b="0">
                <a:solidFill>
                  <a:srgbClr val="404040"/>
                </a:solidFill>
              </a:rPr>
              <a:t>auch ohne neue Kennzahl.</a:t>
            </a:r>
          </a:p>
        </p:txBody>
      </p:sp>
      <p:sp>
        <p:nvSpPr>
          <p:cNvPr id="12" name="Rectangle 11"/>
          <p:cNvSpPr/>
          <p:nvPr/>
        </p:nvSpPr>
        <p:spPr>
          <a:xfrm>
            <a:off x="9081770" y="16510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6510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17780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Und für die Werkstatt</a:t>
            </a:r>
          </a:p>
          <a:p>
            <a:pPr algn="l">
              <a:lnSpc>
                <a:spcPct val="95000"/>
              </a:lnSpc>
              <a:spcBef>
                <a:spcPts val="500"/>
              </a:spcBef>
            </a:pPr>
            <a:r>
              <a:rPr sz="1300" b="0">
                <a:solidFill>
                  <a:srgbClr val="404040"/>
                </a:solidFill>
              </a:rPr>
              <a:t>Wer widersprechen kann, benutzt</a:t>
            </a:r>
          </a:p>
          <a:p>
            <a:pPr algn="l">
              <a:lnSpc>
                <a:spcPct val="95000"/>
              </a:lnSpc>
              <a:spcBef>
                <a:spcPts val="500"/>
              </a:spcBef>
            </a:pPr>
            <a:r>
              <a:rPr sz="1300" b="0">
                <a:solidFill>
                  <a:srgbClr val="404040"/>
                </a:solidFill>
              </a:rPr>
              <a:t>die Liste. Wer nur glauben kann,</a:t>
            </a:r>
          </a:p>
          <a:p>
            <a:pPr algn="l">
              <a:lnSpc>
                <a:spcPct val="95000"/>
              </a:lnSpc>
              <a:spcBef>
                <a:spcPts val="500"/>
              </a:spcBef>
            </a:pPr>
            <a:r>
              <a:rPr sz="1300" b="0">
                <a:solidFill>
                  <a:srgbClr val="404040"/>
                </a:solidFill>
              </a:rPr>
              <a:t>umgeht sie.</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Die Regel liefert für jedes Rad</a:t>
            </a:r>
          </a:p>
          <a:p>
            <a:pPr algn="l">
              <a:lnSpc>
                <a:spcPct val="95000"/>
              </a:lnSpc>
              <a:spcBef>
                <a:spcPts val="500"/>
              </a:spcBef>
            </a:pPr>
            <a:r>
              <a:rPr sz="1300" b="0">
                <a:solidFill>
                  <a:srgbClr val="404040"/>
                </a:solidFill>
              </a:rPr>
              <a:t>einen Satz, den jede</a:t>
            </a:r>
          </a:p>
          <a:p>
            <a:pPr algn="l">
              <a:lnSpc>
                <a:spcPct val="95000"/>
              </a:lnSpc>
              <a:spcBef>
                <a:spcPts val="500"/>
              </a:spcBef>
            </a:pPr>
            <a:r>
              <a:rPr sz="1300" b="0">
                <a:solidFill>
                  <a:srgbClr val="404040"/>
                </a:solidFill>
              </a:rPr>
              <a:t>Werkstattkraft nachprüfen kann.</a:t>
            </a:r>
          </a:p>
        </p:txBody>
      </p:sp>
      <p:sp>
        <p:nvSpPr>
          <p:cNvPr id="15" name="Rectangle 14"/>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7" name="Rectangle 1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9" name="Rectangle 18"/>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1" name="Rectangle 20"/>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3" name="Rectangle 22"/>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5" name="Rectangle 24"/>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Rückkopplung, die dieses Verfahren schwierig macht</a:t>
            </a:r>
          </a:p>
        </p:txBody>
      </p:sp>
      <p:sp>
        <p:nvSpPr>
          <p:cNvPr id="3" name="Text Placeholder 2"/>
          <p:cNvSpPr>
            <a:spLocks noGrp="1"/>
          </p:cNvSpPr>
          <p:nvPr>
            <p:ph type="body" idx="12" sz="quarter"/>
          </p:nvPr>
        </p:nvSpPr>
        <p:spPr/>
        <p:txBody>
          <a:bodyPr/>
          <a:lstStyle/>
          <a:p>
            <a:r>
              <a:t>Fall 2 · Phase 6</a:t>
            </a:r>
          </a:p>
        </p:txBody>
      </p:sp>
      <p:sp>
        <p:nvSpPr>
          <p:cNvPr id="4" name="Text Placeholder 3"/>
          <p:cNvSpPr>
            <a:spLocks noGrp="1"/>
          </p:cNvSpPr>
          <p:nvPr>
            <p:ph type="body" idx="13" sz="quarter"/>
          </p:nvPr>
        </p:nvSpPr>
        <p:spPr/>
        <p:txBody>
          <a:bodyPr/>
          <a:lstStyle/>
          <a:p>
            <a:r>
              <a:t>analytics/notebooks/02_Klassifikation_Wartungsrisiko.ipynb · Abschnitt 6</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Wer die Liste abarbeitet, verändert die Daten, aus denen das nächste Modell lernt. Diese Falle betrifft jede vorausschauende Wartung.</a:t>
            </a:r>
          </a:p>
        </p:txBody>
      </p:sp>
      <p:sp>
        <p:nvSpPr>
          <p:cNvPr id="6" name="Rectangle 5"/>
          <p:cNvSpPr/>
          <p:nvPr/>
        </p:nvSpPr>
        <p:spPr>
          <a:xfrm>
            <a:off x="1051560" y="2079887"/>
            <a:ext cx="11677650" cy="3561824"/>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nb2-rueckkopplung.png"/>
          <p:cNvPicPr>
            <a:picLocks noChangeAspect="1"/>
          </p:cNvPicPr>
          <p:nvPr/>
        </p:nvPicPr>
        <p:blipFill>
          <a:blip r:embed="rId2"/>
          <a:stretch>
            <a:fillRect/>
          </a:stretch>
        </p:blipFill>
        <p:spPr>
          <a:xfrm>
            <a:off x="1153160" y="2181487"/>
            <a:ext cx="11474450" cy="3358624"/>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Kreislauf schließt sich</a:t>
            </a:r>
          </a:p>
        </p:txBody>
      </p:sp>
      <p:sp>
        <p:nvSpPr>
          <p:cNvPr id="3" name="Text Placeholder 2"/>
          <p:cNvSpPr>
            <a:spLocks noGrp="1"/>
          </p:cNvSpPr>
          <p:nvPr>
            <p:ph type="body" idx="12" sz="quarter"/>
          </p:nvPr>
        </p:nvSpPr>
        <p:spPr/>
        <p:txBody>
          <a:bodyPr/>
          <a:lstStyle/>
          <a:p>
            <a:r>
              <a:t>Fall 2 · Abschluss</a:t>
            </a:r>
          </a:p>
        </p:txBody>
      </p:sp>
      <p:sp>
        <p:nvSpPr>
          <p:cNvPr id="4" name="Text Placeholder 3"/>
          <p:cNvSpPr>
            <a:spLocks noGrp="1"/>
          </p:cNvSpPr>
          <p:nvPr>
            <p:ph type="body" idx="13" sz="quarter"/>
          </p:nvPr>
        </p:nvSpPr>
        <p:spPr/>
        <p:txBody>
          <a:bodyPr/>
          <a:lstStyle/>
          <a:p>
            <a:r>
              <a:t>analytics/notebooks/02_Klassifikation_Wartungsrisiko.ipynb</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Ein Fall, der mit einem negativen Modellurteil endet — und trotzdem ein Erfolg ist.</a:t>
            </a:r>
          </a:p>
        </p:txBody>
      </p:sp>
      <p:sp>
        <p:nvSpPr>
          <p:cNvPr id="6" name="Rectangle 5"/>
          <p:cNvSpPr/>
          <p:nvPr/>
        </p:nvSpPr>
        <p:spPr>
          <a:xfrm>
            <a:off x="1153160" y="1651000"/>
            <a:ext cx="2921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Phase</a:t>
            </a:r>
          </a:p>
        </p:txBody>
      </p:sp>
      <p:sp>
        <p:nvSpPr>
          <p:cNvPr id="7" name="Rectangle 6"/>
          <p:cNvSpPr/>
          <p:nvPr/>
        </p:nvSpPr>
        <p:spPr>
          <a:xfrm>
            <a:off x="4074160" y="1651000"/>
            <a:ext cx="855345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Was dabei herauskam</a:t>
            </a:r>
          </a:p>
        </p:txBody>
      </p:sp>
      <p:sp>
        <p:nvSpPr>
          <p:cNvPr id="8" name="Rectangle 7"/>
          <p:cNvSpPr/>
          <p:nvPr/>
        </p:nvSpPr>
        <p:spPr>
          <a:xfrm>
            <a:off x="1153160" y="2159000"/>
            <a:ext cx="2921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 Business Understanding</a:t>
            </a:r>
          </a:p>
        </p:txBody>
      </p:sp>
      <p:sp>
        <p:nvSpPr>
          <p:cNvPr id="9" name="Rectangle 8"/>
          <p:cNvSpPr/>
          <p:nvPr/>
        </p:nvSpPr>
        <p:spPr>
          <a:xfrm>
            <a:off x="4074160" y="2159000"/>
            <a:ext cx="8553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Kostenmatrix 180 € gegen 25 €, zwei Kriterien — eines davon der Vergleich mit der Faustregel</a:t>
            </a:r>
          </a:p>
        </p:txBody>
      </p:sp>
      <p:sp>
        <p:nvSpPr>
          <p:cNvPr id="10" name="Rectangle 9"/>
          <p:cNvSpPr/>
          <p:nvPr/>
        </p:nvSpPr>
        <p:spPr>
          <a:xfrm>
            <a:off x="1153160" y="2667000"/>
            <a:ext cx="2921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2 Data Understanding</a:t>
            </a:r>
          </a:p>
        </p:txBody>
      </p:sp>
      <p:sp>
        <p:nvSpPr>
          <p:cNvPr id="11" name="Rectangle 10"/>
          <p:cNvSpPr/>
          <p:nvPr/>
        </p:nvSpPr>
        <p:spPr>
          <a:xfrm>
            <a:off x="4074160" y="2667000"/>
            <a:ext cx="8553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r ≈ 0,7, aber nicht deterministisch. 44 % melden sich, die Werkstatt schafft 26 %</a:t>
            </a:r>
          </a:p>
        </p:txBody>
      </p:sp>
      <p:sp>
        <p:nvSpPr>
          <p:cNvPr id="12" name="Rectangle 11"/>
          <p:cNvSpPr/>
          <p:nvPr/>
        </p:nvSpPr>
        <p:spPr>
          <a:xfrm>
            <a:off x="1153160" y="3175000"/>
            <a:ext cx="2921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 Data Preparation</a:t>
            </a:r>
          </a:p>
        </p:txBody>
      </p:sp>
      <p:sp>
        <p:nvSpPr>
          <p:cNvPr id="13" name="Rectangle 12"/>
          <p:cNvSpPr/>
          <p:nvPr/>
        </p:nvSpPr>
        <p:spPr>
          <a:xfrm>
            <a:off x="4074160" y="3175000"/>
            <a:ext cx="8553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Zeitlicher Schnitt, acht Stichtage, jüngster als Test</a:t>
            </a:r>
          </a:p>
        </p:txBody>
      </p:sp>
      <p:sp>
        <p:nvSpPr>
          <p:cNvPr id="14" name="Rectangle 13"/>
          <p:cNvSpPr/>
          <p:nvPr/>
        </p:nvSpPr>
        <p:spPr>
          <a:xfrm>
            <a:off x="1153160" y="3683000"/>
            <a:ext cx="2921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4 Modeling</a:t>
            </a:r>
          </a:p>
        </p:txBody>
      </p:sp>
      <p:sp>
        <p:nvSpPr>
          <p:cNvPr id="15" name="Rectangle 14"/>
          <p:cNvSpPr/>
          <p:nvPr/>
        </p:nvSpPr>
        <p:spPr>
          <a:xfrm>
            <a:off x="4074160" y="3683000"/>
            <a:ext cx="8553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Erst zwei Faustregeln, dann Baum und Wald mit class_weight aus der Kostenmatrix</a:t>
            </a:r>
          </a:p>
        </p:txBody>
      </p:sp>
      <p:sp>
        <p:nvSpPr>
          <p:cNvPr id="16" name="Rectangle 15"/>
          <p:cNvSpPr/>
          <p:nvPr/>
        </p:nvSpPr>
        <p:spPr>
          <a:xfrm>
            <a:off x="1153160" y="4191000"/>
            <a:ext cx="2921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5 Evaluation</a:t>
            </a:r>
          </a:p>
        </p:txBody>
      </p:sp>
      <p:sp>
        <p:nvSpPr>
          <p:cNvPr id="17" name="Rectangle 16"/>
          <p:cNvSpPr/>
          <p:nvPr/>
        </p:nvSpPr>
        <p:spPr>
          <a:xfrm>
            <a:off x="4074160" y="4191000"/>
            <a:ext cx="8553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Der Wald schlägt die Faustregel: 71,7 % gegen 63,3 %, 11.225 € gegen 12.250 €</a:t>
            </a:r>
          </a:p>
        </p:txBody>
      </p:sp>
      <p:sp>
        <p:nvSpPr>
          <p:cNvPr id="18" name="Rectangle 17"/>
          <p:cNvSpPr/>
          <p:nvPr/>
        </p:nvSpPr>
        <p:spPr>
          <a:xfrm>
            <a:off x="1153160" y="4699000"/>
            <a:ext cx="2921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Deployment</a:t>
            </a:r>
          </a:p>
        </p:txBody>
      </p:sp>
      <p:sp>
        <p:nvSpPr>
          <p:cNvPr id="19" name="Rectangle 18"/>
          <p:cNvSpPr/>
          <p:nvPr/>
        </p:nvSpPr>
        <p:spPr>
          <a:xfrm>
            <a:off x="4074160" y="4699000"/>
            <a:ext cx="8553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Das Modell — mit der Regel als Rückfallebene und Maßstab, dazu Wartungsliste und Rückkopplungsfalle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 Fall 3 — Clustering: Erfolg ohne Zielgröße</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Wie legt man Erfolgskriterien fest, wenn es gar keine richtige Antwort gibt, an der man messen könnte?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Fall auf einen Blick</a:t>
            </a:r>
          </a:p>
        </p:txBody>
      </p:sp>
      <p:sp>
        <p:nvSpPr>
          <p:cNvPr id="3" name="Text Placeholder 2"/>
          <p:cNvSpPr>
            <a:spLocks noGrp="1"/>
          </p:cNvSpPr>
          <p:nvPr>
            <p:ph type="body" idx="12" sz="quarter"/>
          </p:nvPr>
        </p:nvSpPr>
        <p:spPr/>
        <p:txBody>
          <a:bodyPr/>
          <a:lstStyle/>
          <a:p>
            <a:r>
              <a:t>Fall 3</a:t>
            </a:r>
          </a:p>
        </p:txBody>
      </p:sp>
      <p:sp>
        <p:nvSpPr>
          <p:cNvPr id="4" name="Text Placeholder 3"/>
          <p:cNvSpPr>
            <a:spLocks noGrp="1"/>
          </p:cNvSpPr>
          <p:nvPr>
            <p:ph type="body" idx="13" sz="quarter"/>
          </p:nvPr>
        </p:nvSpPr>
        <p:spPr/>
        <p:txBody>
          <a:bodyPr/>
          <a:lstStyle/>
          <a:p>
            <a:r>
              <a:t>analytics/notebooks/03_Clustering_Stationen_und_Kunden.ipynb</a:t>
            </a:r>
          </a:p>
        </p:txBody>
      </p:sp>
      <p:sp>
        <p:nvSpPr>
          <p:cNvPr id="5" name="Rectangle 4"/>
          <p:cNvSpPr/>
          <p:nvPr/>
        </p:nvSpPr>
        <p:spPr>
          <a:xfrm>
            <a:off x="1153160" y="1346200"/>
            <a:ext cx="11474450" cy="27940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76200" cy="2794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07160" y="1447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Zwei Fragen</a:t>
            </a:r>
          </a:p>
        </p:txBody>
      </p:sp>
      <p:sp>
        <p:nvSpPr>
          <p:cNvPr id="8" name="TextBox 7"/>
          <p:cNvSpPr txBox="1"/>
          <p:nvPr/>
        </p:nvSpPr>
        <p:spPr>
          <a:xfrm>
            <a:off x="3820160" y="1447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A) Welche Stationstypen gibt es? B) Welche Kundengruppen?</a:t>
            </a:r>
          </a:p>
        </p:txBody>
      </p:sp>
      <p:sp>
        <p:nvSpPr>
          <p:cNvPr id="9" name="TextBox 8"/>
          <p:cNvSpPr txBox="1"/>
          <p:nvPr/>
        </p:nvSpPr>
        <p:spPr>
          <a:xfrm>
            <a:off x="1407160" y="18796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Analytisches Ziel</a:t>
            </a:r>
          </a:p>
        </p:txBody>
      </p:sp>
      <p:sp>
        <p:nvSpPr>
          <p:cNvPr id="10" name="TextBox 9"/>
          <p:cNvSpPr txBox="1"/>
          <p:nvPr/>
        </p:nvSpPr>
        <p:spPr>
          <a:xfrm>
            <a:off x="3820160" y="18796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Gruppen finden, die niemand vorgegeben hat</a:t>
            </a:r>
          </a:p>
        </p:txBody>
      </p:sp>
      <p:sp>
        <p:nvSpPr>
          <p:cNvPr id="11" name="TextBox 10"/>
          <p:cNvSpPr txBox="1"/>
          <p:nvPr/>
        </p:nvSpPr>
        <p:spPr>
          <a:xfrm>
            <a:off x="1407160" y="23114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Das Neue</a:t>
            </a:r>
          </a:p>
        </p:txBody>
      </p:sp>
      <p:sp>
        <p:nvSpPr>
          <p:cNvPr id="12" name="TextBox 11"/>
          <p:cNvSpPr txBox="1"/>
          <p:nvPr/>
        </p:nvSpPr>
        <p:spPr>
          <a:xfrm>
            <a:off x="3820160" y="23114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Es gibt keine Zielgröße — also auch keine Trefferquote</a:t>
            </a:r>
          </a:p>
        </p:txBody>
      </p:sp>
      <p:sp>
        <p:nvSpPr>
          <p:cNvPr id="13" name="TextBox 12"/>
          <p:cNvSpPr txBox="1"/>
          <p:nvPr/>
        </p:nvSpPr>
        <p:spPr>
          <a:xfrm>
            <a:off x="1407160" y="27432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Erfolgskriterien</a:t>
            </a:r>
          </a:p>
        </p:txBody>
      </p:sp>
      <p:sp>
        <p:nvSpPr>
          <p:cNvPr id="14" name="TextBox 13"/>
          <p:cNvSpPr txBox="1"/>
          <p:nvPr/>
        </p:nvSpPr>
        <p:spPr>
          <a:xfrm>
            <a:off x="3820160" y="27432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Benennbar · unterschiedlich behandelbar · groß genug · stabil</a:t>
            </a:r>
          </a:p>
        </p:txBody>
      </p:sp>
      <p:sp>
        <p:nvSpPr>
          <p:cNvPr id="15" name="TextBox 14"/>
          <p:cNvSpPr txBox="1"/>
          <p:nvPr/>
        </p:nvSpPr>
        <p:spPr>
          <a:xfrm>
            <a:off x="1407160" y="31750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Verfahren</a:t>
            </a:r>
          </a:p>
        </p:txBody>
      </p:sp>
      <p:sp>
        <p:nvSpPr>
          <p:cNvPr id="16" name="TextBox 15"/>
          <p:cNvSpPr txBox="1"/>
          <p:nvPr/>
        </p:nvSpPr>
        <p:spPr>
          <a:xfrm>
            <a:off x="3820160" y="31750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k-Means, k über Ellenbogenmethode und Silhouettenwert</a:t>
            </a:r>
          </a:p>
        </p:txBody>
      </p:sp>
      <p:sp>
        <p:nvSpPr>
          <p:cNvPr id="17" name="TextBox 16"/>
          <p:cNvSpPr txBox="1"/>
          <p:nvPr/>
        </p:nvSpPr>
        <p:spPr>
          <a:xfrm>
            <a:off x="1407160" y="3606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Urteil</a:t>
            </a:r>
          </a:p>
        </p:txBody>
      </p:sp>
      <p:sp>
        <p:nvSpPr>
          <p:cNvPr id="18" name="TextBox 17"/>
          <p:cNvSpPr txBox="1"/>
          <p:nvPr/>
        </p:nvSpPr>
        <p:spPr>
          <a:xfrm>
            <a:off x="3820160" y="3606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Vier Stationstypen, gegen die verdeckte Wahrheit geprüft: 100 % — und zwei Befunde, die weh tun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Erfolgskriterien ohne richtige Antwort</a:t>
            </a:r>
          </a:p>
        </p:txBody>
      </p:sp>
      <p:sp>
        <p:nvSpPr>
          <p:cNvPr id="3" name="Text Placeholder 2"/>
          <p:cNvSpPr>
            <a:spLocks noGrp="1"/>
          </p:cNvSpPr>
          <p:nvPr>
            <p:ph type="body" idx="12" sz="quarter"/>
          </p:nvPr>
        </p:nvSpPr>
        <p:spPr/>
        <p:txBody>
          <a:bodyPr/>
          <a:lstStyle/>
          <a:p>
            <a:r>
              <a:t>Fall 3 · Phase 1</a:t>
            </a:r>
          </a:p>
        </p:txBody>
      </p:sp>
      <p:sp>
        <p:nvSpPr>
          <p:cNvPr id="4" name="Text Placeholder 3"/>
          <p:cNvSpPr>
            <a:spLocks noGrp="1"/>
          </p:cNvSpPr>
          <p:nvPr>
            <p:ph type="body" idx="13" sz="quarter"/>
          </p:nvPr>
        </p:nvSpPr>
        <p:spPr/>
        <p:txBody>
          <a:bodyPr/>
          <a:lstStyle/>
          <a:p>
            <a:r>
              <a:t>analytics/notebooks/03_Clustering_Stationen_und_Kunden.ipynb · Abschnitt 1</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Ohne Label gibt es keine Trefferquote. Die Kriterien kommen deshalb aus dem Betrieb — und sie sind schärfer, als sie klingen.</a:t>
            </a:r>
          </a:p>
        </p:txBody>
      </p:sp>
      <p:sp>
        <p:nvSpPr>
          <p:cNvPr id="6" name="Rectangle 5"/>
          <p:cNvSpPr/>
          <p:nvPr/>
        </p:nvSpPr>
        <p:spPr>
          <a:xfrm>
            <a:off x="1153160" y="18796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21082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1955800"/>
            <a:ext cx="10458450" cy="635000"/>
          </a:xfrm>
          <a:prstGeom prst="rect">
            <a:avLst/>
          </a:prstGeom>
          <a:noFill/>
        </p:spPr>
        <p:txBody>
          <a:bodyPr wrap="square" lIns="0" tIns="0" rIns="0" bIns="0" anchor="ctr">
            <a:spAutoFit/>
          </a:bodyPr>
          <a:lstStyle/>
          <a:p>
            <a:pPr>
              <a:lnSpc>
                <a:spcPct val="95000"/>
              </a:lnSpc>
            </a:pPr>
            <a:r>
              <a:rPr sz="1300" b="1">
                <a:solidFill>
                  <a:srgbClr val="003E6E"/>
                </a:solidFill>
              </a:rPr>
              <a:t>Benennbar  </a:t>
            </a:r>
            <a:r>
              <a:rPr sz="1300">
                <a:solidFill>
                  <a:srgbClr val="404040"/>
                </a:solidFill>
              </a:rPr>
              <a:t>Wenn die Disposition der Gruppe keinen Namen geben kann, ist sie keine Gruppe</a:t>
            </a:r>
          </a:p>
        </p:txBody>
      </p:sp>
      <p:sp>
        <p:nvSpPr>
          <p:cNvPr id="10" name="Rectangle 9"/>
          <p:cNvSpPr/>
          <p:nvPr/>
        </p:nvSpPr>
        <p:spPr>
          <a:xfrm>
            <a:off x="1153160" y="27813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27813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30960" y="30099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3" name="TextBox 12"/>
          <p:cNvSpPr txBox="1"/>
          <p:nvPr/>
        </p:nvSpPr>
        <p:spPr>
          <a:xfrm>
            <a:off x="1788160" y="2857500"/>
            <a:ext cx="10458450" cy="635000"/>
          </a:xfrm>
          <a:prstGeom prst="rect">
            <a:avLst/>
          </a:prstGeom>
          <a:noFill/>
        </p:spPr>
        <p:txBody>
          <a:bodyPr wrap="square" lIns="0" tIns="0" rIns="0" bIns="0" anchor="ctr">
            <a:spAutoFit/>
          </a:bodyPr>
          <a:lstStyle/>
          <a:p>
            <a:pPr>
              <a:lnSpc>
                <a:spcPct val="95000"/>
              </a:lnSpc>
            </a:pPr>
            <a:r>
              <a:rPr sz="1300" b="1">
                <a:solidFill>
                  <a:srgbClr val="003E6E"/>
                </a:solidFill>
              </a:rPr>
              <a:t>Behandelbar  </a:t>
            </a:r>
            <a:r>
              <a:rPr sz="1300">
                <a:solidFill>
                  <a:srgbClr val="404040"/>
                </a:solidFill>
              </a:rPr>
              <a:t>Zwei Gruppen, die man gleich behandelt, sind eine Gruppe</a:t>
            </a:r>
          </a:p>
        </p:txBody>
      </p:sp>
      <p:sp>
        <p:nvSpPr>
          <p:cNvPr id="14" name="Rectangle 13"/>
          <p:cNvSpPr/>
          <p:nvPr/>
        </p:nvSpPr>
        <p:spPr>
          <a:xfrm>
            <a:off x="1153160" y="36830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53160" y="36830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330960" y="39116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7" name="TextBox 16"/>
          <p:cNvSpPr txBox="1"/>
          <p:nvPr/>
        </p:nvSpPr>
        <p:spPr>
          <a:xfrm>
            <a:off x="1788160" y="3759200"/>
            <a:ext cx="10458450" cy="635000"/>
          </a:xfrm>
          <a:prstGeom prst="rect">
            <a:avLst/>
          </a:prstGeom>
          <a:noFill/>
        </p:spPr>
        <p:txBody>
          <a:bodyPr wrap="square" lIns="0" tIns="0" rIns="0" bIns="0" anchor="ctr">
            <a:spAutoFit/>
          </a:bodyPr>
          <a:lstStyle/>
          <a:p>
            <a:pPr>
              <a:lnSpc>
                <a:spcPct val="95000"/>
              </a:lnSpc>
            </a:pPr>
            <a:r>
              <a:rPr sz="1300" b="1">
                <a:solidFill>
                  <a:srgbClr val="003E6E"/>
                </a:solidFill>
              </a:rPr>
              <a:t>Groß genug  </a:t>
            </a:r>
            <a:r>
              <a:rPr sz="1300">
                <a:solidFill>
                  <a:srgbClr val="404040"/>
                </a:solidFill>
              </a:rPr>
              <a:t>Eine Gruppe mit drei Mitgliedern rechtfertigt keinen eigenen Prozess</a:t>
            </a:r>
          </a:p>
        </p:txBody>
      </p:sp>
      <p:sp>
        <p:nvSpPr>
          <p:cNvPr id="18" name="Rectangle 17"/>
          <p:cNvSpPr/>
          <p:nvPr/>
        </p:nvSpPr>
        <p:spPr>
          <a:xfrm>
            <a:off x="1153160" y="4584700"/>
            <a:ext cx="11474450" cy="787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53160" y="4584700"/>
            <a:ext cx="50800" cy="787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330960" y="48133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1" name="TextBox 20"/>
          <p:cNvSpPr txBox="1"/>
          <p:nvPr/>
        </p:nvSpPr>
        <p:spPr>
          <a:xfrm>
            <a:off x="1788160" y="4660900"/>
            <a:ext cx="10458450" cy="635000"/>
          </a:xfrm>
          <a:prstGeom prst="rect">
            <a:avLst/>
          </a:prstGeom>
          <a:noFill/>
        </p:spPr>
        <p:txBody>
          <a:bodyPr wrap="square" lIns="0" tIns="0" rIns="0" bIns="0" anchor="ctr">
            <a:spAutoFit/>
          </a:bodyPr>
          <a:lstStyle/>
          <a:p>
            <a:pPr>
              <a:lnSpc>
                <a:spcPct val="95000"/>
              </a:lnSpc>
            </a:pPr>
            <a:r>
              <a:rPr sz="1300" b="1">
                <a:solidFill>
                  <a:srgbClr val="003E6E"/>
                </a:solidFill>
              </a:rPr>
              <a:t>Stabil  </a:t>
            </a:r>
            <a:r>
              <a:rPr sz="1300">
                <a:solidFill>
                  <a:srgbClr val="404040"/>
                </a:solidFill>
              </a:rPr>
              <a:t>Andere Zeiträume, ähnliche Gruppen — sonst hat man Rauschen gruppiert</a:t>
            </a:r>
          </a:p>
        </p:txBody>
      </p:sp>
      <p:sp>
        <p:nvSpPr>
          <p:cNvPr id="22" name="Rectangle 21"/>
          <p:cNvSpPr/>
          <p:nvPr/>
        </p:nvSpPr>
        <p:spPr>
          <a:xfrm>
            <a:off x="1153160"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1 Business</a:t>
            </a:r>
          </a:p>
          <a:p>
            <a:pPr algn="ctr">
              <a:lnSpc>
                <a:spcPct val="95000"/>
              </a:lnSpc>
            </a:pPr>
            <a:r>
              <a:rPr sz="1300" b="1">
                <a:solidFill>
                  <a:srgbClr val="FFFFFF"/>
                </a:solidFill>
              </a:rPr>
              <a:t>Understanding</a:t>
            </a:r>
          </a:p>
        </p:txBody>
      </p:sp>
      <p:sp>
        <p:nvSpPr>
          <p:cNvPr id="24" name="Rectangle 23"/>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6" name="Rectangle 25"/>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8" name="Rectangle 27"/>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30" name="Rectangle 29"/>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32" name="Rectangle 31"/>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Schnelldurchlauf</a:t>
            </a:r>
          </a:p>
        </p:txBody>
      </p:sp>
      <p:sp>
        <p:nvSpPr>
          <p:cNvPr id="3" name="Text Placeholder 2"/>
          <p:cNvSpPr>
            <a:spLocks noGrp="1"/>
          </p:cNvSpPr>
          <p:nvPr>
            <p:ph type="body" idx="12" sz="quarter"/>
          </p:nvPr>
        </p:nvSpPr>
        <p:spPr/>
        <p:txBody>
          <a:bodyPr/>
          <a:lstStyle/>
          <a:p>
            <a:r>
              <a:t>Fall 3 · Phasen 2 und 3</a:t>
            </a:r>
          </a:p>
        </p:txBody>
      </p:sp>
      <p:sp>
        <p:nvSpPr>
          <p:cNvPr id="4" name="Text Placeholder 3"/>
          <p:cNvSpPr>
            <a:spLocks noGrp="1"/>
          </p:cNvSpPr>
          <p:nvPr>
            <p:ph type="body" idx="13" sz="quarter"/>
          </p:nvPr>
        </p:nvSpPr>
        <p:spPr/>
        <p:txBody>
          <a:bodyPr/>
          <a:lstStyle/>
          <a:p>
            <a:r>
              <a:t>analytics/notebooks/03_Clustering_Stationen_und_Kunden.ipynb</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Was die Daten hergeben — und warum hier zwingend standardisiert werden muss.</a:t>
            </a:r>
          </a:p>
        </p:txBody>
      </p:sp>
      <p:sp>
        <p:nvSpPr>
          <p:cNvPr id="6" name="Rectangle 5"/>
          <p:cNvSpPr/>
          <p:nvPr/>
        </p:nvSpPr>
        <p:spPr>
          <a:xfrm>
            <a:off x="1153160" y="1651000"/>
            <a:ext cx="11474450" cy="965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965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19685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1727200"/>
            <a:ext cx="10458450" cy="812800"/>
          </a:xfrm>
          <a:prstGeom prst="rect">
            <a:avLst/>
          </a:prstGeom>
          <a:noFill/>
        </p:spPr>
        <p:txBody>
          <a:bodyPr wrap="square" lIns="0" tIns="0" rIns="0" bIns="0" anchor="ctr">
            <a:spAutoFit/>
          </a:bodyPr>
          <a:lstStyle/>
          <a:p>
            <a:pPr>
              <a:lnSpc>
                <a:spcPct val="95000"/>
              </a:lnSpc>
            </a:pPr>
            <a:r>
              <a:rPr sz="1300" b="1">
                <a:solidFill>
                  <a:srgbClr val="003E6E"/>
                </a:solidFill>
              </a:rPr>
              <a:t>Phase 2  </a:t>
            </a:r>
            <a:r>
              <a:rPr sz="1300">
                <a:solidFill>
                  <a:srgbClr val="404040"/>
                </a:solidFill>
              </a:rPr>
              <a:t>Die Stammdaten enthalten keinen Stationstyp. Das Muster steckt nicht in den Attributen, sondern im Verhalten über den Tag</a:t>
            </a:r>
          </a:p>
        </p:txBody>
      </p:sp>
      <p:sp>
        <p:nvSpPr>
          <p:cNvPr id="10" name="Rectangle 9"/>
          <p:cNvSpPr/>
          <p:nvPr/>
        </p:nvSpPr>
        <p:spPr>
          <a:xfrm>
            <a:off x="1153160" y="2743200"/>
            <a:ext cx="11474450" cy="965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2743200"/>
            <a:ext cx="50800" cy="965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30960" y="3060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3" name="TextBox 12"/>
          <p:cNvSpPr txBox="1"/>
          <p:nvPr/>
        </p:nvSpPr>
        <p:spPr>
          <a:xfrm>
            <a:off x="1788160" y="2819400"/>
            <a:ext cx="10458450" cy="812800"/>
          </a:xfrm>
          <a:prstGeom prst="rect">
            <a:avLst/>
          </a:prstGeom>
          <a:noFill/>
        </p:spPr>
        <p:txBody>
          <a:bodyPr wrap="square" lIns="0" tIns="0" rIns="0" bIns="0" anchor="ctr">
            <a:spAutoFit/>
          </a:bodyPr>
          <a:lstStyle/>
          <a:p>
            <a:pPr>
              <a:lnSpc>
                <a:spcPct val="95000"/>
              </a:lnSpc>
            </a:pPr>
            <a:r>
              <a:rPr sz="1300" b="1">
                <a:solidFill>
                  <a:srgbClr val="003E6E"/>
                </a:solidFill>
              </a:rPr>
              <a:t>Phase 3.A  </a:t>
            </a:r>
            <a:r>
              <a:rPr sz="1300">
                <a:solidFill>
                  <a:srgbClr val="404040"/>
                </a:solidFill>
              </a:rPr>
              <a:t>Tagesgang je Station, normiert und standardisiert</a:t>
            </a:r>
          </a:p>
        </p:txBody>
      </p:sp>
      <p:sp>
        <p:nvSpPr>
          <p:cNvPr id="14" name="Rectangle 13"/>
          <p:cNvSpPr/>
          <p:nvPr/>
        </p:nvSpPr>
        <p:spPr>
          <a:xfrm>
            <a:off x="1153160" y="3835400"/>
            <a:ext cx="11474450" cy="965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53160" y="3835400"/>
            <a:ext cx="50800" cy="965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330960" y="41529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7" name="TextBox 16"/>
          <p:cNvSpPr txBox="1"/>
          <p:nvPr/>
        </p:nvSpPr>
        <p:spPr>
          <a:xfrm>
            <a:off x="1788160" y="3911600"/>
            <a:ext cx="10458450" cy="812800"/>
          </a:xfrm>
          <a:prstGeom prst="rect">
            <a:avLst/>
          </a:prstGeom>
          <a:noFill/>
        </p:spPr>
        <p:txBody>
          <a:bodyPr wrap="square" lIns="0" tIns="0" rIns="0" bIns="0" anchor="ctr">
            <a:spAutoFit/>
          </a:bodyPr>
          <a:lstStyle/>
          <a:p>
            <a:pPr>
              <a:lnSpc>
                <a:spcPct val="95000"/>
              </a:lnSpc>
            </a:pPr>
            <a:r>
              <a:rPr sz="1300" b="1">
                <a:solidFill>
                  <a:srgbClr val="003E6E"/>
                </a:solidFill>
              </a:rPr>
              <a:t>Phase 3.B  </a:t>
            </a:r>
            <a:r>
              <a:rPr sz="1300">
                <a:solidFill>
                  <a:srgbClr val="404040"/>
                </a:solidFill>
              </a:rPr>
              <a:t>RFM über 365 Tage: Recency, Frequency, Monetary — Frequenz und Umsatz logarithmiert, weil beide stark rechtsschief sind</a:t>
            </a:r>
          </a:p>
        </p:txBody>
      </p:sp>
      <p:sp>
        <p:nvSpPr>
          <p:cNvPr id="18" name="Rectangle 17"/>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0" name="Rectangle 19"/>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2" name="Rectangle 21"/>
          <p:cNvSpPr/>
          <p:nvPr/>
        </p:nvSpPr>
        <p:spPr>
          <a:xfrm>
            <a:off x="4999143"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3 Data</a:t>
            </a:r>
          </a:p>
          <a:p>
            <a:pPr algn="ctr">
              <a:lnSpc>
                <a:spcPct val="95000"/>
              </a:lnSpc>
            </a:pPr>
            <a:r>
              <a:rPr sz="1300" b="1">
                <a:solidFill>
                  <a:srgbClr val="FFFFFF"/>
                </a:solidFill>
              </a:rPr>
              <a:t>Preparation</a:t>
            </a:r>
          </a:p>
        </p:txBody>
      </p:sp>
      <p:sp>
        <p:nvSpPr>
          <p:cNvPr id="24" name="Rectangle 23"/>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6" name="Rectangle 25"/>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8" name="Rectangle 27"/>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viele Gruppen? Zwei Hinweise, keine Antwort</a:t>
            </a:r>
          </a:p>
        </p:txBody>
      </p:sp>
      <p:sp>
        <p:nvSpPr>
          <p:cNvPr id="3" name="Text Placeholder 2"/>
          <p:cNvSpPr>
            <a:spLocks noGrp="1"/>
          </p:cNvSpPr>
          <p:nvPr>
            <p:ph type="body" idx="12" sz="quarter"/>
          </p:nvPr>
        </p:nvSpPr>
        <p:spPr/>
        <p:txBody>
          <a:bodyPr/>
          <a:lstStyle/>
          <a:p>
            <a:r>
              <a:t>Fall 3 · Phase 4</a:t>
            </a:r>
          </a:p>
        </p:txBody>
      </p:sp>
      <p:sp>
        <p:nvSpPr>
          <p:cNvPr id="4" name="Text Placeholder 3"/>
          <p:cNvSpPr>
            <a:spLocks noGrp="1"/>
          </p:cNvSpPr>
          <p:nvPr>
            <p:ph type="body" idx="13" sz="quarter"/>
          </p:nvPr>
        </p:nvSpPr>
        <p:spPr/>
        <p:txBody>
          <a:bodyPr/>
          <a:lstStyle/>
          <a:p>
            <a:r>
              <a:t>analytics/notebooks/03_Clustering_Stationen_und_Kunden.ipynb · Abschnitt 4</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k wird nicht berechnet, sondern begründet. Zwei Werkzeuge helfen — entscheiden muss der Mensch.</a:t>
            </a:r>
          </a:p>
        </p:txBody>
      </p:sp>
      <p:sp>
        <p:nvSpPr>
          <p:cNvPr id="6" name="Rectangle 5"/>
          <p:cNvSpPr/>
          <p:nvPr/>
        </p:nvSpPr>
        <p:spPr>
          <a:xfrm>
            <a:off x="1153160" y="1651000"/>
            <a:ext cx="3545840" cy="241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2413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1778000"/>
            <a:ext cx="3215640" cy="2159000"/>
          </a:xfrm>
          <a:prstGeom prst="rect">
            <a:avLst/>
          </a:prstGeom>
          <a:noFill/>
        </p:spPr>
        <p:txBody>
          <a:bodyPr wrap="square" lIns="0" tIns="0" rIns="0" bIns="0">
            <a:spAutoFit/>
          </a:bodyPr>
          <a:lstStyle/>
          <a:p>
            <a:pPr algn="l">
              <a:lnSpc>
                <a:spcPct val="95000"/>
              </a:lnSpc>
            </a:pPr>
            <a:r>
              <a:rPr sz="1500" b="1">
                <a:solidFill>
                  <a:srgbClr val="003E6E"/>
                </a:solidFill>
              </a:rPr>
              <a:t>Ellenbogenmethode</a:t>
            </a:r>
          </a:p>
          <a:p>
            <a:pPr algn="l">
              <a:lnSpc>
                <a:spcPct val="95000"/>
              </a:lnSpc>
              <a:spcBef>
                <a:spcPts val="500"/>
              </a:spcBef>
            </a:pPr>
            <a:r>
              <a:rPr sz="1300" b="0">
                <a:solidFill>
                  <a:srgbClr val="404040"/>
                </a:solidFill>
              </a:rPr>
              <a:t>Man rechnet k = 2, 3, 4 …</a:t>
            </a:r>
          </a:p>
          <a:p>
            <a:pPr algn="l">
              <a:lnSpc>
                <a:spcPct val="95000"/>
              </a:lnSpc>
              <a:spcBef>
                <a:spcPts val="500"/>
              </a:spcBef>
            </a:pPr>
            <a:r>
              <a:rPr sz="1300" b="0">
                <a:solidFill>
                  <a:srgbClr val="404040"/>
                </a:solidFill>
              </a:rPr>
              <a:t>und trägt die Streuung</a:t>
            </a:r>
          </a:p>
          <a:p>
            <a:pPr algn="l">
              <a:lnSpc>
                <a:spcPct val="95000"/>
              </a:lnSpc>
              <a:spcBef>
                <a:spcPts val="500"/>
              </a:spcBef>
            </a:pPr>
            <a:r>
              <a:rPr sz="1300" b="0">
                <a:solidFill>
                  <a:srgbClr val="404040"/>
                </a:solidFill>
              </a:rPr>
              <a:t>innerhalb der Gruppen auf.</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Wo der Knick ist, bringt eine</a:t>
            </a:r>
          </a:p>
          <a:p>
            <a:pPr algn="l">
              <a:lnSpc>
                <a:spcPct val="95000"/>
              </a:lnSpc>
              <a:spcBef>
                <a:spcPts val="500"/>
              </a:spcBef>
            </a:pPr>
            <a:r>
              <a:rPr sz="1300" b="0">
                <a:solidFill>
                  <a:srgbClr val="404040"/>
                </a:solidFill>
              </a:rPr>
              <a:t>weitere Gruppe wenig.</a:t>
            </a:r>
          </a:p>
        </p:txBody>
      </p:sp>
      <p:sp>
        <p:nvSpPr>
          <p:cNvPr id="9" name="Rectangle 8"/>
          <p:cNvSpPr/>
          <p:nvPr/>
        </p:nvSpPr>
        <p:spPr>
          <a:xfrm>
            <a:off x="5113020" y="1651000"/>
            <a:ext cx="3545840" cy="241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651000"/>
            <a:ext cx="50800" cy="2413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1778000"/>
            <a:ext cx="3215640" cy="2159000"/>
          </a:xfrm>
          <a:prstGeom prst="rect">
            <a:avLst/>
          </a:prstGeom>
          <a:noFill/>
        </p:spPr>
        <p:txBody>
          <a:bodyPr wrap="square" lIns="0" tIns="0" rIns="0" bIns="0">
            <a:spAutoFit/>
          </a:bodyPr>
          <a:lstStyle/>
          <a:p>
            <a:pPr algn="l">
              <a:lnSpc>
                <a:spcPct val="95000"/>
              </a:lnSpc>
            </a:pPr>
            <a:r>
              <a:rPr sz="1500" b="1">
                <a:solidFill>
                  <a:srgbClr val="003E6E"/>
                </a:solidFill>
              </a:rPr>
              <a:t>Silhouettenwert</a:t>
            </a:r>
          </a:p>
          <a:p>
            <a:pPr algn="l">
              <a:lnSpc>
                <a:spcPct val="95000"/>
              </a:lnSpc>
              <a:spcBef>
                <a:spcPts val="500"/>
              </a:spcBef>
            </a:pPr>
            <a:r>
              <a:rPr sz="1300" b="0">
                <a:solidFill>
                  <a:srgbClr val="404040"/>
                </a:solidFill>
              </a:rPr>
              <a:t>Misst je Punkt: Wie nah bin</a:t>
            </a:r>
          </a:p>
          <a:p>
            <a:pPr algn="l">
              <a:lnSpc>
                <a:spcPct val="95000"/>
              </a:lnSpc>
              <a:spcBef>
                <a:spcPts val="500"/>
              </a:spcBef>
            </a:pPr>
            <a:r>
              <a:rPr sz="1300" b="0">
                <a:solidFill>
                  <a:srgbClr val="404040"/>
                </a:solidFill>
              </a:rPr>
              <a:t>ich meiner Gruppe gegenüber</a:t>
            </a:r>
          </a:p>
          <a:p>
            <a:pPr algn="l">
              <a:lnSpc>
                <a:spcPct val="95000"/>
              </a:lnSpc>
              <a:spcBef>
                <a:spcPts val="500"/>
              </a:spcBef>
            </a:pPr>
            <a:r>
              <a:rPr sz="1300" b="0">
                <a:solidFill>
                  <a:srgbClr val="404040"/>
                </a:solidFill>
              </a:rPr>
              <a:t>der nächsten fremden?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Höher ist besser.</a:t>
            </a:r>
          </a:p>
          <a:p>
            <a:pPr algn="l">
              <a:lnSpc>
                <a:spcPct val="95000"/>
              </a:lnSpc>
              <a:spcBef>
                <a:spcPts val="500"/>
              </a:spcBef>
            </a:pPr>
            <a:r>
              <a:rPr sz="1300" b="0">
                <a:solidFill>
                  <a:srgbClr val="404040"/>
                </a:solidFill>
              </a:rPr>
              <a:t>Bereich −1 bis +1.</a:t>
            </a:r>
          </a:p>
        </p:txBody>
      </p:sp>
      <p:sp>
        <p:nvSpPr>
          <p:cNvPr id="12" name="Rectangle 11"/>
          <p:cNvSpPr/>
          <p:nvPr/>
        </p:nvSpPr>
        <p:spPr>
          <a:xfrm>
            <a:off x="9081770" y="1651000"/>
            <a:ext cx="3545840" cy="241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651000"/>
            <a:ext cx="50800" cy="2413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1778000"/>
            <a:ext cx="3215640" cy="2159000"/>
          </a:xfrm>
          <a:prstGeom prst="rect">
            <a:avLst/>
          </a:prstGeom>
          <a:noFill/>
        </p:spPr>
        <p:txBody>
          <a:bodyPr wrap="square" lIns="0" tIns="0" rIns="0" bIns="0">
            <a:spAutoFit/>
          </a:bodyPr>
          <a:lstStyle/>
          <a:p>
            <a:pPr algn="l">
              <a:lnSpc>
                <a:spcPct val="95000"/>
              </a:lnSpc>
            </a:pPr>
            <a:r>
              <a:rPr sz="1500" b="1">
                <a:solidFill>
                  <a:srgbClr val="003E6E"/>
                </a:solidFill>
              </a:rPr>
              <a:t>Und dann?</a:t>
            </a:r>
          </a:p>
          <a:p>
            <a:pPr algn="l">
              <a:lnSpc>
                <a:spcPct val="95000"/>
              </a:lnSpc>
              <a:spcBef>
                <a:spcPts val="500"/>
              </a:spcBef>
            </a:pPr>
            <a:r>
              <a:rPr sz="1300" b="0">
                <a:solidFill>
                  <a:srgbClr val="404040"/>
                </a:solidFill>
              </a:rPr>
              <a:t>Beide Werkzeuge geben einen</a:t>
            </a:r>
          </a:p>
          <a:p>
            <a:pPr algn="l">
              <a:lnSpc>
                <a:spcPct val="95000"/>
              </a:lnSpc>
              <a:spcBef>
                <a:spcPts val="500"/>
              </a:spcBef>
            </a:pPr>
            <a:r>
              <a:rPr sz="1300" b="0">
                <a:solidFill>
                  <a:srgbClr val="404040"/>
                </a:solidFill>
              </a:rPr>
              <a:t>Hinweis, keinen Beweis.</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Die Entscheidung fällt an</a:t>
            </a:r>
          </a:p>
          <a:p>
            <a:pPr algn="l">
              <a:lnSpc>
                <a:spcPct val="95000"/>
              </a:lnSpc>
              <a:spcBef>
                <a:spcPts val="500"/>
              </a:spcBef>
            </a:pPr>
            <a:r>
              <a:rPr sz="1300" b="0">
                <a:solidFill>
                  <a:srgbClr val="404040"/>
                </a:solidFill>
              </a:rPr>
              <a:t>Kriterium 1 aus Phase 1:</a:t>
            </a:r>
          </a:p>
          <a:p>
            <a:pPr algn="l">
              <a:lnSpc>
                <a:spcPct val="95000"/>
              </a:lnSpc>
              <a:spcBef>
                <a:spcPts val="500"/>
              </a:spcBef>
            </a:pPr>
            <a:r>
              <a:rPr sz="1300" b="0">
                <a:solidFill>
                  <a:srgbClr val="404040"/>
                </a:solidFill>
              </a:rPr>
              <a:t>Kann man sie benennen?</a:t>
            </a:r>
          </a:p>
        </p:txBody>
      </p:sp>
      <p:sp>
        <p:nvSpPr>
          <p:cNvPr id="15" name="Rectangle 14"/>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7" name="Rectangle 1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9" name="Rectangle 18"/>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1" name="Rectangle 20"/>
          <p:cNvSpPr/>
          <p:nvPr/>
        </p:nvSpPr>
        <p:spPr>
          <a:xfrm>
            <a:off x="6922134"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4 Modeling</a:t>
            </a:r>
          </a:p>
        </p:txBody>
      </p:sp>
      <p:sp>
        <p:nvSpPr>
          <p:cNvPr id="23" name="Rectangle 22"/>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5" name="Rectangle 24"/>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Ellenbogen und Silhouette, nebeneinander gerechnet</a:t>
            </a:r>
          </a:p>
        </p:txBody>
      </p:sp>
      <p:sp>
        <p:nvSpPr>
          <p:cNvPr id="3" name="Text Placeholder 2"/>
          <p:cNvSpPr>
            <a:spLocks noGrp="1"/>
          </p:cNvSpPr>
          <p:nvPr>
            <p:ph type="body" idx="12" sz="quarter"/>
          </p:nvPr>
        </p:nvSpPr>
        <p:spPr/>
        <p:txBody>
          <a:bodyPr/>
          <a:lstStyle/>
          <a:p>
            <a:r>
              <a:t>Phase 4 · im Notebook</a:t>
            </a:r>
          </a:p>
        </p:txBody>
      </p:sp>
      <p:sp>
        <p:nvSpPr>
          <p:cNvPr id="4" name="Text Placeholder 3"/>
          <p:cNvSpPr>
            <a:spLocks noGrp="1"/>
          </p:cNvSpPr>
          <p:nvPr>
            <p:ph type="body" idx="13" sz="quarter"/>
          </p:nvPr>
        </p:nvSpPr>
        <p:spPr/>
        <p:txBody>
          <a:bodyPr/>
          <a:lstStyle/>
          <a:p>
            <a:r>
              <a:t>analytics/notebooks/03_Clustering_Stationen_und_Kunden.ipynb · Abschnitt 4.2</a:t>
            </a:r>
          </a:p>
        </p:txBody>
      </p:sp>
      <p:sp>
        <p:nvSpPr>
          <p:cNvPr id="5" name="Rectangle 4"/>
          <p:cNvSpPr/>
          <p:nvPr/>
        </p:nvSpPr>
        <p:spPr>
          <a:xfrm>
            <a:off x="1762641" y="1168400"/>
            <a:ext cx="10255487" cy="436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3-k.png"/>
          <p:cNvPicPr>
            <a:picLocks noChangeAspect="1"/>
          </p:cNvPicPr>
          <p:nvPr/>
        </p:nvPicPr>
        <p:blipFill>
          <a:blip r:embed="rId2"/>
          <a:stretch>
            <a:fillRect/>
          </a:stretch>
        </p:blipFill>
        <p:spPr>
          <a:xfrm>
            <a:off x="1864241" y="1270000"/>
            <a:ext cx="10052287" cy="4165600"/>
          </a:xfrm>
          <a:prstGeom prst="rect">
            <a:avLst/>
          </a:prstGeom>
        </p:spPr>
      </p:pic>
      <p:sp>
        <p:nvSpPr>
          <p:cNvPr id="7" name="Rectangle 6"/>
          <p:cNvSpPr/>
          <p:nvPr/>
        </p:nvSpPr>
        <p:spPr>
          <a:xfrm>
            <a:off x="1153160" y="56134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6896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Zwei Kennzahlen je k — und keine davon entscheidet. Die Entscheidung fällt am Kriterium „benennbar“ aus Phase 1.</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Befunde, die weh tun</a:t>
            </a:r>
          </a:p>
        </p:txBody>
      </p:sp>
      <p:sp>
        <p:nvSpPr>
          <p:cNvPr id="3" name="Text Placeholder 2"/>
          <p:cNvSpPr>
            <a:spLocks noGrp="1"/>
          </p:cNvSpPr>
          <p:nvPr>
            <p:ph type="body" idx="12" sz="quarter"/>
          </p:nvPr>
        </p:nvSpPr>
        <p:spPr/>
        <p:txBody>
          <a:bodyPr/>
          <a:lstStyle/>
          <a:p>
            <a:r>
              <a:t>Fall 3 · Phase 5</a:t>
            </a:r>
          </a:p>
        </p:txBody>
      </p:sp>
      <p:sp>
        <p:nvSpPr>
          <p:cNvPr id="4" name="Text Placeholder 3"/>
          <p:cNvSpPr>
            <a:spLocks noGrp="1"/>
          </p:cNvSpPr>
          <p:nvPr>
            <p:ph type="body" idx="13" sz="quarter"/>
          </p:nvPr>
        </p:nvSpPr>
        <p:spPr/>
        <p:txBody>
          <a:bodyPr/>
          <a:lstStyle/>
          <a:p>
            <a:r>
              <a:t>analytics/notebooks/03_Clustering_Stationen_und_Kunden.ipynb · Abschnitt 5</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Die Segmentierung sollte Zielgruppen für den Newsletter liefern. Herausgekommen ist eine Frage an die Preisgestaltung.</a:t>
            </a:r>
          </a:p>
        </p:txBody>
      </p:sp>
      <p:sp>
        <p:nvSpPr>
          <p:cNvPr id="6" name="Rectangle 5"/>
          <p:cNvSpPr/>
          <p:nvPr/>
        </p:nvSpPr>
        <p:spPr>
          <a:xfrm>
            <a:off x="1153160" y="1651000"/>
            <a:ext cx="3545840" cy="2819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2819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1778000"/>
            <a:ext cx="3215640" cy="2565400"/>
          </a:xfrm>
          <a:prstGeom prst="rect">
            <a:avLst/>
          </a:prstGeom>
          <a:noFill/>
        </p:spPr>
        <p:txBody>
          <a:bodyPr wrap="square" lIns="0" tIns="0" rIns="0" bIns="0">
            <a:spAutoFit/>
          </a:bodyPr>
          <a:lstStyle/>
          <a:p>
            <a:pPr algn="l">
              <a:lnSpc>
                <a:spcPct val="95000"/>
              </a:lnSpc>
            </a:pPr>
            <a:r>
              <a:rPr sz="1500" b="1">
                <a:solidFill>
                  <a:srgbClr val="003E6E"/>
                </a:solidFill>
              </a:rPr>
              <a:t>Befund 1</a:t>
            </a:r>
          </a:p>
          <a:p>
            <a:pPr algn="l">
              <a:lnSpc>
                <a:spcPct val="95000"/>
              </a:lnSpc>
              <a:spcBef>
                <a:spcPts val="500"/>
              </a:spcBef>
            </a:pPr>
            <a:r>
              <a:rPr sz="1300" b="0">
                <a:solidFill>
                  <a:srgbClr val="404040"/>
                </a:solidFill>
              </a:rPr>
              <a:t>Die Vielfahrer bringen den</a:t>
            </a:r>
          </a:p>
          <a:p>
            <a:pPr algn="l">
              <a:lnSpc>
                <a:spcPct val="95000"/>
              </a:lnSpc>
              <a:spcBef>
                <a:spcPts val="500"/>
              </a:spcBef>
            </a:pPr>
            <a:r>
              <a:rPr sz="1300" b="0">
                <a:solidFill>
                  <a:srgbClr val="404040"/>
                </a:solidFill>
              </a:rPr>
              <a:t>GERINGSTEN Umsatz.</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Ihre Tarife enthalten</a:t>
            </a:r>
          </a:p>
          <a:p>
            <a:pPr algn="l">
              <a:lnSpc>
                <a:spcPct val="95000"/>
              </a:lnSpc>
              <a:spcBef>
                <a:spcPts val="500"/>
              </a:spcBef>
            </a:pPr>
            <a:r>
              <a:rPr sz="1300" b="0">
                <a:solidFill>
                  <a:srgbClr val="404040"/>
                </a:solidFill>
              </a:rPr>
              <a:t>Freiminuten — und weil es</a:t>
            </a:r>
          </a:p>
          <a:p>
            <a:pPr algn="l">
              <a:lnSpc>
                <a:spcPct val="95000"/>
              </a:lnSpc>
              <a:spcBef>
                <a:spcPts val="500"/>
              </a:spcBef>
            </a:pPr>
            <a:r>
              <a:rPr sz="1300" b="0">
                <a:solidFill>
                  <a:srgbClr val="404040"/>
                </a:solidFill>
              </a:rPr>
              <a:t>keine Grundgebühr gibt, ist</a:t>
            </a:r>
          </a:p>
          <a:p>
            <a:pPr algn="l">
              <a:lnSpc>
                <a:spcPct val="95000"/>
              </a:lnSpc>
              <a:spcBef>
                <a:spcPts val="500"/>
              </a:spcBef>
            </a:pPr>
            <a:r>
              <a:rPr sz="1300" b="0">
                <a:solidFill>
                  <a:srgbClr val="404040"/>
                </a:solidFill>
              </a:rPr>
              <a:t>das Nutzungsentgelt der</a:t>
            </a:r>
          </a:p>
          <a:p>
            <a:pPr algn="l">
              <a:lnSpc>
                <a:spcPct val="95000"/>
              </a:lnSpc>
              <a:spcBef>
                <a:spcPts val="500"/>
              </a:spcBef>
            </a:pPr>
            <a:r>
              <a:rPr sz="1300" b="0">
                <a:solidFill>
                  <a:srgbClr val="404040"/>
                </a:solidFill>
              </a:rPr>
              <a:t>gesamte Umsatz.</a:t>
            </a:r>
          </a:p>
        </p:txBody>
      </p:sp>
      <p:sp>
        <p:nvSpPr>
          <p:cNvPr id="9" name="Rectangle 8"/>
          <p:cNvSpPr/>
          <p:nvPr/>
        </p:nvSpPr>
        <p:spPr>
          <a:xfrm>
            <a:off x="5113020" y="1651000"/>
            <a:ext cx="3545840" cy="2819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651000"/>
            <a:ext cx="50800" cy="2819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1778000"/>
            <a:ext cx="3215640" cy="2565400"/>
          </a:xfrm>
          <a:prstGeom prst="rect">
            <a:avLst/>
          </a:prstGeom>
          <a:noFill/>
        </p:spPr>
        <p:txBody>
          <a:bodyPr wrap="square" lIns="0" tIns="0" rIns="0" bIns="0">
            <a:spAutoFit/>
          </a:bodyPr>
          <a:lstStyle/>
          <a:p>
            <a:pPr algn="l">
              <a:lnSpc>
                <a:spcPct val="95000"/>
              </a:lnSpc>
            </a:pPr>
            <a:r>
              <a:rPr sz="1500" b="1">
                <a:solidFill>
                  <a:srgbClr val="003E6E"/>
                </a:solidFill>
              </a:rPr>
              <a:t>Befund 2</a:t>
            </a:r>
          </a:p>
          <a:p>
            <a:pPr algn="l">
              <a:lnSpc>
                <a:spcPct val="95000"/>
              </a:lnSpc>
              <a:spcBef>
                <a:spcPts val="500"/>
              </a:spcBef>
            </a:pPr>
            <a:r>
              <a:rPr sz="1300" b="0">
                <a:solidFill>
                  <a:srgbClr val="404040"/>
                </a:solidFill>
              </a:rPr>
              <a:t>Knapp ein Drittel der</a:t>
            </a:r>
          </a:p>
          <a:p>
            <a:pPr algn="l">
              <a:lnSpc>
                <a:spcPct val="95000"/>
              </a:lnSpc>
              <a:spcBef>
                <a:spcPts val="500"/>
              </a:spcBef>
            </a:pPr>
            <a:r>
              <a:rPr sz="1300" b="0">
                <a:solidFill>
                  <a:srgbClr val="404040"/>
                </a:solidFill>
              </a:rPr>
              <a:t>Kundschaft — 998 von 3.200 —</a:t>
            </a:r>
          </a:p>
          <a:p>
            <a:pPr algn="l">
              <a:lnSpc>
                <a:spcPct val="95000"/>
              </a:lnSpc>
              <a:spcBef>
                <a:spcPts val="500"/>
              </a:spcBef>
            </a:pPr>
            <a:r>
              <a:rPr sz="1300" b="0">
                <a:solidFill>
                  <a:srgbClr val="404040"/>
                </a:solidFill>
              </a:rPr>
              <a:t>taucht in der Segmentierung</a:t>
            </a:r>
          </a:p>
          <a:p>
            <a:pPr algn="l">
              <a:lnSpc>
                <a:spcPct val="95000"/>
              </a:lnSpc>
              <a:spcBef>
                <a:spcPts val="500"/>
              </a:spcBef>
            </a:pPr>
            <a:r>
              <a:rPr sz="1300" b="0">
                <a:solidFill>
                  <a:srgbClr val="404040"/>
                </a:solidFill>
              </a:rPr>
              <a:t>gar nicht auf.</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RFM sieht nur, wer kauft.</a:t>
            </a:r>
          </a:p>
          <a:p>
            <a:pPr algn="l">
              <a:lnSpc>
                <a:spcPct val="95000"/>
              </a:lnSpc>
              <a:spcBef>
                <a:spcPts val="500"/>
              </a:spcBef>
            </a:pPr>
            <a:r>
              <a:rPr sz="1300" b="0">
                <a:solidFill>
                  <a:srgbClr val="404040"/>
                </a:solidFill>
              </a:rPr>
              <a:t>Wer aufgehört hat, fällt aus</a:t>
            </a:r>
          </a:p>
          <a:p>
            <a:pPr algn="l">
              <a:lnSpc>
                <a:spcPct val="95000"/>
              </a:lnSpc>
              <a:spcBef>
                <a:spcPts val="500"/>
              </a:spcBef>
            </a:pPr>
            <a:r>
              <a:rPr sz="1300" b="0">
                <a:solidFill>
                  <a:srgbClr val="404040"/>
                </a:solidFill>
              </a:rPr>
              <a:t>der Tabelle — und aus dem</a:t>
            </a:r>
          </a:p>
          <a:p>
            <a:pPr algn="l">
              <a:lnSpc>
                <a:spcPct val="95000"/>
              </a:lnSpc>
              <a:spcBef>
                <a:spcPts val="500"/>
              </a:spcBef>
            </a:pPr>
            <a:r>
              <a:rPr sz="1300" b="0">
                <a:solidFill>
                  <a:srgbClr val="404040"/>
                </a:solidFill>
              </a:rPr>
              <a:t>Blick.</a:t>
            </a:r>
          </a:p>
        </p:txBody>
      </p:sp>
      <p:sp>
        <p:nvSpPr>
          <p:cNvPr id="12" name="Rectangle 11"/>
          <p:cNvSpPr/>
          <p:nvPr/>
        </p:nvSpPr>
        <p:spPr>
          <a:xfrm>
            <a:off x="9081770" y="1651000"/>
            <a:ext cx="3545840" cy="2819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651000"/>
            <a:ext cx="50800" cy="2819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1778000"/>
            <a:ext cx="3215640" cy="2565400"/>
          </a:xfrm>
          <a:prstGeom prst="rect">
            <a:avLst/>
          </a:prstGeom>
          <a:noFill/>
        </p:spPr>
        <p:txBody>
          <a:bodyPr wrap="square" lIns="0" tIns="0" rIns="0" bIns="0">
            <a:spAutoFit/>
          </a:bodyPr>
          <a:lstStyle/>
          <a:p>
            <a:pPr algn="l">
              <a:lnSpc>
                <a:spcPct val="95000"/>
              </a:lnSpc>
            </a:pPr>
            <a:r>
              <a:rPr sz="1500" b="1">
                <a:solidFill>
                  <a:srgbClr val="003E6E"/>
                </a:solidFill>
              </a:rPr>
              <a:t>Was daraus folgt</a:t>
            </a:r>
          </a:p>
          <a:p>
            <a:pPr algn="l">
              <a:lnSpc>
                <a:spcPct val="95000"/>
              </a:lnSpc>
              <a:spcBef>
                <a:spcPts val="500"/>
              </a:spcBef>
            </a:pPr>
            <a:r>
              <a:rPr sz="1300" b="0">
                <a:solidFill>
                  <a:srgbClr val="404040"/>
                </a:solidFill>
              </a:rPr>
              <a:t>Kein Messfehler, sondern ein</a:t>
            </a:r>
          </a:p>
          <a:p>
            <a:pPr algn="l">
              <a:lnSpc>
                <a:spcPct val="95000"/>
              </a:lnSpc>
              <a:spcBef>
                <a:spcPts val="500"/>
              </a:spcBef>
            </a:pPr>
            <a:r>
              <a:rPr sz="1300" b="0">
                <a:solidFill>
                  <a:srgbClr val="404040"/>
                </a:solidFill>
              </a:rPr>
              <a:t>Preisproblem, das die</a:t>
            </a:r>
          </a:p>
          <a:p>
            <a:pPr algn="l">
              <a:lnSpc>
                <a:spcPct val="95000"/>
              </a:lnSpc>
              <a:spcBef>
                <a:spcPts val="500"/>
              </a:spcBef>
            </a:pPr>
            <a:r>
              <a:rPr sz="1300" b="0">
                <a:solidFill>
                  <a:srgbClr val="404040"/>
                </a:solidFill>
              </a:rPr>
              <a:t>Segmentierung sichtbar</a:t>
            </a:r>
          </a:p>
          <a:p>
            <a:pPr algn="l">
              <a:lnSpc>
                <a:spcPct val="95000"/>
              </a:lnSpc>
              <a:spcBef>
                <a:spcPts val="500"/>
              </a:spcBef>
            </a:pPr>
            <a:r>
              <a:rPr sz="1300" b="0">
                <a:solidFill>
                  <a:srgbClr val="404040"/>
                </a:solidFill>
              </a:rPr>
              <a:t>gemacht hat.</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Das ist ein Rücksprung nach</a:t>
            </a:r>
          </a:p>
          <a:p>
            <a:pPr algn="l">
              <a:lnSpc>
                <a:spcPct val="95000"/>
              </a:lnSpc>
              <a:spcBef>
                <a:spcPts val="500"/>
              </a:spcBef>
            </a:pPr>
            <a:r>
              <a:rPr sz="1300" b="0">
                <a:solidFill>
                  <a:srgbClr val="404040"/>
                </a:solidFill>
              </a:rPr>
              <a:t>Phase 1 — mit einer besseren</a:t>
            </a:r>
          </a:p>
          <a:p>
            <a:pPr algn="l">
              <a:lnSpc>
                <a:spcPct val="95000"/>
              </a:lnSpc>
              <a:spcBef>
                <a:spcPts val="500"/>
              </a:spcBef>
            </a:pPr>
            <a:r>
              <a:rPr sz="1300" b="0">
                <a:solidFill>
                  <a:srgbClr val="404040"/>
                </a:solidFill>
              </a:rPr>
              <a:t>Frage als der ersten.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Idee für die Geschäftsführung — ausdrücklich als Hypothese</a:t>
            </a:r>
          </a:p>
        </p:txBody>
      </p:sp>
      <p:sp>
        <p:nvSpPr>
          <p:cNvPr id="3" name="Text Placeholder 2"/>
          <p:cNvSpPr>
            <a:spLocks noGrp="1"/>
          </p:cNvSpPr>
          <p:nvPr>
            <p:ph type="body" idx="12" sz="quarter"/>
          </p:nvPr>
        </p:nvSpPr>
        <p:spPr/>
        <p:txBody>
          <a:bodyPr/>
          <a:lstStyle/>
          <a:p>
            <a:r>
              <a:t>Phase 5 · im Notebook</a:t>
            </a:r>
          </a:p>
        </p:txBody>
      </p:sp>
      <p:sp>
        <p:nvSpPr>
          <p:cNvPr id="4" name="Text Placeholder 3"/>
          <p:cNvSpPr>
            <a:spLocks noGrp="1"/>
          </p:cNvSpPr>
          <p:nvPr>
            <p:ph type="body" idx="13" sz="quarter"/>
          </p:nvPr>
        </p:nvSpPr>
        <p:spPr/>
        <p:txBody>
          <a:bodyPr/>
          <a:lstStyle/>
          <a:p>
            <a:r>
              <a:t>analytics/notebooks/03_Clustering_Stationen_und_Kunden.ipynb · Abschnitt 5.B.3</a:t>
            </a:r>
          </a:p>
        </p:txBody>
      </p:sp>
      <p:sp>
        <p:nvSpPr>
          <p:cNvPr id="5" name="Rectangle 4"/>
          <p:cNvSpPr/>
          <p:nvPr/>
        </p:nvSpPr>
        <p:spPr>
          <a:xfrm>
            <a:off x="2632355" y="1168400"/>
            <a:ext cx="8516058" cy="419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3-hypothese.png"/>
          <p:cNvPicPr>
            <a:picLocks noChangeAspect="1"/>
          </p:cNvPicPr>
          <p:nvPr/>
        </p:nvPicPr>
        <p:blipFill>
          <a:blip r:embed="rId2"/>
          <a:stretch>
            <a:fillRect/>
          </a:stretch>
        </p:blipFill>
        <p:spPr>
          <a:xfrm>
            <a:off x="2733955" y="1270000"/>
            <a:ext cx="8312858" cy="3987800"/>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Das Notebook schreibt „HYPOTHESE, kein Befund“ in die Ausgabe selbst. Damit kann die Zahl nicht als Ergebnis missverstanden werden.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Auslieferungen, zwei Vorbehalte</a:t>
            </a:r>
          </a:p>
        </p:txBody>
      </p:sp>
      <p:sp>
        <p:nvSpPr>
          <p:cNvPr id="3" name="Text Placeholder 2"/>
          <p:cNvSpPr>
            <a:spLocks noGrp="1"/>
          </p:cNvSpPr>
          <p:nvPr>
            <p:ph type="body" idx="12" sz="quarter"/>
          </p:nvPr>
        </p:nvSpPr>
        <p:spPr/>
        <p:txBody>
          <a:bodyPr/>
          <a:lstStyle/>
          <a:p>
            <a:r>
              <a:t>Fall 3 · Phase 6</a:t>
            </a:r>
          </a:p>
        </p:txBody>
      </p:sp>
      <p:sp>
        <p:nvSpPr>
          <p:cNvPr id="4" name="Text Placeholder 3"/>
          <p:cNvSpPr>
            <a:spLocks noGrp="1"/>
          </p:cNvSpPr>
          <p:nvPr>
            <p:ph type="body" idx="13" sz="quarter"/>
          </p:nvPr>
        </p:nvSpPr>
        <p:spPr/>
        <p:txBody>
          <a:bodyPr/>
          <a:lstStyle/>
          <a:p>
            <a:r>
              <a:t>analytics/notebooks/03_Clustering_Stationen_und_Kunden.ipynb · Abschnitt 6</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Aus einer Analyse werden zwei sehr verschiedene Produkte — und beide tragen eine Einschränkung.</a:t>
            </a:r>
          </a:p>
        </p:txBody>
      </p:sp>
      <p:sp>
        <p:nvSpPr>
          <p:cNvPr id="6" name="Rectangle 5"/>
          <p:cNvSpPr/>
          <p:nvPr/>
        </p:nvSpPr>
        <p:spPr>
          <a:xfrm>
            <a:off x="1153160" y="1651000"/>
            <a:ext cx="552450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A — Disposition</a:t>
            </a:r>
          </a:p>
        </p:txBody>
      </p:sp>
      <p:sp>
        <p:nvSpPr>
          <p:cNvPr id="9" name="TextBox 8"/>
          <p:cNvSpPr txBox="1"/>
          <p:nvPr/>
        </p:nvSpPr>
        <p:spPr>
          <a:xfrm>
            <a:off x="1330960" y="2159000"/>
            <a:ext cx="5194300" cy="2032000"/>
          </a:xfrm>
          <a:prstGeom prst="rect">
            <a:avLst/>
          </a:prstGeom>
          <a:noFill/>
        </p:spPr>
        <p:txBody>
          <a:bodyPr wrap="square" lIns="0" tIns="0" rIns="0" bIns="0">
            <a:spAutoFit/>
          </a:bodyPr>
          <a:lstStyle/>
          <a:p>
            <a:pPr algn="l">
              <a:lnSpc>
                <a:spcPct val="95000"/>
              </a:lnSpc>
            </a:pPr>
            <a:r>
              <a:rPr sz="1400" b="1">
                <a:solidFill>
                  <a:srgbClr val="A32638"/>
                </a:solidFill>
              </a:rPr>
              <a:t>Dispositionsplan als CSV</a:t>
            </a:r>
          </a:p>
          <a:p>
            <a:pPr algn="l">
              <a:lnSpc>
                <a:spcPct val="95000"/>
              </a:lnSpc>
              <a:spcBef>
                <a:spcPts val="300"/>
              </a:spcBef>
            </a:pPr>
            <a:r>
              <a:rPr sz="1300" b="0">
                <a:solidFill>
                  <a:srgbClr val="404040"/>
                </a:solidFill>
              </a:rPr>
              <a:t>Je Station der Typ und die</a:t>
            </a:r>
          </a:p>
          <a:p>
            <a:pPr algn="l">
              <a:lnSpc>
                <a:spcPct val="95000"/>
              </a:lnSpc>
              <a:spcBef>
                <a:spcPts val="300"/>
              </a:spcBef>
            </a:pPr>
            <a:r>
              <a:rPr sz="1300" b="0">
                <a:solidFill>
                  <a:srgbClr val="404040"/>
                </a:solidFill>
              </a:rPr>
              <a:t>empfohlene Umverteilung.</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Vorbehalt: Die Gruppen sind</a:t>
            </a:r>
          </a:p>
          <a:p>
            <a:pPr algn="l">
              <a:lnSpc>
                <a:spcPct val="95000"/>
              </a:lnSpc>
              <a:spcBef>
                <a:spcPts val="300"/>
              </a:spcBef>
            </a:pPr>
            <a:r>
              <a:rPr sz="1300" b="0">
                <a:solidFill>
                  <a:srgbClr val="404040"/>
                </a:solidFill>
              </a:rPr>
              <a:t>aus einem Jahr gerechnet.</a:t>
            </a:r>
          </a:p>
          <a:p>
            <a:pPr algn="l">
              <a:lnSpc>
                <a:spcPct val="95000"/>
              </a:lnSpc>
              <a:spcBef>
                <a:spcPts val="300"/>
              </a:spcBef>
            </a:pPr>
            <a:r>
              <a:rPr sz="1300" b="0">
                <a:solidFill>
                  <a:srgbClr val="404040"/>
                </a:solidFill>
              </a:rPr>
              <a:t>Ändert sich das Netz, muss</a:t>
            </a:r>
          </a:p>
          <a:p>
            <a:pPr algn="l">
              <a:lnSpc>
                <a:spcPct val="95000"/>
              </a:lnSpc>
              <a:spcBef>
                <a:spcPts val="300"/>
              </a:spcBef>
            </a:pPr>
            <a:r>
              <a:rPr sz="1300" b="0">
                <a:solidFill>
                  <a:srgbClr val="404040"/>
                </a:solidFill>
              </a:rPr>
              <a:t>neu gruppiert werden.</a:t>
            </a:r>
          </a:p>
        </p:txBody>
      </p:sp>
      <p:sp>
        <p:nvSpPr>
          <p:cNvPr id="10" name="Rectangle 9"/>
          <p:cNvSpPr/>
          <p:nvPr/>
        </p:nvSpPr>
        <p:spPr>
          <a:xfrm>
            <a:off x="7096759" y="1651000"/>
            <a:ext cx="552450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6510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B — Marketing</a:t>
            </a:r>
          </a:p>
        </p:txBody>
      </p:sp>
      <p:sp>
        <p:nvSpPr>
          <p:cNvPr id="13" name="TextBox 12"/>
          <p:cNvSpPr txBox="1"/>
          <p:nvPr/>
        </p:nvSpPr>
        <p:spPr>
          <a:xfrm>
            <a:off x="7274559" y="2159000"/>
            <a:ext cx="5194300" cy="2032000"/>
          </a:xfrm>
          <a:prstGeom prst="rect">
            <a:avLst/>
          </a:prstGeom>
          <a:noFill/>
        </p:spPr>
        <p:txBody>
          <a:bodyPr wrap="square" lIns="0" tIns="0" rIns="0" bIns="0">
            <a:spAutoFit/>
          </a:bodyPr>
          <a:lstStyle/>
          <a:p>
            <a:pPr algn="l">
              <a:lnSpc>
                <a:spcPct val="95000"/>
              </a:lnSpc>
            </a:pPr>
            <a:r>
              <a:rPr sz="1400" b="1">
                <a:solidFill>
                  <a:srgbClr val="55801C"/>
                </a:solidFill>
              </a:rPr>
              <a:t>Kampagnenplan je Segment</a:t>
            </a:r>
          </a:p>
          <a:p>
            <a:pPr algn="l">
              <a:lnSpc>
                <a:spcPct val="95000"/>
              </a:lnSpc>
              <a:spcBef>
                <a:spcPts val="300"/>
              </a:spcBef>
            </a:pPr>
            <a:r>
              <a:rPr sz="1300" b="0">
                <a:solidFill>
                  <a:srgbClr val="404040"/>
                </a:solidFill>
              </a:rPr>
              <a:t>Vier Segmente, vier Ansprachen.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Vorbehalt: Datenschutz. Eine</a:t>
            </a:r>
          </a:p>
          <a:p>
            <a:pPr algn="l">
              <a:lnSpc>
                <a:spcPct val="95000"/>
              </a:lnSpc>
              <a:spcBef>
                <a:spcPts val="300"/>
              </a:spcBef>
            </a:pPr>
            <a:r>
              <a:rPr sz="1300" b="0">
                <a:solidFill>
                  <a:srgbClr val="404040"/>
                </a:solidFill>
              </a:rPr>
              <a:t>Segmentierung ist eine</a:t>
            </a:r>
          </a:p>
          <a:p>
            <a:pPr algn="l">
              <a:lnSpc>
                <a:spcPct val="95000"/>
              </a:lnSpc>
              <a:spcBef>
                <a:spcPts val="300"/>
              </a:spcBef>
            </a:pPr>
            <a:r>
              <a:rPr sz="1300" b="0">
                <a:solidFill>
                  <a:srgbClr val="404040"/>
                </a:solidFill>
              </a:rPr>
              <a:t>Profilbildung — sie braucht</a:t>
            </a:r>
          </a:p>
          <a:p>
            <a:pPr algn="l">
              <a:lnSpc>
                <a:spcPct val="95000"/>
              </a:lnSpc>
              <a:spcBef>
                <a:spcPts val="300"/>
              </a:spcBef>
            </a:pPr>
            <a:r>
              <a:rPr sz="1300" b="0">
                <a:solidFill>
                  <a:srgbClr val="404040"/>
                </a:solidFill>
              </a:rPr>
              <a:t>eine Rechtsgrundlage, keine</a:t>
            </a:r>
          </a:p>
          <a:p>
            <a:pPr algn="l">
              <a:lnSpc>
                <a:spcPct val="95000"/>
              </a:lnSpc>
              <a:spcBef>
                <a:spcPts val="300"/>
              </a:spcBef>
            </a:pPr>
            <a:r>
              <a:rPr sz="1300" b="0">
                <a:solidFill>
                  <a:srgbClr val="404040"/>
                </a:solidFill>
              </a:rPr>
              <a:t>gute Absicht.</a:t>
            </a:r>
          </a:p>
        </p:txBody>
      </p:sp>
      <p:sp>
        <p:nvSpPr>
          <p:cNvPr id="14" name="Rectangle 13"/>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6" name="Rectangle 15"/>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8" name="Rectangle 1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0" name="Rectangle 1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2" name="Rectangle 2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4" name="Rectangle 23"/>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Kreislauf schließt sich</a:t>
            </a:r>
          </a:p>
        </p:txBody>
      </p:sp>
      <p:sp>
        <p:nvSpPr>
          <p:cNvPr id="3" name="Text Placeholder 2"/>
          <p:cNvSpPr>
            <a:spLocks noGrp="1"/>
          </p:cNvSpPr>
          <p:nvPr>
            <p:ph type="body" idx="12" sz="quarter"/>
          </p:nvPr>
        </p:nvSpPr>
        <p:spPr/>
        <p:txBody>
          <a:bodyPr/>
          <a:lstStyle/>
          <a:p>
            <a:r>
              <a:t>Fall 3 · Abschluss</a:t>
            </a:r>
          </a:p>
        </p:txBody>
      </p:sp>
      <p:sp>
        <p:nvSpPr>
          <p:cNvPr id="4" name="Text Placeholder 3"/>
          <p:cNvSpPr>
            <a:spLocks noGrp="1"/>
          </p:cNvSpPr>
          <p:nvPr>
            <p:ph type="body" idx="13" sz="quarter"/>
          </p:nvPr>
        </p:nvSpPr>
        <p:spPr/>
        <p:txBody>
          <a:bodyPr/>
          <a:lstStyle/>
          <a:p>
            <a:r>
              <a:t>analytics/notebooks/03_Clustering_Stationen_und_Kunden.ipynb</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Zwei Fragen, ein Verfahren — und ein Ergebnis, das die Ausgangsfrage übertroffen hat.</a:t>
            </a:r>
          </a:p>
        </p:txBody>
      </p:sp>
      <p:sp>
        <p:nvSpPr>
          <p:cNvPr id="6" name="Rectangle 5"/>
          <p:cNvSpPr/>
          <p:nvPr/>
        </p:nvSpPr>
        <p:spPr>
          <a:xfrm>
            <a:off x="1153160" y="1651000"/>
            <a:ext cx="2032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Phase</a:t>
            </a:r>
          </a:p>
        </p:txBody>
      </p:sp>
      <p:sp>
        <p:nvSpPr>
          <p:cNvPr id="7" name="Rectangle 6"/>
          <p:cNvSpPr/>
          <p:nvPr/>
        </p:nvSpPr>
        <p:spPr>
          <a:xfrm>
            <a:off x="3185160" y="1651000"/>
            <a:ext cx="431800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A) Stationen</a:t>
            </a:r>
          </a:p>
        </p:txBody>
      </p:sp>
      <p:sp>
        <p:nvSpPr>
          <p:cNvPr id="8" name="Rectangle 7"/>
          <p:cNvSpPr/>
          <p:nvPr/>
        </p:nvSpPr>
        <p:spPr>
          <a:xfrm>
            <a:off x="7503159" y="1651000"/>
            <a:ext cx="5124450"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B) Kundschaft</a:t>
            </a:r>
          </a:p>
        </p:txBody>
      </p:sp>
      <p:sp>
        <p:nvSpPr>
          <p:cNvPr id="9" name="Rectangle 8"/>
          <p:cNvSpPr/>
          <p:nvPr/>
        </p:nvSpPr>
        <p:spPr>
          <a:xfrm>
            <a:off x="1153160" y="2159000"/>
            <a:ext cx="2032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 Business</a:t>
            </a:r>
          </a:p>
        </p:txBody>
      </p:sp>
      <p:sp>
        <p:nvSpPr>
          <p:cNvPr id="10" name="Rectangle 9"/>
          <p:cNvSpPr/>
          <p:nvPr/>
        </p:nvSpPr>
        <p:spPr>
          <a:xfrm>
            <a:off x="3185160" y="2159000"/>
            <a:ext cx="4318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Umverteilung nach Regeln</a:t>
            </a:r>
          </a:p>
        </p:txBody>
      </p:sp>
      <p:sp>
        <p:nvSpPr>
          <p:cNvPr id="11" name="Rectangle 10"/>
          <p:cNvSpPr/>
          <p:nvPr/>
        </p:nvSpPr>
        <p:spPr>
          <a:xfrm>
            <a:off x="7503159" y="2159000"/>
            <a:ext cx="5124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Newsletter nach Segmenten</a:t>
            </a:r>
          </a:p>
        </p:txBody>
      </p:sp>
      <p:sp>
        <p:nvSpPr>
          <p:cNvPr id="12" name="Rectangle 11"/>
          <p:cNvSpPr/>
          <p:nvPr/>
        </p:nvSpPr>
        <p:spPr>
          <a:xfrm>
            <a:off x="1153160" y="2667000"/>
            <a:ext cx="2032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2 Data</a:t>
            </a:r>
          </a:p>
        </p:txBody>
      </p:sp>
      <p:sp>
        <p:nvSpPr>
          <p:cNvPr id="13" name="Rectangle 12"/>
          <p:cNvSpPr/>
          <p:nvPr/>
        </p:nvSpPr>
        <p:spPr>
          <a:xfrm>
            <a:off x="3185160" y="2667000"/>
            <a:ext cx="4318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 Typ in den Stammdaten</a:t>
            </a:r>
          </a:p>
        </p:txBody>
      </p:sp>
      <p:sp>
        <p:nvSpPr>
          <p:cNvPr id="14" name="Rectangle 13"/>
          <p:cNvSpPr/>
          <p:nvPr/>
        </p:nvSpPr>
        <p:spPr>
          <a:xfrm>
            <a:off x="7503159" y="2667000"/>
            <a:ext cx="5124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 Segment in der Kundentabelle</a:t>
            </a:r>
          </a:p>
        </p:txBody>
      </p:sp>
      <p:sp>
        <p:nvSpPr>
          <p:cNvPr id="15" name="Rectangle 14"/>
          <p:cNvSpPr/>
          <p:nvPr/>
        </p:nvSpPr>
        <p:spPr>
          <a:xfrm>
            <a:off x="1153160" y="3175000"/>
            <a:ext cx="2032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 Preparation</a:t>
            </a:r>
          </a:p>
        </p:txBody>
      </p:sp>
      <p:sp>
        <p:nvSpPr>
          <p:cNvPr id="16" name="Rectangle 15"/>
          <p:cNvSpPr/>
          <p:nvPr/>
        </p:nvSpPr>
        <p:spPr>
          <a:xfrm>
            <a:off x="3185160" y="3175000"/>
            <a:ext cx="4318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Tagesgang, standardisiert</a:t>
            </a:r>
          </a:p>
        </p:txBody>
      </p:sp>
      <p:sp>
        <p:nvSpPr>
          <p:cNvPr id="17" name="Rectangle 16"/>
          <p:cNvSpPr/>
          <p:nvPr/>
        </p:nvSpPr>
        <p:spPr>
          <a:xfrm>
            <a:off x="7503159" y="3175000"/>
            <a:ext cx="5124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RFM, logarithmiert</a:t>
            </a:r>
          </a:p>
        </p:txBody>
      </p:sp>
      <p:sp>
        <p:nvSpPr>
          <p:cNvPr id="18" name="Rectangle 17"/>
          <p:cNvSpPr/>
          <p:nvPr/>
        </p:nvSpPr>
        <p:spPr>
          <a:xfrm>
            <a:off x="1153160" y="3683000"/>
            <a:ext cx="2032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4 Modeling</a:t>
            </a:r>
          </a:p>
        </p:txBody>
      </p:sp>
      <p:sp>
        <p:nvSpPr>
          <p:cNvPr id="19" name="Rectangle 18"/>
          <p:cNvSpPr/>
          <p:nvPr/>
        </p:nvSpPr>
        <p:spPr>
          <a:xfrm>
            <a:off x="3185160" y="3683000"/>
            <a:ext cx="4318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k-Means, Ellenbogen + Silhouette</a:t>
            </a:r>
          </a:p>
        </p:txBody>
      </p:sp>
      <p:sp>
        <p:nvSpPr>
          <p:cNvPr id="20" name="Rectangle 19"/>
          <p:cNvSpPr/>
          <p:nvPr/>
        </p:nvSpPr>
        <p:spPr>
          <a:xfrm>
            <a:off x="7503159" y="3683000"/>
            <a:ext cx="5124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dasselbe Verfahren</a:t>
            </a:r>
          </a:p>
        </p:txBody>
      </p:sp>
      <p:sp>
        <p:nvSpPr>
          <p:cNvPr id="21" name="Rectangle 20"/>
          <p:cNvSpPr/>
          <p:nvPr/>
        </p:nvSpPr>
        <p:spPr>
          <a:xfrm>
            <a:off x="1153160" y="4191000"/>
            <a:ext cx="2032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5 Evaluation</a:t>
            </a:r>
          </a:p>
        </p:txBody>
      </p:sp>
      <p:sp>
        <p:nvSpPr>
          <p:cNvPr id="22" name="Rectangle 21"/>
          <p:cNvSpPr/>
          <p:nvPr/>
        </p:nvSpPr>
        <p:spPr>
          <a:xfrm>
            <a:off x="3185160" y="4191000"/>
            <a:ext cx="431800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vier Typen, 100 % Übereinstimmung</a:t>
            </a:r>
          </a:p>
        </p:txBody>
      </p:sp>
      <p:sp>
        <p:nvSpPr>
          <p:cNvPr id="23" name="Rectangle 22"/>
          <p:cNvSpPr/>
          <p:nvPr/>
        </p:nvSpPr>
        <p:spPr>
          <a:xfrm>
            <a:off x="7503159" y="4191000"/>
            <a:ext cx="5124450" cy="5080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vier Segmente, zwei Befunde</a:t>
            </a:r>
          </a:p>
        </p:txBody>
      </p:sp>
      <p:sp>
        <p:nvSpPr>
          <p:cNvPr id="24" name="Rectangle 23"/>
          <p:cNvSpPr/>
          <p:nvPr/>
        </p:nvSpPr>
        <p:spPr>
          <a:xfrm>
            <a:off x="1153160" y="4699000"/>
            <a:ext cx="2032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Deployment</a:t>
            </a:r>
          </a:p>
        </p:txBody>
      </p:sp>
      <p:sp>
        <p:nvSpPr>
          <p:cNvPr id="25" name="Rectangle 24"/>
          <p:cNvSpPr/>
          <p:nvPr/>
        </p:nvSpPr>
        <p:spPr>
          <a:xfrm>
            <a:off x="3185160" y="4699000"/>
            <a:ext cx="431800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Dispositionsplan</a:t>
            </a:r>
          </a:p>
        </p:txBody>
      </p:sp>
      <p:sp>
        <p:nvSpPr>
          <p:cNvPr id="26" name="Rectangle 25"/>
          <p:cNvSpPr/>
          <p:nvPr/>
        </p:nvSpPr>
        <p:spPr>
          <a:xfrm>
            <a:off x="7503159" y="4699000"/>
            <a:ext cx="5124450" cy="5080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Kampagnenplan, mit Vorbehalt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 Fall 4 — Zeitreihe: der Schnitt entlang der Zeit</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Wie viele Fahrten kommen morgen — und warum ist die genaueste Prognose nicht die beste?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Fall auf einen Blick</a:t>
            </a:r>
          </a:p>
        </p:txBody>
      </p:sp>
      <p:sp>
        <p:nvSpPr>
          <p:cNvPr id="3" name="Text Placeholder 2"/>
          <p:cNvSpPr>
            <a:spLocks noGrp="1"/>
          </p:cNvSpPr>
          <p:nvPr>
            <p:ph type="body" idx="12" sz="quarter"/>
          </p:nvPr>
        </p:nvSpPr>
        <p:spPr/>
        <p:txBody>
          <a:bodyPr/>
          <a:lstStyle/>
          <a:p>
            <a:r>
              <a:t>Fall 4</a:t>
            </a:r>
          </a:p>
        </p:txBody>
      </p:sp>
      <p:sp>
        <p:nvSpPr>
          <p:cNvPr id="4" name="Text Placeholder 3"/>
          <p:cNvSpPr>
            <a:spLocks noGrp="1"/>
          </p:cNvSpPr>
          <p:nvPr>
            <p:ph type="body" idx="13" sz="quarter"/>
          </p:nvPr>
        </p:nvSpPr>
        <p:spPr/>
        <p:txBody>
          <a:bodyPr/>
          <a:lstStyle/>
          <a:p>
            <a:r>
              <a:t>analytics/notebooks/04_Zeitreihe_Nachfrageprognose.ipynb</a:t>
            </a:r>
          </a:p>
        </p:txBody>
      </p:sp>
      <p:sp>
        <p:nvSpPr>
          <p:cNvPr id="5" name="Rectangle 4"/>
          <p:cNvSpPr/>
          <p:nvPr/>
        </p:nvSpPr>
        <p:spPr>
          <a:xfrm>
            <a:off x="1153160" y="1346200"/>
            <a:ext cx="11474450" cy="27940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76200" cy="2794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07160" y="1447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Geschäftsfrage</a:t>
            </a:r>
          </a:p>
        </p:txBody>
      </p:sp>
      <p:sp>
        <p:nvSpPr>
          <p:cNvPr id="8" name="TextBox 7"/>
          <p:cNvSpPr txBox="1"/>
          <p:nvPr/>
        </p:nvSpPr>
        <p:spPr>
          <a:xfrm>
            <a:off x="3820160" y="1447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Wie viele Räder müssen morgen früh bereitstehen, und braucht es einen Frühdienst?</a:t>
            </a:r>
          </a:p>
        </p:txBody>
      </p:sp>
      <p:sp>
        <p:nvSpPr>
          <p:cNvPr id="9" name="TextBox 8"/>
          <p:cNvSpPr txBox="1"/>
          <p:nvPr/>
        </p:nvSpPr>
        <p:spPr>
          <a:xfrm>
            <a:off x="1407160" y="18796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Analytisches Ziel</a:t>
            </a:r>
          </a:p>
        </p:txBody>
      </p:sp>
      <p:sp>
        <p:nvSpPr>
          <p:cNvPr id="10" name="TextBox 9"/>
          <p:cNvSpPr txBox="1"/>
          <p:nvPr/>
        </p:nvSpPr>
        <p:spPr>
          <a:xfrm>
            <a:off x="3820160" y="18796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Zahl der Fahrten am Folgetag</a:t>
            </a:r>
          </a:p>
        </p:txBody>
      </p:sp>
      <p:sp>
        <p:nvSpPr>
          <p:cNvPr id="11" name="TextBox 10"/>
          <p:cNvSpPr txBox="1"/>
          <p:nvPr/>
        </p:nvSpPr>
        <p:spPr>
          <a:xfrm>
            <a:off x="1407160" y="23114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Fehlerkosten</a:t>
            </a:r>
          </a:p>
        </p:txBody>
      </p:sp>
      <p:sp>
        <p:nvSpPr>
          <p:cNvPr id="12" name="TextBox 11"/>
          <p:cNvSpPr txBox="1"/>
          <p:nvPr/>
        </p:nvSpPr>
        <p:spPr>
          <a:xfrm>
            <a:off x="3820160" y="23114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4,00 € je fehlendem Rad gegen 0,80 € je überzähligem — die Richtungen sind ungleich teuer</a:t>
            </a:r>
          </a:p>
        </p:txBody>
      </p:sp>
      <p:sp>
        <p:nvSpPr>
          <p:cNvPr id="13" name="TextBox 12"/>
          <p:cNvSpPr txBox="1"/>
          <p:nvPr/>
        </p:nvSpPr>
        <p:spPr>
          <a:xfrm>
            <a:off x="1407160" y="27432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Betriebskriterium</a:t>
            </a:r>
          </a:p>
        </p:txBody>
      </p:sp>
      <p:sp>
        <p:nvSpPr>
          <p:cNvPr id="14" name="TextBox 13"/>
          <p:cNvSpPr txBox="1"/>
          <p:nvPr/>
        </p:nvSpPr>
        <p:spPr>
          <a:xfrm>
            <a:off x="3820160" y="27432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Die Prognose muss um 18 Uhr stehen — sonst ist sie wertlos, egal wie genau</a:t>
            </a:r>
          </a:p>
        </p:txBody>
      </p:sp>
      <p:sp>
        <p:nvSpPr>
          <p:cNvPr id="15" name="TextBox 14"/>
          <p:cNvSpPr txBox="1"/>
          <p:nvPr/>
        </p:nvSpPr>
        <p:spPr>
          <a:xfrm>
            <a:off x="1407160" y="31750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Verfahren</a:t>
            </a:r>
          </a:p>
        </p:txBody>
      </p:sp>
      <p:sp>
        <p:nvSpPr>
          <p:cNvPr id="16" name="TextBox 15"/>
          <p:cNvSpPr txBox="1"/>
          <p:nvPr/>
        </p:nvSpPr>
        <p:spPr>
          <a:xfrm>
            <a:off x="3820160" y="31750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Nullmodell, die echte Faustregel der Disposition, linear, Gradient Boosting</a:t>
            </a:r>
          </a:p>
        </p:txBody>
      </p:sp>
      <p:sp>
        <p:nvSpPr>
          <p:cNvPr id="17" name="TextBox 16"/>
          <p:cNvSpPr txBox="1"/>
          <p:nvPr/>
        </p:nvSpPr>
        <p:spPr>
          <a:xfrm>
            <a:off x="1407160" y="3606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Urteil</a:t>
            </a:r>
          </a:p>
        </p:txBody>
      </p:sp>
      <p:sp>
        <p:nvSpPr>
          <p:cNvPr id="18" name="TextBox 17"/>
          <p:cNvSpPr txBox="1"/>
          <p:nvPr/>
        </p:nvSpPr>
        <p:spPr>
          <a:xfrm>
            <a:off x="3820160" y="3606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Klar besser als die Faustregel — und die genaueste Prognose ist nicht die günstigste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Störgröße, in die man hier zwangsläufig tappt</a:t>
            </a:r>
          </a:p>
        </p:txBody>
      </p:sp>
      <p:sp>
        <p:nvSpPr>
          <p:cNvPr id="3" name="Text Placeholder 2"/>
          <p:cNvSpPr>
            <a:spLocks noGrp="1"/>
          </p:cNvSpPr>
          <p:nvPr>
            <p:ph type="body" idx="12" sz="quarter"/>
          </p:nvPr>
        </p:nvSpPr>
        <p:spPr/>
        <p:txBody>
          <a:bodyPr/>
          <a:lstStyle/>
          <a:p>
            <a:r>
              <a:t>Fall 4 · Phase 2</a:t>
            </a:r>
          </a:p>
        </p:txBody>
      </p:sp>
      <p:sp>
        <p:nvSpPr>
          <p:cNvPr id="4" name="Text Placeholder 3"/>
          <p:cNvSpPr>
            <a:spLocks noGrp="1"/>
          </p:cNvSpPr>
          <p:nvPr>
            <p:ph type="body" idx="13" sz="quarter"/>
          </p:nvPr>
        </p:nvSpPr>
        <p:spPr/>
        <p:txBody>
          <a:bodyPr/>
          <a:lstStyle/>
          <a:p>
            <a:r>
              <a:t>analytics/notebooks/04_Zeitreihe_Nachfrageprognose.ipynb · Abschnitt 2</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Der rohe Ferieneffekt sagt: In den Ferien wird mehr gefahren. Das stimmt — und es ist trotzdem irreführend.</a:t>
            </a:r>
          </a:p>
        </p:txBody>
      </p:sp>
      <p:sp>
        <p:nvSpPr>
          <p:cNvPr id="6" name="Rectangle 5"/>
          <p:cNvSpPr/>
          <p:nvPr/>
        </p:nvSpPr>
        <p:spPr>
          <a:xfrm>
            <a:off x="1153160" y="1651000"/>
            <a:ext cx="552450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Was man misst</a:t>
            </a:r>
          </a:p>
        </p:txBody>
      </p:sp>
      <p:sp>
        <p:nvSpPr>
          <p:cNvPr id="9" name="TextBox 8"/>
          <p:cNvSpPr txBox="1"/>
          <p:nvPr/>
        </p:nvSpPr>
        <p:spPr>
          <a:xfrm>
            <a:off x="1330960" y="2159000"/>
            <a:ext cx="5194300" cy="2032000"/>
          </a:xfrm>
          <a:prstGeom prst="rect">
            <a:avLst/>
          </a:prstGeom>
          <a:noFill/>
        </p:spPr>
        <p:txBody>
          <a:bodyPr wrap="square" lIns="0" tIns="0" rIns="0" bIns="0">
            <a:spAutoFit/>
          </a:bodyPr>
          <a:lstStyle/>
          <a:p>
            <a:pPr algn="l">
              <a:lnSpc>
                <a:spcPct val="95000"/>
              </a:lnSpc>
            </a:pPr>
            <a:r>
              <a:rPr sz="1400" b="1">
                <a:solidFill>
                  <a:srgbClr val="A32638"/>
                </a:solidFill>
              </a:rPr>
              <a:t>Ferien = mehr Fahrten</a:t>
            </a:r>
          </a:p>
          <a:p>
            <a:pPr algn="l">
              <a:lnSpc>
                <a:spcPct val="95000"/>
              </a:lnSpc>
              <a:spcBef>
                <a:spcPts val="300"/>
              </a:spcBef>
            </a:pPr>
            <a:r>
              <a:rPr sz="1300" b="0">
                <a:solidFill>
                  <a:srgbClr val="404040"/>
                </a:solidFill>
              </a:rPr>
              <a:t>Die Differenz ist deutlich</a:t>
            </a:r>
          </a:p>
          <a:p>
            <a:pPr algn="l">
              <a:lnSpc>
                <a:spcPct val="95000"/>
              </a:lnSpc>
              <a:spcBef>
                <a:spcPts val="300"/>
              </a:spcBef>
            </a:pPr>
            <a:r>
              <a:rPr sz="1300" b="0">
                <a:solidFill>
                  <a:srgbClr val="404040"/>
                </a:solidFill>
              </a:rPr>
              <a:t>und statistisch belastbar.</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Schlussfolgerung:</a:t>
            </a:r>
          </a:p>
          <a:p>
            <a:pPr algn="l">
              <a:lnSpc>
                <a:spcPct val="95000"/>
              </a:lnSpc>
              <a:spcBef>
                <a:spcPts val="300"/>
              </a:spcBef>
            </a:pPr>
            <a:r>
              <a:rPr sz="1300" b="0">
                <a:solidFill>
                  <a:srgbClr val="404040"/>
                </a:solidFill>
              </a:rPr>
              <a:t>„Ferien treiben die Nachfrage.“</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Und das ist falsch.</a:t>
            </a:r>
          </a:p>
        </p:txBody>
      </p:sp>
      <p:sp>
        <p:nvSpPr>
          <p:cNvPr id="10" name="Rectangle 9"/>
          <p:cNvSpPr/>
          <p:nvPr/>
        </p:nvSpPr>
        <p:spPr>
          <a:xfrm>
            <a:off x="7096759" y="1651000"/>
            <a:ext cx="552450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6510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7018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Was wirklich wirkt</a:t>
            </a:r>
          </a:p>
        </p:txBody>
      </p:sp>
      <p:sp>
        <p:nvSpPr>
          <p:cNvPr id="13" name="TextBox 12"/>
          <p:cNvSpPr txBox="1"/>
          <p:nvPr/>
        </p:nvSpPr>
        <p:spPr>
          <a:xfrm>
            <a:off x="7274559" y="2159000"/>
            <a:ext cx="5194300" cy="2032000"/>
          </a:xfrm>
          <a:prstGeom prst="rect">
            <a:avLst/>
          </a:prstGeom>
          <a:noFill/>
        </p:spPr>
        <p:txBody>
          <a:bodyPr wrap="square" lIns="0" tIns="0" rIns="0" bIns="0">
            <a:spAutoFit/>
          </a:bodyPr>
          <a:lstStyle/>
          <a:p>
            <a:pPr algn="l">
              <a:lnSpc>
                <a:spcPct val="95000"/>
              </a:lnSpc>
            </a:pPr>
            <a:r>
              <a:rPr sz="1400" b="1">
                <a:solidFill>
                  <a:srgbClr val="55801C"/>
                </a:solidFill>
              </a:rPr>
              <a:t>Ferien liegen im Sommer</a:t>
            </a:r>
          </a:p>
          <a:p>
            <a:pPr algn="l">
              <a:lnSpc>
                <a:spcPct val="95000"/>
              </a:lnSpc>
              <a:spcBef>
                <a:spcPts val="300"/>
              </a:spcBef>
            </a:pPr>
            <a:r>
              <a:rPr sz="1300" b="0">
                <a:solidFill>
                  <a:srgbClr val="404040"/>
                </a:solidFill>
              </a:rPr>
              <a:t>Die langen Ferien fallen mit</a:t>
            </a:r>
          </a:p>
          <a:p>
            <a:pPr algn="l">
              <a:lnSpc>
                <a:spcPct val="95000"/>
              </a:lnSpc>
              <a:spcBef>
                <a:spcPts val="300"/>
              </a:spcBef>
            </a:pPr>
            <a:r>
              <a:rPr sz="1300" b="0">
                <a:solidFill>
                  <a:srgbClr val="404040"/>
                </a:solidFill>
              </a:rPr>
              <a:t>der warmen Jahreszeit zusammen.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Gemessen wird das Wetter,</a:t>
            </a:r>
          </a:p>
          <a:p>
            <a:pPr algn="l">
              <a:lnSpc>
                <a:spcPct val="95000"/>
              </a:lnSpc>
              <a:spcBef>
                <a:spcPts val="300"/>
              </a:spcBef>
            </a:pPr>
            <a:r>
              <a:rPr sz="1300" b="0">
                <a:solidFill>
                  <a:srgbClr val="404040"/>
                </a:solidFill>
              </a:rPr>
              <a:t>benannt werden die Ferien.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Klassische Störgröße.</a:t>
            </a:r>
          </a:p>
        </p:txBody>
      </p:sp>
      <p:sp>
        <p:nvSpPr>
          <p:cNvPr id="14" name="Rectangle 13"/>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6" name="Rectangle 15"/>
          <p:cNvSpPr/>
          <p:nvPr/>
        </p:nvSpPr>
        <p:spPr>
          <a:xfrm>
            <a:off x="3076151"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2 Data</a:t>
            </a:r>
          </a:p>
          <a:p>
            <a:pPr algn="ctr">
              <a:lnSpc>
                <a:spcPct val="95000"/>
              </a:lnSpc>
            </a:pPr>
            <a:r>
              <a:rPr sz="1300" b="1">
                <a:solidFill>
                  <a:srgbClr val="FFFFFF"/>
                </a:solidFill>
              </a:rPr>
              <a:t>Understanding</a:t>
            </a:r>
          </a:p>
        </p:txBody>
      </p:sp>
      <p:sp>
        <p:nvSpPr>
          <p:cNvPr id="18" name="Rectangle 1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0" name="Rectangle 1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2" name="Rectangle 2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4" name="Rectangle 23"/>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Störgröße, in zwei Zeilen entlarvt</a:t>
            </a:r>
          </a:p>
        </p:txBody>
      </p:sp>
      <p:sp>
        <p:nvSpPr>
          <p:cNvPr id="3" name="Text Placeholder 2"/>
          <p:cNvSpPr>
            <a:spLocks noGrp="1"/>
          </p:cNvSpPr>
          <p:nvPr>
            <p:ph type="body" idx="12" sz="quarter"/>
          </p:nvPr>
        </p:nvSpPr>
        <p:spPr/>
        <p:txBody>
          <a:bodyPr/>
          <a:lstStyle/>
          <a:p>
            <a:r>
              <a:t>Phase 2 · im Notebook</a:t>
            </a:r>
          </a:p>
        </p:txBody>
      </p:sp>
      <p:sp>
        <p:nvSpPr>
          <p:cNvPr id="4" name="Text Placeholder 3"/>
          <p:cNvSpPr>
            <a:spLocks noGrp="1"/>
          </p:cNvSpPr>
          <p:nvPr>
            <p:ph type="body" idx="13" sz="quarter"/>
          </p:nvPr>
        </p:nvSpPr>
        <p:spPr/>
        <p:txBody>
          <a:bodyPr/>
          <a:lstStyle/>
          <a:p>
            <a:r>
              <a:t>analytics/notebooks/04_Zeitreihe_Nachfrageprognose.ipynb · Abschnitt 2.3</a:t>
            </a:r>
          </a:p>
        </p:txBody>
      </p:sp>
      <p:sp>
        <p:nvSpPr>
          <p:cNvPr id="5" name="Rectangle 4"/>
          <p:cNvSpPr/>
          <p:nvPr/>
        </p:nvSpPr>
        <p:spPr>
          <a:xfrm>
            <a:off x="1051560" y="1443510"/>
            <a:ext cx="11677650" cy="3818578"/>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4-stoergroesse.png"/>
          <p:cNvPicPr>
            <a:picLocks noChangeAspect="1"/>
          </p:cNvPicPr>
          <p:nvPr/>
        </p:nvPicPr>
        <p:blipFill>
          <a:blip r:embed="rId2"/>
          <a:stretch>
            <a:fillRect/>
          </a:stretch>
        </p:blipFill>
        <p:spPr>
          <a:xfrm>
            <a:off x="1153160" y="1545110"/>
            <a:ext cx="11474450" cy="3615378"/>
          </a:xfrm>
          <a:prstGeom prst="rect">
            <a:avLst/>
          </a:prstGeom>
        </p:spPr>
      </p:pic>
      <p:sp>
        <p:nvSpPr>
          <p:cNvPr id="7" name="Rectangle 6"/>
          <p:cNvSpPr/>
          <p:nvPr/>
        </p:nvSpPr>
        <p:spPr>
          <a:xfrm>
            <a:off x="1153160" y="56134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6896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Roh: Faktor 0,91. Bei gleicher Temperatur: 0,75. Derselbe Datensatz, zwei völlig verschiedene Aussagen.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Schnitt folgt der Zeit, nicht dem Zufall</a:t>
            </a:r>
          </a:p>
        </p:txBody>
      </p:sp>
      <p:sp>
        <p:nvSpPr>
          <p:cNvPr id="3" name="Text Placeholder 2"/>
          <p:cNvSpPr>
            <a:spLocks noGrp="1"/>
          </p:cNvSpPr>
          <p:nvPr>
            <p:ph type="body" idx="12" sz="quarter"/>
          </p:nvPr>
        </p:nvSpPr>
        <p:spPr/>
        <p:txBody>
          <a:bodyPr/>
          <a:lstStyle/>
          <a:p>
            <a:r>
              <a:t>Fall 4 · Phase 3</a:t>
            </a:r>
          </a:p>
        </p:txBody>
      </p:sp>
      <p:sp>
        <p:nvSpPr>
          <p:cNvPr id="4" name="Text Placeholder 3"/>
          <p:cNvSpPr>
            <a:spLocks noGrp="1"/>
          </p:cNvSpPr>
          <p:nvPr>
            <p:ph type="body" idx="13" sz="quarter"/>
          </p:nvPr>
        </p:nvSpPr>
        <p:spPr/>
        <p:txBody>
          <a:bodyPr/>
          <a:lstStyle/>
          <a:p>
            <a:r>
              <a:t>analytics/notebooks/04_Zeitreihe_Nachfrageprognose.ipynb · Abschnitt 3</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Dies ist die Folie, wegen der dieser Fall im Deck steht. Ein zufälliger Schnitt wäre hier ein schwerer, aber unsichtbarer Fehler.</a:t>
            </a:r>
          </a:p>
        </p:txBody>
      </p:sp>
      <p:sp>
        <p:nvSpPr>
          <p:cNvPr id="6" name="Rectangle 5"/>
          <p:cNvSpPr/>
          <p:nvPr/>
        </p:nvSpPr>
        <p:spPr>
          <a:xfrm>
            <a:off x="1153160" y="1879600"/>
            <a:ext cx="552450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9304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Falsch</a:t>
            </a:r>
          </a:p>
        </p:txBody>
      </p:sp>
      <p:sp>
        <p:nvSpPr>
          <p:cNvPr id="9" name="TextBox 8"/>
          <p:cNvSpPr txBox="1"/>
          <p:nvPr/>
        </p:nvSpPr>
        <p:spPr>
          <a:xfrm>
            <a:off x="1330960" y="2387600"/>
            <a:ext cx="5194300" cy="2032000"/>
          </a:xfrm>
          <a:prstGeom prst="rect">
            <a:avLst/>
          </a:prstGeom>
          <a:noFill/>
        </p:spPr>
        <p:txBody>
          <a:bodyPr wrap="square" lIns="0" tIns="0" rIns="0" bIns="0">
            <a:spAutoFit/>
          </a:bodyPr>
          <a:lstStyle/>
          <a:p>
            <a:pPr algn="l">
              <a:lnSpc>
                <a:spcPct val="95000"/>
              </a:lnSpc>
            </a:pPr>
            <a:r>
              <a:rPr sz="1400" b="1">
                <a:solidFill>
                  <a:srgbClr val="A32638"/>
                </a:solidFill>
              </a:rPr>
              <a:t>Zufällig, 80/20</a:t>
            </a:r>
          </a:p>
          <a:p>
            <a:pPr algn="l">
              <a:lnSpc>
                <a:spcPct val="95000"/>
              </a:lnSpc>
              <a:spcBef>
                <a:spcPts val="300"/>
              </a:spcBef>
            </a:pPr>
            <a:r>
              <a:rPr sz="1300" b="0">
                <a:solidFill>
                  <a:srgbClr val="404040"/>
                </a:solidFill>
              </a:rPr>
              <a:t>Das Modell lernt aus dem</a:t>
            </a:r>
          </a:p>
          <a:p>
            <a:pPr algn="l">
              <a:lnSpc>
                <a:spcPct val="95000"/>
              </a:lnSpc>
              <a:spcBef>
                <a:spcPts val="300"/>
              </a:spcBef>
            </a:pPr>
            <a:r>
              <a:rPr sz="1300" b="0">
                <a:solidFill>
                  <a:srgbClr val="404040"/>
                </a:solidFill>
              </a:rPr>
              <a:t>August 2026 und sagt den</a:t>
            </a:r>
          </a:p>
          <a:p>
            <a:pPr algn="l">
              <a:lnSpc>
                <a:spcPct val="95000"/>
              </a:lnSpc>
              <a:spcBef>
                <a:spcPts val="300"/>
              </a:spcBef>
            </a:pPr>
            <a:r>
              <a:rPr sz="1300" b="0">
                <a:solidFill>
                  <a:srgbClr val="404040"/>
                </a:solidFill>
              </a:rPr>
              <a:t>Juli 2026 vorher.</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Es kennt die Zukunft.</a:t>
            </a:r>
          </a:p>
          <a:p>
            <a:pPr algn="l">
              <a:lnSpc>
                <a:spcPct val="95000"/>
              </a:lnSpc>
              <a:spcBef>
                <a:spcPts val="300"/>
              </a:spcBef>
            </a:pPr>
            <a:r>
              <a:rPr sz="1300" b="0">
                <a:solidFill>
                  <a:srgbClr val="404040"/>
                </a:solidFill>
              </a:rPr>
              <a:t>Das Ergebnis wird glänzend</a:t>
            </a:r>
          </a:p>
          <a:p>
            <a:pPr algn="l">
              <a:lnSpc>
                <a:spcPct val="95000"/>
              </a:lnSpc>
              <a:spcBef>
                <a:spcPts val="300"/>
              </a:spcBef>
            </a:pPr>
            <a:r>
              <a:rPr sz="1300" b="0">
                <a:solidFill>
                  <a:srgbClr val="404040"/>
                </a:solidFill>
              </a:rPr>
              <a:t>und ist wertlos.</a:t>
            </a:r>
          </a:p>
        </p:txBody>
      </p:sp>
      <p:sp>
        <p:nvSpPr>
          <p:cNvPr id="10" name="Rectangle 9"/>
          <p:cNvSpPr/>
          <p:nvPr/>
        </p:nvSpPr>
        <p:spPr>
          <a:xfrm>
            <a:off x="7096759" y="1879600"/>
            <a:ext cx="552450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8796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9304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Richtig</a:t>
            </a:r>
          </a:p>
        </p:txBody>
      </p:sp>
      <p:sp>
        <p:nvSpPr>
          <p:cNvPr id="13" name="TextBox 12"/>
          <p:cNvSpPr txBox="1"/>
          <p:nvPr/>
        </p:nvSpPr>
        <p:spPr>
          <a:xfrm>
            <a:off x="7274559" y="2387600"/>
            <a:ext cx="5194300" cy="2032000"/>
          </a:xfrm>
          <a:prstGeom prst="rect">
            <a:avLst/>
          </a:prstGeom>
          <a:noFill/>
        </p:spPr>
        <p:txBody>
          <a:bodyPr wrap="square" lIns="0" tIns="0" rIns="0" bIns="0">
            <a:spAutoFit/>
          </a:bodyPr>
          <a:lstStyle/>
          <a:p>
            <a:pPr algn="l">
              <a:lnSpc>
                <a:spcPct val="95000"/>
              </a:lnSpc>
            </a:pPr>
            <a:r>
              <a:rPr sz="1400" b="1">
                <a:solidFill>
                  <a:srgbClr val="55801C"/>
                </a:solidFill>
              </a:rPr>
              <a:t>Entlang der Zeit</a:t>
            </a:r>
          </a:p>
          <a:p>
            <a:pPr algn="l">
              <a:lnSpc>
                <a:spcPct val="95000"/>
              </a:lnSpc>
              <a:spcBef>
                <a:spcPts val="300"/>
              </a:spcBef>
            </a:pPr>
            <a:r>
              <a:rPr sz="1300" b="0">
                <a:solidFill>
                  <a:srgbClr val="404040"/>
                </a:solidFill>
              </a:rPr>
              <a:t>Training bis Frühjahr 2026,</a:t>
            </a:r>
          </a:p>
          <a:p>
            <a:pPr algn="l">
              <a:lnSpc>
                <a:spcPct val="95000"/>
              </a:lnSpc>
              <a:spcBef>
                <a:spcPts val="300"/>
              </a:spcBef>
            </a:pPr>
            <a:r>
              <a:rPr sz="1300" b="0">
                <a:solidFill>
                  <a:srgbClr val="404040"/>
                </a:solidFill>
              </a:rPr>
              <a:t>Test ist der Sommer 2026.</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Das entspricht genau der</a:t>
            </a:r>
          </a:p>
          <a:p>
            <a:pPr algn="l">
              <a:lnSpc>
                <a:spcPct val="95000"/>
              </a:lnSpc>
              <a:spcBef>
                <a:spcPts val="300"/>
              </a:spcBef>
            </a:pPr>
            <a:r>
              <a:rPr sz="1300" b="0">
                <a:solidFill>
                  <a:srgbClr val="404040"/>
                </a:solidFill>
              </a:rPr>
              <a:t>Lage im Betrieb: Man kennt</a:t>
            </a:r>
          </a:p>
          <a:p>
            <a:pPr algn="l">
              <a:lnSpc>
                <a:spcPct val="95000"/>
              </a:lnSpc>
              <a:spcBef>
                <a:spcPts val="300"/>
              </a:spcBef>
            </a:pPr>
            <a:r>
              <a:rPr sz="1300" b="0">
                <a:solidFill>
                  <a:srgbClr val="404040"/>
                </a:solidFill>
              </a:rPr>
              <a:t>die Vergangenheit und sagt</a:t>
            </a:r>
          </a:p>
          <a:p>
            <a:pPr algn="l">
              <a:lnSpc>
                <a:spcPct val="95000"/>
              </a:lnSpc>
              <a:spcBef>
                <a:spcPts val="300"/>
              </a:spcBef>
            </a:pPr>
            <a:r>
              <a:rPr sz="1300" b="0">
                <a:solidFill>
                  <a:srgbClr val="404040"/>
                </a:solidFill>
              </a:rPr>
              <a:t>den nächsten Tag vorher.</a:t>
            </a:r>
          </a:p>
        </p:txBody>
      </p:sp>
      <p:sp>
        <p:nvSpPr>
          <p:cNvPr id="14" name="Rectangle 13"/>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6" name="Rectangle 15"/>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8" name="Rectangle 17"/>
          <p:cNvSpPr/>
          <p:nvPr/>
        </p:nvSpPr>
        <p:spPr>
          <a:xfrm>
            <a:off x="4999143"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3 Data</a:t>
            </a:r>
          </a:p>
          <a:p>
            <a:pPr algn="ctr">
              <a:lnSpc>
                <a:spcPct val="95000"/>
              </a:lnSpc>
            </a:pPr>
            <a:r>
              <a:rPr sz="1300" b="1">
                <a:solidFill>
                  <a:srgbClr val="FFFFFF"/>
                </a:solidFill>
              </a:rPr>
              <a:t>Preparation</a:t>
            </a:r>
          </a:p>
        </p:txBody>
      </p:sp>
      <p:sp>
        <p:nvSpPr>
          <p:cNvPr id="20" name="Rectangle 1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2" name="Rectangle 2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4" name="Rectangle 23"/>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Stufen, und die zweite ist ein Mensch</a:t>
            </a:r>
          </a:p>
        </p:txBody>
      </p:sp>
      <p:sp>
        <p:nvSpPr>
          <p:cNvPr id="3" name="Text Placeholder 2"/>
          <p:cNvSpPr>
            <a:spLocks noGrp="1"/>
          </p:cNvSpPr>
          <p:nvPr>
            <p:ph type="body" idx="12" sz="quarter"/>
          </p:nvPr>
        </p:nvSpPr>
        <p:spPr/>
        <p:txBody>
          <a:bodyPr/>
          <a:lstStyle/>
          <a:p>
            <a:r>
              <a:t>Fall 4 · Phase 4</a:t>
            </a:r>
          </a:p>
        </p:txBody>
      </p:sp>
      <p:sp>
        <p:nvSpPr>
          <p:cNvPr id="4" name="Text Placeholder 3"/>
          <p:cNvSpPr>
            <a:spLocks noGrp="1"/>
          </p:cNvSpPr>
          <p:nvPr>
            <p:ph type="body" idx="13" sz="quarter"/>
          </p:nvPr>
        </p:nvSpPr>
        <p:spPr/>
        <p:txBody>
          <a:bodyPr/>
          <a:lstStyle/>
          <a:p>
            <a:r>
              <a:t>analytics/notebooks/04_Zeitreihe_Nachfrageprognose.ipynb · Abschnitt 4</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Wieder gilt: erst der Maßstab, dann die Verfahren. Der wichtigste Maßstab ist hier die Regel, nach der die Disposition heute arbeitet.</a:t>
            </a:r>
          </a:p>
        </p:txBody>
      </p:sp>
      <p:sp>
        <p:nvSpPr>
          <p:cNvPr id="6" name="Rounded Rectangle 5"/>
          <p:cNvSpPr/>
          <p:nvPr/>
        </p:nvSpPr>
        <p:spPr>
          <a:xfrm>
            <a:off x="1153160" y="2133600"/>
            <a:ext cx="1651000" cy="12192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404040"/>
                </a:solidFill>
              </a:rPr>
              <a:t>Null-
modell</a:t>
            </a:r>
          </a:p>
        </p:txBody>
      </p:sp>
      <p:sp>
        <p:nvSpPr>
          <p:cNvPr id="7" name="Pentagon 6"/>
          <p:cNvSpPr/>
          <p:nvPr/>
        </p:nvSpPr>
        <p:spPr>
          <a:xfrm>
            <a:off x="2880360" y="2133600"/>
            <a:ext cx="2622550" cy="12192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1 · Faustregel der
Disposition</a:t>
            </a:r>
          </a:p>
        </p:txBody>
      </p:sp>
      <p:sp>
        <p:nvSpPr>
          <p:cNvPr id="8" name="Pentagon 7"/>
          <p:cNvSpPr/>
          <p:nvPr/>
        </p:nvSpPr>
        <p:spPr>
          <a:xfrm>
            <a:off x="5579110" y="2133600"/>
            <a:ext cx="2622550" cy="12192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2 · Lineare
Regression</a:t>
            </a:r>
          </a:p>
        </p:txBody>
      </p:sp>
      <p:sp>
        <p:nvSpPr>
          <p:cNvPr id="9" name="Pentagon 8"/>
          <p:cNvSpPr/>
          <p:nvPr/>
        </p:nvSpPr>
        <p:spPr>
          <a:xfrm>
            <a:off x="8277859" y="2133600"/>
            <a:ext cx="2622550" cy="12192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3 · Gradient
Boosting</a:t>
            </a:r>
          </a:p>
        </p:txBody>
      </p:sp>
      <p:sp>
        <p:nvSpPr>
          <p:cNvPr id="10" name="Rounded Rectangle 9"/>
          <p:cNvSpPr/>
          <p:nvPr/>
        </p:nvSpPr>
        <p:spPr>
          <a:xfrm>
            <a:off x="10976610" y="2133600"/>
            <a:ext cx="1651000" cy="1219200"/>
          </a:xfrm>
          <a:prstGeom prst="round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FFFFFF"/>
                </a:solidFill>
              </a:rPr>
              <a:t>Bestes
Modell</a:t>
            </a:r>
          </a:p>
        </p:txBody>
      </p:sp>
      <p:sp>
        <p:nvSpPr>
          <p:cNvPr id="11" name="Rectangle 10"/>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3" name="Rectangle 12"/>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5" name="Rectangle 14"/>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17" name="Rectangle 16"/>
          <p:cNvSpPr/>
          <p:nvPr/>
        </p:nvSpPr>
        <p:spPr>
          <a:xfrm>
            <a:off x="6922134"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4 Modeling</a:t>
            </a:r>
          </a:p>
        </p:txBody>
      </p:sp>
      <p:sp>
        <p:nvSpPr>
          <p:cNvPr id="19" name="Rectangle 18"/>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1" name="Rectangle 20"/>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genaueste Prognose ist nicht die günstigste</a:t>
            </a:r>
          </a:p>
        </p:txBody>
      </p:sp>
      <p:sp>
        <p:nvSpPr>
          <p:cNvPr id="3" name="Text Placeholder 2"/>
          <p:cNvSpPr>
            <a:spLocks noGrp="1"/>
          </p:cNvSpPr>
          <p:nvPr>
            <p:ph type="body" idx="12" sz="quarter"/>
          </p:nvPr>
        </p:nvSpPr>
        <p:spPr/>
        <p:txBody>
          <a:bodyPr/>
          <a:lstStyle/>
          <a:p>
            <a:r>
              <a:t>Fall 4 · Phase 5</a:t>
            </a:r>
          </a:p>
        </p:txBody>
      </p:sp>
      <p:sp>
        <p:nvSpPr>
          <p:cNvPr id="4" name="Text Placeholder 3"/>
          <p:cNvSpPr>
            <a:spLocks noGrp="1"/>
          </p:cNvSpPr>
          <p:nvPr>
            <p:ph type="body" idx="13" sz="quarter"/>
          </p:nvPr>
        </p:nvSpPr>
        <p:spPr/>
        <p:txBody>
          <a:bodyPr/>
          <a:lstStyle/>
          <a:p>
            <a:r>
              <a:t>analytics/notebooks/04_Zeitreihe_Nachfrageprognose.ipynb · Abschnitt 5</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Weil ein fehlendes Rad 4,00 € kostet und ein überzähliges 0,80 €, verschiebt sich das Optimum — weg vom kleinsten Fehler.</a:t>
            </a:r>
          </a:p>
        </p:txBody>
      </p:sp>
      <p:sp>
        <p:nvSpPr>
          <p:cNvPr id="6" name="Rectangle 5"/>
          <p:cNvSpPr/>
          <p:nvPr/>
        </p:nvSpPr>
        <p:spPr>
          <a:xfrm>
            <a:off x="1153160" y="1879600"/>
            <a:ext cx="354584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2667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006600"/>
            <a:ext cx="3215640" cy="2413000"/>
          </a:xfrm>
          <a:prstGeom prst="rect">
            <a:avLst/>
          </a:prstGeom>
          <a:noFill/>
        </p:spPr>
        <p:txBody>
          <a:bodyPr wrap="square" lIns="0" tIns="0" rIns="0" bIns="0">
            <a:spAutoFit/>
          </a:bodyPr>
          <a:lstStyle/>
          <a:p>
            <a:pPr algn="l">
              <a:lnSpc>
                <a:spcPct val="95000"/>
              </a:lnSpc>
            </a:pPr>
            <a:r>
              <a:rPr sz="1500" b="1">
                <a:solidFill>
                  <a:srgbClr val="003E6E"/>
                </a:solidFill>
              </a:rPr>
              <a:t>Ohne Aufschlag</a:t>
            </a:r>
          </a:p>
          <a:p>
            <a:pPr algn="l">
              <a:lnSpc>
                <a:spcPct val="95000"/>
              </a:lnSpc>
              <a:spcBef>
                <a:spcPts val="500"/>
              </a:spcBef>
            </a:pPr>
            <a:r>
              <a:rPr sz="1300" b="0">
                <a:solidFill>
                  <a:srgbClr val="404040"/>
                </a:solidFill>
              </a:rPr>
              <a:t>Die Prognose trifft im Mittel</a:t>
            </a:r>
          </a:p>
          <a:p>
            <a:pPr algn="l">
              <a:lnSpc>
                <a:spcPct val="95000"/>
              </a:lnSpc>
              <a:spcBef>
                <a:spcPts val="500"/>
              </a:spcBef>
            </a:pPr>
            <a:r>
              <a:rPr sz="1300" b="0">
                <a:solidFill>
                  <a:srgbClr val="404040"/>
                </a:solidFill>
              </a:rPr>
              <a:t>am besten.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Sie liegt genauso oft zu hoch</a:t>
            </a:r>
          </a:p>
          <a:p>
            <a:pPr algn="l">
              <a:lnSpc>
                <a:spcPct val="95000"/>
              </a:lnSpc>
              <a:spcBef>
                <a:spcPts val="500"/>
              </a:spcBef>
            </a:pPr>
            <a:r>
              <a:rPr sz="1300" b="0">
                <a:solidFill>
                  <a:srgbClr val="404040"/>
                </a:solidFill>
              </a:rPr>
              <a:t>wie zu tief — und jede zu</a:t>
            </a:r>
          </a:p>
          <a:p>
            <a:pPr algn="l">
              <a:lnSpc>
                <a:spcPct val="95000"/>
              </a:lnSpc>
              <a:spcBef>
                <a:spcPts val="500"/>
              </a:spcBef>
            </a:pPr>
            <a:r>
              <a:rPr sz="1300" b="0">
                <a:solidFill>
                  <a:srgbClr val="404040"/>
                </a:solidFill>
              </a:rPr>
              <a:t>tiefe Schätzung kostet das</a:t>
            </a:r>
          </a:p>
          <a:p>
            <a:pPr algn="l">
              <a:lnSpc>
                <a:spcPct val="95000"/>
              </a:lnSpc>
              <a:spcBef>
                <a:spcPts val="500"/>
              </a:spcBef>
            </a:pPr>
            <a:r>
              <a:rPr sz="1300" b="0">
                <a:solidFill>
                  <a:srgbClr val="404040"/>
                </a:solidFill>
              </a:rPr>
              <a:t>Fünffache einer zu hohen.</a:t>
            </a:r>
          </a:p>
        </p:txBody>
      </p:sp>
      <p:sp>
        <p:nvSpPr>
          <p:cNvPr id="9" name="Rectangle 8"/>
          <p:cNvSpPr/>
          <p:nvPr/>
        </p:nvSpPr>
        <p:spPr>
          <a:xfrm>
            <a:off x="5113020" y="1879600"/>
            <a:ext cx="354584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879600"/>
            <a:ext cx="50800" cy="2667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006600"/>
            <a:ext cx="3215640" cy="2413000"/>
          </a:xfrm>
          <a:prstGeom prst="rect">
            <a:avLst/>
          </a:prstGeom>
          <a:noFill/>
        </p:spPr>
        <p:txBody>
          <a:bodyPr wrap="square" lIns="0" tIns="0" rIns="0" bIns="0">
            <a:spAutoFit/>
          </a:bodyPr>
          <a:lstStyle/>
          <a:p>
            <a:pPr algn="l">
              <a:lnSpc>
                <a:spcPct val="95000"/>
              </a:lnSpc>
            </a:pPr>
            <a:r>
              <a:rPr sz="1500" b="1">
                <a:solidFill>
                  <a:srgbClr val="003E6E"/>
                </a:solidFill>
              </a:rPr>
              <a:t>Mit Aufschlag</a:t>
            </a:r>
          </a:p>
          <a:p>
            <a:pPr algn="l">
              <a:lnSpc>
                <a:spcPct val="95000"/>
              </a:lnSpc>
              <a:spcBef>
                <a:spcPts val="500"/>
              </a:spcBef>
            </a:pPr>
            <a:r>
              <a:rPr sz="1300" b="0">
                <a:solidFill>
                  <a:srgbClr val="404040"/>
                </a:solidFill>
              </a:rPr>
              <a:t>Rund 16 % werden auf die</a:t>
            </a:r>
          </a:p>
          <a:p>
            <a:pPr algn="l">
              <a:lnSpc>
                <a:spcPct val="95000"/>
              </a:lnSpc>
              <a:spcBef>
                <a:spcPts val="500"/>
              </a:spcBef>
            </a:pPr>
            <a:r>
              <a:rPr sz="1300" b="0">
                <a:solidFill>
                  <a:srgbClr val="404040"/>
                </a:solidFill>
              </a:rPr>
              <a:t>Prognose aufgeschlagen.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Der mittlere Fehler steigt.</a:t>
            </a:r>
          </a:p>
          <a:p>
            <a:pPr algn="l">
              <a:lnSpc>
                <a:spcPct val="95000"/>
              </a:lnSpc>
              <a:spcBef>
                <a:spcPts val="500"/>
              </a:spcBef>
            </a:pPr>
            <a:r>
              <a:rPr sz="1300" b="0">
                <a:solidFill>
                  <a:srgbClr val="404040"/>
                </a:solidFill>
              </a:rPr>
              <a:t>Die Kosten sinken.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Beides gleichzeitig.</a:t>
            </a:r>
          </a:p>
        </p:txBody>
      </p:sp>
      <p:sp>
        <p:nvSpPr>
          <p:cNvPr id="12" name="Rectangle 11"/>
          <p:cNvSpPr/>
          <p:nvPr/>
        </p:nvSpPr>
        <p:spPr>
          <a:xfrm>
            <a:off x="9081770" y="1879600"/>
            <a:ext cx="354584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879600"/>
            <a:ext cx="50800" cy="2667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006600"/>
            <a:ext cx="3215640" cy="2413000"/>
          </a:xfrm>
          <a:prstGeom prst="rect">
            <a:avLst/>
          </a:prstGeom>
          <a:noFill/>
        </p:spPr>
        <p:txBody>
          <a:bodyPr wrap="square" lIns="0" tIns="0" rIns="0" bIns="0">
            <a:spAutoFit/>
          </a:bodyPr>
          <a:lstStyle/>
          <a:p>
            <a:pPr algn="l">
              <a:lnSpc>
                <a:spcPct val="95000"/>
              </a:lnSpc>
            </a:pPr>
            <a:r>
              <a:rPr sz="1500" b="1">
                <a:solidFill>
                  <a:srgbClr val="003E6E"/>
                </a:solidFill>
              </a:rPr>
              <a:t>Was man lernt</a:t>
            </a:r>
          </a:p>
          <a:p>
            <a:pPr algn="l">
              <a:lnSpc>
                <a:spcPct val="95000"/>
              </a:lnSpc>
              <a:spcBef>
                <a:spcPts val="500"/>
              </a:spcBef>
            </a:pPr>
            <a:r>
              <a:rPr sz="1300" b="0">
                <a:solidFill>
                  <a:srgbClr val="404040"/>
                </a:solidFill>
              </a:rPr>
              <a:t>Die Kennzahl, die man</a:t>
            </a:r>
          </a:p>
          <a:p>
            <a:pPr algn="l">
              <a:lnSpc>
                <a:spcPct val="95000"/>
              </a:lnSpc>
              <a:spcBef>
                <a:spcPts val="500"/>
              </a:spcBef>
            </a:pPr>
            <a:r>
              <a:rPr sz="1300" b="0">
                <a:solidFill>
                  <a:srgbClr val="404040"/>
                </a:solidFill>
              </a:rPr>
              <a:t>optimiert, muss die Kosten</a:t>
            </a:r>
          </a:p>
          <a:p>
            <a:pPr algn="l">
              <a:lnSpc>
                <a:spcPct val="95000"/>
              </a:lnSpc>
              <a:spcBef>
                <a:spcPts val="500"/>
              </a:spcBef>
            </a:pPr>
            <a:r>
              <a:rPr sz="1300" b="0">
                <a:solidFill>
                  <a:srgbClr val="404040"/>
                </a:solidFill>
              </a:rPr>
              <a:t>abbilden — nicht die</a:t>
            </a:r>
          </a:p>
          <a:p>
            <a:pPr algn="l">
              <a:lnSpc>
                <a:spcPct val="95000"/>
              </a:lnSpc>
              <a:spcBef>
                <a:spcPts val="500"/>
              </a:spcBef>
            </a:pPr>
            <a:r>
              <a:rPr sz="1300" b="0">
                <a:solidFill>
                  <a:srgbClr val="404040"/>
                </a:solidFill>
              </a:rPr>
              <a:t>Genauigkeit.</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Sonst optimiert man das</a:t>
            </a:r>
          </a:p>
          <a:p>
            <a:pPr algn="l">
              <a:lnSpc>
                <a:spcPct val="95000"/>
              </a:lnSpc>
              <a:spcBef>
                <a:spcPts val="500"/>
              </a:spcBef>
            </a:pPr>
            <a:r>
              <a:rPr sz="1300" b="0">
                <a:solidFill>
                  <a:srgbClr val="404040"/>
                </a:solidFill>
              </a:rPr>
              <a:t>Falsche, sehr sorgfältig.</a:t>
            </a:r>
          </a:p>
        </p:txBody>
      </p:sp>
      <p:sp>
        <p:nvSpPr>
          <p:cNvPr id="15" name="Rectangle 14"/>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7" name="Rectangle 1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9" name="Rectangle 18"/>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1" name="Rectangle 20"/>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3" name="Rectangle 22"/>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25" name="Rectangle 24"/>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Kostenrechnung, die den Aufschlag begründet</a:t>
            </a:r>
          </a:p>
        </p:txBody>
      </p:sp>
      <p:sp>
        <p:nvSpPr>
          <p:cNvPr id="3" name="Text Placeholder 2"/>
          <p:cNvSpPr>
            <a:spLocks noGrp="1"/>
          </p:cNvSpPr>
          <p:nvPr>
            <p:ph type="body" idx="12" sz="quarter"/>
          </p:nvPr>
        </p:nvSpPr>
        <p:spPr/>
        <p:txBody>
          <a:bodyPr/>
          <a:lstStyle/>
          <a:p>
            <a:r>
              <a:t>Phase 5 · im Notebook</a:t>
            </a:r>
          </a:p>
        </p:txBody>
      </p:sp>
      <p:sp>
        <p:nvSpPr>
          <p:cNvPr id="4" name="Text Placeholder 3"/>
          <p:cNvSpPr>
            <a:spLocks noGrp="1"/>
          </p:cNvSpPr>
          <p:nvPr>
            <p:ph type="body" idx="13" sz="quarter"/>
          </p:nvPr>
        </p:nvSpPr>
        <p:spPr/>
        <p:txBody>
          <a:bodyPr/>
          <a:lstStyle/>
          <a:p>
            <a:r>
              <a:t>analytics/notebooks/04_Zeitreihe_Nachfrageprognose.ipynb · Abschnitt 5.1</a:t>
            </a:r>
          </a:p>
        </p:txBody>
      </p:sp>
      <p:sp>
        <p:nvSpPr>
          <p:cNvPr id="5" name="Rectangle 4"/>
          <p:cNvSpPr/>
          <p:nvPr/>
        </p:nvSpPr>
        <p:spPr>
          <a:xfrm>
            <a:off x="3027950" y="1168400"/>
            <a:ext cx="7724869" cy="419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4-aufschlag.png"/>
          <p:cNvPicPr>
            <a:picLocks noChangeAspect="1"/>
          </p:cNvPicPr>
          <p:nvPr/>
        </p:nvPicPr>
        <p:blipFill>
          <a:blip r:embed="rId2"/>
          <a:stretch>
            <a:fillRect/>
          </a:stretch>
        </p:blipFill>
        <p:spPr>
          <a:xfrm>
            <a:off x="3129550" y="1270000"/>
            <a:ext cx="7521669" cy="3987800"/>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Das Notebook rechnet beides aus: die Kosten ohne und mit Sicherheitsaufschlag. Erst dieser Vergleich rechtfertigt ein absichtlich ungenaueres Modell.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ehrliche Eingeständnis gehört in den Bericht</a:t>
            </a:r>
          </a:p>
        </p:txBody>
      </p:sp>
      <p:sp>
        <p:nvSpPr>
          <p:cNvPr id="3" name="Text Placeholder 2"/>
          <p:cNvSpPr>
            <a:spLocks noGrp="1"/>
          </p:cNvSpPr>
          <p:nvPr>
            <p:ph type="body" idx="12" sz="quarter"/>
          </p:nvPr>
        </p:nvSpPr>
        <p:spPr/>
        <p:txBody>
          <a:bodyPr/>
          <a:lstStyle/>
          <a:p>
            <a:r>
              <a:t>Fall 4 · Phase 6</a:t>
            </a:r>
          </a:p>
        </p:txBody>
      </p:sp>
      <p:sp>
        <p:nvSpPr>
          <p:cNvPr id="4" name="Text Placeholder 3"/>
          <p:cNvSpPr>
            <a:spLocks noGrp="1"/>
          </p:cNvSpPr>
          <p:nvPr>
            <p:ph type="body" idx="13" sz="quarter"/>
          </p:nvPr>
        </p:nvSpPr>
        <p:spPr/>
        <p:txBody>
          <a:bodyPr/>
          <a:lstStyle/>
          <a:p>
            <a:r>
              <a:t>analytics/notebooks/04_Zeitreihe_Nachfrageprognose.ipynb · Abschnitt 6</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Das Modell rechnete mit dem TATSÄCHLICHEN Wetter. Im Betrieb steht nur eine Wettervorhersage zur Verfügung.</a:t>
            </a:r>
          </a:p>
        </p:txBody>
      </p:sp>
      <p:sp>
        <p:nvSpPr>
          <p:cNvPr id="6" name="Rectangle 5"/>
          <p:cNvSpPr/>
          <p:nvPr/>
        </p:nvSpPr>
        <p:spPr>
          <a:xfrm>
            <a:off x="1153160" y="1651000"/>
            <a:ext cx="27940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Rechnung</a:t>
            </a:r>
          </a:p>
        </p:txBody>
      </p:sp>
      <p:sp>
        <p:nvSpPr>
          <p:cNvPr id="7" name="Rectangle 6"/>
          <p:cNvSpPr/>
          <p:nvPr/>
        </p:nvSpPr>
        <p:spPr>
          <a:xfrm>
            <a:off x="3947160" y="1651000"/>
            <a:ext cx="41910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Grundlage</a:t>
            </a:r>
          </a:p>
        </p:txBody>
      </p:sp>
      <p:sp>
        <p:nvSpPr>
          <p:cNvPr id="8" name="Rectangle 7"/>
          <p:cNvSpPr/>
          <p:nvPr/>
        </p:nvSpPr>
        <p:spPr>
          <a:xfrm>
            <a:off x="8138159" y="1651000"/>
            <a:ext cx="448945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Ergebnis</a:t>
            </a:r>
          </a:p>
        </p:txBody>
      </p:sp>
      <p:sp>
        <p:nvSpPr>
          <p:cNvPr id="9" name="Rectangle 8"/>
          <p:cNvSpPr/>
          <p:nvPr/>
        </p:nvSpPr>
        <p:spPr>
          <a:xfrm>
            <a:off x="1153160" y="2260600"/>
            <a:ext cx="2794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In der Evaluation</a:t>
            </a:r>
          </a:p>
        </p:txBody>
      </p:sp>
      <p:sp>
        <p:nvSpPr>
          <p:cNvPr id="10" name="Rectangle 9"/>
          <p:cNvSpPr/>
          <p:nvPr/>
        </p:nvSpPr>
        <p:spPr>
          <a:xfrm>
            <a:off x="3947160" y="2260600"/>
            <a:ext cx="4191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tatsächliches Wetter des Tages</a:t>
            </a:r>
          </a:p>
        </p:txBody>
      </p:sp>
      <p:sp>
        <p:nvSpPr>
          <p:cNvPr id="11" name="Rectangle 10"/>
          <p:cNvSpPr/>
          <p:nvPr/>
        </p:nvSpPr>
        <p:spPr>
          <a:xfrm>
            <a:off x="8138159" y="2260600"/>
            <a:ext cx="448945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der schöne Wert</a:t>
            </a:r>
          </a:p>
        </p:txBody>
      </p:sp>
      <p:sp>
        <p:nvSpPr>
          <p:cNvPr id="12" name="Rectangle 11"/>
          <p:cNvSpPr/>
          <p:nvPr/>
        </p:nvSpPr>
        <p:spPr>
          <a:xfrm>
            <a:off x="1153160" y="2870200"/>
            <a:ext cx="2794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Im Betrieb</a:t>
            </a:r>
          </a:p>
        </p:txBody>
      </p:sp>
      <p:sp>
        <p:nvSpPr>
          <p:cNvPr id="13" name="Rectangle 12"/>
          <p:cNvSpPr/>
          <p:nvPr/>
        </p:nvSpPr>
        <p:spPr>
          <a:xfrm>
            <a:off x="3947160" y="2870200"/>
            <a:ext cx="4191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Wettervorhersage von gestern 18 Uhr</a:t>
            </a:r>
          </a:p>
        </p:txBody>
      </p:sp>
      <p:sp>
        <p:nvSpPr>
          <p:cNvPr id="14" name="Rectangle 13"/>
          <p:cNvSpPr/>
          <p:nvPr/>
        </p:nvSpPr>
        <p:spPr>
          <a:xfrm>
            <a:off x="8138159" y="2870200"/>
            <a:ext cx="448945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spürbar höherer Fehler — und das ist die Zahl, die zählt</a:t>
            </a:r>
          </a:p>
        </p:txBody>
      </p:sp>
      <p:sp>
        <p:nvSpPr>
          <p:cNvPr id="15" name="Rectangle 14"/>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7" name="Rectangle 1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9" name="Rectangle 18"/>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1" name="Rectangle 20"/>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3" name="Rectangle 22"/>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5" name="Rectangle 24"/>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Fehlerwerte — und nur einer zählt</a:t>
            </a:r>
          </a:p>
        </p:txBody>
      </p:sp>
      <p:sp>
        <p:nvSpPr>
          <p:cNvPr id="3" name="Text Placeholder 2"/>
          <p:cNvSpPr>
            <a:spLocks noGrp="1"/>
          </p:cNvSpPr>
          <p:nvPr>
            <p:ph type="body" idx="12" sz="quarter"/>
          </p:nvPr>
        </p:nvSpPr>
        <p:spPr/>
        <p:txBody>
          <a:bodyPr/>
          <a:lstStyle/>
          <a:p>
            <a:r>
              <a:t>Phase 6 · im Notebook</a:t>
            </a:r>
          </a:p>
        </p:txBody>
      </p:sp>
      <p:sp>
        <p:nvSpPr>
          <p:cNvPr id="4" name="Text Placeholder 3"/>
          <p:cNvSpPr>
            <a:spLocks noGrp="1"/>
          </p:cNvSpPr>
          <p:nvPr>
            <p:ph type="body" idx="13" sz="quarter"/>
          </p:nvPr>
        </p:nvSpPr>
        <p:spPr/>
        <p:txBody>
          <a:bodyPr/>
          <a:lstStyle/>
          <a:p>
            <a:r>
              <a:t>analytics/notebooks/04_Zeitreihe_Nachfrageprognose.ipynb · Abschnitt 6.1</a:t>
            </a:r>
          </a:p>
        </p:txBody>
      </p:sp>
      <p:sp>
        <p:nvSpPr>
          <p:cNvPr id="5" name="Rectangle 4"/>
          <p:cNvSpPr/>
          <p:nvPr/>
        </p:nvSpPr>
        <p:spPr>
          <a:xfrm>
            <a:off x="1213939" y="1168400"/>
            <a:ext cx="11352890" cy="436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4-ehrlich.png"/>
          <p:cNvPicPr>
            <a:picLocks noChangeAspect="1"/>
          </p:cNvPicPr>
          <p:nvPr/>
        </p:nvPicPr>
        <p:blipFill>
          <a:blip r:embed="rId2"/>
          <a:stretch>
            <a:fillRect/>
          </a:stretch>
        </p:blipFill>
        <p:spPr>
          <a:xfrm>
            <a:off x="1315539" y="1270000"/>
            <a:ext cx="11149690" cy="4165600"/>
          </a:xfrm>
          <a:prstGeom prst="rect">
            <a:avLst/>
          </a:prstGeom>
        </p:spPr>
      </p:pic>
      <p:sp>
        <p:nvSpPr>
          <p:cNvPr id="7" name="Rectangle 6"/>
          <p:cNvSpPr/>
          <p:nvPr/>
        </p:nvSpPr>
        <p:spPr>
          <a:xfrm>
            <a:off x="1153160" y="56134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6896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MAE 12,50 mit dem tatsächlichen Wetter, 17,13 mit einer simulierten Vorhersage. Die zweite Zahl ist die ehrliche.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Kreislauf schließt sich</a:t>
            </a:r>
          </a:p>
        </p:txBody>
      </p:sp>
      <p:sp>
        <p:nvSpPr>
          <p:cNvPr id="3" name="Text Placeholder 2"/>
          <p:cNvSpPr>
            <a:spLocks noGrp="1"/>
          </p:cNvSpPr>
          <p:nvPr>
            <p:ph type="body" idx="12" sz="quarter"/>
          </p:nvPr>
        </p:nvSpPr>
        <p:spPr/>
        <p:txBody>
          <a:bodyPr/>
          <a:lstStyle/>
          <a:p>
            <a:r>
              <a:t>Fall 4 · Abschluss</a:t>
            </a:r>
          </a:p>
        </p:txBody>
      </p:sp>
      <p:sp>
        <p:nvSpPr>
          <p:cNvPr id="4" name="Text Placeholder 3"/>
          <p:cNvSpPr>
            <a:spLocks noGrp="1"/>
          </p:cNvSpPr>
          <p:nvPr>
            <p:ph type="body" idx="13" sz="quarter"/>
          </p:nvPr>
        </p:nvSpPr>
        <p:spPr/>
        <p:txBody>
          <a:bodyPr/>
          <a:lstStyle/>
          <a:p>
            <a:r>
              <a:t>analytics/notebooks/04_Zeitreihe_Nachfrageprognose.ipynb</a:t>
            </a:r>
          </a:p>
        </p:txBody>
      </p:sp>
      <p:sp>
        <p:nvSpPr>
          <p:cNvPr id="5" name="Rectangle 4"/>
          <p:cNvSpPr/>
          <p:nvPr/>
        </p:nvSpPr>
        <p:spPr>
          <a:xfrm>
            <a:off x="1153160" y="1346200"/>
            <a:ext cx="2921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Phase</a:t>
            </a:r>
          </a:p>
        </p:txBody>
      </p:sp>
      <p:sp>
        <p:nvSpPr>
          <p:cNvPr id="6" name="Rectangle 5"/>
          <p:cNvSpPr/>
          <p:nvPr/>
        </p:nvSpPr>
        <p:spPr>
          <a:xfrm>
            <a:off x="4074160" y="1346200"/>
            <a:ext cx="855345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Was dabei herauskam</a:t>
            </a:r>
          </a:p>
        </p:txBody>
      </p:sp>
      <p:sp>
        <p:nvSpPr>
          <p:cNvPr id="7" name="Rectangle 6"/>
          <p:cNvSpPr/>
          <p:nvPr/>
        </p:nvSpPr>
        <p:spPr>
          <a:xfrm>
            <a:off x="1153160" y="1879600"/>
            <a:ext cx="292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 Business Understanding</a:t>
            </a:r>
          </a:p>
        </p:txBody>
      </p:sp>
      <p:sp>
        <p:nvSpPr>
          <p:cNvPr id="8" name="Rectangle 7"/>
          <p:cNvSpPr/>
          <p:nvPr/>
        </p:nvSpPr>
        <p:spPr>
          <a:xfrm>
            <a:off x="4074160" y="1879600"/>
            <a:ext cx="8553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Zwei Entscheidungen, zwei ungleich teure Fehlerrichtungen (4,00 € gegen 0,80 €), ein Betriebskriterium: 18 Uhr</a:t>
            </a:r>
          </a:p>
        </p:txBody>
      </p:sp>
      <p:sp>
        <p:nvSpPr>
          <p:cNvPr id="9" name="Rectangle 8"/>
          <p:cNvSpPr/>
          <p:nvPr/>
        </p:nvSpPr>
        <p:spPr>
          <a:xfrm>
            <a:off x="1153160" y="2413000"/>
            <a:ext cx="292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2 Data Understanding</a:t>
            </a:r>
          </a:p>
        </p:txBody>
      </p:sp>
      <p:sp>
        <p:nvSpPr>
          <p:cNvPr id="10" name="Rectangle 9"/>
          <p:cNvSpPr/>
          <p:nvPr/>
        </p:nvSpPr>
        <p:spPr>
          <a:xfrm>
            <a:off x="4074160" y="2413000"/>
            <a:ext cx="8553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Jahresgang und Wochenrhythmus übereinander — und eine Störgröße: Ferien liegen im Sommer</a:t>
            </a:r>
          </a:p>
        </p:txBody>
      </p:sp>
      <p:sp>
        <p:nvSpPr>
          <p:cNvPr id="11" name="Rectangle 10"/>
          <p:cNvSpPr/>
          <p:nvPr/>
        </p:nvSpPr>
        <p:spPr>
          <a:xfrm>
            <a:off x="1153160" y="2946400"/>
            <a:ext cx="292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 Data Preparation</a:t>
            </a:r>
          </a:p>
        </p:txBody>
      </p:sp>
      <p:sp>
        <p:nvSpPr>
          <p:cNvPr id="12" name="Rectangle 11"/>
          <p:cNvSpPr/>
          <p:nvPr/>
        </p:nvSpPr>
        <p:spPr>
          <a:xfrm>
            <a:off x="4074160" y="2946400"/>
            <a:ext cx="8553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Schnitt entlang der Zeit, Testmenge ist der Sommer 2026</a:t>
            </a:r>
          </a:p>
        </p:txBody>
      </p:sp>
      <p:sp>
        <p:nvSpPr>
          <p:cNvPr id="13" name="Rectangle 12"/>
          <p:cNvSpPr/>
          <p:nvPr/>
        </p:nvSpPr>
        <p:spPr>
          <a:xfrm>
            <a:off x="1153160" y="3479800"/>
            <a:ext cx="292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4 Modeling</a:t>
            </a:r>
          </a:p>
        </p:txBody>
      </p:sp>
      <p:sp>
        <p:nvSpPr>
          <p:cNvPr id="14" name="Rectangle 13"/>
          <p:cNvSpPr/>
          <p:nvPr/>
        </p:nvSpPr>
        <p:spPr>
          <a:xfrm>
            <a:off x="4074160" y="3479800"/>
            <a:ext cx="8553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Nullmodell, echte Faustregel, linear, Gradient Boosting</a:t>
            </a:r>
          </a:p>
        </p:txBody>
      </p:sp>
      <p:sp>
        <p:nvSpPr>
          <p:cNvPr id="15" name="Rectangle 14"/>
          <p:cNvSpPr/>
          <p:nvPr/>
        </p:nvSpPr>
        <p:spPr>
          <a:xfrm>
            <a:off x="1153160" y="4013200"/>
            <a:ext cx="292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5 Evaluation</a:t>
            </a:r>
          </a:p>
        </p:txBody>
      </p:sp>
      <p:sp>
        <p:nvSpPr>
          <p:cNvPr id="16" name="Rectangle 15"/>
          <p:cNvSpPr/>
          <p:nvPr/>
        </p:nvSpPr>
        <p:spPr>
          <a:xfrm>
            <a:off x="4074160" y="4013200"/>
            <a:ext cx="8553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Klar besser als die Faustregel — und ein Sicherheitsaufschlag senkt die Kosten</a:t>
            </a:r>
          </a:p>
        </p:txBody>
      </p:sp>
      <p:sp>
        <p:nvSpPr>
          <p:cNvPr id="17" name="Rectangle 16"/>
          <p:cNvSpPr/>
          <p:nvPr/>
        </p:nvSpPr>
        <p:spPr>
          <a:xfrm>
            <a:off x="1153160" y="4546600"/>
            <a:ext cx="292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Deployment</a:t>
            </a:r>
          </a:p>
        </p:txBody>
      </p:sp>
      <p:sp>
        <p:nvSpPr>
          <p:cNvPr id="18" name="Rectangle 17"/>
          <p:cNvSpPr/>
          <p:nvPr/>
        </p:nvSpPr>
        <p:spPr>
          <a:xfrm>
            <a:off x="4074160" y="4546600"/>
            <a:ext cx="8553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Mit simulierter Vorhersage steigt der Fehler. Die ehrliche Zahl gehört in den Bericht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 Fall 5 — Assoziation: wenn die Hürde alles wegnimmt</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Welche Wege gehören zusammen — und wieviel von dem, was auffällt, ist überhaupt brauchbar?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Fall auf einen Blick</a:t>
            </a:r>
          </a:p>
        </p:txBody>
      </p:sp>
      <p:sp>
        <p:nvSpPr>
          <p:cNvPr id="3" name="Text Placeholder 2"/>
          <p:cNvSpPr>
            <a:spLocks noGrp="1"/>
          </p:cNvSpPr>
          <p:nvPr>
            <p:ph type="body" idx="12" sz="quarter"/>
          </p:nvPr>
        </p:nvSpPr>
        <p:spPr/>
        <p:txBody>
          <a:bodyPr/>
          <a:lstStyle/>
          <a:p>
            <a:r>
              <a:t>Fall 5</a:t>
            </a:r>
          </a:p>
        </p:txBody>
      </p:sp>
      <p:sp>
        <p:nvSpPr>
          <p:cNvPr id="4" name="Text Placeholder 3"/>
          <p:cNvSpPr>
            <a:spLocks noGrp="1"/>
          </p:cNvSpPr>
          <p:nvPr>
            <p:ph type="body" idx="13" sz="quarter"/>
          </p:nvPr>
        </p:nvSpPr>
        <p:spPr/>
        <p:txBody>
          <a:bodyPr/>
          <a:lstStyle/>
          <a:p>
            <a:r>
              <a:t>analytics/notebooks/05_Assoziation_Wege_im_Netz.ipynb</a:t>
            </a:r>
          </a:p>
        </p:txBody>
      </p:sp>
      <p:sp>
        <p:nvSpPr>
          <p:cNvPr id="5" name="Rectangle 4"/>
          <p:cNvSpPr/>
          <p:nvPr/>
        </p:nvSpPr>
        <p:spPr>
          <a:xfrm>
            <a:off x="1153160" y="1346200"/>
            <a:ext cx="11474450" cy="27940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76200" cy="2794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07160" y="1447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Geschäftsfrage</a:t>
            </a:r>
          </a:p>
        </p:txBody>
      </p:sp>
      <p:sp>
        <p:nvSpPr>
          <p:cNvPr id="8" name="TextBox 7"/>
          <p:cNvSpPr txBox="1"/>
          <p:nvPr/>
        </p:nvSpPr>
        <p:spPr>
          <a:xfrm>
            <a:off x="3820160" y="1447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Von wo nach wo wird gefahren — und wo muss der Transporter Räder umverteilen?</a:t>
            </a:r>
          </a:p>
        </p:txBody>
      </p:sp>
      <p:sp>
        <p:nvSpPr>
          <p:cNvPr id="9" name="TextBox 8"/>
          <p:cNvSpPr txBox="1"/>
          <p:nvPr/>
        </p:nvSpPr>
        <p:spPr>
          <a:xfrm>
            <a:off x="1407160" y="18796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Das Neue</a:t>
            </a:r>
          </a:p>
        </p:txBody>
      </p:sp>
      <p:sp>
        <p:nvSpPr>
          <p:cNvPr id="10" name="TextBox 9"/>
          <p:cNvSpPr txBox="1"/>
          <p:nvPr/>
        </p:nvSpPr>
        <p:spPr>
          <a:xfrm>
            <a:off x="3820160" y="18796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Weder Zielgröße noch Gruppen, sondern Regeln: Was hängt mit was zusammen?</a:t>
            </a:r>
          </a:p>
        </p:txBody>
      </p:sp>
      <p:sp>
        <p:nvSpPr>
          <p:cNvPr id="11" name="TextBox 10"/>
          <p:cNvSpPr txBox="1"/>
          <p:nvPr/>
        </p:nvSpPr>
        <p:spPr>
          <a:xfrm>
            <a:off x="1407160" y="23114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Drei Kriterien</a:t>
            </a:r>
          </a:p>
        </p:txBody>
      </p:sp>
      <p:sp>
        <p:nvSpPr>
          <p:cNvPr id="12" name="TextBox 11"/>
          <p:cNvSpPr txBox="1"/>
          <p:nvPr/>
        </p:nvSpPr>
        <p:spPr>
          <a:xfrm>
            <a:off x="3820160" y="23114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Support ≥ 1 % · Lift ≥ 1,3 · die Regel muss eine Transporterfahrt begründen</a:t>
            </a:r>
          </a:p>
        </p:txBody>
      </p:sp>
      <p:sp>
        <p:nvSpPr>
          <p:cNvPr id="13" name="TextBox 12"/>
          <p:cNvSpPr txBox="1"/>
          <p:nvPr/>
        </p:nvSpPr>
        <p:spPr>
          <a:xfrm>
            <a:off x="1407160" y="27432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Datensicht</a:t>
            </a:r>
          </a:p>
        </p:txBody>
      </p:sp>
      <p:sp>
        <p:nvSpPr>
          <p:cNvPr id="14" name="TextBox 13"/>
          <p:cNvSpPr txBox="1"/>
          <p:nvPr/>
        </p:nvSpPr>
        <p:spPr>
          <a:xfrm>
            <a:off x="3820160" y="27432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Eine Fahrt ist ein Warenkorb: Startort und Zielort zusammen</a:t>
            </a:r>
          </a:p>
        </p:txBody>
      </p:sp>
      <p:sp>
        <p:nvSpPr>
          <p:cNvPr id="15" name="TextBox 14"/>
          <p:cNvSpPr txBox="1"/>
          <p:nvPr/>
        </p:nvSpPr>
        <p:spPr>
          <a:xfrm>
            <a:off x="1407160" y="31750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Verfahren</a:t>
            </a:r>
          </a:p>
        </p:txBody>
      </p:sp>
      <p:sp>
        <p:nvSpPr>
          <p:cNvPr id="16" name="TextBox 15"/>
          <p:cNvSpPr txBox="1"/>
          <p:nvPr/>
        </p:nvSpPr>
        <p:spPr>
          <a:xfrm>
            <a:off x="3820160" y="31750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Support, Konfidenz und Lift von Hand — drei Divisionen</a:t>
            </a:r>
          </a:p>
        </p:txBody>
      </p:sp>
      <p:sp>
        <p:nvSpPr>
          <p:cNvPr id="17" name="TextBox 16"/>
          <p:cNvSpPr txBox="1"/>
          <p:nvPr/>
        </p:nvSpPr>
        <p:spPr>
          <a:xfrm>
            <a:off x="1407160" y="3606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Urteil</a:t>
            </a:r>
          </a:p>
        </p:txBody>
      </p:sp>
      <p:sp>
        <p:nvSpPr>
          <p:cNvPr id="18" name="TextBox 17"/>
          <p:cNvSpPr txBox="1"/>
          <p:nvPr/>
        </p:nvSpPr>
        <p:spPr>
          <a:xfrm>
            <a:off x="3820160" y="3606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Von 32 Regeln nimmt keine beide Hürden — die stärkste verfehlt sie um 0,01 Prozentpunkte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Kennzahlen — am Beispiel aus dem Handel</a:t>
            </a:r>
          </a:p>
        </p:txBody>
      </p:sp>
      <p:sp>
        <p:nvSpPr>
          <p:cNvPr id="3" name="Text Placeholder 2"/>
          <p:cNvSpPr>
            <a:spLocks noGrp="1"/>
          </p:cNvSpPr>
          <p:nvPr>
            <p:ph type="body" idx="12" sz="quarter"/>
          </p:nvPr>
        </p:nvSpPr>
        <p:spPr/>
        <p:txBody>
          <a:bodyPr/>
          <a:lstStyle/>
          <a:p>
            <a:r>
              <a:t>Fall 5 · Phase 1</a:t>
            </a:r>
          </a:p>
        </p:txBody>
      </p:sp>
      <p:sp>
        <p:nvSpPr>
          <p:cNvPr id="4" name="Text Placeholder 3"/>
          <p:cNvSpPr>
            <a:spLocks noGrp="1"/>
          </p:cNvSpPr>
          <p:nvPr>
            <p:ph type="body" idx="13" sz="quarter"/>
          </p:nvPr>
        </p:nvSpPr>
        <p:spPr/>
        <p:txBody>
          <a:bodyPr/>
          <a:lstStyle/>
          <a:p>
            <a:r>
              <a:t>analytics/notebooks/05_Assoziation_Wege_im_Netz.ipynb · Abschnitt 1</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Support, Konfidenz und Lift beantworten drei verschiedene Fragen. Nur die dritte sagt, ob ein Zusammenhang überhaupt einer ist.</a:t>
            </a:r>
          </a:p>
        </p:txBody>
      </p:sp>
      <p:sp>
        <p:nvSpPr>
          <p:cNvPr id="6" name="Rectangle 5"/>
          <p:cNvSpPr/>
          <p:nvPr/>
        </p:nvSpPr>
        <p:spPr>
          <a:xfrm>
            <a:off x="1153160" y="1879600"/>
            <a:ext cx="1651000" cy="711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Kennzahl</a:t>
            </a:r>
          </a:p>
        </p:txBody>
      </p:sp>
      <p:sp>
        <p:nvSpPr>
          <p:cNvPr id="7" name="Rectangle 6"/>
          <p:cNvSpPr/>
          <p:nvPr/>
        </p:nvSpPr>
        <p:spPr>
          <a:xfrm>
            <a:off x="2804160" y="1879600"/>
            <a:ext cx="3810000" cy="711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Frage</a:t>
            </a:r>
          </a:p>
        </p:txBody>
      </p:sp>
      <p:sp>
        <p:nvSpPr>
          <p:cNvPr id="8" name="Rectangle 7"/>
          <p:cNvSpPr/>
          <p:nvPr/>
        </p:nvSpPr>
        <p:spPr>
          <a:xfrm>
            <a:off x="6614159" y="1879600"/>
            <a:ext cx="6013450" cy="711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Falle</a:t>
            </a:r>
          </a:p>
        </p:txBody>
      </p:sp>
      <p:sp>
        <p:nvSpPr>
          <p:cNvPr id="9" name="Rectangle 8"/>
          <p:cNvSpPr/>
          <p:nvPr/>
        </p:nvSpPr>
        <p:spPr>
          <a:xfrm>
            <a:off x="1153160" y="2590800"/>
            <a:ext cx="1651000" cy="711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Support</a:t>
            </a:r>
          </a:p>
        </p:txBody>
      </p:sp>
      <p:sp>
        <p:nvSpPr>
          <p:cNvPr id="10" name="Rectangle 9"/>
          <p:cNvSpPr/>
          <p:nvPr/>
        </p:nvSpPr>
        <p:spPr>
          <a:xfrm>
            <a:off x="2804160" y="2590800"/>
            <a:ext cx="3810000" cy="711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Wie oft kommt die Kombination überhaupt vor?</a:t>
            </a:r>
          </a:p>
        </p:txBody>
      </p:sp>
      <p:sp>
        <p:nvSpPr>
          <p:cNvPr id="11" name="Rectangle 10"/>
          <p:cNvSpPr/>
          <p:nvPr/>
        </p:nvSpPr>
        <p:spPr>
          <a:xfrm>
            <a:off x="6614159" y="2590800"/>
            <a:ext cx="6013450" cy="711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Hoher Support heißt nur: es ist häufig. Nicht: es hängt zusammen</a:t>
            </a:r>
          </a:p>
        </p:txBody>
      </p:sp>
      <p:sp>
        <p:nvSpPr>
          <p:cNvPr id="12" name="Rectangle 11"/>
          <p:cNvSpPr/>
          <p:nvPr/>
        </p:nvSpPr>
        <p:spPr>
          <a:xfrm>
            <a:off x="1153160" y="3302000"/>
            <a:ext cx="1651000" cy="711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Konfidenz</a:t>
            </a:r>
          </a:p>
        </p:txBody>
      </p:sp>
      <p:sp>
        <p:nvSpPr>
          <p:cNvPr id="13" name="Rectangle 12"/>
          <p:cNvSpPr/>
          <p:nvPr/>
        </p:nvSpPr>
        <p:spPr>
          <a:xfrm>
            <a:off x="2804160" y="3302000"/>
            <a:ext cx="3810000" cy="711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Wenn A, wie oft dann auch B?</a:t>
            </a:r>
          </a:p>
        </p:txBody>
      </p:sp>
      <p:sp>
        <p:nvSpPr>
          <p:cNvPr id="14" name="Rectangle 13"/>
          <p:cNvSpPr/>
          <p:nvPr/>
        </p:nvSpPr>
        <p:spPr>
          <a:xfrm>
            <a:off x="6614159" y="3302000"/>
            <a:ext cx="6013450" cy="7112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Hoch, wenn B einfach oft vorkommt — auch ohne jeden Zusammenhang</a:t>
            </a:r>
          </a:p>
        </p:txBody>
      </p:sp>
      <p:sp>
        <p:nvSpPr>
          <p:cNvPr id="15" name="Rectangle 14"/>
          <p:cNvSpPr/>
          <p:nvPr/>
        </p:nvSpPr>
        <p:spPr>
          <a:xfrm>
            <a:off x="1153160" y="4013200"/>
            <a:ext cx="1651000" cy="711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Lift</a:t>
            </a:r>
          </a:p>
        </p:txBody>
      </p:sp>
      <p:sp>
        <p:nvSpPr>
          <p:cNvPr id="16" name="Rectangle 15"/>
          <p:cNvSpPr/>
          <p:nvPr/>
        </p:nvSpPr>
        <p:spPr>
          <a:xfrm>
            <a:off x="2804160" y="4013200"/>
            <a:ext cx="3810000" cy="711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Wie oft passiert es gemeinsam, verglichen mit Zufall?</a:t>
            </a:r>
          </a:p>
        </p:txBody>
      </p:sp>
      <p:sp>
        <p:nvSpPr>
          <p:cNvPr id="17" name="Rectangle 16"/>
          <p:cNvSpPr/>
          <p:nvPr/>
        </p:nvSpPr>
        <p:spPr>
          <a:xfrm>
            <a:off x="6614159" y="4013200"/>
            <a:ext cx="6013450" cy="7112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Lift 1,0 heißt: kein Zusammenhang. Das ist die einzige der drei Kennzahlen, die das erkennt</a:t>
            </a:r>
          </a:p>
        </p:txBody>
      </p:sp>
      <p:sp>
        <p:nvSpPr>
          <p:cNvPr id="18" name="Rectangle 17"/>
          <p:cNvSpPr/>
          <p:nvPr/>
        </p:nvSpPr>
        <p:spPr>
          <a:xfrm>
            <a:off x="1153160"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1 Business</a:t>
            </a:r>
          </a:p>
          <a:p>
            <a:pPr algn="ctr">
              <a:lnSpc>
                <a:spcPct val="95000"/>
              </a:lnSpc>
            </a:pPr>
            <a:r>
              <a:rPr sz="1300" b="1">
                <a:solidFill>
                  <a:srgbClr val="FFFFFF"/>
                </a:solidFill>
              </a:rPr>
              <a:t>Understanding</a:t>
            </a:r>
          </a:p>
        </p:txBody>
      </p:sp>
      <p:sp>
        <p:nvSpPr>
          <p:cNvPr id="20" name="Rectangle 19"/>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2" name="Rectangle 21"/>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4" name="Rectangle 23"/>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6" name="Rectangle 25"/>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8" name="Rectangle 27"/>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stärkste Zusammenhang ist wahr und nutzlos</a:t>
            </a:r>
          </a:p>
        </p:txBody>
      </p:sp>
      <p:sp>
        <p:nvSpPr>
          <p:cNvPr id="3" name="Text Placeholder 2"/>
          <p:cNvSpPr>
            <a:spLocks noGrp="1"/>
          </p:cNvSpPr>
          <p:nvPr>
            <p:ph type="body" idx="12" sz="quarter"/>
          </p:nvPr>
        </p:nvSpPr>
        <p:spPr/>
        <p:txBody>
          <a:bodyPr/>
          <a:lstStyle/>
          <a:p>
            <a:r>
              <a:t>Fall 5 · Phase 2</a:t>
            </a:r>
          </a:p>
        </p:txBody>
      </p:sp>
      <p:sp>
        <p:nvSpPr>
          <p:cNvPr id="4" name="Text Placeholder 3"/>
          <p:cNvSpPr>
            <a:spLocks noGrp="1"/>
          </p:cNvSpPr>
          <p:nvPr>
            <p:ph type="body" idx="13" sz="quarter"/>
          </p:nvPr>
        </p:nvSpPr>
        <p:spPr/>
        <p:txBody>
          <a:bodyPr/>
          <a:lstStyle/>
          <a:p>
            <a:r>
              <a:t>analytics/notebooks/05_Assoziation_Wege_im_Netz.ipynb · Abschnitt 2</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Was das Verfahren zuerst findet, sind die Rundtouren: Start und Ziel sind dieselbe Station, bei knapp 20 % der angedockten Fahrten.</a:t>
            </a:r>
          </a:p>
        </p:txBody>
      </p:sp>
      <p:sp>
        <p:nvSpPr>
          <p:cNvPr id="6" name="Rectangle 5"/>
          <p:cNvSpPr/>
          <p:nvPr/>
        </p:nvSpPr>
        <p:spPr>
          <a:xfrm>
            <a:off x="1153160" y="18796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0066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Der Befund</a:t>
            </a:r>
          </a:p>
          <a:p>
            <a:pPr algn="l">
              <a:lnSpc>
                <a:spcPct val="95000"/>
              </a:lnSpc>
              <a:spcBef>
                <a:spcPts val="500"/>
              </a:spcBef>
            </a:pPr>
            <a:r>
              <a:rPr sz="1300" b="0">
                <a:solidFill>
                  <a:srgbClr val="404040"/>
                </a:solidFill>
              </a:rPr>
              <a:t>Rundtouren sind mit Abstand</a:t>
            </a:r>
          </a:p>
          <a:p>
            <a:pPr algn="l">
              <a:lnSpc>
                <a:spcPct val="95000"/>
              </a:lnSpc>
              <a:spcBef>
                <a:spcPts val="500"/>
              </a:spcBef>
            </a:pPr>
            <a:r>
              <a:rPr sz="1300" b="0">
                <a:solidFill>
                  <a:srgbClr val="404040"/>
                </a:solidFill>
              </a:rPr>
              <a:t>das häufigste Muster.</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Support hoch, Konfidenz hoch,</a:t>
            </a:r>
          </a:p>
          <a:p>
            <a:pPr algn="l">
              <a:lnSpc>
                <a:spcPct val="95000"/>
              </a:lnSpc>
              <a:spcBef>
                <a:spcPts val="500"/>
              </a:spcBef>
            </a:pPr>
            <a:r>
              <a:rPr sz="1300" b="0">
                <a:solidFill>
                  <a:srgbClr val="404040"/>
                </a:solidFill>
              </a:rPr>
              <a:t>Lift hoch.</a:t>
            </a:r>
          </a:p>
          <a:p>
            <a:pPr algn="l">
              <a:lnSpc>
                <a:spcPct val="95000"/>
              </a:lnSpc>
              <a:spcBef>
                <a:spcPts val="500"/>
              </a:spcBef>
            </a:pPr>
            <a:r>
              <a:rPr sz="1300" b="0">
                <a:solidFill>
                  <a:srgbClr val="404040"/>
                </a:solidFill>
              </a:rPr>
              <a:t>Eine perfekte Regel.</a:t>
            </a:r>
          </a:p>
        </p:txBody>
      </p:sp>
      <p:sp>
        <p:nvSpPr>
          <p:cNvPr id="9" name="Rectangle 8"/>
          <p:cNvSpPr/>
          <p:nvPr/>
        </p:nvSpPr>
        <p:spPr>
          <a:xfrm>
            <a:off x="5113020" y="18796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8796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0066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Warum nutzlos</a:t>
            </a:r>
          </a:p>
          <a:p>
            <a:pPr algn="l">
              <a:lnSpc>
                <a:spcPct val="95000"/>
              </a:lnSpc>
              <a:spcBef>
                <a:spcPts val="500"/>
              </a:spcBef>
            </a:pPr>
            <a:r>
              <a:rPr sz="1300" b="0">
                <a:solidFill>
                  <a:srgbClr val="404040"/>
                </a:solidFill>
              </a:rPr>
              <a:t>Kriterium 3 aus Phase 1:</a:t>
            </a:r>
          </a:p>
          <a:p>
            <a:pPr algn="l">
              <a:lnSpc>
                <a:spcPct val="95000"/>
              </a:lnSpc>
              <a:spcBef>
                <a:spcPts val="500"/>
              </a:spcBef>
            </a:pPr>
            <a:r>
              <a:rPr sz="1300" b="0">
                <a:solidFill>
                  <a:srgbClr val="404040"/>
                </a:solidFill>
              </a:rPr>
              <a:t>Die Regel muss eine Fahrt</a:t>
            </a:r>
          </a:p>
          <a:p>
            <a:pPr algn="l">
              <a:lnSpc>
                <a:spcPct val="95000"/>
              </a:lnSpc>
              <a:spcBef>
                <a:spcPts val="500"/>
              </a:spcBef>
            </a:pPr>
            <a:r>
              <a:rPr sz="1300" b="0">
                <a:solidFill>
                  <a:srgbClr val="404040"/>
                </a:solidFill>
              </a:rPr>
              <a:t>des Transporters begründen.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Bei einer Rundtour steht das</a:t>
            </a:r>
          </a:p>
          <a:p>
            <a:pPr algn="l">
              <a:lnSpc>
                <a:spcPct val="95000"/>
              </a:lnSpc>
              <a:spcBef>
                <a:spcPts val="500"/>
              </a:spcBef>
            </a:pPr>
            <a:r>
              <a:rPr sz="1300" b="0">
                <a:solidFill>
                  <a:srgbClr val="404040"/>
                </a:solidFill>
              </a:rPr>
              <a:t>Rad am Ende dort, wo es</a:t>
            </a:r>
          </a:p>
          <a:p>
            <a:pPr algn="l">
              <a:lnSpc>
                <a:spcPct val="95000"/>
              </a:lnSpc>
              <a:spcBef>
                <a:spcPts val="500"/>
              </a:spcBef>
            </a:pPr>
            <a:r>
              <a:rPr sz="1300" b="0">
                <a:solidFill>
                  <a:srgbClr val="404040"/>
                </a:solidFill>
              </a:rPr>
              <a:t>gestartet ist. Nichts zu tun.</a:t>
            </a:r>
          </a:p>
        </p:txBody>
      </p:sp>
      <p:sp>
        <p:nvSpPr>
          <p:cNvPr id="12" name="Rectangle 11"/>
          <p:cNvSpPr/>
          <p:nvPr/>
        </p:nvSpPr>
        <p:spPr>
          <a:xfrm>
            <a:off x="9081770" y="18796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8796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0066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Die Lehre</a:t>
            </a:r>
          </a:p>
          <a:p>
            <a:pPr algn="l">
              <a:lnSpc>
                <a:spcPct val="95000"/>
              </a:lnSpc>
              <a:spcBef>
                <a:spcPts val="500"/>
              </a:spcBef>
            </a:pPr>
            <a:r>
              <a:rPr sz="1300" b="0">
                <a:solidFill>
                  <a:srgbClr val="404040"/>
                </a:solidFill>
              </a:rPr>
              <a:t>Ein starker Zusammenhang</a:t>
            </a:r>
          </a:p>
          <a:p>
            <a:pPr algn="l">
              <a:lnSpc>
                <a:spcPct val="95000"/>
              </a:lnSpc>
              <a:spcBef>
                <a:spcPts val="500"/>
              </a:spcBef>
            </a:pPr>
            <a:r>
              <a:rPr sz="1300" b="0">
                <a:solidFill>
                  <a:srgbClr val="404040"/>
                </a:solidFill>
              </a:rPr>
              <a:t>ist nicht dasselbe wie ein</a:t>
            </a:r>
          </a:p>
          <a:p>
            <a:pPr algn="l">
              <a:lnSpc>
                <a:spcPct val="95000"/>
              </a:lnSpc>
              <a:spcBef>
                <a:spcPts val="500"/>
              </a:spcBef>
            </a:pPr>
            <a:r>
              <a:rPr sz="1300" b="0">
                <a:solidFill>
                  <a:srgbClr val="404040"/>
                </a:solidFill>
              </a:rPr>
              <a:t>brauchbarer.</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Rundtouren werden</a:t>
            </a:r>
          </a:p>
          <a:p>
            <a:pPr algn="l">
              <a:lnSpc>
                <a:spcPct val="95000"/>
              </a:lnSpc>
              <a:spcBef>
                <a:spcPts val="500"/>
              </a:spcBef>
            </a:pPr>
            <a:r>
              <a:rPr sz="1300" b="0">
                <a:solidFill>
                  <a:srgbClr val="404040"/>
                </a:solidFill>
              </a:rPr>
              <a:t>ausgeschlossen — begründet</a:t>
            </a:r>
          </a:p>
          <a:p>
            <a:pPr algn="l">
              <a:lnSpc>
                <a:spcPct val="95000"/>
              </a:lnSpc>
              <a:spcBef>
                <a:spcPts val="500"/>
              </a:spcBef>
            </a:pPr>
            <a:r>
              <a:rPr sz="1300" b="0">
                <a:solidFill>
                  <a:srgbClr val="404040"/>
                </a:solidFill>
              </a:rPr>
              <a:t>und dokumentiert.</a:t>
            </a:r>
          </a:p>
        </p:txBody>
      </p:sp>
      <p:sp>
        <p:nvSpPr>
          <p:cNvPr id="15" name="Rectangle 14"/>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7" name="Rectangle 16"/>
          <p:cNvSpPr/>
          <p:nvPr/>
        </p:nvSpPr>
        <p:spPr>
          <a:xfrm>
            <a:off x="3076151"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2 Data</a:t>
            </a:r>
          </a:p>
          <a:p>
            <a:pPr algn="ctr">
              <a:lnSpc>
                <a:spcPct val="95000"/>
              </a:lnSpc>
            </a:pPr>
            <a:r>
              <a:rPr sz="1300" b="1">
                <a:solidFill>
                  <a:srgbClr val="FFFFFF"/>
                </a:solidFill>
              </a:rPr>
              <a:t>Understanding</a:t>
            </a:r>
          </a:p>
        </p:txBody>
      </p:sp>
      <p:sp>
        <p:nvSpPr>
          <p:cNvPr id="19" name="Rectangle 18"/>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1" name="Rectangle 20"/>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3" name="Rectangle 22"/>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5" name="Rectangle 24"/>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Zeitfenster statt vierundzwanzig Stunden</a:t>
            </a:r>
          </a:p>
        </p:txBody>
      </p:sp>
      <p:sp>
        <p:nvSpPr>
          <p:cNvPr id="3" name="Text Placeholder 2"/>
          <p:cNvSpPr>
            <a:spLocks noGrp="1"/>
          </p:cNvSpPr>
          <p:nvPr>
            <p:ph type="body" idx="12" sz="quarter"/>
          </p:nvPr>
        </p:nvSpPr>
        <p:spPr/>
        <p:txBody>
          <a:bodyPr/>
          <a:lstStyle/>
          <a:p>
            <a:r>
              <a:t>Fall 5 · Phase 3</a:t>
            </a:r>
          </a:p>
        </p:txBody>
      </p:sp>
      <p:sp>
        <p:nvSpPr>
          <p:cNvPr id="4" name="Text Placeholder 3"/>
          <p:cNvSpPr>
            <a:spLocks noGrp="1"/>
          </p:cNvSpPr>
          <p:nvPr>
            <p:ph type="body" idx="13" sz="quarter"/>
          </p:nvPr>
        </p:nvSpPr>
        <p:spPr/>
        <p:txBody>
          <a:bodyPr/>
          <a:lstStyle/>
          <a:p>
            <a:r>
              <a:t>analytics/notebooks/05_Assoziation_Wege_im_Netz.ipynb · Abschnitt 3</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Ohne diese Entscheidung wäre jede Regel unbelegt — bei 24 Stunden fällt auf jede einzelne zu wenig, um irgendetwas zu zeigen.</a:t>
            </a:r>
          </a:p>
        </p:txBody>
      </p:sp>
      <p:sp>
        <p:nvSpPr>
          <p:cNvPr id="6" name="Rectangle 5"/>
          <p:cNvSpPr/>
          <p:nvPr/>
        </p:nvSpPr>
        <p:spPr>
          <a:xfrm>
            <a:off x="1153160" y="18796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0066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Das Problem</a:t>
            </a:r>
          </a:p>
          <a:p>
            <a:pPr algn="l">
              <a:lnSpc>
                <a:spcPct val="95000"/>
              </a:lnSpc>
              <a:spcBef>
                <a:spcPts val="500"/>
              </a:spcBef>
            </a:pPr>
            <a:r>
              <a:rPr sz="1300" b="0">
                <a:solidFill>
                  <a:srgbClr val="404040"/>
                </a:solidFill>
              </a:rPr>
              <a:t>Teilt man den Tag in Stunden,</a:t>
            </a:r>
          </a:p>
          <a:p>
            <a:pPr algn="l">
              <a:lnSpc>
                <a:spcPct val="95000"/>
              </a:lnSpc>
              <a:spcBef>
                <a:spcPts val="500"/>
              </a:spcBef>
            </a:pPr>
            <a:r>
              <a:rPr sz="1300" b="0">
                <a:solidFill>
                  <a:srgbClr val="404040"/>
                </a:solidFill>
              </a:rPr>
              <a:t>hat jede Start-Ziel-Stunden-</a:t>
            </a:r>
          </a:p>
          <a:p>
            <a:pPr algn="l">
              <a:lnSpc>
                <a:spcPct val="95000"/>
              </a:lnSpc>
              <a:spcBef>
                <a:spcPts val="500"/>
              </a:spcBef>
            </a:pPr>
            <a:r>
              <a:rPr sz="1300" b="0">
                <a:solidFill>
                  <a:srgbClr val="404040"/>
                </a:solidFill>
              </a:rPr>
              <a:t>Kombination eine Handvoll</a:t>
            </a:r>
          </a:p>
          <a:p>
            <a:pPr algn="l">
              <a:lnSpc>
                <a:spcPct val="95000"/>
              </a:lnSpc>
              <a:spcBef>
                <a:spcPts val="500"/>
              </a:spcBef>
            </a:pPr>
            <a:r>
              <a:rPr sz="1300" b="0">
                <a:solidFill>
                  <a:srgbClr val="404040"/>
                </a:solidFill>
              </a:rPr>
              <a:t>Fahrten.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Support nahe null, jede Regel</a:t>
            </a:r>
          </a:p>
          <a:p>
            <a:pPr algn="l">
              <a:lnSpc>
                <a:spcPct val="95000"/>
              </a:lnSpc>
              <a:spcBef>
                <a:spcPts val="500"/>
              </a:spcBef>
            </a:pPr>
            <a:r>
              <a:rPr sz="1300" b="0">
                <a:solidFill>
                  <a:srgbClr val="404040"/>
                </a:solidFill>
              </a:rPr>
              <a:t>ununterscheidbar vom Zufall.</a:t>
            </a:r>
          </a:p>
        </p:txBody>
      </p:sp>
      <p:sp>
        <p:nvSpPr>
          <p:cNvPr id="9" name="Rectangle 8"/>
          <p:cNvSpPr/>
          <p:nvPr/>
        </p:nvSpPr>
        <p:spPr>
          <a:xfrm>
            <a:off x="5113020" y="18796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8796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0066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Die Lösung</a:t>
            </a:r>
          </a:p>
          <a:p>
            <a:pPr algn="l">
              <a:lnSpc>
                <a:spcPct val="95000"/>
              </a:lnSpc>
              <a:spcBef>
                <a:spcPts val="500"/>
              </a:spcBef>
            </a:pPr>
            <a:r>
              <a:rPr sz="1300" b="0">
                <a:solidFill>
                  <a:srgbClr val="404040"/>
                </a:solidFill>
              </a:rPr>
              <a:t>Vier Fenster, an den</a:t>
            </a:r>
          </a:p>
          <a:p>
            <a:pPr algn="l">
              <a:lnSpc>
                <a:spcPct val="95000"/>
              </a:lnSpc>
              <a:spcBef>
                <a:spcPts val="500"/>
              </a:spcBef>
            </a:pPr>
            <a:r>
              <a:rPr sz="1300" b="0">
                <a:solidFill>
                  <a:srgbClr val="404040"/>
                </a:solidFill>
              </a:rPr>
              <a:t>tatsächlichen Spitzen</a:t>
            </a:r>
          </a:p>
          <a:p>
            <a:pPr algn="l">
              <a:lnSpc>
                <a:spcPct val="95000"/>
              </a:lnSpc>
              <a:spcBef>
                <a:spcPts val="500"/>
              </a:spcBef>
            </a:pPr>
            <a:r>
              <a:rPr sz="1300" b="0">
                <a:solidFill>
                  <a:srgbClr val="404040"/>
                </a:solidFill>
              </a:rPr>
              <a:t>orientiert:</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Früh · Vormittag ·</a:t>
            </a:r>
          </a:p>
          <a:p>
            <a:pPr algn="l">
              <a:lnSpc>
                <a:spcPct val="95000"/>
              </a:lnSpc>
              <a:spcBef>
                <a:spcPts val="500"/>
              </a:spcBef>
            </a:pPr>
            <a:r>
              <a:rPr sz="1300" b="0">
                <a:solidFill>
                  <a:srgbClr val="404040"/>
                </a:solidFill>
              </a:rPr>
              <a:t>Nachmittag · Abend</a:t>
            </a:r>
          </a:p>
        </p:txBody>
      </p:sp>
      <p:sp>
        <p:nvSpPr>
          <p:cNvPr id="12" name="Rectangle 11"/>
          <p:cNvSpPr/>
          <p:nvPr/>
        </p:nvSpPr>
        <p:spPr>
          <a:xfrm>
            <a:off x="9081770" y="18796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8796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0066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Der Vorbehalt</a:t>
            </a:r>
          </a:p>
          <a:p>
            <a:pPr algn="l">
              <a:lnSpc>
                <a:spcPct val="95000"/>
              </a:lnSpc>
              <a:spcBef>
                <a:spcPts val="500"/>
              </a:spcBef>
            </a:pPr>
            <a:r>
              <a:rPr sz="1300" b="0">
                <a:solidFill>
                  <a:srgbClr val="404040"/>
                </a:solidFill>
              </a:rPr>
              <a:t>Die vier Fenster sind gesetzt,</a:t>
            </a:r>
          </a:p>
          <a:p>
            <a:pPr algn="l">
              <a:lnSpc>
                <a:spcPct val="95000"/>
              </a:lnSpc>
              <a:spcBef>
                <a:spcPts val="500"/>
              </a:spcBef>
            </a:pPr>
            <a:r>
              <a:rPr sz="1300" b="0">
                <a:solidFill>
                  <a:srgbClr val="404040"/>
                </a:solidFill>
              </a:rPr>
              <a:t>nicht gefunden.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Eine Aufteilung nach den</a:t>
            </a:r>
          </a:p>
          <a:p>
            <a:pPr algn="l">
              <a:lnSpc>
                <a:spcPct val="95000"/>
              </a:lnSpc>
              <a:spcBef>
                <a:spcPts val="500"/>
              </a:spcBef>
            </a:pPr>
            <a:r>
              <a:rPr sz="1300" b="0">
                <a:solidFill>
                  <a:srgbClr val="404040"/>
                </a:solidFill>
              </a:rPr>
              <a:t>Spitzen aus Notebook 3 könnte</a:t>
            </a:r>
          </a:p>
          <a:p>
            <a:pPr algn="l">
              <a:lnSpc>
                <a:spcPct val="95000"/>
              </a:lnSpc>
              <a:spcBef>
                <a:spcPts val="500"/>
              </a:spcBef>
            </a:pPr>
            <a:r>
              <a:rPr sz="1300" b="0">
                <a:solidFill>
                  <a:srgbClr val="404040"/>
                </a:solidFill>
              </a:rPr>
              <a:t>schärfere Regeln liefern —</a:t>
            </a:r>
          </a:p>
          <a:p>
            <a:pPr algn="l">
              <a:lnSpc>
                <a:spcPct val="95000"/>
              </a:lnSpc>
              <a:spcBef>
                <a:spcPts val="500"/>
              </a:spcBef>
            </a:pPr>
            <a:r>
              <a:rPr sz="1300" b="0">
                <a:solidFill>
                  <a:srgbClr val="404040"/>
                </a:solidFill>
              </a:rPr>
              <a:t>notiert für die zweite Runde.</a:t>
            </a:r>
          </a:p>
        </p:txBody>
      </p:sp>
      <p:sp>
        <p:nvSpPr>
          <p:cNvPr id="15" name="Rectangle 14"/>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7" name="Rectangle 1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9" name="Rectangle 18"/>
          <p:cNvSpPr/>
          <p:nvPr/>
        </p:nvSpPr>
        <p:spPr>
          <a:xfrm>
            <a:off x="4999143"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3 Data</a:t>
            </a:r>
          </a:p>
          <a:p>
            <a:pPr algn="ctr">
              <a:lnSpc>
                <a:spcPct val="95000"/>
              </a:lnSpc>
            </a:pPr>
            <a:r>
              <a:rPr sz="1300" b="1">
                <a:solidFill>
                  <a:srgbClr val="FFFFFF"/>
                </a:solidFill>
              </a:rPr>
              <a:t>Preparation</a:t>
            </a:r>
          </a:p>
        </p:txBody>
      </p:sp>
      <p:sp>
        <p:nvSpPr>
          <p:cNvPr id="21" name="Rectangle 20"/>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3" name="Rectangle 22"/>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5" name="Rectangle 24"/>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einzelne Regel, von Hand nachgerechnet</a:t>
            </a:r>
          </a:p>
        </p:txBody>
      </p:sp>
      <p:sp>
        <p:nvSpPr>
          <p:cNvPr id="3" name="Text Placeholder 2"/>
          <p:cNvSpPr>
            <a:spLocks noGrp="1"/>
          </p:cNvSpPr>
          <p:nvPr>
            <p:ph type="body" idx="12" sz="quarter"/>
          </p:nvPr>
        </p:nvSpPr>
        <p:spPr/>
        <p:txBody>
          <a:bodyPr/>
          <a:lstStyle/>
          <a:p>
            <a:r>
              <a:t>Phase 4 · im Notebook</a:t>
            </a:r>
          </a:p>
        </p:txBody>
      </p:sp>
      <p:sp>
        <p:nvSpPr>
          <p:cNvPr id="4" name="Text Placeholder 3"/>
          <p:cNvSpPr>
            <a:spLocks noGrp="1"/>
          </p:cNvSpPr>
          <p:nvPr>
            <p:ph type="body" idx="13" sz="quarter"/>
          </p:nvPr>
        </p:nvSpPr>
        <p:spPr/>
        <p:txBody>
          <a:bodyPr/>
          <a:lstStyle/>
          <a:p>
            <a:r>
              <a:t>analytics/notebooks/05_Assoziation_Wege_im_Netz.ipynb · Abschnitt 4</a:t>
            </a:r>
          </a:p>
        </p:txBody>
      </p:sp>
      <p:sp>
        <p:nvSpPr>
          <p:cNvPr id="5" name="Rectangle 4"/>
          <p:cNvSpPr/>
          <p:nvPr/>
        </p:nvSpPr>
        <p:spPr>
          <a:xfrm>
            <a:off x="2839441" y="1168400"/>
            <a:ext cx="8101886" cy="436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5-regel.png"/>
          <p:cNvPicPr>
            <a:picLocks noChangeAspect="1"/>
          </p:cNvPicPr>
          <p:nvPr/>
        </p:nvPicPr>
        <p:blipFill>
          <a:blip r:embed="rId2"/>
          <a:stretch>
            <a:fillRect/>
          </a:stretch>
        </p:blipFill>
        <p:spPr>
          <a:xfrm>
            <a:off x="2941041" y="1270000"/>
            <a:ext cx="7898686" cy="4165600"/>
          </a:xfrm>
          <a:prstGeom prst="rect">
            <a:avLst/>
          </a:prstGeom>
        </p:spPr>
      </p:pic>
      <p:sp>
        <p:nvSpPr>
          <p:cNvPr id="7" name="Rectangle 6"/>
          <p:cNvSpPr/>
          <p:nvPr/>
        </p:nvSpPr>
        <p:spPr>
          <a:xfrm>
            <a:off x="1153160" y="56134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6896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Support, Konfidenz und Lift für eine konkrete Regel — drei Divisionen, Zeile für Zeile nachvollziehbar.</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32 Regeln bleibt keine</a:t>
            </a:r>
          </a:p>
        </p:txBody>
      </p:sp>
      <p:sp>
        <p:nvSpPr>
          <p:cNvPr id="3" name="Text Placeholder 2"/>
          <p:cNvSpPr>
            <a:spLocks noGrp="1"/>
          </p:cNvSpPr>
          <p:nvPr>
            <p:ph type="body" idx="12" sz="quarter"/>
          </p:nvPr>
        </p:nvSpPr>
        <p:spPr/>
        <p:txBody>
          <a:bodyPr/>
          <a:lstStyle/>
          <a:p>
            <a:r>
              <a:t>Fall 5 · Phase 5</a:t>
            </a:r>
          </a:p>
        </p:txBody>
      </p:sp>
      <p:sp>
        <p:nvSpPr>
          <p:cNvPr id="4" name="Text Placeholder 3"/>
          <p:cNvSpPr>
            <a:spLocks noGrp="1"/>
          </p:cNvSpPr>
          <p:nvPr>
            <p:ph type="body" idx="13" sz="quarter"/>
          </p:nvPr>
        </p:nvSpPr>
        <p:spPr/>
        <p:txBody>
          <a:bodyPr/>
          <a:lstStyle/>
          <a:p>
            <a:r>
              <a:t>analytics/notebooks/05_Assoziation_Wege_im_Netz.ipynb · Abschnitt 5</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Hoher Lift und hoher Support schließen einander fast aus. Wer beide Hürden vorab setzt, siebt radikal — hier bis auf null.</a:t>
            </a:r>
          </a:p>
        </p:txBody>
      </p:sp>
      <p:sp>
        <p:nvSpPr>
          <p:cNvPr id="6" name="Rectangle 5"/>
          <p:cNvSpPr/>
          <p:nvPr/>
        </p:nvSpPr>
        <p:spPr>
          <a:xfrm>
            <a:off x="1153160" y="1879600"/>
            <a:ext cx="63500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Hürde</a:t>
            </a:r>
          </a:p>
        </p:txBody>
      </p:sp>
      <p:sp>
        <p:nvSpPr>
          <p:cNvPr id="7" name="Rectangle 6"/>
          <p:cNvSpPr/>
          <p:nvPr/>
        </p:nvSpPr>
        <p:spPr>
          <a:xfrm>
            <a:off x="7503159" y="1879600"/>
            <a:ext cx="512445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Regeln, die sie erfüllen</a:t>
            </a:r>
          </a:p>
        </p:txBody>
      </p:sp>
      <p:sp>
        <p:nvSpPr>
          <p:cNvPr id="8" name="Rectangle 7"/>
          <p:cNvSpPr/>
          <p:nvPr/>
        </p:nvSpPr>
        <p:spPr>
          <a:xfrm>
            <a:off x="1153160" y="2438400"/>
            <a:ext cx="6350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Alle gefundenen Regeln</a:t>
            </a:r>
          </a:p>
        </p:txBody>
      </p:sp>
      <p:sp>
        <p:nvSpPr>
          <p:cNvPr id="9" name="Rectangle 8"/>
          <p:cNvSpPr/>
          <p:nvPr/>
        </p:nvSpPr>
        <p:spPr>
          <a:xfrm>
            <a:off x="7503159" y="2438400"/>
            <a:ext cx="512445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32</a:t>
            </a:r>
          </a:p>
        </p:txBody>
      </p:sp>
      <p:sp>
        <p:nvSpPr>
          <p:cNvPr id="10" name="Rectangle 9"/>
          <p:cNvSpPr/>
          <p:nvPr/>
        </p:nvSpPr>
        <p:spPr>
          <a:xfrm>
            <a:off x="1153160" y="2997200"/>
            <a:ext cx="635000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Lift ≥ 1,3</a:t>
            </a:r>
          </a:p>
        </p:txBody>
      </p:sp>
      <p:sp>
        <p:nvSpPr>
          <p:cNvPr id="11" name="Rectangle 10"/>
          <p:cNvSpPr/>
          <p:nvPr/>
        </p:nvSpPr>
        <p:spPr>
          <a:xfrm>
            <a:off x="7503159" y="2997200"/>
            <a:ext cx="512445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9</a:t>
            </a:r>
          </a:p>
        </p:txBody>
      </p:sp>
      <p:sp>
        <p:nvSpPr>
          <p:cNvPr id="12" name="Rectangle 11"/>
          <p:cNvSpPr/>
          <p:nvPr/>
        </p:nvSpPr>
        <p:spPr>
          <a:xfrm>
            <a:off x="1153160" y="3556000"/>
            <a:ext cx="635000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Support ≥ 1 %</a:t>
            </a:r>
          </a:p>
        </p:txBody>
      </p:sp>
      <p:sp>
        <p:nvSpPr>
          <p:cNvPr id="13" name="Rectangle 12"/>
          <p:cNvSpPr/>
          <p:nvPr/>
        </p:nvSpPr>
        <p:spPr>
          <a:xfrm>
            <a:off x="7503159" y="3556000"/>
            <a:ext cx="5124450" cy="558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a:t>
            </a:r>
          </a:p>
        </p:txBody>
      </p:sp>
      <p:sp>
        <p:nvSpPr>
          <p:cNvPr id="14" name="Rectangle 13"/>
          <p:cNvSpPr/>
          <p:nvPr/>
        </p:nvSpPr>
        <p:spPr>
          <a:xfrm>
            <a:off x="1153160" y="4114800"/>
            <a:ext cx="635000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Beide zugleich</a:t>
            </a:r>
          </a:p>
        </p:txBody>
      </p:sp>
      <p:sp>
        <p:nvSpPr>
          <p:cNvPr id="15" name="Rectangle 14"/>
          <p:cNvSpPr/>
          <p:nvPr/>
        </p:nvSpPr>
        <p:spPr>
          <a:xfrm>
            <a:off x="7503159" y="4114800"/>
            <a:ext cx="5124450" cy="558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0</a:t>
            </a:r>
          </a:p>
        </p:txBody>
      </p:sp>
      <p:sp>
        <p:nvSpPr>
          <p:cNvPr id="16" name="Rectangle 15"/>
          <p:cNvSpPr/>
          <p:nvPr/>
        </p:nvSpPr>
        <p:spPr>
          <a:xfrm>
            <a:off x="1153160" y="48514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56360" y="49276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Die stärkste Regel — werktags früh vom Hauptbahnhof zum Hubland Campus — erreicht 0,99 % Support. Zur Hürde fehlen 0,01 Prozentpunkte, also rund fünf Fahrten in drei Jahren.</a:t>
            </a:r>
          </a:p>
        </p:txBody>
      </p:sp>
      <p:sp>
        <p:nvSpPr>
          <p:cNvPr id="18" name="Rectangle 17"/>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0" name="Rectangle 19"/>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2" name="Rectangle 21"/>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4" name="Rectangle 23"/>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6" name="Rectangle 25"/>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28" name="Rectangle 27"/>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0,99 gegen 1,00 Prozent — der teuerste Moment eines Projekts</a:t>
            </a:r>
          </a:p>
        </p:txBody>
      </p:sp>
      <p:sp>
        <p:nvSpPr>
          <p:cNvPr id="3" name="Text Placeholder 2"/>
          <p:cNvSpPr>
            <a:spLocks noGrp="1"/>
          </p:cNvSpPr>
          <p:nvPr>
            <p:ph type="body" idx="12" sz="quarter"/>
          </p:nvPr>
        </p:nvSpPr>
        <p:spPr/>
        <p:txBody>
          <a:bodyPr/>
          <a:lstStyle/>
          <a:p>
            <a:r>
              <a:t>Fall 5 · Phase 5</a:t>
            </a:r>
          </a:p>
        </p:txBody>
      </p:sp>
      <p:sp>
        <p:nvSpPr>
          <p:cNvPr id="4" name="Text Placeholder 3"/>
          <p:cNvSpPr>
            <a:spLocks noGrp="1"/>
          </p:cNvSpPr>
          <p:nvPr>
            <p:ph type="body" idx="13" sz="quarter"/>
          </p:nvPr>
        </p:nvSpPr>
        <p:spPr/>
        <p:txBody>
          <a:bodyPr/>
          <a:lstStyle/>
          <a:p>
            <a:r>
              <a:t>analytics/notebooks/05_Assoziation_Wege_im_Netz.ipynb · Abschnitt 5</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Hürde auf 0,9 % zu senken wäre die Arbeit von zehn Sekunden. Niemand würde es je bemerken. Genau deshalb darf es nicht passieren.</a:t>
            </a:r>
          </a:p>
        </p:txBody>
      </p:sp>
      <p:sp>
        <p:nvSpPr>
          <p:cNvPr id="6" name="Rectangle 5"/>
          <p:cNvSpPr/>
          <p:nvPr/>
        </p:nvSpPr>
        <p:spPr>
          <a:xfrm>
            <a:off x="1153160" y="1879600"/>
            <a:ext cx="354584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0800" cy="2489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006600"/>
            <a:ext cx="3215640" cy="2235200"/>
          </a:xfrm>
          <a:prstGeom prst="rect">
            <a:avLst/>
          </a:prstGeom>
          <a:noFill/>
        </p:spPr>
        <p:txBody>
          <a:bodyPr wrap="square" lIns="0" tIns="0" rIns="0" bIns="0">
            <a:spAutoFit/>
          </a:bodyPr>
          <a:lstStyle/>
          <a:p>
            <a:pPr algn="l">
              <a:lnSpc>
                <a:spcPct val="95000"/>
              </a:lnSpc>
            </a:pPr>
            <a:r>
              <a:rPr sz="1500" b="1">
                <a:solidFill>
                  <a:srgbClr val="003E6E"/>
                </a:solidFill>
              </a:rPr>
              <a:t>Was verlockend wäre</a:t>
            </a:r>
          </a:p>
          <a:p>
            <a:pPr algn="l">
              <a:lnSpc>
                <a:spcPct val="95000"/>
              </a:lnSpc>
              <a:spcBef>
                <a:spcPts val="500"/>
              </a:spcBef>
            </a:pPr>
            <a:r>
              <a:rPr sz="1300" b="0">
                <a:solidFill>
                  <a:srgbClr val="404040"/>
                </a:solidFill>
              </a:rPr>
              <a:t>„0,99 ist doch praktisch 1.“</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Eine Zeile im Notebook, und</a:t>
            </a:r>
          </a:p>
          <a:p>
            <a:pPr algn="l">
              <a:lnSpc>
                <a:spcPct val="95000"/>
              </a:lnSpc>
              <a:spcBef>
                <a:spcPts val="500"/>
              </a:spcBef>
            </a:pPr>
            <a:r>
              <a:rPr sz="1300" b="0">
                <a:solidFill>
                  <a:srgbClr val="404040"/>
                </a:solidFill>
              </a:rPr>
              <a:t>aus dem Fehlschlag wird ein</a:t>
            </a:r>
          </a:p>
          <a:p>
            <a:pPr algn="l">
              <a:lnSpc>
                <a:spcPct val="95000"/>
              </a:lnSpc>
              <a:spcBef>
                <a:spcPts val="500"/>
              </a:spcBef>
            </a:pPr>
            <a:r>
              <a:rPr sz="1300" b="0">
                <a:solidFill>
                  <a:srgbClr val="404040"/>
                </a:solidFill>
              </a:rPr>
              <a:t>Ergebnis mit einer Regel,</a:t>
            </a:r>
          </a:p>
          <a:p>
            <a:pPr algn="l">
              <a:lnSpc>
                <a:spcPct val="95000"/>
              </a:lnSpc>
              <a:spcBef>
                <a:spcPts val="500"/>
              </a:spcBef>
            </a:pPr>
            <a:r>
              <a:rPr sz="1300" b="0">
                <a:solidFill>
                  <a:srgbClr val="404040"/>
                </a:solidFill>
              </a:rPr>
              <a:t>über die man vortragen kann.</a:t>
            </a:r>
          </a:p>
        </p:txBody>
      </p:sp>
      <p:sp>
        <p:nvSpPr>
          <p:cNvPr id="9" name="Rectangle 8"/>
          <p:cNvSpPr/>
          <p:nvPr/>
        </p:nvSpPr>
        <p:spPr>
          <a:xfrm>
            <a:off x="5113020" y="1879600"/>
            <a:ext cx="354584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879600"/>
            <a:ext cx="50800" cy="2489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006600"/>
            <a:ext cx="3215640" cy="2235200"/>
          </a:xfrm>
          <a:prstGeom prst="rect">
            <a:avLst/>
          </a:prstGeom>
          <a:noFill/>
        </p:spPr>
        <p:txBody>
          <a:bodyPr wrap="square" lIns="0" tIns="0" rIns="0" bIns="0">
            <a:spAutoFit/>
          </a:bodyPr>
          <a:lstStyle/>
          <a:p>
            <a:pPr algn="l">
              <a:lnSpc>
                <a:spcPct val="95000"/>
              </a:lnSpc>
            </a:pPr>
            <a:r>
              <a:rPr sz="1500" b="1">
                <a:solidFill>
                  <a:srgbClr val="003E6E"/>
                </a:solidFill>
              </a:rPr>
              <a:t>Warum es verboten ist</a:t>
            </a:r>
          </a:p>
          <a:p>
            <a:pPr algn="l">
              <a:lnSpc>
                <a:spcPct val="95000"/>
              </a:lnSpc>
              <a:spcBef>
                <a:spcPts val="500"/>
              </a:spcBef>
            </a:pPr>
            <a:r>
              <a:rPr sz="1300" b="0">
                <a:solidFill>
                  <a:srgbClr val="404040"/>
                </a:solidFill>
              </a:rPr>
              <a:t>Ein Kriterium, das man nach</a:t>
            </a:r>
          </a:p>
          <a:p>
            <a:pPr algn="l">
              <a:lnSpc>
                <a:spcPct val="95000"/>
              </a:lnSpc>
              <a:spcBef>
                <a:spcPts val="500"/>
              </a:spcBef>
            </a:pPr>
            <a:r>
              <a:rPr sz="1300" b="0">
                <a:solidFill>
                  <a:srgbClr val="404040"/>
                </a:solidFill>
              </a:rPr>
              <a:t>dem Ergebnis anpasst, misst</a:t>
            </a:r>
          </a:p>
          <a:p>
            <a:pPr algn="l">
              <a:lnSpc>
                <a:spcPct val="95000"/>
              </a:lnSpc>
              <a:spcBef>
                <a:spcPts val="500"/>
              </a:spcBef>
            </a:pPr>
            <a:r>
              <a:rPr sz="1300" b="0">
                <a:solidFill>
                  <a:srgbClr val="404040"/>
                </a:solidFill>
              </a:rPr>
              <a:t>nichts mehr.</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Es wäre dasselbe, wie es gar</a:t>
            </a:r>
          </a:p>
          <a:p>
            <a:pPr algn="l">
              <a:lnSpc>
                <a:spcPct val="95000"/>
              </a:lnSpc>
              <a:spcBef>
                <a:spcPts val="500"/>
              </a:spcBef>
            </a:pPr>
            <a:r>
              <a:rPr sz="1300" b="0">
                <a:solidFill>
                  <a:srgbClr val="404040"/>
                </a:solidFill>
              </a:rPr>
              <a:t>nicht erst aufgestellt zu</a:t>
            </a:r>
          </a:p>
          <a:p>
            <a:pPr algn="l">
              <a:lnSpc>
                <a:spcPct val="95000"/>
              </a:lnSpc>
              <a:spcBef>
                <a:spcPts val="500"/>
              </a:spcBef>
            </a:pPr>
            <a:r>
              <a:rPr sz="1300" b="0">
                <a:solidFill>
                  <a:srgbClr val="404040"/>
                </a:solidFill>
              </a:rPr>
              <a:t>haben.</a:t>
            </a:r>
          </a:p>
        </p:txBody>
      </p:sp>
      <p:sp>
        <p:nvSpPr>
          <p:cNvPr id="12" name="Rectangle 11"/>
          <p:cNvSpPr/>
          <p:nvPr/>
        </p:nvSpPr>
        <p:spPr>
          <a:xfrm>
            <a:off x="9081770" y="1879600"/>
            <a:ext cx="3545840" cy="2489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879600"/>
            <a:ext cx="50800" cy="2489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006600"/>
            <a:ext cx="3215640" cy="2235200"/>
          </a:xfrm>
          <a:prstGeom prst="rect">
            <a:avLst/>
          </a:prstGeom>
          <a:noFill/>
        </p:spPr>
        <p:txBody>
          <a:bodyPr wrap="square" lIns="0" tIns="0" rIns="0" bIns="0">
            <a:spAutoFit/>
          </a:bodyPr>
          <a:lstStyle/>
          <a:p>
            <a:pPr algn="l">
              <a:lnSpc>
                <a:spcPct val="95000"/>
              </a:lnSpc>
            </a:pPr>
            <a:r>
              <a:rPr sz="1500" b="1">
                <a:solidFill>
                  <a:srgbClr val="003E6E"/>
                </a:solidFill>
              </a:rPr>
              <a:t>Was stattdessen gilt</a:t>
            </a:r>
          </a:p>
          <a:p>
            <a:pPr algn="l">
              <a:lnSpc>
                <a:spcPct val="95000"/>
              </a:lnSpc>
              <a:spcBef>
                <a:spcPts val="500"/>
              </a:spcBef>
            </a:pPr>
            <a:r>
              <a:rPr sz="1300" b="0">
                <a:solidFill>
                  <a:srgbClr val="404040"/>
                </a:solidFill>
              </a:rPr>
              <a:t>Keine Regel wird freigegeben.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Ob 1 % die richtige Hürde für</a:t>
            </a:r>
          </a:p>
          <a:p>
            <a:pPr algn="l">
              <a:lnSpc>
                <a:spcPct val="95000"/>
              </a:lnSpc>
              <a:spcBef>
                <a:spcPts val="500"/>
              </a:spcBef>
            </a:pPr>
            <a:r>
              <a:rPr sz="1300" b="0">
                <a:solidFill>
                  <a:srgbClr val="404040"/>
                </a:solidFill>
              </a:rPr>
              <a:t>ein Netz aus zehn Stationen</a:t>
            </a:r>
          </a:p>
          <a:p>
            <a:pPr algn="l">
              <a:lnSpc>
                <a:spcPct val="95000"/>
              </a:lnSpc>
              <a:spcBef>
                <a:spcPts val="500"/>
              </a:spcBef>
            </a:pPr>
            <a:r>
              <a:rPr sz="1300" b="0">
                <a:solidFill>
                  <a:srgbClr val="404040"/>
                </a:solidFill>
              </a:rPr>
              <a:t>ist, gehört zurück in Phase 1</a:t>
            </a:r>
          </a:p>
          <a:p>
            <a:pPr algn="l">
              <a:lnSpc>
                <a:spcPct val="95000"/>
              </a:lnSpc>
              <a:spcBef>
                <a:spcPts val="500"/>
              </a:spcBef>
            </a:pPr>
            <a:r>
              <a:rPr sz="1300" b="0">
                <a:solidFill>
                  <a:srgbClr val="404040"/>
                </a:solidFill>
              </a:rPr>
              <a:t>— als Gespräch mit der</a:t>
            </a:r>
          </a:p>
          <a:p>
            <a:pPr algn="l">
              <a:lnSpc>
                <a:spcPct val="95000"/>
              </a:lnSpc>
              <a:spcBef>
                <a:spcPts val="500"/>
              </a:spcBef>
            </a:pPr>
            <a:r>
              <a:rPr sz="1300" b="0">
                <a:solidFill>
                  <a:srgbClr val="404040"/>
                </a:solidFill>
              </a:rPr>
              <a:t>Disposition, nicht als Zeile.</a:t>
            </a:r>
          </a:p>
        </p:txBody>
      </p:sp>
      <p:sp>
        <p:nvSpPr>
          <p:cNvPr id="15" name="Rectangle 14"/>
          <p:cNvSpPr/>
          <p:nvPr/>
        </p:nvSpPr>
        <p:spPr>
          <a:xfrm>
            <a:off x="1153160" y="5765800"/>
            <a:ext cx="1859491" cy="508000"/>
          </a:xfrm>
          <a:prstGeom prst="rect">
            <a:avLst/>
          </a:prstGeom>
          <a:solidFill>
            <a:srgbClr val="E3DED1"/>
          </a:solidFill>
          <a:ln w="9525">
            <a:solidFill>
              <a:srgbClr val="A326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A32638"/>
                </a:solidFill>
              </a:rPr>
              <a:t>1 Business</a:t>
            </a:r>
          </a:p>
          <a:p>
            <a:pPr algn="ctr">
              <a:lnSpc>
                <a:spcPct val="95000"/>
              </a:lnSpc>
            </a:pPr>
            <a:r>
              <a:rPr sz="1300" b="0">
                <a:solidFill>
                  <a:srgbClr val="A32638"/>
                </a:solidFill>
              </a:rPr>
              <a:t>Understanding</a:t>
            </a:r>
          </a:p>
        </p:txBody>
      </p:sp>
      <p:sp>
        <p:nvSpPr>
          <p:cNvPr id="17" name="Rectangle 1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9" name="Rectangle 18"/>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1" name="Rectangle 20"/>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3" name="Rectangle 22"/>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25" name="Rectangle 24"/>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Hürden sieben — 32, dann 9, dann keine</a:t>
            </a:r>
          </a:p>
        </p:txBody>
      </p:sp>
      <p:sp>
        <p:nvSpPr>
          <p:cNvPr id="3" name="Text Placeholder 2"/>
          <p:cNvSpPr>
            <a:spLocks noGrp="1"/>
          </p:cNvSpPr>
          <p:nvPr>
            <p:ph type="body" idx="12" sz="quarter"/>
          </p:nvPr>
        </p:nvSpPr>
        <p:spPr/>
        <p:txBody>
          <a:bodyPr/>
          <a:lstStyle/>
          <a:p>
            <a:r>
              <a:t>Phase 5 · im Notebook</a:t>
            </a:r>
          </a:p>
        </p:txBody>
      </p:sp>
      <p:sp>
        <p:nvSpPr>
          <p:cNvPr id="4" name="Text Placeholder 3"/>
          <p:cNvSpPr>
            <a:spLocks noGrp="1"/>
          </p:cNvSpPr>
          <p:nvPr>
            <p:ph type="body" idx="13" sz="quarter"/>
          </p:nvPr>
        </p:nvSpPr>
        <p:spPr/>
        <p:txBody>
          <a:bodyPr/>
          <a:lstStyle/>
          <a:p>
            <a:r>
              <a:t>analytics/notebooks/05_Assoziation_Wege_im_Netz.ipynb · Abschnitt 5.2</a:t>
            </a:r>
          </a:p>
        </p:txBody>
      </p:sp>
      <p:sp>
        <p:nvSpPr>
          <p:cNvPr id="5" name="Rectangle 4"/>
          <p:cNvSpPr/>
          <p:nvPr/>
        </p:nvSpPr>
        <p:spPr>
          <a:xfrm>
            <a:off x="3995803" y="1168400"/>
            <a:ext cx="5789162" cy="436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5-huerden.png"/>
          <p:cNvPicPr>
            <a:picLocks noChangeAspect="1"/>
          </p:cNvPicPr>
          <p:nvPr/>
        </p:nvPicPr>
        <p:blipFill>
          <a:blip r:embed="rId2"/>
          <a:stretch>
            <a:fillRect/>
          </a:stretch>
        </p:blipFill>
        <p:spPr>
          <a:xfrm>
            <a:off x="4097403" y="1270000"/>
            <a:ext cx="5585962" cy="4165600"/>
          </a:xfrm>
          <a:prstGeom prst="rect">
            <a:avLst/>
          </a:prstGeom>
        </p:spPr>
      </p:pic>
      <p:sp>
        <p:nvSpPr>
          <p:cNvPr id="7" name="Rectangle 6"/>
          <p:cNvSpPr/>
          <p:nvPr/>
        </p:nvSpPr>
        <p:spPr>
          <a:xfrm>
            <a:off x="1153160" y="56134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6896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Und darunter, gemessen statt behauptet: wie knapp die stärkste Regel scheitert.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Pläne — ganz ohne freigegebene Regel</a:t>
            </a:r>
          </a:p>
        </p:txBody>
      </p:sp>
      <p:sp>
        <p:nvSpPr>
          <p:cNvPr id="3" name="Text Placeholder 2"/>
          <p:cNvSpPr>
            <a:spLocks noGrp="1"/>
          </p:cNvSpPr>
          <p:nvPr>
            <p:ph type="body" idx="12" sz="quarter"/>
          </p:nvPr>
        </p:nvSpPr>
        <p:spPr/>
        <p:txBody>
          <a:bodyPr/>
          <a:lstStyle/>
          <a:p>
            <a:r>
              <a:t>Fall 5 · Phase 6</a:t>
            </a:r>
          </a:p>
        </p:txBody>
      </p:sp>
      <p:sp>
        <p:nvSpPr>
          <p:cNvPr id="4" name="Text Placeholder 3"/>
          <p:cNvSpPr>
            <a:spLocks noGrp="1"/>
          </p:cNvSpPr>
          <p:nvPr>
            <p:ph type="body" idx="13" sz="quarter"/>
          </p:nvPr>
        </p:nvSpPr>
        <p:spPr/>
        <p:txBody>
          <a:bodyPr/>
          <a:lstStyle/>
          <a:p>
            <a:r>
              <a:t>analytics/notebooks/05_Assoziation_Wege_im_Netz.ipynb · Abschnitt 6</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Der Umlaufplan entsteht aus den Salden je Station und Zeitfenster, nicht aus den Regeln. Deshalb trägt er, obwohl keine Regel freikam.</a:t>
            </a:r>
          </a:p>
        </p:txBody>
      </p:sp>
      <p:sp>
        <p:nvSpPr>
          <p:cNvPr id="6" name="Rectangle 5"/>
          <p:cNvSpPr/>
          <p:nvPr/>
        </p:nvSpPr>
        <p:spPr>
          <a:xfrm>
            <a:off x="1153160" y="1879600"/>
            <a:ext cx="552450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9304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Plan A</a:t>
            </a:r>
          </a:p>
        </p:txBody>
      </p:sp>
      <p:sp>
        <p:nvSpPr>
          <p:cNvPr id="9" name="TextBox 8"/>
          <p:cNvSpPr txBox="1"/>
          <p:nvPr/>
        </p:nvSpPr>
        <p:spPr>
          <a:xfrm>
            <a:off x="1330960" y="2387600"/>
            <a:ext cx="5194300" cy="2032000"/>
          </a:xfrm>
          <a:prstGeom prst="rect">
            <a:avLst/>
          </a:prstGeom>
          <a:noFill/>
        </p:spPr>
        <p:txBody>
          <a:bodyPr wrap="square" lIns="0" tIns="0" rIns="0" bIns="0">
            <a:spAutoFit/>
          </a:bodyPr>
          <a:lstStyle/>
          <a:p>
            <a:pPr algn="l">
              <a:lnSpc>
                <a:spcPct val="95000"/>
              </a:lnSpc>
            </a:pPr>
            <a:r>
              <a:rPr sz="1400" b="1">
                <a:solidFill>
                  <a:srgbClr val="A32638"/>
                </a:solidFill>
              </a:rPr>
              <a:t>Umverteilen zwischen Stationen</a:t>
            </a:r>
          </a:p>
          <a:p>
            <a:pPr algn="l">
              <a:lnSpc>
                <a:spcPct val="95000"/>
              </a:lnSpc>
              <a:spcBef>
                <a:spcPts val="300"/>
              </a:spcBef>
            </a:pPr>
            <a:r>
              <a:rPr sz="1300" b="0">
                <a:solidFill>
                  <a:srgbClr val="404040"/>
                </a:solidFill>
              </a:rPr>
              <a:t>Der Pendelstrom morgens</a:t>
            </a:r>
          </a:p>
          <a:p>
            <a:pPr algn="l">
              <a:lnSpc>
                <a:spcPct val="95000"/>
              </a:lnSpc>
              <a:spcBef>
                <a:spcPts val="300"/>
              </a:spcBef>
            </a:pPr>
            <a:r>
              <a:rPr sz="1300" b="0">
                <a:solidFill>
                  <a:srgbClr val="404040"/>
                </a:solidFill>
              </a:rPr>
              <a:t>leert eine Station und füllt</a:t>
            </a:r>
          </a:p>
          <a:p>
            <a:pPr algn="l">
              <a:lnSpc>
                <a:spcPct val="95000"/>
              </a:lnSpc>
              <a:spcBef>
                <a:spcPts val="300"/>
              </a:spcBef>
            </a:pPr>
            <a:r>
              <a:rPr sz="1300" b="0">
                <a:solidFill>
                  <a:srgbClr val="404040"/>
                </a:solidFill>
              </a:rPr>
              <a:t>eine andere.</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Gegenprobe über die kunde_id:</a:t>
            </a:r>
          </a:p>
          <a:p>
            <a:pPr algn="l">
              <a:lnSpc>
                <a:spcPct val="95000"/>
              </a:lnSpc>
              <a:spcBef>
                <a:spcPts val="300"/>
              </a:spcBef>
            </a:pPr>
            <a:r>
              <a:rPr sz="1300" b="0">
                <a:solidFill>
                  <a:srgbClr val="404040"/>
                </a:solidFill>
              </a:rPr>
              <a:t>nur 13,8 % fahren abends</a:t>
            </a:r>
          </a:p>
          <a:p>
            <a:pPr algn="l">
              <a:lnSpc>
                <a:spcPct val="95000"/>
              </a:lnSpc>
              <a:spcBef>
                <a:spcPts val="300"/>
              </a:spcBef>
            </a:pPr>
            <a:r>
              <a:rPr sz="1300" b="0">
                <a:solidFill>
                  <a:srgbClr val="404040"/>
                </a:solidFill>
              </a:rPr>
              <a:t>zurück — die Richtung stimmt,</a:t>
            </a:r>
          </a:p>
          <a:p>
            <a:pPr algn="l">
              <a:lnSpc>
                <a:spcPct val="95000"/>
              </a:lnSpc>
              <a:spcBef>
                <a:spcPts val="300"/>
              </a:spcBef>
            </a:pPr>
            <a:r>
              <a:rPr sz="1300" b="0">
                <a:solidFill>
                  <a:srgbClr val="404040"/>
                </a:solidFill>
              </a:rPr>
              <a:t>die Personen nicht.</a:t>
            </a:r>
          </a:p>
        </p:txBody>
      </p:sp>
      <p:sp>
        <p:nvSpPr>
          <p:cNvPr id="10" name="Rectangle 9"/>
          <p:cNvSpPr/>
          <p:nvPr/>
        </p:nvSpPr>
        <p:spPr>
          <a:xfrm>
            <a:off x="7096759" y="1879600"/>
            <a:ext cx="5524500" cy="266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8796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9304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Plan B</a:t>
            </a:r>
          </a:p>
        </p:txBody>
      </p:sp>
      <p:sp>
        <p:nvSpPr>
          <p:cNvPr id="13" name="TextBox 12"/>
          <p:cNvSpPr txBox="1"/>
          <p:nvPr/>
        </p:nvSpPr>
        <p:spPr>
          <a:xfrm>
            <a:off x="7274559" y="2387600"/>
            <a:ext cx="5194300" cy="2032000"/>
          </a:xfrm>
          <a:prstGeom prst="rect">
            <a:avLst/>
          </a:prstGeom>
          <a:noFill/>
        </p:spPr>
        <p:txBody>
          <a:bodyPr wrap="square" lIns="0" tIns="0" rIns="0" bIns="0">
            <a:spAutoFit/>
          </a:bodyPr>
          <a:lstStyle/>
          <a:p>
            <a:pPr algn="l">
              <a:lnSpc>
                <a:spcPct val="95000"/>
              </a:lnSpc>
            </a:pPr>
            <a:r>
              <a:rPr sz="1400" b="1">
                <a:solidFill>
                  <a:srgbClr val="55801C"/>
                </a:solidFill>
              </a:rPr>
              <a:t>Frei abgestellte Räder einsammeln</a:t>
            </a:r>
          </a:p>
          <a:p>
            <a:pPr algn="l">
              <a:lnSpc>
                <a:spcPct val="95000"/>
              </a:lnSpc>
              <a:spcBef>
                <a:spcPts val="300"/>
              </a:spcBef>
            </a:pPr>
            <a:r>
              <a:rPr sz="1300" b="0">
                <a:solidFill>
                  <a:srgbClr val="404040"/>
                </a:solidFill>
              </a:rPr>
              <a:t>„Frei abgestellt“ wurde ein</a:t>
            </a:r>
          </a:p>
          <a:p>
            <a:pPr algn="l">
              <a:lnSpc>
                <a:spcPct val="95000"/>
              </a:lnSpc>
              <a:spcBef>
                <a:spcPts val="300"/>
              </a:spcBef>
            </a:pPr>
            <a:r>
              <a:rPr sz="1300" b="0">
                <a:solidFill>
                  <a:srgbClr val="404040"/>
                </a:solidFill>
              </a:rPr>
              <a:t>eigenes Ziel — sonst wären</a:t>
            </a:r>
          </a:p>
          <a:p>
            <a:pPr algn="l">
              <a:lnSpc>
                <a:spcPct val="95000"/>
              </a:lnSpc>
              <a:spcBef>
                <a:spcPts val="300"/>
              </a:spcBef>
            </a:pPr>
            <a:r>
              <a:rPr sz="1300" b="0">
                <a:solidFill>
                  <a:srgbClr val="404040"/>
                </a:solidFill>
              </a:rPr>
              <a:t>19,8 % der Fahrten unsichtbar</a:t>
            </a:r>
          </a:p>
          <a:p>
            <a:pPr algn="l">
              <a:lnSpc>
                <a:spcPct val="95000"/>
              </a:lnSpc>
              <a:spcBef>
                <a:spcPts val="300"/>
              </a:spcBef>
            </a:pPr>
            <a:r>
              <a:rPr sz="1300" b="0">
                <a:solidFill>
                  <a:srgbClr val="404040"/>
                </a:solidFill>
              </a:rPr>
              <a:t>geblieben.</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Vorbehalt: Wegeketten sind</a:t>
            </a:r>
          </a:p>
          <a:p>
            <a:pPr algn="l">
              <a:lnSpc>
                <a:spcPct val="95000"/>
              </a:lnSpc>
              <a:spcBef>
                <a:spcPts val="300"/>
              </a:spcBef>
            </a:pPr>
            <a:r>
              <a:rPr sz="1300" b="0">
                <a:solidFill>
                  <a:srgbClr val="404040"/>
                </a:solidFill>
              </a:rPr>
              <a:t>personenbezogene Daten.</a:t>
            </a:r>
          </a:p>
        </p:txBody>
      </p:sp>
      <p:sp>
        <p:nvSpPr>
          <p:cNvPr id="14" name="Rectangle 13"/>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6" name="Rectangle 15"/>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8" name="Rectangle 1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0" name="Rectangle 1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2" name="Rectangle 2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4" name="Rectangle 23"/>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Kreislauf schließt sich</a:t>
            </a:r>
          </a:p>
        </p:txBody>
      </p:sp>
      <p:sp>
        <p:nvSpPr>
          <p:cNvPr id="3" name="Text Placeholder 2"/>
          <p:cNvSpPr>
            <a:spLocks noGrp="1"/>
          </p:cNvSpPr>
          <p:nvPr>
            <p:ph type="body" idx="12" sz="quarter"/>
          </p:nvPr>
        </p:nvSpPr>
        <p:spPr/>
        <p:txBody>
          <a:bodyPr/>
          <a:lstStyle/>
          <a:p>
            <a:r>
              <a:t>Fall 5 · Abschluss</a:t>
            </a:r>
          </a:p>
        </p:txBody>
      </p:sp>
      <p:sp>
        <p:nvSpPr>
          <p:cNvPr id="4" name="Text Placeholder 3"/>
          <p:cNvSpPr>
            <a:spLocks noGrp="1"/>
          </p:cNvSpPr>
          <p:nvPr>
            <p:ph type="body" idx="13" sz="quarter"/>
          </p:nvPr>
        </p:nvSpPr>
        <p:spPr/>
        <p:txBody>
          <a:bodyPr/>
          <a:lstStyle/>
          <a:p>
            <a:r>
              <a:t>analytics/notebooks/05_Assoziation_Wege_im_Netz.ipynb</a:t>
            </a:r>
          </a:p>
        </p:txBody>
      </p:sp>
      <p:sp>
        <p:nvSpPr>
          <p:cNvPr id="5" name="Rectangle 4"/>
          <p:cNvSpPr/>
          <p:nvPr/>
        </p:nvSpPr>
        <p:spPr>
          <a:xfrm>
            <a:off x="1153160" y="1346200"/>
            <a:ext cx="2921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Phase</a:t>
            </a:r>
          </a:p>
        </p:txBody>
      </p:sp>
      <p:sp>
        <p:nvSpPr>
          <p:cNvPr id="6" name="Rectangle 5"/>
          <p:cNvSpPr/>
          <p:nvPr/>
        </p:nvSpPr>
        <p:spPr>
          <a:xfrm>
            <a:off x="4074160" y="1346200"/>
            <a:ext cx="855345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Was dabei herauskam</a:t>
            </a:r>
          </a:p>
        </p:txBody>
      </p:sp>
      <p:sp>
        <p:nvSpPr>
          <p:cNvPr id="7" name="Rectangle 6"/>
          <p:cNvSpPr/>
          <p:nvPr/>
        </p:nvSpPr>
        <p:spPr>
          <a:xfrm>
            <a:off x="1153160" y="1879600"/>
            <a:ext cx="292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 Business Understanding</a:t>
            </a:r>
          </a:p>
        </p:txBody>
      </p:sp>
      <p:sp>
        <p:nvSpPr>
          <p:cNvPr id="8" name="Rectangle 7"/>
          <p:cNvSpPr/>
          <p:nvPr/>
        </p:nvSpPr>
        <p:spPr>
          <a:xfrm>
            <a:off x="4074160" y="1879600"/>
            <a:ext cx="8553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„Von wo nach wo?“ statt „wie viele?“. Drei Kriterien, darunter eines, das rein fachlich ist</a:t>
            </a:r>
          </a:p>
        </p:txBody>
      </p:sp>
      <p:sp>
        <p:nvSpPr>
          <p:cNvPr id="9" name="Rectangle 8"/>
          <p:cNvSpPr/>
          <p:nvPr/>
        </p:nvSpPr>
        <p:spPr>
          <a:xfrm>
            <a:off x="1153160" y="2413000"/>
            <a:ext cx="292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2 Data Understanding</a:t>
            </a:r>
          </a:p>
        </p:txBody>
      </p:sp>
      <p:sp>
        <p:nvSpPr>
          <p:cNvPr id="10" name="Rectangle 9"/>
          <p:cNvSpPr/>
          <p:nvPr/>
        </p:nvSpPr>
        <p:spPr>
          <a:xfrm>
            <a:off x="4074160" y="2413000"/>
            <a:ext cx="8553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Eine Fahrt ist ein Warenkorb. Rundtouren: wahr und nutzlos, deshalb ausgeschlossen</a:t>
            </a:r>
          </a:p>
        </p:txBody>
      </p:sp>
      <p:sp>
        <p:nvSpPr>
          <p:cNvPr id="11" name="Rectangle 10"/>
          <p:cNvSpPr/>
          <p:nvPr/>
        </p:nvSpPr>
        <p:spPr>
          <a:xfrm>
            <a:off x="1153160" y="2946400"/>
            <a:ext cx="292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 Data Preparation</a:t>
            </a:r>
          </a:p>
        </p:txBody>
      </p:sp>
      <p:sp>
        <p:nvSpPr>
          <p:cNvPr id="12" name="Rectangle 11"/>
          <p:cNvSpPr/>
          <p:nvPr/>
        </p:nvSpPr>
        <p:spPr>
          <a:xfrm>
            <a:off x="4074160" y="2946400"/>
            <a:ext cx="8553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Vier Zeitfenster statt 24 Stunden, sonst wäre jede Regel unbelegt</a:t>
            </a:r>
          </a:p>
        </p:txBody>
      </p:sp>
      <p:sp>
        <p:nvSpPr>
          <p:cNvPr id="13" name="Rectangle 12"/>
          <p:cNvSpPr/>
          <p:nvPr/>
        </p:nvSpPr>
        <p:spPr>
          <a:xfrm>
            <a:off x="1153160" y="3479800"/>
            <a:ext cx="292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4 Modeling</a:t>
            </a:r>
          </a:p>
        </p:txBody>
      </p:sp>
      <p:sp>
        <p:nvSpPr>
          <p:cNvPr id="14" name="Rectangle 13"/>
          <p:cNvSpPr/>
          <p:nvPr/>
        </p:nvSpPr>
        <p:spPr>
          <a:xfrm>
            <a:off x="4074160" y="3479800"/>
            <a:ext cx="8553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Support, Konfidenz und Lift von Hand — eine Regel Zeile für Zeile nachgerechnet</a:t>
            </a:r>
          </a:p>
        </p:txBody>
      </p:sp>
      <p:sp>
        <p:nvSpPr>
          <p:cNvPr id="15" name="Rectangle 14"/>
          <p:cNvSpPr/>
          <p:nvPr/>
        </p:nvSpPr>
        <p:spPr>
          <a:xfrm>
            <a:off x="1153160" y="4013200"/>
            <a:ext cx="292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5 Evaluation</a:t>
            </a:r>
          </a:p>
        </p:txBody>
      </p:sp>
      <p:sp>
        <p:nvSpPr>
          <p:cNvPr id="16" name="Rectangle 15"/>
          <p:cNvSpPr/>
          <p:nvPr/>
        </p:nvSpPr>
        <p:spPr>
          <a:xfrm>
            <a:off x="4074160" y="4013200"/>
            <a:ext cx="8553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32 Regeln, 9 mit Lift, keine mit Support — die stärkste verfehlt die Hürde um 0,01 Prozentpunkte</a:t>
            </a:r>
          </a:p>
        </p:txBody>
      </p:sp>
      <p:sp>
        <p:nvSpPr>
          <p:cNvPr id="17" name="Rectangle 16"/>
          <p:cNvSpPr/>
          <p:nvPr/>
        </p:nvSpPr>
        <p:spPr>
          <a:xfrm>
            <a:off x="1153160" y="4546600"/>
            <a:ext cx="292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Deployment</a:t>
            </a:r>
          </a:p>
        </p:txBody>
      </p:sp>
      <p:sp>
        <p:nvSpPr>
          <p:cNvPr id="18" name="Rectangle 17"/>
          <p:cNvSpPr/>
          <p:nvPr/>
        </p:nvSpPr>
        <p:spPr>
          <a:xfrm>
            <a:off x="4074160" y="4546600"/>
            <a:ext cx="8553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Zwei Pläne, mit Datenschutzvorbehalt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 Fall 6 — Anomalie: der Rücksprung zum Mitlesen</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Was ist gestern schiefgelaufen — und was tut man, wenn das Modell sauber rechnet und trotzdem Unbrauchbares liefert?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Fall auf einen Blick</a:t>
            </a:r>
          </a:p>
        </p:txBody>
      </p:sp>
      <p:sp>
        <p:nvSpPr>
          <p:cNvPr id="3" name="Text Placeholder 2"/>
          <p:cNvSpPr>
            <a:spLocks noGrp="1"/>
          </p:cNvSpPr>
          <p:nvPr>
            <p:ph type="body" idx="12" sz="quarter"/>
          </p:nvPr>
        </p:nvSpPr>
        <p:spPr/>
        <p:txBody>
          <a:bodyPr/>
          <a:lstStyle/>
          <a:p>
            <a:r>
              <a:t>Fall 6</a:t>
            </a:r>
          </a:p>
        </p:txBody>
      </p:sp>
      <p:sp>
        <p:nvSpPr>
          <p:cNvPr id="4" name="Text Placeholder 3"/>
          <p:cNvSpPr>
            <a:spLocks noGrp="1"/>
          </p:cNvSpPr>
          <p:nvPr>
            <p:ph type="body" idx="13" sz="quarter"/>
          </p:nvPr>
        </p:nvSpPr>
        <p:spPr/>
        <p:txBody>
          <a:bodyPr/>
          <a:lstStyle/>
          <a:p>
            <a:r>
              <a:t>analytics/notebooks/06_Anomalieerkennung_Auffaellige_Vorgaenge.ipynb</a:t>
            </a:r>
          </a:p>
        </p:txBody>
      </p:sp>
      <p:sp>
        <p:nvSpPr>
          <p:cNvPr id="5" name="Rectangle 4"/>
          <p:cNvSpPr/>
          <p:nvPr/>
        </p:nvSpPr>
        <p:spPr>
          <a:xfrm>
            <a:off x="1153160" y="1346200"/>
            <a:ext cx="11474450" cy="27940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76200" cy="2794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07160" y="1447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Zwei Aufgaben</a:t>
            </a:r>
          </a:p>
        </p:txBody>
      </p:sp>
      <p:sp>
        <p:nvSpPr>
          <p:cNvPr id="8" name="TextBox 7"/>
          <p:cNvSpPr txBox="1"/>
          <p:nvPr/>
        </p:nvSpPr>
        <p:spPr>
          <a:xfrm>
            <a:off x="3820160" y="1447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A) Auffällige Fahrten finden  B) Stationsausfälle erkennen</a:t>
            </a:r>
          </a:p>
        </p:txBody>
      </p:sp>
      <p:sp>
        <p:nvSpPr>
          <p:cNvPr id="9" name="TextBox 8"/>
          <p:cNvSpPr txBox="1"/>
          <p:nvPr/>
        </p:nvSpPr>
        <p:spPr>
          <a:xfrm>
            <a:off x="1407160" y="18796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Das Produkt</a:t>
            </a:r>
          </a:p>
        </p:txBody>
      </p:sp>
      <p:sp>
        <p:nvSpPr>
          <p:cNvPr id="10" name="TextBox 9"/>
          <p:cNvSpPr txBox="1"/>
          <p:nvPr/>
        </p:nvSpPr>
        <p:spPr>
          <a:xfrm>
            <a:off x="3820160" y="18796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Eine Tagesliste mit zehn Plätzen für die Disposition</a:t>
            </a:r>
          </a:p>
        </p:txBody>
      </p:sp>
      <p:sp>
        <p:nvSpPr>
          <p:cNvPr id="11" name="TextBox 10"/>
          <p:cNvSpPr txBox="1"/>
          <p:nvPr/>
        </p:nvSpPr>
        <p:spPr>
          <a:xfrm>
            <a:off x="1407160" y="23114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Erfolgskriterium</a:t>
            </a:r>
          </a:p>
        </p:txBody>
      </p:sp>
      <p:sp>
        <p:nvSpPr>
          <p:cNvPr id="12" name="TextBox 11"/>
          <p:cNvSpPr txBox="1"/>
          <p:nvPr/>
        </p:nvSpPr>
        <p:spPr>
          <a:xfrm>
            <a:off x="3820160" y="23114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Jeder fünfte Eintrag muss tragen — 20 %. Rentabel wäre die Liste schon ab 5 %</a:t>
            </a:r>
          </a:p>
        </p:txBody>
      </p:sp>
      <p:sp>
        <p:nvSpPr>
          <p:cNvPr id="13" name="TextBox 12"/>
          <p:cNvSpPr txBox="1"/>
          <p:nvPr/>
        </p:nvSpPr>
        <p:spPr>
          <a:xfrm>
            <a:off x="1407160" y="27432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Verfahren</a:t>
            </a:r>
          </a:p>
        </p:txBody>
      </p:sp>
      <p:sp>
        <p:nvSpPr>
          <p:cNvPr id="14" name="TextBox 13"/>
          <p:cNvSpPr txBox="1"/>
          <p:nvPr/>
        </p:nvSpPr>
        <p:spPr>
          <a:xfrm>
            <a:off x="3820160" y="27432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Interquartilsregel als Maßstab, dann Isolation Forest</a:t>
            </a:r>
          </a:p>
        </p:txBody>
      </p:sp>
      <p:sp>
        <p:nvSpPr>
          <p:cNvPr id="15" name="TextBox 14"/>
          <p:cNvSpPr txBox="1"/>
          <p:nvPr/>
        </p:nvSpPr>
        <p:spPr>
          <a:xfrm>
            <a:off x="1407160" y="31750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Der Rücksprung</a:t>
            </a:r>
          </a:p>
        </p:txBody>
      </p:sp>
      <p:sp>
        <p:nvSpPr>
          <p:cNvPr id="16" name="TextBox 15"/>
          <p:cNvSpPr txBox="1"/>
          <p:nvPr/>
        </p:nvSpPr>
        <p:spPr>
          <a:xfrm>
            <a:off x="3820160" y="31750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Phase 4 zurück nach Phase 3 — das Modell fand die Preisklasse statt der Anomalien</a:t>
            </a:r>
          </a:p>
        </p:txBody>
      </p:sp>
      <p:sp>
        <p:nvSpPr>
          <p:cNvPr id="17" name="TextBox 16"/>
          <p:cNvSpPr txBox="1"/>
          <p:nvPr/>
        </p:nvSpPr>
        <p:spPr>
          <a:xfrm>
            <a:off x="1407160" y="3606800"/>
            <a:ext cx="2413000" cy="381000"/>
          </a:xfrm>
          <a:prstGeom prst="rect">
            <a:avLst/>
          </a:prstGeom>
          <a:noFill/>
        </p:spPr>
        <p:txBody>
          <a:bodyPr wrap="square" lIns="0" tIns="0" rIns="0" bIns="0" anchor="ctr">
            <a:spAutoFit/>
          </a:bodyPr>
          <a:lstStyle/>
          <a:p>
            <a:pPr algn="l">
              <a:lnSpc>
                <a:spcPct val="95000"/>
              </a:lnSpc>
            </a:pPr>
            <a:r>
              <a:rPr sz="1300" b="1">
                <a:solidFill>
                  <a:srgbClr val="003E6E"/>
                </a:solidFill>
              </a:rPr>
              <a:t>Urteil</a:t>
            </a:r>
          </a:p>
        </p:txBody>
      </p:sp>
      <p:sp>
        <p:nvSpPr>
          <p:cNvPr id="18" name="TextBox 17"/>
          <p:cNvSpPr txBox="1"/>
          <p:nvPr/>
        </p:nvSpPr>
        <p:spPr>
          <a:xfrm>
            <a:off x="3820160" y="3606800"/>
            <a:ext cx="8502650" cy="381000"/>
          </a:xfrm>
          <a:prstGeom prst="rect">
            <a:avLst/>
          </a:prstGeom>
          <a:noFill/>
        </p:spPr>
        <p:txBody>
          <a:bodyPr wrap="square" lIns="0" tIns="0" rIns="0" bIns="0" anchor="ctr">
            <a:spAutoFit/>
          </a:bodyPr>
          <a:lstStyle/>
          <a:p>
            <a:pPr algn="l">
              <a:lnSpc>
                <a:spcPct val="95000"/>
              </a:lnSpc>
            </a:pPr>
            <a:r>
              <a:rPr sz="1300" b="0">
                <a:solidFill>
                  <a:srgbClr val="404040"/>
                </a:solidFill>
              </a:rPr>
              <a:t>Aufgabe A erfüllt das Kriterium mit 36 % · Aufgabe B verfehlt es mit höchstens 14 % und wird nicht freigegeben</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Sackgasse, die man kennen sollte</a:t>
            </a:r>
          </a:p>
        </p:txBody>
      </p:sp>
      <p:sp>
        <p:nvSpPr>
          <p:cNvPr id="3" name="Text Placeholder 2"/>
          <p:cNvSpPr>
            <a:spLocks noGrp="1"/>
          </p:cNvSpPr>
          <p:nvPr>
            <p:ph type="body" idx="12" sz="quarter"/>
          </p:nvPr>
        </p:nvSpPr>
        <p:spPr/>
        <p:txBody>
          <a:bodyPr/>
          <a:lstStyle/>
          <a:p>
            <a:r>
              <a:t>Fall 6 · Phase 2</a:t>
            </a:r>
          </a:p>
        </p:txBody>
      </p:sp>
      <p:sp>
        <p:nvSpPr>
          <p:cNvPr id="4" name="Text Placeholder 3"/>
          <p:cNvSpPr>
            <a:spLocks noGrp="1"/>
          </p:cNvSpPr>
          <p:nvPr>
            <p:ph type="body" idx="13" sz="quarter"/>
          </p:nvPr>
        </p:nvSpPr>
        <p:spPr/>
        <p:txBody>
          <a:bodyPr/>
          <a:lstStyle/>
          <a:p>
            <a:r>
              <a:t>analytics/notebooks/06_Anomalieerkennung_Auffaellige_Vorgaenge.ipynb · Abschnitt 2</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Geschwindigkeit wäre ein naheliegendes Merkmal für auffällige Fahrten. Sie taugt hier nichts — und zwar aus einem lehrreichen Grund.</a:t>
            </a:r>
          </a:p>
        </p:txBody>
      </p:sp>
      <p:sp>
        <p:nvSpPr>
          <p:cNvPr id="6" name="Rectangle 5"/>
          <p:cNvSpPr/>
          <p:nvPr/>
        </p:nvSpPr>
        <p:spPr>
          <a:xfrm>
            <a:off x="1153160" y="1879600"/>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8796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05560" y="19304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Der Einfall</a:t>
            </a:r>
          </a:p>
        </p:txBody>
      </p:sp>
      <p:sp>
        <p:nvSpPr>
          <p:cNvPr id="9" name="TextBox 8"/>
          <p:cNvSpPr txBox="1"/>
          <p:nvPr/>
        </p:nvSpPr>
        <p:spPr>
          <a:xfrm>
            <a:off x="1330960" y="2387600"/>
            <a:ext cx="5194300" cy="1905000"/>
          </a:xfrm>
          <a:prstGeom prst="rect">
            <a:avLst/>
          </a:prstGeom>
          <a:noFill/>
        </p:spPr>
        <p:txBody>
          <a:bodyPr wrap="square" lIns="0" tIns="0" rIns="0" bIns="0">
            <a:spAutoFit/>
          </a:bodyPr>
          <a:lstStyle/>
          <a:p>
            <a:pPr algn="l">
              <a:lnSpc>
                <a:spcPct val="95000"/>
              </a:lnSpc>
            </a:pPr>
            <a:r>
              <a:rPr sz="1400" b="1">
                <a:solidFill>
                  <a:srgbClr val="A32638"/>
                </a:solidFill>
              </a:rPr>
              <a:t>Geschwindigkeit als Merkmal</a:t>
            </a:r>
          </a:p>
          <a:p>
            <a:pPr algn="l">
              <a:lnSpc>
                <a:spcPct val="95000"/>
              </a:lnSpc>
              <a:spcBef>
                <a:spcPts val="300"/>
              </a:spcBef>
            </a:pPr>
            <a:r>
              <a:rPr sz="1300" b="0">
                <a:solidFill>
                  <a:srgbClr val="404040"/>
                </a:solidFill>
              </a:rPr>
              <a:t>Ungewöhnlich schnell oder</a:t>
            </a:r>
          </a:p>
          <a:p>
            <a:pPr algn="l">
              <a:lnSpc>
                <a:spcPct val="95000"/>
              </a:lnSpc>
              <a:spcBef>
                <a:spcPts val="300"/>
              </a:spcBef>
            </a:pPr>
            <a:r>
              <a:rPr sz="1300" b="0">
                <a:solidFill>
                  <a:srgbClr val="404040"/>
                </a:solidFill>
              </a:rPr>
              <a:t>langsam — klingt nach genau</a:t>
            </a:r>
          </a:p>
          <a:p>
            <a:pPr algn="l">
              <a:lnSpc>
                <a:spcPct val="95000"/>
              </a:lnSpc>
              <a:spcBef>
                <a:spcPts val="300"/>
              </a:spcBef>
            </a:pPr>
            <a:r>
              <a:rPr sz="1300" b="0">
                <a:solidFill>
                  <a:srgbClr val="404040"/>
                </a:solidFill>
              </a:rPr>
              <a:t>dem, was eine Anomalie</a:t>
            </a:r>
          </a:p>
          <a:p>
            <a:pPr algn="l">
              <a:lnSpc>
                <a:spcPct val="95000"/>
              </a:lnSpc>
              <a:spcBef>
                <a:spcPts val="300"/>
              </a:spcBef>
            </a:pPr>
            <a:r>
              <a:rPr sz="1300" b="0">
                <a:solidFill>
                  <a:srgbClr val="404040"/>
                </a:solidFill>
              </a:rPr>
              <a:t>ausmacht.</a:t>
            </a:r>
          </a:p>
        </p:txBody>
      </p:sp>
      <p:sp>
        <p:nvSpPr>
          <p:cNvPr id="10" name="Rectangle 9"/>
          <p:cNvSpPr/>
          <p:nvPr/>
        </p:nvSpPr>
        <p:spPr>
          <a:xfrm>
            <a:off x="7096759" y="1879600"/>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59" y="1879600"/>
            <a:ext cx="5524500" cy="381000"/>
          </a:xfrm>
          <a:prstGeom prst="rect">
            <a:avLst/>
          </a:prstGeom>
          <a:solidFill>
            <a:srgbClr val="558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49159" y="1930400"/>
            <a:ext cx="5219700" cy="279400"/>
          </a:xfrm>
          <a:prstGeom prst="rect">
            <a:avLst/>
          </a:prstGeom>
          <a:noFill/>
        </p:spPr>
        <p:txBody>
          <a:bodyPr wrap="square" lIns="0" tIns="0" rIns="0" bIns="0" anchor="ctr">
            <a:spAutoFit/>
          </a:bodyPr>
          <a:lstStyle/>
          <a:p>
            <a:pPr algn="l">
              <a:lnSpc>
                <a:spcPct val="95000"/>
              </a:lnSpc>
            </a:pPr>
            <a:r>
              <a:rPr sz="1300" b="1">
                <a:solidFill>
                  <a:srgbClr val="FFFFFF"/>
                </a:solidFill>
              </a:rPr>
              <a:t>Der Haken</a:t>
            </a:r>
          </a:p>
        </p:txBody>
      </p:sp>
      <p:sp>
        <p:nvSpPr>
          <p:cNvPr id="13" name="TextBox 12"/>
          <p:cNvSpPr txBox="1"/>
          <p:nvPr/>
        </p:nvSpPr>
        <p:spPr>
          <a:xfrm>
            <a:off x="7274559" y="2387600"/>
            <a:ext cx="5194300" cy="1905000"/>
          </a:xfrm>
          <a:prstGeom prst="rect">
            <a:avLst/>
          </a:prstGeom>
          <a:noFill/>
        </p:spPr>
        <p:txBody>
          <a:bodyPr wrap="square" lIns="0" tIns="0" rIns="0" bIns="0">
            <a:spAutoFit/>
          </a:bodyPr>
          <a:lstStyle/>
          <a:p>
            <a:pPr algn="l">
              <a:lnSpc>
                <a:spcPct val="95000"/>
              </a:lnSpc>
            </a:pPr>
            <a:r>
              <a:rPr sz="1400" b="1">
                <a:solidFill>
                  <a:srgbClr val="55801C"/>
                </a:solidFill>
              </a:rPr>
              <a:t>Sie ist abgeleitet</a:t>
            </a:r>
          </a:p>
          <a:p>
            <a:pPr algn="l">
              <a:lnSpc>
                <a:spcPct val="95000"/>
              </a:lnSpc>
              <a:spcBef>
                <a:spcPts val="300"/>
              </a:spcBef>
            </a:pPr>
            <a:r>
              <a:rPr sz="1300" b="0">
                <a:solidFill>
                  <a:srgbClr val="404040"/>
                </a:solidFill>
              </a:rPr>
              <a:t>Geschwindigkeit = Distanz</a:t>
            </a:r>
          </a:p>
          <a:p>
            <a:pPr algn="l">
              <a:lnSpc>
                <a:spcPct val="95000"/>
              </a:lnSpc>
              <a:spcBef>
                <a:spcPts val="300"/>
              </a:spcBef>
            </a:pPr>
            <a:r>
              <a:rPr sz="1300" b="0">
                <a:solidFill>
                  <a:srgbClr val="404040"/>
                </a:solidFill>
              </a:rPr>
              <a:t>geteilt durch Dauer.</a:t>
            </a:r>
          </a:p>
          <a:p>
            <a:pPr algn="l">
              <a:lnSpc>
                <a:spcPct val="95000"/>
              </a:lnSpc>
              <a:spcBef>
                <a:spcPts val="300"/>
              </a:spcBef>
            </a:pPr>
            <a:r>
              <a:rPr sz="1300" b="0">
                <a:solidFill>
                  <a:srgbClr val="404040"/>
                </a:solidFill>
              </a:rPr>
              <a:t/>
            </a:r>
          </a:p>
          <a:p>
            <a:pPr algn="l">
              <a:lnSpc>
                <a:spcPct val="95000"/>
              </a:lnSpc>
              <a:spcBef>
                <a:spcPts val="300"/>
              </a:spcBef>
            </a:pPr>
            <a:r>
              <a:rPr sz="1300" b="0">
                <a:solidFill>
                  <a:srgbClr val="404040"/>
                </a:solidFill>
              </a:rPr>
              <a:t>Die Dauer ist schon ein</a:t>
            </a:r>
          </a:p>
          <a:p>
            <a:pPr algn="l">
              <a:lnSpc>
                <a:spcPct val="95000"/>
              </a:lnSpc>
              <a:spcBef>
                <a:spcPts val="300"/>
              </a:spcBef>
            </a:pPr>
            <a:r>
              <a:rPr sz="1300" b="0">
                <a:solidFill>
                  <a:srgbClr val="404040"/>
                </a:solidFill>
              </a:rPr>
              <a:t>Merkmal. Man fügt keine</a:t>
            </a:r>
          </a:p>
          <a:p>
            <a:pPr algn="l">
              <a:lnSpc>
                <a:spcPct val="95000"/>
              </a:lnSpc>
              <a:spcBef>
                <a:spcPts val="300"/>
              </a:spcBef>
            </a:pPr>
            <a:r>
              <a:rPr sz="1300" b="0">
                <a:solidFill>
                  <a:srgbClr val="404040"/>
                </a:solidFill>
              </a:rPr>
              <a:t>Information hinzu, sondern</a:t>
            </a:r>
          </a:p>
          <a:p>
            <a:pPr algn="l">
              <a:lnSpc>
                <a:spcPct val="95000"/>
              </a:lnSpc>
              <a:spcBef>
                <a:spcPts val="300"/>
              </a:spcBef>
            </a:pPr>
            <a:r>
              <a:rPr sz="1300" b="0">
                <a:solidFill>
                  <a:srgbClr val="404040"/>
                </a:solidFill>
              </a:rPr>
              <a:t>dieselbe noch einmal.</a:t>
            </a:r>
          </a:p>
        </p:txBody>
      </p:sp>
      <p:sp>
        <p:nvSpPr>
          <p:cNvPr id="14" name="Rectangle 13"/>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6" name="Rectangle 15"/>
          <p:cNvSpPr/>
          <p:nvPr/>
        </p:nvSpPr>
        <p:spPr>
          <a:xfrm>
            <a:off x="3076151"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2 Data</a:t>
            </a:r>
          </a:p>
          <a:p>
            <a:pPr algn="ctr">
              <a:lnSpc>
                <a:spcPct val="95000"/>
              </a:lnSpc>
            </a:pPr>
            <a:r>
              <a:rPr sz="1300" b="1">
                <a:solidFill>
                  <a:srgbClr val="FFFFFF"/>
                </a:solidFill>
              </a:rPr>
              <a:t>Understanding</a:t>
            </a:r>
          </a:p>
        </p:txBody>
      </p:sp>
      <p:sp>
        <p:nvSpPr>
          <p:cNvPr id="18" name="Rectangle 17"/>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0" name="Rectangle 19"/>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2" name="Rectangle 21"/>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4" name="Rectangle 23"/>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Modell rechnete sauber und fand das Falsche</a:t>
            </a:r>
          </a:p>
        </p:txBody>
      </p:sp>
      <p:sp>
        <p:nvSpPr>
          <p:cNvPr id="3" name="Text Placeholder 2"/>
          <p:cNvSpPr>
            <a:spLocks noGrp="1"/>
          </p:cNvSpPr>
          <p:nvPr>
            <p:ph type="body" idx="12" sz="quarter"/>
          </p:nvPr>
        </p:nvSpPr>
        <p:spPr/>
        <p:txBody>
          <a:bodyPr/>
          <a:lstStyle/>
          <a:p>
            <a:r>
              <a:t>Fall 6 · Phase 4</a:t>
            </a:r>
          </a:p>
        </p:txBody>
      </p:sp>
      <p:sp>
        <p:nvSpPr>
          <p:cNvPr id="4" name="Text Placeholder 3"/>
          <p:cNvSpPr>
            <a:spLocks noGrp="1"/>
          </p:cNvSpPr>
          <p:nvPr>
            <p:ph type="body" idx="13" sz="quarter"/>
          </p:nvPr>
        </p:nvSpPr>
        <p:spPr/>
        <p:txBody>
          <a:bodyPr/>
          <a:lstStyle/>
          <a:p>
            <a:r>
              <a:t>analytics/notebooks/06_Anomalieerkennung_Auffaellige_Vorgaenge.ipynb · Abschnitt 4</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Der Isolation Forest lieferte beim ersten Versuch eine Liste, die sich beim Ansehen als völlig unbrauchbar erwies.</a:t>
            </a:r>
          </a:p>
        </p:txBody>
      </p:sp>
      <p:sp>
        <p:nvSpPr>
          <p:cNvPr id="6" name="Rectangle 5"/>
          <p:cNvSpPr/>
          <p:nvPr/>
        </p:nvSpPr>
        <p:spPr>
          <a:xfrm>
            <a:off x="1153160" y="1651000"/>
            <a:ext cx="3545840" cy="241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2413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1778000"/>
            <a:ext cx="3215640" cy="2159000"/>
          </a:xfrm>
          <a:prstGeom prst="rect">
            <a:avLst/>
          </a:prstGeom>
          <a:noFill/>
        </p:spPr>
        <p:txBody>
          <a:bodyPr wrap="square" lIns="0" tIns="0" rIns="0" bIns="0">
            <a:spAutoFit/>
          </a:bodyPr>
          <a:lstStyle/>
          <a:p>
            <a:pPr algn="l">
              <a:lnSpc>
                <a:spcPct val="95000"/>
              </a:lnSpc>
            </a:pPr>
            <a:r>
              <a:rPr sz="1500" b="1">
                <a:solidFill>
                  <a:srgbClr val="003E6E"/>
                </a:solidFill>
              </a:rPr>
              <a:t>Was oben stand</a:t>
            </a:r>
          </a:p>
          <a:p>
            <a:pPr algn="l">
              <a:lnSpc>
                <a:spcPct val="95000"/>
              </a:lnSpc>
              <a:spcBef>
                <a:spcPts val="500"/>
              </a:spcBef>
            </a:pPr>
            <a:r>
              <a:rPr sz="1300" b="0">
                <a:solidFill>
                  <a:srgbClr val="404040"/>
                </a:solidFill>
              </a:rPr>
              <a:t>Fast ausschließlich</a:t>
            </a:r>
          </a:p>
          <a:p>
            <a:pPr algn="l">
              <a:lnSpc>
                <a:spcPct val="95000"/>
              </a:lnSpc>
              <a:spcBef>
                <a:spcPts val="500"/>
              </a:spcBef>
            </a:pPr>
            <a:r>
              <a:rPr sz="1300" b="0">
                <a:solidFill>
                  <a:srgbClr val="404040"/>
                </a:solidFill>
              </a:rPr>
              <a:t>E-Cargo-Fahrten.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Das Modell hatte etwas</a:t>
            </a:r>
          </a:p>
          <a:p>
            <a:pPr algn="l">
              <a:lnSpc>
                <a:spcPct val="95000"/>
              </a:lnSpc>
              <a:spcBef>
                <a:spcPts val="500"/>
              </a:spcBef>
            </a:pPr>
            <a:r>
              <a:rPr sz="1300" b="0">
                <a:solidFill>
                  <a:srgbClr val="404040"/>
                </a:solidFill>
              </a:rPr>
              <a:t>gefunden — nur nicht das,</a:t>
            </a:r>
          </a:p>
          <a:p>
            <a:pPr algn="l">
              <a:lnSpc>
                <a:spcPct val="95000"/>
              </a:lnSpc>
              <a:spcBef>
                <a:spcPts val="500"/>
              </a:spcBef>
            </a:pPr>
            <a:r>
              <a:rPr sz="1300" b="0">
                <a:solidFill>
                  <a:srgbClr val="404040"/>
                </a:solidFill>
              </a:rPr>
              <a:t>wonach gesucht war.</a:t>
            </a:r>
          </a:p>
        </p:txBody>
      </p:sp>
      <p:sp>
        <p:nvSpPr>
          <p:cNvPr id="9" name="Rectangle 8"/>
          <p:cNvSpPr/>
          <p:nvPr/>
        </p:nvSpPr>
        <p:spPr>
          <a:xfrm>
            <a:off x="5113020" y="1651000"/>
            <a:ext cx="3545840" cy="241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651000"/>
            <a:ext cx="50800" cy="2413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1778000"/>
            <a:ext cx="3215640" cy="2159000"/>
          </a:xfrm>
          <a:prstGeom prst="rect">
            <a:avLst/>
          </a:prstGeom>
          <a:noFill/>
        </p:spPr>
        <p:txBody>
          <a:bodyPr wrap="square" lIns="0" tIns="0" rIns="0" bIns="0">
            <a:spAutoFit/>
          </a:bodyPr>
          <a:lstStyle/>
          <a:p>
            <a:pPr algn="l">
              <a:lnSpc>
                <a:spcPct val="95000"/>
              </a:lnSpc>
            </a:pPr>
            <a:r>
              <a:rPr sz="1500" b="1">
                <a:solidFill>
                  <a:srgbClr val="003E6E"/>
                </a:solidFill>
              </a:rPr>
              <a:t>Warum</a:t>
            </a:r>
          </a:p>
          <a:p>
            <a:pPr algn="l">
              <a:lnSpc>
                <a:spcPct val="95000"/>
              </a:lnSpc>
              <a:spcBef>
                <a:spcPts val="500"/>
              </a:spcBef>
            </a:pPr>
            <a:r>
              <a:rPr sz="1300" b="0">
                <a:solidFill>
                  <a:srgbClr val="404040"/>
                </a:solidFill>
              </a:rPr>
              <a:t>Ein CARGO-Rad kostet 0,50 €</a:t>
            </a:r>
          </a:p>
          <a:p>
            <a:pPr algn="l">
              <a:lnSpc>
                <a:spcPct val="95000"/>
              </a:lnSpc>
              <a:spcBef>
                <a:spcPts val="500"/>
              </a:spcBef>
            </a:pPr>
            <a:r>
              <a:rPr sz="1300" b="0">
                <a:solidFill>
                  <a:srgbClr val="404040"/>
                </a:solidFill>
              </a:rPr>
              <a:t>je Minute, ein CITY-Rad</a:t>
            </a:r>
          </a:p>
          <a:p>
            <a:pPr algn="l">
              <a:lnSpc>
                <a:spcPct val="95000"/>
              </a:lnSpc>
              <a:spcBef>
                <a:spcPts val="500"/>
              </a:spcBef>
            </a:pPr>
            <a:r>
              <a:rPr sz="1300" b="0">
                <a:solidFill>
                  <a:srgbClr val="404040"/>
                </a:solidFill>
              </a:rPr>
              <a:t>0,10 €.</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Beim Entgelt ist jede</a:t>
            </a:r>
          </a:p>
          <a:p>
            <a:pPr algn="l">
              <a:lnSpc>
                <a:spcPct val="95000"/>
              </a:lnSpc>
              <a:spcBef>
                <a:spcPts val="500"/>
              </a:spcBef>
            </a:pPr>
            <a:r>
              <a:rPr sz="1300" b="0">
                <a:solidFill>
                  <a:srgbClr val="404040"/>
                </a:solidFill>
              </a:rPr>
              <a:t>Cargo-Fahrt ein Ausreißer —</a:t>
            </a:r>
          </a:p>
          <a:p>
            <a:pPr algn="l">
              <a:lnSpc>
                <a:spcPct val="95000"/>
              </a:lnSpc>
              <a:spcBef>
                <a:spcPts val="500"/>
              </a:spcBef>
            </a:pPr>
            <a:r>
              <a:rPr sz="1300" b="0">
                <a:solidFill>
                  <a:srgbClr val="404040"/>
                </a:solidFill>
              </a:rPr>
              <a:t>völlig zu Recht.</a:t>
            </a:r>
          </a:p>
        </p:txBody>
      </p:sp>
      <p:sp>
        <p:nvSpPr>
          <p:cNvPr id="12" name="Rectangle 11"/>
          <p:cNvSpPr/>
          <p:nvPr/>
        </p:nvSpPr>
        <p:spPr>
          <a:xfrm>
            <a:off x="9081770" y="1651000"/>
            <a:ext cx="3545840" cy="241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651000"/>
            <a:ext cx="50800" cy="2413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1778000"/>
            <a:ext cx="3215640" cy="2159000"/>
          </a:xfrm>
          <a:prstGeom prst="rect">
            <a:avLst/>
          </a:prstGeom>
          <a:noFill/>
        </p:spPr>
        <p:txBody>
          <a:bodyPr wrap="square" lIns="0" tIns="0" rIns="0" bIns="0">
            <a:spAutoFit/>
          </a:bodyPr>
          <a:lstStyle/>
          <a:p>
            <a:pPr algn="l">
              <a:lnSpc>
                <a:spcPct val="95000"/>
              </a:lnSpc>
            </a:pPr>
            <a:r>
              <a:rPr sz="1500" b="1">
                <a:solidFill>
                  <a:srgbClr val="003E6E"/>
                </a:solidFill>
              </a:rPr>
              <a:t>Wie es auffiel</a:t>
            </a:r>
          </a:p>
          <a:p>
            <a:pPr algn="l">
              <a:lnSpc>
                <a:spcPct val="95000"/>
              </a:lnSpc>
              <a:spcBef>
                <a:spcPts val="500"/>
              </a:spcBef>
            </a:pPr>
            <a:r>
              <a:rPr sz="1300" b="0">
                <a:solidFill>
                  <a:srgbClr val="404040"/>
                </a:solidFill>
              </a:rPr>
              <a:t>Nicht durch eine Kennzahl.</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Sondern dadurch, dass jemand</a:t>
            </a:r>
          </a:p>
          <a:p>
            <a:pPr algn="l">
              <a:lnSpc>
                <a:spcPct val="95000"/>
              </a:lnSpc>
              <a:spcBef>
                <a:spcPts val="500"/>
              </a:spcBef>
            </a:pPr>
            <a:r>
              <a:rPr sz="1300" b="0">
                <a:solidFill>
                  <a:srgbClr val="404040"/>
                </a:solidFill>
              </a:rPr>
              <a:t>die zehn obersten Zeilen</a:t>
            </a:r>
          </a:p>
          <a:p>
            <a:pPr algn="l">
              <a:lnSpc>
                <a:spcPct val="95000"/>
              </a:lnSpc>
              <a:spcBef>
                <a:spcPts val="500"/>
              </a:spcBef>
            </a:pPr>
            <a:r>
              <a:rPr sz="1300" b="0">
                <a:solidFill>
                  <a:srgbClr val="404040"/>
                </a:solidFill>
              </a:rPr>
              <a:t>ANGESEHEN hat.</a:t>
            </a:r>
          </a:p>
        </p:txBody>
      </p:sp>
      <p:sp>
        <p:nvSpPr>
          <p:cNvPr id="15" name="Rectangle 14"/>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7" name="Rectangle 1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9" name="Rectangle 18"/>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1" name="Rectangle 20"/>
          <p:cNvSpPr/>
          <p:nvPr/>
        </p:nvSpPr>
        <p:spPr>
          <a:xfrm>
            <a:off x="6922134"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4 Modeling</a:t>
            </a:r>
          </a:p>
        </p:txBody>
      </p:sp>
      <p:sp>
        <p:nvSpPr>
          <p:cNvPr id="23" name="Rectangle 22"/>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5" name="Rectangle 24"/>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Fehlschlag, den nur der Blick auf die Zeilen zeigt</a:t>
            </a:r>
          </a:p>
        </p:txBody>
      </p:sp>
      <p:sp>
        <p:nvSpPr>
          <p:cNvPr id="3" name="Text Placeholder 2"/>
          <p:cNvSpPr>
            <a:spLocks noGrp="1"/>
          </p:cNvSpPr>
          <p:nvPr>
            <p:ph type="body" idx="12" sz="quarter"/>
          </p:nvPr>
        </p:nvSpPr>
        <p:spPr/>
        <p:txBody>
          <a:bodyPr/>
          <a:lstStyle/>
          <a:p>
            <a:r>
              <a:t>Phase 4 · im Notebook</a:t>
            </a:r>
          </a:p>
        </p:txBody>
      </p:sp>
      <p:sp>
        <p:nvSpPr>
          <p:cNvPr id="4" name="Text Placeholder 3"/>
          <p:cNvSpPr>
            <a:spLocks noGrp="1"/>
          </p:cNvSpPr>
          <p:nvPr>
            <p:ph type="body" idx="13" sz="quarter"/>
          </p:nvPr>
        </p:nvSpPr>
        <p:spPr/>
        <p:txBody>
          <a:bodyPr/>
          <a:lstStyle/>
          <a:p>
            <a:r>
              <a:t>analytics/notebooks/06_Anomalieerkennung_Auffaellige_Vorgaenge.ipynb · Abschnitt 4.4</a:t>
            </a:r>
          </a:p>
        </p:txBody>
      </p:sp>
      <p:sp>
        <p:nvSpPr>
          <p:cNvPr id="5" name="Rectangle 4"/>
          <p:cNvSpPr/>
          <p:nvPr/>
        </p:nvSpPr>
        <p:spPr>
          <a:xfrm>
            <a:off x="2640877" y="1168400"/>
            <a:ext cx="8499015" cy="419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6-fehlschlag.png"/>
          <p:cNvPicPr>
            <a:picLocks noChangeAspect="1"/>
          </p:cNvPicPr>
          <p:nvPr/>
        </p:nvPicPr>
        <p:blipFill>
          <a:blip r:embed="rId2"/>
          <a:stretch>
            <a:fillRect/>
          </a:stretch>
        </p:blipFill>
        <p:spPr>
          <a:xfrm>
            <a:off x="2742477" y="1270000"/>
            <a:ext cx="8295815" cy="3987800"/>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Oben in der Liste: fast nur CARGO. Die Spalte entgelt_je_minute verrät, warum — das Modell hat die Preisklasse gefunden.</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Zurück nach Phase 3 — und was es brachte</a:t>
            </a:r>
          </a:p>
        </p:txBody>
      </p:sp>
      <p:sp>
        <p:nvSpPr>
          <p:cNvPr id="3" name="Text Placeholder 2"/>
          <p:cNvSpPr>
            <a:spLocks noGrp="1"/>
          </p:cNvSpPr>
          <p:nvPr>
            <p:ph type="body" idx="12" sz="quarter"/>
          </p:nvPr>
        </p:nvSpPr>
        <p:spPr/>
        <p:txBody>
          <a:bodyPr/>
          <a:lstStyle/>
          <a:p>
            <a:r>
              <a:t>Fall 6 · Rücksprung</a:t>
            </a:r>
          </a:p>
        </p:txBody>
      </p:sp>
      <p:sp>
        <p:nvSpPr>
          <p:cNvPr id="4" name="Text Placeholder 3"/>
          <p:cNvSpPr>
            <a:spLocks noGrp="1"/>
          </p:cNvSpPr>
          <p:nvPr>
            <p:ph type="body" idx="13" sz="quarter"/>
          </p:nvPr>
        </p:nvSpPr>
        <p:spPr/>
        <p:txBody>
          <a:bodyPr/>
          <a:lstStyle/>
          <a:p>
            <a:r>
              <a:t>analytics/notebooks/06_Anomalieerkennung_Auffaellige_Vorgaenge.ipynb</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Die Korrektur ist klein: das Entgelt innerhalb des Radtyps normieren. Die Wirkung ist groß.</a:t>
            </a:r>
          </a:p>
        </p:txBody>
      </p:sp>
      <p:sp>
        <p:nvSpPr>
          <p:cNvPr id="6" name="Rectangle 5"/>
          <p:cNvSpPr/>
          <p:nvPr/>
        </p:nvSpPr>
        <p:spPr>
          <a:xfrm>
            <a:off x="1153160" y="1651000"/>
            <a:ext cx="31750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
            </a:r>
          </a:p>
        </p:txBody>
      </p:sp>
      <p:sp>
        <p:nvSpPr>
          <p:cNvPr id="7" name="Rectangle 6"/>
          <p:cNvSpPr/>
          <p:nvPr/>
        </p:nvSpPr>
        <p:spPr>
          <a:xfrm>
            <a:off x="4328160" y="1651000"/>
            <a:ext cx="22860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Trefferquote</a:t>
            </a:r>
          </a:p>
        </p:txBody>
      </p:sp>
      <p:sp>
        <p:nvSpPr>
          <p:cNvPr id="8" name="Rectangle 7"/>
          <p:cNvSpPr/>
          <p:nvPr/>
        </p:nvSpPr>
        <p:spPr>
          <a:xfrm>
            <a:off x="6614159" y="1651000"/>
            <a:ext cx="601345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Bewertung</a:t>
            </a:r>
          </a:p>
        </p:txBody>
      </p:sp>
      <p:sp>
        <p:nvSpPr>
          <p:cNvPr id="9" name="Rectangle 8"/>
          <p:cNvSpPr/>
          <p:nvPr/>
        </p:nvSpPr>
        <p:spPr>
          <a:xfrm>
            <a:off x="1153160" y="2260600"/>
            <a:ext cx="3175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Erster Versuch</a:t>
            </a:r>
          </a:p>
        </p:txBody>
      </p:sp>
      <p:sp>
        <p:nvSpPr>
          <p:cNvPr id="10" name="Rectangle 9"/>
          <p:cNvSpPr/>
          <p:nvPr/>
        </p:nvSpPr>
        <p:spPr>
          <a:xfrm>
            <a:off x="4328160" y="2260600"/>
            <a:ext cx="228600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2,0 %</a:t>
            </a:r>
          </a:p>
        </p:txBody>
      </p:sp>
      <p:sp>
        <p:nvSpPr>
          <p:cNvPr id="11" name="Rectangle 10"/>
          <p:cNvSpPr/>
          <p:nvPr/>
        </p:nvSpPr>
        <p:spPr>
          <a:xfrm>
            <a:off x="6614159" y="2260600"/>
            <a:ext cx="6013450" cy="6096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unbrauchbar — gefunden wurde die Preisklasse</a:t>
            </a:r>
          </a:p>
        </p:txBody>
      </p:sp>
      <p:sp>
        <p:nvSpPr>
          <p:cNvPr id="12" name="Rectangle 11"/>
          <p:cNvSpPr/>
          <p:nvPr/>
        </p:nvSpPr>
        <p:spPr>
          <a:xfrm>
            <a:off x="1153160" y="2870200"/>
            <a:ext cx="3175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Nach der Normierung</a:t>
            </a:r>
          </a:p>
        </p:txBody>
      </p:sp>
      <p:sp>
        <p:nvSpPr>
          <p:cNvPr id="13" name="Rectangle 12"/>
          <p:cNvSpPr/>
          <p:nvPr/>
        </p:nvSpPr>
        <p:spPr>
          <a:xfrm>
            <a:off x="4328160" y="2870200"/>
            <a:ext cx="228600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36,0 %</a:t>
            </a:r>
          </a:p>
        </p:txBody>
      </p:sp>
      <p:sp>
        <p:nvSpPr>
          <p:cNvPr id="14" name="Rectangle 13"/>
          <p:cNvSpPr/>
          <p:nvPr/>
        </p:nvSpPr>
        <p:spPr>
          <a:xfrm>
            <a:off x="6614159" y="2870200"/>
            <a:ext cx="6013450" cy="6096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Kriterium aus Phase 1 (20 %) erfüllt</a:t>
            </a:r>
          </a:p>
        </p:txBody>
      </p:sp>
      <p:sp>
        <p:nvSpPr>
          <p:cNvPr id="15" name="Rectangle 14"/>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7" name="Rectangle 1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9" name="Rectangle 18"/>
          <p:cNvSpPr/>
          <p:nvPr/>
        </p:nvSpPr>
        <p:spPr>
          <a:xfrm>
            <a:off x="4999143"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3 Data</a:t>
            </a:r>
          </a:p>
          <a:p>
            <a:pPr algn="ctr">
              <a:lnSpc>
                <a:spcPct val="95000"/>
              </a:lnSpc>
            </a:pPr>
            <a:r>
              <a:rPr sz="1300" b="1">
                <a:solidFill>
                  <a:srgbClr val="FFFFFF"/>
                </a:solidFill>
              </a:rPr>
              <a:t>Preparation</a:t>
            </a:r>
          </a:p>
        </p:txBody>
      </p:sp>
      <p:sp>
        <p:nvSpPr>
          <p:cNvPr id="21" name="Rectangle 20"/>
          <p:cNvSpPr/>
          <p:nvPr/>
        </p:nvSpPr>
        <p:spPr>
          <a:xfrm>
            <a:off x="6922134" y="5765800"/>
            <a:ext cx="1859491" cy="508000"/>
          </a:xfrm>
          <a:prstGeom prst="rect">
            <a:avLst/>
          </a:prstGeom>
          <a:solidFill>
            <a:srgbClr val="E3DED1"/>
          </a:solidFill>
          <a:ln w="9525">
            <a:solidFill>
              <a:srgbClr val="A3263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A32638"/>
                </a:solidFill>
              </a:rPr>
              <a:t>4 Modeling</a:t>
            </a:r>
          </a:p>
        </p:txBody>
      </p:sp>
      <p:sp>
        <p:nvSpPr>
          <p:cNvPr id="23" name="Rectangle 22"/>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5" name="Rectangle 24"/>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Dieselbe Auswertung, nach der Normierung</a:t>
            </a:r>
          </a:p>
        </p:txBody>
      </p:sp>
      <p:sp>
        <p:nvSpPr>
          <p:cNvPr id="3" name="Text Placeholder 2"/>
          <p:cNvSpPr>
            <a:spLocks noGrp="1"/>
          </p:cNvSpPr>
          <p:nvPr>
            <p:ph type="body" idx="12" sz="quarter"/>
          </p:nvPr>
        </p:nvSpPr>
        <p:spPr/>
        <p:txBody>
          <a:bodyPr/>
          <a:lstStyle/>
          <a:p>
            <a:r>
              <a:t>Nach dem Rücksprung · im Notebook</a:t>
            </a:r>
          </a:p>
        </p:txBody>
      </p:sp>
      <p:sp>
        <p:nvSpPr>
          <p:cNvPr id="4" name="Text Placeholder 3"/>
          <p:cNvSpPr>
            <a:spLocks noGrp="1"/>
          </p:cNvSpPr>
          <p:nvPr>
            <p:ph type="body" idx="13" sz="quarter"/>
          </p:nvPr>
        </p:nvSpPr>
        <p:spPr/>
        <p:txBody>
          <a:bodyPr/>
          <a:lstStyle/>
          <a:p>
            <a:r>
              <a:t>analytics/notebooks/06_Anomalieerkennung_Auffaellige_Vorgaenge.ipynb · Abschnitt 4.5</a:t>
            </a:r>
          </a:p>
        </p:txBody>
      </p:sp>
      <p:sp>
        <p:nvSpPr>
          <p:cNvPr id="5" name="Rectangle 4"/>
          <p:cNvSpPr/>
          <p:nvPr/>
        </p:nvSpPr>
        <p:spPr>
          <a:xfrm>
            <a:off x="2037545" y="1168400"/>
            <a:ext cx="9705679" cy="419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6-korrektur.png"/>
          <p:cNvPicPr>
            <a:picLocks noChangeAspect="1"/>
          </p:cNvPicPr>
          <p:nvPr/>
        </p:nvPicPr>
        <p:blipFill>
          <a:blip r:embed="rId2"/>
          <a:stretch>
            <a:fillRect/>
          </a:stretch>
        </p:blipFill>
        <p:spPr>
          <a:xfrm>
            <a:off x="2139145" y="1270000"/>
            <a:ext cx="9502479" cy="3987800"/>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Die Radtyp-Verteilung der fünfzig auffälligsten Vorgänge ist jetzt gemischt statt einseitig. Genau das war das Ziel der Korrektur.</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Aufgabe B scheitert — und das ist ein Ergebnis</a:t>
            </a:r>
          </a:p>
        </p:txBody>
      </p:sp>
      <p:sp>
        <p:nvSpPr>
          <p:cNvPr id="3" name="Text Placeholder 2"/>
          <p:cNvSpPr>
            <a:spLocks noGrp="1"/>
          </p:cNvSpPr>
          <p:nvPr>
            <p:ph type="body" idx="12" sz="quarter"/>
          </p:nvPr>
        </p:nvSpPr>
        <p:spPr/>
        <p:txBody>
          <a:bodyPr/>
          <a:lstStyle/>
          <a:p>
            <a:r>
              <a:t>Fall 6 · Phase 5</a:t>
            </a:r>
          </a:p>
        </p:txBody>
      </p:sp>
      <p:sp>
        <p:nvSpPr>
          <p:cNvPr id="4" name="Text Placeholder 3"/>
          <p:cNvSpPr>
            <a:spLocks noGrp="1"/>
          </p:cNvSpPr>
          <p:nvPr>
            <p:ph type="body" idx="13" sz="quarter"/>
          </p:nvPr>
        </p:nvSpPr>
        <p:spPr/>
        <p:txBody>
          <a:bodyPr/>
          <a:lstStyle/>
          <a:p>
            <a:r>
              <a:t>analytics/notebooks/06_Anomalieerkennung_Auffaellige_Vorgaenge.ipynb · Abschnitt 5</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Stationsausfälle sollten aus dem Fahrtaufkommen erkennbar sein. Sie sind es nicht. Der Grund liegt nicht am Verfahren.</a:t>
            </a:r>
          </a:p>
        </p:txBody>
      </p:sp>
      <p:sp>
        <p:nvSpPr>
          <p:cNvPr id="6" name="Rectangle 5"/>
          <p:cNvSpPr/>
          <p:nvPr/>
        </p:nvSpPr>
        <p:spPr>
          <a:xfrm>
            <a:off x="1153160" y="16510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17780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Der Befund</a:t>
            </a:r>
          </a:p>
          <a:p>
            <a:pPr algn="l">
              <a:lnSpc>
                <a:spcPct val="95000"/>
              </a:lnSpc>
              <a:spcBef>
                <a:spcPts val="500"/>
              </a:spcBef>
            </a:pPr>
            <a:r>
              <a:rPr sz="1300" b="0">
                <a:solidFill>
                  <a:srgbClr val="404040"/>
                </a:solidFill>
              </a:rPr>
              <a:t>Beste Trefferquote 14 %,</a:t>
            </a:r>
          </a:p>
          <a:p>
            <a:pPr algn="l">
              <a:lnSpc>
                <a:spcPct val="95000"/>
              </a:lnSpc>
              <a:spcBef>
                <a:spcPts val="500"/>
              </a:spcBef>
            </a:pPr>
            <a:r>
              <a:rPr sz="1300" b="0">
                <a:solidFill>
                  <a:srgbClr val="404040"/>
                </a:solidFill>
              </a:rPr>
              <a:t>bei einer Liste von 100.</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Bei 50 Plätzen — der Länge,</a:t>
            </a:r>
          </a:p>
          <a:p>
            <a:pPr algn="l">
              <a:lnSpc>
                <a:spcPct val="95000"/>
              </a:lnSpc>
              <a:spcBef>
                <a:spcPts val="500"/>
              </a:spcBef>
            </a:pPr>
            <a:r>
              <a:rPr sz="1300" b="0">
                <a:solidFill>
                  <a:srgbClr val="404040"/>
                </a:solidFill>
              </a:rPr>
              <a:t>die das Betriebsbüro schafft —</a:t>
            </a:r>
          </a:p>
          <a:p>
            <a:pPr algn="l">
              <a:lnSpc>
                <a:spcPct val="95000"/>
              </a:lnSpc>
              <a:spcBef>
                <a:spcPts val="500"/>
              </a:spcBef>
            </a:pPr>
            <a:r>
              <a:rPr sz="1300" b="0">
                <a:solidFill>
                  <a:srgbClr val="404040"/>
                </a:solidFill>
              </a:rPr>
              <a:t>sind es 0 %.</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Das Kriterium von 20 % wird</a:t>
            </a:r>
          </a:p>
          <a:p>
            <a:pPr algn="l">
              <a:lnSpc>
                <a:spcPct val="95000"/>
              </a:lnSpc>
              <a:spcBef>
                <a:spcPts val="500"/>
              </a:spcBef>
            </a:pPr>
            <a:r>
              <a:rPr sz="1300" b="0">
                <a:solidFill>
                  <a:srgbClr val="404040"/>
                </a:solidFill>
              </a:rPr>
              <a:t>deutlich verfehlt.</a:t>
            </a:r>
          </a:p>
        </p:txBody>
      </p:sp>
      <p:sp>
        <p:nvSpPr>
          <p:cNvPr id="9" name="Rectangle 8"/>
          <p:cNvSpPr/>
          <p:nvPr/>
        </p:nvSpPr>
        <p:spPr>
          <a:xfrm>
            <a:off x="5113020" y="16510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6510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17780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Warum</a:t>
            </a:r>
          </a:p>
          <a:p>
            <a:pPr algn="l">
              <a:lnSpc>
                <a:spcPct val="95000"/>
              </a:lnSpc>
              <a:spcBef>
                <a:spcPts val="500"/>
              </a:spcBef>
            </a:pPr>
            <a:r>
              <a:rPr sz="1300" b="0">
                <a:solidFill>
                  <a:srgbClr val="404040"/>
                </a:solidFill>
              </a:rPr>
              <a:t>Rund fünf Fahrten je Station</a:t>
            </a:r>
          </a:p>
          <a:p>
            <a:pPr algn="l">
              <a:lnSpc>
                <a:spcPct val="95000"/>
              </a:lnSpc>
              <a:spcBef>
                <a:spcPts val="500"/>
              </a:spcBef>
            </a:pPr>
            <a:r>
              <a:rPr sz="1300" b="0">
                <a:solidFill>
                  <a:srgbClr val="404040"/>
                </a:solidFill>
              </a:rPr>
              <a:t>und Tag.</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Ein Störungstag sieht bei</a:t>
            </a:r>
          </a:p>
          <a:p>
            <a:pPr algn="l">
              <a:lnSpc>
                <a:spcPct val="95000"/>
              </a:lnSpc>
              <a:spcBef>
                <a:spcPts val="500"/>
              </a:spcBef>
            </a:pPr>
            <a:r>
              <a:rPr sz="1300" b="0">
                <a:solidFill>
                  <a:srgbClr val="404040"/>
                </a:solidFill>
              </a:rPr>
              <a:t>dieser Grundrate genauso aus</a:t>
            </a:r>
          </a:p>
          <a:p>
            <a:pPr algn="l">
              <a:lnSpc>
                <a:spcPct val="95000"/>
              </a:lnSpc>
              <a:spcBef>
                <a:spcPts val="500"/>
              </a:spcBef>
            </a:pPr>
            <a:r>
              <a:rPr sz="1300" b="0">
                <a:solidFill>
                  <a:srgbClr val="404040"/>
                </a:solidFill>
              </a:rPr>
              <a:t>wie ein verregneter</a:t>
            </a:r>
          </a:p>
          <a:p>
            <a:pPr algn="l">
              <a:lnSpc>
                <a:spcPct val="95000"/>
              </a:lnSpc>
              <a:spcBef>
                <a:spcPts val="500"/>
              </a:spcBef>
            </a:pPr>
            <a:r>
              <a:rPr sz="1300" b="0">
                <a:solidFill>
                  <a:srgbClr val="404040"/>
                </a:solidFill>
              </a:rPr>
              <a:t>Januarsonntag.</a:t>
            </a:r>
          </a:p>
        </p:txBody>
      </p:sp>
      <p:sp>
        <p:nvSpPr>
          <p:cNvPr id="12" name="Rectangle 11"/>
          <p:cNvSpPr/>
          <p:nvPr/>
        </p:nvSpPr>
        <p:spPr>
          <a:xfrm>
            <a:off x="9081770" y="16510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6510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17780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Die Lösung</a:t>
            </a:r>
          </a:p>
          <a:p>
            <a:pPr algn="l">
              <a:lnSpc>
                <a:spcPct val="95000"/>
              </a:lnSpc>
              <a:spcBef>
                <a:spcPts val="500"/>
              </a:spcBef>
            </a:pPr>
            <a:r>
              <a:rPr sz="1300" b="0">
                <a:solidFill>
                  <a:srgbClr val="404040"/>
                </a:solidFill>
              </a:rPr>
              <a:t>Keine bessere Mathematik,</a:t>
            </a:r>
          </a:p>
          <a:p>
            <a:pPr algn="l">
              <a:lnSpc>
                <a:spcPct val="95000"/>
              </a:lnSpc>
              <a:spcBef>
                <a:spcPts val="500"/>
              </a:spcBef>
            </a:pPr>
            <a:r>
              <a:rPr sz="1300" b="0">
                <a:solidFill>
                  <a:srgbClr val="404040"/>
                </a:solidFill>
              </a:rPr>
              <a:t>sondern eine bessere</a:t>
            </a:r>
          </a:p>
          <a:p>
            <a:pPr algn="l">
              <a:lnSpc>
                <a:spcPct val="95000"/>
              </a:lnSpc>
              <a:spcBef>
                <a:spcPts val="500"/>
              </a:spcBef>
            </a:pPr>
            <a:r>
              <a:rPr sz="1300" b="0">
                <a:solidFill>
                  <a:srgbClr val="404040"/>
                </a:solidFill>
              </a:rPr>
              <a:t>Datenquelle:</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die Statusmeldungen der</a:t>
            </a:r>
          </a:p>
          <a:p>
            <a:pPr algn="l">
              <a:lnSpc>
                <a:spcPct val="95000"/>
              </a:lnSpc>
              <a:spcBef>
                <a:spcPts val="500"/>
              </a:spcBef>
            </a:pPr>
            <a:r>
              <a:rPr sz="1300" b="0">
                <a:solidFill>
                  <a:srgbClr val="404040"/>
                </a:solidFill>
              </a:rPr>
              <a:t>Terminals, die ohnehin</a:t>
            </a:r>
          </a:p>
          <a:p>
            <a:pPr algn="l">
              <a:lnSpc>
                <a:spcPct val="95000"/>
              </a:lnSpc>
              <a:spcBef>
                <a:spcPts val="500"/>
              </a:spcBef>
            </a:pPr>
            <a:r>
              <a:rPr sz="1300" b="0">
                <a:solidFill>
                  <a:srgbClr val="404040"/>
                </a:solidFill>
              </a:rPr>
              <a:t>anfallen.</a:t>
            </a:r>
          </a:p>
        </p:txBody>
      </p:sp>
      <p:sp>
        <p:nvSpPr>
          <p:cNvPr id="15" name="Rectangle 14"/>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17" name="Rectangle 16"/>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19" name="Rectangle 18"/>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1" name="Rectangle 20"/>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3" name="Rectangle 22"/>
          <p:cNvSpPr/>
          <p:nvPr/>
        </p:nvSpPr>
        <p:spPr>
          <a:xfrm>
            <a:off x="8845126"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5 Evaluation</a:t>
            </a:r>
          </a:p>
        </p:txBody>
      </p:sp>
      <p:sp>
        <p:nvSpPr>
          <p:cNvPr id="25" name="Rectangle 24"/>
          <p:cNvSpPr/>
          <p:nvPr/>
        </p:nvSpPr>
        <p:spPr>
          <a:xfrm>
            <a:off x="10768118"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6 Deployment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Aufgabe B, ausgerechnet und verworfen</a:t>
            </a:r>
          </a:p>
        </p:txBody>
      </p:sp>
      <p:sp>
        <p:nvSpPr>
          <p:cNvPr id="3" name="Text Placeholder 2"/>
          <p:cNvSpPr>
            <a:spLocks noGrp="1"/>
          </p:cNvSpPr>
          <p:nvPr>
            <p:ph type="body" idx="12" sz="quarter"/>
          </p:nvPr>
        </p:nvSpPr>
        <p:spPr/>
        <p:txBody>
          <a:bodyPr/>
          <a:lstStyle/>
          <a:p>
            <a:r>
              <a:t>Phase 5 · im Notebook</a:t>
            </a:r>
          </a:p>
        </p:txBody>
      </p:sp>
      <p:sp>
        <p:nvSpPr>
          <p:cNvPr id="4" name="Text Placeholder 3"/>
          <p:cNvSpPr>
            <a:spLocks noGrp="1"/>
          </p:cNvSpPr>
          <p:nvPr>
            <p:ph type="body" idx="13" sz="quarter"/>
          </p:nvPr>
        </p:nvSpPr>
        <p:spPr/>
        <p:txBody>
          <a:bodyPr/>
          <a:lstStyle/>
          <a:p>
            <a:r>
              <a:t>analytics/notebooks/06_Anomalieerkennung_Auffaellige_Vorgaenge.ipynb · Abschnitt 5.4</a:t>
            </a:r>
          </a:p>
        </p:txBody>
      </p:sp>
      <p:sp>
        <p:nvSpPr>
          <p:cNvPr id="5" name="Rectangle 4"/>
          <p:cNvSpPr/>
          <p:nvPr/>
        </p:nvSpPr>
        <p:spPr>
          <a:xfrm>
            <a:off x="1630402" y="1168400"/>
            <a:ext cx="10519965" cy="419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nb6-aufgabeB.png"/>
          <p:cNvPicPr>
            <a:picLocks noChangeAspect="1"/>
          </p:cNvPicPr>
          <p:nvPr/>
        </p:nvPicPr>
        <p:blipFill>
          <a:blip r:embed="rId2"/>
          <a:stretch>
            <a:fillRect/>
          </a:stretch>
        </p:blipFill>
        <p:spPr>
          <a:xfrm>
            <a:off x="1732002" y="1270000"/>
            <a:ext cx="10316765" cy="3987800"/>
          </a:xfrm>
          <a:prstGeom prst="rect">
            <a:avLst/>
          </a:prstGeom>
        </p:spPr>
      </p:pic>
      <p:sp>
        <p:nvSpPr>
          <p:cNvPr id="7" name="Rectangle 6"/>
          <p:cNvSpPr/>
          <p:nvPr/>
        </p:nvSpPr>
        <p:spPr>
          <a:xfrm>
            <a:off x="1153160" y="5435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5511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Null gefundene Störungen bei einer Listenlänge von 50. Das Notebook rechnet das Scheitern aus, statt es zu verschweigen.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Ausgeliefert wird nur, was besteht</a:t>
            </a:r>
          </a:p>
        </p:txBody>
      </p:sp>
      <p:sp>
        <p:nvSpPr>
          <p:cNvPr id="3" name="Text Placeholder 2"/>
          <p:cNvSpPr>
            <a:spLocks noGrp="1"/>
          </p:cNvSpPr>
          <p:nvPr>
            <p:ph type="body" idx="12" sz="quarter"/>
          </p:nvPr>
        </p:nvSpPr>
        <p:spPr/>
        <p:txBody>
          <a:bodyPr/>
          <a:lstStyle/>
          <a:p>
            <a:r>
              <a:t>Fall 6 · Phase 6</a:t>
            </a:r>
          </a:p>
        </p:txBody>
      </p:sp>
      <p:sp>
        <p:nvSpPr>
          <p:cNvPr id="4" name="Text Placeholder 3"/>
          <p:cNvSpPr>
            <a:spLocks noGrp="1"/>
          </p:cNvSpPr>
          <p:nvPr>
            <p:ph type="body" idx="13" sz="quarter"/>
          </p:nvPr>
        </p:nvSpPr>
        <p:spPr/>
        <p:txBody>
          <a:bodyPr/>
          <a:lstStyle/>
          <a:p>
            <a:r>
              <a:t>analytics/notebooks/06_Anomalieerkennung_Auffaellige_Vorgaenge.ipynb · Abschnitt 6</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Zwei Aufgaben, ein Ergebnis. Aufgabe B wird ausdrücklich nicht freigegeben — und das steht im Bericht.</a:t>
            </a:r>
          </a:p>
        </p:txBody>
      </p:sp>
      <p:sp>
        <p:nvSpPr>
          <p:cNvPr id="6" name="Rectangle 5"/>
          <p:cNvSpPr/>
          <p:nvPr/>
        </p:nvSpPr>
        <p:spPr>
          <a:xfrm>
            <a:off x="1153160" y="1651000"/>
            <a:ext cx="11474450" cy="965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965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19685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1727200"/>
            <a:ext cx="10458450" cy="812800"/>
          </a:xfrm>
          <a:prstGeom prst="rect">
            <a:avLst/>
          </a:prstGeom>
          <a:noFill/>
        </p:spPr>
        <p:txBody>
          <a:bodyPr wrap="square" lIns="0" tIns="0" rIns="0" bIns="0" anchor="ctr">
            <a:spAutoFit/>
          </a:bodyPr>
          <a:lstStyle/>
          <a:p>
            <a:pPr>
              <a:lnSpc>
                <a:spcPct val="95000"/>
              </a:lnSpc>
            </a:pPr>
            <a:r>
              <a:rPr sz="1300" b="1">
                <a:solidFill>
                  <a:srgbClr val="003E6E"/>
                </a:solidFill>
              </a:rPr>
              <a:t>Aufgabe A  </a:t>
            </a:r>
            <a:r>
              <a:rPr sz="1300">
                <a:solidFill>
                  <a:srgbClr val="404040"/>
                </a:solidFill>
              </a:rPr>
              <a:t>Tagesliste mit zehn Plätzen, je Vorgang mit Begründung, WARUM er auffällt — sonst kann die Disposition nichts damit anfangen</a:t>
            </a:r>
          </a:p>
        </p:txBody>
      </p:sp>
      <p:sp>
        <p:nvSpPr>
          <p:cNvPr id="10" name="Rectangle 9"/>
          <p:cNvSpPr/>
          <p:nvPr/>
        </p:nvSpPr>
        <p:spPr>
          <a:xfrm>
            <a:off x="1153160" y="2743200"/>
            <a:ext cx="11474450" cy="965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2743200"/>
            <a:ext cx="50800" cy="965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30960" y="3060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3" name="TextBox 12"/>
          <p:cNvSpPr txBox="1"/>
          <p:nvPr/>
        </p:nvSpPr>
        <p:spPr>
          <a:xfrm>
            <a:off x="1788160" y="2819400"/>
            <a:ext cx="10458450" cy="812800"/>
          </a:xfrm>
          <a:prstGeom prst="rect">
            <a:avLst/>
          </a:prstGeom>
          <a:noFill/>
        </p:spPr>
        <p:txBody>
          <a:bodyPr wrap="square" lIns="0" tIns="0" rIns="0" bIns="0" anchor="ctr">
            <a:spAutoFit/>
          </a:bodyPr>
          <a:lstStyle/>
          <a:p>
            <a:pPr>
              <a:lnSpc>
                <a:spcPct val="95000"/>
              </a:lnSpc>
            </a:pPr>
            <a:r>
              <a:rPr sz="1300" b="1">
                <a:solidFill>
                  <a:srgbClr val="003E6E"/>
                </a:solidFill>
              </a:rPr>
              <a:t>Aufgabe B  </a:t>
            </a:r>
            <a:r>
              <a:rPr sz="1300">
                <a:solidFill>
                  <a:srgbClr val="404040"/>
                </a:solidFill>
              </a:rPr>
              <a:t>Nicht freigegeben. Die Empfehlung lautet: Terminalmeldungen anbinden, statt aus dem Fahrtaufkommen zu schließen</a:t>
            </a:r>
          </a:p>
        </p:txBody>
      </p:sp>
      <p:sp>
        <p:nvSpPr>
          <p:cNvPr id="14" name="Rectangle 13"/>
          <p:cNvSpPr/>
          <p:nvPr/>
        </p:nvSpPr>
        <p:spPr>
          <a:xfrm>
            <a:off x="1153160" y="3835400"/>
            <a:ext cx="11474450" cy="965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53160" y="3835400"/>
            <a:ext cx="50800" cy="965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330960" y="41529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7" name="TextBox 16"/>
          <p:cNvSpPr txBox="1"/>
          <p:nvPr/>
        </p:nvSpPr>
        <p:spPr>
          <a:xfrm>
            <a:off x="1788160" y="3911600"/>
            <a:ext cx="10458450" cy="812800"/>
          </a:xfrm>
          <a:prstGeom prst="rect">
            <a:avLst/>
          </a:prstGeom>
          <a:noFill/>
        </p:spPr>
        <p:txBody>
          <a:bodyPr wrap="square" lIns="0" tIns="0" rIns="0" bIns="0" anchor="ctr">
            <a:spAutoFit/>
          </a:bodyPr>
          <a:lstStyle/>
          <a:p>
            <a:pPr>
              <a:lnSpc>
                <a:spcPct val="95000"/>
              </a:lnSpc>
            </a:pPr>
            <a:r>
              <a:rPr sz="1300" b="1">
                <a:solidFill>
                  <a:srgbClr val="003E6E"/>
                </a:solidFill>
              </a:rPr>
              <a:t>Rückkopplungsvorteil  </a:t>
            </a:r>
            <a:r>
              <a:rPr sz="1300">
                <a:solidFill>
                  <a:srgbClr val="404040"/>
                </a:solidFill>
              </a:rPr>
              <a:t>Anders als in Fall 2 verbessert die Nutzung hier die Datenlage: Jede geprüfte Meldung ist ein Label für die nächste Runde</a:t>
            </a:r>
          </a:p>
        </p:txBody>
      </p:sp>
      <p:sp>
        <p:nvSpPr>
          <p:cNvPr id="18" name="Rectangle 17"/>
          <p:cNvSpPr/>
          <p:nvPr/>
        </p:nvSpPr>
        <p:spPr>
          <a:xfrm>
            <a:off x="1153160"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29360"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1 Business</a:t>
            </a:r>
          </a:p>
          <a:p>
            <a:pPr algn="ctr">
              <a:lnSpc>
                <a:spcPct val="95000"/>
              </a:lnSpc>
            </a:pPr>
            <a:r>
              <a:rPr sz="1300" b="0">
                <a:solidFill>
                  <a:srgbClr val="8A8378"/>
                </a:solidFill>
              </a:rPr>
              <a:t>Understanding</a:t>
            </a:r>
          </a:p>
        </p:txBody>
      </p:sp>
      <p:sp>
        <p:nvSpPr>
          <p:cNvPr id="20" name="Rectangle 19"/>
          <p:cNvSpPr/>
          <p:nvPr/>
        </p:nvSpPr>
        <p:spPr>
          <a:xfrm>
            <a:off x="3076151"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152351"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2 Data</a:t>
            </a:r>
          </a:p>
          <a:p>
            <a:pPr algn="ctr">
              <a:lnSpc>
                <a:spcPct val="95000"/>
              </a:lnSpc>
            </a:pPr>
            <a:r>
              <a:rPr sz="1300" b="0">
                <a:solidFill>
                  <a:srgbClr val="8A8378"/>
                </a:solidFill>
              </a:rPr>
              <a:t>Understanding</a:t>
            </a:r>
          </a:p>
        </p:txBody>
      </p:sp>
      <p:sp>
        <p:nvSpPr>
          <p:cNvPr id="22" name="Rectangle 21"/>
          <p:cNvSpPr/>
          <p:nvPr/>
        </p:nvSpPr>
        <p:spPr>
          <a:xfrm>
            <a:off x="4999143"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075343"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3 Data</a:t>
            </a:r>
          </a:p>
          <a:p>
            <a:pPr algn="ctr">
              <a:lnSpc>
                <a:spcPct val="95000"/>
              </a:lnSpc>
            </a:pPr>
            <a:r>
              <a:rPr sz="1300" b="0">
                <a:solidFill>
                  <a:srgbClr val="8A8378"/>
                </a:solidFill>
              </a:rPr>
              <a:t>Preparation</a:t>
            </a:r>
          </a:p>
        </p:txBody>
      </p:sp>
      <p:sp>
        <p:nvSpPr>
          <p:cNvPr id="24" name="Rectangle 23"/>
          <p:cNvSpPr/>
          <p:nvPr/>
        </p:nvSpPr>
        <p:spPr>
          <a:xfrm>
            <a:off x="6922134"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998334"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4 Modeling</a:t>
            </a:r>
          </a:p>
        </p:txBody>
      </p:sp>
      <p:sp>
        <p:nvSpPr>
          <p:cNvPr id="26" name="Rectangle 25"/>
          <p:cNvSpPr/>
          <p:nvPr/>
        </p:nvSpPr>
        <p:spPr>
          <a:xfrm>
            <a:off x="8845126" y="5765800"/>
            <a:ext cx="1859491" cy="508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21326" y="5803900"/>
            <a:ext cx="1707091" cy="431800"/>
          </a:xfrm>
          <a:prstGeom prst="rect">
            <a:avLst/>
          </a:prstGeom>
          <a:noFill/>
        </p:spPr>
        <p:txBody>
          <a:bodyPr wrap="square" lIns="0" tIns="0" rIns="0" bIns="0" anchor="ctr">
            <a:spAutoFit/>
          </a:bodyPr>
          <a:lstStyle/>
          <a:p>
            <a:pPr algn="ctr">
              <a:lnSpc>
                <a:spcPct val="95000"/>
              </a:lnSpc>
            </a:pPr>
            <a:r>
              <a:rPr sz="1300" b="0">
                <a:solidFill>
                  <a:srgbClr val="8A8378"/>
                </a:solidFill>
              </a:rPr>
              <a:t>5 Evaluation</a:t>
            </a:r>
          </a:p>
        </p:txBody>
      </p:sp>
      <p:sp>
        <p:nvSpPr>
          <p:cNvPr id="28" name="Rectangle 27"/>
          <p:cNvSpPr/>
          <p:nvPr/>
        </p:nvSpPr>
        <p:spPr>
          <a:xfrm>
            <a:off x="10768118" y="5765800"/>
            <a:ext cx="1859491"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844318" y="5803900"/>
            <a:ext cx="1707091" cy="431800"/>
          </a:xfrm>
          <a:prstGeom prst="rect">
            <a:avLst/>
          </a:prstGeom>
          <a:noFill/>
        </p:spPr>
        <p:txBody>
          <a:bodyPr wrap="square" lIns="0" tIns="0" rIns="0" bIns="0" anchor="ctr">
            <a:spAutoFit/>
          </a:bodyPr>
          <a:lstStyle/>
          <a:p>
            <a:pPr algn="ctr">
              <a:lnSpc>
                <a:spcPct val="95000"/>
              </a:lnSpc>
            </a:pPr>
            <a:r>
              <a:rPr sz="1300" b="1">
                <a:solidFill>
                  <a:srgbClr val="FFFFFF"/>
                </a:solidFill>
              </a:rPr>
              <a:t>6 Deployment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Kreislauf schließt sich</a:t>
            </a:r>
          </a:p>
        </p:txBody>
      </p:sp>
      <p:sp>
        <p:nvSpPr>
          <p:cNvPr id="3" name="Text Placeholder 2"/>
          <p:cNvSpPr>
            <a:spLocks noGrp="1"/>
          </p:cNvSpPr>
          <p:nvPr>
            <p:ph type="body" idx="12" sz="quarter"/>
          </p:nvPr>
        </p:nvSpPr>
        <p:spPr/>
        <p:txBody>
          <a:bodyPr/>
          <a:lstStyle/>
          <a:p>
            <a:r>
              <a:t>Fall 6 · Abschluss</a:t>
            </a:r>
          </a:p>
        </p:txBody>
      </p:sp>
      <p:sp>
        <p:nvSpPr>
          <p:cNvPr id="4" name="Text Placeholder 3"/>
          <p:cNvSpPr>
            <a:spLocks noGrp="1"/>
          </p:cNvSpPr>
          <p:nvPr>
            <p:ph type="body" idx="13" sz="quarter"/>
          </p:nvPr>
        </p:nvSpPr>
        <p:spPr/>
        <p:txBody>
          <a:bodyPr/>
          <a:lstStyle/>
          <a:p>
            <a:r>
              <a:t>analytics/notebooks/06_Anomalieerkennung_Auffaellige_Vorgaenge.ipynb</a:t>
            </a:r>
          </a:p>
        </p:txBody>
      </p:sp>
      <p:sp>
        <p:nvSpPr>
          <p:cNvPr id="5" name="Rectangle 4"/>
          <p:cNvSpPr/>
          <p:nvPr/>
        </p:nvSpPr>
        <p:spPr>
          <a:xfrm>
            <a:off x="1153160" y="1346200"/>
            <a:ext cx="2921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Phase</a:t>
            </a:r>
          </a:p>
        </p:txBody>
      </p:sp>
      <p:sp>
        <p:nvSpPr>
          <p:cNvPr id="6" name="Rectangle 5"/>
          <p:cNvSpPr/>
          <p:nvPr/>
        </p:nvSpPr>
        <p:spPr>
          <a:xfrm>
            <a:off x="4074160" y="1346200"/>
            <a:ext cx="855345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Was dabei herauskam</a:t>
            </a:r>
          </a:p>
        </p:txBody>
      </p:sp>
      <p:sp>
        <p:nvSpPr>
          <p:cNvPr id="7" name="Rectangle 6"/>
          <p:cNvSpPr/>
          <p:nvPr/>
        </p:nvSpPr>
        <p:spPr>
          <a:xfrm>
            <a:off x="1153160" y="1879600"/>
            <a:ext cx="292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 Business Understanding</a:t>
            </a:r>
          </a:p>
        </p:txBody>
      </p:sp>
      <p:sp>
        <p:nvSpPr>
          <p:cNvPr id="8" name="Rectangle 7"/>
          <p:cNvSpPr/>
          <p:nvPr/>
        </p:nvSpPr>
        <p:spPr>
          <a:xfrm>
            <a:off x="4074160" y="1879600"/>
            <a:ext cx="8553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Zwei Aufgaben, zehn Listenplätze. Rentabel ab 5 %, gefordert werden 20 % — sonst wird die Liste nicht benutzt</a:t>
            </a:r>
          </a:p>
        </p:txBody>
      </p:sp>
      <p:sp>
        <p:nvSpPr>
          <p:cNvPr id="9" name="Rectangle 8"/>
          <p:cNvSpPr/>
          <p:nvPr/>
        </p:nvSpPr>
        <p:spPr>
          <a:xfrm>
            <a:off x="1153160" y="2413000"/>
            <a:ext cx="292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2 Data Understanding</a:t>
            </a:r>
          </a:p>
        </p:txBody>
      </p:sp>
      <p:sp>
        <p:nvSpPr>
          <p:cNvPr id="10" name="Rectangle 9"/>
          <p:cNvSpPr/>
          <p:nvPr/>
        </p:nvSpPr>
        <p:spPr>
          <a:xfrm>
            <a:off x="4074160" y="2413000"/>
            <a:ext cx="8553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Eine Lücke in der Dauerverteilung trennt Fahrten von Rückgabeproblemen. Sackgasse: die Geschwindigkeit</a:t>
            </a:r>
          </a:p>
        </p:txBody>
      </p:sp>
      <p:sp>
        <p:nvSpPr>
          <p:cNvPr id="11" name="Rectangle 10"/>
          <p:cNvSpPr/>
          <p:nvPr/>
        </p:nvSpPr>
        <p:spPr>
          <a:xfrm>
            <a:off x="1153160" y="2946400"/>
            <a:ext cx="292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 Data Preparation</a:t>
            </a:r>
          </a:p>
        </p:txBody>
      </p:sp>
      <p:sp>
        <p:nvSpPr>
          <p:cNvPr id="12" name="Rectangle 11"/>
          <p:cNvSpPr/>
          <p:nvPr/>
        </p:nvSpPr>
        <p:spPr>
          <a:xfrm>
            <a:off x="4074160" y="2946400"/>
            <a:ext cx="8553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Sechs Merkmale; distanz_km bleibt draußen, weil ein fehlender Sensor kein auffälliger Vorgang ist</a:t>
            </a:r>
          </a:p>
        </p:txBody>
      </p:sp>
      <p:sp>
        <p:nvSpPr>
          <p:cNvPr id="13" name="Rectangle 12"/>
          <p:cNvSpPr/>
          <p:nvPr/>
        </p:nvSpPr>
        <p:spPr>
          <a:xfrm>
            <a:off x="1153160" y="3479800"/>
            <a:ext cx="292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4 Modeling</a:t>
            </a:r>
          </a:p>
        </p:txBody>
      </p:sp>
      <p:sp>
        <p:nvSpPr>
          <p:cNvPr id="14" name="Rectangle 13"/>
          <p:cNvSpPr/>
          <p:nvPr/>
        </p:nvSpPr>
        <p:spPr>
          <a:xfrm>
            <a:off x="4074160" y="3479800"/>
            <a:ext cx="8553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Interquartilsregel unbrauchbar (über 2.000 Treffer), dann Isolation Forest — der die Preisklasse fand</a:t>
            </a:r>
          </a:p>
        </p:txBody>
      </p:sp>
      <p:sp>
        <p:nvSpPr>
          <p:cNvPr id="15" name="Rectangle 14"/>
          <p:cNvSpPr/>
          <p:nvPr/>
        </p:nvSpPr>
        <p:spPr>
          <a:xfrm>
            <a:off x="1153160" y="4013200"/>
            <a:ext cx="2921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5 Evaluation</a:t>
            </a:r>
          </a:p>
        </p:txBody>
      </p:sp>
      <p:sp>
        <p:nvSpPr>
          <p:cNvPr id="16" name="Rectangle 15"/>
          <p:cNvSpPr/>
          <p:nvPr/>
        </p:nvSpPr>
        <p:spPr>
          <a:xfrm>
            <a:off x="4074160" y="4013200"/>
            <a:ext cx="8553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Nach der Korrektur 2 % → 36 %. Aufgabe A erfüllt das Kriterium, B verfehlt es an den Grundraten</a:t>
            </a:r>
          </a:p>
        </p:txBody>
      </p:sp>
      <p:sp>
        <p:nvSpPr>
          <p:cNvPr id="17" name="Rectangle 16"/>
          <p:cNvSpPr/>
          <p:nvPr/>
        </p:nvSpPr>
        <p:spPr>
          <a:xfrm>
            <a:off x="1153160" y="4546600"/>
            <a:ext cx="2921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Deployment</a:t>
            </a:r>
          </a:p>
        </p:txBody>
      </p:sp>
      <p:sp>
        <p:nvSpPr>
          <p:cNvPr id="18" name="Rectangle 17"/>
          <p:cNvSpPr/>
          <p:nvPr/>
        </p:nvSpPr>
        <p:spPr>
          <a:xfrm>
            <a:off x="4074160" y="4546600"/>
            <a:ext cx="8553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Tagesliste mit Begründung; Aufgabe B ausdrücklich nicht freigegeben</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 Synthese</a:t>
            </a:r>
          </a:p>
        </p:txBody>
      </p:sp>
      <p:sp>
        <p:nvSpPr>
          <p:cNvPr id="3" name="Rectangle 2"/>
          <p:cNvSpPr/>
          <p:nvPr/>
        </p:nvSpPr>
        <p:spPr>
          <a:xfrm>
            <a:off x="1153160" y="2743200"/>
            <a:ext cx="11474450" cy="1168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53160" y="2743200"/>
            <a:ext cx="76200" cy="1168400"/>
          </a:xfrm>
          <a:prstGeom prst="rect">
            <a:avLst/>
          </a:prstGeom>
          <a:solidFill>
            <a:srgbClr val="FFB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457960" y="2921000"/>
            <a:ext cx="10864850" cy="812800"/>
          </a:xfrm>
          <a:prstGeom prst="rect">
            <a:avLst/>
          </a:prstGeom>
          <a:noFill/>
        </p:spPr>
        <p:txBody>
          <a:bodyPr wrap="square" lIns="0" tIns="0" rIns="0" bIns="0" anchor="ctr">
            <a:spAutoFit/>
          </a:bodyPr>
          <a:lstStyle/>
          <a:p>
            <a:pPr algn="l">
              <a:lnSpc>
                <a:spcPct val="95000"/>
              </a:lnSpc>
            </a:pPr>
            <a:r>
              <a:rPr sz="1300" b="1">
                <a:solidFill>
                  <a:srgbClr val="555148"/>
                </a:solidFill>
              </a:rPr>
              <a:t>Leitfrage</a:t>
            </a:r>
          </a:p>
          <a:p>
            <a:pPr algn="l">
              <a:lnSpc>
                <a:spcPct val="95000"/>
              </a:lnSpc>
              <a:spcBef>
                <a:spcPts val="600"/>
              </a:spcBef>
            </a:pPr>
            <a:r>
              <a:rPr sz="2000" b="1">
                <a:solidFill>
                  <a:srgbClr val="003E6E"/>
                </a:solidFill>
              </a:rPr>
              <a:t>Was war in allen sechs Fällen gleich — und was hat jeder einzelne über den Kreislauf gelehrt?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Sechs Fälle, sechs Blickwinkel auf denselben Kreislauf</a:t>
            </a:r>
          </a:p>
        </p:txBody>
      </p:sp>
      <p:sp>
        <p:nvSpPr>
          <p:cNvPr id="3" name="Text Placeholder 2"/>
          <p:cNvSpPr>
            <a:spLocks noGrp="1"/>
          </p:cNvSpPr>
          <p:nvPr>
            <p:ph type="body" idx="12" sz="quarter"/>
          </p:nvPr>
        </p:nvSpPr>
        <p:spPr/>
        <p:txBody>
          <a:bodyPr/>
          <a:lstStyle/>
          <a:p>
            <a:r>
              <a:t>Synthese</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Die Tabelle aus Kapitel 1 — jetzt ausgefüllt mit dem, was wir unterwegs gesehen haben.</a:t>
            </a:r>
          </a:p>
        </p:txBody>
      </p:sp>
      <p:sp>
        <p:nvSpPr>
          <p:cNvPr id="6" name="Rectangle 5"/>
          <p:cNvSpPr/>
          <p:nvPr/>
        </p:nvSpPr>
        <p:spPr>
          <a:xfrm>
            <a:off x="1153160" y="1651000"/>
            <a:ext cx="2159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Fall</a:t>
            </a:r>
          </a:p>
        </p:txBody>
      </p:sp>
      <p:sp>
        <p:nvSpPr>
          <p:cNvPr id="7" name="Rectangle 6"/>
          <p:cNvSpPr/>
          <p:nvPr/>
        </p:nvSpPr>
        <p:spPr>
          <a:xfrm>
            <a:off x="3312160" y="1651000"/>
            <a:ext cx="1397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Zeigt</a:t>
            </a:r>
          </a:p>
        </p:txBody>
      </p:sp>
      <p:sp>
        <p:nvSpPr>
          <p:cNvPr id="8" name="Rectangle 7"/>
          <p:cNvSpPr/>
          <p:nvPr/>
        </p:nvSpPr>
        <p:spPr>
          <a:xfrm>
            <a:off x="4709160" y="1651000"/>
            <a:ext cx="791845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Der Satz, der bleibt</a:t>
            </a:r>
          </a:p>
        </p:txBody>
      </p:sp>
      <p:sp>
        <p:nvSpPr>
          <p:cNvPr id="9" name="Rectangle 8"/>
          <p:cNvSpPr/>
          <p:nvPr/>
        </p:nvSpPr>
        <p:spPr>
          <a:xfrm>
            <a:off x="1153160" y="2184400"/>
            <a:ext cx="2159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1 Regression</a:t>
            </a:r>
          </a:p>
        </p:txBody>
      </p:sp>
      <p:sp>
        <p:nvSpPr>
          <p:cNvPr id="10" name="Rectangle 9"/>
          <p:cNvSpPr/>
          <p:nvPr/>
        </p:nvSpPr>
        <p:spPr>
          <a:xfrm>
            <a:off x="3312160" y="2184400"/>
            <a:ext cx="1397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Phase 5</a:t>
            </a:r>
          </a:p>
        </p:txBody>
      </p:sp>
      <p:sp>
        <p:nvSpPr>
          <p:cNvPr id="11" name="Rectangle 10"/>
          <p:cNvSpPr/>
          <p:nvPr/>
        </p:nvSpPr>
        <p:spPr>
          <a:xfrm>
            <a:off x="4709160" y="2184400"/>
            <a:ext cx="7918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Der Rücksprung kam, obwohl das Kriterium hielt — ein Mittelwert ist keine Erfahrung</a:t>
            </a:r>
          </a:p>
        </p:txBody>
      </p:sp>
      <p:sp>
        <p:nvSpPr>
          <p:cNvPr id="12" name="Rectangle 11"/>
          <p:cNvSpPr/>
          <p:nvPr/>
        </p:nvSpPr>
        <p:spPr>
          <a:xfrm>
            <a:off x="1153160" y="2717800"/>
            <a:ext cx="2159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2 Klassifikation</a:t>
            </a:r>
          </a:p>
        </p:txBody>
      </p:sp>
      <p:sp>
        <p:nvSpPr>
          <p:cNvPr id="13" name="Rectangle 12"/>
          <p:cNvSpPr/>
          <p:nvPr/>
        </p:nvSpPr>
        <p:spPr>
          <a:xfrm>
            <a:off x="3312160" y="2717800"/>
            <a:ext cx="1397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Phase 6</a:t>
            </a:r>
          </a:p>
        </p:txBody>
      </p:sp>
      <p:sp>
        <p:nvSpPr>
          <p:cNvPr id="14" name="Rectangle 13"/>
          <p:cNvSpPr/>
          <p:nvPr/>
        </p:nvSpPr>
        <p:spPr>
          <a:xfrm>
            <a:off x="4709160" y="2717800"/>
            <a:ext cx="7918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Das Modell verdient seinen Unterhalt — messbar, weil vorher ein Maßstab stand</a:t>
            </a:r>
          </a:p>
        </p:txBody>
      </p:sp>
      <p:sp>
        <p:nvSpPr>
          <p:cNvPr id="15" name="Rectangle 14"/>
          <p:cNvSpPr/>
          <p:nvPr/>
        </p:nvSpPr>
        <p:spPr>
          <a:xfrm>
            <a:off x="1153160" y="3251200"/>
            <a:ext cx="2159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3 Clustering</a:t>
            </a:r>
          </a:p>
        </p:txBody>
      </p:sp>
      <p:sp>
        <p:nvSpPr>
          <p:cNvPr id="16" name="Rectangle 15"/>
          <p:cNvSpPr/>
          <p:nvPr/>
        </p:nvSpPr>
        <p:spPr>
          <a:xfrm>
            <a:off x="3312160" y="3251200"/>
            <a:ext cx="1397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Phase 1</a:t>
            </a:r>
          </a:p>
        </p:txBody>
      </p:sp>
      <p:sp>
        <p:nvSpPr>
          <p:cNvPr id="17" name="Rectangle 16"/>
          <p:cNvSpPr/>
          <p:nvPr/>
        </p:nvSpPr>
        <p:spPr>
          <a:xfrm>
            <a:off x="4709160" y="3251200"/>
            <a:ext cx="7918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Erfolgskriterien ohne Zielgröße — und eine bessere Frage als die, mit der wir anfingen</a:t>
            </a:r>
          </a:p>
        </p:txBody>
      </p:sp>
      <p:sp>
        <p:nvSpPr>
          <p:cNvPr id="18" name="Rectangle 17"/>
          <p:cNvSpPr/>
          <p:nvPr/>
        </p:nvSpPr>
        <p:spPr>
          <a:xfrm>
            <a:off x="1153160" y="3784600"/>
            <a:ext cx="2159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4 Zeitreihe</a:t>
            </a:r>
          </a:p>
        </p:txBody>
      </p:sp>
      <p:sp>
        <p:nvSpPr>
          <p:cNvPr id="19" name="Rectangle 18"/>
          <p:cNvSpPr/>
          <p:nvPr/>
        </p:nvSpPr>
        <p:spPr>
          <a:xfrm>
            <a:off x="3312160" y="3784600"/>
            <a:ext cx="1397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Phase 3</a:t>
            </a:r>
          </a:p>
        </p:txBody>
      </p:sp>
      <p:sp>
        <p:nvSpPr>
          <p:cNvPr id="20" name="Rectangle 19"/>
          <p:cNvSpPr/>
          <p:nvPr/>
        </p:nvSpPr>
        <p:spPr>
          <a:xfrm>
            <a:off x="4709160" y="3784600"/>
            <a:ext cx="7918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Der Schnitt folgt der Zeit. Und die genaueste Prognose ist nicht die günstigste</a:t>
            </a:r>
          </a:p>
        </p:txBody>
      </p:sp>
      <p:sp>
        <p:nvSpPr>
          <p:cNvPr id="21" name="Rectangle 20"/>
          <p:cNvSpPr/>
          <p:nvPr/>
        </p:nvSpPr>
        <p:spPr>
          <a:xfrm>
            <a:off x="1153160" y="4318000"/>
            <a:ext cx="2159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5 Assoziation</a:t>
            </a:r>
          </a:p>
        </p:txBody>
      </p:sp>
      <p:sp>
        <p:nvSpPr>
          <p:cNvPr id="22" name="Rectangle 21"/>
          <p:cNvSpPr/>
          <p:nvPr/>
        </p:nvSpPr>
        <p:spPr>
          <a:xfrm>
            <a:off x="3312160" y="4318000"/>
            <a:ext cx="1397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Phase 5</a:t>
            </a:r>
          </a:p>
        </p:txBody>
      </p:sp>
      <p:sp>
        <p:nvSpPr>
          <p:cNvPr id="23" name="Rectangle 22"/>
          <p:cNvSpPr/>
          <p:nvPr/>
        </p:nvSpPr>
        <p:spPr>
          <a:xfrm>
            <a:off x="4709160" y="4318000"/>
            <a:ext cx="7918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Keine der 32 Regeln überlebt — die stärkste scheitert um 0,01 Prozentpunkte</a:t>
            </a:r>
          </a:p>
        </p:txBody>
      </p:sp>
      <p:sp>
        <p:nvSpPr>
          <p:cNvPr id="24" name="Rectangle 23"/>
          <p:cNvSpPr/>
          <p:nvPr/>
        </p:nvSpPr>
        <p:spPr>
          <a:xfrm>
            <a:off x="1153160" y="4851400"/>
            <a:ext cx="2159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6 Anomalie</a:t>
            </a:r>
          </a:p>
        </p:txBody>
      </p:sp>
      <p:sp>
        <p:nvSpPr>
          <p:cNvPr id="25" name="Rectangle 24"/>
          <p:cNvSpPr/>
          <p:nvPr/>
        </p:nvSpPr>
        <p:spPr>
          <a:xfrm>
            <a:off x="3312160" y="4851400"/>
            <a:ext cx="1397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Rücksprung</a:t>
            </a:r>
          </a:p>
        </p:txBody>
      </p:sp>
      <p:sp>
        <p:nvSpPr>
          <p:cNvPr id="26" name="Rectangle 25"/>
          <p:cNvSpPr/>
          <p:nvPr/>
        </p:nvSpPr>
        <p:spPr>
          <a:xfrm>
            <a:off x="4709160" y="4851400"/>
            <a:ext cx="7918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 Verfahren erzeugt Information, die in den Daten nicht steckt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Fünf Dinge, die in allen sechs Fällen gleich waren</a:t>
            </a:r>
          </a:p>
        </p:txBody>
      </p:sp>
      <p:sp>
        <p:nvSpPr>
          <p:cNvPr id="3" name="Text Placeholder 2"/>
          <p:cNvSpPr>
            <a:spLocks noGrp="1"/>
          </p:cNvSpPr>
          <p:nvPr>
            <p:ph type="body" idx="12" sz="quarter"/>
          </p:nvPr>
        </p:nvSpPr>
        <p:spPr/>
        <p:txBody>
          <a:bodyPr/>
          <a:lstStyle/>
          <a:p>
            <a:r>
              <a:t>Synthese</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Unabhängig vom Verfahren, unabhängig von der Frage — diese fünf Schritte kamen jedes Mal vor.</a:t>
            </a:r>
          </a:p>
        </p:txBody>
      </p:sp>
      <p:sp>
        <p:nvSpPr>
          <p:cNvPr id="6" name="Rectangle 5"/>
          <p:cNvSpPr/>
          <p:nvPr/>
        </p:nvSpPr>
        <p:spPr>
          <a:xfrm>
            <a:off x="1153160" y="1651000"/>
            <a:ext cx="11474450" cy="711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711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30960" y="18415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9" name="TextBox 8"/>
          <p:cNvSpPr txBox="1"/>
          <p:nvPr/>
        </p:nvSpPr>
        <p:spPr>
          <a:xfrm>
            <a:off x="1788160" y="1727200"/>
            <a:ext cx="10458450" cy="558800"/>
          </a:xfrm>
          <a:prstGeom prst="rect">
            <a:avLst/>
          </a:prstGeom>
          <a:noFill/>
        </p:spPr>
        <p:txBody>
          <a:bodyPr wrap="square" lIns="0" tIns="0" rIns="0" bIns="0" anchor="ctr">
            <a:spAutoFit/>
          </a:bodyPr>
          <a:lstStyle/>
          <a:p>
            <a:pPr>
              <a:lnSpc>
                <a:spcPct val="95000"/>
              </a:lnSpc>
            </a:pPr>
            <a:r>
              <a:rPr sz="1300" b="1">
                <a:solidFill>
                  <a:srgbClr val="003E6E"/>
                </a:solidFill>
              </a:rPr>
              <a:t>Kriterium vor den Daten  </a:t>
            </a:r>
            <a:r>
              <a:rPr sz="1300">
                <a:solidFill>
                  <a:srgbClr val="404040"/>
                </a:solidFill>
              </a:rPr>
              <a:t>In allen sechs Fällen stand die Hürde fest, bevor jemand ein Modell gerechnet hat</a:t>
            </a:r>
          </a:p>
        </p:txBody>
      </p:sp>
      <p:sp>
        <p:nvSpPr>
          <p:cNvPr id="10" name="Rectangle 9"/>
          <p:cNvSpPr/>
          <p:nvPr/>
        </p:nvSpPr>
        <p:spPr>
          <a:xfrm>
            <a:off x="1153160" y="2463800"/>
            <a:ext cx="11474450" cy="711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2463800"/>
            <a:ext cx="50800" cy="711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30960" y="26543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3" name="TextBox 12"/>
          <p:cNvSpPr txBox="1"/>
          <p:nvPr/>
        </p:nvSpPr>
        <p:spPr>
          <a:xfrm>
            <a:off x="1788160" y="2540000"/>
            <a:ext cx="10458450" cy="558800"/>
          </a:xfrm>
          <a:prstGeom prst="rect">
            <a:avLst/>
          </a:prstGeom>
          <a:noFill/>
        </p:spPr>
        <p:txBody>
          <a:bodyPr wrap="square" lIns="0" tIns="0" rIns="0" bIns="0" anchor="ctr">
            <a:spAutoFit/>
          </a:bodyPr>
          <a:lstStyle/>
          <a:p>
            <a:pPr>
              <a:lnSpc>
                <a:spcPct val="95000"/>
              </a:lnSpc>
            </a:pPr>
            <a:r>
              <a:rPr sz="1300" b="1">
                <a:solidFill>
                  <a:srgbClr val="003E6E"/>
                </a:solidFill>
              </a:rPr>
              <a:t>Ein Maßstab zuerst  </a:t>
            </a:r>
            <a:r>
              <a:rPr sz="1300">
                <a:solidFill>
                  <a:srgbClr val="404040"/>
                </a:solidFill>
              </a:rPr>
              <a:t>Nullmodell, Faustregel oder Interquartilsregel — immer erst der billige Vergleich</a:t>
            </a:r>
          </a:p>
        </p:txBody>
      </p:sp>
      <p:sp>
        <p:nvSpPr>
          <p:cNvPr id="14" name="Rectangle 13"/>
          <p:cNvSpPr/>
          <p:nvPr/>
        </p:nvSpPr>
        <p:spPr>
          <a:xfrm>
            <a:off x="1153160" y="3276600"/>
            <a:ext cx="11474450" cy="711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53160" y="3276600"/>
            <a:ext cx="50800" cy="711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330960" y="34671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7" name="TextBox 16"/>
          <p:cNvSpPr txBox="1"/>
          <p:nvPr/>
        </p:nvSpPr>
        <p:spPr>
          <a:xfrm>
            <a:off x="1788160" y="3352800"/>
            <a:ext cx="10458450" cy="558800"/>
          </a:xfrm>
          <a:prstGeom prst="rect">
            <a:avLst/>
          </a:prstGeom>
          <a:noFill/>
        </p:spPr>
        <p:txBody>
          <a:bodyPr wrap="square" lIns="0" tIns="0" rIns="0" bIns="0" anchor="ctr">
            <a:spAutoFit/>
          </a:bodyPr>
          <a:lstStyle/>
          <a:p>
            <a:pPr>
              <a:lnSpc>
                <a:spcPct val="95000"/>
              </a:lnSpc>
            </a:pPr>
            <a:r>
              <a:rPr sz="1300" b="1">
                <a:solidFill>
                  <a:srgbClr val="003E6E"/>
                </a:solidFill>
              </a:rPr>
              <a:t>Die Fälle ansehen  </a:t>
            </a:r>
            <a:r>
              <a:rPr sz="1300">
                <a:solidFill>
                  <a:srgbClr val="404040"/>
                </a:solidFill>
              </a:rPr>
              <a:t>In jedem Fall brachte der Blick auf einzelne Zeilen etwas, das keine Kennzahl gezeigt hätte</a:t>
            </a:r>
          </a:p>
        </p:txBody>
      </p:sp>
      <p:sp>
        <p:nvSpPr>
          <p:cNvPr id="18" name="Rectangle 17"/>
          <p:cNvSpPr/>
          <p:nvPr/>
        </p:nvSpPr>
        <p:spPr>
          <a:xfrm>
            <a:off x="1153160" y="4089400"/>
            <a:ext cx="11474450" cy="711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53160" y="4089400"/>
            <a:ext cx="50800" cy="711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330960" y="42799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1" name="TextBox 20"/>
          <p:cNvSpPr txBox="1"/>
          <p:nvPr/>
        </p:nvSpPr>
        <p:spPr>
          <a:xfrm>
            <a:off x="1788160" y="4165600"/>
            <a:ext cx="10458450" cy="558800"/>
          </a:xfrm>
          <a:prstGeom prst="rect">
            <a:avLst/>
          </a:prstGeom>
          <a:noFill/>
        </p:spPr>
        <p:txBody>
          <a:bodyPr wrap="square" lIns="0" tIns="0" rIns="0" bIns="0" anchor="ctr">
            <a:spAutoFit/>
          </a:bodyPr>
          <a:lstStyle/>
          <a:p>
            <a:pPr>
              <a:lnSpc>
                <a:spcPct val="95000"/>
              </a:lnSpc>
            </a:pPr>
            <a:r>
              <a:rPr sz="1300" b="1">
                <a:solidFill>
                  <a:srgbClr val="003E6E"/>
                </a:solidFill>
              </a:rPr>
              <a:t>Fehlerkosten benennen  </a:t>
            </a:r>
            <a:r>
              <a:rPr sz="1300">
                <a:solidFill>
                  <a:srgbClr val="404040"/>
                </a:solidFill>
              </a:rPr>
              <a:t>Wo die beiden Fehlerrichtungen ungleich teuer sind, gehört das ins Modell — nicht in die Diskussion</a:t>
            </a:r>
          </a:p>
        </p:txBody>
      </p:sp>
      <p:sp>
        <p:nvSpPr>
          <p:cNvPr id="22" name="Rectangle 21"/>
          <p:cNvSpPr/>
          <p:nvPr/>
        </p:nvSpPr>
        <p:spPr>
          <a:xfrm>
            <a:off x="1153160" y="4902200"/>
            <a:ext cx="11474450" cy="711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53160" y="4902200"/>
            <a:ext cx="50800" cy="711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330960" y="5092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5</a:t>
            </a:r>
          </a:p>
        </p:txBody>
      </p:sp>
      <p:sp>
        <p:nvSpPr>
          <p:cNvPr id="25" name="TextBox 24"/>
          <p:cNvSpPr txBox="1"/>
          <p:nvPr/>
        </p:nvSpPr>
        <p:spPr>
          <a:xfrm>
            <a:off x="1788160" y="4978400"/>
            <a:ext cx="10458450" cy="558800"/>
          </a:xfrm>
          <a:prstGeom prst="rect">
            <a:avLst/>
          </a:prstGeom>
          <a:noFill/>
        </p:spPr>
        <p:txBody>
          <a:bodyPr wrap="square" lIns="0" tIns="0" rIns="0" bIns="0" anchor="ctr">
            <a:spAutoFit/>
          </a:bodyPr>
          <a:lstStyle/>
          <a:p>
            <a:pPr>
              <a:lnSpc>
                <a:spcPct val="95000"/>
              </a:lnSpc>
            </a:pPr>
            <a:r>
              <a:rPr sz="1300" b="1">
                <a:solidFill>
                  <a:srgbClr val="003E6E"/>
                </a:solidFill>
              </a:rPr>
              <a:t>Den Rücksprung aushalten  </a:t>
            </a:r>
            <a:r>
              <a:rPr sz="1300">
                <a:solidFill>
                  <a:srgbClr val="404040"/>
                </a:solidFill>
              </a:rPr>
              <a:t>Vier der sechs Fälle enden mit einem benannten Weg zurück statt mit einem Haken</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die Zeit tatsächlich hingeht</a:t>
            </a:r>
          </a:p>
        </p:txBody>
      </p:sp>
      <p:sp>
        <p:nvSpPr>
          <p:cNvPr id="3" name="Text Placeholder 2"/>
          <p:cNvSpPr>
            <a:spLocks noGrp="1"/>
          </p:cNvSpPr>
          <p:nvPr>
            <p:ph type="body" idx="12" sz="quarter"/>
          </p:nvPr>
        </p:nvSpPr>
        <p:spPr/>
        <p:txBody>
          <a:bodyPr/>
          <a:lstStyle/>
          <a:p>
            <a:r>
              <a:t>Synthese</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Zählt man die Codezellen der sechs Notebooks nach Phasen, ergibt sich dasselbe Bild wie in echten Projekten.</a:t>
            </a:r>
          </a:p>
        </p:txBody>
      </p:sp>
      <p:sp>
        <p:nvSpPr>
          <p:cNvPr id="6" name="Rectangle 5"/>
          <p:cNvSpPr/>
          <p:nvPr/>
        </p:nvSpPr>
        <p:spPr>
          <a:xfrm>
            <a:off x="1153160" y="16510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16510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17780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Phasen 1 bis 3</a:t>
            </a:r>
          </a:p>
          <a:p>
            <a:pPr algn="l">
              <a:lnSpc>
                <a:spcPct val="95000"/>
              </a:lnSpc>
              <a:spcBef>
                <a:spcPts val="500"/>
              </a:spcBef>
            </a:pPr>
            <a:r>
              <a:rPr sz="1300" b="0">
                <a:solidFill>
                  <a:srgbClr val="404040"/>
                </a:solidFill>
              </a:rPr>
              <a:t>Frage schärfen, Daten ansehen,</a:t>
            </a:r>
          </a:p>
          <a:p>
            <a:pPr algn="l">
              <a:lnSpc>
                <a:spcPct val="95000"/>
              </a:lnSpc>
              <a:spcBef>
                <a:spcPts val="500"/>
              </a:spcBef>
            </a:pPr>
            <a:r>
              <a:rPr sz="1300" b="0">
                <a:solidFill>
                  <a:srgbClr val="404040"/>
                </a:solidFill>
              </a:rPr>
              <a:t>Merkmale bauen.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Der weitaus größte Teil —</a:t>
            </a:r>
          </a:p>
          <a:p>
            <a:pPr algn="l">
              <a:lnSpc>
                <a:spcPct val="95000"/>
              </a:lnSpc>
              <a:spcBef>
                <a:spcPts val="500"/>
              </a:spcBef>
            </a:pPr>
            <a:r>
              <a:rPr sz="1300" b="0">
                <a:solidFill>
                  <a:srgbClr val="404040"/>
                </a:solidFill>
              </a:rPr>
              <a:t>und der, den man beim Lesen</a:t>
            </a:r>
          </a:p>
          <a:p>
            <a:pPr algn="l">
              <a:lnSpc>
                <a:spcPct val="95000"/>
              </a:lnSpc>
              <a:spcBef>
                <a:spcPts val="500"/>
              </a:spcBef>
            </a:pPr>
            <a:r>
              <a:rPr sz="1300" b="0">
                <a:solidFill>
                  <a:srgbClr val="404040"/>
                </a:solidFill>
              </a:rPr>
              <a:t>am liebsten überspringt.</a:t>
            </a:r>
          </a:p>
        </p:txBody>
      </p:sp>
      <p:sp>
        <p:nvSpPr>
          <p:cNvPr id="9" name="Rectangle 8"/>
          <p:cNvSpPr/>
          <p:nvPr/>
        </p:nvSpPr>
        <p:spPr>
          <a:xfrm>
            <a:off x="5113020" y="16510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16510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17780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Phase 4</a:t>
            </a:r>
          </a:p>
          <a:p>
            <a:pPr algn="l">
              <a:lnSpc>
                <a:spcPct val="95000"/>
              </a:lnSpc>
              <a:spcBef>
                <a:spcPts val="500"/>
              </a:spcBef>
            </a:pPr>
            <a:r>
              <a:rPr sz="1300" b="0">
                <a:solidFill>
                  <a:srgbClr val="404040"/>
                </a:solidFill>
              </a:rPr>
              <a:t>Das Modellieren.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In jedem der sechs Notebooks</a:t>
            </a:r>
          </a:p>
          <a:p>
            <a:pPr algn="l">
              <a:lnSpc>
                <a:spcPct val="95000"/>
              </a:lnSpc>
              <a:spcBef>
                <a:spcPts val="500"/>
              </a:spcBef>
            </a:pPr>
            <a:r>
              <a:rPr sz="1300" b="0">
                <a:solidFill>
                  <a:srgbClr val="404040"/>
                </a:solidFill>
              </a:rPr>
              <a:t>ein knappes Kapitel, oft</a:t>
            </a:r>
          </a:p>
          <a:p>
            <a:pPr algn="l">
              <a:lnSpc>
                <a:spcPct val="95000"/>
              </a:lnSpc>
              <a:spcBef>
                <a:spcPts val="500"/>
              </a:spcBef>
            </a:pPr>
            <a:r>
              <a:rPr sz="1300" b="0">
                <a:solidFill>
                  <a:srgbClr val="404040"/>
                </a:solidFill>
              </a:rPr>
              <a:t>wenige Zeilen Code.</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Nicht die Hauptsache.</a:t>
            </a:r>
          </a:p>
        </p:txBody>
      </p:sp>
      <p:sp>
        <p:nvSpPr>
          <p:cNvPr id="12" name="Rectangle 11"/>
          <p:cNvSpPr/>
          <p:nvPr/>
        </p:nvSpPr>
        <p:spPr>
          <a:xfrm>
            <a:off x="9081770" y="1651000"/>
            <a:ext cx="354584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1651000"/>
            <a:ext cx="50800" cy="254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1778000"/>
            <a:ext cx="3215640" cy="2286000"/>
          </a:xfrm>
          <a:prstGeom prst="rect">
            <a:avLst/>
          </a:prstGeom>
          <a:noFill/>
        </p:spPr>
        <p:txBody>
          <a:bodyPr wrap="square" lIns="0" tIns="0" rIns="0" bIns="0">
            <a:spAutoFit/>
          </a:bodyPr>
          <a:lstStyle/>
          <a:p>
            <a:pPr algn="l">
              <a:lnSpc>
                <a:spcPct val="95000"/>
              </a:lnSpc>
            </a:pPr>
            <a:r>
              <a:rPr sz="1500" b="1">
                <a:solidFill>
                  <a:srgbClr val="003E6E"/>
                </a:solidFill>
              </a:rPr>
              <a:t>Phasen 5 und 6</a:t>
            </a:r>
          </a:p>
          <a:p>
            <a:pPr algn="l">
              <a:lnSpc>
                <a:spcPct val="95000"/>
              </a:lnSpc>
              <a:spcBef>
                <a:spcPts val="500"/>
              </a:spcBef>
            </a:pPr>
            <a:r>
              <a:rPr sz="1300" b="0">
                <a:solidFill>
                  <a:srgbClr val="404040"/>
                </a:solidFill>
              </a:rPr>
              <a:t>Bewerten und ausliefern.</a:t>
            </a:r>
          </a:p>
          <a:p>
            <a:pPr algn="l">
              <a:lnSpc>
                <a:spcPct val="95000"/>
              </a:lnSpc>
              <a:spcBef>
                <a:spcPts val="500"/>
              </a:spcBef>
            </a:pPr>
            <a:r>
              <a:rPr sz="1300" b="0">
                <a:solidFill>
                  <a:srgbClr val="404040"/>
                </a:solidFill>
              </a:rPr>
              <a:t/>
            </a:r>
          </a:p>
          <a:p>
            <a:pPr algn="l">
              <a:lnSpc>
                <a:spcPct val="95000"/>
              </a:lnSpc>
              <a:spcBef>
                <a:spcPts val="500"/>
              </a:spcBef>
            </a:pPr>
            <a:r>
              <a:rPr sz="1300" b="0">
                <a:solidFill>
                  <a:srgbClr val="404040"/>
                </a:solidFill>
              </a:rPr>
              <a:t>Der Teil, der in Lehrbüchern</a:t>
            </a:r>
          </a:p>
          <a:p>
            <a:pPr algn="l">
              <a:lnSpc>
                <a:spcPct val="95000"/>
              </a:lnSpc>
              <a:spcBef>
                <a:spcPts val="500"/>
              </a:spcBef>
            </a:pPr>
            <a:r>
              <a:rPr sz="1300" b="0">
                <a:solidFill>
                  <a:srgbClr val="404040"/>
                </a:solidFill>
              </a:rPr>
              <a:t>fehlt — und der über Erfolg</a:t>
            </a:r>
          </a:p>
          <a:p>
            <a:pPr algn="l">
              <a:lnSpc>
                <a:spcPct val="95000"/>
              </a:lnSpc>
              <a:spcBef>
                <a:spcPts val="500"/>
              </a:spcBef>
            </a:pPr>
            <a:r>
              <a:rPr sz="1300" b="0">
                <a:solidFill>
                  <a:srgbClr val="404040"/>
                </a:solidFill>
              </a:rPr>
              <a:t>oder Misserfolg im Betrieb</a:t>
            </a:r>
          </a:p>
          <a:p>
            <a:pPr algn="l">
              <a:lnSpc>
                <a:spcPct val="95000"/>
              </a:lnSpc>
              <a:spcBef>
                <a:spcPts val="500"/>
              </a:spcBef>
            </a:pPr>
            <a:r>
              <a:rPr sz="1300" b="0">
                <a:solidFill>
                  <a:srgbClr val="404040"/>
                </a:solidFill>
              </a:rPr>
              <a:t>entscheidet.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Notebooks — und wie sie weiterhelfen</a:t>
            </a:r>
          </a:p>
        </p:txBody>
      </p:sp>
      <p:sp>
        <p:nvSpPr>
          <p:cNvPr id="3" name="Text Placeholder 2"/>
          <p:cNvSpPr>
            <a:spLocks noGrp="1"/>
          </p:cNvSpPr>
          <p:nvPr>
            <p:ph type="body" idx="12" sz="quarter"/>
          </p:nvPr>
        </p:nvSpPr>
        <p:spPr/>
        <p:txBody>
          <a:bodyPr/>
          <a:lstStyle/>
          <a:p>
            <a:r>
              <a:t>Synthese</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Zu jedem der sechs Fälle gibt es zwei Fassungen: eine vollständig gerechnete und eine mit Lücken zum Selbstausfüllen.</a:t>
            </a:r>
          </a:p>
        </p:txBody>
      </p:sp>
      <p:sp>
        <p:nvSpPr>
          <p:cNvPr id="6" name="Rectangle 5"/>
          <p:cNvSpPr/>
          <p:nvPr/>
        </p:nvSpPr>
        <p:spPr>
          <a:xfrm>
            <a:off x="1153160" y="1651000"/>
            <a:ext cx="1778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
            </a:r>
          </a:p>
        </p:txBody>
      </p:sp>
      <p:sp>
        <p:nvSpPr>
          <p:cNvPr id="7" name="Rectangle 6"/>
          <p:cNvSpPr/>
          <p:nvPr/>
        </p:nvSpPr>
        <p:spPr>
          <a:xfrm>
            <a:off x="2931160" y="1651000"/>
            <a:ext cx="508000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Vorführfassung</a:t>
            </a:r>
          </a:p>
        </p:txBody>
      </p:sp>
      <p:sp>
        <p:nvSpPr>
          <p:cNvPr id="8" name="Rectangle 7"/>
          <p:cNvSpPr/>
          <p:nvPr/>
        </p:nvSpPr>
        <p:spPr>
          <a:xfrm>
            <a:off x="8011159" y="1651000"/>
            <a:ext cx="4616450" cy="533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Übungsfassung</a:t>
            </a:r>
          </a:p>
        </p:txBody>
      </p:sp>
      <p:sp>
        <p:nvSpPr>
          <p:cNvPr id="9" name="Rectangle 8"/>
          <p:cNvSpPr/>
          <p:nvPr/>
        </p:nvSpPr>
        <p:spPr>
          <a:xfrm>
            <a:off x="1153160" y="2184400"/>
            <a:ext cx="1778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Ablage</a:t>
            </a:r>
          </a:p>
        </p:txBody>
      </p:sp>
      <p:sp>
        <p:nvSpPr>
          <p:cNvPr id="10" name="Rectangle 9"/>
          <p:cNvSpPr/>
          <p:nvPr/>
        </p:nvSpPr>
        <p:spPr>
          <a:xfrm>
            <a:off x="2931160" y="2184400"/>
            <a:ext cx="5080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analytics/notebooks/</a:t>
            </a:r>
          </a:p>
        </p:txBody>
      </p:sp>
      <p:sp>
        <p:nvSpPr>
          <p:cNvPr id="11" name="Rectangle 10"/>
          <p:cNvSpPr/>
          <p:nvPr/>
        </p:nvSpPr>
        <p:spPr>
          <a:xfrm>
            <a:off x="8011159" y="2184400"/>
            <a:ext cx="4616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analytics/notebooks/uebung/</a:t>
            </a:r>
          </a:p>
        </p:txBody>
      </p:sp>
      <p:sp>
        <p:nvSpPr>
          <p:cNvPr id="12" name="Rectangle 11"/>
          <p:cNvSpPr/>
          <p:nvPr/>
        </p:nvSpPr>
        <p:spPr>
          <a:xfrm>
            <a:off x="1153160" y="2717800"/>
            <a:ext cx="1778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Ausgaben</a:t>
            </a:r>
          </a:p>
        </p:txBody>
      </p:sp>
      <p:sp>
        <p:nvSpPr>
          <p:cNvPr id="13" name="Rectangle 12"/>
          <p:cNvSpPr/>
          <p:nvPr/>
        </p:nvSpPr>
        <p:spPr>
          <a:xfrm>
            <a:off x="2931160" y="2717800"/>
            <a:ext cx="5080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vollständig eingebettet, sofort lesbar</a:t>
            </a:r>
          </a:p>
        </p:txBody>
      </p:sp>
      <p:sp>
        <p:nvSpPr>
          <p:cNvPr id="14" name="Rectangle 13"/>
          <p:cNvSpPr/>
          <p:nvPr/>
        </p:nvSpPr>
        <p:spPr>
          <a:xfrm>
            <a:off x="8011159" y="2717800"/>
            <a:ext cx="4616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leer — sie entstehen beim Rechnen</a:t>
            </a:r>
          </a:p>
        </p:txBody>
      </p:sp>
      <p:sp>
        <p:nvSpPr>
          <p:cNvPr id="15" name="Rectangle 14"/>
          <p:cNvSpPr/>
          <p:nvPr/>
        </p:nvSpPr>
        <p:spPr>
          <a:xfrm>
            <a:off x="1153160" y="3251200"/>
            <a:ext cx="1778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Code</a:t>
            </a:r>
          </a:p>
        </p:txBody>
      </p:sp>
      <p:sp>
        <p:nvSpPr>
          <p:cNvPr id="16" name="Rectangle 15"/>
          <p:cNvSpPr/>
          <p:nvPr/>
        </p:nvSpPr>
        <p:spPr>
          <a:xfrm>
            <a:off x="2931160" y="3251200"/>
            <a:ext cx="5080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vollständig</a:t>
            </a:r>
          </a:p>
        </p:txBody>
      </p:sp>
      <p:sp>
        <p:nvSpPr>
          <p:cNvPr id="17" name="Rectangle 16"/>
          <p:cNvSpPr/>
          <p:nvPr/>
        </p:nvSpPr>
        <p:spPr>
          <a:xfrm>
            <a:off x="8011159" y="3251200"/>
            <a:ext cx="4616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an den Kernstellen ausgeschnitten</a:t>
            </a:r>
          </a:p>
        </p:txBody>
      </p:sp>
      <p:sp>
        <p:nvSpPr>
          <p:cNvPr id="18" name="Rectangle 17"/>
          <p:cNvSpPr/>
          <p:nvPr/>
        </p:nvSpPr>
        <p:spPr>
          <a:xfrm>
            <a:off x="1153160" y="3784600"/>
            <a:ext cx="1778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Aufgaben</a:t>
            </a:r>
          </a:p>
        </p:txBody>
      </p:sp>
      <p:sp>
        <p:nvSpPr>
          <p:cNvPr id="19" name="Rectangle 18"/>
          <p:cNvSpPr/>
          <p:nvPr/>
        </p:nvSpPr>
        <p:spPr>
          <a:xfrm>
            <a:off x="2931160" y="3784600"/>
            <a:ext cx="508000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keine</a:t>
            </a:r>
          </a:p>
        </p:txBody>
      </p:sp>
      <p:sp>
        <p:nvSpPr>
          <p:cNvPr id="20" name="Rectangle 19"/>
          <p:cNvSpPr/>
          <p:nvPr/>
        </p:nvSpPr>
        <p:spPr>
          <a:xfrm>
            <a:off x="8011159" y="3784600"/>
            <a:ext cx="4616450" cy="5334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1 bis 4 je Notebook, an der jeweils lehrreichsten Stelle</a:t>
            </a:r>
          </a:p>
        </p:txBody>
      </p:sp>
      <p:sp>
        <p:nvSpPr>
          <p:cNvPr id="21" name="Rectangle 20"/>
          <p:cNvSpPr/>
          <p:nvPr/>
        </p:nvSpPr>
        <p:spPr>
          <a:xfrm>
            <a:off x="1153160" y="4318000"/>
            <a:ext cx="1778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Struktur</a:t>
            </a:r>
          </a:p>
        </p:txBody>
      </p:sp>
      <p:sp>
        <p:nvSpPr>
          <p:cNvPr id="22" name="Rectangle 21"/>
          <p:cNvSpPr/>
          <p:nvPr/>
        </p:nvSpPr>
        <p:spPr>
          <a:xfrm>
            <a:off x="2931160" y="4318000"/>
            <a:ext cx="508000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sechs Phasen als Überschriften</a:t>
            </a:r>
          </a:p>
        </p:txBody>
      </p:sp>
      <p:sp>
        <p:nvSpPr>
          <p:cNvPr id="23" name="Rectangle 22"/>
          <p:cNvSpPr/>
          <p:nvPr/>
        </p:nvSpPr>
        <p:spPr>
          <a:xfrm>
            <a:off x="8011159" y="4318000"/>
            <a:ext cx="4616450" cy="5334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identisch — auch die Übungsfassung führt durch alle sechs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Acht Sätze, die diesen Block tragen</a:t>
            </a:r>
          </a:p>
        </p:txBody>
      </p:sp>
      <p:sp>
        <p:nvSpPr>
          <p:cNvPr id="3" name="Text Placeholder 2"/>
          <p:cNvSpPr>
            <a:spLocks noGrp="1"/>
          </p:cNvSpPr>
          <p:nvPr>
            <p:ph type="body" idx="12" sz="quarter"/>
          </p:nvPr>
        </p:nvSpPr>
        <p:spPr/>
        <p:txBody>
          <a:bodyPr/>
          <a:lstStyle/>
          <a:p>
            <a:r>
              <a:t>Synthese</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Rectangle 4"/>
          <p:cNvSpPr/>
          <p:nvPr/>
        </p:nvSpPr>
        <p:spPr>
          <a:xfrm>
            <a:off x="1153160" y="1346200"/>
            <a:ext cx="11474450" cy="457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53160" y="1346200"/>
            <a:ext cx="5080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330960" y="1409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1</a:t>
            </a:r>
          </a:p>
        </p:txBody>
      </p:sp>
      <p:sp>
        <p:nvSpPr>
          <p:cNvPr id="8" name="TextBox 7"/>
          <p:cNvSpPr txBox="1"/>
          <p:nvPr/>
        </p:nvSpPr>
        <p:spPr>
          <a:xfrm>
            <a:off x="1788160" y="1422400"/>
            <a:ext cx="10458450" cy="304800"/>
          </a:xfrm>
          <a:prstGeom prst="rect">
            <a:avLst/>
          </a:prstGeom>
          <a:noFill/>
        </p:spPr>
        <p:txBody>
          <a:bodyPr wrap="square" lIns="0" tIns="0" rIns="0" bIns="0" anchor="ctr">
            <a:spAutoFit/>
          </a:bodyPr>
          <a:lstStyle/>
          <a:p>
            <a:pPr>
              <a:lnSpc>
                <a:spcPct val="95000"/>
              </a:lnSpc>
            </a:pPr>
            <a:r>
              <a:rPr sz="1300" b="1">
                <a:solidFill>
                  <a:srgbClr val="003E6E"/>
                </a:solidFill>
              </a:rPr>
              <a:t>Erst die Frage  </a:t>
            </a:r>
            <a:r>
              <a:rPr sz="1300">
                <a:solidFill>
                  <a:srgbClr val="404040"/>
                </a:solidFill>
              </a:rPr>
              <a:t>Ein Erfolgskriterium, das nach dem Ergebnis entsteht, ist keins</a:t>
            </a:r>
          </a:p>
        </p:txBody>
      </p:sp>
      <p:sp>
        <p:nvSpPr>
          <p:cNvPr id="9" name="Rectangle 8"/>
          <p:cNvSpPr/>
          <p:nvPr/>
        </p:nvSpPr>
        <p:spPr>
          <a:xfrm>
            <a:off x="1153160" y="1854200"/>
            <a:ext cx="11474450" cy="457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53160" y="1854200"/>
            <a:ext cx="5080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0960" y="1917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2</a:t>
            </a:r>
          </a:p>
        </p:txBody>
      </p:sp>
      <p:sp>
        <p:nvSpPr>
          <p:cNvPr id="12" name="TextBox 11"/>
          <p:cNvSpPr txBox="1"/>
          <p:nvPr/>
        </p:nvSpPr>
        <p:spPr>
          <a:xfrm>
            <a:off x="1788160" y="1930400"/>
            <a:ext cx="10458450" cy="304800"/>
          </a:xfrm>
          <a:prstGeom prst="rect">
            <a:avLst/>
          </a:prstGeom>
          <a:noFill/>
        </p:spPr>
        <p:txBody>
          <a:bodyPr wrap="square" lIns="0" tIns="0" rIns="0" bIns="0" anchor="ctr">
            <a:spAutoFit/>
          </a:bodyPr>
          <a:lstStyle/>
          <a:p>
            <a:pPr>
              <a:lnSpc>
                <a:spcPct val="95000"/>
              </a:lnSpc>
            </a:pPr>
            <a:r>
              <a:rPr sz="1300" b="1">
                <a:solidFill>
                  <a:srgbClr val="003E6E"/>
                </a:solidFill>
              </a:rPr>
              <a:t>Dann der Maßstab  </a:t>
            </a:r>
            <a:r>
              <a:rPr sz="1300">
                <a:solidFill>
                  <a:srgbClr val="404040"/>
                </a:solidFill>
              </a:rPr>
              <a:t>Wer das Nullmodell nicht schlägt, hat nichts gewonnen</a:t>
            </a:r>
          </a:p>
        </p:txBody>
      </p:sp>
      <p:sp>
        <p:nvSpPr>
          <p:cNvPr id="13" name="Rectangle 12"/>
          <p:cNvSpPr/>
          <p:nvPr/>
        </p:nvSpPr>
        <p:spPr>
          <a:xfrm>
            <a:off x="1153160" y="2362200"/>
            <a:ext cx="11474450" cy="457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53160" y="2362200"/>
            <a:ext cx="5080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330960" y="2425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3</a:t>
            </a:r>
          </a:p>
        </p:txBody>
      </p:sp>
      <p:sp>
        <p:nvSpPr>
          <p:cNvPr id="16" name="TextBox 15"/>
          <p:cNvSpPr txBox="1"/>
          <p:nvPr/>
        </p:nvSpPr>
        <p:spPr>
          <a:xfrm>
            <a:off x="1788160" y="2438400"/>
            <a:ext cx="10458450" cy="304800"/>
          </a:xfrm>
          <a:prstGeom prst="rect">
            <a:avLst/>
          </a:prstGeom>
          <a:noFill/>
        </p:spPr>
        <p:txBody>
          <a:bodyPr wrap="square" lIns="0" tIns="0" rIns="0" bIns="0" anchor="ctr">
            <a:spAutoFit/>
          </a:bodyPr>
          <a:lstStyle/>
          <a:p>
            <a:pPr>
              <a:lnSpc>
                <a:spcPct val="95000"/>
              </a:lnSpc>
            </a:pPr>
            <a:r>
              <a:rPr sz="1300" b="1">
                <a:solidFill>
                  <a:srgbClr val="003E6E"/>
                </a:solidFill>
              </a:rPr>
              <a:t>Leakage prüfen  </a:t>
            </a:r>
            <a:r>
              <a:rPr sz="1300">
                <a:solidFill>
                  <a:srgbClr val="404040"/>
                </a:solidFill>
              </a:rPr>
              <a:t>Was weiß ich zum Zeitpunkt der Vorhersage wirklich?</a:t>
            </a:r>
          </a:p>
        </p:txBody>
      </p:sp>
      <p:sp>
        <p:nvSpPr>
          <p:cNvPr id="17" name="Rectangle 16"/>
          <p:cNvSpPr/>
          <p:nvPr/>
        </p:nvSpPr>
        <p:spPr>
          <a:xfrm>
            <a:off x="1153160" y="2870200"/>
            <a:ext cx="11474450" cy="457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53160" y="2870200"/>
            <a:ext cx="5080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330960" y="2933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4</a:t>
            </a:r>
          </a:p>
        </p:txBody>
      </p:sp>
      <p:sp>
        <p:nvSpPr>
          <p:cNvPr id="20" name="TextBox 19"/>
          <p:cNvSpPr txBox="1"/>
          <p:nvPr/>
        </p:nvSpPr>
        <p:spPr>
          <a:xfrm>
            <a:off x="1788160" y="2946400"/>
            <a:ext cx="10458450" cy="304800"/>
          </a:xfrm>
          <a:prstGeom prst="rect">
            <a:avLst/>
          </a:prstGeom>
          <a:noFill/>
        </p:spPr>
        <p:txBody>
          <a:bodyPr wrap="square" lIns="0" tIns="0" rIns="0" bIns="0" anchor="ctr">
            <a:spAutoFit/>
          </a:bodyPr>
          <a:lstStyle/>
          <a:p>
            <a:pPr>
              <a:lnSpc>
                <a:spcPct val="95000"/>
              </a:lnSpc>
            </a:pPr>
            <a:r>
              <a:rPr sz="1300" b="1">
                <a:solidFill>
                  <a:srgbClr val="003E6E"/>
                </a:solidFill>
              </a:rPr>
              <a:t>Kosten sind ungleich  </a:t>
            </a:r>
            <a:r>
              <a:rPr sz="1300">
                <a:solidFill>
                  <a:srgbClr val="404040"/>
                </a:solidFill>
              </a:rPr>
              <a:t>Fast nie sind beide Fehlerrichtungen gleich teuer</a:t>
            </a:r>
          </a:p>
        </p:txBody>
      </p:sp>
      <p:sp>
        <p:nvSpPr>
          <p:cNvPr id="21" name="Rectangle 20"/>
          <p:cNvSpPr/>
          <p:nvPr/>
        </p:nvSpPr>
        <p:spPr>
          <a:xfrm>
            <a:off x="1153160" y="3378200"/>
            <a:ext cx="11474450" cy="457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53160" y="3378200"/>
            <a:ext cx="5080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330960" y="3441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5</a:t>
            </a:r>
          </a:p>
        </p:txBody>
      </p:sp>
      <p:sp>
        <p:nvSpPr>
          <p:cNvPr id="24" name="TextBox 23"/>
          <p:cNvSpPr txBox="1"/>
          <p:nvPr/>
        </p:nvSpPr>
        <p:spPr>
          <a:xfrm>
            <a:off x="1788160" y="3454400"/>
            <a:ext cx="10458450" cy="304800"/>
          </a:xfrm>
          <a:prstGeom prst="rect">
            <a:avLst/>
          </a:prstGeom>
          <a:noFill/>
        </p:spPr>
        <p:txBody>
          <a:bodyPr wrap="square" lIns="0" tIns="0" rIns="0" bIns="0" anchor="ctr">
            <a:spAutoFit/>
          </a:bodyPr>
          <a:lstStyle/>
          <a:p>
            <a:pPr>
              <a:lnSpc>
                <a:spcPct val="95000"/>
              </a:lnSpc>
            </a:pPr>
            <a:r>
              <a:rPr sz="1300" b="1">
                <a:solidFill>
                  <a:srgbClr val="003E6E"/>
                </a:solidFill>
              </a:rPr>
              <a:t>Kennzahlen trennen  </a:t>
            </a:r>
            <a:r>
              <a:rPr sz="1300">
                <a:solidFill>
                  <a:srgbClr val="404040"/>
                </a:solidFill>
              </a:rPr>
              <a:t>Technische Güte und fachliches Urteil sind zwei Dinge</a:t>
            </a:r>
          </a:p>
        </p:txBody>
      </p:sp>
      <p:sp>
        <p:nvSpPr>
          <p:cNvPr id="25" name="Rectangle 24"/>
          <p:cNvSpPr/>
          <p:nvPr/>
        </p:nvSpPr>
        <p:spPr>
          <a:xfrm>
            <a:off x="1153160" y="3886200"/>
            <a:ext cx="11474450" cy="457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153160" y="3886200"/>
            <a:ext cx="5080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330960" y="3949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6</a:t>
            </a:r>
          </a:p>
        </p:txBody>
      </p:sp>
      <p:sp>
        <p:nvSpPr>
          <p:cNvPr id="28" name="TextBox 27"/>
          <p:cNvSpPr txBox="1"/>
          <p:nvPr/>
        </p:nvSpPr>
        <p:spPr>
          <a:xfrm>
            <a:off x="1788160" y="3962400"/>
            <a:ext cx="10458450" cy="304800"/>
          </a:xfrm>
          <a:prstGeom prst="rect">
            <a:avLst/>
          </a:prstGeom>
          <a:noFill/>
        </p:spPr>
        <p:txBody>
          <a:bodyPr wrap="square" lIns="0" tIns="0" rIns="0" bIns="0" anchor="ctr">
            <a:spAutoFit/>
          </a:bodyPr>
          <a:lstStyle/>
          <a:p>
            <a:pPr>
              <a:lnSpc>
                <a:spcPct val="95000"/>
              </a:lnSpc>
            </a:pPr>
            <a:r>
              <a:rPr sz="1300" b="1">
                <a:solidFill>
                  <a:srgbClr val="003E6E"/>
                </a:solidFill>
              </a:rPr>
              <a:t>Die Fälle ansehen  </a:t>
            </a:r>
            <a:r>
              <a:rPr sz="1300">
                <a:solidFill>
                  <a:srgbClr val="404040"/>
                </a:solidFill>
              </a:rPr>
              <a:t>Eine Kennzahl sagt, wie gut. Nur der Blick sagt, woran</a:t>
            </a:r>
          </a:p>
        </p:txBody>
      </p:sp>
      <p:sp>
        <p:nvSpPr>
          <p:cNvPr id="29" name="Rectangle 28"/>
          <p:cNvSpPr/>
          <p:nvPr/>
        </p:nvSpPr>
        <p:spPr>
          <a:xfrm>
            <a:off x="1153160" y="4394200"/>
            <a:ext cx="11474450" cy="457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153160" y="4394200"/>
            <a:ext cx="5080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1330960" y="4457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7</a:t>
            </a:r>
          </a:p>
        </p:txBody>
      </p:sp>
      <p:sp>
        <p:nvSpPr>
          <p:cNvPr id="32" name="TextBox 31"/>
          <p:cNvSpPr txBox="1"/>
          <p:nvPr/>
        </p:nvSpPr>
        <p:spPr>
          <a:xfrm>
            <a:off x="1788160" y="4470400"/>
            <a:ext cx="10458450" cy="304800"/>
          </a:xfrm>
          <a:prstGeom prst="rect">
            <a:avLst/>
          </a:prstGeom>
          <a:noFill/>
        </p:spPr>
        <p:txBody>
          <a:bodyPr wrap="square" lIns="0" tIns="0" rIns="0" bIns="0" anchor="ctr">
            <a:spAutoFit/>
          </a:bodyPr>
          <a:lstStyle/>
          <a:p>
            <a:pPr>
              <a:lnSpc>
                <a:spcPct val="95000"/>
              </a:lnSpc>
            </a:pPr>
            <a:r>
              <a:rPr sz="1300" b="1">
                <a:solidFill>
                  <a:srgbClr val="003E6E"/>
                </a:solidFill>
              </a:rPr>
              <a:t>Einfach schlägt stark  </a:t>
            </a:r>
            <a:r>
              <a:rPr sz="1300">
                <a:solidFill>
                  <a:srgbClr val="404040"/>
                </a:solidFill>
              </a:rPr>
              <a:t>Bei Gleichstand gewinnt, was man erklären kann</a:t>
            </a:r>
          </a:p>
        </p:txBody>
      </p:sp>
      <p:sp>
        <p:nvSpPr>
          <p:cNvPr id="33" name="Rectangle 32"/>
          <p:cNvSpPr/>
          <p:nvPr/>
        </p:nvSpPr>
        <p:spPr>
          <a:xfrm>
            <a:off x="1153160" y="4902200"/>
            <a:ext cx="11474450" cy="457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153160" y="4902200"/>
            <a:ext cx="50800" cy="457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1330960" y="4965700"/>
            <a:ext cx="330200" cy="330200"/>
          </a:xfrm>
          <a:prstGeom prst="ellipse">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pPr>
            <a:r>
              <a:rPr sz="1300" b="1">
                <a:solidFill>
                  <a:srgbClr val="FFFFFF"/>
                </a:solidFill>
              </a:rPr>
              <a:t>8</a:t>
            </a:r>
          </a:p>
        </p:txBody>
      </p:sp>
      <p:sp>
        <p:nvSpPr>
          <p:cNvPr id="36" name="TextBox 35"/>
          <p:cNvSpPr txBox="1"/>
          <p:nvPr/>
        </p:nvSpPr>
        <p:spPr>
          <a:xfrm>
            <a:off x="1788160" y="4978400"/>
            <a:ext cx="10458450" cy="304800"/>
          </a:xfrm>
          <a:prstGeom prst="rect">
            <a:avLst/>
          </a:prstGeom>
          <a:noFill/>
        </p:spPr>
        <p:txBody>
          <a:bodyPr wrap="square" lIns="0" tIns="0" rIns="0" bIns="0" anchor="ctr">
            <a:spAutoFit/>
          </a:bodyPr>
          <a:lstStyle/>
          <a:p>
            <a:pPr>
              <a:lnSpc>
                <a:spcPct val="95000"/>
              </a:lnSpc>
            </a:pPr>
            <a:r>
              <a:rPr sz="1300" b="1">
                <a:solidFill>
                  <a:srgbClr val="003E6E"/>
                </a:solidFill>
              </a:rPr>
              <a:t>Zurück ist normal  </a:t>
            </a:r>
            <a:r>
              <a:rPr sz="1300">
                <a:solidFill>
                  <a:srgbClr val="404040"/>
                </a:solidFill>
              </a:rPr>
              <a:t>Der Rücksprung ist das Verfahren, nicht sein Scheitern</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dieser Block nicht behandelt hat</a:t>
            </a:r>
          </a:p>
        </p:txBody>
      </p:sp>
      <p:sp>
        <p:nvSpPr>
          <p:cNvPr id="3" name="Text Placeholder 2"/>
          <p:cNvSpPr>
            <a:spLocks noGrp="1"/>
          </p:cNvSpPr>
          <p:nvPr>
            <p:ph type="body" idx="12" sz="quarter"/>
          </p:nvPr>
        </p:nvSpPr>
        <p:spPr/>
        <p:txBody>
          <a:bodyPr/>
          <a:lstStyle/>
          <a:p>
            <a:r>
              <a:t>Ausblick</a:t>
            </a:r>
          </a:p>
        </p:txBody>
      </p:sp>
      <p:sp>
        <p:nvSpPr>
          <p:cNvPr id="4" name="Text Placeholder 3"/>
          <p:cNvSpPr>
            <a:spLocks noGrp="1"/>
          </p:cNvSpPr>
          <p:nvPr>
            <p:ph type="body" idx="13" sz="quarter"/>
          </p:nvPr>
        </p:nvSpPr>
        <p:spPr/>
        <p:txBody>
          <a:bodyPr/>
          <a:lstStyle/>
          <a:p>
            <a:r>
              <a:t>Sechs Notebooks unter analytics/notebooks/ der Fallstudie VeloCity. Alle Zahlen sind den ausgefuehrten Notebooks entnommen.</a:t>
            </a:r>
          </a:p>
        </p:txBody>
      </p:sp>
      <p:sp>
        <p:nvSpPr>
          <p:cNvPr id="5" name="TextBox 4"/>
          <p:cNvSpPr txBox="1"/>
          <p:nvPr/>
        </p:nvSpPr>
        <p:spPr>
          <a:xfrm>
            <a:off x="1066800" y="1143000"/>
            <a:ext cx="11557000" cy="304800"/>
          </a:xfrm>
          <a:prstGeom prst="rect">
            <a:avLst/>
          </a:prstGeom>
          <a:noFill/>
        </p:spPr>
        <p:txBody>
          <a:bodyPr wrap="square" lIns="0" tIns="0" rIns="0" bIns="0">
            <a:spAutoFit/>
          </a:bodyPr>
          <a:lstStyle/>
          <a:p>
            <a:pPr algn="just">
              <a:lnSpc>
                <a:spcPct val="95000"/>
              </a:lnSpc>
            </a:pPr>
            <a:r>
              <a:rPr sz="1400" b="0">
                <a:solidFill>
                  <a:srgbClr val="404040"/>
                </a:solidFill>
              </a:rPr>
              <a:t>Damit klar ist, wo die Grenzen liegen — und was ein nächster Schritt wäre.</a:t>
            </a:r>
          </a:p>
        </p:txBody>
      </p:sp>
      <p:sp>
        <p:nvSpPr>
          <p:cNvPr id="6" name="Rectangle 5"/>
          <p:cNvSpPr/>
          <p:nvPr/>
        </p:nvSpPr>
        <p:spPr>
          <a:xfrm>
            <a:off x="1153160" y="1651000"/>
            <a:ext cx="317500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Thema</a:t>
            </a:r>
          </a:p>
        </p:txBody>
      </p:sp>
      <p:sp>
        <p:nvSpPr>
          <p:cNvPr id="7" name="Rectangle 6"/>
          <p:cNvSpPr/>
          <p:nvPr/>
        </p:nvSpPr>
        <p:spPr>
          <a:xfrm>
            <a:off x="4328160" y="1651000"/>
            <a:ext cx="8299450" cy="685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FFFFFF"/>
                </a:solidFill>
              </a:rPr>
              <a:t>Warum es hier fehlt</a:t>
            </a:r>
          </a:p>
        </p:txBody>
      </p:sp>
      <p:sp>
        <p:nvSpPr>
          <p:cNvPr id="8" name="Rectangle 7"/>
          <p:cNvSpPr/>
          <p:nvPr/>
        </p:nvSpPr>
        <p:spPr>
          <a:xfrm>
            <a:off x="1153160" y="2336800"/>
            <a:ext cx="3175000" cy="685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Neuronale Netze</a:t>
            </a:r>
          </a:p>
        </p:txBody>
      </p:sp>
      <p:sp>
        <p:nvSpPr>
          <p:cNvPr id="9" name="Rectangle 8"/>
          <p:cNvSpPr/>
          <p:nvPr/>
        </p:nvSpPr>
        <p:spPr>
          <a:xfrm>
            <a:off x="4328160" y="2336800"/>
            <a:ext cx="8299450" cy="685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Bei diesen Datenmengen und Fragestellungen ohne Vorteil gegenüber den gezeigten Verfahren — und deutlich schwerer zu erklären</a:t>
            </a:r>
          </a:p>
        </p:txBody>
      </p:sp>
      <p:sp>
        <p:nvSpPr>
          <p:cNvPr id="10" name="Rectangle 9"/>
          <p:cNvSpPr/>
          <p:nvPr/>
        </p:nvSpPr>
        <p:spPr>
          <a:xfrm>
            <a:off x="1153160" y="3022600"/>
            <a:ext cx="3175000" cy="685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Hyperparameter-Suche</a:t>
            </a:r>
          </a:p>
        </p:txBody>
      </p:sp>
      <p:sp>
        <p:nvSpPr>
          <p:cNvPr id="11" name="Rectangle 10"/>
          <p:cNvSpPr/>
          <p:nvPr/>
        </p:nvSpPr>
        <p:spPr>
          <a:xfrm>
            <a:off x="4328160" y="3022600"/>
            <a:ext cx="8299450" cy="685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Systematisches Durchprobieren hätte die Ergebnisse leicht verbessert und den Blick auf das Vorgehen verstellt</a:t>
            </a:r>
          </a:p>
        </p:txBody>
      </p:sp>
      <p:sp>
        <p:nvSpPr>
          <p:cNvPr id="12" name="Rectangle 11"/>
          <p:cNvSpPr/>
          <p:nvPr/>
        </p:nvSpPr>
        <p:spPr>
          <a:xfrm>
            <a:off x="1153160" y="3708400"/>
            <a:ext cx="3175000" cy="685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Produktivbetrieb</a:t>
            </a:r>
          </a:p>
        </p:txBody>
      </p:sp>
      <p:sp>
        <p:nvSpPr>
          <p:cNvPr id="13" name="Rectangle 12"/>
          <p:cNvSpPr/>
          <p:nvPr/>
        </p:nvSpPr>
        <p:spPr>
          <a:xfrm>
            <a:off x="4328160" y="3708400"/>
            <a:ext cx="8299450" cy="685800"/>
          </a:xfrm>
          <a:prstGeom prst="rect">
            <a:avLst/>
          </a:prstGeom>
          <a:solidFill>
            <a:srgbClr val="F7F5EF"/>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Ausliefern heißt hier: eine Funktion und ein Plan. Echte Bereitstellung, Versionierung und Überwachung sind ein eigenes Feld</a:t>
            </a:r>
          </a:p>
        </p:txBody>
      </p:sp>
      <p:sp>
        <p:nvSpPr>
          <p:cNvPr id="14" name="Rectangle 13"/>
          <p:cNvSpPr/>
          <p:nvPr/>
        </p:nvSpPr>
        <p:spPr>
          <a:xfrm>
            <a:off x="1153160" y="4394200"/>
            <a:ext cx="3175000" cy="685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1">
                <a:solidFill>
                  <a:srgbClr val="003E6E"/>
                </a:solidFill>
              </a:rPr>
              <a:t>Kausalität</a:t>
            </a:r>
          </a:p>
        </p:txBody>
      </p:sp>
      <p:sp>
        <p:nvSpPr>
          <p:cNvPr id="15" name="Rectangle 14"/>
          <p:cNvSpPr/>
          <p:nvPr/>
        </p:nvSpPr>
        <p:spPr>
          <a:xfrm>
            <a:off x="4328160" y="4394200"/>
            <a:ext cx="8299450" cy="685800"/>
          </a:xfrm>
          <a:prstGeom prst="rect">
            <a:avLst/>
          </a:prstGeom>
          <a:solidFill>
            <a:srgbClr val="E3DED1"/>
          </a:solidFill>
          <a:ln w="63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38100" rIns="101600" bIns="38100"/>
          <a:lstStyle/>
          <a:p>
            <a:pPr algn="l">
              <a:lnSpc>
                <a:spcPct val="95000"/>
              </a:lnSpc>
            </a:pPr>
            <a:r>
              <a:rPr sz="1300" b="0">
                <a:solidFill>
                  <a:srgbClr val="404040"/>
                </a:solidFill>
              </a:rPr>
              <a:t>Alle sechs Fälle finden Zusammenhänge, keine Ursachen. Die Störgröße in Fall 4 zeigt, wie schnell man das verwechselt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wQAGwwAAAAAAAAAAAAAIAD///////////////8AAAD///////////////8DAAAAAwD///////8DAAAAAgD///////8DAAAAAgD///////8DAAAAAgD///////8DAAAAAgD///////////////////////////////////////////////////////////////////////////////////////////////////////////////////////////////////////////////////////////////////////////////////////////////////////////////////////////////////////////////////////////////////////////////////////////////////////////////////////////////////////////////////////////////////////////////////////////////////////////////////////////////////////////////8BACAA////////////////AAAO////////AwAAAAIA////////////////////////////////////////////////////////////////////////////////////////////////////////////////////////////////////////////////////////////////////////////////////////////////////////////////////////////////////////////////////////////////////////////////////////////////////////////////////////////////////////////////////////////////////////////////////////////////////////////////////////////////////////////////////////////////////////////////////////////////////////////////////////AgAFAP///////wQAAAACABAACyGyAXe0Hk5Il1HuM6nhJeMFAAAAAAADAAAAAwADAAAAAQADAAAAAAD///////8DAAAAAAD///////8DAAAAAAD///////8DAAAAAAD///////8DAAEA////////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CGyAXe0Hk5Il1HuM6nhJeMDRGF0YQAbAAAABExpbmtlZFNoYXBlRGF0YQAFAAAAAAACTmFtZQAZAAAATGlua2VkU2hhcGVzRGF0YVByb3BlcnR5ABBWZXJzaW9uAAAAAAAJTGFzdFdyaXRlAMpQEJB9AQAAAAEA/////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COAUTHORING_SESSION_ID" val="fc254c16-ee72-4014-81c0-05dbb4cd20d6"/>
  <p:tag name="UNDO_REDO_REVISION" val="66"/>
</p:tagLst>
</file>

<file path=ppt/tags/tag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Fußnote;| Prof. Dr. Robert Butscher | Sommersemester 2022 | VIRN/ VIRT - Virtuelle Netzwerke"/>
  <p:tag name="MIO_USER_INPUT_TEXT" val=" "/>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VERSION" val="01.01.0001 00:00:00"/>
  <p:tag name="MIO_LASTDOWNLOADED" val="01.01.0001 00:00:00.000"/>
  <p:tag name="MIO_BULLET_IMAGE_BINARY_DATA" val="/9j/4AAQSkZJRgABAQAASABIAAD/4QBYRXhpZgAATU0AKgAAAAgAAgESAAMAAAABAAEAAIdpAAQAAAABAAAAJgAAAAAAA6ABAAMAAAABAAEAAKACAAQAAAABAAACdKADAAQAAAABAAAEAAAAAAD/7QA4UGhvdG9zaG9wIDMuMAA4QklNBAQAAAAAAAA4QklNBCUAAAAAABDUHYzZjwCyBOmACZjs+EJ+/8AAEQgEAAJ0AwER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bAEMAAQEBAQEBAQEBAQEBAQEBAQEBAQEBAQEBAQEBAQEBAQEBAQEBAQEBAQEBAQEBAQEBAQEBAQEBAQEBAQEBAQEBAf/bAEMBAQEBAQEBAQEBAQEBAQEBAQEBAQEBAQEBAQEBAQEBAQEBAQEBAQEBAQEBAQEBAQEBAQEBAQEBAQEBAQEBAQEBAf/dAAQAT//aAAwDAQACEQMRAD8A/sor31svRHjhQ9n6MArACXYvuP1/9mX+X5Z+YAf/AJ/z0/l+VADgpxnIx/nrz/Q/r8oBKOg+goAWgCZDkfQ4oG+nmv1a/Ty/C8mtknAJ4/D0/P8AH+tAh6kEcDH+fb6+/wCuFA7ef/Dfp5fheS0AFABQAUAIQcrt6k4JI47Yz39fT2IzmgPyIYZvNMgxjy2Kn1z+f17c4yMfxA2tvPbW+n9f5dOaVgDkehOKBExAPB/x/qv8/wAsfMAAUDkf4/56en5YoDy/rT/h+/3iMDxj1x07Hqf8g59ujAf1/X4enzM4h4bxdxJjmDDA6bhyPT0xjcxPGSvAo/r+v6/Me+vXTV9Ft0Xd31Ta1tcvKBnndnPcdAMYz04/E+/PFAf8N9/3/mt9FYeo5b1B5+nbpwev+NA2npbb9bK+m/8AWg7OPx/z/Wgn+v6/r80BOP8AOf5f5/KgP0/r+v8AgBkAgEgZOOf8j+f5UDSv8tf69XoS7AOQ348fz3Efp+fWj+v6/r0D8fL+rP8AH7tBWI2kgjgd+QD2yOeM+350Brp+HT8Sml0S5jlyrqckD+P0xnI/kxHTOaXX7+np+nl91geml73V/VL79t+nkna5cLqM5OMDJPOBjufTHuePfNO9tV0/T/hgW6667bef6f1ccCD0IbgnKkMMD1K8Dp3x6ehbJ803f8+l1fbTuu3b3djWTSVt29LJ66/KX5ff9lu8dM4PPXg46EjI59uD0711U42s5ax5dbL7lo29f+HvvLDRvl7u2mr18tOnn9xj654j0jw5YXOp63qdlp9lboZJJry5it41RBkktKygcD168YJrKtVhFOXMrLp19dn92n6kyxKwN1TXtnt7umr13knfsvNadpflB+0v/wAFV/hX8KNM1K38AunijxdDO1nZsybtMhuBuVpkmX9yWQjiVn2nGOmN3i18z5L20VvL79n99la+i1ua0ctxWdyjJRdHW/vWk0r3vfmp2WvVN6vRpH8zP7VH7bPxI/aN17VP+Fg/E+fQNItDK9ppel3bTXt1JOGIsjcfJDb22PlkyURUwACea8DEZhKq3vvvZfC/JW62V7a+Vvd+sw/D9KgoN6ySUXq0rrRu3PLdra+vlry/m7pfiT4Rx6ncDxn8Rtf0W2guvMMfhHTLC8mlj/iE2oXEgZrpgRu2K6q2cEELu5o2qdbNdV69Nv1+V2e3ShSoJJPRXXXddNumq2VlrZ6KOxr/AMV/2fbHRr2z+G3gvxnd6ylwJrfx/ruoKJd5OGa4sreMoMn5gFzg8c5NN1WtEtF/W2qd7Xvb77g5OTtZvW/e2m+3y+z3tsfNOtaFrnjVDrEHxL8UNqlzduPsLkx2dtAeCEUEOzM2MAR/d5JDEGl7aXZL/g6Jddvld/cbRoXT5n/T1tZt3snbW1v5epiXP7Mfxw0u7i1Cay8TXsZtjrFldWzLDNcWWBJ5sDTGNHJUjKAlvRT0q6sqns04u2i7PfV9Pne3qugnh8G2lJ+9s0+e11vu2tOrsld+aK9t478ReF7ieJdX8eaHqiQ/Z57T7dbfvlC7ZFMIODvPO0/l0FcSrVoytFaX3ajfVp63119HvbS0VLWnhsHC99Wul2vLqr997d7ttmm3j6y1rSo28RNqU5tbjfFcTWM0OoWtxnKTefbkK4yOQcg5yPSksRNSfPve7vr6Lbfbe9+rWhpGjQnzQto/h96S07f3XbW979Ev5fevhR8c/iX8Pbz+0vhz4+lewvkVNV8OyBgmoIo4F1ASrbgOPNiAcH5mU52r10cdKKVmtOmiXnbRvbp8lfVS8yrlVB1+bl6t3u3bXVfFfRu32vwXN+l/we/4KZa/4Il09Na0zULhA0QvjFDHsiKy/vYopslpJAoPlzMFK5CsOK7aOdwpycZNKUf1+5Lra7vr0bXL42ZZDOpXk6cbRtHljrbza97p6SstE9j9wPgx/wAFJPg54hg0240/xjrGk32riNLq3ufKS7065ZV4njkIjuYSxx5nYcnHzFfcw2dUKq5W/VO+nnsn5/Et1ve8vnK+T4ujeydultdfvVtNvde++qZ+lngn9p1LO0tLzUJG8QeHb5Tu1SySGd4ywyhcWzSoGYDoCCc8qOtenTq060VKm1Z6L5bWvJ6q9/w10ZwToYik0pJ3Wu35/Pve1mvOP1b4M+Lfg3xVCi2GqwxNMqvBBcEQTjI/1bxSbX3Zz2GcfdrZRlK7Witrovm/iut7a2XnqnKqNaTdpNt21v1e6s/et/L/AO29Y+qpLDMA8cqN0wVYMAfTcODz6dPypKDho3e700t81vftp26Xsdqdra6/1dW8vPbruI6CThwGUcHP3vqOVP6euQMYZlJ2/wCBa2m3fru7el7lSOKWKV2hbcoGDGzcYzkkHAwf8kDigzm7Nffp310X5bejerL8U3nHaQUk7qf1I6Z6exPq2CVDJ/l/XyXzfna6crKDHcEEe/qR3A9D3/AZFBpDr2/4Gv6CkHcCO3+T+n+eKDRee2v3/wDD2/UfQIQKWYYxgf8A1+e3t/Fz7daB9/66/wCV/wCrjipXr3/z6t/P8/4QHrr6ffb9bf1cAM8UCF2N6frQAqocjI4+tADmXI4Azn0x+v5ev9VB9/66/wBf1caEORxxn1oEOZeOAOvpj9f8/wA6Brr6afh+l/0GbG9P1/8A1fz/ACoEGxvr+n9W/n+ePlADY3p+tAEpzjjr/n3H8/zoGrX1/r8H+X3DNpY5bj6c/wDs4/mfwwKBf1/X9L83J+1fQflQAYX0H5UANZScY6D8P8/n+WaB/nfV/wBfPp94zY3p+v8A+r+f5UCFKH6/p/7M3+fX+EAkUYABoAWgAoAbvHIAOc4/z8o/mfrR/X9f1+THa1rvdX2/4e/3rbZacyZb+6aAt5r74jgSeoxQK1v6T/L+vuZ6Z4N/5Bc//X/L/wCk9rXLX+Nf4V+bOqh8D/xP8kf/0P7KK95NWWq2XU8cKG1Z6rZ9QJEXufw4/wDr/wBB/wDFYj2uuvW3bt5+fp5klAgoAcO3B2+gzz/Tk/Xj0wBQPt+q79benp+sph0Hb29KBD9o257/AE9/r6D0H/xQO7slbb79fkvzfyHrwo/z159/8+nSgHv6WX3K39b+r3HUCCgAoAKACgAoAeCy9uvY8f0Oc+xH8qBrdepnzRmGb7UmSG+SePGVC9N4A784zge54wx/X9f1+YbXafXR9Vvr00a08nrZq6L8LIyBozlDjHPc5/8A1c85GKBNW0JvbuOv+e1ABQAhIH4+2f5f5/KgaTe352/r+u5Qv4jLEWjBEkeHjPT5lOQOfU8dsgkd8Mf1/X9a/ItJrdaere+jWnlr59dilY35kVWl5VmwW6NHL0ZXHUDONpIHHGBgtQS0766a6/rrbdWd9PNJmxIrbxIj4OMLkfKwGcYIPfpnoc/xYIoDWV9PPTq/1tfola+yuxBIN+JAY3zgk8Bh69uBgnq34ZoE/S3l/TfdX2a7aMsgLwQwI7cZB/X346fU/wAICW71st7O39f13GtEsikOGPPHXP4dCO/PHBPSldeX37/nf7vLUdtuz1b+b36aq2n3bkbQSxtmKTHPCsCQPXIG0H8+eozzuf4+Xfy1t+f3E80durvs9mvl1fmt9L2Q3fOmd8IfA+8mfxOO/rgj8RjNPllba1uj7Lpa/wCKb+egJqTsmm2/Jfd636Py0sZ9zqFgD5d1I1tKOUfbg5Occ/LwD6Y69gWDJen3+X379uuidtOW3GS6NLRa/K/XS/z6aKyGJqUDgQy3MQDH5JlP7sjP/LQn1wc/MxAx/uU+SW1t2np66Lyt669VHTmh1Ka3kk773tq9b21Wltr2vda7lG61SztZGCSP5qKXe5tJA1siYyTOcqqAAndk8KO2Bu0UYU1eclHl/m0vbW+m33X3epk8RTe1SMntZPe19vhte3a/TS95fnd+1H/wUp+Ff7Pn2nw/ayr4z8YRRfurHRZ4WtYZDkKL2dJd6EHAcADv6Hd5WKx9CnzpVYJ9Ffy07rttZdu500cvxeK0pUajUnZySuoq9ujTsv8AE3bZ9D8EP2hv+CjfxL+Ot3NYapdWWlaZHIZrbwvp1zJDBDFk7X1GdHWS5O0/NG67SQeQCQ3zU8wlNvVO+j8rP5JK6a0fnpofQ5fkSwclKqpV2kn1Wu7V5Xd/w1slfWX5SfGr44aam60ud+papc8i00v5LWNOyMqndvJ4JOTz1A+9k6kJv3pr9Pv8ld9G33krn0tPDuSXsaLpK2miez9F97672taPx/rHi2TUpxPdpBpMZQmLRrW1F7dSt6XHmbQpfJBPzf7pwq1hXjRUbxkm9NE9dL/j21Xr/N3KhLRNPVau3kuq2s/K1+xlrpVhqE730/gnTYYvI/4/b1zGhkHO/wCzBQgd+pxjrgdt3EqnLa2ltX5/na3pr1uQ8JHXmdurV/Rq+/d3bS720cTX0Xw5ZXIAF7p2nrNIuLaMiaHG7sGOAwAO392QPwIXVVaL+373bW6+96/c30bTfKW6LSsldaK71Vt9N++m197Pc3bzwzq+k3Lvo+sRzLCEkhhmhhDEnbynlgZCnnrwOBnJquamuuyve7V99Ho+lu/fR2U8pRnG/uvlb/rXyXl53j9qfXfEvxC1XTH0TWtev7ixdVMMbXNyhseAMWkqtugiC8GNdqDH3P4aJ4qfLyxSklondei76J/n8SSFTwinLmlJq7T/AK91X10slprdq/u+K6j8FbfUZkvP7ZupLxlMjJPIzHOM5jnbLMewBPvz/FnGo9b2s+3r1Tj+TdvPQ6pYSmtpXl3u7vzX3d5Ls9zHufhlqNnp88cep3DtPlF6yGN4zn58n07kDA9cVbjGVpaK6ey1273jp2Wuu+1jbDYeEZNufL5vX8m+1vtJ63a2Oa0jQvGVjN5tjay3qWcv7y5hWRZIip6hkXI3AdG3DHfoGwlTvqt/Ldfle2z1+4mtSg6l4yTW9/RdtH/5Mr9Oql7Rp2sapqMNst4p0i7dhCt3IubOZs/8vUZ2hXJwPMyp79RlcKlCnZyc+We1uu+j6rpfRR363NoNXSa0Wqlo0/8APbVc23a9o+j6J4k8TeFNQge+s1eAuFF8of7M8Z4WSKYbFVedw5OPcVzQcqd+WTaurb/e/S3XzezYqtGhNXlb0/TVfPpvs7rl/QL4Jfta/FX4Pz2t34c8RTajpbOlxP4d1OdrvSb2LKsY4o2kdUfGdpVTt7ZwDXq0M1xFBcqb5drrReiWuj+TtdNO9zxcZllCqpyhFOTTdrevV+vbS+8vs/sr+zn/AMFQPhF8SdQPhf4seGP+EC1iSKNdP8R28i2lok6/8s3l82E4dhtWTG4Dsed30uEzuLUVUnZtpPbr027+euzWzPhsfleJpTlKNGVk9tk/N9NLvS0er7I/UTwv+0TqVvZDUPA0l14x0OJfOezW5F1KtrGuRPbyRtKzq6jI5A754r3aWKhiI88ZJpaaaa+mlrprr5trTl8tUcVJtKLWr79dLXd3ovk79NGexfDv9tzwP4saWxurG/0jV7aTy7mw1QLDNGVOxyqtIHZd3T5eg7ZIrVVIt6a7df8AJPbrtfox1cLjKUFKcWo+T7/5aLbyTl9n6e0b4o+GNWIaCZsSqsi8JjJ9MSHIwQOSMHtWii7X8t/v6JW/Bd3YxpVU+ZSk210vf5K67rez872R2kWrabqQDQT5bOFYEKcjHX7wwc4xnB6cZ+VX/r+v6+429pH0t281ttfTq3r25dpaNteRs3lzMEm28bjjzFU4yo4BGPTHTnb0pJ37+vT/AID+78nK4VI7a6v8/Pd9Oia8rWNEEHGDkHOGHI47ZHft09ueaf8AX9f1+RvbS6lF+Sav92+3l9w4EZ5GewHTn8x/X6c0EKX92SXdp2+/Tt6etrj1K7sBWBx17f8AoTe3b88fK+39feV5/wBa/wDDdvuFbHcZABOScAD8P/rfoSyLcWlq+q6f8GX6fPRCLjIIbIOSMdD+Of6fgtBP4eWv37bfNv1+IkoEFABQAmRkjuP8+gx19T+FA7aX/pf8P6/cLQIKACgAoAKACgAoAKACgAoAKACgAoAKAEIB579M/wCf8/lR/X9f1+Y77eX9aiAP25HuCT+n+fyp2v2XzS/P+vvQv6/r+vyFGe+M+2f6/wCf0pAemeDf+QXP/wBf8v8A6T2tctf41/hX5s6qHwP/ABP8kf/R/sor2DxxcFfUfj/WgCYdB9BQA9Vz9P8APuv559uP4gB6dPxoG9G12f8AXf8AP7yyn3R+P86Ae/yX5CFMknPU+n/2Y/l+VAhwGBj/AD/M/wA/yoG9fw/BW8v677i0CCgAoAeqgjJJ6+mf/Zl/l+WPmAJAoXp/LH9W/n+eflAEKgnPP4D/AOyX+X5fxAChQvTPPtj/ANmb/Prn5QBaAGuoZTn09Oo9DyPw68/lQH9f1/w/3me8ctsTLFl4znfAOoU5+ZfmOSuenfByVzlT+v62/rvaxS1adnpvb5dvPsrq99bF2KVJEDq3HTBPIx13Dgg545HPtzR/X9f1+Yn+T++/ztpbSyX5c0uR+fT/AD3oEIcZAJwe39Ozevp+ePlCk3HX5a6fpL8tPO/ut4J6lxnBXHX19OO/Q9ODQUptOzSX/DadNPv8/dtyywbm3NpO17AQ8T/Jcw5wnU4k4zgg9SV7EAnOWNOv39v+H237bjc+bSyVt2+nyaXa33aKyLKXsNuQZJkSMqHSOVhjDdWR95BHPctjkUfl+H9b/d5HLOs4O0U/PXT18rq2mjXW+nLL/bGmSEo95bBgeUaVA2fQZJOeB0+uAMGiM021fyvo/LqrpdPPZPVImNZyl7ysl1v37t7tW6Jdle/u1bnWrGy2st5HJvOBErpnPXGTnHAz2z6ngVraHRxXq7/NaJrot38rmyqxVmnff9Pm7b6Py0Gr4gtJ/wDl8trMLgN50oJxwc54Gee59eTgrU/u09Zx03699lq9Ntd79LNCni404OcoN8urSV7+SV9P6ty7Bc63o8Kq11r1rAGyATPDGhx1AZnAHHueOeMmoqVqUU78vbdfolbo+v4NmUMypT1VCVm7fCte27ls/P77Ll8/8QfG74N+GFmbXPiH4btDbjdMv9q27yRYHIdYpHKk85B69zniuR46EXrPTXr/AMF7dHbXydhvGRkrU6MlJ6RajfW/lZd9dntyxVz5s8fft8/s1eEbQ3N5r19q9vLuFvdWFq0tnIRnCi5ICnkDJD+wJqZ5ph43V4bd12Xm90urena3u606OLq6csr6raSv5LR/+TdHZpbnwv8AFb/gqR8MLOynuPDM140YXMdlugG9z91siTPl4xnpj+6MVw1M5pRjJqaUrNrW7ulZN7K17fy3v11ZvHJsTUlFNPlbV3aWm9++3yT1eibcvyr+N3/BWL4n+JtO1Hwv4cl1HSdPuBPC13psvlvNFKuxUV1LsrruOSSAR0JwK+drZ1XqJ777a/hbp63a6d4/RYLhRTkpWvu3vbfT7Ml2ett7PVtx/KDxT8VPEniO8ub6fzWvbwH7Re396HuGOckuZHznJOCMZ9Sc14tfFV6kr239b7+e3X136I+yweXrAxUUtHo1p53sttn5afZe0fFr/wAS6ik00kV9GL+T92JgQACP4RIzFGXjHGAfU/KahOs18MtX+Fvyfml8tjqqYaK96/m9tU7dLdN/ne+tzmmkbWLwTa/fadp0gVovt5McjO4+7hULYDc7nOMZyOmVd638srfP+tf09SoPl28tb620av8AF1dtkt2+xzOq6ppFlM9nc6fJOEBxqdk8Ly3Bz8jITuwMDJ4GO/UbcFiJPS0rp289rv77dV9w5TV7p2/Fu/lfffV99FZNHI3mraCsTsZNViuGJ3i7mXyGjxnCbdyh9p+XJ6+uQV0jKcrN6fPW3btfW9uXy195GO/S976Lz0v3V35+SUbrm8wv/EdvZea1g10UZ8q8spG09yuzGfQEDtnAyu104uMnLrfZd+mz9H8K9G00W9YpdLL7ld3tb0b3vsktOaBfitqMFv8AZxd3HnIwHmkkkKccIzEnHTqpz7dK6rcyslrvrfz021enTZO9+hjUd4rz0va2i++9mrX07pu1ja0/4rahtEEuoPjZkmcxNvA6gkHIyPQ555Peq5JK3ku2nz327NPvpsJVLJKz026ev2b7rq7rZNnSWvxPSZfLF/E/TCPgMp9FKkYGR3GBkdeKOV7/AJq1v+Hvpp566DVVdn59Lb6LR6av7tn9retPGmnXKJHJN9mug5bzVdZFdP7rAHofZffHJSpdTlunfyV+uvlol1T5r/gbxlFxXot/LXeyX4J9r6809x4utNIvoJrHUxp8k2zdkK1nc4ONkyjnDdCQ2QOu3GKXtF2f3/8AA69dPu0iJ2la1r/df16q3p9+gzVPFtve6qGurC2tFlaLz4dPmE1nI563QUlmXzAckA8HkZx8surTvrvbbutrPvd9LJvpe9o1FqK3389/z62t22dtWe7+CPFmgadbS+G9eZL/AMP6mFZftKg3WkBiP39pIflaE949xIxxjpW0PYyetrPp2X9b6+StoZzkk/L5X08nyvS9ravTrdOV7xTaL4SuYdY8JXcXiTwmVV3ggmjkuLYn5mZERlZDgnKk8HcABnDOdGHLzLVX9Ens9LtemvrZtEwq03K0u2zel9rfC9fWLv2ir80lt430LXI457SWZJEAW6gdSJIDjgbcf+PdiM55xXOnySerdu2mmvq1rpvf1ui8RQoVobJJrpa1/vd9l1110SVz7V/ZH/bc8efA7xzZS2+pzaz4ftT9nuNI1K5cxvZOfniCllAKj7hJPIxmvRw2aSoShTbdpa+V726799OS+/lH5fH5RJSU6G0VrZbu+jer3tdaK3Tc/duy+N/w0+MmseFPH3gWC10zWtRhjh8QWl7sgs7V5F6uwdQ2JSdrKcY5yejfZYTEQnTjK+6vq7av5Pp6efLsfPVpST9lVi7LTTTfvfXRJpXd1fS9zsNN/as+Kvwm8Yal4Z8S+DLHxBoYdRpWoaTI8832SYgQyJiQLIu3klCeO1bvFRTtfS/l6+Xft12V2zzquEi7SppJvd9bdO7d79vv1PsHwP8AHXXvF2ltq9h4isNAe3dzLYX0Ega3dUDrFdBXBCfMAzBuw5JGa6KU4VHd7X22umt9dUrXd3e+y3vHkdCUet/N37f8DXa1+v2fVdK/aRi0+3tB4vvbYywoXbVtJuIb2w2o2F8yES/aYEdQMu3Az04JrsgqaT132/R/fLra/ZNtHNVdSna1F1IvWVna0fna9/6vex9OeAPiFpfxAtI7zwh4l0q9GMzWRuopJEbgnKxkts468EcntisptbaN6vp0627dO2lrO14ujLC392fs6r6e81e1rK91076XaV2j0RtQ1q1IS8tIyueLi3BZCPXnJ98ntkgDOKyW7/H1/q721vfU9FTxjSVerGdBfDZJXd9Fo7qy729Xf3dO3vmZQWUTAj+BgHHP908nHIAHJ4wTkBWNyi9V322su/TT5O23Rs0VmSdWVHIyNpVwQ+4+q9eDj1wOcnOafr/Xru7W8vS4k23tpZ9Vv1tq396v0925HZPujKHlonZSfX05z3B7DAx3z8q/r+v6/JlNt7/1v+b37PTqXwMkD/P8x/P86BCsu3Bz1OOnc/8AAm9PT8/4QBpH9D/X2/z64xQNafj+Kt5/123IIm3PL/v/ACjjIGTx78/54oCytv1fztb/ADvt99ywVI6j9c/56f5xQIUKTzj9aA/r7w2N6frn9KAEwfQ/lQAlADtjen60AGw+n60ANoAdtOM4469aAI8/7LUAKT7E/SgBR+P40AFA7apd7fj8/wBV8h2xvT9aAsv5l/5N/wDIP8/vHqmOT1/p+Zz+Q/GgbatZbW1fd/g9+6+7QcAAMD/P6n+f5ZoJ/T+v6/4A0pkk56n0/wDsx/L8qAPSvBkY/su4yT/x/wAvb/p2tP8Ab/x/ovFiZNTSSXwLrbrL+7L8/vv7vVQ+B/4n+SP/0v7MK9g8cKAJML/e/wDQaB3XZf8Ak3/ya/L7iSgQ5PvD2/z/AJ/+tQNbP7vxv+n9XJqBBQBIoAG7nIzx/wDXyf8A0H8+tAChQ3zHIz+P9Ux+X8xQAeWvqfy/+2UAOAA4H+H9W/n+eflAFoAKACgBwUt07e2f/Zl/z6Y+YACpXr39sf8Aszf59c/KARO4RSxGVHX8eKAtcRZ4mAVXTJ4xxkewxjPoSenvyKB2/ryt6Na9Nb+m5FJaYbz4CImPDDCmFiPUBsH1H1xu60du/Tv/AF/wO6HfZed79dbN97dVdJ97JtSAXKqQs6mKQeo2qB/se3X1z14zigTVnaz8n39P60ukWdu9d2cjBO4YJ4z7nHQ9cDg43YJo/ry+/r+LXXe8Ym3FJ+fXT+vw/C0uW1jxDp9kxZbtYpogAGZlVMjs24gE9QTk4HTbk0XXXy/Xpu9u1rd7E+0vsk/+3m9P/AV1vqrekrNHgfjP4v8A9iSOlvDDqMkzhZF+2LFZIG6kspLSZByyLyAeM4yyak1s9WtWtd72d+Xbbre+qdryuMpOV3DTzvrv3su9rL0TtY+ZfF3xx8QeHpb7UtS1Pwta+EPLJk8zUA1/YTSfeigWVvMCKeTGVXBbJxgBalKnGHv1IQ06yir+t2tvNPTVWuYypynPSnK191e3zSv97tbS6ejPz7+IH7WGmaJ4w1F7Lxz4q1ezvkje1ey1nTtO0CwmcSbWubqWVpY0XA3bQz7flGOWbxa2MhTqO1WDV3rzJXWz2u9n53t9lo9OjlvtoKMU2201Zaqz1827emvdKx8L/GL/AIKHeNfA91dL8Pfi0ur37Sb3tk1Ge/FvddZIUuC7QyIpG0Ou0FuO4C+XXzaUE+Vtv+69beif5XbXVac3p4fh9za5lJdLtW+S9223mu3dy8E/4ei/G/XI4U8WeM9VsyqFpH07XJHJhBPm7rGzSNY5ZF4QyysVP4FvJlnuIU7cs7N2vaSXp5O6dtdN1e7PXXDNCNNykuZJXcVaUnotOXVNu3a/dOy5uE8cft5eP/Gl1pltB4z8ZTaXChjWKDV9UXzIio25W1ZW8wtksWZvcgDCw84qyurvVvq7+t9NNvmr63aKoZDgrpPCzSTt/CT17t+z0u157N6XkzzSbx7rc2n3Emoah4huGvn82RozOHUOd2y5kuLh2lOAMktnkgqcYbCePnUuotu9/wCbtpvbS9raXW/vfa9mnkeWpN+xV4r3W4QXnraz673t16vlyv7T8ceKNLfTZfE2s2+nKHNhbLErwx4GFDXFzcBIP+mhSPsWAGDXNKVeX2pLXu2367rrf77Wd2bxyzCU3eKhe6S+Fdb2er84q0lvbpFnmV9oGk6dcwp4k8fW7aiNoe2ivjcSRqW6SNEzRLt6nj25wNufJOT5pVba3acrStfe2m935aX1TudscPRhG3s4u/VJaLdPvqtUt38ya+l+E2m2ybvGL3N1gtLHaM7lsc5eP5mxwcso9/myNvSnTb0cN91LTfa2+r+YRrKh/Di+2i/Oz0vfo/W3xHIf8JH4BnZAmkXd/ACyPIVuJTMM/eb90Ngx0J9eh4NX+7XLdaryWv4rd76XW6vsZ1cRUm7tS012fRWezlv6q+2lm429UsvhVqthun8N6vbMsRMRtftEQZzxnLR4wMgkAj04zlejmgtrW6ptW1/8C1duva+urOOpiqsl8Lv5Ltur8z0fnb1d7njsnw1+GupXe268Q65oznMkawx21w4XJ2gxzSqWxnk4+bGcAD5hzo7aPvf0vpd9NOunfVMiNStLRwn0+zNL8brb00drPRnP6x8HtJuZ1j8M+MdO1owBnSw1JH0a7mQfeTz43e3Mp5HXqcjgmpeCpfFHlbfvaPa9r3+++9tNbNHapJ2bsnpdNvTTXSyej6W02tL7XlfiT4f6paW04m0LUgqZAFtHNqKMQcfJcxPt2nHBJ4B75NJ4ey+Faa/DrbyWl/uV9le6NoNNaJPa9vTfzaf9aHj8+gX3zLBDdLsz5tvgySxj0kgf5h6bRjjp6Nz1IJbR1XbR77W126aeeuiG7NWWvS1rWs9fuT3exx13pl20j28QhWRT9y7iNqR6jfIFGfTGT2Jaik19q3Xe6atp3W6t006SbaOerKKupNRfna+6u191+272Ryt7oWqLHNJeabfrCoPlXenZuU3Zzx5W75BxnPY555Vd21e6d0uien3/AGr9LL1vZHE6jvdKTV7Ll1i/TfR7x++71UuIk1K9093VbkkRt0mTyZQFPAfJyDxzlB07cmqUXvaTv6v8rrR6ad730tKHWS35lZfdfvt1va+vra5oWHje/iBM22RAQPMVgTHjsDuzk+//AH1kVLoyu/ddvNfi1s0n6b3faTWIkna7srt331+ffXpo93f3e5t/Gv2+0SC9I8oEbJThWTPvkAEduc554+6sOnZ7JPrpfbZXXM/ujb1tzR3jX2fR3eruu+u23bW3TsWo9WUrm11C4VkIEM3z4PsSSQRnGMluP7uBXNUw3NNzu1st+Xb799btP0vozohUU435l1dtl69Ura310873N/SviN4p0i8hlnih1KGEFTBMTILiIjoWHTjsPcknkK4UrX5ZJ6389162d+67LXYym7u+jS28/wANNfP77+73+mfGBYjhUl0iO9cCeGKZzaxZ5IA3fLz1+VR7cHb0wUlTas3dvv6bczd7f09EVGlCes5qPleza77a6+ttLJXfNHdeLdQW/lutI1JF3ANIkbDE6dQylThmHJK4yevGM1iqc5P4JWd3fb5beSW/33sDhKKdpXV+/No+1nttsvnrY1F+NF3N5ZuYxaXtmFi+0wgxGRVOcyqPvE9ejZHAHJqp0E1e2qV42W99V2f37K++wliHFSp8vMpXbdtmvV/O1raXV/s/Ufwt/ay8S2jW2nt4gexiVo0jlhuJIgu3GN8YkUPnvnnOc4p0MZi6UuXkny6bbW6NdPwt994+bicuoYhuTaTlq7el/l3WtvKXu8v6feHf229YufDmk2+vCXxBLpyLDBd6ffKLgR4xEJiSzGJuA653AepANe3DE+0t71nppt1Wlrv7tO3WxwPLadG99U9F2tbRp2k7ei301+z7t4D+JfxSi/tzxbp8PjHRZZLGHUV0ezgfUdP1CzlbJkeGdirRJCC+FBz3Zc4r0aVepFXbdnbVPb5PbTq77NpN6HlYjDwcuWMo3u1ouq+9306LXre57v8ADn9tb4hiPU9RtPhPoPxX0Ow3Qa2V059J13ToIVwfttkmVZUb5eF2uADyciuuOMqVPdjeTi9du3p2uutvO7ZyrKsbUUnQnCilrNVIRnzrsnry9fes9+mx6FJ+2D4YtrzT/FXg/wAKeKvgz4vvTDHeaP8AapbPStRjlkCK+nvKYbcOGwxi6SZ25GRu7ITqOzknpd38vWy1e3W2t3oedisF7K/tsLKU9PfhJQXrs+itpfd7XbP1A+DP7dPjuzXS9K8a2UXiaxnhth9rWJLfWYIpVU77q1DukyhD/rkJBHzDOSa2pzjKVou7u/W35N31vdvpd25Tx+WUZvkjONt4Obemq32SV+qlezTWh+mXhrx74Y8WWtre2FzFYzXSI6JJKixyyMM+UWyBFKucGI4PPG7k11qhWauoe7te67f4lbW27fbpc1p4iMZKFR2turXs16XvpbW6ut9lyd7v3MFk8zzFw3nR9VAPyklch0PTeSN3BBYms7NO3Xs9Hrp5a+X332PSjOnKPutdtFordHf0u+X5haTvBqMlvOuFlQPFL/yyl9dp6Bhjnhue1S5xTs3Z+fV/169+tow61Ne7za32tbX/AMBWid/+Bax0XAG7bjBxxjI4z2zjI74/PmqSurrb7vw8/wDht2aqLa5k1a19vw3WvyfbpzDHZNgZuFzxkgZI9DwD16c+nvS/r+v6/MVt/L+tP69CA3KbgscbSZ6EKcH8fb3x7+jO3n/X3f8AD9HdNC8v6/C/4L7xtuVDybl2tvxjoc8kdx9cZ+ucUn/X9f1cf9W7fnv69NblxwThcEknIxjn1x0zjOTjp3zjFAW28/0/p9fuFUYAFAP9F+CQHpQIbtJ7n/P4j+f50Ah2F9B+VAC0AIeh+hoAi2N6frQBLj5ce2P0/D+f5U3u/VgM8v3/AE/+2UgAx8cHn3H8vn/ofxxQPTr+Cv8A1/XYBH7599v/ANsoDTs/vEKH6/p/Vv5/nj5QatdO9rW01e3/AG7bp3X6yloJCgAoAKAPS/Bv/ILn/wCv+X/0nta4MV/EX+Bf+lSOqh8D/wAT/JH/0/7MK9g8cKAJ8L6D8qB3fd/eLQInHQfQUALQBOvQfQUAM/5afX/D/P8Ak0ASUAFABQAUAFACgE9P54/z/n1oAeE9cj9f/Zl/z6fxADwAOn88/wCf8+lACkAjB6GgCu9tASA8CNk9wwI9wRwPxGOO9H9f1v8A123H63v/AF/wCF7ML/qZnh/2dzMuAOmCccZ7AZ7KMmqi7Ju7vb5evXZ/5aXuXTtfXZNaf1bX5/cRyrJDE7SXUbJt58+JdoUe/OR0+vt1qVHml2tbfp59H5NK/S+1iKlZQfR2dmvv39LPdpen2vmv4kfFo6PqK+HfDcc2ta4R51xZac5igsIVPEt/PlY4lYfN5YcsV/hJyW6ZxjyataXvba1tb76XWmjt5amLqRqO07pfEnru9kv01j6tfD8n/EH4sXeiW1xqXjnUfDuhpOojtptW1YW8QiY4f7JaeYHlmQbgJGBUvyG6CvPq140Ve6bXW/vWa2XXpvdb2a3ctYQ5f4cea1raW8vPTrv9n7N/d/L/AOMn7ff7MXwl1S7h1fxl4j8R/Y0kkK6HcRXMZu5FZpLcShmMeCNqlPuqd3DDavnVc3cE+V9la+m23S/3+Xvac3XSoYmq1H2bUb37vRtaaN636taabNn4G/tN/tyeI/j94rnuvh7DrXhPwzGk1rZRQveRR3amQ7bjVZrmaNZbmTIBaJWTAwMAHb85jMdWrN6O3rrun/N1/FaNqzcvq8tyyMl+9XTdpP53aWr1tve/dpnxFqVr4v1hZJ/EPxkstCV3Uz2Umrzz3c552xx2sRORjjAAwRgYwQ3kurPW/Nfa75muu+l/m35NdT6SGW4OkualZVFonZL5ppN39FrsrWLWiaPoktwts/ja+vbcFTP5cfltcEYDSCVi0nPUKx5A+78pVodTVaee/wA30XS3fX7Kb5TojSUYqKto1bS9tG1dqSV9tLK195WPULU/C7wsz3eo31/e5T/RrF5cPeTL92J3VTKQ7HBRFcHONw6VM5Nx21a6a9f+3ey3XfRW5pbKHLZ207/lp3a32tv1bl10PjK9uLSK+ht9P8G6REjG3SRUGoSqPumOMhpiXHcoMnntlebXz9Nt+2++17eWty+ZK21rXvpdtrT5JaL4ku2zIL74tajLYiz0PSUtgilrrxFrd1JKZD82ZYoH2IqHPAQH05yKpcyadmrdbfr02sn09Ewck007XezfT8Fbvvpuua1peS6x44ub6SN9V8Yapqal8mx09nhsXI6LGYSjbR0weGBwducV3UpOXkttG3+Gi7taPvfQ5KiUeuzv5aNdr31321ta/unKf8JBJf6i9ukctnHn5Hfe0jISMElmMh4P/wBcYxSlQUn22u9r/hK2+r7d9yY1nCLst1ddb6eT8t7a3tZaqPd6N4G1vWLpY7fWJYFljaeKK2itJJpUHLJnz2uFJIOQ6KV5B6fN1wwlKFrNX7pr8Fyq/mr97J35TL2zen5/PreT8/O+lrNx3tV8KyaYETV/GFn4VCKP3l/fSXFxOPUaVaKzMTg4DgHPXAA251o0Y9VzLz9bXdndu29o7dAVZvpbXRPR6rTu/vWl+tw0630cMG/4WHPfQLw08VpNCJAO6wB9wUH1B+g6Nzp3vpotE+j136Jv07633M3pd289raP7uiaVrdrtu5rNB4Qmkllu/HEeopGo8q2jW2sGRv4VlkuQt0y8YPktH3y397oVBy1srvq/P8Xfz+XNdKObxXK7e+9VotXp13W762flszkNR8URWLtHBY2M9qkh2tapIZ5Yh388TTFmZckkjkn+LIqqNRxlZbJ2aTdr7eevbTS2ty6tOpJJ3aulL7+i2v8A56tL3nHOsfEWlao72uma1PpV65O+ymvXWRs9QElHkkZ9snODjPy9E6j5dfuT38r8qtp8r9rXM6U60dLv8V93e6/LyR5r408NazZme8iEWqq/LhSsU4B53JcQnh88r159cYrklC95K/f/AC1utdGr63evSx2Qq3sr62tdXX/Be/yS1um3HxFpjdzy2f23UNK1EAhbTXo0ubefH8MF0VBIYghcknGcjjdWMqd3v6W6/Lva3fptsOrTVbXf7muuuzT+cV+KRzN5dT2EkltcWl5p1wAT/aOnzzi1l54bhJUO48ncFXnPGBW8ab5VK1tLpPV+rfu3T+b6apty5XT9muXt7u2tvzf3Ntat6tRwrxSlv9ouWsNZWcndDJAFvRnsZFUI3fkAZ9CSK1jUcVrfT+Xr6rT8/W2vLhUhfVa/JvdLbXp11S6aXRylzaeEb0NBNaXOh3bZw1rM4VDj+OGUbW57IDkdM1ftr6Wa7/LZ9d99Pwu+XFJqT9b7Wt0+/e/XTW17zyJ/C+r2kUk+h30euwKpLxQD/SUUcgtBgsSAOQB15yOBVxipb+uur19UvPbbstCpPZbO9k+lui2337t9WmytoGt2AkbT9UkvLG5UNvLxsBvB6NGV3JjuSBnsRwaHQUttOr2ta3l/nb1bZksTKk3DtZb300fRxWnW3ztZqXZWNldXqTf2deQXapudHgnhjuo++THKwMgPUqoY+hJBrOOFkuy083v6JW+XzSN44i612VraNb+V5Jr8PPV8vO3d7e/vYpcechZXkMSqz7ezrkKSScfKBg8ndkVpKPK7aK29rfj5+Sv6uzZvCcZJtS12Wu3n203V38tFzV49Qnjtl+z35guU5NrMp3S45xbzAsqDOfvehyDzU2/r7/n/AJfca1K/uNJ29NPk/i6dHa17q17RrSa7qIkE0vnsCcuSAWUjjDEZBABHJ3ehznCrk5nfXS9/+C3+i+6yOFVnr/V7eV9b6PdfI6vRdQhuWDQatEJHw3kMSkiMD0JwMevU+4HWh0tOvk1r126efz6O9hus76v8nfo27JWb306Lo9I+v6D4o8R6bIi2uroiKFZ0N68fmAc7Mb8A5I4wM9RjjblU/dyi1e1/R+n2t/XpbS/u6wSqwndpWWn9N67+Tjvd6cv3d8If2tPif4d08adpPxEvLG9SEQyadqt4bq1uLFB81tDK+8pGUyuz5Tu4UjOa7I4qTilr6aem/Xq1p992eVVw7U+Zeemmjt0Wi/HrZ2abPpP4c/t5anp9/IusQ2mjX9xeQyDVdFhSC6lFqdkkM8oBjkiuVB3eYr5zzjA2rD4mcJSd7ptJ7dvl030162sjOtgMRilT+r1HD2d3JL7V7WXxWTWu7e2yv732b8OP2srj4jWXiPwX8QPh74f8eeDNfn83QdS8QMmlrpckjZM0GtWpRraaM/OiO6KewOa9yji1Pli+mjb+X49NV21l9ngqU5YT+Peqlve1uz/m2vbS/wAj1vT/ANlf9oLwbI/xo/Zb+I8fxD0DT7F7/WfhxH4hGuT2BEfmS6baIJmunSDa0SEhs4XB4Arr9nKr/B+JWbt+LW3yjZ+ujFSeVZq3h68lhHD34TfN70lol7sYvZ6tu3k7s6j4C/8ABTvx34I1ZtP8X+D9Q0jXNOuJYfFngrxLDd29vfGGfy1ltLj72nTuWAW4eNUG1SxAOVulisTRly1G3HRXat+GmvW2t0+h4+OyXH4eUqmDputh1JtSjGHw9dZSbVl+Gq1Vpf0g/s4ftb+APjVpunjw7r9tFqzWsN1qfgbVdVtJvEGiNNGjEWk0UzDUbRTny2jbLIFOwEsF9elVozhfaTa0d73td2utNb3vda3ukrS8SGbUaFR0a0HGt9pSbSXRrlUJp2b62S89j7STU7a9gt7qGdJlhcZZHGIyT82QANvoV+8Cp4GBWc4qXvLVXb+V77/do47ac27PSp18NiLOKW1rtyevW2nR9NF0s9eXqIbkeX8z73IHl46S7h8pA4JUDGeenOP4Vn+v6v311vfrpoVeSlGKb5e1tH3b3fTfzu7asetu0j+ZO/md1hHCR/THbsRg/Tn5Xu9Otlb+r/n63saadEtO/Xut32stV6394l3oHMKkxOo+4O+cnI6Z9Tg+ud2PmLd/6f8AwPw2fQX4ddOi06eXnLXbR3ZXli8wyKGCO65Rzz846cA5PXHfgZwM0v6/r+v1D8fzXp029bdNrxbp948yPHPgXVuwSReN3GB5iLyArA88nGACQCNp/X9f1+Q7a2at+K8usnu9lv5NXNTIzjv/AJ/L+v4UE/p/X9f8AWgBAQTjuPagP6/r7haACgAoAKACgBCQOv8ALP8An/PpQAv9ef8APp0oC39fd/wPT5hQAuD6H8qAHqmRzkH6f/ZL79vy/iA7fj/Xp6/pFSg7fyz+u8fy/OgBhUg9/wAv/rn+f5UDt5r71+omG9D+VAWfdffE9K8GgjTJ8/8AP/L7f8u9r/n/APXXBiv4i/wL/wBKkdNFWi/8T7Pou39fcz//1P7MK9g8ck8v3/T/AO2UD93s/vJKBD/LPqPy/wDtlAEg4AHoP8+v8/zoAmUDaOB+XvQA+gAoAUKT0H64/wA9f85oAXY3p+tACYxwTj8/6K3+fXnaAOA+YZO7/wDV9T/P8uaAGj6E/Q4/9lb/AD65+UAkTvwR068+vsv8vyx8wA+gAoAKAInuIoxtyXbuFHOPTrxz3AOfQcKytr+K83qvyLaaS/4O9u217aeVrkDSzFSyhIogCd83JH+0eSBjn8O5zT1+d/8ALX5a9vwvJpu0u/rt+uz317O1ve+SPjz8cLPwZoerPE7y3FrbzCJmcpb/AGgAjzZWHAgj6nJYcZzzWVWoqaeqbWq1sn8tHtftbpf4zgcXOpy6u71Xz203v5dOi3l+Dnx0/wCCjdh4PtNR8O+C9Qi1zxMI3u/E2vwEpbtcuxcWcc0chdksx+6ILYJXaQK8Ovmbi21ok9Nfde+/R6vf1dpXSPcw+TyxUVZPTW7Vnts2+662XXay5fxE/ai/b91bxVqcWreN9WbX5jp6w2OnadcyiK2GXWOGZTJIvmcljsTcP7pzXn1MXKq7Xerb1vrpr1T1/Duro9rDZOqLTkr6q77/AJr70r7X1R+XeoftAah4k8Q395pWiaPokBy8smrRm9aNcfvJIUlZVaY8EEcZxyAM1wTfL7zTtezd7/ddLX7Ore2ybue57OhTi7RSdrXs7vu9Nnfzv3UX8XmXiXx14n8R3tpa6TeX9zJEJIkEAdYdzHcz+VFiNYx2BPHGCCAKlVYWs4p76vS/p6rTbXy5jrox9olytLa/Ta/+F3trHz+y/ilo+H7PSIUf/hLDLHrR3f6Yk48xGI6Nu3FME4yuOD04JXhqTUp+zs923dOyt0T00fr5u9uU2VGpSkqnO5RS2vo9NLq6u09dXbXSybR2Wm+Onuvs/hfwhpQurhJW/wBN8vdz/wA9riVRzjG7k8Y2jORthwXf8Pv+1p9z7u9zohVvZWbfnsum9lo1vqr9OXQ7bRNI+wa0dU1e9XWdYtwPJMp/4l2lnAaTapJzIhztO5fmxknoqcLJ66+a0/8ASpd/u0V94782mrbte3XRNavz8ldW8rOPUrJFczXWs6rqgeJMtDBMwkuJSg6Rqz7Y4E4PCkgKDkZxWaXXd7K3Vb7p2u9tnfdf3Z5ou1n+trWtLvs9rdV8Wpx97rtj4jaeWbVZFS0xDbabHlVuyD8u9FdiVGDkkY7c9VpQcmrdfLdee3fTXvfvFOW73tqr7XW2j02eusdttVIht9MktmGpXt5Z6XA+UFrHEJLqRf4RDGHyrtgcsp6dADmu2nTjGK1Vrp6f8D1eqjrvpe8eOdWU9OXTpbVW++zVv8PmpfZmvbg2sP2iLbpFs7HGxBea/dkjiSNPlW3U84JB29cHjdFWXKnZ26JL8299b/dtZe7G6cU4rmsk1Z3S003W2tl3aT+zpc6DSPHep6Xo01p4dtl0W4uEcXOt3Eb3HiG8R8ZVr4sn2WNgT+5hRQvQ5+8ypKq73bs9776/faz06beVhezglrJW1avZ2v06flK++lkcjcw65fpJN/ZOr+JZpBue4+zSXJY5PWaRWKHHHDY9iMU5Yed03d3frrs7aX8729FfQFCn8Skrp90/PTtbTW7626xjtaQnjayhhns/AGqSRxg/JFb4Zcdd4CksOmQRnjtxXTHDWV7bdGn63WiXkttd+bYJuDjdSjrbmu18vK7162vvc0L34l6tYRN/wknw8nW3Q7Ga503dM65+YGSS2OE9W6gg8DrWq5lpyu3XyS2Vtfxe2mmxwzp05PSUdGvtR9Hq3fVvaz36XSj0PhTX/hV4mmhHmf2FfTTCMRfafIggd/UMAu1ST0xgDHPWsaVBuTdpJf4e+rv67aXvf5xdTHpR5LcyS5bq720vb3Vsuuj8r3Oz8cfCa8it2m0C70jxGHUS24uoLebYrKCBFfwnzVbB4B3cnPGMt0SpaaNPbtr6a3v+XXm2ioYtbyjFLz0v5r3lvbvp52Z8walqPjLwxqx0zVtPudLgmIjjuLlpJtPGTgIrsqAJ1CsW/wCAngqlTSW7u0lbdX+59dOmml9CatSz54u6+JeS2un2227bO6ccfXYLOS7gsPE9jNbx3RD2Opo6yWc5cLhrS5X5I3+bOxnHIweg3ZOl6rrt26J3Xo3Z93ZXHRxUnpfbXrb5rX7r/OKsc3fabqnh9jaXyya14buh/ol4jbrmAN91JH2OvA+X+HOOMZy3O52k4t67Wvd27Ly/ytZ3Tj3XcrTa+LW2/wD8i19/R2vb3uZ1TQ4DaLd6LcC6hJKXFo237VasM/MQPmJ/DvzuzXRTpuX2X3u9Vr/WztbdbtSxmrNJNfldXv12Wu+z1Vo2ueUa/csixwahChhViEmYBZ1YcbWbqenIOPUkZzWrpQj5PVa23XzW3f5JOzZz1Pds+mv+e9t3t17WTXvZOn6nPY3cL2kpt5dyvDNHKUbAOcM/Aw3AIzznHFRzcj/q39aX07ephF3vu9d7eeySvv1SS83qjtNUvNC8U2+PFNrFY37ERW/iCzREnd+FX7UcATxe5I+pIralUvJ9F+Xrt1svLzumXOir3flptbsvNP06N2X2fH9a03U/C12Ibpnn02Q7rPVrFmAZD93c6dARjKkjngnj5ulu6dtXr63+Teq+TfXsctTRXi3pbS2i+S89lp5X15d/w/4kFhOiazanVNLPIuFw1xAH2nO4hiccEg/TnGa45Rk23Z3vb5673fyu2r+RFOvKDsrtfin19fwtrbdqXomreGLK+0uLXNJeG4spWVo3hdS9szYwJsf6tuccgZ56fwy4yW/fW+u+vztqtvusegpKcbNrbo99Pwv5t283ZnCPcJa3L6feRvC7fKZ2XgFuVbJ4IJ4yT09a2oKM07tppryd9L6dbLXbvtqctX3Wkmm29krr5PXe9u/pqjIutHmjuW8iTZcuu+OSHIjkXqDuBI3gdcAYIxzmt/Zx7v8AK/3SfZLW/wCL5cve006PbW9/w89N+uzKmn+K9Q0i5eyuwZymTl8kkjn5T/8AXxx0/u51MOp21fb79dfi38n0+1dctKrKnZ9G3fd2t2+F9NdX57Ny9O0HW7XWJ7aa21E2t0CUkgkfG1RjLIQQST1x36cEZVRoRT3stVp19bJ7+Wy6Mr20W05TXnfXp69rr4XbdJ3bl7doGrWc8M9pNdLdCOLJlL7ZITvCeduBzwW/2cjoeDWioU4RvzWb6d0/K3okr/8AbzV5Ruza5qdWyWrf93e/ZbW9f/AY+v8Ahn4g+OPDlrf+Bk1u7t7a6hW902ZZ5DaX0JG8bMttLLGccEnPHrt45TqU5fu1Ju3nZ9PNu+j20V97IylCjVTU5qo3v0+5ve+20vLsfRv7O37ZPxd+A/iBNV8B+NbjTb+2Ym5tBd3PkXMatmWOWA3ASQPghgwPXAxzXXh80xWGfNGlKfN7rVtr2V0tUlZ97Pz3PLx+WYPEwilP2M4T5ua7jql15bO3zt000P0e1n9sD4QftQ6DfaZ8aPhvpOj/ABIjitbzSfH2i3MPh6/vpCyrd2eoSpCftYlV/MgWR3UuPmyARXq0MbDEe9WtTbt8VlZ9bb32VklrtqmY0q+Y4OPsqUlVobP3bu3VO/OunZK1ty14otr74baN4b+IH7OHjyS11rSLddTtNbsb0Jrdjqloo8/QNditJUW4ib5fJkISOZOdqk1c63L/AAZqpJ9FukuvkltfTyulcxxGBy7NI8tSl9XxF+d1ZOydt1yxvu2nrLXpzLQ/Z7/gnd/wVOs/idoel+HvjHrGi6B8TSGsbtJb0W9jr17bExSw3cM74tb+YL5se12L8kjBO7uw+KTsqj5X1V9Lv0v28uj3Vz5zFZZVwcm6PNNXdpK/La+m+jb32Xnsub9+vh5490bxhZG9065he4jjB8jzkkKxN3Uqx3qhJ5UYA5O/OK9K0Zrmi79rbafNWuvLTzuGHxcJSjQlJRqu/uPR6K/n59fm7rm9KN5NayRrc25ZZT8ssBLcd8jC9v8Aa498ioato01/X9a369LHc2lu0/na/ps7/LTqnexO8kNxgggcDaQdsy49ckf59Oqna27/AK/FdL6+Wg01J2Uk+i6vbpok1227+7dsiaVkwsi8oQIpME5PHD9Mk4PZRng4J3MbX6Nf0/60v9ykpSUfi0vt/wADfvt8tLXK13vhaHVbdFM0YKXMacmWM8EhcjG07sk7se5JNPlbu49Fq/z7aW7r7rlJNpyWvml36+ertou6vJP3du2kS4jWaM5WVQy9DjPUHpwDwfw5OAaX/B1/Lf8AyT9dFEdle+nw3137tbrW91f8LtFkqM4DcjPGPT/P+1/wLpSM3OKaTa1/r+vv6iYPTB+v9PT/AB/GgrT5/wBf1/w4mG9D+VABtb0P5UAIVkHofwP9C38/z52gXb3/AM/6/rsLx6n8qB2X8y/H9IP8/uDB9D+VH9f1t+X3CECMODk85GR0/Vsfn+ePlA/r+tvz+4ftJyT1xxj9OhGOnoaP6/rf+u2wfl+X5/n94ygCZPuj8f50AOoAKACgAoA9G8If8g2f/r+k/wDSe2rgxX8Rf4F/6VI6qHwP/E/yR//V/s22L6frXsHkXfZfdEdQIeEJ5yOfb/7Mfy/KgCWgBwQnnoP8/wC0v/1/b+IAlAwMf5/mf5/lQA8KTzj9cf5/z60AGxvT9aAJEBA59fr/AJ6f5xQA6gBMD0H5UALgde/+f8//AK6ADAHT/D/P+fWgAoAKAGO6xjcxIAzwOS3sP/rf0o/P+v8AMa/r+rP8Lt2tpe5XImnxz5UJPvvfH5EAHPTaD6jBDVFtdLy6eV9PW1ttu91e4uVyatfTf1/4butddrEh8m3V3kwiqu4ytjqBjr1B4wD+OD1Ucfdcradn28nfX/wF32ur3L9pywel3+fZb7K60087XvL45/ap/aR8N/BnwfJeanei2FxlDL5io8EOyRzNJllY/dwqlOT8oxnc3NWxccKryt7+i5tNVrvv06PbdNtI437WtOEaakkpe81zbNddnpftr5XifzL/ALRf7WXxY/aJttdPg+21bRfhlodvLBqOrRyNDeanE8+DPPKxWOGGYcRRgl5AQQFyC/zWMqSrSlOM5JXdtdN9tL2WvfvF3sfa5XkVN0o1qjjzWTtJa3tdL0u7q3o0r3l+Ov7SXxc8JeArTTdE8IwwXGr/ANkF9dEsnmSpPdISPtMgJ8y4JJYlum7BJ4ryqtW6tfXu99OvfonbW3d2ue5hZuFWeH5EoRhpK1r25dO/5+ervH8o9U8R634wu7qXUIIkiheRomiTJJDFgMnILAEnIK8+uNtc/tbbPZf0tVutvla/U9JU1NbdWtfl6769F5vcw4oBc3KQrBM23AlduMscDLYyOCcHJPb3ZX7T+bXTa/4W6PZrXpbQmWG5VzWuteiv2W9lZWs37ut917x6NL4oXwzoMOi6bb2tnKY5PtmohVa/ussX80OcskcY+X5TzjAzg1n8bur7q3l8tL3t05d+r0JUVF6L56a+XXe/ztrJ6IzvAHgHxR8VtcuUgnGmaFaLJPqmv3rOluIkBZ/Jd8CWZgu1UUj5mBGetb8sYQ5rLRb2Xou9973trorJ2kaRk6kuRNuO6Td7aauz2b9bX0dro+kbTQ9I8BaS9posDeRMwQ6jJHu1HUWztbyQuWVJXBZM8fTrXHO8pJp9b9reXR26PRXu207e9vyqF9PVtdu9rpvd21t/eu4nJ3mq3Omw319NEqQiN2WCV9hTcf8AWTs23fIeyI2RnOBwWS+Fq1r9/wBN1bbpt6vmlzUo8qd3t+Hytbfd30stDx7U9c1PVb7dYrcfZjG4MvnbbeNT99pFyAecgAEHHqAu5xVrd15W+7XXpvzXfpczjTl107X1vsv891o9dLHe+E/CuqPLBftK1hYyx5ivnjMjyEfeFpCSGkYE43cDP97Ga2Uvdaejf/k3N+V2t9l6Gk6S5JX7a+nd+qTvdffqe0t4VuNI0efWrp4bLSGi2f25rTZvbhh1XTbdyFaVz90RhyOhYAfNUaUpdeurS2t+Pa1lG22zM6U40opvV+d+vRvXzSu+t9H7pwkN7HeB/wCy4JJNvS6nUvNKfc4ZY8nGBkLz2B+XeOD+1u00/wCttmkuj7p7HLisSm7JdV5bNaX2fRPbbvdy2obTWJ47dLu2P2yQ7Lexh2vM7NgRyHZyCR357k4JBXqte2l7O/f10e+nTT52seZWqP7T5er1bvrZaq+r2d7dlbRy7nTfAHxRSKJoRqMVkTn7LDc+T8+c7JFiy4AHUktjv0rpSVkrde3Tsnrq3dXS187WJp1NOtvKX4fCtfRNeW5tx6L480KRpGvriyk27vIj1C7lmVsZZpEMIQ8Ak847YGQ1aWWja6L3fW+mvn3vbfraJ7Sk7xutrW1fp527K7vbS6ZoWHxF+JtnHPBfWel+ItJjVxNFqmn20jSQ9wjSL5hYgY4XknI6Zp8q2vv5a/53dn1StfbVyFSpvXmsr7P8N7N2Wuvne90zjr7/AIVt4pmf+0/C8HhTU5X3rNp8aQo8pOQRC0isWJ+b91kjI2jgis+/46pb6aa+7vt7yWzT15qhJPRO6TtfrZadt797aK7bZxHiyDxZ4S8lvCus6tfWgUyxC1lmFxEo7T2M4VvKGMZR3BXBGRjbhNcrvupP89bWu+np6XuFWmmnsk1e7Wq6u6vK7s9dF2Vk/d4e3+PupRg2PjjRLXWbI/uJLt4Q7w8hT50MnzI4zlmHpnqKjp8/W/l919u3kXNxdOMVuoq62el0v5Vp1afbb7TNTvNA16KOXQLmCTRblH8ywuZg9pbysD+7t92ZLaVT027QCe+AaS07tX+/q35X2vaPktiKLSd30d9Oy7v8t95LTc5G18UTeEbk6ZqcLanoV4DEySnzJ7MHO2SNDu8xI8DDA7jj5s/KF5nQvNy7tva9rW1vo9bd22tnFHf9dt7ur5bK/wA93aWyv/N59kTalo9vq0Y8QeBfNm1K1UvdaSv3dSth1eJFPMqD76gcdwejbwq8m8bLp19H28tXv2uivaqeve39K/L57u/TT7XluuWcHiG2uLq2sRBeQki+sJxtlWUfLLsTqCGHcgnPbB3RUmpy5uj66/5uy/BdluFSHNG639Omq11Xa/8AlfmPKTYQWrGa5jea1UlZbdHVJoCcZ255O09OnbPJAaE+nX7/ANEtb9tNbWtc47uL07a/Pfppf07JrdGhf/2SLK2hhu5praU7w04BMfPEe4E8g4Ge+CPQttTptpSv8v8Ag3/K3TRg6zlLu/N9tLfrpb1jqozaNqCWbyQ30I1bQph5dxbSfP5Ofl3w7idjJnPHXtnOWrm5W/Jf1+a3VvWxCjz31vfW+9/TVei3s9WtTntc0U6U82oaUsl3oM7b4geXtd38EoGQQOAMDpyc4pxr2tF6t6d3by79XrfW3duOc4crVu3Z+rvq7Oy7/KVrlLw94qudFu9kLytY3Py3NgzEwyRnhv3fADYJKuMYPPy9K2mlUj200e/+T+TXTpoOGi7Xen9f1tey3l6NqmnWmvWIu9LkWeEpuCsP9ItWPPky7QM4yQhOMjuOtcfK6Latq3utfudvTX5X0TK0fz366+v6u3otEcnpKSGZdPuX+RSwRyT5kbKTkc5bHOAABn8Ds3jUfr63+etnt6W16XDXt18/z9d9ra72uZ+u6HDdqYXf7LcrIRBdFcLN6Rls9WH8+ozleiL9pe266vXT00sv/A3fdLaUzSlH/gJ+lvy0v3u9GcBZi807VktJGkjdLlYw6kgeYWAXgHkMP6HHGKfKnbvvZau33q2jtrfvZXSOH2Xv+nzWut/w6v0tdH0NaXT2FxJEEEcn2VYrjG79+7opIPsSckjIBGf7oWZwTa37+f3XW+7va1rWSbZ6FONqNRW+z6NWfa7tp5K+yue26Dql1d+FfCF/dIZ4xf3OnpKSRLBFBIRGUdmJKp8yt0G0cbs4rP2a01enbRbdnJ3+Tj6vQ4cPrUkn+Hl+X3+dpfZ5rxelz4d8UQX8MxezvVMgkQlUXf8Af3EDHB6YPIPOcEUSgkrr11XR77NdbfZ0tsryZo6SnO0um2v2l5O9vukrbas3LHxXdzahbm9vZJbSWJIo2e4KmMR4KbNjL85Pyknnb05wGjlbS9PTTul6LRW6dE0ejTpUFTV7bO+29ra3t5fnq2kfWvwR+MPiH4VeJW1FLy11nTdRikhvPD2v3Epsru3uExujcu6iUDBhk4bjljyK3w7lCd9UuVq762XXV7WWn3XunLy8XRpx96G7ktraJ90tU/nL8LmxfeIbuPUp/E2j2aWEP/CRDXEFjfSwXMTbnc2/nxlWwC+2OQBSQFyOcKp4hxk32e97J9PNJbu1r+thfVHXptW1s111+Wr18umzVmz9h/2Hf+CuXjbwNr1tonjH5NH0xEtrWa5urm4v7m2B2mB+XErhQNr5bcVAO3Jr1MLmV5KN3FaXXTZ7arS2t+u3W8flcwyWWHviYX5oPTlv13Sdujet9f8AFa8f62/2ff25fgP8d/DGnXGl+N9HttZezilm0/VLmCwvRIi7po9lxINxBycqdx6HH8PqxxUZu+m9ld20Xy12t0d+ju+Xy6eIq0pXqJtbXk77ddWl/wBu389dD66s/EPhu/ijni1TTZoJovOjdLmJmC9cgI5yM5wRj1ycYrdWl8Lbb7bLS6tqrfPR66qx1LMaCVo2dTom4rr6823blvt5hHqOkSMy22s2M0bE9bqCUI2c7SQ2EJGQQ2PTjADROnVn8KbttZW007d7b67dLvmaq+0SlJWbvp6dN7bre/py3XNlS6xHplz9qSaC4tZSUnjiuI7iFMZJkQI7MncsHHc5zg7dYQrQTTT7N7K2nmul/TrZO8UsU6Ukkk46fdba3upLS9rW720UrWn6vZWV9DCl5G+narJm1/eJ/o1x18gNuYeW5JA5xuGATj5Z6Ld+b/XZ7eXrY6FiqU9JJJc3ddr+d0977PZWbTO2V0LBgwIJJBHOe3HXPP5+2MU/6/r+vyLcqL2te2msf8/LXt21uSCRWztOcHHB6n2GO31PsR95gdvP18u19P1fnYXcCSMHIz3649PlH8z/AFoC3mvx09fdS/F/jcNw49+nPr6/L/8AE/8AxIHz/PX/AMl/Pl/PldQITC+g/KgBaACgAoAhIOTwep7U3+i/BICRfuj/AD3pAPwfQ/lQO1/+HS/P+vvQYb0P5UBZ9198QwefbGePX8Rj8j+FH9f1/wAP9wv6/rf8vvAAnoP8/X/P60B87/f+qj+X3ac3o3hEY02cf9P0n/pPa1wYr+Iv8C/9KkdVD4H/AIn+SP/W/s78tvUfl/8AZj+X5V7B45JtX0H5UALQBPtX0H5UALQAUATjoPoKAFoAKACgAoAKACgBCQAScAf3iwHPpg+uaXX5bW/W9vlp5t3XKWb2/wA/6/rsQLJNNkQoFAOGkcAjGegGTnPHIB/4DkUPrf5JXvt2Vm/vsutrj6Pr+jt63fpsuvNdKNiKFR8zHzG4+Y9j3xwMAn27cEcrT/rz+erX3fe9Ba7dv6+RI6k4AOMnAxjdn2BBGO5JxjHuDQtG/LX5aLXv6a6ejUa9ooRfdu9t72+5/c36aHyr+0l+0d4O+BHhDxD4n1+7R10LTbm7S2V4iv2iGKRlMjs8aMFZcrHlmYjaOSduGIxDpU3KTXe66JX6O1m726+qdkTh4vE1Ixab5no9La+V3b4lb4vJq9z+Kf8Aa8/bH+JX7RninX/Ftzr1xonw/tbxG1W4e7/dy2skpNjZWVsZNgnkt13GNU3hVycY+b4vHY+eJfLf4HzefZ6aaa9U7a6n3GV5XRwylOvFNVIJQTSvzaS0Vnf/AMCtqt9eb4o8QftN+JdJ8Naj4ZtteL+GH3toWieUkbaheSxbI7y7mjdBIsP+sh80MEPAByBXlSzLkfsru+qXX85aNavW2zaabaPUhhMTzc1Nv2Lei95Jre6+FX5XZp7dbaSl+a3ii08ceK/EV093Bf6he6pN5knlrJMuCcr5swyCAhBGGxwqggDNaRvV9/vo3d9La3u9Fpe6/vXdz0GqSpqMUvaxV5Nat6+9vy295yafnZpWkzsbf4XzaD4an13XdQstJsrR1W7Se7hbUJd+0GO2tlkDrywG7HqQRgqtOm/TXW+9+nW70v06+T5lCpya+615vRvbTbtff5Ox4lrPiOysN7aOdttK5EMkrAzzIM/MQWGA3rn0OBn5WqT00f6Xev3LdvfXVLRymrik48ujk/k797a30feN1f4dea54O8O33jXUlvdSa6/s5OGwCvnc8ww5GGXbneVPC5PP8OqpcibdrLqrLRLdPrd6bbtNuKtzYwqKVlpqtevf+ld3sr6tn2zps62Gg2VpDBDZaPYbItP0i3iwLudtqD7Sy7Wnd2ADDPynPTq3FWr6ct76Wf5pb33ae3dtPaXoUqag1NK9r6927979nfdpfzXTOX8Z+LpNJnaa/ltIL61gRhZx7WEKuvyqEONrqCFxweOcn56dNOS97tra/wCG1++/kraHPWnd2Sa63v66XtHVLW/Tzsoy+crrWNb8dXJwJhpVs7SSSMjKshJySEGSenBJ6+o5pVGoJy1sls+6v5Ltq038m0dNCgp3d7tx+7yfXd+dlqk7WPUfBPhGLW9Z0/SUspb5pTGLfSrUSOkkhPyyak4+VYs5LxoVEaHLdKzo1PaPfztba3Ta709fNPRBVjyK7drb31+b17p6d7/DvL6hv7TQvBJ26rInifxK0SxadpGlkGx05xx5Vxt3C3gj43FhnORzyV9SlQ5rP009Vvbq7N66dN/hPKrY1xjNLXS3N979bW1uk++jVpeWeJLW+1yRNd+JHiuDTdHsQTZ6XDNFDYWUa5KW8LvIxmn2jDLFCWJONzZLV3RpRhZa21tp1tddfzW1r/3vOeLb0bVtldddUur6vpslfVNuXj/in9pbRvDVv/YXgjT7MWrfu7jVryKHzp+uJB/y3EYwpXGTg5HcLpz2stna1lqn2vout/N+WqjzubqNNyacfx6aOy79tdtbM8Mk/aDvYftV1Pq97c6hDKZ4LfS8RwmNiC++Zsy8E44x6jgkUkui79F06vRXXpy69eX7WVape6vqrNtaKy/Kz3vfZWtscpqP7WXxFjRl0O91TTBKc+Z/aNxJJn+8P3vGQByBznr2rVJW/p+ttneztfqrWve5jGTb6377rfqlZ+W3rZK0V0D9rv40aZc+YNYn1NtvzC+Z5t2/r+8lyPqD06DHJp7dem7Wu9l1emm1lffW5n7CqpOXtNL3Vlte/wDea8l362uz3fwx+3tqUY/s7x/8OPDfie0b5XaaGSy1G3GD89vd23l9cMVJyM9c4G53Wnnrpq9NfN7ab6ra9kResm/XfS3k7N6/dr0ve56xYfGX4QfE5Ik0+FPDF5sYnT9duEurEKc7VivkYTwSA8RsSSF2k+tcak4yel9bb7rtfV6eiemr2OqlNx3bvo2u9/u2d359L3uWNS1eK1tbCyh1W/n06CYkoL8ajaoATgWOowjzIY2wCEmz8p24JBNbLXstP6Wl16O++7f2ipjpR0Ss791omvv26q/o7JGHqOleF9bfzTItxJJlZ7aFVXUYo8Y875iqX8YPzNt2SAKxBOdqrki3e3m3zfmrPS+iT/HaXYp+0hFtO8le99G9Px1a/NN6x8R8d+EtU8EyW11AxnsNR3NbXNuzLbXiHkRyjiGO7iXAIkzIChB5BNJwjrp8n0301d3530vrboNLlkm0n0W726297Xq1bdfat7vHy+Jbm8gjt5/Lu0tl3sZGCSbRgeU77TmRAcHIGSOvRaxqa3Xlp5/P1v28905aey2m9bq9rPRee/Vejt0Wh2PgvxJJozQ3OnXTwiK4Eq2qP/pELZO9scBlxwxGVK8EDg1xVF1X/AXbq3/W7uy78vqutrv06/fb0vf3vc/Etj4b8Y2Fv4l0Uxad4iMajURCoS3u5NuC8irhQ0hx9GPOcfM47LvqrbaX12v99vvNoVE1ye9ZWXrvpqrO1rb997rl+U/EelTwXkt75eDDN5V1CvzsrHgiaBeqNwTJjABzxVdNtdNutun2t+mz721USrHmvoumuu3R+baVtLWtfonLl5beCOZ4jCiQyYJgPEbb8H922FERBwwbHJ44Gd2sKjirXst/N726fm3vp15edQWsua3Rade+6v0/W1uYhTRbu0uk+z7nEqFkUHi5jI+6OgLp0JBbPoK05eZbX26/8Nq+/TrdOw1LlvbX5/lpfptZbdLlqz1KayleKWB3gfKz6fKMtLGR86qvrg5U4HTPGNtZujaa1X6rre+iutd+Xfpa8hy5um6/Lv03fS7fo7RxvFPgxrI2ev6A63mlXIMyojZazk6y2syAZG3JXBI9CCBlevmUY3aWi1+5aeXTVLr9nUzm7pKzv1877em2iu7+Vrym0LWv7Gv7XULGUTWlwUi1OykPAQZ85cD+NeWiPJ6gE4Y1zyvN63Vtla9tdGvh3t+T02lMLq9ur37WW3Tdv/Jq7cOm8QaXGdWtNS0qQLY6mqyQScbIjnMqSkcB1yRtJHI78FdY0kl2623/APb1rfp0W9to6dddvz20tt3XzHa3Muo6VLDbLFNPpZSSXBXdLGv35FAP3gfmGMkdAQB81TkqSTsnfSys+2/xd/8ANtNuNq1tbd1t+W6+/W/SyMjTvDUWsSWGtCQRpbXlr5sbfel8phIx98DIyC3btis/rD09136aa7JafC+lvPyaTMlG8rq1r273frdWauujt5HW+eby6uZ2gA3i5k3dkjG5Ys5xghQBg469yQrP23M9LNu2nX1tZtW6WUrbqTt7vQ7qlU80t0t/L08ltpqket+GdRt4fAFhBfpKlvokV9dySBDgyXspW2Vj03E7m7dAcDgs1KTt7unXftutr66LRd9VrLy6PuVJX03tf7u13bS+ia6WucdbeJW8U+Gbi3u4klbSb+SKORlBYW8xbaA27LbGA/h4/EGnBtt8ysl6p9e7sk7PXs7+9a0dopTq6StfXR+el2t+vZLz1ichPOYVFuWyLeJniZc7tw53HJGQMgccDB4OQa0Tjtpu+v3pa6NXvrfu76o3tJWSkvTTp30v2evzelz1RPFP/EktLpiJbmCCJP3nQkINjDlS23GTgjIP3uflL3urpdd7Xb8teneyXncmVHntdt2adkrp67LXS2ltI2ey1tHtvC3je9k8PwMJbaO8ljlkuGkOBMquyqoh81gMKMZJ5HPOTtJUYt/e7aP8279tlv1ubq0VZXt2XTtHTV76v3LO70s3Ho9K8W6xqcFnBpNlB/arXBW1lgYwyKc4eeeQZ8qFAS7SvhFUe26s5U+T34t3T6fk7a7a/wDDMwq8tdOnJXjJtO7Vl2afL8tLPq2tEe++H/j74p+H+nroeleJNT1jUrCdr2WXT7pxp9hfkBpYLO8jLTXIVjll+aMn7uNoDH1mpHaMltayduiunzLS3m+6eh5VbI8NXbXNTjfe7ir9LOytfV/lpdyl97/Av/gq/wDtLeH7vS0ufiH4gZNMj+zxafai0lmmsEG2S1Et0G8uQRA7ZCj5bIYnbXTSzKtCUZPntfVLX7t09Vo7W6681jyq3CcaSeIhUU3HVRTUua+ltFFt2ey9dLJy/an9mL/gp/8As1XdtcW/xJ+KfjnS9b8Skvqtr4y06OeGwu5DmUQ6jYmCGK2JbCk4IXjAO6vfwma0pNc8oRb/AJny2+9v/PyWjj4OKo4qhJRhh8TOLe6pVLW3/kstfJrbZJs+x/FHx40wWPhvxf8ADax1DV/h7q9wIV8ZeHdcnt4NQhf5RAsMlxdRST7nznao6g5z83rfWaNWElFxk5J2cLN6ry5t9fN30ve0aoU6dRNV5qnPpGo1BtvpaWt7b6et7mRov7VXxa8JXkFlc/DvWNa8Ia7dam9hrM6zy3uiQaRtlvdSV2SQPLAskcnlGKKKTG3eFIZeb2cnf3Zb30TSXmrX/S9+l7S6llzt7t5emv8A7bfTR7xV76aH6P8A7N/7Ttp8ZPA15r1tqOjeMrrQ7o2eoW+h3BtNbtlH8eqeHLg/bLa4CEnekexzuMe4EbZV00mut3ddL9N/W3omlsYOnGlUjGdaMXzfDKSTfvWWkuVq7W1tenL9r670TXNN12BbvSLhslf3ljOwE0TjG9GXhhIp4KkEgjBH8NOz6Jtem/5f133O/nil8cdHfeL8tNdbfK9+lry6RXLFRjDd+mQe+QBkEd/vcdhltxZ/8PoCkn8LT6aNdLfm/u6dCQjDhzwCVBB4wc/73Xt0X60h9vnb5/5Pv+pLQIKACgBhcDgg5+v/ANi38zQVb+9H+vu/L7hQwJx1z+H9Dn8x+OaBW8196f5f19zHYJ6f4/5/z6UCHqhzk9Pf/wDWMfkc+2aAJCdoyc/y/o38vz/hAFoAYQfn99uPw/z/AJxQAqAgc+uaAPQ/Cf8AyDp/e9k/9EW3+f8A9dcGK/iL/Av/AEqR1UPgf+J/kj//1/7QK9g8cKAHoATz6fX0/wA//qoAloAKAJVAKjIH5UANOQeDnnp6e2Mn+QxQBIOgz1oAWgAoAkQDHIHXHTP+f8+lBUfiX9dBsnGcDGBkce3+NBryx7L7hmSMnr04x/8AWP8AL8uaLX/4e3+X5/cYEYti7b3OR12tgj6gdP5fUZzQ3bt5Xdk/vt+K+TvYd/6/ry06fm5WScHkYwflAwBg4B7HBwP9r6DANJeb23fnv2X5ettWVGF2pX0T1309dP8AhunPe0R3WNTIz4Vcu2QPlC8c5YfQL8p6dcCiyumvztvq9Nn92tr6DqVoRi1ZXWnMrX16rZ3btfvvrpzfM37Q/wC0R4X+CnhO81zWtQs7Od4ZBp1jcXkdpc38qqzMsSyEEKAMrwQ2cDAaubEYunho2m0nO7jdWs12e/e+u+mtzijRqYuT5HLTpFvr1v177WWyT15v4n/+Cin/AAUY8U/H7xlH4E0RILLwL4c1OTU9St1vPOGrXEcrkjVZYgN9vGQCtuS0ZIUnqVr5PH411W1zytropuzv+a+X36n12T5FWUo1JrR8r1Wne+336taefu/j1quoat4pluIP7UFtpd5fPqE9sJZTZO0O/Y0aDEeY1cJCoGQvTcM7vEk1BuTunPe3VLz3du3KtF0vzH3ypQVKNOUVJxWzW1kla3Z2967S66W97kNYSCKFJrmF5dKh+WzudTcxNPMmCTaQIWkkRMHCkqCB3ydvmVabqScl1fTV72d7Lvp5b+9duNqdly+8leztp+ekb9vv2OC1v4hS2Vt9h03VGsTLIo8wt5c8gXkbePMgiA6Y2nn0AFdWHp1KcZNyk+aPVuzv1tbdL9GuW6Ry4iPtIxULpp3bWjd1r9m67a/hpy+NeKL/AFfV5ku72/M9okQPlLcs4mIbAdxnBPqD6Z+XcA3ZCE0076aPzdte+ln5J69bIUYqELT1dra+d7vrvd9EtdWc34T8Kah4s1vz5v3VhbMAqHJi8pTl5JX4CogwxHfpuHBX0/rNPDUlKSjZq3vWvd6LTv6PyfK2meeoOvW5Yrd79uX0Vns109FZs/RHwN4a0nSdLGqPbm10yytl8mZ1wptIz+/uMnAzeSZijB52EYK52L4WJhPEVOZOSjzN6Saj07Kyu16N7PqerSoOn8Xe6228k7PZa6Xtvb3inqPjK11TVH1qysotO0jRkKaPpy7VWa5fIl1OdiP3jEIAineB1HIBbSL5aapuzeqtvJtXVtk9L62tdXfuq7Crflnq03qkttbaPVNW803btY+YNfl1Txx4w1G5nkNvpCyFrq6GSrCMZMcS8ck/IOfXpmrp1FFLy76f+2yv+ul76cvNGnKT7p7tv8lu76bOO2uyZ9NfCP4ff8JpZx6DpLDR7S4bF1M0QbUbi1iGZbiVukMTkNHBFGQC3Ujoq5uepGFvjaVtFo9nt6O+vndK56dOXsaUpyXwRcl2W0dVdpp776dndSPoX/hHdC+HuhX8Wit9itEhfT5vEyMn2y81MMV/syymfMiKPm/tC5gbeGHlYGVr0qWEalG6tfTZ/hpZK/db/wAx81mGPjUdle71snu9d9rXejutY7WtLl+LPHfxOttGvp9G8Kwyahq25m1TUHl3QWKAkvLdTylmkkAyVhI69SP4fThTUY99L99/TfXRWasrbX97yIpybvK9+r0sra3V+++q73d7HyT4o8QeJfGFxPLMTcWlq5WE3975Kl84Z7a2EpBbOdmPwJ43Xdd7Xu137+aV35eWskynBwTSba7/ACenXX5arTXYzdI+G+v6zHPLJHb2sLJk3F00QRpOoQGQ5GRwNu3qME87S1vOy6dulk73fq+r1a0Mfa8klptpyt3Ss99k1slfV9L6mi/wB1u3ih1LUJ7SwspmybiG/guQ6AncWig81o1xyfNIb8QaNbbbJ7d+qXXfZO1rfOW86qnfp09W1be1l62Wt3pocjrnwU1g3Etz4XB16yjX5204xTGFxyQ0akyZ9QQAM45OKd7a+d3frq1po769Wn3s3oc/seZvleret9NE7NdV09Vv71uWXmt5oHivSXk8y0ubVoCUkjuYGRlHT7hyDjv0PcdcVo5943vpv/wF0u/PyvyjdJbO927OzenZb38/s2W3cwZ9SuVYW2tWLFCR5d5EpjlVc4OD8vmIOpUHjOMj+J+zvazu2u35Pm7ffpbltcPYrS6em99k+zXMtrd5X7xsi0NPvokfUNCvJbiCICT5MpPERzjGSMA5xx68nNZOk/5dtne7fnbTyvt8rMXLbRfh92vd7d/wvH0bwb8WdQ0qaK31OW4hGAq3Pmb4JGLfduoWJ3f3d+CR6DFP2Vle3Xo9bd29LWvd27X927URRW9r308l33+/S3d9pfWvgS60X4hzTWCXeNeeFZNO02O7NodSkxlRo2oxsPIvQRuEUoCOfkORu3KNLlvdab27+Xne7W21muXRGzqc0EkrWtrfrtq7LTvbbmT0eke4l8QpPJJ4F8dGeTTo5Ft4L+8hW31PSrtTtSDVohtRWVvlF2CRN8pJOSzVKneNlrs7W09Vq9LLZN62+G/vKE1Ftu93pfffqtbNdNLersuXwH4leD7rwFrIu223Gj6gQYbtW/dXERIEU2OAJo8gug2ZGTznFclWnZJWd0rNbW0vbd7K38173urWOj6zzcqas9NVrpbb7OvnbzsrLm5ZYhND9ot5GtLuDaxMOWR4mx5dwuOXjlPyyAD5T1LEDbFNa2+5vp/Xfy8zooWlJPppvt/6StV/2731ujqfD/xGbSL9re8tZVVohFqFsJNyOvVby2U4G08Mckc+vWuWrT99yvpe+i1TXpbs3t5WV/d6m/e+f3+e78uy103aPXNcghvNBtPiDoZS+t7FRb+IbJIxPJNp852R3nlHIYwn93IxK7CNwIzVQV5L7/8AK/3/AC+8l6+l3+dvPRWTenmr+8jx/UtNje4/tC0aG40y6iYqpb5okf8A5ZkfNiSPOR06ZyetbaLX+tO+y0vf563+Eao05xcm7OWu+1tfTVJ9n5K7Rk6ffjTrg6RqkySWN4f+JfqOQr2EzD938x2kxscIw5545yQy2t1/rytb8PKwlCjB/Fflf/D/AGn26durScqXiPSNTWIXDxTpqti5dURci9tsZjmjOOVZee/XoMfM2042T9X230t13vq1873jMnFzTi1ZW7rTe+vn5a20evux6F4gH2Oe3kjDw3B230JIUREDBmRdnDqR833T39TWag23rpv627+952enklK75ae3rpe3r2ju27PTvZRu+bE1TSrS1b+0dPIkjJHnxR8rtPCzDG7nux9sHPLrtzaJLTRJ69/y9dflsKKvTfKtU1q+np2WvddLLdy6jRZft+i32iAO0hU3mnkjLJLGN0ipkHII7Ke33Tna080trv8AL8eu3fXyOVxabbvrq9PV231v11X6y4zQBqMOsPcrBJcJu8i7HOzy+RIrqQBwM5DHJ9RjdSbb3v6/5b2+777WCpzJR1/W/TXa36db2SPWrPyIrmSztY/JhECJbFeYmubwHDZOAWABBAyFxgelZz6dW9NtX03873WnmraGtHa9vS779U9te2nls1K1Jo9+n7hSPOmurexAi5EschG/bt77iAeGyT7YqI6y/wAtNH10+dlbRXau3E6ZO0Ndb/5229HvdX20+I+lvH8un+Afgomntb2b+JNbVUNpLHGJ1ijXbvZWBYeWPn+6OT7MK9BbP5f8H5dPn5nkYhqUpWu7u68u+vztdWvu0ndHxf8ADXVx9n8S6e/35/KdQRwrbzkg4464xnjkHPG3Ko0lq7Xdr/1v07d3taSw0fffe29r+a7Jba/eua95WLpWnutTlLhY7dI4Rt5BJO0j+EAnrjk465+Utl87bt7fj9/R+d3Z83dqtk7q7TfpfTuvO8bXeuh3MNo02m2MEa/NIY1Jbj5VCjeQc4zyc4GPXpRzJa31eyvrr8t36dNtbFRT2ttHzX+d9LdEn31Rftbn7TqccOnKSlvKlnHHEv8ArnHDquMgjOWZuw446UvaPWzfTXvZ9Oqb9XZd7WFbf8+vy0S67Wkuruz1G71mPSom8L6FE76xdoF1G5tADMu4fNZWzLlowpJExynynDZBqo1feu3K3a/4/L5d+lpc9nr0669NF6X1e1/LSxkf21YeBvKWa9Oo6vMrA2dqym2sWfiQXcpYCeYbsuseVVu4xmiU7vXZva9+nolfW1vxeiEoObuls9l01aV93p6O2ztd8mtpuo6nPaDV5dUg0nS4XeQXbL5d1P5hy8VmgO9yBxuxjnoM4WIPnqRWqV/Xv0tHfbVWS10subvguWDTttvv27tLa7fvW6XVkyeH4rQWEoi0u0n1AdTJfvuSYg4Mk4cseeTtBXPHf701ZWneyflvbfT7W7s+l9tN4y6dCtB9W11S/wA5W3vaz6eh9b/s7ftifGL4O+LrLxD4M8TvoqpGDPocbfb9EuIlIdo5tOvmntAGOFPlW4zkjIzur1MHj/ZcqejffRxvqndyfn+btc+WzDJYy56tJXqJOUbK7v0t1u276P0uz97fgL/wVp+FP7ROh2vhD9pyfVvh5490t72HRPFvgyaHQ9Av4rpxbG1ubC0+yQMbqPyxdCaMxsFO87fve9SzWMlZvXZ66aLrq9b+a7X+0ePBY7Dr34z1suV+006uy5dklZaRt0e5rfD748+FvgZ8bfFvjrwXrtnpd7PqFjcWVpo2vpqWmeIvD5mg33SWtqzxGW6j4ubWdA1tcHzEdl+WtvrMKkodnKN7PZXW7u02n1il53uYV8J9ZaqzTU4e/r0a3bdubu91pp097+hHwj8cU+JekaXfaX4e1DR7rVLeC8mS+1a30DVY5Z41lhu9OeIytdRzhsqHXY6fKWOct6LiraPd2/4H2fl990leXLzPmXNpvbprtbv8797Wsj7I+G+ueKrq4msfE9jDbsLWNbW7N0Jri9jjxhrry7eECdV5d13B/vbiMisKj0X+eye/bstlpdrX4jsw8ovVtXei1V7aPyb6WdtNtLnq51CNJYYmUlWk2mQ52g5AwWwRkHIHPOcHGKy3+fX16629f89jruu99dfns+jXnpd6WT2NAMrE7SCN2ODnnJ/Eng9evPoaP6/r+vzE2lu19/8AX9a9ULQAUAPCE4ORj6Z/9nH8vzxQBXddp69z7d/95v8APrn5QCaInjPfP+f5f5NAE9ADSA2Qex+vb6r6+poGnbWyfr/T/L7xc4BJ4wfr+P8An+lH9f1/X5CFoAKAs9+n9f1/w56D4U/5B03/AF+yf+iLauDFfxF/gX/pUjqofA/8T/JH/9D+0EdR9RXsHjkuxfT9aAFCgdB+uf8APT/OKAFoAlCDA47DvQA8DHFACbRnOOevX+n+f0oAWgAoAUDJx6/59v5/lQBLjAx7j+Y9z/P8s0FQ+JfP8hkgzx3x19ufcfy/EU0rpvt/X9aP5bm39f1t+f3DlT1HOfX/AD70jnHYyTnptP59j25zjv8AlSel31V35ry2dk/R+Vre6fn+hm/aRG1yZCdi3SQ9PuAoDkZJCruA3HjudvINC6dtWur8k9fPf3tn2uX7Xkg76t6rztey9dP71+iWkZfMHx3/AGmvhr8EfCuq+IvG2t2tjEhvBo9hNdxLJqd5awLIdqs6tJCjMAIhySSuVz83Hi8Q6MHbXTfrbRbe73u97rZrc5aMfrFTl6t6Jfe+kr6uya3S0vvH+KX/AIKA/tu/EH4x+LtW13U/E96unaguo3XhXwrJiJtI0iFmgtr6aKNyIxdqDLbRn5vKKFsbs18JmmZTrSpq7tFtNXf3pc/43s3dW1bPvshyOPLVqyje3LJabb36Ptfy0tfRS/EXQ7XV/H3i+a2fWItOt7lpLjVL28n8uMw+YWlLfKWfIz8gOWLdCD83NCUpR5m229f69N7ta22Sfu/XU5U6MeTlSaXLey93pdba3fbVW1i78vvWp3Oh+HYXstG059VutPiSJ9SuIR9lQBPLh+x2qcnzshw8mT32ncDWGIu1GKune+nVdlbrfzj2a+0PduXSzspLTV69H0d91fbWx4V8QtWh8Mxi71Ei8167sJZILRmEkel+f80QMHAiYgjIwpBxjqa6MPRSWiu3Z9r289d99XLXpsjCcuXsk3uul9E7O+iv/da310R8qabFNrGq3V9qjO0XmCW4xxhCwYRoMbVLH1z0YZGAG0qJWjFaO+t9dPXR22W2tktNTKnO8pXvZK6u7+jvZeulrrpKxkaok+ta6unWLiGz8xQsNvklI8gfvGAILP8Ae29sjOdoDd9Kh+7u3r37JX6ppKy627p2+KGU5803G+nS/wDly6Xatqpeup9kfD74frNbWljbA2lg1v8AaNRm2kkRWm0Ou7nLXUzCFFJy2SoGQFbxMfKU+alFO7lf7mpdrPTT4ml1aTtL0MLRjTtWaV0m3fR6r7v12ex798YLaLwB4Z8OeDtRLS6z4gtbfUXs432/YIiAbS0mThtyQlZGVhjJ4B+9VUKqhTUZbtXTfldtNab33v6c3vczq1It2bvrp2fo+j28ui6xl4tqdsttoEFncqUvbxUEKJ8rRebgscHkhFbnoBnkgbTXPXqczur6PR77dVbfWz9X3bCNNSTb2bv/AMDrdv19b/a3/AXwwk1+RjGn2bQ7Uxm4v5V2i9uyVHlR78CRmlJBALHjJAxU0pe0kkr21dm/L5dNW7vstLc7ceRXskumnfr3vuut73u9z7bFloXwy02Ka1ht7WRNCVL2a1VftTxzrhLaJySTd6gcqDn9ymSASN1fQYPCXlGo9eV9fJ36ctuiV10TXLb3vHxuMtSr0k7JxcNHd3tv02fa613V7HwV8f8A44R6c408Dy9YaAy6ZpGnnzbbQrWVflAiXJOpXS4muZHXO9yxyTivXkkm9FZK6Seye/y83e+vdKPzijKVr9rWa1tfy176bt3TaStL4r1mWNNNE+s+I7bTYdRX7VfLayLNqrCQlvszgsRvPc5+XuDzujmu9t9r7a9+r1+XlG1zWL5H7ytrv221+/TdeV0rx8kufH1po/HhfSxCULR/2pqRN1ey/wAIkQEiOMNww44/2vl3UtbdHa9lrp666O/4WTduYU5c/XS22+32r+fo/JqzOHuvFOu3twJ7nVL1leQs4WRvK+YnAEKkdM9BjAA64xTa+eqfbbt+e8fXUwlT2dr212ta2/WS1WibWivo7vl6bS/GXiewVZLDVrgoDuMXmGVSM8hoW3YB7gnp6Y+U019b9tvn2Vr3SfkmOKs0rea/HT59PTTdnqfh74j6Zc3sS+JbKXTZLzZG2r6JIbUxPwBJdxrhSd3LFj09FFJRv10bt5PtdrV9fXfW7UdlJRdr29eq6a+9s7+vndSj7z4s8P2Hk6bLc3rX8d5bxSWd8kyyxTBkzEJX6KWBAk+Y/NxzwKv2TjpzdV0W3TVTXr9nW9027FKcu6as7aW237vR/wB2NlZu92jyjVPA1hquiag1pcWjz2cm280q4UPLbZb/AF1m3LEcE9D68E4q/a2tpt57Xdl203vZq3ne4/aP5+el/nyvXr3W2t2z54v9J1LwxqObZZYkMm+MsHZZYx96LB2gg+w598jdm6srvW2jut0nddu3TvteNryzbeva3brb/FutddL7u2hduLTQ/FNvLNZQjS9ehX/SbM4+zXhwcyRr8pEnUjHOckYxtYVR97/K3pbf01W+uoNvda+XXT7tOnW3ZaswvD3iDWPDWoKttPLBJBMgVPNcSxSq/EsDc+WQRnI9cnacBXOrbRdeu2+ll7urv8/NWvIhS527uy1dt1o/VXsr7L73eJ9raR48tfH1rbR+JJ4P7dNj5SapPt/4mkMA+SyvZBhnmUDMUp5zgDPSphWbetrN77W/N3ttb8L3HUpciVndtpWW+vZrZrls3v8A4rXj2t1LafELwddeEmGNT0G1+1WMzEP50EK7fLTks8se0A/dyp5UdKutFcq63V9NNdPN/wBd9HLlhF87vd+t036v81a/o7HzRomry6TdfZ7sl2s2lspoZBjNux2spz2U8rzn0xiuKK1d9Otvwt02V9dfLe53qt7NLrddHs7dtLPo/es97J6FXVoZBe+UojZ4cXFpOvPmWMhy1u5GQSg4649AuMKSp3u7+dmvO1t1rs9vO72l0puaUm+n9W221Wmvrue0fBfxhpuj6y3hrWJS3h/xBaT2qs23y7drmNg8UgJ2siyFW24468c7uea0v2t/XTv1v6K7Y1u9/wCuv332frfQ5LXQPCniTUvD90w/sfUZGFncAjyUcu3kzJk7QCMbgD0xjGBtcNl5afk/8rfhszOTld2vbo+z0Wj1tdrXTp1MGTQnuzPY3BVzAPtFsTzkYzvj4PyNncMcK3POQGa06X/D5Ne763T7r3deZKhUqXV9L9kk/V80u60trfrb3d59Zv59CggRx/begOGgkflrywj48krvZn2KMEc8dQ2aTbUttHp2t6+e+mnz2NIU/Z2jLdO+rtu/n5q9vkrJHN+baamkuprBFayysWmEKCLP/PTegYDPyk47jk4yRWsklHmSfdro/XW636N9d9Dd7a9m7eaf+ejXN5K1rnRaZ4XhvNPu9S02+jkhjtDM0LkAuEJEsAQZ+YjkDHB6Zz83NzPz8v6v8tebv0uaUrKne63289P8Ol7K/Tpa1jK08zaJfabqEJaS1M4YLyQscmVeLOSN3JU5YdMdqXNLTXztf/hvy+7QxcHdu3fr93d67/5O6JdbZba7v5rGBobS9Y74UfazvKMo47kBjnjt1DcMukW3e+yXZ/pr18vLtLOtra+yk7atdLdrO/rp53fLtWNtcRDQd92oOkK0uobsEN53z26nnJeIKRliuOo44pT00fbW+z9b2Wzv59lo41R+F+7e3y9FZq2m+7tst/d92+D2mPN4y0y7u1W7ttHuWvpIbpS8M32kuYGP3gBG77xnOAmeDkNEPi0773VtNfLXRfPa9kjWtpBX8/ufe1tnt363s+bh/wBoS7n1vxv4ivV1IPp+kQeTDGjZiSVgBtTDYHUg/N9egFegrWe2y8tF2+evXraydjzJ35u/+VvTo/Ta13Y8q+FOkwrp/iDULlH3XkSpbuoOUZG3Ag8n5uR0/P8AixrfD538vnb18l9x04eFm972ve1rPTe2n4y+LzbL8ukXNpCpuNqPqGoB2j5DLbW6EvI47A5zg8epGcNy9tev/DPS7V+yfS+uh16Lf8revpquvX1PRr6xWTw5NfrOLd7eOCCwG7Y09xcfKzAckpHGDgAAAtknhquC5pW8vPZK3fS9/PsktBSej127een5r5a26nY+FdMi8A+HB4gkiS68Q6havBplo6GQ2nnnm7dGXd5sw5QjBVWyM9V19i+qSSb/ABXzvs9b3vte5i09vydrW7a2u9bb7a3skctcawug2Vxa28LXHi7UYmuNT1BGO6CG4JKWdv3SUhiJH4YDGCMA1LhyK7Vkn5X9E+v4dutpc8m1rulo+m2mnxbK/f8AUt+G/C9jpVsPE/i64gk3xfabHSmfzpzLtJVrhGPKFyPlKjcRnJwTWEp3bs9L/Dv5eT8ttL9Dsw8E1drs7dNdWt1rtqtfTeONq97f65LDqF8Vs9LikUw2dumJfLz/AHfuQoEwQihiep/iFRGfvp62v89V310vvtt53NqtPnjyKyctL7bapdl5tv79Tn9d1K2k/caRH5FsVw87gCaWQDBIx/AOeBnk9Twa6uT2mqaW2+/y03d+i07NNRjh9WlBaTVkt76NW+K3z6rs1e5S8P6leyyrbwXEgKMGLK53KoJ3AtyQCOxI44I5FNUbP4r2V3+DWlrW9bWSvd2ZGtP35+9GLu1a90umnd6bvrvb3fbrPWrPSobMTmW9uJnaR5IWwtugAwpIJyCxwSAc4xxndReUH7qdr36tvXdLV6LonFa9WkRNYfF6+zULu9pK17vRq/M0rO7Wvd7pnqnhX4wa94TurXUtMmcXdtbyWouXkeRZLe5k3CExuWXgYUckfdPy4au6jiJKzejVpWbtt3Su3paz0fVpt3PMxGXRhCfK46Rl8+21/uS21dz+kr4Df8FS/g14y8A/DvQ/ijpXibwx8RPBmk2ml2Hizw2I5bW8+z2qxRC9gkkAl+aPBR8KpPBOCa9elj5S05n8SW+yene3R2tzfc2z5DE4acNfZ1Er3Ss9beavq3d7X0aV+VH7R/smf8FH/BvjK40fwT4i0vWxrplkOneI7qS3+zX1gEKrM8XmM0UrJtzCeN3GTgFfWpP2lldSvro992mlrvtorflLz1WnTlZxcemuj/C3S/ly/wAurj+ocfxdtdasNQm03QNQs7C0CrBreqtFFYzzu8eHgVTul5bcueO2QchYdl176vRLt0T9dPLS9z1VNJX5lb1t5+bfVeW2mjPW9Dvp5d0N40e6OOKVGTIDJIgYMRk8ncMfL7ZfGaS2+b/r89Olu1pSFKD0uvW60bfyvp622srJnQi5iLBIyvzDd8rZyueoxyOnbPoeuVZ06Pu76Lpr+P8AXa9i6DgAn0/p+v8An1oBJvZP+vMWgQhUHt+Rxn3+vP8AnNACgY4oAcEJGcj8v/sx/L86ADY3+Tj9Mn+f5UABTA5wR06Y/wDZm/l+IzR/X9f1+Y9rO/fbf9N/6vsKkYxzxk54HY9P4l7cdO3bPzK67r7wv3V/W/6Sj+X3WfNIABwP8P6t/P8APPyl49194vlb7/1cvz+/Tl73wv8A8eE3veSf+iLYf09v0y3DimnUVv5F5/al/X/DHVQ+B/4n+SP/0f7RAoXlvUY47/8AfTZ/z1z8vsHjklABQAuG9D+VAEoHA5PT1I/lQbJKy0Wy6C4Hqfzagdo9l9wtBi936scFJ5x+tAhNp5z0B7Hnt+v+T0pq3W/y7msUuVaL7rigYIxuwTjPf357/wCfWmopqV+nlf8AVduz/Arlj2X3D15HOevr9P8AP/66TSVrdUn/AF/S7dLyzl7slbTTt/X9eg4qDyfp1x/n/PrSFzy7/gIxwN2Dgd84X6fX8D+GMMrJfN+v9dTO03Ncvw21WlvN7p7Pz9NShPexwsq5ZmLYKpzgnhedrADJAOR36inZa6avTb8++n9aHR7sUrpbau349fXfW3W58l/tHfG20+GWhapd3V3FpWjWqm913WzOoaygiQ+bFbxll8yeYYSME9TwRn5sqtWNKDu38OnfbtZbb/mlocM4utVpqLfLHmUtkmr387PTs300s3H+KX9vT9sS7+LvinXPEGuX2s6doHhe5ntPhb4Uv0nH9pwSXEjt4k1JSQoS4j2NAoU78DJ5U18ZmeNqSbjzuyurLp203dnZdVuvOP22T4DDe7KVFXtu/ifS/wCTum+1/h5fxt1X4h3uvXviPVtZL3Oo3mjywWYupjJMoDKq7ImwY440B8tNq4VvfFfN6TblL3rKyXf0elr6q1np12PtY1YYeChTTpqWlo913ta3VbK62Tt7nH+Dba8vJXu7a2Dlp0idmcjErsg24xkRqRk5BAAzzXRG91ba+yvrpve3W6dmtdvd05pdGU3zv1fn93r57+TUfp65vLLw3axRXjxXeowQLe3kQKsJZ40P2SDkMWxxncSQFJPAzWnKnJNr+vLXv0XXblvaR7RS9xXjKP3rSyXTt6dr6o+BPiX4tGpXd7b5E2pXWpPfaxdhtxgDvmCwibssYI+UdPfkr1RVl7una3VrpvZ2Xre+rVo83LU5ua2rjs/P7nGzXdvy0u+blNVnWLTRb6dcKtxqaRfaD0MAUAEjbzkg8+hOPmySuai5Ta33evm/N2vf1v2WgVpxp04WSXvKLaTve3bW+yurSf3mhosFtpos4tNVbrUJ54opJc7pXnlYYJPVQuQRyc/gNrlVnGKXNote6dk7rRrr6rsrKRnRcfiWrb+SSS02Sb6O6d+2vKfrf8C/C1pqMelWepQrbaR4asYNc8U30iL+/SwH2mOzZjw3nXeAVbO/aBk4zXNDlnVu7N2l66q3N06+St2lZndVqT9lyrTWOzeq8nd2srdXprpZ8vz740vpviR8Z9b8S37vJpljcPdW6zMQIrGDIhjRTlQTFGvyjGA3APWuDF25rRurPZPu07Xs+Xd3dn8vsmHg5O8tVpv0X3ttX3XzTlZIs6L4dk8X6/8A21qLiw0cSXM0jhNws7DcAkIz8vmzRoqrge4zmroRU0rpXWut2ttfTX7uvM7KPrN04QbcdvRLyW67LTbTS17x+obfwzbXtjpLx507QNOeNrSxi/dtP5XJupwNoMknXDDI74yVb06FBX+Fabvl103+191mvndM8HMMWknytRvslva226ur66pWezWqPmD9pH4rReBdH1S8v51h1S5bytE0yVyfLTy/Lt7+ZcjAVDvUAZGeMfdX3YU3KKhF8t9NO3e+6vZ2vbqtdWfNSrXl7z0vdXbei1un2e12o2te6t7v5L6z4/vL2a7ura6iu9U1IOb3ULht9xKsna3348oIvyAg529MdaPYyXWTt3fnp2evpbpd3YuePnpo2raX5dLWd+2nZ73Sl59MGm+S8a4DsCzs7NMnzHlt5ORyc4GPYcgNVmraJpart59r+V2t73dmKdSDjKyu1tfu/Ty8rPyveMM+k3C2YmhLXNtuDM8fzNGoOcFONoBGc9M9c9KvttfVabt/8FXXlt1Obey0V9rdbv1adr915yehm7VO3ZnAYfO3BUqehXC5I75OM45GMs1rKz72/LXo9NFo/uugu+/49tu35fcW7MOLy2BkFvKzgLIMeXLkjiRcYAwR1OOw3HCrtp228tbX6bb666W3tK9wTem/TS++ui8vx/WO2XVNSlsJpBEs0m1pAN0bocbTGOgweTjkgYPQMya0dt7t+fr02u1tLveI072u9n19fR3t523stmz33wHq91Fe2vgnWdUjGm6kCuiajcktDb3LLmOB2bO2JzwOm0lfTFcsm76XVls3e3nbXvv83a1jVbpO797bve13dKysn2jrte8ub0e+0CLw1PHqU812t/p13HpPiPTnix/oE3yrqUbfN5yDBw+FBTBOMmhP3k99bX28vPdPu+nwqzOqy7a+dtH3/wCC9vkip4w8DW0uqaVot9qUS6P4gMMmla7GoKQQXT4hmmdguGhd1WVewznHylutyg0vhsl1SW26td66PtfptYmpBW228t1vtzPb5202bbPl/wAYeC9b8A+LdV0K9dDqGlXDRxXVq6yQ38JAkhuomBAZJomVxgEYOMgZFZOzvorNdNfn9n/J76aM4pp6pS2ta/btvp632d0+oXmkx+I9Gl12yRo9T0xVXVbYAAlD8qXCgZY4Yc89CSOp3KFPo07J31Xfor9l6pXt1Sj2wVkvS/bVL/Nf5E/hG9u7qw1SwPy3ljB9vtZMkPm1bLovQjfGeAPrk/Kayq0m20nZXvta2l/5rfgvnexTXo9dNHv5XS2+e+5754U1meyt9K8QWt+okuZFFwI23SQxSHZcQyL8uCpbODuyOeapbJa6JJ387b/JO2sl56o56qtJvSTtay/G7SW/+Fr72SfFLwImk6xbatpt097a6/p76lvRBtiuFXfLEcAexwc4HfFDXlf5Xvppsuq/wpNX8iIatddVvdq/rqvWy063uubwqfV5rfybxCZVtX8uWMlifKb5XH4emSB2x/Fnv6/gl97fl+TbbOuNVax2torJWd+3a3491rE6qzQ3kQmtN/7pheWUkJ+bf1de33ff8h92j3bapWWr0eq2srPdry9OW8pS2UVJX97Xd2/w7K++n91fJXPSfGNrF4p8E2t7bSebe6ckE0gPMrlfllTcCpJjZcnG302knK8KX+0T10vayX4JPTz0Wum1jtkkqEItLreWz3vfq392vS6PP/Dms3d0sMNwzx6vpyFIlJ/4+rYjo3OdwAKnqBjGBXZUty7W0Xrfv31XXt8jkhzJ2d9+j7dXvdNa79eup0l40mm6np2rGNzbsVkmjI/1ke7FzEOmSFyQpBxgHNZ05RUbO291dX1v6JabXXpZE1Veo5JvXe3ku65lr1sl6P7Ohr+j22i+IX0q3uBJpWv20Wt6HPwTLHcLultt4wN0bEowAOM4K8EVblH1/H8fVf5mkJRi9bO269dl5N6fcr7kfhm6k0K/Nu3FvemSOJG+aMTKcSw43AA+Wd4XHzdmGMVjUavprZdPs/dbS6T3fV2HN3lG3Ts9/ROMUtXr6Wdm3zdetgupQ3NjaqkcsMpurbzRiBkY7iQwxwOegGCO/NckU1Jt7bd7rbS97d9X6Xtc0679ul/wur313duutjM+JejC2tPCupadMsk8sCrepEdyJNC2PugAEuem7OenH3q7YTildavT3fT5dde3r1kq9tPxXpt2tv3+6zZRtrxJpkslXdLe2gmuZh0SYfL5fQ/Mirz/AL3GeA2NX3rK3lp0V9EtF221v+JEE1dvXt6Py/4L8v5Y/V/wpkbTfDHiXWjDC4i0jyRJKdrefKGt7UQjqX3/ADcEfdzkZC1nTi4yfb8dPL3ra6aO+vT7Lqax1u1F6brfS2mnX4vLZ+84/LviezniEmlTRz3l5qspvNR3HdJEZJGa3iJ5yZM5I9ORggmuz/l3e/Xb59t/TZdezlyctm/ReXa9m+a3TZu+t+iPQdHa18N+E5LKezjh1L5CEIU+WuNysw4y/I4x9ccBeWd+ZbvyX9f8HXSMrNnbQfs7tP1uunkkvnoo7arVTONisLnX/EVhpi3DtJdBEcISzxqx8yYnrtO0BVX3wSMA1Ksl/W0V52u2l36dCp3qdLa3Vtltpv5/LtpY7mC3jvvEcB1COVfD/h4OskUK5V5LYYHmA/KPMZVBJAO08YwQ21GznbRaNr5f+BP7lvrrZcudWm1Ds79Pn5/atta6W97Ll9M19W0SxtvEGqeUb3WLcSaPo27ebaBxst55F42AR48vj3GOa3qTT91PX111vdvbZ9nJX77maV+WKu7dbW28vLfRrbffm8u0dLeKS5uLktf6j5jSzhU3IJpCWjiLEn7uehPPQZ6Vy1WuSUb9tvX0dvk/utc2pw5ny733ffvfRNWdvJaPW/IW7fQZ9Ta6uLi5ZbKGQy6jfXOQN2cra24J+QJgLsGM7epwdvH5v5ra/wDXTW3rdGjpuNmnt66rR+V7Lvou0rqUuc17W9NtENjHJEgY7baNvmmkBwAwUYOG6jA468ZNVBe+tdfzt0t1tt+fUHVveNnd6PVN6dHo/XVray1Rwkei6nqs7+WSY4zullCPHFaRnvI/IX5fw7nGAK66b3Xp/X9fLZmb23t+v5flrtpc0DqGlaPYyWumBpmWXbc3+PnmkzlkjlGSyqc56e+c1vBXuttH/l387fZ/UmVnF7baerTXfa3XTTVN6cuzp+tW2prAltcG0vov3a22N63Z4YxRDuwAJb7pycEnO5dopRs9H09V+OmqvZeb5V8PNyS2uraO+jv205/mtbNa62931bRPEtrPpcWmX9pEzQ3DW1rcKgWWWQDcTJwOITyfQL2wQvPVXM0l31+Gy1+V93pe3e1mLld03s9Hu/Lq7tre/u/ckz3Cx0jxBoHhqz8TQSSQ2N4v2pPP/dILZpSiNCxyDll4OeMc5yN28Ycu++91ppa/4Pd2d9ErWtLSvTpSi9rK6Xo9bq/N00Vls9b/AAx+8P2Zfjl4F8IarpWr+I/HWvaVdWsLQ3gine5Nqsi5Sa0YyKm5ScBFKjp0xXtYXGRgktIvbd9PPR+Sbeuyvdo+RxuVwqtyVvieu7/NPppqndXV7e9/Q1fftb+JfHnhT4VeBvhFrOuH4feINMtL/wD4TjxOZI7kTWCwpcXASCRwdPW92I082wb2CkDGa9qdSlKMVdX0crpqys9Ho7+WvXS10eR9Vjtd2t97/l7vRN300s1FXvH71/ZJ/bYfVPDPjpfE8k2tX/hW+ubK81T7Qjw3Z00/ZozbBmLJBckbYedvf5ipLOiqTVtPO+9teumt9d+2qTiiHGEX7uq6J72073vprtp1v9r62+CXxyHie0Gv3lwJLrXtSu5tO8Pwu13dWVkzsIIGVc/LjnOFA+9g/drNvV+v3rzXTX/gbI1niOReVtEm1fur/wDA18z7H0fWpL3EGoQpZXbL5kUDPiQxnplCdwAXGTzjOMCj8+ml/wDL/g20vdM0pYy2j6avuvLdb99L72jtPp1OQM4z3wcjPtyf5/likdF+b3tbS1Vx+w+n60AOQEMQfT/P+f8ACsZ/E/l+QElSAUAFABQAUAd54X/5B83/AF+Sf+ibeuWv8a/wr82dVD4H/if5I//S/tHIB6/4f56/5zXsHjimgBY1J65I69D+WSR/nseDQBPQAUG62XoiVUGBkfrTas2v68/x9fV7jF2L6frS/r+tF+vqYS3fqxwGOKBDdoySR39fYdvrmhaaL0/r/P8AzNo/Cv66i4HHHTp/n/P607tfP+v1KADGfr9ew/w/zihu+/p2/r+u5lPf5CEkEADPTP68fjjrn8qnz2tf+vPT+tiCvIHmchWKwoQHVeSx4yvbHrnPsQeKcbWu7u7emuz21tHbT+W/S97x0jKKi79NX5+nfT0t87y8++KPjLTPAPhO91S8hlncxtHBa2wBu5GZG+ccjCqDuDsRjBLbeKHq3qvlsvK3Lq91d322d2znlP2rcIpq7WrbtqvRPTt06J7n8wv7eX7UugaDef8ACRa2YvEGof2TqmnfDj4QyarM7XmtTLLv+IPjqbzUtTpWnDzDpmlxz75rmOJpY2UMreDnFSVOVOKvrCV9+6TTvrs91ezTsne8fZyvBc/M7puMla6d7cq9FfZb79tD+Vf4i+JdW8V6ncaz441zzNZmkW909ZY3MWou0+5rW1QKI444AD5YIVFDKCx4WvjqzlUlLrq9L6aW8tdO+1t7po+1wlF01tfpf5vVbJbrS2qS3spHyBrOoy3evaqNMjubjVbyaWOe4GHtrC1WTasaBePOkGBlSwGOMYy2Uadop25bpNr06X8938Vu11aXoKLqyi76U9+t5Pbtr0632bVkj6h0SGPwL4F022aCK58Rajbm6lMi4lg85cx5VmU5UHJI6Z7ZG7aKvZLRLfRPfs9NXburdG2nzdcsRFU+RO2mu1r+T0a7a69NdzzC91G7uX1DV765k+1pZzmzsXcjzboxlDOUOCYbaLiMnAO7kNyaU1y8turSTV1t830VmrK1t2tDzsNGXtak27qUWu19fdfZaa2S37WR8p6ikxu492xZJZZWfeA0s0jE7p2HGQv3gTgcA8A100mmk99NO68k3b4r8uz663OupBJNrfVp9/XX8demmlo4N1qEjTXioSqxQjZt+aR7gNtUAA4CkkbgBx7Y+a4Q3u73Tt311t1bv6K3Vq3veRiZtuMd0ntfbdXtovP8FdWkfRn7Ongm61rxXpl9q9tJJp0U6XBhIybiaPBQKDtJAAGduBxz/drgrytPXRP1fTqrtteas+vvNXO/C0vcV9dtrdbtrd6rXXbtfRy/Xa/to/Cfwr11VaKyvvGWrXH2mNZNlwuj2NuZ4reHqUaWUxxsDnnI+bkUQSUVJaPq9rfPrtfpb5ty6VTfOtfdd7Jq6uuq763d7x0te97x+OPDmiXOp+IptOiult2ksPs93JKTukvLlZLhyxxjyra3jWMnpk7QSSdvm1tZ26db67JK/TZO9rx8r3fN6VCl7rb1a6W29e789ra9T6X+GuhXss2g+E7DRY7641G5iZ98eYnMe/y5pT2hgjUyspJU7geM4r1MDBNqyu+q3b032XT+6+26OLHVeWE7NrXWz+Sv6aeem61iav7QXjCx0KFdE8MwJZT2eY9TmLEq88GxPLg2YJFzKCAFU7F4YdS/tUqPJZ31eye6vd2t3002v0utT5fFSlK977Xsnvo7J7dkrrydno5fgl+0X4/1Xx9491Ca+vp7gWDC0eNyyRLLCPLaGCNuSkAULnjOc8fcr0Kfu2l/LZrS3X/CvPfXppq48LpNQcm7dLWSa695bPys+vNe8fn6KxMpKqcSMPlLn5VOPcDjGeh68AHq1utF269NLeb8+m2r7dXKOOvnvf5/110/NSlH262dFiuCGBCgFd8ZJwMMDxt/EZ5HH8U8iv05Xr10631t+rStorJjs19m6676fda+/fTpbU9B0wzDR7vWJjHb29lcQW08kD5aRpmZfmgLfNHuGGIyBnvkFr5VtZfd8OnTb8/PTQX4f18/63tuQa/Z6ddJBeadiJSqfaTEgNs0jc7kxyrZ5k3BvTj+E03sr/pps9LaaavXfRB6/P5/0uunnY56Mx+WytFtdGGx1wSi5+bced+cjBy2BwCoFHdbfLvrfq76PpvrZ/aN7dH3/W36q333ctCyi+1M0MsPn8Fo5GfbMmOpikHRem5SQx6DGMsbrW1rd9l002frfp1uxpXtps1r699107et9Eddp81vqemXunJ5i6ppOy6gnYjePLfJ8okZLLgfMOnXJ424zi09Hddtn006pfNy+SdjVLXTTVWtfTX7nZaLT77n0X4X1y88X+D5dX1Ef2lqugW7abqokBZrzTYk2pKw2lpJrRAAcFtxJPAANclSTTUb2vZ31e+z8k7Xve9lZ31Om+qW3nezvp1vp5aW9Nebstat7HxB8PNBubeQzDSdoEKxsWSF5F80EddiKwbGAPkycYArZSvZLVa2t1t8lo+3va3avZo2mk02rXtbsn0TfXXrvtpa7Z4D8TfDlzrOgjXrWWaXUdFuE027cK5lFrs8y0ZurCMINu/J424wCAuiez89eu700t0vs3HTS+qceCULtLS6evn+P5t28zy3wXrlxpGqwLcos1lqiNZXqOuFYygpuJYAEgkdR2zxhWWqtTlVlpa33Kzvpbf538ryOr4beS07L/O357nqfhzwGsHiO5aB0e3k0vUZnKsxMEfkuyo6kEHgY5HQnGc5rFT5nu3a27vay3emujb3eqWr3DV20/Xf/gu3T9Zc5oV6NPN1aozfZLoiSHKYkjlK4I6YUZGcANgc9vmv7rLTyt69dPJ6y03ly89Xd66W/P5bpNPpZ6NvVR+kNMvbnxp8OpLaNIhfeFwZSCP309l9yTDckNgAkblB7g5K0n1d7aarW+79XZPR2Wu6aSJh9nfr/i6/8Nfrd+R8rSWsS6lfW0kTRpLvwsijO185OAcnrxyfUAZ3NFt76t7et97f5+lnq49Hs9U3fWzVv8tLbN3Ts9rRt7ut4GkIaXSxPtlsLxmGeQYifkTrzuHHIwe+eDRtbR6+W/otLW00UndbNHTGajFLRNb3fV6bWdtX367K94/QGmeGru60u5tLaPCLclWKAIALxdy5BGSC2eACM/TC8MrKrJ+f9X01sv8AJct25dT96CS112Xa9m+uq30t6O1zyu/8MvY3k2qaaSZNGuktdRBYK4ycNJsIDMnXPGDnoeA3QnKaUdH57218rX10ve735Ff3cZLbvpvd21Wm2v3300urcvo8miz634bnuI5Fl+ysJrcgYwSv7xQexY9QM5/HCw42+/p39dennLs9EWqd4cza1snt07Lzvboumq1PO9aOpXXhOylLD7Z4Ovt1v1EhsrhssgbqEDbvlGFyT04ap76P/huvne3y0fc5ZNx0Xyezuu/y8+mvMbGhvp2o2s09/IYYbyNJ7eUH57W8jHMq43YVvmV9pPpnvWLb9o43fdff/Vvw3KpyTSk9Vft23er177eStb3u2jhl0+2jgaVJnVQ1vLERme2n5+Y55IJ5H/oJwGuULR8+9vl59u0rdb35o9C3Tt1b9VppfX031tfXQ2/EGjTX/hWHVIkgVbUFHiVg0ocKdspUcgZ46HqeOfl5lNpu7vZ27W262d/J6eurNKkdu3drru+jXXt8le0fG/B5nvL942ys5vUhLPnO2ZsEgcFehHU57tzmuun76sns/vV9Xe6S133tfZXSMJyaslvpt0v5NbX1fvK/W259wah4VisBpkVjct/ZdnZ2F5qDLJ+4+0yJkRyAYBcSAsFIb14q5xUZRW7tq13t6vTfrv0S1HGOjd+tn12+Summ091tbZM8e0nQnfxNrviXWJkl0/TZbiZM8tc3bcWcaAkgrERkdAPTkVpa1P8ALp5236rp16ctmpTy3urbf8Outr6pedm48rupZ88T6lpIdislzNeTTzOeXKlmYKe+FAHoOMjoS3JOXvW+717Lbd7q+17p3RtGDaWvlt1t01t56312k7uJR8Hw3Om3d94gWB2niElpZsQcPc3f7pCOP+WeSQRtx+GKj16ffpZ+V+m343sauKjG73vtsldaSvzdVa99r7x+KX1dpHw80bSLO1OuzRf2L4b0638QeM7lpFjk1S6uXE9posPQyNcTMiSLhD5YbI/u6QS5ut0rO/l9+13r18rtHJKpztxvZxbe3Xquiu381o9dUeVazqlz4n1fVNav7FIl1KYiwtYE3Q2Gnj5ba0hBzsSCNVG4LjIJ56U5uyt1fy8nZa97u/TTld2i4xt2S136u7v0lrZrfZOybuyzb6TafZRNp9kqw2KZupm2gXFweBJ5h2BzGeVXLZIxkk/LhN6PffbfzbdrPRW79XpY3uqfvW2tr6vtzP8ArqtXHm9b8/U0tbOJpobZWO22ijxHEXB33N9MM+bM7ZKKoIRD82MgVj1/Hqr+vR2VrP7upDm6mkYvV7W0d3020t1bXzszyYaBFZ63Nbafbx6pqBkXztXu2MltZQbvmEfzDDImTgIfTAJC1VO3Pazerf39Fv1+X91WYOk1ed9Vfm7O7/mu7fJSbJPEvipkgj8OaBB5CKXW/wBQlQRpfzkYeTIwyxKc+WuPmXnBxiuuGv4L59NH36a/KPu82b76W++/a3zfl+kuGgtJjeW+nLP9ovC6R2tsiZjmup2AcgAZO0EenPQkV007c3p1T32/w+rvsm9rJg/TZd+uy1631s9H3Sukd3Dolz8PvEU7azp9tPf2zWFzbR3Ucvl7zGJJo3THzKRLGjD+JVI+bGVuo+VN3W/q15Pp1u7XV/RuMOLV1prpbTu3va2r1sua/Vx+0sXiOTStd0/Ult4Lia11KK+Sz277CeRJfPCGIFsW7bhC8fUpx8wDKuEVo5u/Ko736pXS0u79Nb91dolU5PRrur6btb792+vk2tD3K6+IfiPUNPnbUrRoNKe4m1CXR7IlLCIXLtIbSNd5MVnGzDyFA9+eN2tOqpaXs9t/TXXp1ei7PZSlnWwlVJ3dtl069NXa2mt+b4dGknzch4X1rVJpJhYQStPc3ebeGNZZMRBwwgHXgKCBj0xu+8WJycW7aX89O9ml2uu2nf7PLHBzk1trpZ2+V9Latq/vX5bXto4/o14K+PPxg8DaNofhsRazo2kajpqae7pp9yJ20a6uI7yX7E025U8+aNYlkiwPLQnjIK9KnVbSu09t1ZLSyd1rdX3jvppZSlz1sjcdbx2/X/HrvZbLyd1y/q5+yx43+JGh6yfFfhf4PfEHxh4Q1W50pLrS9MgSa2dLeAm8mvbm7uINPWe8u0aaFLqQw28TEuTk17WEjVaXNLtppe76q1te0v8APnj4WIypxaV0um8det7c7a+F7JLqr2979Xfh38dv2nvhz8JPHPie4+GfhLwLpEGrapqVz4s1bU7a4m8Pabd3Eb6daLLbSGOa8WIrbpBZ74t7bckbTXc9N9OvS7Wrs1fTV305tdOrZzVcJFJWsrX0vftstdvJ9rXbTP0R/wCCfzfE3xt4LX4y/FrVbm41Pxdc3reFv7S8/jQxMyw36gZht4LxBGYIm+cIN3B4oT6JJ266Nb373vbukr3f+Lnjh3FrVO738tPW1+mvk2r3P0zs52nLkqPKwpWUchj0OCc8DoMnnqANtV1s7+f9bX/rqzsS91RXTRf5efdu3lrdGlS/r+rW/L7heu4p7fT+prGfxP8Art94f1/X9fkB6n61IBg+h/KgP6/r+vzDDeh/KgBKdn2f3AFKzW/+X9f13A7zwv8A8g+b/r8k/wDRNvXLX+Nf4V+bOqh8D/xP8kf/0/7SK9g8cfs5yD8vrx/jj+X0OKAJR0FABQBIEBAOTyPT/wCzH8vypa919xam1pZaef8A9o/z+8fj/aP/AI7/APEH+Z+p609eu/3B7SXZff8A/cxmXycZ64zj/wDUP0/Khapeav8A1t+X3FqKettXrv3+78vuHDOBkkH/AID/APEt/P8APnaf1/n26/09w5I9vxGSSeWvA3Meg/xwB9On54o/r+t/y+8pK2gkTTMSZIwi44POSfTp6ZPb6HPyvp8/+H/Tr94CM0yncEDr02jhgfXJzwf91uh6daLeav8Ah99rX/DzvoJxT3Wvrb+t/wCrifaQoYskqbRlg0YYDPRgVABwM8fnjopb5re/Nuuy1evmnp0SvcXJHt/5McdrPiv+yYWuLOxlvZLkFYYpWEW6VeoAC723bSVxt+YYPGNscsm1FO0bNfPTW+r0Vtnrrdv7WdWGllpftrffu1bo1qr+dve/J39pj48vo994l1zxjpPiTWbfRUS3j8FeF7iRJZpbpvLigvJWadDG+79+AAYk+YkAbaK1qcHZq9t1pbXtrsmnZKTV+l/djDUW5pSd9dVZ623fxRvp6d7a2j/MX+1Jq2mzeIfH/wAZvizp8P2rQrCDTPAXw5tbiBtIMOpXSR2Vxf6tExl1c6aHcXkMSxos6bCQFYt8zjJ+2k3Ud7JqFlbr197v1blbotT6/Ax9mlyK19/N7Xb97RJPRadLu94/hB478T3uraxYXk8wb+0tbkW1tYXCxaXZtcoBaWSfMfJJB2BQF2qeuWrwKsVCUmlpsvNO3Tpbppr3jb3vpKMrw95tStr5+eyt3e+qWrs1HV8NaJDoF+L+6+zR2zXD6ve5w0kcZnYWtrJ97fJct+88sdABwQMLzTk3KKXa8nutt7eunTfZWvLek5QlaL0fxdfhvqlfTs7Pzadry6Xw/qOo+P8AxJrWuXSMml6TN5UkzDZDDBFgBMNjaBHn5QQPc5+TeCSTbV7K7afV287rpr72m0ehWLpwjBNKzd3fo3a2z+bVr9neXvHket+Jh4l8d6/fxiJLHS7JdI0uCBNqSxJ8skzgYXc/l43HqecA5K41XG65tnK1le68tObtfV311asRhb2lza2Sa8r216O+3VXS3f2vDtaE0V5NqJUgzMbGAEABYuskytjaAqndxwMYzkg1rR6Jfjs1/wDap7W7N81rEV61RaRlpzPW1rPa2+6ff/yXeWhpGiaNBZ6VqerzmLT5Lr7Rf3sYBaSIsfKtrU4HmTOFwAMrzndziu/l5adST6xta99rL9bfZa0V9FI4H70rpK7fXr0t92l9bbJO6cf0n/Zd0zSdf8e6NqWoLJpmmOsQsbYKhWG0C7LQzooAM9y4BkyMgP3K14Dlz13Fu9tV0/xLpbu/O61tY9vCxcYRdtdnr33vo3f0S2+J3Psf4l6FPq2p6pFJ9lRNKV4Zmhx5FpZj/SFmVeVE7IoEhxuz0yBhumT5YvS6Xey0e+lpO3pol3u3Grv2yjpay+/p2T1urN9baXPkTwVoU1xqep3kDsbzUtRuI7SKR9hawXqR0wpVTj72SNo2n73myvKrdfzLX7r3T1srrW0rrpY9eMoRo2btJpa2v023St1fp0veP6N+ARF8GI7/AF/WbBbrXrrw9Ba6PBOsTNZG+thJJfGMgHc0TKkBByQd3OM17+EiklZWaildLo73Xl69UrJRvY+QzWpJqShNp819Hr2vtZ3XT5+6mnL8hv2jvifcW32jVXRVnhvtQuIIVm3tLO7MI2nI3ACIsGWM7hu6YwQ3pQbd221rp897bXsuzi7LXSx40XO653JpPd62037b6Wt5O+p+XF9qg1OaZ9RsxPcTyyytdbMTb5ZDIDvAJePL7V3Nz7gHd0K/LZvTS+u/e+3ktVfSzvdSNZVYyi4pa9LdO9tbp3TvpbdbfFl/2PFdOr27rC4yrRTHZn3xyAemD29utGi89ey/DTo9baPS92c99e69FtbXTS/pvdX13HvpZimmtS8e2SDzYJMk4ZQNy7z0HB4A646gAs1J7Nu60e+t+r+WnW/ztGJaxa5ndNLTr1Tta2n4rVvoRS2OoRWq2253imiLSR5zG+35g2D1I4IPHzAYIyDQ23fWz821Zea1vZ+dmr73BRuraNq/dP526rtZLorXM/w7qqabqJ03UAG0u/P2e5jbcdpk+Tz4lKlYzHkcqBnGCODVXdtG3rd/P7rO+mr0avo2xNe8rq3K76bXvonrHZpLVtL5l+XTzpPiEabNultUlMUE4ORJbzgNEQeBkKQd2WOOcA5qbvRq71vorfm3d7dNbXdrqJTSstL9rLX9W9Nflra7ZYvobnSJfKjBmsJJ1d5FCh0djkDIwQmOWHGe4PShu7303336O/p3tp5XHy810trdFf5PzXTqtbbo7ZbGNNV0i+011jbUbRoZkAXaW2bZMp8ynfk7fu88nqQpJtppu9tfO3bXV7vZpaW0bRpSotuPNzNJ20vf72l3810tHQ+gPgcI9GOorIySwvqT2cySgNCLW4RldnDfJgZ5GCMepX5cGr3urt6X6/ld321s/RK0vSjSvF6JtLqtNOr8356q+mzO0tr628P61qfh5TGNJlnuLdpF3Mgjn+55CjIAVXOQgXK4yBkVnyTT0el09m9G107O/eXl0MIJvzd11/4HRvTz0XLduVC/t5rXXfE0aefc6RrPh87X+ziO3kkt7dUjkSJlHIKDc+OWHJH8PbRmovWKd09Xq1v1s+jVtH5cunNz1kufRcv9Kzukr+n37pR+GJBdi6ls3Xf9nvRcROow0YWbLbh8oAHoccY6gCplZu77/rptzK3bX705KOCk3f3n83fd6LS6frporK95H2l4TIQR3FuqyGfSHa/vpE3xpD9m2vCVA4JHy7z8wyB8uctikr6Jb+l+l9tdddtNdNWjup2d3a+ml/P5xs3fq7WT2u+bwPWbSO0kS8tpt9s0sZKQDcFljboGIBCHnPOOxzgGtd727+mvnu72W2l7tPdMxrWk9E2u1u3S+n6X2d7c0voL4KOnm+K7J5HWDWdJuIYE2bys5iMmFCghSSCOO3TPIYtazWutvz+fe7vre7T+GM0Y8ru1db6r9db9rtrz3XJ8v6/LJFr8LOZFdLqWwnLKMApKQCQckHpjIPpgY+fNq+2m7tva2vp36/KWnLvGd31ve2/y2/z3393aUNq8mn+L70KPLhuIk5xtyY1Eiv8AKMHdjG7GeucZ+Va9+v3enZej89Loqo0r6Lu3p0/4dfJ6J2vH6x8K6vHcWH2ye58iWdrSKFE3fvZLdlZAeg3NnBOPbAx8vJV6+v8AwX39NPw3OnDu/K3bvbTRLXbpqltv2V7y4D4oWF3pXiea8sopjZavbk3SRhvKadk3qWwNu5Wz+HfginQbv119b99vX0ffZKSxez5Wlv66+iXfWz++8WWPAWvahN4du7eEp5lhN9rKygYkSNtrw87s7lzjI9iDztuXxP8Ar+unbvuryxw0pciUpNttq7bXytre+nXXfVu56DoPhz/hJb++057OGCLxLo95AmNu1LpYjNbSKOBkMhU7dp6c8gVpBJxV7ddbX17drvzXa1jpm4tfDtrdrXbo/d116rXbR3PA9Btxp0t7o+ohg+mz3MGOfm2SbVQHA4Zh1HXrxyF5qy99u3Ra2/UwTSelkvOyvbV9Ha/kvusj2Xw5a/bYZknjK/2aEWE4JZIjh1Vs8kcYx6cYOcrzTTet21a/+f6Pz/7dO2i4vovP5+b9b6qN7X3sdTrIh04WRWcPZXY2XS8AMkw2s+3OPkZsj8cDkmlDfXd991/W3X1e50S+F/lvqtl23+SPLPh3p8Ft8WrRb5gdIgluZTkARXJAka3iYZA/eHAV8EoQema6H8On/D7b9Pva8rao8eom5u23rbVqz667X6+aWp9L3+qh/JttLkmuLe8viL5GPyx43KI4wM7mjPyRtjryM/KK51dzfzt9/wA7aXX5WacjSlfW+17W63eqe/RX6v52MPxvaW2lQQ6Ha30UkkM8V3qHlkEPPcrvAHr5K4jYFvvA9MZrpk37NN31189enTrs0lfbU7Ir3Vtez/Hy10t0vra+nwnHBTZwy3A8zy3j+ywlh8qzXDbWIBJ5CnPUH/aPFckr3evXyV+l3a9n16b7vY1hDnaX8rb/AA0Xz1Wr200PafA3g27lv/C1kLNLm23Pr2oRynEXkWGHEcjhSQbhz8vHOCMn+LajBpcz8nptbsrvS36q3LdsxzBNR0e600623bVu+tl9p31S5Y/ixrFxdav/AMIhE/k3N5dQ6rq8Sk7BNOwFnBKuR5i21so2+pwRjgrvOd4qOt7/APkv4Ltd31s97pHJRw14813389uyfTqm7aWb1bLFlodzeS7LF08i3C2UM5j2NI6qFkMUfGfMYEZB6Hn/AGeTlbfZb/K+2jWy6fle8evSEeu/otv+3vz6brU6+98I36x6bYapHHaRPl7e1DiKMqg/eXV8393PIUjnoSwI291NpRSaT6X09fn+F7XXRS43Nyly63v6rV3d9JX6a/ndOPlmuR/bDc2em3SCzgaaKVolEQvJIzt8u29EyQoPf8AzYVad9VorvXqunle7+15aJrQ1hJQfpeyb6XaStqvm5a63ukmcF40sbvwRoSaJZ2v2rxN4ktIprySYBf7I06Yq0UdvkKRLMhWS5mJweAMAmpjFw1f2d9L3vdaau2t1tK61sr2NrqpFpPbp+t9mvWy7X15fALp5YriOzjc3d4hSIqp3s0wT5tmP4FB+YgH8MYbde9tu+/8AS9Ur9elzmlBpu22rte3/AANO7tv85Zceqz6fr9pLEYZLu0nUeXGMSmdsbRGVXIwwDMQf4SeuGrXktF90r36LS2q1b3fVb6qzMnJJ2387/wCdu2i5o221tY9a8UeKm1dLXUdaDya1CEt4nMkkjXtzcLhZZSeiWyqApwwXHPBrFTi9peq7W6N/8F/KyctYJ3Wvl23vvtqmk9n3a+yZGg6JcahdyTSmEPDJ5Zikk+55Y3ljnkbgT0A56E5FPnjte/nZ/Pst+6urdLM7krR6WivLS22mul3baWne3NHtvEN5cW8cWnWNw8drLCv2gJJujlKquVAzyB6ZPTAzXNWpybvF6vSy6a3t5u3XVvrunHL22+mjbvqm1Z+V77rW/m9ve+hP2bPBfifV9bg1PSp/sw0+zuL55HjiK/YQPLupgJgvk+Urr++75GQCQG78JT5UlLXRtt9bO9+lrdbrdJqzRw16yctF3T87dVZdt7p26XsfcPhTxP428bR3d/4ju21iK2lg0/QpZrHY+naLoRlS1VbvJVYHEUqRRj77F8EitIYic5bJWfdab9VHt3XXTl2lxxwcVCTdR69G5Nu8t9+1l26pa2P6Mv2aviz8SPhP8DvCPw/1LRNJj8N+PdNTxf4vn0oTR3eg+BzJ8t1c3QimNpPeruiVX2SFBIVXAAX6LB1Z01Fyju7q79dvdffqrLo3pzfL4jL4169uaV0+spbu6u7TXbo3bZp6cvKt8Z7j/goT8XdM+Bnwm0rUtB/Ze+Fmr22oePLy1uWu5vFNzpc4+zWi7YrYNYTS26MY5YpFYtjnINEqv12XKkuqe6tZabqWm/muqd046ywLorXW6Wurva19V2dnpa60e15f03/DG48MWHhnRtCtXtrDS9F0jT9O07Sh5NvHZWFlCkNvG8GFG91XLAJyc5IyK7cNhnh/eevm21df8Mt720+F3XNwynytxVrptNPZa2erv7rT1036K9j1/R5FltQ6DbA0rtDjbjyz08sDoCMY46evNRVfNOcrt3lL7vLrbddt13NItyin1tbyeib7aJ8271fVX93UI5PXGeCe49ayLEoAlVxgZP6U7PuvvX6iXX10+f8Awb/1YeDnml/X9WH+n9f1/wAAKACgBpUN1/ln/wBmX/Ppj5mnbon6gdx4ZAFhMB/z9ye3/LG392/n+eflxq2cldLbtfq/8/6sdVD4H/if5I//1P7SlGTj/wCv/Vf5/lj5vYPHJNoAxk4/z7n+f5UAOHHHp/n3/n+dAC7W9D+Wf/1fSldenrp/w4Ew6D6CmAtABQbrZeiGu21c9gck+36/yzz36U16X/rf5fP9YsrWqFmeZzuDHcAegx0xzx2HTvnn+E2Xr+X/AAf0a7gaG0N8xJ57dQO3HK+nYL+Oc0gKznZKoLYTBLA8duDyT1+vUds09LPvb+u3n1+4DK1J7mRVe0nWGOLzPMRuPtCurZAIHysu0bW4+90GM0fe3+i/4HXp8w/r+v8AhvuPIfFmna5d6XNo0d/FpJ1aMrLqkI8y8tbQ/eKSOCts7IDsaHaw3dTk7a5uWPM+973tZ+f5/lsJzSaVlr19e+mlvkui355fzTf8FEv2kvC/w58e6x8JvBeoXsehaDok1x4x8WJdLe6teao0EheGW5Z2eNrmUiEOZS6rwAvDV4mPxqjGSuuvXZX16NXdtrWvfayPTwmHdTlcY67Kyv8AorL56d47n8kXxl+Kt74ovr6TVdT1vHmzLHDPetdxw2Hms8MUcDsUiK5DEY+d3LEnLbvnZYhzvaz2vtp6/Fq0kvx10Z9NhsK4QaeifK976Jdb3um326ve7PnrQNdh1DWrKztdMWO2tZI2kv70Ga4VBNvLIGysSkjjGzbu7YLNyYmXN71t7u1/L0T3e2reieyZ203a6en4Nd35/e30ts49d4o8RtrOo3YsFWOCO6W5uWthiN5/ligiVVwuIlABTozZY5OBXFTblKWt+W19PeSSei87ru+XbXU7YrWLve9273WqW3R67vbqru6Z0114lfT/AAnaeF9HQRXOps0+uXUTYmldwN0bGP5iQozjA7YxkV02Siuyet+l9dVfVdfk/h2lOKn7tub5LrZd+azvovx5tWcLoHhpraLVdVG6NHWUEyLgF0RtoOcgY+ZhyN2evKtXFW96Siusld9Nbq9tbb8ztLotlZGtCFqSlqk49b9LPT02203vq+Xy270248R3en2Mx+x6barOXlPAkJKqRGQCXaUjA449xzXZhlyNdNEumvf7/WK6X0OKvv212/Tzdmu1r27uUc+m3niLxvovhm1Hk6R4ct4dtoMmFjbKGa4nUAbt7EtvbpzkDiu7EVf3N1pe/VtvTbZd+t9eujM6EOedn0V/+BdL77PW/VX5f08/ZotpND02XxVMpuLX7faQRsBzHLb3KkrHkAKmxMHrx36V8zTnfEtb6t93o9dPddltpe+7StY96muWKXVK+vp1V0lq97662Udz3/x74vuoPA/iGd3RLnxZrVxaaeY2/fSQ3TpljyWMcMKOvBwPckK3biJOMFZbyV76JWb7pvdLqut+nJjFXrPS9oP1116W8+l3t72vNynwzsraXxLagoscenWBe8LAhY4WSNovUqzlGJOd3OeerKhTu7pK+/n033v31ttbSzcta9Vwpy7Wd+u/l7u9l11T6WXN6J+0l4/uvsepz3V7BZfabNRpTxHy5vs9vYJBbRrluB5UORt+7uPBDYX2KcUlpv30WvXT3npd9dVrpY+XxFXmnJvq9m9l/wAF7WcT+f3xTrmqeIbbxJcX+oTOlteqlvG77y+6ZtzEs5IBA3EjHHeuqls/XbVP09H5b3fdnFOdotJ6u1uvnrrqmnbbro+h4xNq+oWBijQIInYElRvPB4O/qOeTj6YXhm631s9d7d2unS/TZ/dqYtNO6W689Wum636a7q2upfg1q0mR/tllJcsXAE8JKOkhPUgA5A98cHk9KPn8tktPyfktPO49Vs/0S0t9z7JfebKtHnakvmI6BUQgeZGvB2565HTv0PrhT06+d0uz876enzYmr2WrXe+i8+l7+T89HI7izsBfanoUMEPmSSae8Rh65k3qFd8LwTt+8dxxyeCxqd76bel9Xtu9k9r+ilozenHS9nd6a6v0+Wv3X7HGeL/CbadrV0DEAqeSFkTlWlO5nA9doHPA788AM0mltsvnba19t+qfyk2uXCqkr6t21ffX/g66P1Wvu3tetSfDGj6mkTS3UHyXUvJYGCTYhBHIXyG2kbm+7gdCGaXm/TzevS//AKVZ9lcUZK23zv0d2ktL6vu1fvq4yv6ZYJfyNaOnmC9tN0LMAQkrIf4ueVPToR2ySKS/HTXvbTz33vfuldJnXGCSdraK+i1em7d+vXWXp1kvh+K5AliZF+0aLeouTwREGMcnzf3duSeQvpnAFJ6Ju+66r0V3o3td2bbe3u6lxmlpbvfX5q2j+5uz7rVnufw9s5LbR/GF1cSGOK2v7UxMRjzVunKgjrkJ1+73PAwRWb011stVq/8AJtNpX1a0XXQ6FWSjLpo9HLf/ACfd6tdG7JmpPM0qWerW7bpIZIJpcKGyI28p2YEk7QFDHPqc5zls/aXez1erb0t5+7v10fzjpzYwem3VfNX9fK2q89be7774gsWl1jwwZYpY4L3wfeykxIDFcNLCxQoAMLgnc+D09Mnd2UqfPd62tdvX9PPS2716NnPW+LXou9r6rT7K02vfrZ2unL88NM0OfUvGWqaf5XmP/a72cu3JxD9oJLE4yML1HzZI44Dipkrea1WmiVl6tvb0V9b6OXLF2ezetku1+7Sd7vTbW19LI+pPDdzZ6bbeOrF5WkiXR2tLGODqhZ4oIl7/ADtISSQBkY4asl9z69Hp26L79LXdj0qf2u1rv+vPfbS28be94Td2o0y61jwvegmaO0hkjmDfLFd4EzR4+fDbW2sBzu4OcAVovTt8tOu3Ty7LQxg3Nvp8736/3Lvv9/Sx7d8LLy+0a98KJZwLNJq0t3kOvzOEgKsGxg4HOAdx47dKd1p2fe/TtfT536dfdFUfs7K6/Ht6u33votLrl+bPiPBJF4o1gSjYya88jqvRDLP074GTjp25I5rHr/nv/wAOZ0pXba7bX2t1+/bTVbct2Lc28kuuSqFJdNL85MJ8xQRA7/yHqenfmh6eqf430V/1S+/QqrL3db/q/n6tenyR6X4XvJL7S9PtVlMaxXFvIZBncpD7WOeCMsMDnPoRn5eOrrftftdK2ya6Ltv26JR7MK2ratJq1tt+mt9r+e2t0z0jxO17qyJpc13JHbrFujOwB2kVCDhh8wB9M88n5SCarDpXdn/XRvRKyfn2SS1N6701V9H8vk762Xe3TW6Z5P8AD+F5NT1LQVl3TSvKUbdkuuThSMnPTv8Ar1apfE/J6dfu2tptorba6OXFTlyvl962y12u9NUu2+ut+lve90+HN1qF54l8O2gjcf2J4oi0q9kAcbIZjhFfpjPPLeuAp5raPwrr/wAPtvfTbf57s6HNcuz9L389dL3v5+btsed+NLSzt/HfxBaFAbWw1i7jj2AYEnm5yCADwSfw9DkLlNe87q1+n9fkc6b5vV6K/RP9NO1vwl3mhajFDY2CRKon1FAJJON0oWPAXOedvAGc49T92sJxXrfV/L+r2suyvtHspyb1f46+t7Jfgr631Rt+PvD89h4Xt765OIroRskjZDR5cZAz2bA9Px4FYrSWj6d+t/w1f3+p13bg/N6Nabr7+/T1scR4SsVlmljltmknt7qKaCcnDmKRMgNjllBVjtx0zg527d2vcWvbV6/ktNHvZvZO9zjlBOVu2l93Z3/vK3Rre+11ue8fDzR31WLVNfmcW6aFdm7s4EjDx3csUT4gYNjC72HT+I9ycVzRdpvbe3a+qWto/grbXbWxbjy2sleyv09e63Xe7tbXc4hbG41jxG11fRiK6knlu7iArtLIHykYU9AME9BjGe3zdErqmvv+/bv1to116m6+BLvZ/ddq21ul+72v7zJPIHiLxNaaNa5FvHch5gOY/wB2ULkkcAIOOc/qCvJJ+9Zrr18vu33Tskt0mk+TWm7W723W97+m1uiUv/bj7U+GtlGJ7u7tRGtrp9lL58spGHstMXfIcjgAyjGehJwQx+ZfShCKp+ivff52/Cycu6tZqXn42s7pPys9Oyvunfd/gnfVS+NfEt1LqXjXUvFkltLK2rahL5MQz80Qby4DH1zGiAFeVHoT96vOnO8mmnv6rT5a+d3fze8u2i0qMW930WnLfvo3q1urfimfXXwz0uystDm8RX9vHI2kxKkYuuYvtEw3iYAgZeEfMBnr3IANdUIpxu736+vb/gpaJfOPHVnd7N66fkltv3210s38Pnep2+teOddurTS55RbzSlr7UmbDLb5+aONhlYUYfLnAGzgdfkHKz+K+tttutvtat6t2/va3ajVKlrzNdHv59L9bW0b16cqu+XvvDfwr0y4ljudRkU6HoAM1zNbDZbNJbN5qRtPki48woA5zhjkDGRXRSSn73lfa+jT3ej69t+17HHiJck0tb3a32sk+0vx/FWcfnf4u2j+L9audU04fY7WWY2MJwZJnhHyRhWXPlQhRlVGeoIxkJRKGqjsm+21vm366L70aqbjTcr329VbSz7rfVLp0PHdW+GaeG9NMt/FIzSoZEuFLwzNkdI3bMjHOBxgdfYU/Z8t7WVn2a321vo/+3V2s0rxFL2ut0k7LTXXVbbdLXbV9+XR83C6D4LFre/2xcRCCPbK0CTg5hCgl5mZuryqcAkn8NxLc9StZOCd9LaaW+eu1tfl8N7R0VF/E0tNbtO2nl1utleXWzsmUryKfWNViureLyLfTw1tYQFM+fKWHmTYw2c4O3uD3bkrw8y79+n/B9N1rtr9nelH135bW3u7J/Frok7X20Tjdc3e6DYzafb/Zlha4vpl3zzdQ08wIVCep2A88d88ZCqcyTTv12t6rdd7/ANXO+Mbwfo+nZbr4e/kvW943J7a1t7yaXVWULbLvO8/uyIU2hACeC7AgdOTnB4rrjW11W/RWum+q22S316J2uzg9jpo9l222V78zd0vJea0PpHwT4yv9E+Gmq6hayLb3PjG2/sFILYmK4stGikWZhuB3GO7aGMO4ySOPk6t3U6iiraK2vS+630b116O+r0+zxYinb5Pf8nfTR97W0ur35T9Pf2M4tFFj8OdF+ITLd+H7fUJvEusR221p7a0jtWgsYNR83Pm26+bNPDbkjc7vJ14rty9U3JOVkm0n1V9bffddF31s1Hzq6qQpNXdurUdXey7qy7K+u2mx+pnx/wD2qvA/g74eXXw4/Z+u7jXPih8fm0vw/d31osTz+BPAujR/2THp1pAfM8ubVYzJMkarGiiXeCWBNd+Kx1OguWKXbTXTfa3W/Tm1ablpc87A0Z1asndp3s10tbR7ytfRvR9F0979Sf2HP2dPh/8As2/Dzwp/pWm6VrnjDS4NY8Tar5q2eoWd8bdTFpOpIQnmNOSZcE5Mjt6114Wl7K1R6OaUtf7y3e2mut79l/Mc2OxSSlHdq6019LXa7W66bRjax9p2Y8VeI9ZurifddaDDcwyadLbILK8ktYpcnM6L/pQnxwkuVMWcZLAr6bq+2jyrTts9O62eqtqm1rtueTSj7aV3rF3Se1vy2fTztrb3vrTwZ4sS5t4LO4Zre6iAjWLPlsqquFVlLbWIA/hXt9DXFKPLJp93dbP0Sez+d3to3E6XFQfKm7aqy2av2d+ll02W7aPVYLtJDgt1xg8c+nAxyR2+b2xyGiz01X529eun9bD6fLq+nd7fN/NXvY0E7/h/Wl/X9XS/L7we6vtr9+n47/1ckoGFABR/X9f1+QBQAUAdv4a/48Zf+vuT/wBEwVlPf5HVQ+B/4n+SP//V/tLTr+FeweOS0ASBAQDk8j0/+zH8vypa919wElMBMH+8f0/+Iz+v496DVQVlp0XUAD3Y59sf1joHyR7fiPCjKjJ5GTx9fcZ6f7P0HRgoiuGxDKq4J8s4JHIbJP4/dx7erdafRPzf4W/z7feAWiqbaI8gtGhbvyQCccjqfpj3zih9umn+f36/5bAT5IbaMYUZ9z07YOOvq39KX9f1/X5Ac9qd4vmwbfkCuys2QMsykID1JAbkgAcEjODRrr+H9d9fyM3KfO4pLlUU7u/V6/cvx/mbSjcS3RrSeNnWSeS3kEo3DbudOCvQgRdeCMBu4OKd1dX+G+vT18/8N/1NbpRbtr+Vtvm3ppa9ldLeXxz+018Xbb4U/B3xp4zlEdxc6Do32TSYZZFjGra7fzfZYbZWZk/dwRfvZMFsbCTtrkxdZUqbSfRvXy62b36eemlncwpxdbFRjd2ahone9n5J6rqrXu+iR/nuftW/GvXvHPi7x1qLmWCC81e6k1PyJy7X2qTytstBJli1tbMRwS2AvDDJr4XF4mrVqtKzje2z72TWr6u9mkt91Y/Q8ty6FOlCo07Wu7rR6drNNPr8PZ73Pyi8Uav9mu5IzKWuZNzX01w4cNPu3ARrwdqqQvU57elXRppRbeuz6JaL1svX3vwudcqkXNU4bK+1nvrrbe71897uziWdEFwumm+jWT7Xq03lRgD98wX5QEjALLESynp06ZydmE9brsrLrfS/kua9+unkOME5c39dkrNSvbVrV3vrt71iO3n0G+lsvNZ5FiXULtTyWnkwUQ/e5DcFM5GD0JG3BU1SlFw5nzt8122vdutLLvr9nu+x209U7/Ztb5/LW60Vtv7t25ew+GtBklv7ezntJW1C8hgLOFY+XNfHO5sZKiOLscAZzxyW6pK8HfdK6WzfTRu921bZaba3sc0kqlTll8N7p7W76W2tdt2d+l7M9y1nwBDZaPPpM0gy1sklxHGRvWa5Q7EdwSUPlZbkA5YgcndXlc8lNqNna92099v1be3z2PV5aapRUd7WeqvtbRbN2W9o9LrQ+RIZ7DUfF1pptiha0ijmitUChQBYzlJXdR95h5Dh2yM9eM7q9KhZ2ctlZ79e27ej163va+t4+TiUlezd0+3e7u10+dvRWsXPCWkTQt418XhG8y4nfTYBg4jV2+VYjzzhRnBGemORW9aMJQa37/hprbftfrfSxjRbjOPaVtPx83sm9tNL3P1F+CmiafYfBDSdcnLvb3l/e29zCh4iurW2EkTHOOr5G7nP/j1fOSj7Os+W+rVrve+vbV3tdW0cfid2e3GV6e71S/C97tesu17XejtLyPxhqOoa74v0vSLESNb6MbWzW2bdsSa6cSSzImCC0cUhy3BAB+bGBXo1YqpQpX+JySfk2n6Ps31dtle8caV/bVJSfu8j5H6va+7W66u2294+weENYsdM/wCEi1u4KR2Oo6td6FbTOMRSR6VEsExiztDgSjaMH7xGcZ+bWEVTinFK+i10fXrbfzsutrXRyVZOTlG/MryW9raJa7Xur/yW87Nnzb+1D8Q4dV8Q6V4X1IpbpaaPNH9ojdVEc81tmx38qdojZS2QTgkYONzenhvejeV+/dba+el1bpp5Hj1or20k1dJPT5u787WstfJXuj8otUsL3TdO8SWVyzNd/advmHKq0YZpEkVmznzIwCNo5VhnPSu1JLt0Vu27131T03V9dNzlqQjG9lZ3S1/Pe6tbz7tr7XA6dFFeo0U0m3eitEG9WPTJ5BJ7fN9cnFJSa28/w/y+W3neXMpO7i3Za2VtFZbfZuk9bv5JXbO08K+HWvk13TwoF1BYTXsbbcb1s0M2FAz94LnjOMAEjGafM+99+97+uyto1a++vaL/AOG01fbzt0elr79GjkbK48ieJpSVDsDuU8D5hknJBHUjoeOuMCjmbel35dumytfXTpffW/LJt6K17+a8vz9Lq+nVuPuWkwXc6Jq+iyZntVjguB/cjkIAli+8SORnlSvPzDGKL3vd2/rZtXe2m1vUpSlFaO2m3fyb73trZ3VlZ2MzxtHdxa4ujSEeZBBFdXLsSwHmpvly/clf4WAOWOMZ+UTae7XXTX/h/NdfkRLW7a0au++nRq62u3pa+1+ktaXTZLbwzZx3cRSLUY5Yo2KkDc/+rHQAMwAYYweckcAtT7dld232sn0vb169LXNaUU29EmktHtr5+jetrvZWKPh/TriDVPsZU4sreOY4++4fO3HI7Dr0GRnAGVhttXW9ml9z+XlbS/4y2XVWfLs9Hb+l8+1nqiAxyW+u3sezyo747mOcqVLYyw4zz19D64zQk+rb6PZLXW+ur79nr8Nk5aQVJapXb/roktL/AD/mWrj9E6dp01r4JEpeLfqmuWdqwP8AHHFtztHJPUHgDr14FTKSSV9nolt6vbazta0XpvbSOr5bXsm7baau3X72vlZNptR2YrLTLPTtRu7qL7LGui3sMQLZSS4EwBkPbgtgY5pw5He6SfTv1vbpe1u1tLNN3ISstPx//Y3e6vta1rqx7nY6l5Pw90vW7sJc3OjeGb9YC+Cy20kJRFDMPvYGAo6eq5IbphVcbpab3/zfZ+nz3R52JjUv6fPvq7Lrq18TWuidub4Z+EmmyalqfinxTcwyx29ve3eoMn3S6I8rEbjjgk7cg4OeMYBqZTUtktn96S9L6X7adHexlS0et3dbO/TXT/LR/NWl6HoUaWVr4q8RXcTx29w8Lxpt8xHdn3wwIMYJBAPB98YINRyu+i3t5b76t3V+1tPK0WerBpRdlqk7/dq72e/bfsnZHB+MfDN/oP2bVdSUy6jrsjarcLtbMf2oExxkksVCIy4GMDGMHkLpUSSjbS1mvTom+ruuu2/RmWGa10ve7V11fbp+MdOuqPe/gBo1rr/jPRzCTGvhzRLm7ujcHdD58sbs/lrngj68ZwMcM2Kbvb11T8ra9rdN7b9bRWJavFWS176bqzvpf1tpvZXfL8t/ExIrvxb4wlRVCNrYijI6ZE5ORj8eOM557Bh3676a+nbzv21VrdWKcYpXS2j00d/vvdu3XzvZtnQxaatlrd3PMqyOvhTcMDOwSxBRnnscc+vQkgKy9X3/AAWny/4bqTSipfFaWv2uq+Wuz79L6anR/CTQxc2l7Jdpm3jkhwF7sX3jByeMdccZGQTmuaC5nUutm3q9rbJLy9JdNNDoprlm7N26aWSe2nz6X1tbX4peuXMNl9i1u8vRGv2LTLt7dyQGD7WCgdASQOmO2OeTWFFv2zV38Tuvn87W9evWx0TvZdXt2v62T7W09bSep86fCWeJviNo102DA0kpuFbjcsZ3BQcDDHaMkgZ6Z4IbvqOCW1mtL6apdXtrtfTydjlgv3z9U7O1/NWvp0196/zTPrj4Y+XD4s8XzrarAmoa3DqsMTjd5ItnLIckcZVcblPGemDmuaNZdLaW912aX/Ddb272Wx21UuVcsdHp2suvR3vu/l7z1cvn3xTZ351Lx1qhjVk1vxHdtCx4wN5LJ2+U9Rz+I/h2k7xv/wAG3p8/TvpblONx93bXe34edrLTbva5JY3MSa54Osk3tJFB+/Uf6vfIyhQpyckd+nAx3Arjqfa1T0+7TVevS/y6M2w+jimmlfv1/Gz6ffqtz2b42PqM3hq0s1J8m2ksYniVfuKxU7mIBxnjOfrg4O7kle102vTr+XW3477HqNLltb08vz1vpv8AfdmT4X029SKbVIYPMMKHcgXcGjt7Jjj7vOWkAJwAOvJ4bvw3vUZN99VfS1tNeVLdPSz6p7WOGXxfP5drJ9+q3690o+0fDDT9QHhLXNkqRsqLdrGf4ZZG3yxuccbdoGMNxweoNYKk5Ocr7SkrLd99Euu32bX7No3STUbrZevovmlurdtLcxzek2Mlxeal4pH+kQ2KPAZTja93JvDRgdCEJ9frjorT5b3d9bWd+6v/ADa9rr717wLo1s1t6r9PJ28pXfLq/Dbw6EvNW1u6jAgtrOaR5AuMvcOXdQ2BztGOuehGcHdlWlGc4OL11ut/S19F99+nvPU0im03ZJbevXumtVrvo9PhSPpfUrF/Bnwhl8RxrtvfFdldaTZRKTthtb6cfvjkMNzjcNw/HOcr6dJNU1dt9e2nTv38vLex5c6P7xyk3o72evVLRXV9r7q19b6c3ypq2kajpfirw3o1xHHKX07zhHF92KGWHMcjtz8yJuLZAJY56g7OSolzNWTS2t182r2/HbTW65u6lC0WrtdNel9u229tbKz6WPria2gbwTaaNptqUgvHAN5NwrjyfLa5fqNisGKEltxwOCN1aLZW00/rpZ+qS6PZ2l59R++7bX/H5b9+6vpuzwzV9SsvCyHTdOvhH4ftnA17UY5Ql3ql2mMafbtuDbCxBlYNjy/lwScVCV5O6vptd29b7t9No97aM6U709JXd1qt3bfbpZ2du+up6pq+pa3rvgnw74M8N2U2kprkZ13xNqs4Nvp+k6AcJawrKAM3M67iEbDEkMN2dtaKVm99+nfd7W6W9f7zTcuCcLyTfTu3fVbrtfW/3PVGNZ+H7Xetn4d0htah0i385tSmjItftUOChEZDSXVzIw3EEIiryMYO3ai/3kebXTr3Xa+qvfu7W0te8qlB1KXJF729d3ppbey07vZ2sfPvxK07WNQurjxF4svWR4pQllosCGGFQnARYsgFmxhsLhRzx1rlxkmm3G6T03t5vTVNWfaLlrom2dOFpclrq9rXdnba+nrotbb31taXh2s3t/qVsZZGFvEmN9rb8wW1qmCkTnjzLiQ7RwMAg9BxXFHWMubW6bu07rXXq+19tLap35Tvk4uLirXs/K7172vptfe+kY2Zf0jS7qGyfUhbh7m7K2+nw4+aJSVQyx9ASNyruAXoxJ4JqYq+umi0T1/4a7V9Nbfy3vJQotat9b7u3RWSt0tf4o3+49LutB/4Rnw/a6xfuVcQySQbeTe3bPtVE6Fiq43MAVGSSQMNW0IXlF2V7rRrppp92l9fJPVG1motJt+7b0+5Xst/tbdbty47w34PvvH9yZdUZLLRYpDPqN42YxdSR5k+wWu7ZuESAiZvmAZucZC11VacYapJJ62Xfolqlq+/TpG75cIU5K95Pr6WXTvpbs2/LVS99+Hvhuw8W65oukwyC30mCWa6v3chI7PQtMVzIyg4UuxjUDlQxb7xyDUwqqN2933a1/yun5abXtc5q9OS031afe/TrFu1/O70928lH7s8K6rN4c8Ba14o0RQsfiHXjp+jW0+U8/TdN2wQFH+VhG5kPnsi7dqlQR/E588dYSce1m9108vTTvqvdIp4eyakuZt397V+e76Po2++tz6M/ZN0Hwtq+pa98R/F/iK103XtKumvtOZri3hvobLTJoof+JFBdSRrqMq3L+dHbQN5hgQny2yTXpYO2ntWpN21n71t9rtNO7WmuzVtjzcZTcLyppwlK1nG607PZ9uqa2V9pfqb4ru/iz4i00Xvw/8Ai9a+MrPTPsGo6haeJA2jz36TlTbixdpyJ0iXAUIrlWyDgACvYq4ifIlBSa20XRryun8NtOW26vqzzKFLLsRTl7eo8PXV1H284wi9tbS1lottbraS3l+gn7PH7fvhebSrTwJ8bPDHiTwNqeg20WmWfi6xtjeaJqNzboFkid0HMvyB45C+CN3XAK64XFzhbmi7ra+y1t5XX/Dq9rHzlWnmNDFNQpqthVK6lQpttx5tGnts0vhdmruLbsfohpnibTvEGi2HiLwvrlr4m0G7SS6h1qwKm6towuUFwsTSkhT97j93JwwODXc5Kb52leTcrWs76Lu1vZfFp0bumaSqtyd4Sg76qWkov8e3l17pntHhHxVc3y2unXzwSXsttusLqJ9q3gwNqyqSTHcqvAyArk/L0FJW8nrv6tvtpbe2r6pKy5kqvk97730V3bWK69L678ytc9i0vU0vYSxUo8LGGUNwwkU4II55z1Gffj7tZSSu/wBLJd+1tVt6W96942rNX7/cvw6r7rWXNe8dgY6Zz+Of8f8APp0pPvbT8P6/robL89l202/r9GLSGSqAVGQO/bPf/P8AkU7tbN/fb+v67gPpAMP3x9P8aAOz8Of8eU3/AF+Sf+ioKynv8jqofA/8T/JH/9b+0xAc57Y/z/8Arr2DxyXDeh/KlePdfeBMOg+goTv+P4P5f133AWmA9YwBncTnnp0/8eX1/wD1Z+YN1svQd5a+p/L/AO2UDHbRkHngY6f/AGXHX0b60ARSRhsgZLMGwMdsEHuxPJODjHsc/K+nl1/P9PL8LSCpZyhYFVgUMbvFtYjc2wZUn7uMjGOOc8Zx8w/0Xa3be68na3XS9rAZmtanJp1m104WDznWK3JIZpJW4WMf7R6429uc8Cl+NvP+vL1+Q1/XTbpfVX17eetmc09hcyxRyPeSXNxu894gAqJj5wHznjIA55AzjBOaSu3Z2tp00T/N7b3t1sr2HdRXTTS/deWsn56+TV2oqMeq6rd22nT3Fxp6wROhiS+ilbzAZFIby4gcyEHnABwoxls4Yq3inbovT57tqz0W/e+iUedtybV/Kyf9aq6vdrXvvH+Qj/gsl+134kn8VP8ACDQfEs//AAiXhcbbsWtw0I1DXZRIZvM8kqQ9sJVUCUttK92IK/IZxi5qso3vF01e2mt3df8ABum91tyy9nJsvnUqxruLaUlfrZaW1tvprZN3d9bI/ly+Ivie8MtzFbS+b9rV3cltz/aWGXc5zlwCcSHJB5Oa8GnJyl87t2T3119bd/L3Wrn6SnCGG5NpKOi0Vr+Wm/r56p8p8b6raGPVpNQ1Fmna4uo47PTw5lkmlkwqqBweG5Iw3oc5Feqmmly9E/zv166r7W2t2vh8GjzKrUcr3cna6tZbdnrfTpbfpc9tiv8ATPCYiuH/AHupR6cEaKddttp9zKmGMoJbyvswIG0cnocHDLwS3trv6euutrvZ27PWx3Q3Xz1u9N9NLqzV3trra+p2nga30a3sJPFuv2yajHI01412+77O8UB3xKhk2+YrTYQj5OCMAchtYU3UStZW7JO+vkr9Ojasv/ASddUlbq7f1ur76WT17ano3w18cJ4m8Yz31/Hb2cUFu92kcMKRKEI2W8bHAwRGECjIxk4AzmpqrlTjvp8u69d9b+tnduMQmqj5lo79Ht0/vLrovkr25Y+4WOlS6n4J+IXit7o3F7fXdxHYxSHIthZW0iRSD7xwGxtwwB7ggZXjVNSk5O3fZab6dL3v07L4m25dvtJRjfq9l67XvvdLRNqz7bHwH4b8rQ9etZZI3kvbWxvlmkddrGe6Mgyo5JLyS55HJ5wf4u2KsvNdLbXWmun3a9tW7R5Je/J6/Po7dFq7W1W3pbU9zh0T/hH/AAbo2kEl7+5SbULiNU+/LNLIVabLAFhvXbuJ4GB1BrCVS90r+fT5rdef5Wd2bTo6K3Rp9n33u3qlbRLs76H378OJbvTfhN4D8Na1bwWOlay2pyx6iHysl35bMZWU4AYH5TkHJPXIrhlFOXNvbb3dXba21vK17r0aN6V4xs72emum606bf+BJb7qx5N4AlN58X1t5Ylmt9OtJtQvHwCZy/nRRMRzgbE+Q9OAACOW3avGmk9px13XZaaJa3697cvxG7lFRm9G7NO3ZXV9l+StvfRKWL8SvEFtouj6d4cglQrpeqaprXlIw+aS7vWvfKcLgsANisD94AAkZwvXOPux09Xrtbrtqr3vrfl9Weanec2npd77pyeltV2drxau78urPzz+J+uatr/xU1a61lZHh1KJbm1O1/LijntFSBos5XYFAwVOBwcDFejhkvZrquz06LTRPZdpd029EefWj+9k762sl837t+t772Xne7UeB8XRae/h+KG6uXTXHktSkTJlbxIXMQLvw3+oYxkDjGOuA1dGull0sum/4bptaX663OGsmr9Lvp+C1tq9+tvkongDWgt7wxYKETSRoobAXaSBjqcZIwcY4zySaldH017br/Prf9UcKvzN63t2s+u695eVr313f2foX4O2japrNxcpbmWWDw3qlpKAMlpJbeSBWcHOSEZeuOmRnNPe2qV7efTTbm9NFq9+ay5deum97W9Nbt7a3drK+rb2vHzrxf4DufD9jbXc5dHkurqHYUKgEHOQwCqDjHUdOVx/Evlf+vVP8Pv1BrZWWlvPTpr9/TydiT4YeJ5tJ1P7FI4aF5AMSkOrREhZYcHKjg7l3Dgjgg097PbRf5dvTbXTZ2vI9W9PVXsvXXztvv7qVpepzaNba54ri0EJNcHxDfW73moE5ktdJgcSyDcfuYUEH5unr1oV7ryfqvLTS/V737WuPZ7LXt321WuttG+yvaN7nvHjT4atr2neEbPRWX+z/APhIbicyblLpY2Nt5SNNt5UPt4HHO04GQWt9b2Vvwvu9Ndb3S1Xfa0dKWnN5+j7vVdE3qunnG3LLzeLRJLPWdakaE7fKNqsrLtCx2ayfOPlAGcj7zD14JxUrV/fotunfa+177/y2ibNXuru97d29la1r3tfvfZJW97yHVI83lncxCVt0EyyNn5dySkoQ2GBwAcDH5g/KpKye10uqt91r3+/vvYcaTirXvonfTrbXezvv57trmaj9PeCdJuNYtPh9ZXLMVutSurqaPJIKL5QWRV+bpjGCxxzg4I3crfvJbybs9Ut/LS132tfztyy2hCUWm0rqXye2nTbVv4vK1mzpvGEen6N4R8Z+HpbKafUb/W49O0CdYyzR+ZdxSTqD823KHA9QBgE5C7RpvR63Vnbe/wCd9ddo7dbBWqxjfW3T87dO679Lu+nL6d8YfD1t4V/Z6F55gg1N4dN01VjkCBDPF5k5bJLM2MDaB7HGa25H+Hb8PiV/N39ErnHKcZJptN7X1btrp2W23TqfMPhi1js/h/eRW+ba91qO30603ZHmyzzR+byFzll3MewBOcgfMKLj07W6bPotL9V67XsmYKKi9VqndNvfXdL3lb/wK70Vm7H0poPgm31WDRPC7Wsb2Gny22samYkBkvJV/wBXbSOdw+TaFIZgCG5G4VcZ8t1a+qV+yWnnbZy62tf3r8x2KejlfZPS9vTS2r/r3Yq8vOvjBplxf3V1ZCzmQPqsKxTXEK/JaW5EflwmMMEgEg2KScOFyM5arq9u2trvbfbtquq6bJKRhhqi6qz6at3113irPVba23tvHrfhZ4ZuvA/h7xT4mUK8l5C2nQybNo+dSZAhJPKgYOPzOBuwjutO+1/+C9PJ39bMWIqrnSW19tdOm9trvstXqnblPz08QSXNx4j1VXQuv9q3N7I3mbkKqzMoYgA9cHtzjjghh6XfmtGr9e11+T0d3ojeprF7X5V+Stb4novutd32PQdEnvNU0vxnqUsRZ00XT7C3Kgnyw7fOysPRACcjA6c5NLv1fl+PTW2/TybCjsnbq730/wAu9l/Nbra53XwyvvsGhXPmN98lkcrhdkURUE8MD8+Ofw9254W9+2+vezu9XtrZbfD3fY6qSvPXd7fftvrZXd9N7pv7PQeJ7e8m8Gz6l5cm24geOdlDBXZmwoXj5jg56456ck1z0f4z9X5X/NdtLa6WasjqnFJRcX22trdX2131T81f3bpR8h8B+H72x8XWsaj5Ta/aGZBuEYkXd8x/gY5weV9M5Bruq0rrd6f8DfVq93ft3vZOXOoWk5b67W1tp1u27b6Lt8N/d+zvC1tLD4ovLZEAjm0i3cyou7YzoTljxlj15Kke+d1ccaT5ndq7ae22tkrX026p77qzibQXP3VnZ9Xr2V49OnzurWl494gsZZPD+u6jJue2t9Tu5I5MbBiORg27pwcY65OcnHFdUlaHLpp2eny/pei2MqkVG6XTXa33a9b/AN74bLqzk/Dui/b7TQfECNvvLm/t44AMbUAnXaox0G0cjd9ScfLx1dL627f1p007ddWmjTDxScb+f+WujV9Nvdu7J31Z9ReM9CuvEFtNb/uUjL2q3DHABaCEElQR1yOQN3PPGdq8bena/X8Uum+2qW2t73l3zVk+1tNb9PL169PRm/4G0SG2+GXijX7goraJZ3swaTCo8ikJGGJ2g7wAOnORnoA3oYV/uJdPed9dLtf4pfL7lfXl86W79bPt59tvnpokryZh+Hry9074LatqoVo9W8QX1vHYtGeH+0khliQ4dhGoLHa3HdT0bKM4x5k39vvb0Wztf167M6Folaz01fy+SfyXo3ZHoXhzww9l8KLNbiJAguVe9nCFGurm4JYIxJyxTnknP+7xulx52/PXTv0b8na1la/nf3TXy3/Dt69dV10vc6i28PQaJ4SNtevsbV7jdDFEN00ykDbGMfwjpkgk9cjIqZUrTi7p3/D10S11ta+1+iZXtPZ6Xd3vbt5aLy6+TSO38d7vEWl+DfD1pDNBo0E8FrFDtyGTToY5LybZwT+8LAkjA5x0O30V/Duvzs111+Xn01tdHLKSb5tvJLW34Pfe/wDLZ3+14RfXGiX+vT69ITDcW+p3ug6VE3zC7Ftst1j2DJBYkqpUcY4BxluBu82r3Tbf/Atr3v09HqyoVFKD5d00n5fhvppfl0s1s0erfFfxdB4K8N6PZRxCfVLyytNL0/TrI/P5s0W+4d03E/uATuc8A8EjkV02fa76rzXVbvXTzStorWPMqTvUte2tte7+/ZbXbvre17nyNo8Nn428a6bFqski6Ro7TXz6XGWMLtp4NzcXF+ygqyFo9mGJBOQNxOaiNuZtN31V+69F5ve1rdrHoYdKS6bbd0l0elnvZyenZ2Z9YeD73XfEel3Ul754ttUvjLp+lCNYd2m2x22QI+QQackYVleX5GPLcZNaP7u+/R97tLTye+nLyoxxEUpaaJPbtdtffey890o6qXu+mDw/4c8MXsy2aw3MkL/2l4gDPPFfIn/MN0hQFglnDYjluY0VQQwBO2hSs1JXWr16dne233aX3lZ8s03qm/Tt11bffrZbpa7xPz58d6/Dr+q3jOhS3+0yJEHJC2EI4W3TO7zbmUD53TcEyeRnauVW07O+3bVr8Plr5K0uU9Kkk43Wnmkte11Z/infd8tve8+0fwm3iDUZHkMi2NopP2KLKQxJH8zNcSDCu0nqQefQkhOWa5Yy6p6ba/r1X93TX3rNlcnvqW9t1+CWzTfL6d22rM9l8I+HLTxPJc3Mlv8A2Z4U8OBftN9JiP8AtGWP71hpLcZKDP2qYN8qNhSSc1NJXsrX19dPTTrdfiuayUtJTSTelvJ7db37Lty62trdo5/xXaXnjDVlvbR1tPDGk27Dd8vkW1srCNPJjOEe5mwUIUMy/eyuBXpUoLRtbNb2VtNvK2muq322jk6yS0101ad9Osb6LW2u3nazKeiRahq9jJDbw/Y9GZ57CyjTIMFojZuLsOADNcXDqqyk5I5GaivNS2ve6V9r+tr2utNr3fXVChVVuqtfR9dvutq2m1e/Sz5fcvA3w11mTVvD+lWvn28/iLZZfZ4d3njSXcNI8235kjmUdC2CcZPIK88aPNZLR/deytt119Fbba8sK1TVW1d99LLZ36LpbqrXvu4n6E+P/DunW7eGvBGmafHaafounW2mW8EhEbR3LnM90+3G4uxJY7XY7RkknNejKnfS3/DJdbW2fVPo0rMy+tpvl91N277X13d/XVLqtvd808XC10u4062023jutK8JmIRW1rcTW1/eTvGBfXbSwuNlkZCTKJWGMErkn5J53Tta2jvt56a33S0Tur31SsmKVNVrNW+ettN7u27a11ve2yTPun9nTx7P8R/h2nhGy+JfhCLWfDmqRX3hrwZ4guUgutTjEiFtDXV8fariLKbEimZioPyAZy3r4PF0qzto7W6KyVrebdlsn8m95/N4jLsFhKrq1cRL2l7qGLnFxu29k3drXRbNaLlbsfo/o+r+BNUaW3+Inw+134L+KodMt1urWN7i50u7v4Ylij1zw5JfTR2lxDMNs80KFnZHXO/Ar1JQpqLlaL0un7t35rVWSs79bapxaSFWxWNxFH2cMNSWHtZVMHTalZaaS2e999XqnFJn2/8ABBL7w3ZaFc6PrSaRblmubLWopZrbw3r0piIay12wbC6dJeKcPIkP2ZpMls5rWNnGLWqto/lfr3dtdWt1taPz8qUlJpOVrv8Ai39p/wBvPq+nS7aS2vL6l8HfFJdW1i68P+INNk8KeItLvI5bK4W5SSzmPMtqkE67UvNLvQd9vdJHlBtAwAVal+bVtn8ldXXTz1kvdunKfZvura9+nq389X8rrl+yPh34pl1SS4N35RmmCGaBWBIuIwEaWP8AvrNjdnBA5Jxkhs2tbW3utdUvPdXbVv5fJO5rBWSS1aWr6K/Vat3V76qTW2rXu+0+W/3k4I5IJyP1J9+mMdPmzmlqt0+1tr/g762/DR3Nlqtuzv0tuvPTzUfJE6/vFHAVu4x6cZ7HB4PTHsOtLTTV2tv/AJLXTp+OlrB1a/Huv+B1JB06Y9vT+X+fXrQ997+f9f13GLSAKAOy8Pf8eUv/AF9P/wCioKynv8jqofA/8T/JH//X/tQr2Dxyb5v9n/x6j+v6sl+X3mvs49393/3QPm/2f/HqA9nHu/u/+6C8+o/KgPZx7v7v/uhYXoPoP5UF/wBf1t+X3C0ARs5TOcYAz79+2MHt/EuaP6/r8QIow6q9w7gb8kE52xp7DseB1JBJyMdKfW2+23V+Wnnpo/nYDAAmmvnuCxSzuGWEMeCZIz9/GMASY2g9yMZ5zQ97XWi+XV6XXnbq9ndXRo1FQT6vp+Xbf4tG7bWOf1+9s5vEOn6JIAy2UDamI2bJE2EWNtvQkb8ruA5556KX0+e2uyvb+bsuq0dm38JhGrJTcbaX3V7228l5tbrTfRmjbI8l15+Ha5ji2iBAVini6bpAcAnbndtZOo65BqHzJqUbXt9q9rLrfbTXtbpd25ajH2lRxlpBrR7Wk2u/ZO+1+ite8fA/2i/jJofwN+GXjX4ha0huLXwpo1/fRxlkKPeSW8ptrRFOTujlAyVUk5AGMZpYufLhZTk0pRu7J7+7ru767r3X6q6ZyKco4uFCklOMnHV3vo3Z3Wi0tutV/LdM/wA4X9or4y6v8Yfij4x8WaiXlg1zUbm8ETbpPKaa5aQC5yf3ZK8hlw3zKCSANv5liMTUxOLnGaSSclFJvo3+Lv1tbV63aP1LK8N9WwcdPfk+Ztrq4q/mtdLX89NFH4g8TlpdTvBDhfLgJzCd2xW4EQJ3fOQfvE9OBnO5Z1pytH+bd6dtV8l53aa0vY9ONJSg5TlJP+VNW06NeemnNqt7XbOMtNL0nw8L/WtTh+2eKZCk2hRM6SWmjWTkCa7lUj97eXABjt4wV2bmcjAr04S5YR6uz/DZbPV37Pa2mnL5ji1OTSWjtZ3vt5tLZrZK1ra6SOB8Saw2q30emQhYpL6eFXJcmQ7nRWWRhlhli7ksGO0c9Ay5ypxet2/RL7k730V1t+XvEKjTtbf7V7W62/FWsle99LpHv/xQvtPsfBvgzwlpcqiNbOztLlkbDSCN/PuX4A3K5BAJHY5JyRWsJ8kWo2b6XXnr1s76XV9Or1TMcWlN0mm9ndXVrX0u01111+V/iOe8FanHo2k3WpTygSaxq9rptkF4cW0coRyOvAVeSNwPfAINc0pSm9dL6aLV/Lo36Nvq0b0koK6Wqb0k72s+ve/TSPboj2zwl8QLiy0fxNoU12VVru/tbaMt8pEyeaHYHI4B257DjjJNLljTcNH768tfxe/bmVtdbqw6mInOLjp7j+zvfXfXunp18rKMvF9ItIdR8aadHZq0gPkS6m8h3xmaOR3dYyFI2sAvygtg9cda1qcqjpe78+2ltLfCkmtV5KKchYVynJ8/R/ju1ayaTtbdprTSx6tfayt54zvraSdHhstPX92uAqybdkcYHOcEg5wPXDZp+wouKnBa3ad3fytrfXR7vzsrHV7acbra211ez28ktW/5vhbtsj7a+1k/Db4NaNdgxmO21ee6Qn95GJpHZLjd8pIxhcdsjkfcbjq04xvyrS+lrXtvotfXdN2SfRGtOfOm308+t3pto7p7uXa+qZk/s/8Ahq71j4jfETxInz2Om2EOjIZj5azixLvPIp6LiJiMjBPOeoDcftKkWk7Lllp/269Ht07O/wDjX2t+WNmltbl62t5av4rrrtpq37nxB8VtbvLyfVNQsyzy3GteI7CzhyTlLZvKhAPO4kI2DgnjjGcr61Be0jeavZJ31Tt016qyfSOmltEcWI5aUZSh8dm3rtptbRdr66t2dro8C+IHjHydS8HXdtE32638Nabp2sQTRqUkmXEYkG5SQQnLYG4EY4ruTcUktradPLrzb9fe0872j81UxFedT49Nfs6O7tbeW+m1m903Z8nMeOtFm1S00zULVPImgRNxwQrKX3s6HHPBA42/pirg5PVvTVW87dumuul9r9bR3gvaQvPXXV3+dtOVaW6Pva28vIZLIX+sRW6LmVJooJSvJ3OcbsnHJcZPUseP9qtFZ3uul9fJeUl003du9kcig3Wslpqu1rW97q7JafZ+bVz3H4FSXeneLNX06Nlim+2C0lWRVObcYeZQpB+8isMgA/TPzZzk1LstrX38nvqlb7PyV+Y6ZUoxi7q76PZtW9F5d/xudh8Zr6y8ReHrl7MJHHpGt3lrgABiwkIHI5K4UruOe/3+tarbV6J9Ovbptu7N/Lqc0Gp1HF+btffXdaKzv/npZKPylpmmGO6F4hZFSSPceVCM7AZ3bjwO4Cjg9SDS07/Jddd7c2z+VtrK9zo9nHRuN0n91/Lbfys2ru2p9F6NPcRajYXcIeFryEadcz7fvDzE3SRt1TfGTu2kZHHQjdMpKCcvS3k/xur6667q63E6aatFJvfq9luut7efe6u/e+3tJvNOaW48qGE2mg6Th3tTiFXEQCmXLMC7vuz3+XkkkmrhJTV29Wr/AHX1ta3Xa/TVa3M+WpBPp56PbTzvZ2u9vS7R4t4n08x+CvFfiq9eSEzSi0sgIgiS3N2vmqEbjGIuTjPPsQanVO9rfilra3RNvVXa89AhUk5pKTu01Zar06O9vudrXtc8A1fTILbwZ4buVLC+u7/yXYDJaPKkgZAzjOckHOc4A4qr30b36Wvu/RWer08rO2ij2U5Su1fTRXtfy3+d94376H238MdElhm0C9u4FSysI9OhikCqq7bqLzSyqUJ8zCDdwOB3zShTjKUfdSd9/Sz7pdklpvrzOzNeZ8snqt3o7vTf7Nuvl1vdWcTxHa3l3d6bNbLFdW+peOpSG8tEBnVt8O6V0wuYl3GNRhvXnFaSThe/byuuzfZ389le0WlzZuMKkbyV7Xet/KzWrtvvbVNrVrlOn/aH0K58b6B4D8LWhez0+NrzVtauBxDKLAKjjeByRgp+o2ZAYhV2s73drP8ANN9btadfO8XHjqR5ZJxikubVPp97TfzV1s7tI+fo1vrBvh14ds9Nju7rWteke2k2A/Y9OtxtQyKVObiRQXU4JwMkrg1Um23f8/x3S0av03+1dM0p+zmrOKbej/Ndr36Lp32UfpC7s9Q0wS2gLaPb312sV1qLN5V35VsGaSKDrsaT+LoB2x1adNdPNNa206LR6aWT30u1dKMVYzitG1FLVW6Neie1993tJNNx8s8X3N5fax4e8O20Rnv9Qv7W8uVDAyRWgP8AoFrMQrEllIkmAGC7ZOeannbSuttn27aaba2Tv+LRdGnFUrpLbdJ+ttXpdq976+dlzes/E9L3wb4XXw9bLFNIls02qTKpMFtcXEW5gzbPldFYKPvEE8ZAwySej1S1+7vbez62MKS9pUXOuZa6S02+5u22ltr+7oj8y/EOjtpek3V/LC0cmuXz29pO/WQeZ+8kRTkhO2eBznJ6Ummt3e+vT/gfnb0O18k9Hbpp00079/TbZo9B0rTn0P4d3FtHC32/xA2fNHO20txsdmJ4AOeMH1wW6rDqLpa+t+n3aPpp/ne0qhSs00tG9npbrdaSv5K1t7315e1g0NtO8MeHY4YERruKK1RUXLSgkNK8mOQTk9ufVsnbz1rxTcNL66bO/wB9391vxO+FOOjSV99tXpfa6W/rbseneJNPlXwnZWN0yWunW+HeBkQSXB2AkpxnAxzknHbvteFjG7bve+70duuuiWvzs763uYVXNNWnLqt7JPfyXW9m/S1zx7wLAbvxFqF3brsgghI+f78iiTy1TIx8pyP6Z5FdM6jbcVd2duqVvuT132Vr6X+1K21123tronrsvLV9ttD6Z0L7VYHXNWuoUiuZxDbWpPMSwwwdB1AOWx1/iwc5BrllzK7Ta7rsvuvv2t8rNlXknaL0t3atby1erVm7Xa6qx5V48QP8NNdtrVPLJuo45JIwCHmuGLSpn1G7nB469gG6Iy5oJt2f326rpG/3etrrmxc3zOLvfe93fW2m3T1t2vdctnwF4ehSy8EaDbYmuFRb6cLyEVBnJJHGD6hfTsDXJVSfq79Fv+F/m/LS9zalzbptdPTpp+f/AAyPrC18Jw3elXU9wFgCNIVMj4JZk27/AHAHOA3sc4BrKFBtXeuva23W9mtPS+nTQ6PaShdTSe71d+u3l362folHzjxzMnhT4ZX3hgzrdN4ov7aGD7N0e3eUKFzzuy4IbAwcdycVqoSWidlfZba76Lrt1j+BHNBu1nq977bb6K2nnH0dve9il+G1vpfw88Fx3HKxW8d1ZW5AO67khVQcHBxGSSeODzxhQutOlG2qu0373XX7m/nza6Ky5mE6iXurd66eSW1k1fRa62vpa8meia5oOn6R4G8I6EyGe5v5W1C5UHIAGQhYAHKjOQSO3GeCzbjD4YxS26a226a637vz6xwjKc5LWSV+j/PXXZrpZ9HoefTW9zfappdrcPAsdrdt5OW4it0P+sK4IVkwcZweOuQKwnJTnTeiSvp8K/BS+fXra3Ny9E48sXfRv4XLda973dr6/wDtuql3Opzpoen6h4huyktv4d0i8tNOl6I99fguX5ABbywNxyxx6Zrqt+7X/DLX+tE7W9UlLihzSl/dtZp63VtvKzvu9fNHxNoGm6rq/jPwfDLKsKy6tea/KDu2b5ZmnUbQccrggngFc7WwCvAvid7Pbforem3e/ffodsoRVOKSSb1dt32b3btur3tbrY4748fEG70nUZ9RuLtZtQV77T9Lc/etvMdlaWPALFyCAJBz67M5XeElqr63+e9t9L2s/X7N7NHNOmuyXva+7ft5rW+1r738jsfglBpXhr4Qar468TNGt5qsgsEmu32yPaGQTzqhOJZhOcKVX74O055NVNpxVkua62fTonr01b970enKOm3B6Lp30UW9tIvX5K+r62PqP4b2pu9AbxL4plls9F8QSxmzsXxDfarplvgxW8IyHttPwiqkcPykNtKucmmpLfRPTzv99u/b5K7YVJJy1im7JdGm1tfTffZO/VuzR71rkfi3WtIhv5vD0Vr4UsrOQeH9HK+RI3mDYLt7eONWKFAu043tycgk1cpRUG3FXsu1r2fTX11/C3uxBxbSVl266+iT7t3Vuy5rJHx5J8MLbX9albUrhY5rd7meSx08Qxx20BYsyuWzFBJj7zEGXOScE15tSo9eVqN/5W/v2i9LdV6Wt73q0uWEbuN93y2W3ZetulvwvLWm0LQLLRbiwhjS0sp5FivJLKTzrq+gU/JB5yhCHkbAlkGcqCCoziqpXlJKV2tHZ7dbtr5Xt/e3VrSVarGMJNKOi7rmv+iv1u/Lf3Yb3Rr4w6XoMP2Ww0tRvg0+0C+Xb2r4Mjuo+aSWQEbdw3s/B3DAr04wgrNU43tvZJ6d1y7WTv71uvWx5UsQptWbXRq7131te9mtL8zfktpcF4g8J3s2nWuk6LIsWn6Rf6hPrF03/Hr5lzte3EsvAllt4m2fZgTm5PT5GrCbana7S5mmtVpft+uvwvbmtHSmuaL1vbTo1pbV2779Eu6vJS9N+GHhnRr7xDFZ6kz23hTwjpJvNSdF3fbbp4Vm2SO3yq9zNIGZdxZFAUZHLQ1bdp63eltH85J39OmzSai07LR6rXy67WS2ab019FpH7S/Zy0iN9R8U/GLxKIrTRbK3MGh2csWZJbbfstLa1GMqFjGQyDO85xk4rupci5W4xvFX031enXVW97Tba2iZx1qttlq1bXv1v/LZPWylpe/RGh8QvGOg+GlvPF+uXk974k1eaODw14Z3fabm2OppL9klvny3lmGF/tIgAV0RVZyCAKqTi0mt9fnf7tnfor9nf3saGsm7Xunva9n1e1rNaJu+ul72Ph/xj411DTreXRrLVZkn1Of7Z4k1wqjrqMyD93YwfeMNjaswjVT/AK5wSd2Tt46l366vb56Wd9tVZ26u6S5vQ9oo7Ozat2X3Xdlpp5666OVz4eX58QXRh0vVbTStctxE9jcM5tHmvoWDGPehUxzsAvkzZUu5AYnFXStB3j7jdtFbXyv172S9L3M6+FoY2hJ1aVOrUvo5RU2tbbtXS1Vkn56393+jb9h/9rzxf8adHP7PnxPk0jxNrfhbRHsrTSfiOmn2OqyxJ5VvZN4G8QJEsk16ke0vaag7iZPLaMgglffwdW6XO1NX0V+qdrO+ln/27a1lJrWPxdanjMHXlGNetHDpteyjOUYWu+lktlZJKyStrY/Va2i1HRrDTp/CXhvV5LjTIZPDGs+EtaKLcZWMGKeS2ceTqNrLDu+ztFtm4BjcuilvajTjKMeXRNaWWi7W1Xpskle/Nc5sTL2tnHmT0va6bd2n139W79lbmlN9ttfFuq+EwtxLpUdrJNokGpmB7S70K/jZZbbR9VimCyi2tLqKSKKSUsTb4BLDBbTljDppfquum+1unX5vc2pw9nS5pK9knqt+3Z6q3SPdvqfZHwW8eR+J9Vj1HTYPIvvD8sthq+l+Ym7zIv3F4wQE5jlZftdpKq7XifPOM1jLlcnKyV7Oy9L2su3l89kYcyleS0u1ZdG92vReke/Y+97W4NzbxXMEolikUMnrz1Uk5wRnoefccmsWry27XS9Om23/AA6d7GkdrK6/S/n11v0Wq235pTM0ZEhjZc/KdvQE9P4cZ4/ve/bFJ6N9ejvZvTrvq0npt2Seo7ba7P8A4Gu3ft8l9m6JFbBBxgYOeDkf59B9BxSvrf8A4P53/P7wTv67/wBatP5P7rsXOeQQfp/kf59c5ofz+f8AT9P8thhSA7Lw9/x5S/8AX0//AKKgrOpvHzj/AO3S/r/hzqofA/8AE/yR/9D+1gcAD0/z7/z/ADr11FdUr3fTz+f9dtjxwqlq0u7/AK7fn9x0DlXdn29s/wDsy/59MfMgJNqnt/T/AD/n0oAdQAUAUrkEgrnG9goOenzduvP1249+lUvPZJ+r0enl/XmAzUHUItuGADQPJJj/AJZpCmSzcNw38z0OMqkuva346ddLr/hk94hVtWN9ARsCWrJiAnIbKAETdwNr5bgfNjqMUnttbXpvbtq/kt32a+1EpPWOrt57ell+tvLdnzloXjPSrn4n+IhemSXUtHjW0W0B3NdQCRFS4VWIPlM2B8u7rg8jFL8Lbab9tOy6d+iW8sZyUU3Z7K3n+dtOrSXW+p6PrPinUrdoru0sSHSOZEt45ik0jbWZYguwqWdRtXJxkgDO4FtKdnLkbvpfWze/RP5N7eiSi5R7ZeyutJ3av5276vd3/DRK5+GP/BWb9oZ/DvwWuNF1aOC11DWtfvbPT9DuHVp3sm0x5L67v2Uosxt5WijWMq6rKdpwRXg53jfZU50m7K2993rbqnd3W8Y77u1z08hy+dfG0609YqabbSXuqVn7uyvf3d/hv1tH+HrXpJNLtdX8Q3kjR2dxfTqwkciVpC28KqFVBRCQo54Bxxj5vgYSdTFc3VrRJL7+rv163S2VrH65XpxhShyq0VCMd7Ntb7cvRre1rL1PO9Hkt7vSdb1+ZVkiaWJnlZV2KmfkULnHpk564+UcbuvELkS+/tq3q+2lrrZ7925ctGWju9bpef8Awdf60PLPEMaS6hE1iC0bEIWYlnllmO92UZPSMlV4AQZx2KdFBuUfLZX6fPbzvZb63taPLPli6qsvelol5aX2623v8ru55fAZY/ED3E8W1YLmd4s8Z8g4K7iMkqoxuz1Ofl+62y0t3Vn/AEvXpb7kjhe7tvfpur/5NWvrd9Hq4+oeJoJ9QvvDqXDYS5sra3tUU/MZJ2YtIDkEBFZtxAP3ecZNRKXK1pa+99Fur2tda6bLRvrdj5JPeztt5Lor36Py+/7PL+K9ah0zxHYaFpkvm2OgXNuhO7KvcfIZ2PBBG/IznscqCa3hBPWz1d7b313ta67b3732MnUt7q9HZrbfS3dPu9/hVrnTaDr6al4g1aK4fyIZ7wwwkHG65ubYxxbfu5+bBUcHjPoKitT5uTlSXLpbXX/0q1r3ez6aWvG01yyXdtXtpzeXuvdO2rXRbO51vwVkuh4r1NZVM8ds08Sb0yTLGjMwGT94BePqR8uCG4MU5c0Yq6s0l0tprbXfZbf+At80vSwVK8eZLb792tNV5Xd/vuhmk6sLvxt4tlbaWhutu3dnlZdgXtjaRyPlHoeSK6J1fZ0acnpe/m9H69l1b00bjduOVSLlOfW3K/v6bxtayfztdWvL9BPF+ow21p4OaC9+0W7aLp1lbtGeBNNH5s0eMjDAgp8oz67gfm451oyu7q+/3Ntq2r1Tf+a3OilS237R89LJ9G9lfTbvflO6+Emq3Gial4v0y0RWF1a6deTRL/C+oja4fBJJaMHjOewxk1yOfNOy0abfrfs7d/L/AMCuzp5eVX2XRadV/ivey3v3vt73wp8avD2o+BvFtjDdj/RbTX9Q1+RcYX7DduZoxjjCzBmQknnbj+9t9vC/w+rVtF2Xbr2/m6ta3bPIxc7u22i2667PRWt26rttH5++MWl2WoX2m+IdGSQWWo2KXb28i4MBmO5oxyNyBgdhDEY/CuynFO91ou3z232trpv5L3vJdP3m7Xd7p6/07LqrWS11u5dX4ZjtfEPg9o5YAZ4rQJESMsGUFQBnP1IwfQgcVs2oq27Sdvlu3bmTbv8Agn713y7JKMet97dLtLvJXv8A9u7Ja3PK/AXhN9U8cnT7q3ZJLjWrCJQq5KB5sAge/JJxx7YqYTcpPXRxfboumm3Tr6q6HQjapN20UZJXbXo726baJ33bVnGXrugeHrPSfir41u9NzJNouq3EJi2jMu2Jo5fl6hlG7svXjlSKmfxK1m0r3bdnbdaNJpbXVrd5WIrO/upb6LW+/NotPLS3nrZJHgFrdXXiW61vR7SC4lbUvEN26xISSGEzrsxg7RyeTgAAY4Oaud1Hr6/8D3d9NbfJfaww1FqcptWVra/Fa/RW0s9db9uV25jstT8FLotjHpk0OJXliF2xXDrtw+wH5fTb/IEELWHTr59fu7duvfraPdyR2s9d/LW7+5et23a12j0HwbZwXGl6m148YudNtxcadb7MtNNGNqI5xjJQYwOCcc8YqaivGy0Wy+b03vbe2lvzYmow15bNrdatPr5v5X+V1I9/8JeHdVh8A2JltpRqXi/UvN1FlPMGnQnco8v7wUruOTkYx6AL00oWSW9/6fe7tprytb6u7MKlpJ9eZXa/HffS7TenZX1keS/HLWrm91fRPh3aI0Nr9pj1CWGM8HbF5SbgOuEI+8DgHryQtValoq27u0r66fJLo+l/W5yKm1O72vf/AC0u+y679jnvFfhe5ig8E+H/ACgz/a47pEBG5VlKKC2MHA4PzBueCDXP7STs+Z90l9y11W1u23lc6YPV62S67q+vS61urWWv5x/QLwx4fmis9B0GSHfenyru4KKD5EEVvHAikAdNpY5YAjIIxmtaVR+0heTtdbra69dLd7q9tbG17xa8tPy80r3Tvo/vaM3xN4T0fUrvTbzTLh0tfDmo3upT24LLbC5tYxFvAAXc+UwnJ+YkjIxu0rz5nvve/VvR2WiS3fbra6s+WqTul39b6r9Wr9NnutzgPi94qawtPDegNFJHcSaXc6hqBB2+Rp11J5wHThpyFyMcjscVzxjK6krvXou22t01b5pt2vG6M60G03a/3p/i++raWuiVrpnPfCTTH1HWtH8T3UTzx6O0+oQmTHl26uVWCI5IxhBkgHuSc10Xffr6NWVrenTfy10OWjTad5Prtbp1vq7XTa2fRLlR6J4rebxJ4huZ7+Z7eNjJdiFfmhd5JvMQIvzAYRQuAOQRkktScnbr1Vr9PV33v3/8BtHl0rVYq+q2enlbq7bq+j+Sha7PO9JFkvjHVvFrKbh7S4S005D8ol1Bvuhf4ikRAxtIAO3kYVaiEnJNb6vbr52tH7+vla8qpXVK1raNv7vV7Ltst77y63xrJea0mn+H7m+jf+0Nt74ilQ8xRqfMMXmcnAQbDnccnqRkL1Qg3bV2Vr/r1XrZSa0t1OajpN7bPro+91ru27bbdbnxr8TNJl8X+PbWz0y1e10HRkittPiTlJAm1GkA6M8hDOTg5PJwTmscTNRjsm9Vva9tm99L7WtZXt/Kb4em23pu9mt/xV7791ts24+j3kCT2Vv4RjigEkaWenrMADcKgZZrnBHQOeGOOBwc9W46UXUd3re6t27demq2876tHZUmqW+1vRK/+XTXba+h2Opz6fqvj/wJ4N0pFZNJst9+yKMPOVC7pMZARFUdWbPfBwK6JR5kl0X5eW39aq+xrSrp21+b7LXt00bel79Lplv4ulZ7d9MtMu4k+xwLGQVUltsj54IPU/jwwwBWKkoPSy/BPvtfv6u3TVk1a19Fra2qdn2V/iT7a+mtrh8N/AllDNOsjtFA8FtBPI5A2vGvnSt0AOCvPXnr1Bq6cryvbe9ut+zV9dd7O17W7OWUpLl13fRvbzvv1S2XfSOp6BqF2lzo9rpWmvHdSy3OovcSBAGSysky8jZAOGKqoPzZzj5etTiFyxb20vut11/G9mtF3NcPaUlrv0/TzW7vZa720Z4v4ueW0+HmiWLxGN9Z8TPM+9cF7eNyTI2eSpTHXjpioptunFNt3Wv33022726dLmlWheo3trpbTbvpqn6O3ndnsnwL07T9Y/4STxXMix2+lQxaRpmCBG0nCyODjqx7gr1/h6q2ubffZbv9V2Vt/wALBBxgvPVW1+7rf5K+++p7D4ynTQNC+zyXKgTWzMxf5PLN18qKDyNxXIXr1zgdK1haEV2bvqrdPW/nfXtdac2dR887rZqze6fW9vde/Z6aapp83ml9Y6f4l1HwLo1kI7l7e801FjYg7kgWWa5kC9eXKck87T1INc86yT9W/Ppf+7+f3JKUtqdJyV2m9brS6t3et3rrbp05k4qP0V461mWfxp4S8FRQNFYWWkWib9hIikeNXu5W9AF+UZ557dWiOJsuXu1r699bLey6rpzWajOIouElbrbZadr9Evn962jveIbG91G71PUbPCWej6Qtppm7hrmZUVSIo8LtO7q21c54zkbdF76318vNfd6NX+VrmFJuEkr9evTo1577O99dXZs4/wAOeGriyuI5/EEM3yixF1uPO64fznTdwRujwh4Od3XkUnTcX/lHotL+WvW0uj3aOivVvKCvdWsls15fDr381s3vHM+NWs2998PNK0hI1sZ/EOu6obezj++bOO7S0gZjkEgRKxy20D+EDOGrnTTWy7PbtfdrV/4t9ldGMY22+f8AdW9l6X69r+9e8fMvC6aXot3qN/OElXw1HpWnJMwBZjqc3kEA4y3lx5xjO3sQKxlFx87220/W6Sb3b2vvZ83Sr2tdOz08rqPkr6eb7aHwr8Y4LTW/idc6ZHIJYbfUWihjxlNskvDbcgAgHsF55yc4WJe73va3pb5XevRt/Ne6aRhzbq6vtbr9679vmrn1YfANr4mg8K2F59tk8O+D7G1uIdGtxtPiHW22tFaxqqlTbqyg3DuAdvAwThoVR31vdu/rrut79ru1tbbNDlh0ktfu8ru21+7632aX2vuDwVYaB4IbTPGPxWktNW1+a2E2leEg23TfDthCm21hltoyvmTFVVY4k4Lcso3E1tGW7/4a3du3ondb66X93lnQ13vd2va1nffrpt/LZa63bNDxZ8TfFHja2votPsl0K2mt5blkmUrNZaWRsgklZTsgMw2rbQRKpAwCOrVsoqotGutulrK/zvbTb9ZRTpctTVaWdm9316pN3W6t1vqj5D137R4Wt0XzLiRtQuNskisyebNJyY55flYsQS7KD/Fj5ed2Lw7k3e17/wCd1rF2srJfF52sjolKUVottu3V9tNNdtVpzP7Ppvhex0HTfD2q+OfE91H5GgR2yRaGRvlvLu9+W2jUvlRK0gyMYwmWwQGNdMcPyJy37aq/3ct7Lyu76aXtLy6lR1Kvsv5m1e+9tbb6rtpZaK/Qz/hs9v4yvdf8dalElh4e0uc6VYzs25brWrxHMsMRfcrJp8GHcg/u3+7nll6I/Z0t27Lz87fpYX1Zxe9krNO/frZpbvvLS97rY1YrDT/EtkdD0CHGlWuqzyI8a/Nq2pbisbl+sgclpGVuFUZ7CuN/xIrzW/ra1rP18nvdPlOqL5ac21pZ6+f4rTW13o+rS970zVPBVjoOj6H4GsHLXupzjXvGF66qm23iBK2jyr8wVtq/Kx5UAAf3aqJpbLf5L776PRfLW2iOenV57xur7Wvqkn9zv1211W15e7ah4x8LfDnwGZF8jUDcWqW+i6RhTaR3Eke1LqVOFIhI8zdhsYz2FXRkl53VtOiVrq2renn0vd397GtTcnpou/4673vrpZa6J2R+UHxB+IWr6p4oiijnkm1Gcy29kyyM7xpdt+9vGGSVknAMduR/qIeE2j5F25k9b66vV+l7X0aa87yVm7WOqEElomltf8klsradY6WtumaWjS2/hmG7n8R29rrEur2xhsdD1B3aSeVRzeI+7fBFaEbnbo7jbtwKiVNX00etvTz9PlurNJpS58RJx9N30tdpXVraSevzStq3GjpNvdWV1DqqRJbp54mS9Mpt7NWRtywxjhpSCBhsKSTk8kVk04vXyen+W99dFd3sujtInivq7UXpdfjvbRrolf77O9pfVng/4wS648eqWDalpPi3w5Jaww6tbTvC8t1FxbTwzLIszSJsyAXYEN1AGV6aGIcWn2f49rddUnptvaV1AjE0VjKPtIq7avt3/F6d1Lu1sf0nfsLft0aj8eNK0n4fePPEFpYfErwr/ZYs72WPZqmq6ZayLH9ouTJKrXlzGFyGff8AKeGUct9Dg8dzWjs7JX3XTprZ2VtHva97XPl8woPCRhJ2SVnourvord++t9tPtfqD8ffhjrOopp/xD8LzXFxbyQ2r+JrSwiEEerRCBA2r2qQYRr22J3zyH5zucFjnfXpVaikrtfdulK6Xo+q0t2cvsmDrLFw5ddku99P6+TtZWvLi/gt4y0XwP8Q/h74v1HWo4dK8UxXfhK6lhkcRX+pQuwthMm4L9phCGOWRxvyCOAQVxjst76X/ABVn5ry6W1duUwq0lRqyh2dtvv63dtO3Zpn7UeH5Yoo5LNGDQ4FzB15jmG5QvBBXBBGduBxk8bYkt720/wCGd9I+v/b2y3kJ7f8AA67Oy2u/Te/RuXR43JsY9jwQPXrg/Xrz/IrH9f11/ryKE2K6KSMEKB0HUdycjk9zt574yNr/ACv8Ounddtf66iStdebt6PXu/wBPQQRYGATnPce/+8uP89MEsXttf7/+G2/ztfVhZXv1/r7/AJ7dle8g+cvYNjsR+HfOfxP0zzQ15r0X9W/H0uM7Xw226xmJXaftcgI6c+TBk/5/rWFV+8tJP3enTV6f1b9ZdVD4H/if5I//0f7VixAB4ycdTxz+H9B+FeweUopya1sr9PP/ABL83+o6haa9v68/y+81JkGBn1x/nqfX0FADqAD8f8/kP6/WgBAc/j0wOffj8P8APNH9f1/X5gZkzPNNCVbbFHOo6febOCDyOn6+3JWrWXW7Wvkv+D/wLLeSbsr+n9bS/rvvHB1hhcXd3D5zRMYBGGDhfLiT5idp7SH5euWOM4qdH9359dG/TT8fiIlVtG6Wz0v1vpbbyb+FWtu94149Slk0uSOzkiEUNu0bzz/JtPllfLG3DZwccdyM5zmha/mr6+avt8+3Z7GUG6lSUtk36p6dW7LR2Vrq3nopflz+1H8Tr/4E65onxV0mzXWmtBdWmo2sREUF3ZMsjywySFlaS4QqHgyMcHIGDUydtbaOytp6Nvvffq/xcSpF1Zezta7XbS/fV3btfTTo7WUz86PGP7W3xd+Nt+kvwV+Iut2OuTWj6rJp8WnmXRIzaOJpdN+3FD5T7I/KaYF1jc8kYNYe0SUq6d0lbl6XV/O7u2raJLRu6iXDL5e0jB1H313bknpZbNNdtXslZ8v41/t5ftI3fxuttKk8Q3c9rf8AhiWW2v8ARb+6V7xL/Si4111kiyJk1DUELxbesagHGFFfC55WliavNzOC00V3Zq+jduvmr7u2rcvvsnwscNTg46vTW1mn57rpb52VkrH40fHzUbfSvhzopwr6lqE32qSMZIjkuXc7cAj7iMBgjI9B91fJwtPllzczbXubbq2j8uzve7V9PtfQVa8lD2XLfm1T5ujtp30S/vebV7x8e09pYfAw03zCs2qGAOikbR9xycdTtAI7An+7n5fSrx54J3tZaKyu09bPWL0ut1stG9ebkoVJxlbkvfrfZ69PeW/39b2uY1/cQwXd5qCqF+wJBaWEBAzLOEUNPs9zlQeTx7YUw8bQk7v47JPTRq/dX0dtE099AxUWmnfRrbs9nrvfTtte1tTyzVxMmpxRzFFc2V7cgr0F1dn+MDkAHAxnn/Zw1aczvbS6adr/AOF9mtm9NO3W5xRnaT01/Gzt119ftbdb2j6ffzwL4J8PeLixludHtJdIWBMGZr1cgXKpwcBZRyMjg9hir9kpTirvu7d+qvqnol26be6pdM6i9mpKKW3npdq+ltdWldR1PnjTxcahqNzLMJ03Obma4uDs+8/mNljjc2RgcZJ6Ywa9CEUl2a0vZrsv5rJLTS0r331OBNTu9nd/8DVxVraaba6N2sdHBqEC65pUthI5gi1zT7m4l7SNC20geoXqpyCeoB5qWrJy+X3769rWT0f+JKyIpVeeco7KLSv15m9emttndR7a6831X8Got/izWriEgxH+05iowdsskMu1wuMhkHB/UDBC+PVXtaj5tLdtfVX93rd6rW/SzUvoaU406Std6aq9rb6fave62etlqtDynwNZzah4l8ZqkmyVr13aVyQVKXzq3B55XHBIzgnjqrxUFOlRT0Ub3S697rza7a7KxyQqp1JuK1bV+tlbfRJO+1nbtzO94fbetBl1P4a6UkglsoYYbvC5zNKrYcN8vULkKPm4+g3eZOjG+8l5Jd3v8uunTrY9GnOKSbab26Lbp1t3W/k1ds9c+Gmsw6R4r+KWr3jho0uvD4sV7RCwu4kljccYQh9h/ugHlsgU6dK09215+mne2v56W2FiKzUY2St1ta7XV9vLdtX0tb3vnL9onxTP4rv/ABXI0FsLm10tfD8DnDJcxLNLcRvCy5xLGjFMjdxtz6r72FjHlfM38999EtOiv16vS6TPn6s3OTcrdPPVv0Tvs9W7Ky6I+UZfGkPiLwt4a0qe2RdW8OabPp0zgY+1Q20u6EyjjMioCpY7vXHauhS5W+W3LZK3lptp3b0tpe+tnzKCi7uWiVmnteS/LR2Wmu+lmdz4Ru45/CmnxaJbxnU9SutUZo+rJbw26yAkAjDBg2AAcZ5xkVpbmVnfz3tdrX/Lr11drnLOo1NRW11daa2e/wBrpe2l1Z3tpy9x8LItO0nxx4U8Q6pbyPaauihXVRtj1G0ukdjISWCr5cUi98Fs4wpNRBrmaV7K687O3otNL/De9lzfCbtxjHnh8Tet+3z8vJbX1vaOX8NoLzXfid8UfE1oYzZxeKtYvmQ8ubP/AEsiPZkghyoGedvGd2SKtxTkpbtellZt9Hsturtd3X2skuZtyTXpe348q0vfS29rbONr4IeCtO0vV/EGs3dok1zLqd7dpJIv7mxtXmZw/QgzMW2j7m3nGcEUqkrLf7W3dPu3fsltLz3R0U7x26X0et/v0Vlp8Mr7S3UjI+ICrealdSAosN7rCQRFV5RAzEPvGQWYYztH0zkVinfbZ+f+d9vN+budialFyaV79lb0fTddkurva0eg03wxFodx4S1G55sb3Wy+ohgVP9nWNv58rcgBgxGB2PQk5yzXNFpte75q2uq/LRaPXa+vLyTqOT5WrRuumtu9+vXdK21v5vojQ/FenS+HPEnj65kS1021Mth4esMDAhRJB5gQ/IHLbVVByVBPGSq0qklora/L7rX621tfvciMYLXR/wCTdk1fXRJ9Pu0PnbwD4TuvHGva98RtWR2YSw2umwynBZPM3NIE2hVUJzwT7HrVTjdX1v8A16/co799UTUUXFtXv20utfwWmtlqtHbQv2dle678Sor1gv2Kyv7extc8gRwS/PIoGVHA7ZxnPPNcVSck3y7bvb7ndSfrpe2munLpRpwkm5b9/wDLbS/e62a11P0d8FC1mXxZrsduLeaO0XRtO+0fMFNvaoHnQnBbfK3YEnOCflrVSly80fitp1+++l1qraLtsnKXZVFD7LdnZet9et35q3ROyPMNP02+1LVj4fto0e0kvrS0mnjXCzeXcedqMrvtGcPvBJOGA7dK39m/Z82snq/no7PXq/z1vdRFTlBVOWLurar777+se3a6tc+UvideT+OfixqOjaa4kWO6+xyShAIoNK03bAqZVcBcRkvgfMcE7cAMsO6kr3l7u2i6rpptZro3pff4joqqNlbaWjXqt9u/S6aVrf3vbvCOht4d8GafJGfO/wCEo1y5sYdvy+VBYkAyeXuz5RXJJy2QckZFXKTi1Zv8vWz28ttOt7pyxUUkktL/AH3s1a71V3e99NLLQ85uvGAutV1OxtSrzwTSadZqEy11euxiiihIwcRdW2BgvUleKIttNvTX/g72W/8AVr2jyVaUHN3Tu9EutmtN9Xfd37WWqkamhafFb3Njp17tfUtNt5Lq4tkYMUlBzLcXGSN2x/lDnOew5rWEIrW11Zq92le9u7/u/k29RxfLdWdvl93V/wDpNr31tYqeLLWWzg2WbAX2sl3mkl6Q2aDc8hYndEpX8+nzchalOS20i/R33Xd7eVvPoiYws007a63ttdaXcvl9q/4HE6dYwWunX3jG4iX7Jp0MltpyY5vboAqGQ8bgjYJIzj8xXn1akpaPsv6tZ7+q766Hq06dCKVt99/n067vTqtehDovhm70rRbrx5q0LGe6ilk06KTl5Li5zsKKcBlXcORnHb+9XVhkoRve7eu1tO9/e89Wr9ddFHmxChJ73T0XfS2qtb4ui6b+9a0tr4Y+Fp9Hi1PxpqS/adb1PNpbtkslosgZpEQno0aNksDw3ynOaqckrtPey16/5bLqreau45xgkvd2ev62u7p276d7O1zm2tdW1PVNUuIlaZYHbYp+fZLvKxjo2G5yR17Eng1jCEJK0tXf00d7vovw3d9LJFcvrfe23bX/AIGq37Nx9g1vSLzwp4K0pAyNqmqsxmfcd0YkXdISF5AQE9cYHPPWqmowXNHffbf/AIfXqtOuj5lBKT5XsrpXatZfc9U9lzX8r2NHwtaaZNoPi3xGzJHaeHNAh0wSrwtxd3gzM8bNtDO3Kn7pxgHPJXncvau0tmt7vp1vZvp26va53U1GDTjFprd83fy95pv069Lvl8M+LF7DPZ6dbw5kisdMgS3j6PFfXy/KjY4ZthGDjPORjIraNO0Vy9F6q17b3evot+rsDqSdT3n10W/bb/LrpqtYnt3hbw7qHw+8GfDHwbcqYbvxrfJrupAZ8+LSlIcSSA4I3gHkjoO2DWcoybur316X1/Ldq/TbeycSoo8raT5t+39X2Wr07by2vjXfad458VafpPhfz4/DugQ28mqXMnC3l3CFARWGMxgrkAnOORjNYucoySbs+vlf5NO+3S3czppXV+jvt562ul3snbXy+KPM/C+MR/EO28Rbwun6FfQWGZt3lvcXDBCIxyowHbB6nPA7tk5Qlu091fbrqtb+d3dPR2Wp6KajH3fdf4tq2qfTpute8bPm+n9Gl/4Sn4i+LPFN6y2+mwyiy06CRNryQacn72SI4wInMewsD8+MnBA3ChF7WWva2vd+8lr0slZaO+vNz+9UnZ3s0l0d/RPleum9/ntLX0PWJ9Vn1QzbE/tXUVW0C48q3tLUj7o7btpzjHOc+rDm07Rdu1v+G8++zSXLbllyTpXqJbXdr26dXd7fPpr/AHZZFp4rn8ZfEmz8H2MsETjULY3MkhVVlW0KhgAN2V2pxkD2BydsupUlvNtdl3XndWvZLTp1VjSvT9m4q121fa9vv0t0tpffmWiPGvjtqIPxmXw9hYbTQ9NdoowRsRmJmuHjUcKWPI77j0XOKqEr7vW6W916ra9m7PTs9OX3enCwi4OUkm0uqvqlt5vZ+d3onaRi69ozaN8K11i6zb3/AIl1CO+tcqdxtLWUeVJPzgAlSUzx/EAOdxUnazba3t1281d9fntpaxMVFSqPlVr2e/brvfa97+WrZ8IecdQ+IN3dwwiZ3vFmuLphuChWHyqeQCSOMnoepP3sb86td2V1r22WllZP5PTdXTJ/eKXu3SV+ttunZ9fndbM+8ND8ex6P4XfVYrOWW7tXisYJFjG9JSoJW3XtzhnlC9PXgVMU0+Z63213bWjW3pb3beeqOhuT0bb/ACVnbTR77b66yVm2za8Oz6jdTv488Y3D6hdXLhdG0mdmZJrrB8iMIxJkCsELtwE6gc1tTb27vz029b2XkrX15re9jV26qy12vtftdXu97vz0i4/Qf2mW1sNB0rVlW48ReMLyO+/s9EK3lxJlTaRTQ8PFpenof3SnPnZMpAyDXZQspX2VtO2qtvte7tZL7Ks4pPm45czs02mnovzve2/5663ufPv7RGt6V/wlHh/wRoiqf+Ea/wBM1x4fnN5rF06O0LyR5GQ/yBT91VIyBzVzT5m4tqz+at1W/TW/3W15XJTcW29Jf1bdfjyrbTW5jeO+dG8FfD+8vGstS1zUV8Q+JLmJVbyEeIWtlbbg2f8ARo3dwMAbjuDHBC7xlaF5Pm01b78347tu601Whw+ynGqp3s1vrflv02Xfqped7s7S/wBR0KLSrHwN4RU23grwfbyxyzuyZ1DxBeBTeX11Ipw7Owwo+8EXAI6rz1KjbTi2raW1ura3206p/eno0dfNzLmlr01bfbVbb31a2Ttq2pH0v8FvDNhpWjWvibVIPs+lafDNPpgZPLkur6dTG11DGUzP5jfJEybljTJPXNTGL/iO7tv8vv6Pe1+97Pm5Zt83ItYt6pyt5/ytfmr27+75N4g1u78TeLtY0e2umto5TnVLqMl2eKB/MWCNgRtAwiMOcBMYzmnzc22ulvPq1576a97rZlKFKD+FJfNa79/K32fOOqR5b8RtbvFsLu6uDdS6Xo0LWtjbRI7T3s+3y1ihAyCuRiSQcAcEjdmrVOT+HTVarVPTtpbS+0X6dC2uba2mujXa/m+ivf10bsfNvw90y8t7nxD8S/EWm3Go3to5tNK0iOF2e4v7lNlqkKbWAht4/lY849iTt3UEvspPv021e+l9Hb3tU9ekh8zTs7eS2flvfu9773vdyjz+qXtxoV9N4r8d3UDarfTh7HRYpN0emxdY47lRlkt1BAa2QB3k++QM7pc4p2b7dN2kklonbu7KzS1tc5KkJ31fNddeiva2uj0t0XzbSj5XrPxBvNc1uKJby8a0kk/0FGjMMKSOfkSC3BGATjbnccDnOc1MpU2rNN7Pz7tL3bb36N7PS7Q6lGnNxc4qVlZb7rRq3M+ve1k37zsfW1945sdM8PeE/DKW6jxTp9rFqesX1lhZJpJQjwRTqCzu8MJ+ZsAZ4IG4suDTXw+7d3VtVs/PVNrfmW+zslHsw8400oxilHZpa9Pnq9r62u3rY/Tn4Paj4N8VaD4e+JE+u3Ph/WIdJudLj1HwuPsviPS/EKL/AMSj7VAxzcWN5Kmx9sfBIB2k5b0MJVULaq6V5O9nzab7atafLR62jwZhSw6U3iYe3hP3qcZbQTTSSs07R87XfXS0v6Yf2Hf2jNe8L6P8Mvgz8ZvEI8Z6J4r06TVPBnxRiiIsYpLtNlz4U8TCUg2OoWLSpEyyhVkdGK4A+b6KjPniru6sn37b2Xm+yVtnry/JSw9TD13iKE3SpK79lHZw+K3m2lZ82vTmV3y0/wBqbwv4n+Dt8bXwCnh290jxDrV54y0OfVJTs0S/tvLk1aHSI0dTJJeKhubYIWGWcZ42L113GnShbSVtXe12/lJavS9r+t/d7YOGJj7VxvKSu272drq+qVr6LZ33VvhP2C/Zn+I1t8SPhP8ADzxdHfR3l3e6HbW+qyBgGW6WIRt5qbm2ukisCrYIB6DIC501GVNuSTfdPre2mi30u29dtbNnnTuqzVvdldJdHbVWvZrVrvda73R9UY3YxyQOfU88nPvwf/1Vha115/1/Wvq9ztUY2Wy066/pLX5eWtvdRVLDIx1I6e/1X+f5Z+YHaP8AUU/z/r7kShQOvJ+np+J/z69Wd36+tn+f9fcieWL6fp/X9dg4B+6fqP8APHT/ADmkNRjvovVf/tL/AMl+b2j12gf8ecvBH+lP1/65Q1lU3+X6m0EktLb9NP0j+X3X97//0v7VX6D617B5cfjl8/zJ/L9/0/8AtlBoSDgAen+ff+f50AFAEchby34GRjH5/wC9+fTt06MDjq1/X53/AC+8gkd44N5+U+XlTnvuIyB9B7dfqGe7Wl23r0/4b+vILf1/XqQXWLezaTBYxqZIVHG+ZFL8nHAJwM7W9f8AZoevl+Vvlfz2WvnYmWq/Tsr7/a0XW7++7cfEdU17z7wsZVAt4GnvbpnEcFvMrlYLed8Y2F2wckngfKwY7Z31+7z8/RXfW3XXQ5525H0V15afjezWvrd20Rdi8QaXp8cMM11HawXEbzX15cKojE7Llo4I2ORA5bKylSu3kAAZbSmm3p211/z87Le/rYmnOMYtSVm7NvX72ululpaWvrds/ND9tLw5pviGx8W+GrrxBY2uheKNFx4Q8XSXUY03SfEyJ5v2CV5dkcTXSl0DgjnIGdxrPFJQg3ezS0e3z3Sba2XTo19nWhNTrR96+q20+SfLf58vS6ik7x/m+8N/tP6t8CvCHiz4fWF5Y6f4g8P+ILvSdS1K6txFNa6Lq5mgn1C1gYK14sRcyS3ClkjRo5EDYw3zFXMI01Km27vW3dJ213Wyto79UkfUxwTnOFWK2ilv2d7pdN77N635nY/Ev48/E3SvGXxy1WLw7qNxd+GtMtYbb+0XkZ11bVL9o/tN+7MiZWafzZI02fu1bBcg/L83jqiqc1r+vVOzv3vo9NW+mmko/UZfFRik9XbV6LXS6Ts15XV+lrWueDftD3Uxnl0yO7hlSyishZocFU+60sjHcQflbpx0yCeDWWCg/ZvpJVG4t/a91avtunv8pWfL3YpxdRWf2dd1fm7N2dtbfae210ji7bUhY6LDcXjbbazsI5ZpQ3+szGPlj9SzH5WU5wDgHkV1attLZPW/k7LVdlukn2d9Gct4x1ffa27fTXb5v7zl7+4ll1S2ullDW+oKlyiOceTDHEWIOc846nOeep/i3pR0cb7+89O3S3Xayd1tfXeOFepzpSWy3f6NdL6vd9tN5cRoznxBr+qxSzL5draTXbtMwUG3tiXKo5b73ZQM7uOnAbV0LLm/mV76fPS66vv2bvY4rtNtJd7t9VvddLc1kvevZNX2lrX16reC40iuJIrmDVZJmh3cC2nGY2IyerJ12jPc4GaFrNLqrK9+tr6qz3/7e37tOF1m/ZR10cVpZXvbXrfTZbpb2TPNNHg1jxLqUtqLry7aJZZbu6lcR21tbImTJK6kAYGdqnJY9skV2pXi33S80+/yteN+qZwUozUZNO69VbV97O3/AJNbsm0hLm/gub/S9G0Bj9i067gVbsk+bqNx5gD3G4D/AFRfIRSrYyCBzipkvdtu7d7W1266p67R0um5XRnhk3Oq9rSWjeqdn6df8tdj6F8CeN9Q8L6vq722DeWsd1dXAAzG6+Rt+zsP7+AdxA79V53efKk0+Zvq9LWfr5bX+1fS972PYVWXIk1urW/FJ3t0V7O3b3dzU+HeqNNrXinUkWKKTVPsNxCu0Dc17c/OsQyclXboBzxyc1nWV1GPVK1r36376/e+tr2M/eUlJtp9reeq000Xk+vZ8v1T438Srofif4eQ3MEq6lpU8CXaqgWI280QMYI/vM/3lOOg4GcrxyitFvbr2t279Ovm72tL06bna26tfW6V/u1avd7ebdmXvh54k+3+IPH1tOjXVtquj3d9OI3BkSaG53xCMdFx5eG7Y6chaqjTbcrvTe1u+nRvvrZfdZkVG7a3Wu+1vTbrbS+u2jPMdZ8G+JPEnhnWZWH2tnuW1O1ksXMj/YpH2D7uW3WzLsuATldwPIJrspTtv316fPbp5+nu7y8+cE5K+rTvb11tfSzs1b3XvsrnjHgb4Z3GrX2oQ26NBf2Qka7tXYCWdRzO0aPht/ltvA3fNyeMZXsekYtO977a+f3aW26bxv7yqU+WMVZ3a13XZ30+7073aj6F4R8CXfhL4kaDZWMh1PQT9q1NrqQeXFa2dxC4uTcMdqr9nzh+eCRwc7a2itFrpZJa+Xmlp/w9ldHJKhzSUm9dFa99dmrvdXT6xX3qUfUdf0zRLP8AZxi8UWN2kmpWfiq7udOeIkyC1ku7i2dX7ojFCUJcDkdSBWD+KVrq7dnfa2mnr27p90bQg3o1sm3paz3uujXzj5PRnm/7MDhoPiBrF0ZRDJFcnzBypcpgtKSPl3NOQCT1HGf4TXXV37Xvd7PXTs0tNmtlYHCSur2turbW07pWvfu+nLpc+mrTR7bwt8ONXvoI83fiWd4olO3f9ljh85zuIJAJP3sqOR6DdjUUpRSTe7ve/R/9u620tbRLrZ82tBc0ne+10tO/Sz22dtfO3NaPmng7wZbeL9b8G6J5XnSST3Wt3yLl/JiiIjjVj/dJbqTgtx2wtU00rPT5eWyvr03t5q9hV6ri9mrefa99NLO6tdOVt9bI9X/aQsNJ8I+DLK1mhtor2z26bp9smVujc3KlnkkUEb42jbbg7funluN3TOUXFpPVW2enT0vt0vvZ6K5yuTm7Rd76JJdtfR2SW3+Z81WbajrGk+HfBCyLFZrJFc3McYy15cz8+XgE58oHa2RjceSSDWKWumm35t2trbeysvvshqnNu173fnp06Xaa7u7WnxWufQd/oaWMGh+GtGN3B5mEuVt4djTSOoSUNlFfy4/7wGD1OMV09Nv+H6Pp8vne6dhuEkk7q1tu1u9nb872tdW96KXwYNE1dEsYWlexiE915BLjLso/eSMAqMWIGCSa46sNVu2n273s9X09bX0urI66N7PRt2enbbzWie9vw3j9Y6THb2fgvVb1ZxF/YdjH9sU4dRdyqrNuc7gZOVU43dQOMMG1hG1Ny8tfJ6Pz29Gn/ds0YVFeat1auu2jvtbp2d+zX2d3QYNE8G/AzxX461u3uG1e7m8rwyqyKpkeZGmupXcD5VQOpb51znAHPy9TmlRWu2rW26Wqemur0s93roZQi/a7ap/k3srx723emu58F/DfT21608VeKJLS2tJL69l0nR/LBW9uZJZC88wdjmRVGc4JwfXmsqE4tPS2tl0/Tbp02tfS8uysno7cu3zutl+miVk1q1c7Hxn4kPhzRLjT9Lsrhtas9Gk0zTLXJf7PLKgjub5U5zNJysZTB3Nk9CKipuu1tt9/Lfy31t0sRpZaX0WnX7ktbXV1fXfde9z3wW+HE9i11478cFLJ9Dspri3tbuXYumm4Bf7bPEATNqF1IypBGNzYf7pxhCG0v0v9/wCD237LlvLnqaz7Xez2/PfXVN3T66JjtN0u51bV7/VLW5mzdym91q8cBTaaYsm62sYlwGjWb5FEfzO7HJUZyulOSsvLddXfVu/r5v0d+WOU7x6aX16q3fbt3v6o0de8K6z4iv8A7BgwvMkc2sXCYC6bpMQDx22/JCyyqN0gU8FucZNTUlo10VtfLV7W8vPza0UuyhSUo6+unX8X5LpqvOxzsuj3/inXdH8KaVZ+TocMqWyQr1kto3xPeALnMk2G6nOPWsorn6WT6tJ3t6W/9t13vuOfMujSel38vu1el7+fRR6z4natpC65b+DtLjWZtHt7bT7a2CssVnIsarLdzgjbI/B2KpBD4zyfm1bVNLV28v13tv1e13dr4oVPnW22vRbvdu6a1166dNCW9gudH8OaTZSMtrBDDPNg8Pc+d1bH3mdzuYHP3eOMVyVqvn9+nNfb+bvra99rbOXXRpKb9LLsn3frp2Xle9o4nh20DLiwVbK0jf7Zfz3A/ezbSdkecYG4jHGT7DI3TTqt6enW78raJ+e3ZaWTKrUlB6Wdutr/AHfevlpZW5jW8Qava6l/ac9yNiaNpEvkMSzLNc3S+WAM/KGwflxnt2GV3rS93e6tdrZ6dfL0tLvZW97npUpOV1e11snpf8el9m09XZpqXFa5rtpofw+0zwfZoZp/EWpWN1elGySxcHyiPlOFB6ZI6DvmuOE7y8+nlvs9N7dvuPRdBqKa0e2t9fP4nbZ/zJ+TsR6d4VHxE+IXhXwxbQiO1sbqHWvEE5UgBLXYEifIwEVIwm0jqcjOcLv9Z5Eovppdv9f8rv8ABxh4d2vbXRt6r/gr75X77n0F451EX2u+NfG948X2fwtoUWgeGbGIY2+RF5QES843AAtjGScHJFZzxPZW6Pa/SztvpbvpfS9kSqDnvt0/rq+mz36bS+efDl5qD+GsXxaK81GabUpU/iCKWEULY5GS3ygkZ9yMrzyqKTu97W+7+vK9rectYYZxlprrqt7dm9tlp16PSx7t8O9KWz03wvol9ZeZr/i/xFJq9labdrpYWUMZguZjghI1kTeN/Lc+gDTzJeT0vZ7X0fSW1tdX0XY6lQfLottmkr6bduvr2WzZ3/hrUl0/SvirrV5Ok8egWUmiWKqRibUp5nWUJjC/ePOCCBzk5+S4zfRWbs32trou9lftb5NSzhStU1vdd7XT73238lb5LmwfA2rXFr4e1jULuEGaOCJEmdvlhYo00vl5Iw2XwcH25wKzlLp137d99076dVfdrUp0r1FbbR7Wbf8A4FK+i2v03djiPgreW8PjnWvGt3OTPa2Gpx2aFicTSBvKmznHyNtwxJ4Hp964SjGm21r2t8tLd1666dLR0xuFu6etrx5tPnbXWV7pWfLp05tGedaxJJr/AMR59Yvp3kudXiiDs7b28pXXzgPdooz2HXuCwXl+tRU2k9vLTz6u7fTRb630KweEfJ13eunlbuv07W3PQvHt1qfi3S/GEOmQumh6D4esorAscLbRpdhWOC23dtBb5TlgeSwPy9Sftoc121HRO2i13vzLe9vPs7XMp0VTlO+rbv8AdZWve6+fLfyvaPxWdKuBrKWOl2zFrmSOW6uhgsclfTggk9OMDnqGDcyladna3rbbr8+mselr396/Yq19rXW1lbaz95tO22/4+79MWeiazZeENMRI82b647Xlxc8fZ4YIgZHJ+UjJGI8jDE45H3uupOLhHlVnfp/wy89r9HaJCilolZdW738u+q20Wj0d+Y9s+GEuhQ3V/wCPPE0y3OlaBp7ppdnM3+iaedpHyQHJlv7llBU4fGVxjJrOMr3Tvve9/wANku9/TRK5z1I6tXv1Wu7ey+G63svxt9lNF+IRTUvF/wAU5wLzWp4TofgvTZMu1veXY8mGOB2yiyQwDz53XaIziMEMMV0U6tv7263/AOB383bpF2ONpRbk3v5bX101etvJX3dzm9C8MWlvbatr/i+/XTHaO51fVJ3dXvdQkVWmcW7NveJRJtVJGK8Y2+tdS1V++v8AX/Bv+kZeIV7W8m27dGnbR6pPS1r9z5p8G6pq/jnxxfajo9pd6gby5bS9EkvpWcKZ5PKWb5yQY7aNgzOAygnjPO3Oc9eTVX0v2XXt62187XRbjGcJNf0r37xs7b3WvXlu3L6d0vwxY6v428O/CPQ7qWa20mWK98f+IY4dtppccssRuhNcbQt5qF+5aCxQbvLhDPkEE1pTpttO36P0Wr6qzvb0s2cE3yvRaX/rdS/Ly1t7v1l8UviXa2usDwt4f0O4s7bQbC08PaRaK0c7vthVRdShN0UO5c3EzHLqWUZUgmm5x/hpay92LXW70+9eUbc3nYhKUve6J+vz+yltbbzdm0peA6Hosmu+J4fB3hyS6nvEnbUfF2tW4IWzUMXurdpiQACP3UKA7mf1ApwpWbbWl2k9F28+l7tpW2Tetjlr1nBrX/gdeyT00fbyaUT0fxd4E1PxBO+m20FloWkWyiKC+1R1gCafGuJLmQS7WluZgC37rJOeckgN1xko20v638/8Xfouut9eXXD1OZO7031t92nW2ujS33tePnPjG78M6F4UHhbwXcvbWunlYtT123svtepalezE5jtJpYfKg87+DYxkROck8U5VOdPvbS+iuvTr1Wur1VrI2hVi07Oyv1vvfddE9O/d6WPkLxV8OvBF0/2jXv8AhMdX1uVSNP0fT5Ulv55X+8txgMIYyxDMz4k+8wAwN3LOm5ydtVfTXpddl1St9ne1nry2mnra6/PbXrbXuovpZXR3nwm+EXhjQbLVvF3xH8O/2bpWgCNdJ0+4uHv7671C5y9lbtAqlt8Ea+ZNg5DY65IqeWa32/BWvdJ6q7k9t/NWSjhVqr4bLyXp1WnTWyvt3SXL0Nv4F8DvLN4+f+17a8edp9Ptmt4Eiv1diPJMEsvnrawgKGVtwIHGOAq5lF3erso2f/At2S2+1pa7Ci23fprp06dfzso2a+RFpPjnxZoOtPrWiWUXlW86LcQwxs1q1sJNyyG2TiB4eDHMuCDyCCSFycmpKXeWlt3bzeyaXW+10nsdFCnHESqwxHuxi5KPba/mnrdWVkraXP6Y/wDgnl8bvBXx3+FjfDme50kePpdN1eKytZ7kQz2fiGxj+06TcBH2tHPqCK5SVSrSMhGcmvoMtxVrJvW3b0tqutvLyeqk5fIY6FWGNlBf7tzy1vsr6LTlekeu/mtXL6A8da38T/GXgfS9A8aJJdaToKzW/hjxrpxP27Q9diaWFtM1ZJHDxwylXtlckeZvX5WBXb6uLrXhG+jXW91bbTRbPy9bl0eVTnGn8KlaL30avp8SXX0ejvufpt/wTNur+x+Bs9q8i3WoaPrM39q28bl2jeWV1lzFx5JRgX2jPXJAwTToNuDu3r09be9vrrt27dDhxEf3umyvfeyt0b03vbS9reaZ+vdhcLd2kF3EwZZkUrhlz0wQwXGMEdPl6ZOOrD799fx/rc3pvmjf8O1umyV1s79XZa3UbqrtGMYzz+dIr+v62/L7h1ABQB1ug/8AHnJ/18v/AOioaynv8jWG3zP/0/7WTGxx25znOa9g81Rak30d+nn/AIn+S/QnoKCgBcY68fXj/P6fqAwA4puUcjp3HqBj06fRvw4o/r+v6X5uQZd2StnLvIH2dssTlTsDgk4+Y7cHg85x9DTvazS1v8tt+vn07WvZlW63tfa/XdPV6XX/AA25xvi/xKmmaPLfqZVAKRbxEXRbViFlnyvQIpZm4OF5OeiuMVO+qXLo+rvvorJdLXbdn0V7nNiq8aFNNLnl1itLa9XZ3f5WtZ6n5UfGD9tr4PeCvFFx4bg10XNnayajqXifWdKu7V0s47FTugurW5YySXDyjyYk8oEP86hs5XjqYlU5qHLddXzWfl09L7/Pc5qUsRiY2WHkltdyTtpvumrKyeivpqtEfKPij/gqB4F8PWGh+MvDXhW98RaRfXcunw2ms38Nxez2dthZpLiyiaSW1gYklFMJbYuEB+UVUsb9XUpOm5dbcyT1tonyt/epeW1p6U8JUnOUZPkbto0tHbq1fT3vu1dr3Ph79sL/AILH6B4s8J3XgXTfhN4Y1CxvY42+0z392Y7OQxktFb2n2ay8iaJiV87G9SCcsMV5eMzuM1KMcM46afvL68u3wvydtHbRvVyPVwWRVFUjVeKVo+8kqfbVrdXbV7dfT4j+Wf47/tC6t8QvFuq3kbvp8epXKpdSW8pmdIFwiWQlYGQooUINrMzM2TvIFfI4iM69f2il7O+nJ0+LdtaarS3LorPXVy+2w3LQpxoyXO7351daW7e/po9rekr3PCvIex1S3nv3FncahIt8tnI+HgtYNogknDZZN6/OFYg85xzhL9lzKze9k9JK9k2ldX1uv7y63eqj3QlGL5+iSsk7PTRLq9reT8rXPOPGOr3vivxrJpsl0y293iESZ3LsiQOZGJyRnb6844IxmumlS9mlC27ve3Xa1rpd3qorW2llzc2IxPNWi+X4Uk1d9dLLo7c3bXTRP4cL4neJ2ki03w5pp8qz09YoZJYeBdyRjlH6nhsnke3OK0WGScpOd3v8Ou22+qXTrr9lKxjUxLtyqNrrlTvsrJN7O+vmu6umjS8R38FvoekNA+67vLFIpT0aMBF3AHsSrbcjp+Iqow3lolHRLva3pbrv+Nkhtezitebm97tbpbZ+ffbd3ued+H5vsp1d1y0t8JLbOST5JO7YG6joOzZ698Vo5rl5eW6Wuj622/NafnciOru3/L6rp3e6snr1vq1Y6ZzHvMMrLa2cNvF9omfJCqQBIAvVmJJ2gKw7dOWwh8UpXtd2V9m9t/e001duvRJ8rq1uWPJyp3s2769bbRv37/K7UuL8Qanbw2j6ToQNrpk8g8yfpPqLKQd9w2cFMn5UBwABlTzt77aW1WvS+lrbbt3er8103OKNe2nIk27XTsvlpLpvp33v7sfhOJbYy6iyKZbWKSS03ALunAz5wHUlCeAMAMO+NtY1JcjS1fppv0fxLZ667Nb/AAx0p2hzP+f8kv8At78k0lpdWcdnRL+482W4aRi15JKZC33pFlzuHO0sTkjkce/8WFSTs31atv3j1fa3lt0ib05qc0uW90r+ej9Ft3v3SVrnsnw+UvqlvIqSE6Td20ssajJmtxMrggAHG1s84A5xjBOzzpVNXdJW7N6/+Sea30302Z3cjbj7ui956bu/Xe3nps03ex7X4v8AEt14j+KGn31yJEtIWhaIE7kkki4jDYzlxgDJ49QMMKw51N6bLRea36/hutLaNx5u+Cajtt367b+l+2/exH8MNem8P+MPElxMrNaTW+pAypnaYWlz9mYk7cjeSvsTx90110rKLs97drLWz0um/v7PR6HPUftLprrf7/m+/d9tL+7Q+GnxZ1HwB43urOaeS40a91C4lt7W5bzAltesY7myIfcqxzw7WKEYVlU85G21GKd+bVPTbbd9Xre1rLttZI46kWpKVrta6aWu2ukuqtreO1ktT6T8S+HdL8O+INK8daRqNubXVnjv4p7dlEZt7kZe3uFTILQlmU5PTIwMVqqraSTTSdvPvt07Xs/Jay5VCcqnxJe69Elv66W2srvlfbVNE3xQ04aDolnfaOkC2niJTcM6kIrWd2vl3VvE/DCIySRy4XABH8OQK1jWk9H0sk7fh8l5eStZmiSuvdWrXTZ9Xp2VvXp9k8L1a9v/AA/8E77wlcQLNBIpCPgmSIR35uUfGG4ZWOHIUckc/wAOdabppNe87+et/LR+fXdWa1RSgk00to2u0mumyutVpZ6t7JbnN/C3VZvDPwc1jMDibxXqkdn9oC7D5McnzbnwQGJAzt28DJ3A5rn+tS7JrzW1rbfldrpfVol0U7676t+jvpu7Laye7vd2kj1TxR8QA/hi20feyTtHHYWA3Y8pZdguJcA5JKAKOePUg1EsTUVtFe6TvG/Va3Uop330UdbaO/uipeza5OZ82jV7+ttvPot9LtXl9A/s0/2Ho91r3jXVLlIrPw9pEcbPIVUmztE864VGY8GedY0zj5unPJr0qNpwcpOz0Vlez69Xpqn1btZu6scmYUoxipRu316rXXpe+t7bJdnufK/xs+Klx8VPF+nrCTsudZl1OUs2Y4bVRstokAHybFAOAOTyWH8XHWrShO0GnbTa7X6u1mrrl0uvdbuXg8Kp0fayUr9r9Nflvsuq30R3fwY0TT01+PxFrd0sOm6ax8iWUhmnlRtyxwK2Q7u6hD2A9MYq6NWTa5rLVPa1ru3nu9t9ftarlKsZQfuq35X7NX692+1nuz668LQLrvimbX/LknubjzLe1x5RgsbcA7ymwCNJHBG4tl8nB4Ga7oyjJee2jvbr83ZPdRMXzuOqUntorXfpdWtZ6N3s3vcu2Fnp6yeKY54J5NOeV5Ly7kdVVxaF5PJjfAPzOuOG5PHA+6SUd2rX116Ky0Vu716Pto25aUpVI7W1VtEnZW2t723Z9Fdp2tHH0+K41fw/pHhezlufs2v3FzqesuoclpJpyNO09+pLZRODncOMDBFTBKbUJaRbs2n03srK+l905aa21LlBqDqWftI+8k9k+l1rtff7XTlatHuf2jND1DT/AAR4I8DQ3ZtdO0fSXudfzI0Pn6pqO2WK0Zcll2QosbAKcggAKMmuerNwqulHWnfS/vS32fX8+t+W65d8PQpyp+0ndz330T9Fbz66tL4VdR8D8HaLp2jrbPqN+iaP4atZJITtCRDUbn97cuzLlWEMZ8tSTuLkda3UI04OUXaTWzldbdeq3elnfbS7ZLdOej+V3b8rJu6/DVO1jjfDd5ayeLfEXxO8RJO2nQxT2XgXw+4+fVZoiyR3JhkBZo5G2ybvKcfNnJ4LKL9pZyunvp29PdXyVt1/27hJOL2tbpvp+C0u/J9lbljzfijxp4ivrnTdILhrma6Gp6jpwkVUub+Qn7LbzbcqbWxhZSA+5FKk7Rg0pycdF1kotb6ve3Xy1vZ69bRn2akm5atJ9Xvq1a2t9n6btrSPpvhnwrqutxxadYXx06JTHqOtasqjZq2orkmFDkZsbdj5cIB5IVirZFVJ+ztZpd291otl71//AALva+kY5xpRqON0+9k7aJaWWqe7tpr3R240i913Wrf4e+Gmmm8u3fUvHWvICJLa0iBZbYzAcNcEYwZM7TgbejJJVF7zur6PX53Sfp/N2WyZ1RcqXuxtbbXXTtsk2rvXRq/XRmFfGf4faXrGtWdpBbahNJJp2gvM4E0WT5cc0KsMs2MM+0DBOTjApVJKivc069Hfpbz7dU9tb8x1U4RrW9rr1um1yr8b3Xlrro7Pm47wd4De91iyv9Tv5dTu7+4+3axezKXmKBGuLp+5EOf3EeeMdCQMNx+3lL4mrWtpo7+b1d9rJ9e12jSpShSVoJpdt9/knp667q+hV8XIutaqt/czy2+nW91PFZWkbcG2t28u1iiHfzGUbyFG0dxmsKs7u3bZ3vbfXZW0t3730NcPSSSlq7737/8AgXza1+dyxcrFLJa+HNIxNOixXOsPCcbyyB0t+MYEa8SZIBIyck1NOpq32bv1+Wkey3/K3KVXpKSStdO+2lvP4vla3n/dOQvbm7vdN12HyIxA92tuqquXCwcEKQAeCM+nGOCcL0Oo35q3V/f9/qvO+iLjRVOKaV9La/dqvWytpZvS9kji4dGke/0e8nkKtaeZdIsil0jSNsb5VPTB6AgZ7dVZs1KOjtZ2vv6a/Z2V976vazsdFOnKTSfZ20t91rdlbT1Svc9r8PzDwzevqlrKIrrX7ZpLmQkJJFZQg5dj96MSnLKvy8cjONq8rlNzlfRX002XnstWtktddU1zR63h6Sp6x1tvbXr3dnZdNNtLXvLCFzP4g0i7nSR49PuLq5ml8xiHuEicjfjIJGF98g8lciid7abpXem/o2/Vr4dl6mEMO5NNKyb0tp997/dvfVWvcj8GaPfanbXN/LbLFpM+oRRQXk4OTDbHLxwA4BGF5xkE9SOlRCXu63Xyvt93o+2+trG7oRja8ddr+X4dlur7arWMfXtF1KSzv9b8du6E6Nos+meHbd/9Z5wXyY/IHRMeaWYptyTj5sErMqlutuy3b/CP5Pr2ZpKCS1T0XSNvu1laz12fMtv73N6dZXtz4Li0K3nY6nrmsHW9QUEsJne4O9fUmJXDPndyvO0jLNVWo32eqbvtr093rovPVWe0VDC+0mpJO1/l2Svrs7tXl6JWQvjKe+0bw1c6OGS0V73yRJE+6ScsqCXeFAyAAePfBxkhXTqptptW0Wrtp8k7bfzXXLbXXm6fqMVeXI7rsu3Xtezell2u7mP4WtLyw0jWHhtWt5bjSRBB5sZRZPMcjepwWLS54CBzzxmuic6apvTo9m/x3eunT77WlhWpzlOKa91K2uq+98r0ennZq6essCPTv7JurK8u0eTUY4GmdYY2ZYRkpFGS2WTBOXDqMt/Gc148uV1NdrpdlrbT7L12ur26XunLppUuSLUbpN722t06Wt8Nlr/i3l22rpNpvhvUbSRnjGtab9vuI1yEe3DYhjl9t2flOPXpy3oRrOlHlhJpS1a3u/w1a318tHdnJUw/PO9uvRPTa3fT5X3eqSR84eG9F17xNrtvY6XbLZWUN3GdR1JFyscaNll35B4HAUOxI5IXjdk5pu7ld73f3eXft56DlhJKKTT0Wvy76fn6K9nI+gviDfj+y08L6fIv2CweIT3SnDXs0iqCBt27snHGcfTOGftJNxUZPR3fR+Tt522vLe7exzQw7cpc6dtP+BpfTvrfumrPm8pRPEHiK+0vwF4fd4bZZftGpOdy20ESAGS8u5OjvFHuMK5XD4x1zWkJWvzP7/PfXW33a9e0uOrR1a5bJPoraK+lm2+l7edteVOXcX+r6Z4Fcw2cEetXGi2LSabYgiWPTnlIWbWb6Fdwe6uZc+Smdy7gCxxmuulUhN6eTb7L7r9+7T0aX2uPEUkoaLXmS0/PW3e7s9dW7WPI/FWoeItf09be/wBVNve+JJo5L21cvJcwafIw8q22IUEDTKctHjgMAUyDXTzva9ul29F27+ez1SvqmmcyoRcbuPM9Wm9O+2umtuvdq9ve9w8MeEr7wpZaVpPhy1Mnie+s0S2eGLzGsrR1VXn2jH2XG8MbiYpk4OTg1dNJzvKzau+mum68t9G0t9GkyZKUErXUX8S6tdW9721T6adE2j17RJY/BEC6fb6notxq0UoudWVLlLi5bUpTtW61q8hbyw0W9vs1q7bo+OPmIXaVRx+HZ+itq7+vS2+jd9rx5ZxctdbW+6//AIDdrovndWvLn5vHGieEZbrVdZefW9b8R3kmk+HtIs5ljvrmSZsTak6OskqW0ZyTNJ8rKMrIFFOEabam1eUdtWrNbPvp8PS3q25ZpcuvM0la6tr1en56t221unGtcfGi90G2j8H/AAzt4tC2P9o8V+KobQ31/qN7nM1vDcvGUZITlUYyPl8kAGqnUbdovRuy7637q+nZvVJbp+7FXCe1TlyXSu11u1313021v0SSPWvh5LJ4qme/FjrOp6hHbE3/AIi183F5D82DIkKuI4It5/1cFurueAHUHDaUlJ2Uu9lLe8denu62T1vppdrTm5044dWdk3pZfzWdnolfrqr20XLrY7mH4eav4n3StZw6JoVv5rRajq0a2H74bs3SW7+XJcMFyITGoVOM9SF3koOySV/nppp17dE11V3bmMlu9bvtZfy7fPf5WVnaUfKLrT9J0K/u7bwy9heajPcSw6l4hu2RXMS/K32SGJC6xoNzEtMoZioJ5FZuy0S0s7vbbXXo7WeqfzlY6IOWkm23tZr/AC0v6fLY4TxXrJvbX7VqtlqkehaLIsWn6dbG2tJ/EF6v377YrmXyGKkebKGZhyp+ZjSfmut9NXftZrTXrZ/OxmnDmvKHXX17/wBeV+h8zeKfFOr3N5daxLZ65aKcRwR3ds8lrZWy/KiwzwhguAMM3zE9SRjNZezhL4lffq1pqmkm7bar4U2tG7+71UpQivdi0ldXu35aXvdX7r0vcp+G/ELzXVuWvr2B5BtN9ZSh1KkZP2q3lDrPGD/Cyhhg4VercfLLncd4ptKN9LLzvfvo7X2u7+71N06kFzLvtJ7Wu1pa9trX5tbtt+6fYHwS8e3nhrxFH9l1+48Ja2r297p/izQj9luJLuzYGA3MQChQQ2Hj2YxwjBflrvw7VLWC5Wntv6Xu327bt2baRwYrD06kbezVtuXVaK9ve1er06d1vyn77/BL4g2Xi74K+M/B/j7xgt3rPiSe21Twb4lhuLiH+19XjeKZ0uMn9yUmUhsAKX6sPlr3qU4VaK9o7u222q021WnfZ+Wx4WDoKGLr02kqcXJRi+nVW97ordHfRPVWj+q3/BIbx5OsvxY+HniOaO18T2eow6jc2sp8xrhS0qm6ViWDRTKoYEBvcHGGVGvL2saaklHs+17X31VvN7O7Wjl5GYc8MTaOkXe8XZ9L27NJ7ve+rTveP7qaaRaLFtGLadimwYCo27hgACAGyTxjjPPFelVilKytqk099drO9luttbbaXRtKXKko6WitFfdq+/S7vpyy1VotXfL0Z4wOpUbSeuSOpHt+f4YxWH9f1Y0g7rXv/X9fLohKCgoA63Qf+POT/r5f/wBFQ1lPf5GsNvmf/9T+2CvYPPEz7cdc5/z/AJ+lAC0ASFCep5+nH/oS/wAvyzigCQdBQBlX8eY52OVWaFopsc4Qj92w68hsHp25BydzX9fr23Wn+ew9NdW/wv8An1W3Xy3Pn34p/bv+ET1uJr9vJstBvQIMmNpHaJgjsV2koUG3IHJPbGGzTcZyetrvXyt679NvS1ve5J0XKpzS0TknZ31s7X1tezd9/PS6P47P2m/HXw78FftB+M/EPi7Qks9GvdFtI7jRNGYPDqGtQW0dslxcRyKXLSlTdT8Nvk9N2K8bE11HEXlvfTXTZaW6WWq123tofUYWvRpYaPLBXSfVXum+8X3/AOAnZnyF8QP2kfhp4DsZZfBC3erSarBFOfESulp4htrt4f8AS9OsIlR47a3U7YkIViE+YdSF5cViea9npa176vRbaPR/8HupTToOvNV7cvO7cvX3dNfXe6XXW10fkx8UvGXjTxnqF/qEJtbWzuLiWeJpb9Jb0JISd97NxmfBzJkDDHHPJbx5Pnk3tr19Ne3Tez6W0se1ClyRtbRX6X0e6vps99PJJWbPBbebR/Dzy386Q+JtdiBksrMZbTbOc5xdXJ+dbm4hc7osBFU8nOaPZtvo37q26evN0+elrWavKZSafbRa/n66+nfs5eUeI/Ekona71G8e71nUC1zcyk8xRsWC2wB+7Go2qqjaAoHy4Py9Maei2Svs+tte6S1/4FrXi1Xu7c1tdOt2radLa33lZbXdve4q6vbpdQtr6N3jZoEn8wN1bBQrnggbccAnJ4ycll05OWV7bXavZr0vdeT+HXRWTTZMZP2lnva/fe7bd7dLb37pJ3ZzOq3/ANruT5fM8kwZmPPl7iNzLk8HPOefmxwMiratFefe9tV2vZ2+XmtUpZ1HepHolo79WmvJfg+u7abO58WXPl2mgWsTeay2HmSMcbgzDaw4/u7eCc57g8ioUbX00u7X/wA+u3l285dVery8iulddd73ulfXvbXbbS1zC0aWGJJVedcxOkxzzJIXkAMYO4HkPnIP8PQYqZR15u/Tot9d9k1tbyTs7Gcalve32u/Lv1svu36tsuapqYvdWnYnybUr5CwsNy4VFw56hmO0kkhTnoBmskryj/i/B/1bp533M6kubzaSu+mm6u7aW7vba1zg7oyS3ZtxIRaJJhSBnYM9V+buATwce7ZG3tSur9Xf5a7929Ertu2+lm5cqs2mno3vZKyvfp1aSV29HrpZmnPdmB9luxEUYSGMDHIIy5PQc9enJOcnNZyinK+rW1ttdL6pvd9ba+VrG0lJtcvztvr+Wtv+HSNbTbgrdW0Gc7zuTjG3Az+OCfb0yODWVWKlG+zXrd32el9tvLy1Z24NPmTlukm152s9tOvf0ufTPwZulb4hi1aNZLKfTJEnDKDlvMRj17/MMcYU9CTk14lWLaSW66bXS697q7XotXK1z6CLhbezat10t2630u9Fa9rtNnea7L9g8WMjJDLFp2pyiBS4UmKVsRs7diPctjHTkNWEYNS1utttLd2rXVvJa6vR2vK38OjWi9brt0+1/lreSMTwXcywan4q0zUbd1N49y25WD+T5rB/NhIz8ixjLYPI7AGuxe6lzdVa/TR3Wl+j20v5Rs4nJCN772VvP57xf/Dtu2ilxXjDwfqmn+Io2jUytcW8M9tIDxIuVzOh6YZPlIBznGNvNO635r7/APD/ACa0+K9/i0XMOlzb29bdVt669Nujvfml7p4e8QyXegW1rLI5j0nWvsE9vNl1EFzEuJVU4AXzFYccLnIyGJpJ2at9/pZt9bt6K3a7urXJ9koXXSS1W17dNpWvd/8AAXux9C+Llzql/wCFvCE9pFcNoFqZdNuXGTHYzMAoRyu0hHbbLGc4AHBGG3axlZ9Xrv3fztbRaNO+60dnFNRb2Sf3/wCautFe2vW5w+o3N1b6X4bvbtUube98P3ljfadKFK3VxYTbFR+ux5Y3V1cbSBg/NgbZxE7R96+rWl/1afn3/wC3b2NqEFKTVttL2vbXfr169Hva7Rn3EFg3hXStF0i5ItGln1WO0dRutXYu8tuSRyscm5YWLHI7jrXJzrz9fLS2jt+Dfo7rl6fYrtpftt/dtrfe7lfba97yx7yxgvY9F1Rn3ieNhtYcQSQ4DKw+bG7jHHGcc9FE1K2m2rvr3/w/p3Vrc0tI4dPmta0Vd6a7a+T2bS0380pentrrWfgK80q3WS3OsXaWRWNivm2cMRkmLdCVZgpPrnBPOF7oVXGCWuur/wA+lnr36atW93zZUVVq+zvonrdef3dfPbdvU+bbS0nt9Xlu7Fg6+YtuhYZYlgylVLA42jHIHHTjIrjlW9+71303bbte2iu32tG3d3SPR+rKlFRva7S/Hpt0d7NSulfRnuGj6g4jW0hlRf7NsmljhHR7tmClcBsMxZupX1zwc1oqqdrN620vfR9dE3oktFbXroYzwid3urXu/R6K601b69P/AAH7B8K+Jrrw94OsdJt5I5tX1Bg0zRKvmLJPsUEsASTzgfd9lGM100ZtSTW1+r00XXtqlo77bNpI82vSSi9NU+7td626W++/k7nQ/EmSbwTo1tZxXZu5LuygkvolG8G4u1E0rE7Rjy87T75BJ4FKrXd0k9uq0uvvdvJJre2ukjbDYZSV5Jrzt36Nd27K2lr6bNS7Tw7LY6X4F0S93f8AE+W5ttWjhB/ezvOQtlAcKGCp98r07nbXXQba53fRvz7dfd107bXu1dF1qNoONrJrfo9bXfxJWb6722d7R8p+LXijUdbuILW9Z9Q1yW6JSFJGdvtbgDMiZCeVaJjlsgY56YrnlLmr6d/u872s9L9H87g6bjQcVez2t8ut9fly7P1OZ+J+peGvAfw/0TSp53uNVMB1DV7Xepa+uZG8yK2dl+YDPLAZGOB1JXoxEnFLTR6Wbv0a/wCC++zvze7xUsPOTlKWiTWtuXbr1W3ba+72l80+DPEms+ItcvPEepDzbq3sZbbw9pWCtvaSMvl21tb264QyBcMWIZh1PeopS2Wt737205nunf0bVvNWCrHX4W9bfJfnd67pLrJ2R7h8PPhmbm7Nxrd9F9ow+o+JdSmb91pUZXzTZRynIVipCsVJO4beACaipO0uZp+6/k/uvt2a9L2ZUKd01q7r5a9NJLfTZ621SFvvHV3bXGoLoyEabbzy22k20A2fIhMMN1K/Jw64fDZyey8Guapi03fm+b17+f66dea/u9lHBt6vr59+3up+fnvd3SPZvg3q02h6ZrUl3cr59+Rda3ej5ri7kb5o7VXxny0BClAcZ6jgGnDF2Ts07p2206f3U9rvXRdVbllq8C736bO/XdPXVrXb9LtnHeIbyDxt4ttrnU92n6BpDOIo25WSUnPmN2LuRgDjA9QM1gsR7XRtOy+d7+T076vzTdzalhXCzV+1t7L7ldP18ru1zrNGuv7JsdaaxjKm7ilCXUgy0VmvyrFGTjIfP8ODhjnONzTOaWm72Wtnb7pLXfVbvr9npeEc11u7N/1Z6abbeabscLc6L55fVpYXleyhHkwJ9yJm+diQTtLMRk7s57kY+bGrU2s76adP/bei8t3tG3vdNHAX0d1pfbtp/lpfXTSN/e0/CPw+1RNF1LxVc7oJ9auHSzVQfPlZjsCqAxJCqckgAfliilU6a32v9/lo3f1/xJXj0zy18q+9efXTTTW3836Gi/glrC1i0tbJllbe7yyKxeSeQb5CeQDtzgYzye2AtKVd3dru239fLdbv5ClhIqGq1j0638tPXS6+dyr4R8H6frOr6jPqGIYdKi2TWoACvDar5km4+srKAeuC2Opwsqu97aq3Z/J3b22S7dXdGtLDR5lpq/TT1ta11r1vvpdlu18K/wBq6P4x8RSwhGy1tZxt0t4BxHFGuccoB0C+uOCKhYj3ntv+Fr/l+Wu6OueEert0utX/APIy8rN7ee0V+HfgaS80r7Rqtoxs7aKRordCUDRZLMXIIwrnjJY8DHernXitLX0/rfZ7LS+77JxVHDpPVJXeq9NfK+j01Xz+KU3jHzY30bRtNhjtopd0dvaWyBEiV2+Zyq9WKgnPBboCOjYqq2k00v0/Hv8A4d/O4Tw3tKz5fdTsvK/XXfW6fV6NO2jOr1fwWZLFbTT1+SPQI3uFlGC1wW3tOik842fe4HqCd1YSq6rVrR6766dbRd+2q79jreAfJqmrdla/5vT8elkrm/8ADDwD5sVjrxhleBZJbSwMgbMs0pKXLJxgiMHjI46jBPy8867Wl7XTva1tfutqt7/+BXfN2YTL1yRdtVq9O7streu/TTZuOtN8JLfWPGEuk3Uc01pp0gu3lc5ETE73LrzknHQk9OMZFKliHzb7dPw7a219OvNq49k8FG2mit6XurLW1rW1duW2u28rU/hSx1nX9TNtERpfh62hjSSEbEL267t7AHHykdDuyec8Zbapib6fp/wevX4baX2TPNrYOMXeyat10389PlpfpdO0TzDwj4TXXZ/E2tXaS/2PFLJavcvgAosgYqHY8kBcggsSBj0WhPm1637/AI7Lv5+pxSpW07W0to23ovi9NbPfWKs1Lm/EM2m69LrMhguF0W1sG0uzOCqz/ZxxJuBGRIygYGPY8ENpOr8Ku1pfvby2Xb59lZFujyyj1uubTbs1r52Vle293pKOX4Z0F/DumKqxZNzmaKGFPmeSQfu0ZgCSEGMktyc5zyKj2q7v87b6bLo999dLJWjc6UFHZvVfNX1X3u/dW0OfbwhOqajfXtypuhcG4W2mlJaSRwyxQxgbgPLBzjnnGAGGWqNfl5ut9tPxa016WvpZ6q/u8TpJu9m232XXv31Vt18tUczLZajoFtfQ6FeeXealCq6zelMyxRFt39m20hGQ7/dLKQRyPl/h1VVysm9+mllp6aX5na/yd3Yxq4VSV7ba6a+9ts9d7637tWsZXha2GjWvi7xLrFuHmGkNY2elzjzJpJHmB+2TuxIIQgMiNtx1AOCK6cPJqbdrv+nvyu+/42utjyMTR2VureqX5c3V6316WvzJRq/DrTrPUdQbXNZRY7eKT7Sst1+8llmVs+aiMcbU4CqQBjGM4rs5n1+5ddNdb6Nddb9Fy297l9muV9PPt200auvPrfRWLXjL4uXzapcaD4YuTo2lnP2/WDldSv2A2+Utz9+G2AzthR1QEqfm/h0pTantrr1/4HTfRrtZv3jz5x95739O/wCW+m2ztyqzjxWk3dld6npkNjq8g0yw1WDUddKTMf7Vu4j5kdtPIWLzmRlUOnTBzgEE1cqrvv3+fye1167PslGJU1fmtzN762t6dNdOyXLsr2IdT8Y/Ydd1LVktoL3xfqE86xvKpuYND0bJjS0sIcbIrooMZQI4XILfMd2sJqSts9bb6a/dZ2XTrey+zzVKVtnpfe3lrpzrdrzvZ9kz6L+BvgHWfGt1a6hr8kq6U1zHL/Y1uscAl+bKzXzx7IraE8kph3Oc8HNdVKm3u7bq77WtotG0t9l6Oz5sXjKdBWbSte1n+fo7N3S03va5+lfhy6+HXw3tLu68ReKdMtJ44kj07TZfKNrGwAwLWxjOZjGoOZWG9mwAeWFdDqKFrNX1W912sk92uujvZvX7XlV3LEyi1sndtdVfV9HZ91e93qrJHiXxK+LMXxCng0/4fWOr6je3LG2+13cPlRu4YqsdhYx5ht4GJ+95asw+8T1qVUv1ve11tZXV72T6a26XfvNqTlrCn/Ne9vh/XrfVPr33dzxPxT4Ri+HGjXcnjHVLi/8AFWoN50mg20uyO0O0OkN0IsNtjZ8tAE2ydHIz8ldmt1r8l1+Wmz6W5X9rqjDTXr03tbrpJ9PTqrvc+UNZ0Dx541ubi70/Qtb1JNqeVK0klvDHGPuxQoT8ihScDjGOQSKXp5b6rz00tr38n728uj2dC1ua3/DLz89NXrfe3LHGs9X8WeBy2jazpWrWcV1utxaX4+22My45DrJ5mBk8EBcei5NGmurd1e7/AE732v6ohOlF2T11+eytqtP/AAJuzs2tVLitRitDPNfaGsek6zA32ltK/wBXa3ahh5nkrkAFiCdhjbbnHGCa5HLmnJNJWdm2+q/8CVtbPrbve8YjHV2b5W76bLpfXyt00/lVrnqvgi7v/F2kapNa2oj1zw/a/a7i2UFXntlbBZFwGbYyjaQp2qOmOa2jBy7rVNL083JWvfp12vc1laz1+0n9y1Wze3lK2uqbsfqh+yLqS+OfAOt2K+IJotS8J6ONdmstUu2gis/s8p85NMOQzyFwhQoo5JV92Mr6FKpypptWvbTfW1k7J93tovNJKXkTw6jXq1F/y8nfV6Pp36bvRJbK90fqL/wTd+L/AItsv2hdP8eadqSX+hX0dnpHjY3DDzfsMsj2tpKAx+9FLhZCQNu4Ek/dqsNNuuumq87+XwrrtvfdpWvHx81opJz2fne92+mj3t5fzbK5/YB4U1GHWdFMscolRpZvIkDZaNg5dVkHYlcIvTIwQBuAr36mrvbS0flp2Wu/4raV7Hl0KntKals7tN7X87XeilzX95Xtvo0dzbyedbwyHOSmGz1BXgg8DkH2/Pis3/X9f1+KOyn8KXb/AIe3yvbre1+to2QgIByeR6f/AGY/l+VI0uuy/H9Jr8vvF8tfU/l/9mf5fnQF12X/AJN/8m/y+86rQwBaSY/5+H9/+WcX+H+cVlPf5GkNvmf/1f7YK9g88bg9BjHfOc89fagCQRnA5GMen/2Y/l+VAE1ABQBDJtVWZ1DKQwYcYIOQAT2IPYj6Yo6f1/wLJf1fYD4x/aC8faJ4estN0G2judd8Za9rVvpmkaBpq7ru8hnlQTQ3QzsWzCZBnfakYJJOAQunLGMJS1u99Nvdbuvmm+uq1TukYV5Sm1Ti7W+1rr1um0ulne2nnY/it/4Kh+JtY8S/F34gDX/C+ieCl8NavJplnpul3EU+oXbW0KRme7uLfdEWjZSGCnAJwc4+X5HMKcnVc4zWt7Jvqt72+W+m+rulH6nJMPTcVCt7z68qvvd3jdvvr3a1bsub8NNZ8ctHIdNukW8t4TJMGWQpIshJIDM3Jxtx8uAQe+M1575pRte/nvfbzv0s7tX9FeXuVadCjVcIL3YpbW1062UUkrW79E1c8V8b/EKHWJBHb6bDpYmKxSxWUjhCsS+WXZi3LS4DMeBuYnA4NKMdW29Vt/wde2i8lZrW5Eqi1STSt119enZX6b7O65fMLrXFt0lW3OxIhudt2CWXovGC4Pfpn3xtbqglJJrt/wAHte2t9l23aUuedRRvGSu3d3Wit97tZ+Ute9/d8s1K4kvJzcysfPvJGCR/MdkeQF9egJPQfXJrVJpaq9tturV762+d9NbvZnJ9q/TRvyt039Ndnq3yt2lemnxYLE0uWiQqrZ7jaSM9e34nk0ap7X1VtNPT7npppbS1mbRnFPmei6K+un/gG7e3X8DI0K1bUdT2yEiN1dg+M5MYz/tYJIAzn6bs/K5NNWUXd9+/TzWrWrflaWvK3BzkpKUUk7vfbV6ebtprorvU2tauhdz2JDMvkwS279QhkhJBVfcjg56nOAMZYtrr/NtbpbfrdJvf77WSFiql6kE47U9bbXT89el+rtq07JxyosruZQMyEKSflbCN1BzjJxnk/iMipcVreyXTTfrrq9NbaW/QyhJrVp2fn6O+z9NF9xZuke4wVV0CjDHcAc9+ec9se3p/DlOF3o+3T79nH11vr6Ny1vzp7rXfe/r8Pl1+b1UsuSJo/mZdyZwzBstnPBOOR2PQ/gAd2ylbRrp+m+2v/gS7JPREqm112293/wC3f5eWpIITLNEoBwBvwcknHfpgcHocHtnnLCSd3Ky1tba1ul9vPRffdnZSV4vyeumyt69X1du1tEpdBp8LnVLNgAFfamSOhc9vphRwORz8uMVjWl7rWzWqenRbbab/AA6ardtmtOGtlpZt363Vrq+m6e3TztY9PstWuvD/AIltLrR5tly6BJHUZ2hkAZflK85UEE4wWXG7IK+byJ6vZvZq2i/LVW2XXXpLtqSlTcOV35ld7+a7PfZ6JN7Xt725qV1eX1xcPdXDmS8kJkmdyGH8QYHd0Dc569wQRlkqcYtNPTTRq6779n8vVbm1Oq2rNfc9t3bZNaba+V46M7vR4tT0i80zWLfN0L2zVXjkJfOMRP3O4PGCM9ckHJxWeIkrU1FK+vX8bLpZ3WrvbRK/u704pKTT0fz3vpvor91bp0fN6TrkP2+0soZop4bmOB7jSp8MJICqgvYMSpLR5wUxjodqnmojGL3bTvtb/wDZ262d9elveteWr0V3e2qeqdlpbo4u+qtuzjfD0V/ZvIZw7W+oHc7MDsMi5HfIyhPGfmB53DAqfd1s/v007baddX0a0V2o9EaHPa9+j2s3r66313u1bdXXN714P8SzzWFz4a1ofatFn4mjkG5tmNscqBt2JUGPm2tn3xms1Xae2q/vf8Bd13a0s9S5YKKT1e2nn2Wq7tPbfu2olDVvC11NqkOjF28iGZ7y2lb5Va3eH5WB5BV0AGF2gkdB0qq0+aEU2t27/fp2bf33d+hNChao49LWV473ez2aadur7W0KNp4DvW+0TRO+2KIRxPjjb0wcEAYzgAE5x/DnFcTqqMlGy+b0srXXlfazb0fdKMfTjgm0nJyTv/27tvflfnv5JXvzFq28DzWtjb27SownBfLAFUfq3fau7v6dt2MVqqjir9dN3otre906LaPTfeKlRdG/LeSacXdbef4q2ivvpdcvWa54a82w017UmW5toJITHCu5N0i7Nx28AkDBOVz0HVaX1mVrcui26NPv1732+S1Rlh8vjGpKblK7d7NWWv37+uv92z5fMNM8F6ki3OoeQf8AQ3l8tFXdumztyVHI5JwcZ69Misr+0aTdraXW+nTdq/yWmmtmdNaiptS2Ud1ZX9Pl318+0dW28L32l3MV55Db5l2szoSqzykNsb+EYyDxyNue9NTdJ2TUraJu+nXe123b+7a9rO3u4uk7JJNp2V7WtfRuyT236Xv0teX0p4A8MalaSafqGoCWe4e4ha1UgmNtrAtwc5VT6+xwMgV3U8S2kuSKWvWzv/4D37PpvLTl48TgYuEpXlf0T/C17NaJL01s5Hp3xR0jWL420ckP/IQlt4oiIySUUhpd2WztBAXjOAccHholJSkrPrfTe3W2mvrp3ad/d2wuFgoK7emu1/u09dPl72jiti4sL2F7xgkNnENyy8IjQxgRxpuwMDBYdlIOAcYr0aU7Umla680vmtHb7/XltaPn11OVZUUlyuVm+ve9kmld6eW7TseTXmtQXmuXuofZcTbbiHT3iBkc7pPnmZ9pYPLgKMEfL3wwrL2jvzdXr+q+z89PS7teOcHL2jpyS5G1G6evyumm0nd+S0atY8J+JF+dX1Fre4VtS1+92x28CoX+xKm1EaSPkLsVeSccDt0ap1HUcbpJ3tvve/b1bdr7dLe90YiNOjFxp2lzrW9tNG3sl0/B+do6ngbw4dBaD7XPHLrBEhgSLaVtpJE2NcyDnDR7sR8DBBz1Bo5/ZtOLTunvt36fo+/xI81QlOVmv6f3eS/GKex3+va6LHwpceGtMukijJ8zV755MSXl5IfMaH+/Isa4G0M3PBAz8vLUr3v3d7pdP+G6JrRu75rvm9PDYCM7Xc079r2S18la99fK9nscjpdldWnhia/nlBbWp/8AQ4yuyWQDoV6GONCBxwDjAwSa8yot2pNtett19yXp56WZ7EMKo9Hbba90/Xr39926/wB33/wfoN9Z+FIBO/m3OphmhOwlELj5p5Gx9yJcYJHJ5wMVzOvKDtpJPrJ/k/8AgeTsdlPA0qi15tLWt+aWjvffWXlZIu6V4DuJ7Ka82XF5o2mXe6eZQQ2pXrY/dJjOY1b5SAegxzgVpDE8myV+nW/rdr8E97t/ZNY5fS2blzXVrWv67fO2u+6R6xP8OtW0zw7pdzqVuUutcu4ZrbT40YtZacj7gHAUltyAFs7QfcYWiWLctbJLr72j9NHov6i7Xl1LAU09ObTa+l7fJ97P7rO6GwfDmXXbyW3sZvs8UlzLdXWeIUit1/1Gflwz4PyevGDyGxeInLRpW1s1fvv2S06trXra8VToOMm7N3bWibWvR9N99fuubWm6ZPfeI9F023DWuleHlZPmU7JZTnzHK42nJHGQSPU8CqhXlFfZ06u9vRfD99/vb970I0HJe8radt3b8NNrX7dUo9f4w0O2t7iylE221TlWkjKPd3czcrGSM7ckDv6HOMLmq3NJ3dr6LVW3t5uyf+emiPPxGHcJOybvvdaei0+X2u/keX3PhBNHub61spXlub2SGLUniT7r3zh/KU/MQscfBOTgZAHFXKo1flfz5rK/3b7bvytrc6qGBvT53zX30067dk97au9762udH4g0WPR/CVvpdjbm5l1DUCsqqMtLtAUE7QxIRc5JwMjHPJrD2ltXrdr5dtLrdrbW383U7KmEfs42jJKWny+5fLXra6+KPrejfD280rwUkU4htbjxHEEhTZumgtogN5A4xuAJOCOecnjdE8Qknd6dNr3XovPTe/dWZcMri4OXv3vpra3z93X/ALd9GrtS8usfhZJqGu22rrGzrBeCwsYGXDyiHG+YIckhyCvA79wDuz+tSWkXG3mr37v4l2/W70RVHAQUnKXNzbfc7W2tey6R0t01cvb9Y+F9zGuu6vNFI15ceH4dN0ywSJlSFi4TzH4GDtLtwAfl53ZG2XiW3q0n0X+fxXtfsrvazVpejTw0ZqzTtbZaWXn5dXe+9rvc+jvhz8J4NJ8A+H4LyzjWSKGa8VRCpmEjDkQxEbmMg+ZmBznOcZ+birYmak0mtN3Zu907dV16bNejcfSo4CEaKaUrSutOtr211/LyurHIQeG9Mtk8Xa7HY3Jn3S2yGZVAlkUMiKDgEHcScA57HPWlDFSi3Zrby69Lrl09Fo+zV5ZVsOtlB+qWva9+vrZ92tVy+GW3h57Xwz4gU+Xb3Usk1xMvlsrztKdsVqg+9ISXBbBIAHOcDbusQ5JJ2v8Ah03aafZbO+2mpwTwaktU7d+q26Wj6K/yS2l57H4GbTfCNzDqt2umWN1BJey2x/cktI3ClNylmYHJyASDntXRHEOL77fhp1a7Pv5rU86pl8VZxUl0u9d/kn6X116aqPmWi+D7jxPO0MEUMXg7So2+23Rga38+cfNCsW8BpST1Kht3JKjIrR1b7yXfrppqkrv06eSdrGEsG3KN09Lf53bslo0tl06W9+p4s0qfRLm1t4N3m3Ue6wt1XdNt6RoIlw+9+CCQnHY4NL2lre8rbdFp5q79NH16XNXgoOPwyv8Afffb3U0+tvzsYNr8OvENxbG8ntALsygx2zyL5qM5yTcbuY8DnOG5z3zTjOLupv0129e/R293td8qcuV4CMXdKV7aO+mu97qS6r57W2Of17RbbSIpIrqGO9mj/wBYkMiJHHeSDkvIAQWjPBJJPfjBWrjVs0otbp99u/X8dO0vs8laly3SWmuttNevS+3+TdrnmT2No2l+IRcSBr26WC2iji/eR7gd5Qnnc6qcljt5BwD1r0qVWdk7q234+fd3Xk9r3vHya+HU1tZ817+nXeV9dGtO/keZ6glzpunRxWVjfzRI5811DK8jdCCSAVjz2CnI5PUCuunVk7c2rT+++vRS33/DW948tTBxirpPbVXWvKt9Vs+0ZabJ/FM8nm8NeLPGWpTCOx/srS7cGS8vym2GGEZGQ+U8y5cZ2Rgs5bgDcS1dMZcusd7fJ97rVO606dXpopeNXw8eZ2bUubdvRWet9u29vS2p2mi+EItJmS9traY28Ns5trN2KssoBEmpXSsvM7kZjQDeoPVjlVuEeZqTu7vW1/xd7+Wy26nDOMkm79LbaaWtpo7Wv1jfpde8XLGLQo7p57i4xq1xC4SNkitraIk7mubu8mwWPcooyx4G3OV7KdOKSave93fdrslfR211b11d9Dhrzkot2sr6drpaWeu3ZdHbTY9H8L/Fm/0Oy/sXw9ex37SSiOeUO1tAj9A8MIzLcYAPzAqrYyO9aurUi0o7drX22/zWratrfeXF9UoV3zVeZO+ydl3svd36fi2lrL6P+G2hLqeo/wBveKbk32q3e37Nb3iG6fa6ht8SSZSALk/MegP3SADW0F7XWb6J3Tt5Xva70fVKz6StaWLpxw/u0m7Oyu3eyfm10XXo7+7K1o/RXhi90PwTc6lqel6cialA5abULt0aLYysrLYpwsZQEgktuPbIG6pnyJJxvo1pe/mmrWTXbTpsn8IlPum3+FvyW/8AlH4pfJ/xg8drrt/cN4e026vNYfz3vdXaB2icu2RFb72YtIOjSjC45U43CsnUqqXu7en+a1um7K6StbVNFqVTS8lbmV7aO3XZW22dtN007qPxvr/jT4k28slvb3Orwwo/70W/nxgkEkIpi4J6Y2gk5x0J2688t7r4VezfbZvqtettr6393t+r0OW/PPZfa0v3XrbZuPTV/DLlj4u8ZfaBc6pYaxKiZaFruKd2DkdQX3DJye+eRkn+Fc7v09OnydvK+2+traHNPDULWi5rvre9uia/KyVn0u1JkWuWOp6hDLqsVxZ3D8m58kqy4zhZAcB1PcqR0Oc8hsasEm5RVm7uzenM97Ky7q79GkrmtFxTUG24r3Lve2i/Jdeuqa1UvVvAfjeTwR4o0nxTHYR6pp+m3Mcd9bw8Q6tprPumtLrAxypP384YEEDPzbYapKTSk0uuur0VtXo1d6p362s7IrEShGN4vZa9L6JW+6z211TufcnhbxJoU11f/ED4Wa7penWsFub7UvDn2pInjtNQyk2mXFv8pmSKRm4wQrKvsK6MRLki5xV76PT9PK11q+13Ywow9o71Phura6tbrXa3/bqdk9viP0a/YA8NX3xI8b32j+H/ABHc+HV8VaRePZ31vlLHT9XjJuIobgoyhY5JVAiYn5Xxz12vLKkqlaHPs29VF/3v710knZa/ZstHzGOa0MJOg6cXee97q6eivb00drLZ72Uv7A/2NvGd/qnwwtbLVZJL7V/Ddy+h+Ip5XEs1xe2bG3e4Uj1CK4JGdpycYNfWSV5W11j07pL5O9o22312vL4fDxVDESoTf7u91da6/d31v1d9bXPtXSZ1kE0YfeizZjOeqyc4x2IGAccd+4rOaUY+evXdLXzd+7t162OyvLklFU/hvqvXdtvTTW3y/um8vT68j2Hp/nH65bOO2urTava2z/y/rc2vdJ2tov8Ah9l/XbaK0xHUaJ/x6yf9fD/+i4qynv8AI1ht8z//1v7YK9g88dtOQMjJ9v8A7L29R+nzAEo4AHoP8+v8/wA6AFoAUAnOO3Pr+XI/r9OKAKF3ko0WCJGGVydsY3Z+/wDwsB3yQexzwKpLre2vz9bf01uthv1v/X9f1Y/ID/goF4g0v4RXVh8YPGF/ex6HpLTaZImgS/YdVklePba29pOp4M8zgFlXc4JGVAyzqz5KUVtpf4tUtevW9+ltvhVjmjCTrNJbNaqzu38XZd+9t99D+N/9sa60y91LW/HF0JNLbxfqlzq9nol/q51TV/7NuMkTah1EM8iMshjH7zGCVOS1fG46tepPltq9LW3tpfpb53aWlj7DLIShZu60Wu1vTRLopaX067H42eNJJJZbh7eApbEkQ3JTZLJGeRuUnOMHAzgkdQa5IKy3V291ta773Wtldq3bzPWnFSlJ3ett0ulle+7ezu1o2leTT5fEbt0gLi8KeWoLAjmQsecADGSRnv8Alg1uqd9Hr126aau8rfe//Ad5Y2ST120etlt1dna+ltU+17nDXuoRahdgRx+XAgOzA54/5aOuRlumADge3IraMUklf/gPS61vfXra3Sy5kjjrO8rLotG++2j1slbt73ncrSWog2XlwP3YUiNuC57EkcgH6BR65xV3v1t17O3RrfTTXp3tdoxWut99Nmr9ra6J6aW1t1buc7fXTSEpCrbMYGcZbJHPrnA7hs+3RdFyte87avrsl1+frp0vZkPmb267a2/Oy/8AAtP7uvNZtdVGj2/mRw77oOhxnHAbOBnIBIH6nIOAtDjG9+a/l1838rRe3pa/NKvaSTTvbpvt8r3af5aJ/al1Fw1tquiT6jawuki6jHNLGQd6SXKfOF6naZFbHPOcknndM7XVndaLm7PTrdLRO/Va262NYxlWXP8Ay/Nar5K732vpsr+7mx2Fw6pPcKILRVOHkYxgFRzjgEszDoMHjkjANc9SUrK2vvfh8tNuqv0tvaN+yt8V9fK3lf4tvuvZq99ZVXlMqlYIyymQqrFj82PT7xAzyoZBn2GNqhdp8zs/87W8rLq7/fZlJJaL/K/rq/z+65dit4xtE6AyBN20Nlcj+8MAHGARzx33ZqrpPbq99H5dd15W9Xf3X/X9b/l95UtLqO4uZEgiJcPsyMYC7huA69R09uuBnbEp8l99Ne2vTS291bdeV73ltT2sk9XqlfXp31fo10Ss2drBply81qkEDMweN98asxQseBwB/DjIPb0JAXiq1b3Wrb136rz922+ifa+lmjvpUZXvZu2/n1363+Hrbfq1H0iHw9d2xa4+xSySSg5mZGLjcMrgAZAUH05284x8vJzOV7Pa1m+l+nW+qtout1c7oRjr1ttf+m7/AD021N6Xw/8A2xb2iW+UvYQqyQyZQzBRg/exnuccE+rAgU7vr39Vr0XVatK9ul9Ll+zT0V/RfhZ63v292+2u53lhp1zaWmm291DcQyac8qLsbzBOJACI3GcqsR9RxuyM5O2JNXT1a1euj6arbRvbSP4ouFKS5rK606W/4f5W/FOXvmgaVc+I9JieZ0dLdhHJI8eLuzKrsDlRgtESMbgS2M5DZC1MnZe78WmmyTXn7yte/wA3fXRHTQjaSU+vT1Xl1ejvdWWltZOWnB8NLm7MumEorEtNp9wi5gllJyE3/wABYD7pGB0w33V43Npy5r36LstdOu/rpsmryie2qUbRS17tW/ptOy/F7FjSvAF/ZanDNcRsvkjyrqDH8BypkIPOASCDzwM9RheZ1Pe+ffqui012fXya6m6w6kvLXV/ir6X1XVaXt25fVr7wffXMGl3iWckhslntHcZ8x7Voma3bsWMLAqMdQACeQFqvW5aadr63S87W6rrdN67XSXUdLCWqN23tbys1r8Lu+i2t3bTZ1fhbwhH/AMI1fC6t2eRzHKC64cKB867c7sls5wpx2IwQ3nSqyve+l9dfN9Uru+nVdnc9eGD92yWvn/laPoru67O3vcxdeGd1wLA7YFyzRbgf3hk5CORgKwBAVT9DknFdEa+lnt3v520fX1fbRK6csqmBTae6vstPlpvf59lvaPp2neALKx0xormM+ZFp73hdA2W2jcgYDjOeB1689cLX1heXS/dd/u9Hbzt72kcJZNNXsr7apuyenXv8/U4vwFoMaahdG4sFmgu47pp4fKLrArIzRSAtghsgFshsdBgU44iMnv0flt3veyf9J25TD6reVndvW/T1tbXVOz7bvc19N+F974j1uwt4IZDY2xZ5n2FI2nd97SE9CI4/lBJ529+aznV1V2nrpr+nLZX9ZeS0R1wy9OMrrba3pZd7a2uraJre59HfD/w1Y3+p3TNaSPp+kSPZWThQQ81smbiUr2TcAAxyOT6gLsq1lftpdPdelt366b20ucWJwFotb6+T63fRp9eqT+85b4i6hLca/A1vCgs7ACK32xkguT+8YldwyCNozyTzzXTTnfW+1rvy3emtkvJ7663OGdL2cbWta6+dnontra20rfJo8N8VzXcpv5GBa7uEaOy0+MH91Aoy9xJ1OSScZBwfTAK9kasV7uqv36+fTuunnpsebVwzT9to+Vv002et932vffS3LHib3SbjRNG0yxtcza7qa/aru5CboNIt7gZTzT/C0aksAR1/NdOeO3qt16Pvdu/X73fmMJ4VpKrFb7u13fZddO9k/Nyl8MeHSy0XwZDcavOj6vq+ptJb6Y0gVriaX7stywb5kiyfkXoQOAAd1DqJLe34a9e+uz6dnumYRw9StJWvpu31v2dvltp2epkaDZyx6vcXVyWaeC1mvruJFO5ZHGbeEgZwil1Lcr2OGINctSskt/PfV6aa+nl5q9kdsMDZ67ba6eTtfR626/Z+zZM9c8FfCe816/0ayvrRphfeZq9xLcbhGy5eRpHfGI40UADdxgcHkCuGpXs+rvra+3y02dlvr5Xue/hcCnFOyVl9/wAuW972V0lZa62R0l38O77xb4j0Ky02CQwXurNpOl20cOy2jsrMnz7wsoAZZwhEbgnIOT1rCdXzWm/bv6dbb+Svodbwd3tfe9tWreWmvZ36bq1j6l1HwbJZ6po/gGx0i4Di3gS6uoUV0jiGN8CuN20kZZz8x56jBVuKdWy81r/wz5Vra67aXu72PRw2WyaVk9Wl5/K6Wur01vffVHtOjfDGO0vdF8OW9k8ttLKLmWCLBijVcH96doO5m5LE8gdAR8vN9bj080rLbyesW/03drpS9f8AsiSs0rd3t663ev3d10R7vrPgGwVltr5wt7Hp7qqoA0VrGNqRopZMhiCB8v8A49jKn1taNt+vTbT7X5rXzv70vLZxa36Ky6P52u7aNtLtrvKne/DLSrHTrGygt7W0AgaS7njYrNPPIu9PML5OeSTyMdxyKHjoNKzd9U+iutL/ABd30166fZ1hlqX+du+z2tqlppfTa9keKeHfAgbxDe30EqHSNNuT9rnkTd9sl3ELbw4Ug7funke2eWrCWMbWl7eXfq738+j1v0v7vdTyxOPwrT10S3e2nTR302aN3xz8PrjxFqenta2sxi0+3GoLbLFtAWMhySuORgAZ7Aj7vBZQxT1u29dFp66Ju+r66+aWhOKyhPl0V7LW2vlrdPur2+8kf4VarBo8eqHTLYXfiLVLZ7KJU8yUw7dgC8f6w+xGOnf5tJ4m631s+t0t7LrvbTu29kkjWhlqVKzi111T9Xps9u+2qSuoy9Gf4I3FjpNk8mmIlykitIJ8O8Kkh5Ou7HfJwuM9siuSWLdrt9NLfO322tbb6W26JnRUwEVCCa2S3t1Xf7vyd9JS0V0YatcXTyxfZ9J0O1WzWcoQplK/vGiYjDDPp+OfvVhLF3WsrW7d9dfi8rO7Vrtq92zup4CCpPba/f8A+R0366X0bucz4B8It4v8atc6PEw0nRP3HnTqVS4uA+XkjA64IOW+b028HdzvHWk1fp369F9ptfP1u9IxHKZTXPGLs/LtvrZdfK/XVpn1JP4FuNUu7++kRvsmn2kNjbxRwKIru7brNINuSkAbBfJDORwdu2o+vN99H5aX87337PW1/duubRZc6a95LV9NvO17a318tm9pR9Mm8NwaXpWn3MxAmsbNYIVYHcGdQp2xgbWB3csdpHJHXFZvEynLd2f436faW/e3mtLHdSw37tJpb229dvPXrF+UVvL51+Iug3dw0Wn6ZaxR6NbyC5vrqxbMt3eSfMYWHTKvkEgnHfPLVtGvta/XVuyTfVP5beqMauBUr6dL316330d3Z6a9OisSaF8PFvbOztr3TreG3if7TdPdLF5sykZCB+WII4LYUj5sAE1ft5KyT002fr6rS3bTR62RzSwFmk2rPXb/AId6N9X2elnE8C8W+A9O8QeIL7wzBYNd2NjqEU01wryG2t4XcFEkP3vLQ5yCTuUY5yNuscS1J2fV63b0fyslfz69b+6nlsXq436/L8W7a7/JO95R+MPDfh/wsbj7NPYzSxWsf2PTrS1MoknChFZYBlAVYffbdxz610xru+jTst+je/yb06+TtY46+WqNtL/K9vO1/wDJNO6b05fDfA/wl8QeI/Fk3iLVrae5nLmRAiCW4t4yPkSKHCxwnBJBABHX5SPmftZWspL/AIffv0Vkved3fS7Zx/VdeW13orJdPLfdO3ZbXd+aXpnj74WM9pbWv2PUdKELFvJgX99MzZPnXM0W58sckqTgcdeWU9pPu2vz8vJfPa9r3FWy9NJ2tumu99/5fJXv5e7dc3y14x8GL4b04xKAJLtzHa2qwpd3d1K/DNJJMpEWSRgkE9gARW1Gtaacnd663svXto/Pydjya+WN7La+933Wm2unXVdbt2OM0r4LXt3aw/2nZNp73EzXI2MUmLvzGH8zC7B1+UsD0wOK9iFdOKV9L36X7K9tE/uXXZty8mtgIxWz1f6X1f8Aw1vO1jzjxv8AD2TwtJOt3PLd7mcpp8ciuzeu9kXKbhwcbj37ru6aVWSa3equ3rbrfZ7W1ei7dWefiMKoxtZaLW/p/mn16pvV2j5LfWmsapZCGxtDYaRZbpJ7a1WSIROB81w7SRn7Q6jJDOzAfwqAc16NOd2l82nr28110b16u2h83iaN29OVrq/usvd6Xv2dl7t2eVy6LpAlb7V4s1JIgHM7rqKsTkn5VjJR1bthSzKvHzYrtgtY3fe+js/PW/RX16tvTc8mvStdJrp/w3nZLe8e19TptE8O/CcRfbNVguNVjD/Jcarqr2tqAnJZvLMk02T0VV2k8DAILd0L8ui3vbX8WmlZLfd31vax5FeKcWld2S0t56397Sya6y9Nzp7T4jfBjwxqErpFpiGUKBHp1ibmRUjwFSKe6+ZJDjkoh5+YAcbuinT5km7bPRdPTRbX66tacytePHG8VbbXrpfS+uvpreKk9H15els/izrnjPUhp3w30LVrWyYbXuHtJDIAflV2vTHsRdpz5aMoJ6cEmtJRtF2+Kys9Ndb6bLreV1dp9LIxqpSte3rt3vfvbrrvrrdHo8fw78aeIBG2teMdWihgAN1Z2kQWFVOWKfuJSjHszSuxO0kjA2vhGm3a8dmrPVK97ctunTVp726+6lTl5a+Xey1d36X930f2c3W9R8MeBzLo3hzSbzxV4iZR52r6pdy3dtYlk/1UFpbD7PE+49NrMMYLcCujli1ayvbts1b5bPl9VrzNpRfs93fRa3t2/wC3vTovLXSXnF/LqV9Clz4mea1dkeS103QoUjumfOVa6dwggQ/3sOT1Cg/LWfJF97evl1TW6vrF7LW/QzVRyel/y/XX8fNK55hrvxD8WJY3GlxeHon022yomiuEvL9IyuPMkl5G/HLKsfHcDGaHTWu6Xqu/na+vd7qysykm03Z+vrp/w7v5aHG+Gr658RvLb2/9j6jcwKzrY6uE07Ujg8pbXLo0ckuMgq0XzZwM8hcJe98nt20f3XdtLebe3LpGEo3fl0X4v3tNPXTZu7RtaCuknU7uFWutA1eFtupaFfgf2fdxAAO0e7ywrMc7ZEUqTjGMgNpSjZ821tbWvu1a2uttb9t/eslGKsJTS1vb1e/R7ad9dddk2d5H4ev/AAXeL448Luknh+6iaC+tUAujB5nEtpeRIQPJZsvBcfdz6YLVda04WvZt21av5aW6N727Wtd8qc4wpKnHWaVmoyt3V31bjfp6uzSjH9m/+CVfj+wg+N/hvS5NcXTvD3inSdRguoFRZ3spfJJbysnKzxyESxgAsBGQOWG3qy6KU4u2t9H+O2i1tpZ9etpRPIxNSom3LSO/5O/W6ei05V6tWP6S/wDgnv8AE7UvB/7Svxp+A3i+7a+e/vh4h0W/jV4dPntNRggkt5YTISHWRMMWRgPO3AckhPonUfMklrZLt9ldLO/zafySPn8ZS5pPEQ0UlG1u60tfTq9e2qu7XP2y0GOeOXV7EoBPZXchgYAhZbfqhXOAwA3DP4Hb1XSSut/e7ber3626aLf3r2jWHi6keeWvf/hrrVWT32tvY7O3kM0SvjBAAcZHysOCAOvUHqOO2cVm1bZNetvzX9fidEJc3N/dk1/WiT+99nsTc9/8ipNH00tp9/n/AFf8bR6jRP8Aj1k/6+H/APRcVZT3+RpDb5n/1/7YK9g88mIO4HsB/j/n/wDVQA4fj+NABQBnzal9lkKPE+z+KUL8qj69c45zjA5+9zQPa3+V/wAG1+fnqZeo+ItIhtHuHu1mgVWEscH7yZWwSCYQd/H9/j3JONr02vqvu+/r22t5tNMO+nz/AAtb1fftsfhj/wAFZLHU/ih8NNF0fweFtl0uWXVZtUvXDW9ne2bia1+2xnfFFG7J8jS71HKnGK4saqjpvk6p+63bW+y0v67231taPVhIxdXXe/lp63el7/r710o/xa/G7xD4j0XVtV1nUEutXv720ltb271WOO7jYRs9tMdMg8sRQW/7smGaNQ20AjAIFfLug4zbm+a+ttGvxXy6aLRO3u/Y4enCnTUpK/LpbTru/le/NZ35Xdb8v5z6nqFxfzyMsiJEjSkQSZAxuPHJkJ4PGRnjPGflHG0uVJK//D7e6ultmutnf3t5yhryp+T09XfZrqt/uPItck89pj5SBg52sCNrc8qAxx04wCO3TFdEGk0tdXq9L9rW6rXS7311OWavs7J9L211Wtr/AJ2163ODkZvMIa2MJTJwFI3eoJ24OcH+L6+lVJpNdet9Onlq9Neq9NzhrJKSVui89X11e/p/4DK14573TiRQXyHO0RyEAKCeMhug4zkE+/dVXMuztp2X6PZK29vS6M+nlZu3bytovu3t195kL21v5jPLOkZTO1YfmXkcc4UA9eOfTJwC0tveyVnbvLTTy7/8PqzSKTg7rv0/Lv8Ah27uTrLw7davdxx2gM4Z8tJwqRqMAtI5BVAqkklsD09amVVxWqT6evytHf1fb+8TGl7RNx0Seiej+dlLp5el7vl9b07SLTQ9MvmEovbUNGLq76WjToMJb2xKqZXBJVmXKjrnoK5qkpSmuXRaaa7vq/Jary+476NF0oWm4tt3Vumi0vyqz+XndL4eV1Cyk1REuJJPsmleYsf2ZuJJSTkmJf7oPWRW24PGcZroiml7zbvd3u29d490tt/lbXmJ2te3XmT6q7002a20d315nojEvmt4I4oLXlj91FG4xID/AMtGGPmPc8lvbmret2vnf9L3bb6PT0jozOMOZP1+enT1k72W/wAkVfsV/cqkXlSp9oZQj7G3yE8YUH5jnJHCjOeozWMqvI9Ft5912sr23+LorW+zao7e9bv/AFrq1a1n990fQnhP4Oy2cNrPdBxeTQ+dJFIAFijY5DSDGVLJyityW5+bJNYVJe01V0l829G9r6vvaUe1n8Mu3C0VFNykr8y0Wt1a+l+X0flo0r2l6FDoE9ov2SyH9nI7sj3LW6tMfWSMnJUN/CAM9+cCuCorN66fO3pa71v6JJbaHqU5xUbcrlb0u7/c9fR3e3Jex1Gi/DHXpbqSWG51yWJFWWa+bi2KtgjG9SpPHRQOPYisUm76q26/TflfXS6020veVRg56puGtnp6O97tbfda93oexeH/AATpN5JJY6qkV9KYly75trmPaPvwyrgeYD0GG6HJGM1MpqOt79b+a++93da8u2l22o91LDuSXZdO/faPTfS+u9r3l1dv8NtN0q7haG4nure4bej3XzSQMhYNBI5UBs5ADY5Cnr91uKtiLuOytd+t7W116P8Avd7u9o99LCNxbs4vtbTrZ9dert6q257t4S8EW17Gfs0LaZdRIXctC0tnewnnCOo/dSMTgE7l79TihYuytyJ7a8z131Wmzt2T9EhwwTcvRq1l5f4PKy3b69497o3hNLieOzu1a1csDAQOHIPQAjIPygq4C5zj3rKpiFLpy7639N9LXXk33ez5fVp4WStFTvfS3b7lp8k/nZHUT+C/sNx58sO87SgcpvMqfxKTjgDOSDjJ5BNcTmuZNPS9n5O+76vqlpFI9ajgrRXvXV30St36PR62d99EnZHo+n+DYr3Tbae3tzcfY8SskS4/c7S5jb5WO/aScdeAo9VmrXU4pXsui0fM+17r776dbXsb0sG+dt77bdL9Lx0tol+TslGXSvAsjNeWjQkW90gubSRBiQo5zsbOdhU5BBC8KMFlFedVqxhqlzb213Vtb2tvutPtXsnfl9OnhpWSfWVtu1rff0STs+20uYsvhnczS6tB9nQhtSjFu0qZdHU4BU4YgHj0PfuQuP116LlUVr3/APkl+G1ui900eX3110e2+j67R19ebs3dWl7nrfwrWLwzZ3YllN7OkVhcFYwI1jLBW+Xkk7eeS3T0BprGPpZ9Pnf17afPS/wxX1BNa817fc/Xl7+ct9tTzPT/AIbf2TrVzYWyzH7SrQzTGPIESpvycDClxwAcL124xhqp4yUW21dWej639Gr76Wu+ltUTHK05NqUlr2Wn/B9PnrY9mg8HHw34amv7a3jjvtYaOxtFwCYtw2BxHgtuVQWYA9ODjINP685SVoRbWj1dvLr3tprfm3VnzdLw/slZe8npqrdPVdumjta8U7lOPRdP8OaBe2qTG3dYiuo3kQ8uUyy5Lqg24DyMcNn+HHBAAXthW54dE27aPz89tOvnbqjhrYZTU27q13HTTy136K1rLRro3LwbXdMOrz2o0mwu57LTpPOYwgySXd8+RAZdigfKWyRjbnlhwQvfQruKaSTuuvTVJdr7aXs+1rHzXsnWxXsZLli3uru1vL4de36M5uH4c3ct0LRrFrjxJcSrdavJuWQWkDNmKzIHyx5GfNBI+XpgklaliJOS0ja+m6t1316LdrR+nvb4zK4xiqMJzfOmm7aq3yV9F20+blHz34qXVlYznwjpIinu0T7R4gu7WEAh0XEVhDKOCsY4cryOcdKr20lu1ur676X0Vl62skrpa3XN58sM0vq/K7fDz9XZ76LW1rWXL197qeJf8Ihqdzo7eIby2i+1Pcx2ukRS9Yfn8pdgO3cRkE4PPQYwS1KtJuzs09te6fo7Xd+iV/tXRtDBRw0HZOTe142tpfRpatWvbR97J3Os0P4ePBcNZ28091dXbw/2zKUDSNPclGMSsoYpFGMLgZHTnjFZVaiXW3z69Oln/wAO27NI1o4bnabT1e1rr53i9Ldba76WPtnSfDsk1nqOn6dDDYNb6dZ6TdXMz+WWRwiiC1J6CZ2AbHzEFgOtedVquKbT6c2+r1113dtV8K6bL3pfQ4XBJJJKWtrd9bpX0dmrd+ultz2/wv8AB668PeJvBcJkgmuNM0ebfbpFhTPdIMqnALFFbGQWP8Q25Jrm+tyktYwX33+7m1/8C7LpY9KngOWScua9+y79fc077Ptolc+mvD/watNEWx1F7ZF1PUWnluLm5bzAsBbJVdwBVgvA3fXj7tefiMZOKkoqOvXrrv1f3W8k3qfRYTCQUIuTbs1bS3f16rvu/wDwL0Xwh4HsrfWrrUHto5FdvKtECHJCjl2JBAQY6qcHrxgV5KxVTV2X/Aa10v8ALVt+t2ezDBRqQvBPbZLa1l5tpWu9dfn72mngmDUbnXfEN55Ztor+KOAbAY1jtyN4XgKULDqSQcZ4wKHiqnRd9W22tNN+n397OyRFPLYVJNVOaNl2tbp12WnZfK1pcH4q8GJr2o2N0Z3tYJnmZo7dN3mH7kACoNoATkggfhShVbdpTb76+vTV6X3v3tciWWwg38Vntpo0t9reV1+PSPT6F8KdAstNtdLt2MgabzZGZAreez7mLqygkk+o+hGKt13DZ3T63t08nr2b2vutbGtLDbJQb03tddNflqlo7Lo7Xlf1rwFpbalqGmySzQXF9YRWNpJGBGwjkUJIQwwQoGQSBgA54wKqOIslLR69L6ve/S+7sm+70903lg/bWU00unL1ta720++19LW1Lt14MS2TQLC3gk1CLw2Lcw4+ZC8XAaRxtwM5Y5OT32/xTPGN/wAtrPXtfzvL5eS+1ZxjU8EqceVJtPS/S6fZLqtdNv725a8TaTFcySSm6hlN7Cqy28b7EiC8tCOvHHz8c471yfWr3u1o/hWtult7930211XLKfqHPy6SvG3Sy0/4P+K275rtx8ZvfD2ta5qI0m1jf+wYsRXJtozFDvbjbG4B8zAwCzFuevQVnUrxWqaV++lvVW0t/wBvdraXl208svFK0+m2t7v5Xe/ddmr2PXvCPw80vwr9ktLWObyC5e6IYCR2fk/MFG7B9j1xjiuCWK1urb9OuvdvS9rbv52PRhgqtOkowhzx81r+t9dn91tz2fTo9FOpXel+bJDJLZw+RFINiMkblhGvylXd2wXOTnAzuBp+3W8pPXaz2+STtb0201d2YVMuqzv7ve3Kk27/AJ/cvldnG+Nv7YtC9ou2VZPnUvCeIwM+Sh7M2OMAHvxkBuiNWK63ta93fd9+XW11ry3/ADLp5ZUjBe679raqz/7eV77a9OtnKPGaZo+pX9xb217BYaFZSDNrbzkOGmP3pi/J3SkFtpVtucfLgGtI4iK+187337rp0Xe+8Vf3c5YCorN6dV8+r1fe+u+2ru5dNqHhWN4hZnUo4IANszwKBcTjBJSFiC2xzhflVmPTsDWc8W+ZJNW/H/0r1t268u5z1MHyJOUG5dlordna+2ltUvx5OdsvhxFZaRqsFpNDaya5IxuZPLV7x4kXbFEDyygAA5fBJOeOS1xxcratettb6W+19+3fXaN0MGpJzcZX2Seyvqui628/5raKPlNl8Hvtt5cm1sWAGYLnVLlSzySIxYEbsqqj+HGAeuTkCuinjakeqTvqmrPXzS6P1b7L7XNicFGTSlorOzV18ndJu99F711u1aPM26+H+peF4HmslnmWdi9wDvjufLQ7XeGaILuQKM4xnHA2g4rdYycusL9dL307XWr025u+trnmVMDSi7pTfne9vzs3fpe+m2sY8zdeF7rUIza6XqBt4rx1NzOJZZ5yoOWiKz7njlPKgoApPXPStoYubv8ADzaX08/Vvbu32Vvs4yoXTSW2zfRu3S+rt5ruraRlyE3wMtz4xs5pXGoC2tGuZTdKskMEj4KifG7E23ouAcnOBk7dVXbvsmtNE1f013+X33XLnTwlOrfnjK66x0Wra08m9ba9bO/LOJ4t+EEWqyL5cqWcJzBLLG0oMHQBmBGUA6qwBXB44GF6IY6cH7ko32ldX+a97da218+0jzcVltFvltJWu1ZpSW/917PfRPy2PDvFnwI1HQ7WW/tmtNRS0DM1xcSpd/a4gOQfMVQCBkdQVJ969fC4ydS3M43dtF5638tF/evq7JWUfmcwy9wi/Z31X479FLp0b++58jeJvh0J2utR07WUsm+d59Ig4ldU++kKMpDbivROMYORgivoMPUgrOT6W0av6adX00+7U+CxuHxUW3aO/WL1XR9V0s/02PAdY+Evwf1FZb/WYdZTUxJH9te/JitI3PKXWn2sUaeZtI2yozOpPJJBFepSrUfdvzN6q3MtLtq/wpN7dNuqv7vi16OKd04xst37N6ruve9e3W17px3tD8E/AuC4gttS8cfZbVUVds9rBbrCqgfK3mIdpcdwG4/Gu6FWnJWXMm9W3JJ+drbvW1rS6aaM8arRrJNyWml3ytWXk7667N8t9UurPbfDvhH4IXl9DHpWt+E9RgjaNYYtK8MG91CZs433NxJFsZycZkCqnfOMGumFRwSVk4rrffXfa19Ha703115fOne97Xt27Wtv6rTfXfdOPpd98PfhzDevJqvjaHS7CKIumkWlnLBeSuikwRG3tIolk3/IhEfmc5LSYGW2cubXTZ3dtLPdPe278tUnbXl5W+W7t5q7vbrfpf5Pydmec+JPFmmy/ZdA0jTn0ayL/ZUSa4t4Hnh2spupYhIZ3laMGQqxG0HLFcbVhKpfRxV2r9t/JXSv1V+qTQRqSttHb08+i06Lq9NU72Piv4g+MbKy1mPSvD99qvlz3Eyx2uiaekkDXUbmNpru5CNLJlsnYHK8YJfGFLz/ALu1tnZ76brr53XNfW5t7zjfurLdb623evbZbNrVniPiKx8RQXD6lfaxrsU/m5PmSQQ20ZJ43xFkPHQxtuPXPUis/aNXsraWuv8AKzutelu99DmhTnd6JfJ3vppvFu2vT5K1pP0TR9V1Utezaro0TupVNRt7pIndwNwW7hJaI7sDJC5JLcnJNP2jT6eq3Xe10+l/tWb1d7RR3UoJNKV3orW07b+aWlr+Ultzas3huKcM2v21tpl6mJbLxDpdwhgmK/6t5YVILBiOqrkE5Gc7qyW7eurd9LX3b7aa7+VtVqRKU9VaLSej7xvvtv538lfXlyL3U5dXmtdJ1+yMOq2qiPR9d8swtqECHbGs0oX94kgGxC24g/L2G61N7WS3t0b/AK/7efVuV7CTW7S/G23W/nrt/wCBaIv6Z4o1fwJeiC5uXufDl6pguYJf3j2MrDa8UsZBVosnehYNwQVIxiicrpNu3ntvtaN5bfh57RiVCmmql5Obu3F2tpa6ty7dLavvezUvqr4FfFS6+C2sR+MtGj+3WN1Ok+kazYn95oGoGQOglQfL5M43xOpPPAIYg7enC1XCSaSf8zfl16ava9lr3VnLzsxoudOUkm7LW3vLtrbV6b620unLU/rk+Evx88CXnjb9kbxzoFxY3WvfG3wZcWs2roIzPb6lpMk2dOuXR8pKZbaWOON33KDgHla+hoWqpTesk+jtyryXdbPe17bXcfmKk6scJ7KaSSlLdPVc27+Lu72fba/u/wBH3h7Up7zTdE1NkWKeaFY7wNlH3kBhv75LZXDHoeMYrr2s7q7vG9n0/Xyum7W0vYvCSvSafVXut9u2vRd1rr1sdozGCdJukFxw+37qMTx26nGc4GT2PWsW7/PXd6P52/L0ta0dacVGLS2vJ97q/wDm/LS76JyvA5GfX/Pt/L8qRR1Oif8AHrJ/18P/AOi4qynv8jWG3zP/0P7YgpPOP1r2DzyagBVQ53d/TPB57c/1H0Odyn9f1/X5IP6+8cUOeOR+X9W/n+ePlP6/r/h/uAj2biVcbweNp5H0Prj+XBoD9P6/P+tTC1TQ9PvLWZGtYFkkQqWC7G577l5+obPqfVX1+fr+Ol/kvRPYe/bRflp/d32/y+KXw5+1X4JtLj4U+KLfUdJsLjwta2EyawlnEX1i+guEaJmj2HkWufNycELkgFjWNWN1p1T29NrPlWy/vX+SUpo1HCrLVpX2+X43177q3LZ8v8PH7SngD4WaPqfxPi117uDxL4f1aFtA0W0mWaLXPD98F+z3NpO5JguY4pEM8JjG1w685DV4WIpcsn99kr9HdfFpe3aXdPVH1uGxMpQXXrvpttvJ62u7rW1ru/ufjf8AEPRvD2nXVx9hdoPMjMwhZUJtlkyRHM6FV80DhiMjOT8uML5uvtO7drfJeumitbruoxu3Lr530vvve/8A2906dH0/mulL5n1HVbSzu0S3C3Myyh0GFePcCeHTBJB5/iHuOQK1Tbe+u2uv3du//DmU5ySbbadtrt+ltItavurvfRE2v61c6rbwxX2n2gncAQvawrAYcYwZMbssw9eD0OckU5JXstbL0tbdJf5t99W7xwalO8mtdFa9m1vp0VvJu3S93I8y1S1e22mZt8m/KqgUrt7ZyDzjGen9aXz3f9dLfc3+Hur2UtHePXfTTy96+63advNnReFvCcutpdanfkxaLZDM82PLiY/wqmRl2JIGefocqKiVXl91PV6Wvt/6Vvbot31vaO8Ie6k1fz73+9W0+/TS9jr7S1gvZLfTbR003SwztMwOJZoEXLPJIMH5lGEDfKdwzkAGocm9NH3W1vXXV9bX62VrLl6KdNRd1brtp53bvJJ/NvbuN1fVbe4aKzERg0Wwyljaj5fNZOGml5w8kpGS/B6HByaiKbku66NaJPXXfv2le6a2RUpttLRLZWej9dO13tLs93zcZe3Ml5KqgNJLt2RpHwsMY4RUAOOOgz1xztzmultqN/NtaadO2j18tOt7ktp6+e366dW/u+SNHQdF1CXUUAtVvJ7gZjt2TiEAEebP1HB+bDYHYs3AbOE9Hs3fr02+7XyfnZNsKcLJPrf/ACffXRW/HXWJ9F+BvCekzeIrW2uIv7R1WHE7kDMEUyEBIIowSAA3OSB9Oj1y1ZvVLVX11/zV+3W/SztaXTTjzWvomtH6aX3XlZ/fFaqP1RrHhyw8L6PLPcvLdarfKp+zx43eaeYoY87SEiIX5ccnrnPzckqrju0r6fg7X7Xs9Un0X96PTCE3L3VeN7aX3tvu9FF6b2v0tY89s/hr4+1+4TWtR8rT9MRvMitxKBO6H7gYYGOMZUZOT1O4heSrWS163t912r3StotXd9rfaPdweDc900n3Tu9Nbb9ujlbdbHvfg34f+Jbu1Mf9pXJsiFQ2oEj5x0KkZzkdhyeCMYzXM8StdbdvLRd2nutVZ21va6PXWXOMotReqV/m76fPayXnfRR9nt/g4bSOK5EVw8oAkfcGMmcADBxkYx935gOvtXJUxO1tU2/T7rq6+b8mrpnqYfAbaaOy+Wv37tXTv+Cl39j4Le6ggt20eefAyXMbbhuwm4Z289+efcYy3BOrzdfh79+19e3T7nZRPVhgI2Vk27dF97tq99np2e6keueGvh14j0iJYntsLICbVSrlzEefLmUDGPxweeucVzzxSXm+nbp5ppaL0tun8PRDKdNI2Sd721at/i7J9UvNq3N1H/CM6rG7SalpAdOqz2oKy2+wfeTpjaME+oGBnBFc1TFy1UZLS6fo29F7y9dHe+up1QyxNpwT0sm92k9fL56W9NDo9G0afUmcTxtNak7c+X84ZcDJBzhxxnGc4yccquMsTJ21t39Let1rv9+iSid+HwdtGtfO9t9kuV6W336W68vo3hXwz/ZF7uuJTHBcSL5kRGE2gnyXQcjgEBh1J4OMZrhxGKkoJp31+5K/ntZfK+3Q9anl0ZWsumum/wCe/m/KN7tnp2j+DrU3l7cSpHNgbYXjTbiOT5kGzkHGfbjGf9jieOeilZb67rT5tLdeS1te6cu6llu2+zWq/W9221fdetkubW0r4eQQyT3Elv5hM5uAqoDux0HcZH5+uMDbz1sbzJcvf5+mnL37ap7LXm9OhlkLyUknppp3u91pd+m3e7G+LontdFihitjvFyDtMY4UnaQQOQcEc4xnPK4O6qOLaavs7ddv/J/K6/F2diqmWQ1tG9r6JdddG7trXztr1tY53wr4bR7y4E4aSe7t3lt2kXJEjHjcODhR8vGfwBrqq4xKnzR01t2W3rJ73t57J3ORZarp8rXe1tN18t09l87JR6O60aDU5bWOBBE2lXEjYcZjjufK278ZUY6kZAwRxnJrOliU9W9tbenl71+nXXz+zlVy5LaOi0fZNtev4Xt1v7x5Jrnhi+1C0ns5syW6tcyz3AQKb26kJxkgL8ikKEx+GOrd9PGpNK/Zf8Hr06c0vO2xwVsB7rtHRprs76PtLdrSyW1up6n8N/Alho3w9eOewtk1qL7Vc/bJE3OWmBEPyndv2qwIBxg9MYyvp0sarXvv89fW/b+7Hsmrtx8OOSONZVOR73vZ2S31t0Xle/la0fFNR8LQ+HdI1O9t45H1jULiWae4BJeV1XCqQeQhkb7qjAXpnAq/rqutny7Lo/mmvu0t3lc9T+ypVHGXI0o3s/LvbTt1VvXWR8naV8M5LzWzqGtJPcyXU19cXUqIRHAhYlYuh4BIx644IGSr+uNdt/P8XzO/3PTa2nLxVMmfteblbs+y+7SVn06R9bo0fHfgSFLTwbpOmeV5pujcvG+/O0PlXK4+YLjPzHHYcBdtrGa329L6X8+ZK/TVettzkxOWuMoq2/ys979np5/fc+iPgt8KYb7UdQv5LdbmPyVgLiAsq3cYyzH03Yx14A4zWdbF2X9O11f+aP8AVkk0+Y3w2WKNvc/Dtrbfy10V7fCj6b8L/DbS7u51aK4tEmt2urC7VmjC+Q9vOjbSpKkhWUgEn8iDu8urin3389r6au7svNcyV72R72HwCTg0tLq63Wnfp91+7W8I+2weE5dP8RaTrAh+1zpdSgoAMpbvxCYwd3yxg8gjkLxngrx1MTy9e711+7WK17eibVm5etVwCv7sWnfe1klt3dlfs/uuj1m4had9OsTKZb6SfM9sI13pEWDDyxjBDLwcBf61xVK7m21Z26ff/ie6XWW+lrHRRwbSSV7LTaz+atKyt0/KyUfSm0m7kt5beGxhsLdLU5lMKiVm2YwGGSu49Tuz9etcf1lX6qz377du/bS/4S93AQp06b50rpPXXX53tq9dnfsrcsqI8OSv4ck0iC32fa7coZZFwiysSSx5JJYjuRnOM9WoeIv1to2rX9bWt8tZLvZ7FOnGpVXI7tvpp8lutnfbyd72GaR4TsIrW2WWHfNbkRzRIo8zcgw7x7ucYBOTnP6rnDE62v5p+f4LbS1nZXV9EbVMNF6Pbe3TX5Pa2mj76XXLq3Hg3S1uJJNP86aV4laJMMGR8c7j0J69OPzonXSs76vy9dvK/pv6OU08LC+qXf5flpa1929tDj9b8I6ncX9nqAtpQ9ggUBgCJIWO2Rd3VpAO5zjoAeBTeJsltZ6fl092+luvlpe0uynhYt+Ss09NtrbaeivbrfaPT6Z4XsZ4pbbM1rNKd5O4jaCOjqeucn0wOec4rhqY1rZ2362/+SX6el7S0nhI6vey7L07aN9N/R2bMK6+GOnWl+ZGklvFJLpEzYXOc4wNuR0PP6da8363Lnk07ava608rza09NN9GdFLDU3Faa6XbVn1eqs1dO+mnbbUm0zwayTzyuqWsTsSqRxqCvGMjnHoSckkHBI6tFbGSSupX/wCBtv2720s7Jr4u6nRptL3U0rWt1v8ANPp8901Y3ZPDcKPCyIrBWHzlWZm6df5H5frgnK80MY3v59tdbdZL835PU1lGNN8vKvy++2npZd9jftfDVvM+6RYvNIBSYphogMcKQCRzg8cHHQ8V0RxejXV9evZ397z2d+7srKWMmtbLdLfXR99r9ldfdZlHWdA8+N4LkpJHtB8xQC7AfxK+QVYAc4xjjr0qniJv7T5fPre3y18t/vMpVuX3XHVW7JfjFvqtG/krOJyMvhXSbyOO1wVmiO+3mZ3LKw6jO4gnjHv6jpQsTPo+uyfzt11Xl+FuY5JuUruMbt7a731/OzvyrZ7asfb2wtL2wS7tDKltIUeaKMOUA6NKNuApByW7jJG3AFNYl9Xq33vounTrp17O1zCdNOEvaKz6fLbfV2W7ttbc2vEloIY473T9PV1vP3ReH5grEEeYDgkY544II610LEu6d7NLq77tLpbXTdbPTXY6cJThyPq3vdX7vq/lfVe821rFRwp7Ka2tI4LeDa7MktwNpVZlG0ScjcRIR9QeAc9V1eKlprqr3Tv+CTSX4WvpfY4cTQTlLsnvZXdvv6+e/fUqa1plprFvEbSUwrbIT5f8cfGGRhx8vbo/qcjIq4YyUXv23V0/Le/ppfb/ALd8+eFXvXeltrX66XXR6fjZe8keG6t4Jjt7p9Rt7i507ULdfMTynMkNwmeWMRX6ZwuVycdc11UMane/4PrZ3suZXXr8ou75uf6qpc10ne+q3d9b2t2TtZrbpbmOesNOm022v72c37G6lMsk9sDcRM+ApWUPh4h0+VWyP9rOW7Fi1P4G3s97XW/eTej2+5vWMZoYSK5t/nb/AC6Lv6ae9Iy73xFJaWTTGEottuSRri3ZkuIm+VUkZuQ2OjE5B4GArVpRlLmej6O6+930k9l5aavueHmUHTk3BX9530769rPa2vzetjzXV/F2k3sM9na2U8JuYmE6TFHt4mYcvEj5BXOT2zj0IWvewsmra2v6qyXZb972fe17nzmJU5Ratou92un6b7X673l8ReOvCelLqst5YauH1GN3mjeQPDDGHH7yILHvX5hkYAJ4BOcEV9DhJ3aUnZWa+6/ftfp3t1R8fmNJxTaX2rNW12ezut+jfZbPWPyN400S8/taaS1nSO02MJrjVfMktd0g+eO3XZ9wH7vHy9RjBr2qXJo+e+r1vtv2vrbzfb3dz5rE3s3yvbW356arr3vp2tHyO6HgnSElj8VaMni6aRs20ELSafabyTtEkkTGaaPrwFTI4+UbTXfBxVpc12uva/Zp3ura23/mjvL57FXnGUUuWz1va+i67X3XRWvs7Pk1dN8d39nt07wb4Rm0yaVI44IdFglKKh6K0zkyNgdyxyByFwBXVGq46PZt6d3e1328tL66buZ41WitbXt+qW/e2lvy3R2lk3xBhmTWbqI2l6ybJjeSvd3nlk5byxKrLAOv3AfQZHC9NOpqtdHbt+O+19rt9Lpv3fOq0tJ699+j10torXvo3s7aaHX28XhWz8P6r4pu9Kk17Xz5lpazXc13OsclxkXDW8GcMyZ2gDbx/EMA13XXbvZWt5Pv2vtr0k7SZyxei9Laa7adbb2+6+9ve4TXIYdG8P2niLS9ItdAuL2ORIo57CP7Udv3nt9wdo9xJOeDnrkbTTdmtFvtfXf9dLapa97NR64P4el2rrpvdy6/8Fa8yPmXxMG12Ey6jqu24MpY29zH5mXzncUXhuxUEDH+1xt49ui+eu+t1vr67a7WSOyTp2Vkn8+r2tq9tLW2S62vLhIPDniC+82yt9TtLa2fKw7rPyI5iwIHz7l5Geo6k84yNwn2d0vXpbR7a/5XTe5ySlrp3s3t8lqtL6fir6SM+XwV8RNPuAl5e2d5YxL5Vv5N8HMIzuzt35CnuDjB6Ac7T5ef+du3p0uleVrmj5Go73sr39N+u7vtbaKu7pHV6d4nXVIE8L+KYFju7AbNLv1C7l7TRu5+bawAKFQvPShpena2+nfd/fdb7mTp3do6q+t1rddu1lvrfZvmXKzefQ7bWWnskuRJex2aeTPKN0N2ka4WN85zPGBtVvmzjJxwKmdOTs1d69Nei13d07dUt+pjUbp2i9LaX139Nfxa9BPh7fX3gXUJ9A16Nrnw3r58m4t5Mk2crP8Au5hnaIwpYsvAAGR1KNVUeZX3V79P6t135r7W1bOhclSk+610Sab8tN9r2flr73L+yf8AwTm8a3tz8Xvh58ItY1Z57Lwxr1z4q8D3k0vNpcxf6YtnAzbmSOYmUPGhw7SY5BDL6+ExLjONPZXXw3vZ/P8ABc1/xPlM0opKWmmrt8vLd3uulrKWux/ej8IfHg8c+Hba++yyWP2i2guzA5GVuF+WWMfSRSeh+U5KjO1vo1Hmp83mmlbZtXvfTzb01stVdxj4uEnZuHno9dtvPfpe1rbuyR9DhTNbANk7kDrjsSMg++Dx29+uG5nv2t+n+W19Nr93Lvg001vrJO/q1ddl1tZ/OyZPau0kKM4w3Q9uRSLfl/X4L+u2qj2Gif8AHrJ/18P/AOi4qynv8jSG3zP/0f7Z1GABXsHni0ASowwF7/59v6n/AOJBvX5JfovLr/T3H0CEOewz/n6r/P8AL+IAoXkElwvl+Z5YP3sDnv0OevOerfhxtd9F638+nX+vPoH9f1/X5nI634Rs9SsbnTp4I57K9tbiC4F0olE7SoyqjRsGBUbic4bnrj+JKPO7ct3Z2W2lt9X0fbl/FMTjyfvZbN+t7fPXXu1rtax/IJ/wW1/Ys+G3wvTwj8QPC2pJomv68L+x1TRIkRp5r2aR5Ib1ijhhAysFVGA8ocBmGFXycySpJyl7l73e/XfS7X3rfVaHt5diKVSSjB326Pf75WT2WltevxR/kX+Knh6XR1mh81p7lt8cwGWQvzzk7jtXoOeMY442/PKrBzvF3W19d01rt+Hu/e7H0XKo3TSu99WrW+9K6s9Vp1vex8/2vhe4NwHlsxFcBC7zSD5VhPO4qeQxHI65/Rd01bXRX37a2fn/AFfoJwje+/6Wfe+ttNbLr3XNQNjPeahczPEVtIWEUJ+6ZSvHGQM5bk4Y9RxgEVTkpJtdbPV621Xlv6Pqr2Zjy31SW23n6O1tHbVPVXuZaeGmvb9pdTLRWUD5OwEhyh+WJT0Jc4U44H91utStet/6+fnpf77B7OTttbot/V7333+Hol0Z0N1LcNujKx2mmQKqw6enyRkfwyToMBmI5GcnnnJGV4q84xna+tlbv3u902t9Za33VrnTSpNb23XW9u1/h1tovPa1uWV1Liy0nRprlkE9xqLiKNVwGEIyWC8AInXJwBgAZ4AbSmpSTstel/z376bparbUqbiotLez8t3rvrv3S20tf3fOZpbzUbqCz063e7vZnKxrHzFEhbq56AIoyxboFJ7FW6Y0+SybTb959fv8reemq0SRySTTW7e/S3bTX010Teyd0acVnbaRdNZWdymo69OyRXl0CDZ6fuHzwQjrLMhJyyhlBwD0oqy5Yr09O/lHe17Wv2lG/vaq7UZbd7t273T0ts9ua++l0j0eGWPw5aMSu2fy8+a5PnXLyLgYYciNeTtJ7npiuSLvFyt1el76/or/AN3rrfRHRGDTT5bp209bbK/37ebf2fcP2d7C4XUrnxBfESfvg0W8fM68thRjgAgDPXgH5iSa4a1aMbuz31Wvr19X/lHlSOylSlOzv2ur7+ify6rS6d+aTj7pqUOoeKfEieQWS1gkHzJ8zq8jZYBSD90DB4bb2Axtrgq4iMm1qrdHpf8A4Zq233ts9/LsJzKSkr+9pbW679t31l5c2tj3/wAP/Ce+vWgEtxeC3RBJlnc+aSFz2x3PG0enYM3m1sSk7+9922u3a9vO63Slry/V4LCLSy0Xu2/yWnS2681a7Pe/Dfhybw0ls9pcG4AYYt2T5lcHGDwTtHPY5zzghdvnSxcU3vbzu0/Lpr5+9pta9z34YFz3SWz1316p6Wura381bVnqtgdT1W5j8y38gxN8vy4B6EKQeoyO5b09a5KuKT6Nde19Gns5JXT/AL2va1pd1PL3F3vHXT/h1Z3b6fD5Nu/L9GeGPD+natai21OVdLvyq/2ddIq/ZmmXrDdYGF3YBV8jJOOea4pYuC+y33/zvdLfyfy0O6jgpX1tp+vRLTZ362VumrhqNpWoGQwbW86ykaMSq2Vkj7kYHzLxwQxwDgE7cNzSxSk72b1utdbdH56bN+vvXaj6cMMuW1lfo/66efLrv1vFsOkahHJcS3sL+Uo3IRt2vjrnJO4k+7Hn+HisJYn2b1i2nZaX6/p9/RK6tI6sLhVB1LrRvSy8/Rfft0SVjdsNHliVJ1tEgE/3XClc5GQGTkfXv1xjBNJ42DTXK9et976b32u+ietvLl7VlkmrqcbPt08tEtNej83e6Ou0bQxqN0VvkEQtVXy164J5yT1wTyBgEHpjjbzVaqnFJaWe3Nq1tbra11dteWt2dVDB+yWrUk12u+97eWtlfy7qXfafp5tZWigG8M2GfAC5x8o6HAH+7nPc5BbxMVXd1FPpZfe/69bLoetSw0XZ6Wtr0ei+d20/1drWPQ9Kt4rO2YSkyeYWLllxsz1xxz6g8jsc5wvHCs4Su7v57pf9uvv3Ut7PY15NbJK/ddVfru2/u22ejMTVdGg1Ccx+WJIGGeBg5655Vucn1JPTu1aLFpW5Y639fycW0tXsu/Vm3sZNX+520t0+1v0vql9m+0amh+FntbldSe3byrUSQoNnQD7gzg5BPHy9c5wCAa2lWlKm0pLVp6N+Wr0s31389E1zYexTkly769Vt169OtvNJprmpnw40epXd3MAkGoy4MXCBXUjdgYHJTjPt2GVrWlieSKi43a2ael31t01t9rz0tyEPCt6bX7/O689dXZaXveV/d0NQ8EadeJZmNvLtrdtzRoV+cgg44AzuI79OpxnC6rFc0rW5bre+n6beTu7W0esU8oclzxqJ9ko6691zbpX1dr7O+0ZJrFrO2ltykccc0TKgYg4VeAOMdueg6dGwa7qWJelpaN6/P7tbrf8AOzQnlKatdR9F5f8ADW1Sb3vvHz7UPB66hHHI1lI8YWRjITgEKDtIU45LDjpngfLjNEsbyzTunZrpfXzSkt/T77mlLLvZxbfom0lbW+ne2nzfVu0fMo/h8sdu32ZX82f7VH5MigMGd88qcHvhSd272ziuyOM5u3lfXf8A7eTv0+H1va8ueeW3lKTfure6f56dPN7baM4m9+G1zfazaXMiiJrCPyEZky2APn4GME8kcfTGapYr3krN+8u39bd1G9vQ8vE5I6k/aKokou9mt+qS/wCA120abl9c/BPw5aeG9NuHLSZu5926SMGESpkFS2BjzM4zzjPO3OVdfFWvpe0fuenrrp301Sv9oo5ek9d/np+C6P59Elc9LbwstxrNzqNlbyxl0jF7Z/P5clu7czRhOMqxzkcdx0Fecq3Nra3zff0l00d1tZWkejDAcsb86sldab/LW109783TW15evWuiaUYbOZ5pAY2VGiT57kOB93awyM4z1YH3x80V2nF8s7LXVxf46x39b2vtf3tFBv7P9bW28kut7XsvtVrbRYrPxdHq07SIk0axRKXzJCw+4z4JCk9TkA/iDXBzqCfvXbbTfZ/c9e+3n3O+hFNcvJbpb00f8t9++ndWXN7zYEkJHdqjQvwJnOfM9Nw6DjvwO2BnLckqzTfXd76/q++ltet7smtSnZxjFpPt2/B6eWz1adrDNWmt/tMdpptus7hRv44iXr8y9B0Izkj64rN4lrS1+9vXvurenmrK5rl9CcJc9TppyvTyVtfP56v3ea0rdrpthbxefcQhZJAfmyNwbuAqgnacdwvBxz8wqIVHdu1/JPTfq2vPo76X1ukdL56kpR5Wkne973X/AJK31tt+NieSJvMjuLX7PblRgKNoLAexDElu/wCmc5XV+8tuXyvfrby9F+btct0p03dLm06b6+bslqtN+t/huZN7Ncxz+WyJuc527VIyepU5IA6du/8ADzXJPFpXhva6bX9RXrv2V73l6NGlG0ZSlry7fgvz3bs3/KZ8VrcRSNNcJGqgFhtGcjn5W7EnPGOnXtXJOam/itr0T37/APA0XmrXHOHu6N2dtbfPu73t/d/Fos/Z451a4keNFCkJjr+PXB74z7ZHWs+SEYu03Jt3a03/AA/rvuYxlO7jy7aJ/Jdbx/rqtpcvOAJVUltpyFI6Eev8OBx149+ua4qlTV2v+Fl+Fu2mnVJ7OXfRUktfvTuu7+d3p5N9maUYt4YC0jbjt+UZzye4IHQfTk88fw5QbdraP3lb02301fkvxUpaxn7So6fKnt7z0S/z69vuSUqzXkluscsKbg52SLjsO2dxA44yfXHOCa2vbZ66d3e602276Xv87x2dCCkot7rpbvf8HbXTXRdFK7A0V7FIrxkMw+VC33R/EAfqQeSuenOAV1hOPKnJ3bb0vtrpf4tL3WnbrfljyV8PGE7efa+3fRXvfz6NvU5u6slgn8wRkorYKr2GcZB5wRyenbPIyGTqK9lqu73u+jsmr6K+y6Le5EIpcq5ba2ey7bd02/Jxfey5dGCGOO4huQf3bKA4Zc5yOjrjnjA569M85p+08mnfbe29tlq0+l09fiV2Z4ihGcklLRrpp0135nre691rrbRo0oobf7RsgkJgOWe3K/KG/vRrtXaCcDAVscnnANaKtbW99kutu72WvR6/fdhToqlF2k5X3um/VdttUmnr30F+yWs9xtmj8uNQSgbA/EZyck56EcHpwKr2rnsno9r2fn5WtfZ9OuhyVYtNtPf5Ld+b0s7626aaszbnQ7GaQNDDs2k52EKsynna3dvcZ5ySOuG2jNtN9evWzX3aJvZ9ej1Rw1b3d1r8/N3e13ps/TW9ynqngiLVoBfWipHNbq0fk4AJXvjdkHI/XrjAFbxm3ded99du7S1vfovnc5lK3NpZP71br3bWtn7vSy2Zy0XhSw06xntHjzHdMXlYffim+X7/AEwpxzhOnriu2hV5Wna7t1v01/ls+vR9rLTlUbJPrr101669XZrRJW30vynkPiGBtIuLq1l02O+0S63RTb0VzFuBVZATjkZ6c4x0AOF9XD4pqXwxW39fnffzb1Zw18LGpzTbeydtGu3Z6ba+fwrRHher/D/S41uHeMXtrITPbMrGN0R/mMJPPKj5RwAefXNe/hsQt3bWzVvlqveu010b7dnzfPYigpSceVW2uo76u77J7d+/W0fC/GHwQ0bxNBLL4a1SWz1ExO50+Z0zuzgeW7AAktxy/wCBr1KOIlKcYWSVt43676628m/5r6aI+dzDLqdpW1dm9layfyvr3vZ+Tcj4+8beBPEnhTStS0rV7aberGSCXULPcshHUJdAbChBHC9uhwCK9mnO/LaTto0tNLfg3dXXTvufH43AU4KV29m1tf1to9LPfVW0b1Uvi/XZZITdx/ZrA3yMdqvBtkt19bcPhWB+8uOR1weBXp0b3jq9L6dNb7Ws1+tuurPk8ZhqPLJptPzsuvztrr9pbadTxrx34o+JHh2xtxpF+qWciGRrnSoA91EzdY7hlbIcA8FQPXaP4vUp7pN2bdu606X32f8Ad8nsjwK9KEW7NtJdt0vW97PW99+9kcX4V8VeM7qb7f4k1jxALKIlz9qkEH2llOfLhD/PIGAIHyDAbHJAruhR2ldr5dFu7e9o7q2v33Tj5FZR5dGrO/ly3/8AAuttdddt7Hrz/GjxRq9xYadpHhnU7gxxra2dnpNtK7so6S3ExBj85+S7gc5zgEA10c2rs3q9Om+9+2qb38rRuubypRlDljBcyV1/wVv5L5dLWO81jUNaFjar40sjobR2ayR2LTfb79mcfMkiI0iWp2gH94Fwcgg4+Zc0n1b3Wj0+7Tu76W06amtJt35/dtf8td+Xq/PR9bpS4hbrw9o1tN4i1eyguIpmKaLpbgPPNIOTdXSoPliHB5252nA4yujp3Sd369356xfy++20tXZvd321/N+7d9rWT0vraxx2q+OrnWUBPgyLUUQhIG0qKS1jjzwqEsmM9ixOfl424+Y9mtrvte1r+eku3W2j6Mzaafuu+6/y7LTz79djm9e8Mw29q/iSztPENkbeFG1LS/Ilu/Kdh0Tazb4weS4U8fUCstmr67/nrra60sle3kn9madWUpWcbJXW+uvbR32eyjZ32ueQX8x1a6j1DR8rfRgJdQTfK6heVbyuGD4yp9+mcMKa0++19GtU9Pu3tt13iejdKCaSve+m7utbW0Se+qlula1z2PwVdWss2lwatef2LqUxkEU9whFlITnCOT8yMxI2k5BzxjkrXtdFHlSt17+m7el9PvbspS83E802+i5t+2vy0Tae1nbZNvl7jxNoSf2iYNQ3wQ6lbstreBC8VxcxAFRC4ODvwGXbjgnk87dY9Hv1a8nutlu/ve1rJRmhNpODWmtrvo0v1i9399j3v4BePbn4U/EP4ffEDc2/RbuzuWmJbefsswhu4CAVbJhLnqc5567WuGlZSXkuV9PW3S6T2et9rNS4M5w/LhHUi25Xb7JeXXp59Gkkf6H/AOyd470Dxr8PPhr4n0C+juNN8eeHBqthICBtuRCHuLbjI3o5KsmQecgtg19VQrOVLlcbPT7+vfT3tNfm0ve+MwUm5yU1yq7astNW9N219z2ScY3977v0m4eW3gVxtdS0TKc4GD79x7H0GRn5ZmrPTZ3f9fgevT0Tdrt69NNbbddb77302NG0GWmjPRH7c+3qvp6moK/q/f8AP8/vO10SNfssnJ/4+H7f9M4v+mlc9WTUkkl8Pe3V/wB2X5/ff3dYbfM//9L+2ivYPPHbG9P1oAAdp57Z/wA9D/L8qB7X81/k/wCtv0lMDnmgQUARO7A7dpwRnOM8d+hPp2P5Yo/r+upSWtlrp+fa6Vt1q19255L8QvFq+HZdO0azkkm1rXJCtpAjbpYo06yqgwQoydzkYGMnGKFLk16LT/h9+tltv0enNx1q7fNSSu1otfT56aaJdbN2XvfyIf8ABZL49eBLvX9c0L/hJ9R1jxxoV4tlLpbIr2btJhZRbTgOY/sZPzthFyMBhk187muIVSLim35bX201btru/d762sezk1GSnF623vutb6fErNLVfDbzsfyxXFjN4k8abtdec2bX432NjG9xeJG75STylSQSDkE435HOBxt8ChG1m9Lu199Hs7d3913fofc8iaUt7pXey+Xre700b6na+PvAPh3QpEvbp3eOSOIedp7odR+zFQQbi0+cxuq8OrRqFwPUGu6cko3drWv6LSz2dtX36O9k0yEoTdkk3t2ul3bff/C9Lv7LPFdW8IWl6kOpaUtvHoJjuCbvUFVLlJoV3+W21ljVpEBKDq3OMZBbgqOo5e5te17q9u62e+m3Vas6I4eHK5WV/Ty166PW6a+7dHifiXUfLtlu4J7a0sIw0Cgpgq+SoymCzSMVyhK553AkEGuinTrSWsnbTpHTvd3Xp+sdzy8Q3Fvl1Sb20t3vrJ287PpfVe951LrlrBC9y4nv5G+4blx94jgqgxwDjaGxwOWOCK1eG1vKV9L/ANbWbtpt2Sd7HLTxDUd3e7W2un5WV3e0u63LMsGoa/aaU9mEe5uCU+yx5zGCesoyVWMDljkAA5JPJpqMqeu6tZNtdL3X2mt77Wa3vZuOkqkmrrV6db7rVc1l01+zfbS3NKxe6lZeHvN03SCTeKvl6nqUTje82MPbWTLzHAp4dlLMxz7VrCTk02rPtd6+mi1t9p9drWURczdru/fTp0WrXTR2Wm6veSK/hZRFNLezQoyxN5xUrlnmkyygtn5iMknjI6k8kVFba2vfpdXWrTu1rv2V9EtGdUH7q/Pd9NEndpXte/4XudjfznVz9oA/dbUEatjMZH3hyOPb5VzxjH8Pm87TaV782y2aelt9PN7+XU7FF8t0uny/4PqfUX7NlvL4n1+LQYmZUtYpLicJ8yqI487eOMngZPXr2FZ1KaknzPZ3atf063d7N313aaSuengIe0ko+l9rtLS2zXn+ad2foJ4G+Gls+ofaZFW3jMipBu4EshYeYT17DjjIPAIYV87jqsIVEoadW731vZa6K6em2t7NLc+9y3A+5snqrdfV6Wve383nreSPqmFk0l44bL7MkVvAIG8yAOjsqYY59c4x83Uc5615FaunfXvqtbX9IrV6vzvo3do+owmDSS0t6W9f5d+ur+63u6OieH1upRetNH9nly77Qp3MW6cf6scfwj2Gc158qm6bevRaW09Hfy0j8rs9ulQXLsvn0tr+L7dt00lLudP0uW3nBiXeu/IDqHDeig9sdR065HQBuWrV8+uy6W9Vrfrt6O/u99KjF+V7vZdE1pbbo+m2t9j2rQtDlvlgmkwkRGx4yOM4PA6DOedwGT9SAvm1aqfdNW/TbT11e2y5mrx76VCPRaXte3Rb66O2tt+vvWSR2Z0T7GxCO2SuzjcSqngjJyQMcdBjoSc7qyc/W7Xfv0er33263VtEdlPDrt53ttpq9NNLW/4dmzZ6A975ULH9yuCenr8x55HOfz/3ayqVba7X2u/zutemjvp11vHVUWnHs3q7b2ton5u19NL9bHSS6epVIZYQI4D5cbLghgOFbGMZ7/T+9wV86tWlHa/yeq26WVtbd9VvZs9SjS91XT8rrX8079Lu9+xbbS47XaEyXkG4kJljhQcE8HB6cjHpjPy408RUk3GTduV76eqtdq73fvLvfWxrCl7zT89Xrfp+Nr2Vl17uV7TMxZaSPb8+8RycM2MAEZGevT8jtzmuOtKTlre176Pzuley/wCG6Kx0xUbJLRt2fT9Nmk/5fzRpPcy3t5H5LnykG2SJSFAZu5DYBPfgkdugO+JXSvqnot/1v0Stqnffd+710aClJt2d1dPyT66r5Lrq9Nodnp0UMboJU3KAD5nBIYkcE4Xdjvyv3sHOBXJKcoy697X69krPy6vTRJvU3lThF8t/n0uvm99+lrbyNeZ5rjdDbRrHC4OWXGCwwd3Cjnn07AgjJroVb3b6p3u03r+l+nXRX1WwoUYc97Nt6W+b6N63vqve/C5BDZxz7UuIPMwcq5QcOMdBjBJzjr274xQqzsk7/n36e7tZ6p/JfacqUVUtZO2l773218rL/wACuT3mnSW8RaKNTHxtwoGzGM546nJJwfbnAFHt2vLW3n12+fTR+vvROyFCKhb5+Xlbpeyt579zl76BJWRmt2whDNI4IXK4yFBXaAcepyOcH7tdFPFTSsrv01av319dL/d9k9hHvd3/AKXXbRp3+82rK0ttQiKRgpkKpyvELL0wo2qc+wXjgk4+XOWJk5pt2d9LdW+j1d311/8AAXZKS9hF3vq30WlvTzfo7dncz5vBMKzzyvMjRMyy+Si4KyDkkP8AeXdgfLnHqTht20cbOOz6emuuu22+z9bXXNDwsGtVZ379tvsu/n5drsx5vC0zNNcackIXcXeN7dZG3DggMc5Ldehz044K7wxkm02+t9L39LpprRa+6/J6RZnLBKUGr/d/k0lf52W7vc9M8GW9q+niIzQXNxCxWbThbJFtyx+YBgASGxlgPrnIrsli1PZ3t6vba+2u/wDLa9+Z2RyLAKPTVLtrd73ve/n7vRrT4T1uzgsbVJr+6jMRktvJXyZljZQAcAQhWkdce3Ugbjgbef6xyp9Hvqr9rrXlWj7b73SV5SsM1ZW3d7P8ezs7uys3vroUtP0xYUn1NriRPlZLWCdQ8rgniQ5YMHAIC9MdCWzmsliZVNtd/nbv6rS9+uqlpyqpho3T1S8r/NbXWt+v3293WilvJrZFntLG3hhO5LmeANdSjrh3HB/2d+SB/ex83LWqy1buultuq8tPuWr2drR66NGKvZ2Vlb8dbW63730u+W7jKvp02pX11cuZ3Nu2EhRXYeWE4LKoGM8HH/s3VeSNWdS3e7VrXtfztfr2eyWt+aPoUKFJp89u/r280vW1vPXl6/TxLp5WW2f7R8p8158+ZnpjLDJwOPQ9Bt5LbqLdrqz+9Lye3fR3XzujnxVOCv7ONrO19beemmnz81uuXUhuGlilLGIFmJ/dsS8ec8hWyoOR2+nGQKTfK7Xttd2897N6r5pbO7spBFKKTcUrWfe9/lu/R76XsxYbNkQyvMc78eY5JK88ADPBxzjHHbH8Uuq1eze3S3z7X76fO9rgqybsoavro/Rv8ddvJ6uOZfwzySI0M8gkRhlhhonQ845GV/Afga8+bm5y6/L73e+v3W6u+vLpLRKT66vRL/g2frr5Fe8mvIolXY8h+5hSxBBPU8MV65/HvjKwvadvy9fL876dLMui4z0ey172/Beb+z6uxVuzepbxIQEiYZLfMdpzjHTHTjqPTnFcsnVU9W2r7LW2l1f4b9dddut0pbuMVK17NadFd9166X3d7bfaZHCtwqJKchhtyCQwGOGHORx6Dn3B+Veb/wCH7+r+63ztLWNNNaPby9NPiV97ar5r7I1qkIa3WRZEVuuSWUHrk5PI6dcfQmle0ra/PS/dLb8V56WHSp2qt+urS73Vve/DXvqWIljtYZIgPM4JWVl3bWI4i5zxx14P5gVUpaXa0+evl19L2l37lyf72y67v831XbTReupS097mCZXkQqJZMKMbgB75BxjkYw3Y7q5U6id03yx9LX+XTW+99Ha3ummIjt2st+y08vPTTzTukbGqWrSWsjwGNZcBgq9yDz+OeepHUZOBW8ZO7Tcu97vfTyW//t2sVvHgSd3r/wCBdttNH97S809jHsoppowsz/Z5R3Y7gTx0DFQCT2zzg43YrZT2emz9E+jejuvK3re6YpxatfXS+vkr3Wr/APbbddmjYsrS4WeS4LI4VQFZACGA5bORgck9PXrjAp8yV1f57b9NNW136dbWvKHJWte/RrXfbzb0S1+Wm5TvninnaJZPJnK8DJ2tx2PT1+XHfO7+GqjJq713as9tL6/D/n20veUTpp+ne1rX+bsl1a6u1lZMo20t/E6gT20vl8CNyQT9CdoJHpjjoCpwW6IVLbd9Ur6a3u/u101e6Sty+fVpK7vfa606efr6x7p6M6u0vvlAdPKlkG0xMSN57ENwh47dh3bOK6YTvste2r/y/JvRJu1zhnTt07pPr6O7+/VtaWvYz9U0qOWOSWV/KkIZ1fb+75HyhwMdcj+Ec8c/errhJq7V9Oj0d3/4Ft1d9V30cZ5HZ6/cvL1te6XR+fN9rwnxZpdwIijqGSY7WCnehkb7j88rjg9FHy9MV0uXu3V73u0rvb/wF9ukV2bu+W4UVNVFq7Rd1by830v/ADad3fkPPta8KX+s6FFHaslrqGn74nkI2xk9Y9wG0yZ5JyMfTILerhMS425nd+b6fgtV1Tfw7bngVcMvaSs38T03bf476em6tZs+Z/Emnator/2rMfOmtGMVzDDmJVIb5XIXds/vYY/NjHJGV+ipV00nqtf/AG35t9WtLXu9bPm8zG4W8XfVLpa6el10v1s9rbX0vLmPEGo63daQ17MunanZNEyOt7bx3aKpG4B0Ifa6jHA2n8gtephq7k9Za3V23dL8rt3077a3TPic1wnuu3Rb+frZ3VlfZeW58J/Ei18FXlzJ/avg61F052w6ppIjtnjcZG6WxYI0sY77WBAyete/h61pxvrbrrfWzevKlZX7O61tofnWOoT1W3LvZb26dnffRx166o8NPgcXa3Vlpt34cu7e8R2j8izSC5hwpyJPPkYrKB1KrnqBnqvtUa0Z/wB2z13vq9fuVtWvTmueDiKEl3t10TslpeytZ9bLTtflueTJ8BvEst899puteD5J4JmMVtruoztPuDE7RE4EWARj5MjPGcGvTp11y363ta++3pq9dbLtq0nLwcTRavve1mrfdZ3WnRXTuo30aOlb4Z/HrX7iz0a21PSvCsLq0Il8LRJaySxgENPJqKMDHHgElsbuwBxmrjLmW2t3ZX3tvb4dH3+akr+9hR5IRanq+mu61T6tLR2313SVrnX+HP2dfB3g4PrGr/EgeMvETSCW6tl1ZbzTrWUH97/aV3cTMpdW3eZGSSNvuDXQoLS66JaLz7Xeul943Wl2c2JacrU2t4rRb6pyb3to72XNe2r0aPO/iH4c8KT6u0+najo+p3MeD9pW5hggts5Hl2yIzROqdFBODs5zkbbfzSe+nX7+u6vte65rSUVDm13st07/APA31TerV9UtzzGfwt4o1yG9dPEN1/ZWnfNNDaqsRESDP7gwuI5DgYDqA33TySKNns2unW3ZW731tr1T6qOytpvfpdN2tpvZXel0tVpZPVnz9rPjjWNE8QSRRXOpx2FqNgFxJfJLKg4bzUk+WYsB2BGDlQVArkcXd2cklbo+m3493fvzMy5UndK7f9d9O3Rd7czRyt5DHJrdrqthdKg1bM8rSsI2QvgsCQdu9c9DtPqAS20UZbXe7VtN7+ltNtH5qUU/e2jO7V/vv1d7rZLyW/8A27ex09kupTTtb6jMt3HC+Y7hZVZ0C4KMEHK/Lhd2R68citoQ2bd79Hfb1e+qu7r5y+y3GEm07eb7X7dVZ3b3v6NOPvXhfxI3iPTE8L3021LR0n0XVpGV5rCaM/dZiGzG/KPyoAOSBnNVOSiul3fRXskv+3bdrJPXo4682E4OPvLZtpWT0t5vy1j20S3PQLSxujb6Xa3Nq8d+mozxtcA5tpmZQcxf7M2AQ3+0wJbk0QevNs3a3ku+m7tfRpa2va3u416bxGHdOST3Vt0r3d7pK+993q0lZo/rg/4IqftD3fiv4T+HvhbcalFLrvw78Z3qGyvnKSw6NdJtMVoWJOEIGQARzyq5G73sHVTjv02Tfb8PLzWvNdOPxGJo/Va0oq13L0um90le1nr0b6J2kz+oLTcNbo8IIAZnOWycv3yAP1JznPGTXoVFbl9Puv06/wDB8rWOui7xTei7b28tkmr9UvLWxsWOW3yYADHnpz/UH25/3z0rI10t/Wn+d15/dc7XRd/2WTHT7Q/p/wA84vXH+fXrWFXl5lzb2Xfu+39fiaQ2+Z//0/7aK9g88nU5AP8An+n+fXrQA3YPU/l/9mP5D6DpQG/9f8P+f3jwMcUAFAHGeL/GWmeD9MvNQ1EyBbaFplIgZwzdFXeBjbnqoxnpxkmmvW39f8Hy077SHOMdZWSva3369du7d1vrZs/ns/4KV/ty3X7POgap8RPD/iO2uPiP4r0q90Xw3ZPdm2i0nQ54yDdaZCjPcR30e8ETrGqswADHFcOLxmHpwcJVEpreKT6rdtXve6v6203MqGGqYjE80IucHqnZL8Hyvb8dPdtc/iG8b+OPiF8bvH9zqOoeJr/VtX1rV5L6+a8mlububz7jzJyLh23fIOWTlSF4zlq+SxFWVVy5PfTd197XXyeuulrO7Z93luFVLlU1ad2mt0tO+muu/Xq23c9q1aw8K/Ce1ub68luZ/Ed7bxvHeQxqzwQeSA+GK5XnPzDDD2+UrlSrU6doVJWmrJx5X12el1dpWsnLa9tEj1sRGUdIxdu7a+HR6vX00X2ubWzR8b+LfiFrU1zdG1f7Xa3LM0Mssf8ApJRs+ZHI64c55Iz7AZ610VJKcbR95aK9rJrTv21W2qWlkmebT5/abbaW06PR39LfdbvKWd4a1KXxLoHiLwqpzDc2bXtosjbZor2z3Oyu3zBQysRkAbl+o24wlOLs4+8tb/gvsvb1dutmny71sR7OXKnZWWm+r9H5bK1+62PLIYIkmTT/ABJp/wBs0NnEEtxBEDdQDO3zI+ofyhzu4f0xnLVLE1Kbu4266u+/qnutN/JWauRGlKvqlu9dbPfpv3XS2i7NS5XxV4Tjsbpn8NxRazoj5a11BiRdQ/7N3CACsqncoOGHyg/Lk1rQr/WI8z2vyrpbl6WabXLdNpLrpe0WclbDqnU5NZNpO2yV+j3bXS94731szPt9VuNH0u6tJJVgmnVhHJFEVkjyMOiMF3fOOCQSRyepyvQnFvVp7dLp/rqrJbLTRLeVxp2SUlt7tt0uyVld3dv5Vb/t5HARqHlM9whDRrmJF45OQGOcls57n35IqJVKcZJXdt9NbLpru7+unRaLmUkpP3U+qbatr6c2tnruu2tjvPDJKwXNxeRN8kb+UQMR7iMISOm4A+re4/irKrVjOPuu9r207rXR9G1u191zana2l/TyX33v5fK17mhazrJby2trMr3DOkgxy2G6ouAR69j7nkBeB05tuaXuptvVa+vXbo+2h2KSaSWr0TsvLTprqv7u/qj7+/ZT0xdE8SQ/YoWt7zVdMaKV5svIS/Luq5yoboDj+LgDOF87GYhRg9Wm0+istlfd26X1277H0uTYeTqL3XZ9/O1trtO9+mz1vex+q+h6UljbQxS4Mpi+XcAPLmcAmTgcZyep6884G35DEynOd7vRW+7z8/T1crLl/TsFQtS92OzXV3a3ffv5K2t3sIbyaNpLSWNvMMo8kbcpIxIBB6nOCeu3HTnqvBOW6+97ffv06317K561JOCfNqk+VdPNf1aL3bcdj2LSrGNdMjQwpFKyhhHFu5G0cnAAyGOMHbj1OTXPKTaurqz1/wCC7fou7buox7YTastX0d9br7l1838rHaaTZotusyq5mjIVA34ckHaBgcj264BArgnUbdlsm11TXW+yTve3S1r67nqUYydrKOjs+ullr1u+j3XqezeHklcRh0VR5Sj5Wz87cbhzwRySD1x07VxVZNKPZtvzf4W1TvqnZt9FaPowvFa68z6dPLz30/G+8d+SaO0/1m9n+4sgbnO/OCv6ng4zgZxWU24ptvzVvT71vZa73vY9CjByVm+t7bW3teyffS99d1raPR2lzM9tmGPkJwWHLMcnsB3GMZ/75BO3hqYhSaSu3s7+WlkuuvVKL8tTf2ElbmejsrL01a+++nV2GxSTKu+Uu8ob/VsAEHuDgA4wdoP44xtqbcycn56W7dNXp13Uu9ukvTo03a7atHXrt3663e15d+iOjsVmniaRQwYOpyxByq8kDPb6jOPXFEXTi3o7uPlbXTslp6R73ewmrO2u0vk/PTTTXVPbqrF2SMmVbhypyNgPHGe57ZHODjnvtzWMopu9no9P8991dvW12um8sVKe6XZfNfPv5SWm2jUkFrC97D5bZHV1/icnjsBxn68fXNFRQUVpo9/l1W7e19Pwtc9TD1PZp80XK+mlrrz26etktNUvd7a3jjgtwEV/mJ3YznHoSeB0Iz6delcM4J2sklvrq++iurau+7vunZWNWnVd4pLZ669+id9e/u3+dzorLyFti7bVIGVJbG1uvOeuevQc98EBplaEXdetrLXX/Fa3o++65zZR5FzP3n5K2rWjej9NtfIsRNDC6yFyw2kqB93ce7Drjt2J/EBs3Omns35Xe2/n185d3a1jNJtrT5db/J2s/wDE7b3WqJNpmDvLynLbc5DYHYDp2yCc+hbJ2xOpHlaje2m7W1763j3duz1bjqdsZaW730Wi726p+Vn16leRLW4gIMRIXgBj90g8dsEHAHIbgnnAwxTrpJe7J+r7dXtq/J+Wm8dLPeza62/rp+HzGQ6W9xIs1qwhaLOYRgLJjH3uwY5wDk9s45LXFKrKK6XV7u/Ty7Xv1ta67RwnV5NOWXdP/geuj8teqL8KzLM6PbxRMqkPG77ZSfYHg5PPXjkEN/Cq1Pld1NPbvt0d9OnlftbTlI1eZbNPt/wdW30vp3dtpXdO0l7iR5jZyBt3zGSVYoABwAoBz6Djd9etXCq4w2b0bvddL6/Za2vqtXLpdOW6qw+1F+dutuui17/K9ne0uk/4RyGRVmQraqhw0trHmdyeo83n65LN0xwQwqaeLVneL32vql+Pn69bXuOc4vaL1vfbr5rz7Lr1vGMukg0q3sliYQ/bC64SS4O2WPAzy+QrcdR17HGQVuddTi7fE0lZ/kt7f8Mly3SjyyjzO/w67tJr7uqtovRtbMfDE15dhW0+doIsh3gcMXI/hVsEKOgydw68DBNa4eooLq9dr6ffrdP1W105XMarjK3vK+rbs1+l7vW1uu71kzfTRZ7iRHmiNtaqRstfMWRnAP8Ay1JDADg8AdzjORtKz59k2m9+z/8AJfz87vaWKqxp+en3+mit11s7bpa8p0cOmBWMcHyxlcCOGIE+43die/Leg6Grw2Gc5RTkld2T7W/G7010vqly3XLjUxUrpxVur0+Ttqtber8tEXodEtyGdklgUfLIzEZGeM855/i7/QYxXsRwqhHfWzvu9bPyVtree918EXRzGMdJpzel7Wu9uja2bXfu1sY8mlz293i2DyW5bcJWGRIPYpz36FegPTgr5dbCSg3JzTbbslF6XVryTej22b11d7Hr/X8NVjyxg47LVp9N9tNO/NbZrUfdRXD5jAeRBjeAoj57ZPPp6fgc5rieHbveWuuiT6apaevT57jhUw8bNtN38009vPbt17K9ilBDKiyCTfEwJKBCHJB9T/8AWGBxyRmodJrdN7XbuvWy31/4bSxrXlSnBcu1t76detk7v5+pKYbhAwcDEmCXfkjPtg447BcD1Oc1HLe65L2297T1+z0X/wBsre9wU5KMviWv2V1fr8vJ/PSVaNJZLgwOMQEDA9T6jIJ9T254zzXPyJuV4/jdPz16+XTQcqrUnK/Mm20l020f3dL3vbS9yvfQw28qo7zKuPlkVThevXjp9T3zjPNZ1I8ivdNdOmv3yenovO1/d7sPW5rNq2+7v2t066pNr0TKLRyx4WKQMGOdxA3MMcHuM4Hr275zXnOo/aPo+9/Tuov7032tZ83Y5qOqS1Vrfn1X4R+SvctmYiLyZoy6sQXK9f8AZP06ds+ucVpKpfS1l121ve62jZfNW+aOdt86n1Wln1t5prW+u3Td7ShErQLiMLIhJxvboTnA6/hnJxnnOKSl7OPwqTV9W97q/wDeXTXX/wAC05ehr2q5m3Fafj179+uz0s2RySzPCQqFJQPlz90k+jZAIA6fN9QOlZxxHO3HlSXXV6b76dPx/u2blLhGFpXvbdeidvlf7ilpsV08habA8s5wxAB+gOOSMjn264xW8N7X6troltp2v6NW873jjiJqpqlZRTSjbT5736aJ91rvLppC4iBiYQoeJEHJzjkngYHfBB4/iGa0vqr9+/fonfz73T1u9Th6+rWvk/S7fnZeTu7HKalHd+Z+7VZLYFWWdTggjqDyScHk8DJHOcLVU7O+y876u60Stf13WmtrtnYoxlG7bvbZJNNPXd8um1lbbVWvaTIgTtcYZgvVuhP6emOvI64zWqbi9LP8v1/LTzOOrTWqW/e2i7W1eru+qtr8SOijkgkhSCctvxuVh/ARzlWBJBH1x9BW9Opa9l+P/wBr1b1/T4Tz6tLZq9r6afpftZL3vvu0TpdssUtvNJ5xVT5Dnbh0/usScEjk5J5PJxxt66VTmtdW1fXRfK21unNG606swlTS1u/NW+Wu++1+2ml7Hn2vaal1lrVCshIY5YbXIOeOu057ZIxjoOa7Kc7X0u3bXazSe1ttO/LvKz6xKVR0+a0buSUW2+/Xz/DVdbWOMCXGl3JM8TvFKw8xm+4hxjPGc8jGSeD16ZbenVfN0Vmr32e/kuya6u91bVR5pUouTle3fb16vr/27v8AM4Lxv4ehZnvraFXjvohDcQxhAk4P8JXDBpMHCnAY/wB4AHb6tDFyuotJLXul6vot+iaVut48vFisJFxcnJ77W77LW977dEttL2l80674Ttba0vLSCc2kM+9I7i2UJd2rN96C4ikGJYcnI2pu9GG4CvfwVZtr3dL97b7/AMz077rf3rvl+NzTDR5ZK99G27W2/B9Vtv3SPiP4l+HYp5JLPxFHaXJtiY7G/WIoV/uOhXa/m5PIfPpg9W+mhJqKfV+it7217a99EvvaUvzvHUY/vFb/ALe5du2nn+HZ7x+JPFXhSTw3eXOoLfTTogLwiKRV+YnpJH8sm7Hfge7YzXq4Vzl0s07a9bddf6bere0fk8ZS5eZW0s7u+/Tra1uj12d9rnntr4l1F5jdW8TwyxMy/bTdXCrHn+FoHkMbPkD5owecgBcmvWTem3o91t522fe1k9ep4k6anurJu17ba7pX39LPy6S7/wAO/FLVYpTY3+taL5kieSH1O6ZAsIO5vlmlijLcYOTg9OeNvRTqu6ula/8AM3bXq7fNaO2+tjx8bgVZuNWS00XLvpqtE2ne22umt78p6tYeKLDX9Nn0a41Hwbf2ltDJIkMul6cvnSNyyNc2UheTft2hmJcZzuYGvQjWdpe6t9ua2iXpo7262tutmeRTpSpN83vpvRt2t0e3nbZx10vqeO+I9K+GBDfaPh1byXjMY2fw9qjw5JPLxxXAlXJIzwOPQ8VH1hvXkXT07eT+Sf3cp06vprpp6baddL9tNejUuB1O++HOmQCKyj8d+FEI2XAlnjurZ/8AYkaKOMhT0zsBHYEDax9Za15U/Vv/AD83rro7pK5Ek31dnbTz18117P7zh9c0rwPqvl3vh7xxp/MWLrTNZlntrtLjHyvbyzRSRTAnlkbA75HRdo1YtdrRtpZ3/C21tHb1djWTSgtLO1n5tp97K7Ss97X6Hk/jaxm0vw9HbanpWl6xYQyPJbalphiS/t1fhmDwj99jGcFBk5HGMtpGdOT00TWvq7v1TstIrmT0s9Lyzpeb1etu+u3W1+9vKzv73BQto1xb6fqnhjWZJ7qILBqGmXqmyvJAuModxaOfaeAwIyBn0rOdRczSV+m+y7r3dL2S307S5fdiTcZuV2020k9Fr8tPndvVO97npNraTaHp9trVi8i2Vy7K6yozNaNKpEsMgGMqHyyNtGAARnG6sXK++jurq99bJr13fpt0NY1vaJQlG2vfb1WvXTR9fJ83uvw48U3uow+HLO4aS9+y6pJLblss91FBIjpCRhmklQghQQpKZHPG1QqtVPZ2vpe9+7e23XvpqkmrcxrCEVOz+1FJK3k3b521tZLpveX7Tf8ABL/4k3fg/wDbU0aTyEg0Lxfa3drrmhnNubW/khAstQiT5FVTJuMp28ZwB96vXwlVwqKNt3q77X/N7N6X3tax8fnuF/eOak2rpaab7Wsmnv8ALz1Uv7yfBly1x4fsrosHSe0gZXVsqxKjO0/NnBBHt74xXvTafK7t6bX28r6PT016WszzaFT92kkrrRu/Zvf3X3/DodTYhkRkbHJyvuMce/1OfoF/izOtO6XdrTyvr2V/l9yO10V8WsnHP2hs89/Li/2W/n7c4zXPWi3JW/lXXzfp/Xe1zaKsl56/1q/09D//1P7acH0P5V7B55Kv3R/nvQA6gAoATcOme+PxP+fw/CgLX/P+v6/U8P8AjGhuPD17dQmEzaVG11HBKvmw3jovy206ZI8tyQCQP+AgE02rPv8A1/lbt5pbGNdXg+3fd+fR6Wv0+6x/Ad/wVMvfGXjT42eLNW8SWKLqZnudP0bQ7KWZNL0Gxhm2RrbW54iedcO21SDjqRxXzOZRTrTfW112vbpe6dr9VtdK+x7eR0XKEJq7tKW3/B1stnotNrv4fzF+HPhW703W7u68qZbTSzHNe6igb7VqF47qv2GzfACRRFtsjgD7rZ3ZLV85OdpOz11Stp09GtVa6u+b+8lyn2cIKMldvRaLaz6fad+vTd6t2971D436Sb+/tL+WE/Z7fSYp7WFw3l3Fy0SlInkXO4xuu2RDyQfmXnDTFe0m6ndr+6v5Unrs/JaLeUtOXXGTskt9F120Xk3+nrZqX5167qkEuoX1xMRb3MMxFzpoxFGNp2lrcAnAIAOCeOTzna3evdi9dfkk+u+vey927XayZ5lOovaXvbXbun020+6Xy+1FaT3WiX1j4l0SVNySxzCHdlLlEYO8Eyj5WG0bXDA4B2kHJrnc5cyb2tZaWa+9a3fSyVtbu6jHtqUFUfNfXl163+77ut7at2ub/jbSpoWg8a6Da3Go+FvEKC5ltrYb5NCviALq0kQcIiyZeMELmN19q0aVRWu72W2ltdr+nVLq7vVcvO5ey1Sel1p+fR+au/Wx5oNS+z3i3Frewxwu6blwV7fcmQDaWUnDEjgdWGfmlUZ01ZN2a0t2fl02u0k/ktJTCvGcr1Frt8vWzv6P8dpN8SzW+tq80kumo1mBtdBFF5uRztAK5OecDnJOSDww4VNNXbfbtott+u8vk7Ny6HUo8rfKvJJtfLZ6pPTt5p8pwUD6ayXqywCW5SNRbhHXLtu4K9yc9T27dafK1dSd3ft33TX39ZeTOR2n8C0tfbS3bprun+TukJqF5qT2dvbSstrAxOI4lxK3HAOG5OD68dP9qjz3+dtP6uun4tS1hF28km/1tbb8W+v92PaeCvDwijPiG8ljgt7J422SEBrjJ5OCPm25yfx+7wamdRqMr6Xul5K22uttui6K1+bl9LCQhopatyTtd6+WjbVrXvpftsfpX+zPHHqHi6LX1Rns7XTYlswFKpLKW4jBJwScnjnHqcgV8xj5rXu30b1tb1trbXl2VrLSR+iZPRp+67a6J2u1dbWttrK299Gla7P1IsYmW3N28Qd7iXzGWThU4G2IHHH4f+PZBX5uc2369notNfsq+uu+t27K75ftqcLqPKnaO/8Ala716P3la2sNkXbayN1f211c20YRZsR7QNuQer8AkgY7Dg98/Nx1pWT1uvLrprbV9fNWv8Tsd9KGquuqTT9N9+r7pbrs+b1BLe7edo0WFFIQxumNqjHTPQsBnd9MHrWSd4v8Lu/dK22269eu5rKPLOCS1a31t+LTvutnby906iYR2tvbxLhpCU83Oec4yRgDJz7e/OTXnS+Lsl00tdvRL8XpZ30feXq4Z7b32fouuy7Lokm7K93zd/olwLG3jlVSW3AhXJK8j7v1znuMd8gZXnraKN9nfpZrW2mr7Ltfe2p7OHp+05uyl5Wslbve/wCGunLZKWrH5lzePcSxhoWO5IhwobucYPPf+oyBWNb4NVa8d+q6q+j2Xmt7205j1KUEnftbS3/238393/M7O1mmEC7QyDB+UYJ+pIyV/LjPfBryJW9p+O34abPTZHbTpwkt79n+ff8AF79zobVBc2e1ohvBOTjJwCCCTx2B4x37YNbr4Xp52/re2u/VeQpPl+/Tb7vTfVJ/LaV60d1XyxH5qr8p2cYUcHPYkc5HJOeWHJbK6Uld2Vnrvq3/AMN0eidr290p+9NuT0eundp2tpqtbdPJP7LZI5XjKRBhlsbW4wM/hjnnkdM4x/DXMl1T0fyvt6u229/LeLcYqWj0ulp/w620fwu9t9mX9N06QSNK5wIcDd2OeMZ7kDtzgjqcZrKrK60e21n5elt011fV2u3Hvgo2Ti76f12f3/jds621ZZQ8LHgJu4bkEA4PbqRn/HrXNq7eTt63/PS2lvJ30Oqmo/f1f5bW9dd1pe1i3p1urnyy+5GYl1c5wo7KTgjPTBzyc98VnV/hvTtrfzv8rfobVYp0mk7PS34ar4bW1W71XQszXLfaxa2yKqxp8xcZXHTBIzn1znrjgZrhe+3bft96e3S+l7Jyt72dOn836a+VtfLXX0b0L32mT93EnlRqOHAyS3rgc9Tz2A6dDmpl8L/rr5Nfn952Ro217aq6et9ra/clzdr7OTpU2RkoGyPm+VMDPoOuTx2GCT1FEHov8079X/Tt89zrhCO1l+Gmm/S2vqvJXuXLJ5FVJNpQvnp1KjkFugI4Hb644roWkPnfXRX0uvW6Wmie2urOOrTV7NJ38tHfpu9bq3xLdO+lje0yzbVLnFyirHkkybcnPZgSM4BHqB9MbqSk5tXezve/bprbv3+TujiqtQ0UtdPP7t/K1t731tyHWrZw2zLHFcYXoxKgpgdwvOM8AADnHfAFa80VFp2T6aK9+219tb302S1TM6alJpJPTZX/AFvv1emv/pMtubpbhgbrdEwCrEseEwDy2ORk8cn1zx1rhqTUX9lLW6666K+9+3TbTds76dGUtJX9du+mjdtLpaXd1orWOitLd7mfy5maREGY124TGeuM5znOeffgY2zBOT0vfr12v9+l7btdnZoKyjBSW9k3+Xr+VvJrU9A07SpIoQYUSLYf4IwobPfHXjvk/goHzeth6Da6p+jd+/z07dOlmeBVruN+m91vf52ja3TVa6dWzW+zyKyqQkrt/GkeFPsw5B/Bhn9U63hZu1k0tO/+X/yPVvqjy6mLSd29VZ+b01+1+i2T1tYtLaLCsmXRZH+YxE7AOhGGxkD8eenY7e+nQdJK62tr6rzbt8lrf7OhccRGaWqstOnbVW1/Fq2/vac1i3trwxudqeWy5lRvnz/dIPcY9/XOa9BR5l0e366dLO/VqVv7yS5eCvVatZta6p9tt7K1m737NpxW8c93aE/ZUjCIzZZwuee+AdwTPqMdccAgr52IXNJrdXd16bbXu9+2+z1Z2UVJKMua11tr+Gut790/ublQks/LDlj5iu2WUMNxA6kHpx9RnHfquVLD8zvZ7pd/yXd30v1Vlb3tqlWcY6ztZffba++lvLTW8na5C2nxxxmZFDI/Chn3MoHUZGMH8fxH8O8sHHZ221WqV/8AhrdY66tbxFHMJKPJz3s+/qu6avq911dr3cm2trBfblUeVMAcs5yqheh59cDoRnd3yCvPLBJa79l5PXX3X6NWT20shfXHFXtr1vrf8fu1dl3uzKu7doJk4BKtt8xB6d+ODyc9u2M5+Xz62CkpSdnbzVvxvt/4F69ZdEcU2k29+/fX10W1+3RbCXNvJOreYoliA+YnGfqMD0/3fTB/h8utSk9Evwfk7bq3nrf10O/C4l/N6+dv+H3etu7tczn01HjUJlCpJU7eOvfgEfg3PTgD5eCrh5JN9Hf79/Lr+Gut7Hq068ZSScl31tqrdL2/W3W+8aaQvG5icL83BO0/OMjGOPTH8ueWXi5JXt/XXpfpZ9V52udznFK/ru9vX3fK+0dNb6FYWi7pUaPaWBIHJG4c5z0HA9CfQjitGuSLTu7/ACf/AAN9ddfO7UsZVX8K+HR27fh27Jr1sWIlkmiRW2EwjGwAB+mM9yQR3JHPQc1ywf7zfdtX9Vprrt5au1tNWYSqNe6ne/r3f4/fdabq8YmV2UlIxmMklgOg68+nHv8ATGDXdf3G+2nZ2VvyXlbunf3s1LSzbXT7+vTVd/e36bEUV2HfpnaCCCM7zwNpHI7enPUluN2Cqq9l3X4N/np8/kWoJKz3vfttf5/j6KN3zU5YzLDI0cbQh2YtuOULA9k4AHHoOvGc4rupytFLz+a6a6Nba9Hb1uZupZpK/wB9mrff300b93pa8cqODzs/vAPmOQPlB9M47d+w/Ilq5/Lbz/8AtdPul6q/vdHLdJffeP8A+zffv5a2uaMcTwSpuIfb0IBxtPBz976c4+vZaU+vmlvfv/dWjWnn3drHBiWtEtLaWt13t5X/AFNFvKnDMq8jldo3bSPvYHHY4xjjrxmuyjLvo9GtN7bdl5W37Xt73FNOz9H9z0vfRab76+RgTzlZFVoflDYIC4OOp6YI9/m/Lla7Oeyvpe/TXa/l16Pp/eveOMEm9VfT0+e/Vf4vwuZOr2lvPCcI7I4y684U8cj2B55x/RrVS/XXtu3+W22j130NvZx8vXq+trXdtrW673djz6/sriK0mtNvmxqpeJmz5iHqrLjcQRnjoO+ec11UqvK07/J9vuV10t+duUyrU17PSOt9HffstdFqt9u6k0kfN3jAxX1rqFxc2Vwuq6Pby7/KO2Vo1OFnACqZGCYb5hnIwMA7m+py2d1fa/Tq2+19dbW8+uqPkc1oXUtO6/K6trqt1t3u3dHxN49iuS8seqPPf2F6pVL2O3B8sFdy+aFBaGdHIQvkYznnJr6qhXSlGL1V7O7tuvudt1ytK/eyR+eY6jG8uj320T++zd1f8fevFR+VPGXhbTL69tobndauY2itL+V98F86hgIJiNqiQjaFY5+9ggkZb6HDVI6ap316emnxJvqtb9Nb80fjcwpL3na2/TZ9bu+vyWvS1/e+b/GGrXenTroT6Tb6fZ2ku6O5nsMyzvnBMc+0ZV1JKk7hjBGPu16WltPJ38v63ffc+YqLlb66u+ml9/7ztrbrbm01Vjc0LS/g34sgC+K9Esrq4MfltbyMsTmUcbkk2gjOc8gntggnbpT6apO/W3369umyW+6Tl5VW803Jaa7Xd0raXtppb+Xrpoihrnwy+BulxSN4TtvFGgaj5gMklmVewjH8KrNGpLBuSu89OeMV3wej9fnpv087aN66WV+Y8mq1F6+Vne3Xb7Ls7rpZ9Lby5u28PaREFkbxZrUMcTBjOLb7bdRj0Qb1K9eg+mVxlr5F27tbbdfybW7T9bxemivZrrZfNXa2u7L4u3dHE+K72GQSxWniWfV4FfAg1TT2geQJx8yvwOMjsOMdmLHItb+XyXda9NNdL3tpe8haa6t+WiVl0XTtum730TscjbaJofi2NZbfUvD+k65bOIlsr+2VIJnUHy/LkjdQHYY+ZsDnJ7ms1Q1fvddXt1Ttpe9n23eilK5M78r6+7q116em2rdn2V7+95B4zudW8NX82meINLLwbJGS50t2NthTwyAkgqcZC84wclcCt4UV/Nrvt1tf+ZLV2e9l52uZUrvXZ6+d799NLdG2/wDC7nGR2Nhr2nTNpbRvImyUwTN5UwwRllaLkFT25Hb7wBVSjZ2Sur9bK1te/ffq/wC6naVVI7vbsrWt06Xv1vorb6X5pen/AAx8QrcQzeE9Yuhe218GtVSVs3Vjcr/qpfSSMMNuVJO1sjOCKntZ26LzuvS219rW3aa5eXCDtK34v59OnKr33ve1nax2XhnUj4N8S2VvLPta11aOITISfKbz0h+0bW4VkLq5O0Z24OOtFOLdW60dkmuq9NV+O/ktY7VajjFTvrd389FdP5+nfW6Z+lXw4vtY8IfFbw94lmu3utTsdVWSy1G0uHtZNQtLmGO6h5i2lvJwFwvA+7k5IrvpO1WNt7q1ttW9Ffbv09VeLPOx9NVsPOfWKXnd21tfzu9ea/Ne2lz/AEPf2YPGFv43+A/wu8QWsom/tTwnpVxPtcSss5t08xZSGJEm/O4jv15GG+jj8EdL6Wv3dt9LK6/HotW4/G4aV/a9bT5fubWn529T6LI8t4ecDocdiRjnrk9OuM/maX9f1f8A4Pq9z0o7LSzt+C2/Xr1sranX6OMW0nvOx/8AIcVc9eTU0l/JF7f1/XqdC2Xoj//V/tuX7o/z3r2Dzx1ABQAUARSHbjHU5PTqRyKdrau6X3XV+nf+n0YHmvia3m1DQ9ajhtlml+zXLZfGwmNN2WB5IwMZGAM5OcYZPq+nn+XTXpb7r3TMqusbJ3126/cr9dNvP3deX+Dz9uDxfonjD9oH4xaxqSxWtn4fnvLWK0iRXmFxaTy2srSKB+7R5V+QsPmPTHO34/Nq169Rwd42js09Fv23X4bN3bPsOHKVsNByXK3JrXt6ysra9V5aW938tvGHiHUtNtJYdLt49PhUrewBiIgbVV3l2J6yTFiR94Z7ZANeIoynLRPq7q+jfTpfVP8Al6vS9pfST5VNPpom12W7+Xf/ANKu1GDUfHA8X/DvRru1RTeaLcumo29yctMAQPkIzlW2lkyT1wMYJq4pwnySi0tN7JXl3vt02T20tZzkqyhOnzRfM2rXTv6X3u3ps/vufGPxZ8LWum6rD4psdPF3pWrgPd6fER5ySkfv/K+UfOpUkLtzgYwMgr6dLlmlDmV1rv2sl36u66vpbRniOFSNR/u5qN7qSX2vzs27v7+kjgNMstH1e2ex8N6yLXUDIZ7DSdX/ANHuEvATi0jZmIkSYZUlRxxuU87pq0YrZN6Jfot9ddU3zK/LaysjqjWcbXT16PstNPeur23fMtrdObo/DvjDUPD327StVsbqOzvFFvrGmYINvc/dW/04OPLJjPYkbwuPZs43g7tNJLr0t1eitprtvqr6F8vtH1X2tfSz05Xra/kr396xvXfwri1DTU1i30yS9s9rTJeaeDHdHflwL6yOArjgERu4YncM5q5VWneMOZWtzKzs+q9bvtpteKb5snQippOSi7J66K13/itftrfl0slaXg+seE7OOe5W7TVLU+Ywgg/s+5JYj1A+6owect/M1n9Yl/z7d35fht9348trS2eHi1pOLfS9un3rr2XqP07w1pUNsZPsl816o3ecYn2BOcAE5+b5WGCBg4APBqJzvL3kou17O2vnorO97ac35oinRlHmUby13S+/e669Nl2ukR3Wj6hdzRm20zyoYsMJr5wh2ngsFwzZPBC9cHjGMVnz6v3rr0vr111u9+2u6erOqFGpb4Hdu+vl91rei+dz0rwd4A1HxDqmm2M1408TTxq0ECsLdASDl+m4KMjOOcg8ZAXlxFanFbpPfs7+fS99/LXse3lmBqVJJuDS5mtdVey0TVraa2V130dj9gfgf4LstLeysLW2SODT7aENIuE3ycAscZyWKjaAOmSMg18rjqsXzcsr38vm7re++tlr2s+b9SyrL404qTW6u09tbLom/V6/4Y6s+ybtWgtrdUiSaISbxGSQ6ScAOSOG5xjO7ggEd68LmbT1ts7+vT7u1r2bsr3l9VQpUacLc++71unruut7t3vpbW51NvGzLBC1swZUjlDoMKrtjdknjp1/EAD71ctWW9lfovN/mrLpZ+V9o7uKunBavy383r0eq0fkkkoy6KRmgjhZNzxjBJtzvKvkA7xkEEcY/TGAVyhJKMk317rVa7br523tuZSp1OePMnbo3qvnv5brva92dNYzxXrxSOGLRgBU2YbcM/MAQAcemR77smuOa95+e7v89+l27/gerhU0rpWTS+XX0ur20vtfTY675pDFHC7krh3RgBkg9M846/7QHA56LhWTcVbVb3t5X3+d7JR7W3PXwsuW+vTVdlve9trPo29baHVaczvtRUGHYMxGPkAHJ/HOMZI+nVuWrOLjs9rPXrr5Wt8o26s9SEnbtfXffsn8OnXeKW9nf3fRrC1je2G35mB+Y++Ohzt6ew49DXlT+Pm69v6W/nZ9Ldo9NK6Ti9NE/wAX9+jVtOvU2bdWiVl28FWBK46kd+nHA7r9Dg10RlePLqm79l8vtXv35uvWyUZ1ct7q2/8AknbvayXTpdIn0W1k8553yY95wASf4iRn8Ccc+3GBWU6bfvdLbu3rZa/P5p625Y9Tgo0k12td7q6vr3WnaPodW0Mcjkqqg84OOnQdu/48/o2LVvJ/111v/W25zptta2vp39Lb7/hfpewJaLAqBgCpdmb5uvPcE49+p6YyOC0NNLstvV/jfXTp1bTVlLtp8217X8+z6deulr39HaN+KK2V9sW3L/6xh1x046cdO/AODjBrOTSjfs0vRfc+7vdq7W2vMbxqcm7vr6ra6/Jp9/nzR1P7PhiI8iQvxuZt3IbqRwBzxz6YxknIrGpJcslrtuvP1Tvvfrfsrc0dFjIXt7zu+XVeXqna3e99+6KBU21x8+f3uVLHp7YwBjn0z1A75rD2b8rej/WSWvk3s+yZ6WEp+2XMnbTq7N66O/e9/s77XXvlq1VJZSmAXU53Bm/DBwMcexznkAcVhKVrx6q11r/wLff0fdcvdVXJDlet9brr279LP7PZXbubwEilA6l06L0C7unJ6n26ehz/AAyqkUrWl5X/AOAt36S2drXjyxDm5Ha339Nd/JPdrp8ze02wiKmRsnn7rfw9R7j1IyDjvu4ZOyEXKk30s3be3XpfW/bmv5W97zqtZqai029k7aK1uu/zvfrZ3aOwsIVdSsMaxrEpJOANwJJ4wCOMe2SODy1KNlFvW2r879renXW29naxx1Y1JSVrb7vXa/otrb99OXaMrw2/mHAZWPO5uhP0ycZP0J/EiuKtU97S9tbrz20dtdO6VrvppLswsFG0ZrfTS73s/LTvp1tpZlqws5Z5k4AII+bAwfbuT2HPXPQYArknGpUkrSUV93mn389X8pW932FKnSg5ct1bTfro76u/e11qrcz1PT9G0aAuP3T7io2uW+UN3PzMM8gjBA65Gc/N7+X4KcoczcdE3vq/NJRSvpe2va61Z89mGMpptrm176WWlrPmdvPr8OqtY722sM+XG5xtHCg44HqeM44zjPX2Br38JQ5lz2dlfv8A5JarXePa17s+TxWMhTfK5Xe6a2/Pvtvvsrsnkt4IvuxyM4OQEywUgd1wCBk+/pha7048yj7Obtpfl3u9/T/t3ppHdnmVJczb9pFLtJ30066fn9xGlotywdoZHfPzxsjL78dOcDu3HTjrWscO6tklbTr/AJq9r6Ptu7J3RzQxiw79739NOSz362unZeml7+9dj1heF5BAhKdChPzJ9M4zjPv75wQtyh9XXvdNPdd/Ppuk12V/K1pdkascSvcvF7vm0t7vq32+ymtFy6sypoG/enKZYneWGGIPUY6DoemcfQ4Xw5Tcpy9yfxPp6/1fr2erj6tNy5UlOnolompPTy+Xm9L66SKaxKrxhoXkhB+YJnnnDZJxx+fHpXo4fS14ta9dLfhtp226bo8/GVpQTvUira26/PRPXo79HvfmLM+moQ7W8Z8pgWVAclePXg8Ag8/qea76lB+zVRyi7u9uvzXLbp0+Jfy2aPKw+OU6rg4yTvy3asn6av8APfe97GQkFuVeLlJidgK5x6c4ww64/qMll832kbuPLK3ml8v+Dp0snL7Ptcycfiu7Ppp3Xa7Vrf53sVpLZIUVpRny2wVyPm5z6nk//rU5AbKtUhyOHK3bW+33bPbz18tTaEfdV5q1tte29tOmm993rdIozwmdiYUaOIgblYkdPTqenHHb0BIryJUlq97303eu9tEvzfnex10pxhvLputHtp076295Le7+1NHZJONqFY2jyBluo/HjJ7e/HY1nLC89N6xjvo9NPNJvy6x26WOhY1RqK0ZNWjayT79bvpbdvTXS3u5stnKDsDqwR9wYgZyR93tjH/j3B5wDXh1MJ7KTbknZ9OvXV6Wd21b3tO17HrQzBTjyqEk3bVtavy6a77R9ClcxCJtjAF5VyGHRcZyM9PyB9cHNcNdqUmkuy3677b9G7Nx3tfRmsK6ts5Wdl8+ltrq3963R9ZVfshRRJGwSUA/LnJYfUrt7dNp/ActnHDtPmut72/Dsuuzur3s+V6jddWfu/f8A1+OlvleQkEmGchV3RsxIOPXIK88k+4PHO3INaSsotbu99vLy8vW993a5mqybtyu2931SfTR7+VvUyvIVkkeIsjochCAckehHXP1Xrjj+LgSftd9Py8+l7bb/AHHbzNx23ur39Larzs+nlfVyici8t3VcxSx43pg/Pj7wBwQev1JGQCDXqQs49rLrqn5q2qemuj3tq/h5nJQmnJd31Xpda7td9HomrOIiQxJb4O0OOcg5b5uxGRyRx0HQ8nALO/KtfJ37Pz0122721vodiqxlFRta11e+j8/hTdrLrppe2xGGfCo23aMHdxkgZ4Pp+oH44V03zNtaJa2evy2Xfz9dDirYeTfPzrfS21r9uju+8vJ6F21gQJvQ7nYngNgDPrnt9AOvGPmDdMJWdls9Pv0fT5LXpd3vY8+rdPl5Xrouy+fdb/k1ZKWVfIYpzvALseGXoPTOMHkA9m+q5NdMpXgrd/VW8vzWne7kl7qp0tbtr7tfPqk7X7rfrb3mIAGEe47iOhClWIGcZ2kjI9PXPOMURm1um7W20t010/G/ouo5y5NNWvOy1f4t7bpfK7iYOsaR9pl8yDCTnajqucFeOg5U8ZPQHsN3ArelU55Wemm+nT+ult+ytLL2/TkaXd26aW1Sabt3a9Lo+dfin4fm0pW1O2GZntpUmQjO7pyygYZcAj15ON2c19TlmJUWlJara3f1drX06L3d+bQ8HMo80JNR17rzte22tvLV72u0fFur3FpA1/Y6xbk2+pJGItikeWHAMjJIB8jKTn5toxx6ivraEPaK6fKrX1733urvXpq9O2rPzTMJ2qOEo3V3fXTXVvTSz6dVqkne8flH4r/DDWNJtDrXhy7GsaK2ZpIUYzPCTj5hEcmN1HQg5yM/73sYTmppJy5tbrpazf4LRfEm9N7NHyGPjzX7K6d0mm7paPXd+u1rRsmeCS3eheNrKPQfEIEV9ZnZaatHEBPbN90Q31upDSwrnHmDcVAyAP4vfp4iL5U4vVW1emm8r76avbbTWyPlMRDlclLfVqy3Xe+i+Fb9dL3s0eVeLfgBrOpx/YNO1CTThK3+j63pkzNE+eVYFMtyAQyHDLxn1rvpxi3rJLbW115vptpp91/hPHqSila0tdddtuiS366Nb+XvHw48JfF34a6hJY3k9r4w0SXbG0Gp6dM00gibCtHNJE6ODnAbcpxk9SBXp06UbfxIvrZer6db2bvffXSx4NeEpTVpLSz26dtOvTS/byj7pdeEtY8WxtJZ/Cq4gnhXzLn+z7tdOaHjmUpINssZ5OP9n+HgNr7OP/A26rTfRpa7PrsLZeb76X7X212fW91fZI88174ZaDdyCzvtZ07Sr8o+601ApmOUceV9qjGWdT97J5PB/wBqXGCdm7eb7P7XWzSb0vb3ebUzdTlfwyezbT2tol1XXTXV7XsmfPviH4BafC80UHivw9Z3pYyxzNqkcCzqeVZcOrK46LgZ6DhhtrB4eo22pqMb7a+S216dFfy5UzZu8I9L6r/g6dV6NWskk48vnL/CbxhZwSzak6+I9Di3xPPBN9qlRDkboywJkVl+YY25xjI/jpUa0be/tvdatd+mz03etvismTBOG6u766Wt+HfT1v7sdpeXap8L7rw6uoarojXP9m3UbBXnikjW3kYhnim6mFwRhC2FbsDnNaeze7fm9NPv5umrfu9+zZq3zxSWj1v1SfT7K/LbqteXwx5L7w9rNpqLSzxym5UieJiGyG657r26cjoDj5kqTVtdNf73W97+5rf7t+tzOWHdPVzTSu9E3p673a62Vt3ezUfqDXtS0rU7vRdctJAl/dW9qNSspceXO5QD7Yh5O4uoZ8hcHuxzTS5G5NqzVrdXby97v389PszVoe1oxipWd+zsmvitbtfXs9e590fCrVNR11PBXjy3vf7Ru/BOrWVtcaQ+8/2haGRo3JAZgyQgqGZlKhc5xnNVSm6lVPXe3y01Vlr6Jare11y4Yv8AdYGdNq94tc3RaKzfurVtLa3T/t7/AEAP+CWl7c3H7MXgqe8fLX1pJcW1qX3LYxNKwSFRn5VVQMcKPvYXivp6V5RWmyXz+bt22X4pJnwGFXJUqxbvzVZSXz0t9rZvb3rrtax+lU/3Eb1deR65A6e2fbPqOtatXbfTXXvZX207/wDAdrHsSjyRve6Vlppfu/tf+kL5fZ63R/8Aj1f/AK7t/wCi4q5MR8a/wRNlsvRH/9b+3CvYPPCgAoAa77ELMRgdBuA/x5JzjP6ZBo/r+uxTd+12/nt93y3uQN5ggLxq4ZuTgfNgjkjcMdOcj6fL1bSqv3cNenTe9+lk3Z7fo7ES281qvl939d7JHz58brrUNE8HX17ol7qEN3PBNFfyQsHH2Bw4uSVOEjcLna27Ib0AzWdX+A9P117dNXra727WM4fEr6aP+lvd3uvztufwM/tZ2Ni/7SfxS0Lwy8upWHiLVWuXv7sYSP8A0syX0U5QsojVyxJzndzkgZX4XHNOrNP/ADVvi1u1v59Lqz2l9tk8X9Tpy/vS+7u/vttd7ux8B/F1NL1PVNW8OWl1F58SR6f5j3CSRfZ41VwIBG4ZAGAxncccHGSK4I1HTbfX56rp1V7O/XTfXU9mfvRs9Ne3Zeq0b9LW3keXeAbqYateeFdRtDF9rtTbWl7a3INpeSQgiMSoSFjlkGArbiQ/X72atzdXpqt3q7aaPzty7WV79GuUziuSKTkl9/b7r/OKa0sm3y8D4u8R2mgX174P8WWl7BpzzlLfUREqXNjK2SkxjJAKrn58FtyDIzzW9GPI038T+6y17tvXr66KzZlUkm7306a6XXnov7ui7vVO54n4v8FaxpSQa9aWNj4t0K4y9t4h0ORDJbEbWVb1YZVks7mNcY8yJQ5zjp8vdFqbUvlp06aLXf59tbGD195200VvNNXa0s3+K1d7JGdpOuLrskVrfXeo6VfWVo5S9lSGe3nhj58q5jmJJYg4L7hjkrzmqqU0152b2323s+z38tbpqInV5LvW6Seluq2bvulfbtrzaIadU1C3maXSdcFqzKRA0epn7NI5ztZY0LCI/KD8y7RkDjGV5mlGPJtZ6vtbsrJ+d9NdddzD205Wl1vr3t0tvbo3r10tbmJ5Nc+LCbJ7vWHktCo/0uGO2u1hQ8YMnlAkkA9yfoSKzUbSvf0Wzfp0230t6axjrCu3boo9n6Xto97fc29UkpMj17UL2O6juLm+urKNd0tykaW7Ru3eIqoLNu+YpwRjIJyVbHEy95WS2W27953726W27K105ejh7ztulzd73T120vfo3tvdLSPSeCPDn2q7NxKLm8iWRZB9p3+dcSH7kaB+SzZUMqgjH90A7uCc0tX31s9dbX6Lb5d/e2PosJhnUXXzVrXv0vZrz630TUdD72+DXwu8m8k1fW4/schtmktNPiUFtzruiVsYKNkhSSuc9zgV5mKqpuyelvLXZ6q3RRTVtfPVo+ly/CunJLtLm16vT0S2Vn8tbJn378N/Dt3YWEMi26NNcFGlBHzRIuNilsjJ7kAc5zzwtfPYypdNJd1q9XffWysujutdErWuffYSMlTT8tvTpfrbTW0XprfTl96ki3rarcsXZFTEccA8tGA+YSMMZ4GM84A6DOa8d1dXrZW0V72fTdX0vt5t+9vHuh19V/XT169lvYt2tvcGCUMfs6SysEZyysozgFefunH5HsAVrFyTv57u6f8Aw+/d9WuvL20k7J38n231S/XTS2jlpy6dqZPM+zCUEIm13t48K/8AsnjBc8HIzz3HAbNvbvp53207LS+5pL7NunXfz876eX36o6jSYZVbdhkdW3RowG+QhT8uOOvJz298EVhPdr9fS35X29b3O+jpG+/9PfbZtb7+eqO102NyV89JElaQly/QKT0H3QMf8C468g7sau3fR6fLT5Lt8j08Pq5PfRdPw063T0V/0j6BpkEDXGxBmRQOAcqq9Q2cY+Y54+X6cV51bSO9t9Lb9/wVkradL3PUpxaS0v535dt+90vJu97O2ij2cLRg+WiqCMBhkLn1OOnrnp1yc9K8+reytdvbTW3np36bbadpdlOne7Td3Ftadf8AwLTW3R9/KPTadEAGbajBwRwwJAxz/wDq59icZrNSa3drPps79dfTq7eUX8UWs326S7Po/LXS116/zaWn20tiZl2+ZFchmAPJI7IvdSScjI/vAY4q1Vdu+3V6P7ne+11tZaNM6dJ07Rezem909Hbrrt9q3Ru947umWTO2/wAl49oZlRhk8Z+m45JP3uOM45NRKWvNs7bfL8L2tt5O+jlg4tyfW+y87dLPpa72btbSzcnCxa8uRviVWQ5OW+93yeQCfp1JzhOazl967bW1drenVNdN9uXqknGCfyu+/ZJt32fRW13sTPaPCz42ooxjHyrg8Yxzu9R83XPAzWc7uK3svPf8+ttF5bbk025XTbdtvV9H6WstXdbW3lfgdNxheB1UKOB/EefmyOhOM8Ekk84Jy3PPZ3fX07a21W3RPpbXQuUYqKaSTv59f+3tLX6811r1sOvLJm8rjCycjODtwO+SMHsTgYHGT1avs/jf8Hpp1Xf7rpnr4KpZR10ildX1+7W+qeyv01LlhFFEp3xqW7njceCMDrj0H3vbPJXjjFOqlvo99Fdvrprpq7fy763O6pPnhL0vy/5+a8nFrvsbFvZXU2JM4iBzGnBHT+9xz7bV/HINbToLp0fpddF9rRpNb6W3RlTrRinGVknrp27vXR+fvLe6jZ829BlVMUQyxOJVIwUx07Hqc+2RwDkVKnyc0FezSWidrN26X7fJPdrmUnUhCUXNcq5U2rWt995N7aJbN3u0rR6y3tB5cTNJtDcOo4Y+g+ufy65OQFuPwyfW2nXb/gaW3T11ulHgcoN2Xns1+Gy1Xk77f3hq27SSMdnCthd67jjI5B9OeuBzg85+Xzq1r36N6/f3W+l9m7rta8u6jGNuZu7sn2T7u/M9V5q3TW7Z2ul2nloMgktjaQuQCeOo/Edc+g4+ZwfNJLXdX01vfX81d6XXWKuo1VqKSa120W2kdlrprbv5+7dHqGlRQRqN8Cn92pZ3O7DemAFwfbHHOcAtu+sy9RjFWe+zvy3X4dNtOvW3MfL46/7x+T080tO2l7W1t2t7rj2NrHlcCJZiTnfjaeOQFOTkg4Htx16t9TQpx5FyrTyXl5bXu9LaebufnWJqVHV9569Em9Lvbv31vFP7y/GuwSSKpWV8qYywLLx6AYB/EnsCcGvby6hhpte1il1jdJbLzT3bvbTu3qjxMwqYpK1OUpd9WtOvR9Ld/lZMx7lZw7OY3Q4Hzpuwx7A8gjg+nHbPNGMw0KSbpba7K/bqn5Lt5p6BgcTOclGrzdm9VbrbXmWv+K2nV2Uaiq7zoWOwjO5duS/TP8Q69csT+pZ/KjSc2+a9r9b/AOXTt7r0+R76xChFezdn6pdNul3d7aLq7WZHeQW6+ZIqokikEFwQpPHUc+vONvPPOMLE6FGHa8dU7J/K/W1vOy8neOmHr15t3lPl9bW7PaW3r95mC4uDvRPLWM8McDae2c/L9fUe3LNyTnCN+WKdm9L738vx7draOfRXpVKkdW/nrf53bf3LtrdEUYxMyC4Cr984yQSecdOcew5H93ms8PWq1ajjJNQ222XWye/S6922/N8PLzVoQoUYu6c1G7tupXf522d/Lo4xzQLCfOgjD7j+8zjP1xxjp2znH/Aq68VQp043XVX6O767R103tp6fZWDxVSU0ndr70l1trLr3tuuibjizzWchcNHJ8x+XHIDAg4HB/lyPTivAqzjGT5ns1zf59bfNadnd830MaFWcedOykrpbL4fubT7JfK65Y2uoxDtaFWR+AmRuAHfAHH5+3b5uSc47rReq+WmnfZtdbXbuX9UqdXLtvfXttf8AL0bfu5j3MKkYhZV6EnjbjPI7tn2xwMHrluGvX5ZNK23r+VrfK/V9OU6qOHlFe83dvW/568t/k/Rr7VqYSSQAI8YidRl1GCB6k/LjP4DgdSK8ytKU9+vlp5Lr+vzsdkNPKz9Xt/Ndapbq2tr63sYF8k6nBUSFFAQqRygzzxux1x056DIHy+bKF6ju3d2W2+zfbW2u3zV3GPqUJR9lzOyd35t7X1svLp2vexDFC8ilpA0YjwwOOC3pjuDzwCv5kVs7qPbovxu+trP/AIZ6uShUhfe+ndaLd/1p5d5RXENxKz3CNH90AoBgYHHC8ZPU8H1HBrmclK/frrt87R07O3pa3vdMYxupWWu3Zrsn3fn5J7syF84SHbExPXd0GT6Z3Yxz/wDXzuXkjrUv5/8AD6db66afhaXS2lF677+VvK2v3+euxb2JC6ct5rfNsbBCtz97gAKeRjn17g12qfKt0r+W/Tytsrtc2+trWlwzacovfXWyXfbz79H63tKDyvMllLwqpY/KEXAfPGQew+u7qTnAxS5uZ6Nya120/O2+nW/dfa2Umnv8nv56/Lzv2d7FCWyZWdFRgcZAfv8AQ8DGM9duM856VvR0vv6dH5d/z8tmo05Xjbrvv9++r++3RRWvKyyMyCSMxkFj/eC7cHr82MjrjBz16da0jLa+luvZPvvre13d/KzMJwT95atO/r/w2j6X26Nyq6irq4Rs7SFYuSOMYOD1BOTnqP8Ad712qd4pJ+Vu7d7rZbK3rvZWMHy3tdXu/v2/ruZ1x5m2IwuVJIOVUg4HJ5O3PPHA9uM4Zfiv620/HT0d/dfKpPV+Wuy8vmr9NL3V7kL3cytGg2PziR/mDBSO453AHvgdOta0bc619fJf8HZb+j2M60IKm7O8u2y6rvbZ9NOttEjhviHpJ1LTJ5kc+clrLASuHQb0+RyONpBHOR930Ne/gZXqJdn7qvq/nqtVf7Ts1d9o+LjIp0p+j87dLp+dtdHvq1Zn5o+LrNrlrgSTmPUbOd41tCxU3dqnyvJB2eeNhvMO3LoCDjGK+8wUvcXZq7u/xX3308+h+Z5tSSlOXna3l38tPPd2tGz5vG9Wn1GwZUsLu0jtpkWSFnbNnOx4nhv7VsSW7KMqeGA3EgHAr2qF7r1X3afd326XVkz4nGx3ttbta0b79unp1bi7Rl5L4i+G2jeKdUGsJYzWu8CNzoxjFu11jLSWt1GQ7ZOWMMqJ0xyQNvq0FeUYq93K3M/6votPO9+rPl8ZH3ZaX0d32/F66Wtd6a3d0zidc+CnxQ0WSO88KarJr1jD/pZs5y9k9mD83lToHYynoGlVQM5fB5WveWGemvqru66X6LRa9Nre7ex83Ve1+qfX1dmumz7b36Wl1vhXx148s1g0Tx74H1jR7URmGPUrQ/b7S5VxtEkdz5I2ZO1trlSPqPm1jh6kWpc0mltulf8AXysuierseTWfvN2ta+u9vPe9r7aq99LGj4m/t/RtIl+w2F7d2F5vuF1SOS4nntQRkRTSI4aDaD91o2UdOVArplLmStdLZrpf1XWy7J6X1u1HnU23Z/L8Oul9EltFa6Xs4nxV4v8AiHN4YfzrzRtQ8RFbzzZi5jaazjz80qpgtMoALc5YjJYdQvLP2j782+2tt9/J6Wtp3jZ83ZTpwa5ZW89NVp0Xbbrp1SvY5G/1zwb8R/LuraPwzLJLG0TQ6gHstStJAvyuSHiwQ3OArYOR824baTqaN37/AH7ra+7ell30VjnkkpSSeidv63X3r77nl0t5P4Su5tD1KTU7OV2eez1G2ma80do8kRkpn92qgjG4tgZPGWDVzT823pa/Tfbu9mlrpo27qK0Vlf03/wCB1fXr3umejeBde1DUft+i3r2HiG3vrN/3fnW80ciEgbMAK8M2D8ok4yOGJGa6qbk4Jt6tpXfTTt666NtPpreMuqoXunp/V7K/fq+trK7PB/ih8J5PDDLrdtY3V74auLkxajZ7Q974eZjlJZBzi3DYw5O0Egc9Wrz28t9PLe3dXd7dw+sKVl3+S2fX3nrt52sr2aIbbQdHuU8JJbaguoW5RoZNQhG4W6FsmK4UhCGU8Zwfu4BOMVzVebmstI97bvpfs7aLR36WtaWymvZ2vpzPXtbVN2vrZ6K/3XcT3r4S+MG0rxVpuhaVqH9k2GpvPon2ub/j3jmefmabdxywBBBU4OO2a2w0eRqUu+t9LaW8+vZJ6XucmNjzYaWrejuut0rW21a3tpe123Y/0Kf+CQmpyXP7Mng7S5ryHUbvTLC5tJryzk82Cf7HdyRedGecB8A4IJweNw+avpaFRTgnGzV9trNdOltW+unnsfCU01iXfX3vSzck7v7raLV/y2sfrru85YVJxI7p8vXgYOQBk9j/APWwRW/z76dr/na76JaWTeh6lf4bb3t8vXRem9vW52Gkf8e0n/Xd/f8A5Zxf5/8A1VyV/jX+Bfr6/wBdtjWOy9Ef/9f+3CvYPPCgAoAqXqt5O9cnyyJHAG4uu7G1ffHoM565zR/X9f8ADffYfbbb+r3t/wAN33Jg8kkcbW4QlwOG6YI5Geeh9QemBjJFXW+Cn1su9rW6+vbRa732jElp/wAPp522fbdd9LXPm/446S8/hzxFJqGrzaZpsej386vBP9ntI5ktpHInONp3KCNjMoJ4XkYrOp/Ad3bs392v59d9bXSIim5W1bWmmru9Ld93fS/fTVn8AHxL8Z6fN8X/ABlfPFcXOnt4r19IZ9J8pjNBb39xAZZPMzIiSgEyM37tRluBla+ExdnjKidrO3W+v3a/Ds3q7bW977rKYtZfC0WnzT1ad979v5dno+ul7nxR8Y7eC8m/tTRNEstWF7PM8N7bgW0qwD70d00eT9pjAKuwGGxuXII3TPDKUYtfhv8Ak2tU9bp/I7IT95KUuttZeVvT5u210kro+Tr7WdTtpktY/D8UF1bEywuNSkW6hYPw6ynHlnPPzjHuRWVOnyScZXW2/ns9v8vO25VRq6s7rSy7N7rS6b/ptbnQz/EXwV4oji0r4laO9rqVsBDb6/DIt2UJASP7eMFpIx0MiDIHzHHFbzi2tIuSsvh16PSy0d79eu+7OWUk3bW1uuzvfyWtujbfpqReHvgnqkt+974E+Jei29hf3CCa1tz5ttJbScxi4j811LrI6b/NQAANjPIZUpVIyScWne+vTv8AzNLtqlb7xNrdS1Teiaa776PfVK+nldkmq/BfxsJbv/hJR8LxNZXMtu981zcWUkyZIMrxWgkWV5EAeNAo3Zxu5O7udR2u1y20d0r7a6fK36R1RaUJ2TlFN7338tLRtburrvF6uXNj4dWNnaz/AGG20zWJY3WKGDR7GSQyMRnzJGndmjhD8AtGvAyR8wC8TqKU/datsuvpe97vTsttXrIp0Y8i5LWbvdX08rbrTTTb5s4XUPCfii6Yx6prdtp3lS+Vb6DZc3EanhTNDbqqKAv3nkGRn+HOG6Ki9y6vok9e1lp8+9pfiYUaL5tvN7Pz/wCG2XTVanWWHhS4u47fSNNj8+KNx9tmRBM3nJwzTyqAFRME4bncTwOK8mtUTd7tq2+272+ei00WiV7OMvpcHQilG9k737STsvu1a1fNborJs+s/ht4J0qN7WRYVY6ckRQzL+8kuWxmUZHTdwuQAQAeMCvIrzX2Xd67Wtvtba7f3fNH1eEpqCjyq9kte+ltNkrWvvbppaR9Z6TpN7bNFOhCOU3zSyJxs9jgggdOnB9BXm1eZ97Wuntr5ff5J3u0rNH0GFceeKbS2/wCCtOiv5X25na8fpz4exXzpHIZCFbCkyH5WyOAvAAyueo5PPAG5fAxT1knd2dvPdbr3etvutZNWl9hhnB00otO6Sk0+q30t1bfXRa20bPYbOykkkkIO+RuUiKs6MU5wSMAA56/kRy1eLP2id2tuZa9U7Kz00s7aa37rU6Yp+97vZ6Ly2+X4tvyGz2cjbllV1ZTgqd+AAcEKMt8uP19cgKRnda2vp1sn3+yra+vqrXOumrbrZa/1pu9XfazetrmnZSW8EfkxBskk5U8ljwfmJycdemM56gDbrJ3SSb08tV+HXXuullZ81crn8N207Pt2T+5K2ui2tqdFpccz3CDzfMI3Pg/K6qBnPAAwT0AJOOPeueb977vRLrft16eep2UZxScftPfXz9Ftdbt/LQ9B0yIzSDeXO4AHI3Ybt6ZyMgnHscc1lWaUH5Wfmn+vlv8AfdR9jBzjeXnG/wB2rV/O6138pPQ760gjRZAWMcwICOAQWwOucYPfPPp6Dd51bSK3euv4dfdae/dPzSbl60H+d7Xvutem123suzTs4m7p6vMxiCFmXOZ+nGe4wf5ds8ZrnjFNO6/4KXS91prrppfqehTikm3bbRbfjta3S8e3ZnVWe2HCKXy5x8oBJb1PoOPoKwn7Je6ui1aWiu+3z21fa17RxlTm5NxUX3v59db28u7VtL2OihVz5MjhikZBPPzY9MDt2PA9cnJrG0W9N1q/z1fr0ZcFy3umle2nS/l53+T23N83Egj3W8TggdXyflPUggDkdeMY5BIPNRJa3202fS3p36dNk9yvZzbb6b9ur6/13KcEMqsbgXMiqSS4ODjGDxzkZz07/wB5erYxneTV9LdunS7aT2u9dulto9CUalqd/edmk1ddW7eiutuyVtS/bFrkhZCWUDaGx8ud3HPtknqD34wRTnKPK15qSdtPO2/l3W1krWCVJ072SvfR+ive/XV9mvKy93egtB5yqnKgfNu53npjgMQB16exyd23C6m+WOr3XTZ/hdev42jyS5/tPdLt2dl281o/h66czpIGe4fzkURKMDORn02jJz+GBjruJzWklypL1v66fd/XmdmGbSVn01V+3pe90r6+aVr2C3ti8u7CiMNjqd35Y646EfT5cZbkUJe0VrX6edt/K9r2eq0s9m4+mqqSjF3u1ta910Wrvbz97ZaPTm6ayt54tyxj5TghWkzkewOAMZOcHt0JxXWnyr3/AEutn33fp10ta6scdWq23yL8bX/CXkt/W6TNu2hhM4eQHdkArjG5u5YjqBjrn8Fx83LOVKU1GF7tvR9fy32taffW1jf2s44aae3K+ruraX6dvl1vqzrRa4VWxtC8nnPTkAYUduMccc89K6VQqKnzaWem99X/ANux7d9+32vGp4nmnyXs7qz9dN/PVbf+A3Zcgs90igH5m55zjHXPTrj13cjAbjNeRWi5OST187a69fhtr2XZ2V/e92lOSgurcVbyvrZu17ekfLRu8uv0+xaEr8529wB0z0znrjr25/hOcrWGpyUve16O3pbR336bL5axGlKUb3bu72bt1/XW7b13Sjb3u4sYtw2AHAAYseFPY5wSc98DgZ6nivqMGublS2vH799r9LXW10tW7Pl8DMLxU79mlbrpZJeettvs62PQre3ieGBsY2RImIxghxjLc9cnJzgYyTz0X9Lyylg/YPnava97J9Hpa8dunXva9pfjmZYytHE/u+bfVNyT3X4tdbLyktSleySLJsUpDGgyzZzI/fGQG+bjHHPOBnJNctdWqWoWtf8Aw6b3Vm/Tf0tY9TC16NSj+/hdtdrrqr62S11v02fN7rliyPMV3GV2jJ4AUk8Z6gqp6c5zz6HFWpytfEXeiWmui7aW12208r8ssVhPaXeHcNe7cbLv1Vu+umtr3THRb2DMrAKF+6y5ds84B69Mke3IZelc1SpB3VJSv5r/AICv3duXzT0Q4U6kJKNSULt20d0+1m7becfLW1ypcxvMoOx5Ex/q9wyjf3uxIHfqTjjoGqPZqouz6p7X+ffbbS6V783L00MQqMnd6J2Vn01f93bffra7uzEFk4LiQ4Yknyxkjb2Ixjk4zxnvng5rmqYNbtqz/wCArfD8rPl7dLnVVzKPLaLk1bZ6LW2j0VlZtfor+7YCIkJAj8s4OXP3geOej/qR9BV8lKjDRXdru23kl8Ojfa1vnc8tzrYiq7tcjtZbJL792rNv3barm3RkyuJV2rM+VzuZB82PQjAyOv19sFa8+tWlUb3a807Lrvtfpa6at/4F6+FhToq7a5uny0+S+Ur213ML7PJG0kpkkaNySdoB59MZGAR3GeevpXzuJhUVWau7KV7bJdnvfTTTVveyuz6rC14+wp6qysl8+vRvW2u66J7yqP58Mcko24RuY2X5nU8ZHcYH17lQcYrzpzmnqndfj6XUu/8Aw17R641U72av2b28tnvrrvrd3tyleCN7pwxf5MH5WABQdvqB0GR+WK5+Wc/e3v8A8DTS34Lvor+7tGrT5dU27X0u099Fovla/e+hpRRvkQlVMe9QZOinPAyvPTqeOPvHOBu0jQ5vivp5af09V8UfxcTCpiIrWMZa7W7+S1fpp1tqlaUV3ZyrdMqlcYGegG08jHBPqCMH2OQwXhxFHlqWS6J99+21ultHfvojWni06PLZ7/ra/ntv924ya2VoDGhHmOueuAcZzxn1HY9wATk1zVINKzf39La99rfd/e2jnSqWqK76t3uu/wCfzXe2l5czdk+RnADxsUUq5GSo9MgHPuDxzxiuRe6p3fmvPS/5LVaWffXl9iMnUSa9ey69lvdaa6W680uWPT2E8ebjMZAPDHGSDgY+o9OnU9K46c71VZddbv08vPTV+Vr3iVqk4xfVXt2bstd/16aJy1Yt2gSSOYKGWb93h36j+hHuRnHbINdlWMkotSS0bXn3/m8umlrtPXl58LVbc007prdpLrrs073s3bpqo/ZzllaG4MeSy5O3LHCdB3BPA+nbngVhGvGPuuLvor32126d77P1enL6HsJSSkp6eaeml97/AKabaXuWXk85AwbLKeXXP5HOSOoP1bPGAK7aT5n2Vt9LaddOVfPVq271UueUJ89lLbXm10t023u7W8tXuyOG3Sbe7kDPKZJwcdgQvUgHAI6fX5duVrqn6LVfjfTTW+nW9nzZ1Krp+7K7lqvvT6W3tZ9eqsrS5sXXYCbVgC+0cKVO1s88Biev+8OBznPFdFKS5XdbO72t+m/z1tZq9jLDVHOtZpr3W72sk/Pfz6rfbY5WxnjYtE5kkeMBVJcjZ169j+AHuBw1X7RPSzu/Nf5Rs7Lu9XZX+12VYOKck1byXbS261vpezv5aG1CucbmikwPldlAUE/e3EDdhQcnrj0PO7opxd072Wu/zWrvrvvyryTvePk4ipKKcXq01quv5NX7arzWxU1KCF4LiG4a3WGYbtyviKUjrGpwDnGQB3PHGNte3govnXvbX76X27Xb7W2s3azPIxOIfJy8jv8Akm++6023312vH87/AI0eErGPXpbpopZLRNQime6tmeKe2ldQPOWNPmCpwCAwVxnI42t9vgK1uWNutr9dOm+6dntZ2vq37vxWY4aVRVJ+0ivKz5vLTfa/f7tI/J/ja0L6pfaXfWjeeIVm07UbdAi3to/MdzuTarN2kxk7gcjIxX0FCa0drO/fy1taOm66fem2fE4yg5S5E4rVq9na/Ta/XXbV662fN8wa/p/iSylkuPDuqtBe25eYwNeyRXChWOHW3OEmBIxg/MOcg8CvXoNq3SSe/m+trq7TT6q/RW1l85jsHKMZe9HZ3fnZ73te7tfV6+ljlYvjp8VdOljGpavf2kdi4Q6gthb3KfI33LuGSIhlPGVLDcDjnpXp0q9RNa3drdbeStv917rTTaPxuIpOF7tNWeiu/ubWn/gPn2Uvomx/aisdc8Mx6Xf6DBrl5dKlve6rYLaIluSAizR2KBXinDZZwqqo5C5ydvoRxDs42u7NavTb8Pw6b7nkVKMpSeqSd3ez100Wv+S8rW5TlLnxoyW15FaXi6oFB3aYt/Ek6xNjBe2mVfmAwMI6n0/uqU6nV3abs9VfTbprpvbbz+Ix+qNOyaSW+9/yXno77fM8D1bXfhZqss8HiLQbvw7qUZdft0U04aeVsqu9ZWWKSLP3wvy9cYAG7tp1advgdntt6a3v2bfyvbRFJTjduSt2Tte9t9ru/d7XTavHl8D8T/DTwnqF2+r2UMl2qn93q/haby54W/hOoWMZ8po1/wCWkiZYZzjkBYlWpuTtBpXdtEree7d/u/Gxm3bRpv3na1tddXto3ZPV6+VnzeaG61DwxNJFf28WuaNv8iO+nj87y4Zcrtnhl5jZSBk5wp6hQPm2Si1ey9dHr7vrZq7+bvd/ECe2j+5eWr2007O9m72uPvfC0qWtz4m8DXEehalIB+9gkL2dy/3/AN5AFAi4GNy5A4yRjNHlt09LXsm9L2b7WtfZ8vLnOl7SLd7KXe6tstd773t5W0epJ4D+Meotq114e8d2MY1O6tzbXUU4B07XbTG1grupSRiBvXBYqygg/KKHf7vXp5+XystHveXL7OVOS5nzWetr6d2r81k09NbW/mVuW9N4Ct9C1D+0fC9vKPC2o6paMbWdhI+nfb5tk0bOg2iGJnDROcKo6kkCpfT3eZa76dNV16bPrpor2Oj2qhScnFtJ2tp0V9Pu5m03fl0vf3cLxRZJ4W8U6hp1pFcxabFeWd9Z3Uoyy3gVfNdCvBjlfeo2lc4zkNzTXM3pGSav9+tvsvyfntpc0lH2+EqSva1Nu2r5rq7s01urae9a+sle5/oOf8ETfP0H9nrwFYXFv9nj8TeGYdftGZ9++OVijADsHKF2ABBPpgBvdy6EvZS57q07q2r1S667Pey8/d+z+fqS+tVG1tOV9LbO99dmr2au730bP3HZd0sDRjbIhLEgjGB2xhiCe39OBXa1Z21fRXXft6Pz9Obc9Wb9olFX+ev6RtbX79bWbl1+iPvtZDgj/SZOv+5EfbHXp/PrXNVjeSd/s9vN/wB6P5fd9q47emn/AA39P5bH/9D+3CvYPPDIPT/H/P8An0oAKAJSAYyrcAjB/l6d/wDJ70DbvbyVvz/rr+kcd5WsGMX/ACynO2AngKT27kD8hk5GcCifwpvRabPXTr20u/PXyI6yb11vo9b9Vv5+Vu7t7vzP+1ppqaj8GvGWkXV+9rZ3eganJc+XMYJJEW0lZys64YNkYXacgc8ZzWeI/wB3++y0s+3l3/q4sPpXWvVWe6Vr+Wv3LfW1z/PI+Mdh/wAI9f65qXhi0u7W3s7zV9PuJzK1w1/O93cSSiF3ODuiC7mIJ3c9cbfz3Et/W527xtbo72u9V0u3r01umz9Ky+F8BF7fFr36batdOmqta9z4AHi630+4ca9d3sd3qt8CNMs5DLb2li0m2SaRCwVLoLkjAGeCS2ClejTmuVdFZ+buujut9fJ+TuuXnnBKT1+9LfpbWWtlrvp0S0lqeK/C/heYXWpeFPEGlavAqxqy6pJLY6mbmaNT5LvHuiDRksNwbBIBIXFTKmpP2mistV3S2Vur2tfp6szmrLr1131fX8NFv32PndvCN/qGrLpCabBPPI5kcLfPcI6jnO58fc67eQcY6HdRGTi9O+uu1tb9bO23qtH8JhN/fe++t121t3/m8tmz1bTPDf8AwgFpqOtadKpvBY+W9gGLKtwTgzuisUEcWF8stgBhzuzlrjeXvtdu766/NN66O/W1mzmnK01q7JLTdWutL336/avdK0be90OmeOfCOpaFFD8Rl1DVNcvEVLeLw05W8S3BAF1qIkKwpgEAOp8zC54A+a5w9opJt369LNddLdd3+d0zaHv26O3nr0Wv3Ld27Wd43tE8E6PFqkuu+FvEXiC0t0jCSwzQebF+86QuWz9qlKkdcbfcCsqWEtJTs/uul5bLXXo3e6vtaejr+y9zXq7aWf5bd7O/Vv3uX33SPhP/AGnYC7vZrHR7W7XbN5elRQ61qUSjc0lxcyEiCMFQTtw3OAODW9eCUWuvbo/J9VfW1+mvRHRRq8zTi023pvp11SbT69rbPmaubGn+FdHhtpLfTrGO10eMiNLW3wZbwruDTXdx8pcyMCwHGM475r57E+6nruk/ztrZ31XS1/5dbH0WEvLlvb4klp001s7d+909LtanUaBp9skuYY2SNTGojYgFfKClQzcZIPGcj8c5rx/tN/8ABvbz82+y01V0rR+ww2kF5xv8vPu7Wvt5bpy9eN1c3X2NWYrECkIjRh8yH5mY+o6dT7HI21lUV4WV+11q1fr202f4bHbTaU4927Jeul913/veaWnN9G+EjNFYxweZudE82OQL8qcAfOpOCcDjPA685K189i6Si76pPW+9rarr08kred0fX5fUvFetrXVr9XfTTf8Al8rWtL3vw2gt7JCzM08mHcyfdZXOSVJA2gZOPT0HO3xqs9HK2yul66+dunr15bWj9DRpNKWuq2TVlfsnfayXlv8AF7qLl9HKiTXVvslUMdy8EqrD5iD7E+p457Hbx3bb6666ed1Z39babprW65eh0t9U1p0v6X8ui3a673jiQbpnLkIWB+XC7OMjGMld2Oc5HJHbHzaVJ+7Frrv5fg9V5W/FMznena12pN/dre/xd/8Ah7XOksZLiOSJyVWTdt3gf8s+hz97BxnHv1J4FYSlo3bpq13e3q7Wvpt/LaxVFc8k306L8vs76XfTpZrml6BoNzI93FGp4Mm4tj723nn1yARx3/Gs3LmTTeitp2tJLfZ6O+2mzcr+77uGilHZb2+Vt/O9l1+Ube96rFAHTzWdWSJm2BeSNx5zjJOOcce/IBrkr/Aur0Te22z769vP0PWpaOL6u2/4u+mt+j2ulq9Te02Jl3lcr5y43D+6Oc8Y9fr3wckVyc3Kr37/AKafO3n+aj3ylLljrpbv2/K3/AeyOrsrcx/MU3AKSxOPlORz0Bxg8/eIPcc7uOfvSvff8Oyv+WiT30TI55PRXdl/nfT7Otmry22e7lu2giYlmYgIpJB+UZxx6Z79O3rzu1taN+rsrWt6a+rsvXd3aic7bv1VtO2vz29NfO6Ny0LSRkuBs8vChRgDknB9cjIyMde+cVjU9baO3r+f9abm/tFZ62utnd3b6/c+t9vO0YI7f5HjRN0bEl27D2+pyOg6rwV/i4Ztpq2+qfpp6P8AH0tcVKf7zmWyWjeu/XZavbbbvYt2FnIHUgsY8nYg7+uR2PB7D8MU4u6abu/R7eWiWvrt0TbNqlVPW+nb3uv32W9tN+rt7/SQQOs0rpklUH7vGNpOQentk5zjoPmPNbQilaast9l26vVW08n8jhqveSeiatp/np18+/VOMWx3LJcNuzkqB0HA4x19Rz0xTqeul/x+67dr/aat1Wil14eel17zS0vp8vx7K9ulvdtW0DyB1jXaRxgn1+vU8Y/hwO/Rq5qsrJS6q9u2v5a+f3nSpc0lfz/LV/1bzu22X7dWZoQBt8gFX+8N/scntkcgHjkZJZa55VZSTT29dl5aa/N9972KcLSWmj76fL7W2ru+Xa2jN6wUm5jaZWIIwoXAAPQEnkHn2AOOvNFOnL2kZWtaS8+t/vvZ7dLXV7nRJwdCqk1dwlo9m7aLppZ3ul0bdro9HNkrqm18oFUnnnzDj5QO/OR/+qvdnph3pdXa081vdbO7dlypO99NWfN042rrpqvlra6s9dLvbqrX1Zo2lrlk4IbcBg9PXrjpzzknv0ya+ckn7Sfrtfr2vq9X69N9D6aL/dxvpeN7rdaLzbvb7923c661gEYyfmKAEnsPfP8A9Y+hH93ekm5JdG9fnf0emy7dL3aI9o4p9FZLVt9lrbZ2+5aWlfmj2GmW+1d7rhioP3hjHHAXA74HfGMj1r6XBxs1FJ26Ptva297Lr1vbRqx8/j6vM5Pol09Nn7u+rs9POL+z1dkq+XiUuS3AQEqo9OflBHfr9AOa+3yqnUnTs9rW1smn0b6v7vnK/u/mGcqjTrNrWzfS27V+j/By9Vox72aljIxUt0AAwNv454/HnuR1r1YYFuV3rZXtpfTW7XKlfytotr/DLzPr1OEGo2i7dU3bz3196+r89OpXnt458RqAT3CLgH6npjPuPdjnNRUpJ81vltdb6dbtdrWfla4sNjZqDadrt7XSe2/vNPS6t8rq1im0Ma7Y1hxsON/QHGO/O7n1Htzg7sY0aUfitzPXT9Lctvul31uaU686tS6u9b/0rvo2t+nS5nPEjyOY42EmcFs/Jj3+b6c7cZ6djXLb3vd2vZP7tdrbdNfNK3vdsqNSKvraWr69rfy+Sst19pWXNm3NtPvUqixg5DleDg9xhjg/U/UHFc+IcnaybttZ72/P7l5t2FCi5dX/AMNdWb089X+OqKM1t5eX3SGP+IEhgOOvbI549QOc9a5Jc7i0779Fa/frpp0u7W0vZGkf3bcb2a6328vVa/y9r6pxqRxwSzMkUm5WGWUcDce3p0B6k+ueW2qlQUpe8lbW/Zrp6ddk9Va6bQq2JaTe2nupX18+mv6apPRCvpyRFRIoWNvk3g8Anofr+eevy8bSvgYyu7LXe617p6uT3b/me2y0lWHzOquWF7cvS++t19+mzenfXlyr/R5irEMZUDDDLtLEYJCkcnHY+mOh+7XzuJwai3Zbp2tru7Wvr27q99tT6HC46Uld2v8ANX7tO9rpedt2rJvlxktZI2IMbDBGeMnHUjPYdOMMR26V5zoyirWtb8PK/u/l56bS9WGLdul35u1tu/l2fq9y2IchofNIXdu5H3W7jsR0xyMdSMEEVLVrK6s9ez011+fbm6XVmol86ld3f6W/LrfSz0trqirJNIjspAkkVsBjzlQOCM9c+/1O3OG56kFKSl/l56O1l07+S/u9NONqd7bPS/pvslvqklZ+dhlzGkkSTSfKytj5Mgtn1HOep74/m3NWpxtfTreyul0tvF7Lt6N6c2tNK9/Oy9bdVpdX/p7HJ6lZhJd0YYKw3AE4GfU5PH5flgbvMqUU1JJ2vddvn1Xp0flZ8vs4ScXG2t7tK3Z76apv4rO/du+hnwSPatt2iUEs+xvmYEDJAIwCD6evrya4HTUJ38/v9NVZr59LPRSO+UI1Fb0Ssr7eV1Z+avta2oHybyN2VWUgswUkjYxPIwcn3/iGPTIWtZTlPTV8ujW+r7LRq/8AwHe1zilTVGaaVk3vf7uiT+7TfWzM0W0iszu7AxsRz85PXk4yecevtyAK55UpLVp6a6q262630a007vZI7qc7pWdn93o32Vu7+65e3RyABgybjtBGQrE9QRtHUnvxjqSOKqnOS5rN6avrtrvbpv19FZ80yjy+93eje+979b/rvpaxDardW7vGhzHuwd53Kqk9VJPUZI7/AI5Ur305aa2v1X4fourtfrrzedVjzOVld6/f3t5affboRarb7oHaMmQkZZSTtyOMYxjn2xj1PNdsbe81vytNp6O3W2uvzVlo1qZ4ePs6t7u3K1e2nTfz+Wt7K1kefR+Z5rCFQwZyHABHl4OD+HAxkY9143Jbr1/H8/w9L3Z6M9Yuz6W+Xl6+W3npKWzJC6RoY3K89QVI3d93I+UjIIz+ea7FfkTV+mj6N272X/DddGePXhaWvwtdlva995dV2a+9obqsZnsZYSYvMWFnYBQFG3ByoHAdDt6dSMhTjbXr4CTUkt9ra903t1tZ6XW2ttObxcXFcr1vdp9P+Bouycb2e3wy+J/infXenag/9orGba4i2w6gQBHPKnKQygY2n+E5BzwmeK+0wdRXje1/Lbd6LTTppq/Vu0fl8XTaUu1tNEtN7/F+d311uj5O+IVtE1xZy28U7abNGs/lxsTJYyycukThcCDzB5oTBAyRxyK9/DzSt1+dun/b/Vq/rre6Z8XjUvaSaasvlfq1fTfXS6v0bbXN8yfEDQry8m23R+wyG3Nzp+pKuIzIMKEumXAUuO+7kc8YzXtUJp21Vr9ut3ou8rWT0XVu2vL8lmDlzW3W2763Sta2vonvZ8qSZ8Tav4w8U+BvEclrqUrRSLI8TmQedZ3EBB2SSxurh0dThJVwxxg4O2vSh8Vr6fhvu9/T56W0Z85iaXN71unwpX1TvffputrXsk7s6BtT8T3NsniLwb/Z8cwxPLp8kEP2e9kxub7NcRiKSNy3Co5xyBz91e6L1ettHeyv2dvu12+6x4dany31vyuzXS/479dOrumn72QnxTttQ1C1k8Y+BDpup2cim6ubCaSGVtpIMlzFuxOrdRtOPm9c7rjey3Xn1Wv4Xem720vduOPpp/nbtd7Wb15m73urWPbL29+FfjvTEeG4NtKsezy5XQtE5THKuA4UfiB2bkiuuDdk9n5K+t/O+9vN9NLqUeZ7vvv3vv8A8Du0m1dt3PEb/wCHkemzTXHg3xDtu2LxPFBN5e5GBJBgfEcik/KWUkk8gc0curbtq7ra3ovNJrs1pu02Kybeitfol21te+y2WmqtZ7S4271bULW1j0nxd4Zt7m2F0UuNRtka2vjGeGSQjEbAZLpuBBbqcA1tGSSa2S0/la1263ul06cyb2Ui0fud/m76W87LbVW7s3tP0DRraKT/AIQy9/tvSL+Etc6XcuyXenORhsKAq5jJOWUEEdc4w2m/rZW66dPldaecmtvdjzzlLmd1pfXfrv8AaW7bvZyv3jc8w+JfwxxpXlN5sV7bbNQ8P6ioImikU7ngEn3pIyco653cnGOaH0Xn0679t+6vt03DR6yb5vylZ6bPdPW3KunK72Ivg98UZdFiWLxdbCXRL9/7C1uyufmk0/UXfy47lC5zGsnyyoTjBJwRjFZvEwpzVO13utoqzvorc1kmnfba2m8efERvBQhsne1m9bdtE93a7snrZ8x7h+0HoWiwvpWmeH7AJb/2NDqOj6tHM8y6skrG5kSeU5H2mKN/KjRSceXk45ruhWikvdjte9rq9r2Xy6Xb9dWYqrJUJU3e7i126Wtd3tbR3a8tW7H9fX/BBT4pXfjz9nzRZLm1ujdfCKwTw0ZZZGdbq3urqSYYBOMwxybQDnGzAAxlfWwM+eEmrK0rPtJ9/O6WukX2te8flKtD2Vd9Odykk/7z+9XV46Sdua7v8Mf6X9JuI9Qja9gyY5Nmw8AFSCevHIz1wOvQ5O7qlo367et79vz16WVjrilZarZdNPS2rVuz37q1zvdGVRbScf8ALw3Uf9M4vr/P864691KNm9Y33t9qS/Ty/WW0dlpa/wDXVvt3+65//9H+3CvYPPEUg/d4/T/Of16dqALC4wMcdeP8k/z/ACoAWgClcpE4IlQuPmCjuD6r06Y4/rjFOekI2Xrpd628/nq7Pblf2Z0vLd7XXr2/XT77nyD+0vp9xqXhLXtHuLmS30+bQ9QEN1NzCJXt5f8ARpmb7gYYwx9h3rLEaUHdatddL6rW/R9tI69NUGH0rJ9b6+f46b7aW0ab05f4Cf2rIbzQ08UeFo7hdPstF1bXIri/yPLkvLy+lZyLhco0aRBVEgOV3Ec7a/OcS39dqrV+l9U2+m6snpbl83Z2P0jL6ijgIK1kr6elvLo/N38tT8sYbXRdN0681OeJtX1m9unsNJWINJBEm9nnv5JHAZ4wqhA6n5mbjZiu2nL3U3sktbP572SXlZX00fu83NUqe+1bvbX7+m2t97ve8Wkb+j+HGutN0Lw9r0MEN9q+pRXtwqkB4kvm328cufmBhjI4OPvccEste2v7utui0V9/LXp0Wt9rEyUnHZrXa3Sz/CzWuvmno49zpXgeLTdd8V63JbR29j4bePTbEoD/AKZdiMBACBg7mJMmMHaOcZBrWNNy95/LTRvp5rZ7X6pdXHCST003s+/bve19d4763+zz95pF34t1lfDHhkS26a3C9pq07QMXJnU+RDbyZChxORcyE/dhXJIzXRCCjC173uujtrotJd7O7v5vWLiKipLmlorbv+Xvv1vdW1XTm5Wo+/8Aw2+DOieD9D0jw1p+iReL/itrhjs75WhW9sdG0/mN5bmZYm2S8iXDugRQzsw2sza0opu7el9/LRbaW+/0sYyqOEnotPx3S0Vr66rZXjs7RR923vwj8EfDHwpHINS0fWLrT7OKXU9TitVXSLK/Kr5ljZbwDeXEbDZJc4VF6DdtrudNQjutX0t81629b9O0eWU3UmmrdlbpfVaat3avd8y2b6nyZrOo3vi61v7fRTdIklwxvtcvj9n02z02I7pGs1DFnIGFG3arE4CtwK8TF1baWu76+au9VpHdbq3TRpq0vawFO0ld3WltPzu/ld82qt0udboGnaZZ6E0KNIul2UKvJdyKBf6lNMD5a2sZYlYwU3nJ+6exNeHiJaS5vTXTbte9t2916as+ooR5ZQ0fR2T211v7qSvZLX/yVC2Nl9oe6eONreAlTuwQzDC/IhHO4jBbr1wMcmvJ363d76d/l2ei09LWZ9RhXp6xV1b0v87+XTeX2emjtp4IFkLiBYnX7zjeyf8APNVyCN3H4nBxgNT5U4tyurPTTr5Pe+j2T8k1c6FNKon8vPR9rN32ta1t76n0F4YvTDb2UClknlVHkLkFPLKjAJ9e+Mc5wcjKt4WYRSg2unlo1+D3lbdaLRK75fp8rm3JdunptFvRK2qvppqlZts980+4muLGNWZ2d/3SeWMgKOh45UNxjhh7YxXysubXrZ+bWqWvom9e1tW+ZqP3dDl5ejvy6Pp2X2vNb3a72bj011YT21iETcxlVeOQNwI5Y5yR0wNrZArlTtOz03SfXbtbS19dfK6u3HotbovXv3+69zJmtnto4txkeZlzmP5VTAByR9exxkD1JDdKjdO/Ty7/ANW0WvkYV4xdtk9dPlbe/wCOvkldmxYeYkIZvndugyCenv0zyeMA46jGaUqTils0rrVXi/npfd7p77mNJWnHlu2m0+vf9LLS/lu1HuvDqMrRtIdjnc/HIGcjGfl55HAAHfPIrnlH3ZNWs/K+is11Vtu2l0ndp83tYaTfu2avy26+Ttt59ddLWd2et6U8ewKclixyM5zk8ZzkcHpxz6HA3cFecFFR5tbeT0u33+X3v3to+xSUrp/Zv/lf8lq9um7Oz05ivLRggMFAO3IA6dio6foOuMNxT2Vnv92ur7t2fVfhex2zacUovbS6V7d7r3W9Vuut9tJS7W1KMhWRAiNkZ47j1wOp9AuOoJ5Fczu907p39Ve2q6tfl8jnUpXbV7vtrpt5aWfVL52TlJ5PmlAoOFDcDqRxgnuSB65znqcZrpa5opbyTXlo9X16aL9NLGkLwvz3UWnbRavp3ey0100WtjrLZUa2VBtQgYOeDjqc++frzz3AXlqNJ9nbbr19PS9tNnYzd3JpXd3p8/8AgNL8Opdhs4zGpSRfL6up6lvpznPI64PBGDla5XTlNrTS2/d6Wjt591fVK3xGzcoU9bp979tOyWnVa30v0Zp2lsiM7oASFO1f7pxj07/VfoR918jgnbbfTbp3tZ9NXtJ6q3u4qpdPd7K603fzu1p09Wrl+0IXzFZR5kinefw/2uw5OeOmRzyypupzK6fKntbvr322vr10u1zRqXvR07Pvv36Xatb7P3sbLFEgULEWkkJIbsAPbtnPofbOBWtTovW/9f0/NaqXRhm4pp6bed/W+qd76/LdsZETEsueGxlSOMYHr6nPQYA6c9a5atnaPbf/AC7eeq8tNTrpyTrRb+Hr5+Vvn53t6qMtrknzCWy3VPUZGSOcDPPGQeOPVilST6X/AAstLvqtL2081pexpiXZNRbvu7a2f59tPPXY7qwt45FRsL93njDDj12jpg9NvTuSK6r0YX95JrRXv3trsvxXz2l56rVOblbd5XTutLXtr5/ff8Y9VZjbCgwW2PgMCTu6498j3zjHBPJrp54ToOMXdt+6t0unV63b6xW92ne8ee6jWTbsrvfs3o9de+t1fbTRHR2g/eAKoYdT03A4P457Y7fhXiThKNWUmrLmuvNdL2b0vt1e1le8fdpz54e7eStFaaNeX3eXnaVzqtPQSbgxCHcNwbggc9845IxwB9DkKvVSTuuVJ2b16aq99Lr3Vrs9eid+XkxHOrpXvva997b3Sdlo+nkr6S6q3eMYjQ+Y/ONoONg2jr098ANjsOa+jwTSi03q/K1238ur0Tt5t3ueHWTtLmd7WuvXW2vL2+fdby6GwBljkkmCIIgGjiJwz4I9ccexznkADrX2GU15whyyWtmldK/4au/rpa/vH53nlOFWpzU58y+aWu63ad316eerleQzTZIVIto+Zcbjsx0H4dxt/PL17MMbKm3zdrLzvp53116b26cx85LDcyXK27avTu+u97Nb9Fdcz1coWUKy7Aqg8ljldvGck89Dg9Tz2bNckq8Um+bre337aK/oml5KyZ3YanS5eXS9mtnZ27bO/wA9e6s+XLuEkLSIGycsV2j5OR1PQdc54Pp/v+bXnXk17FOV30kl6PZXv+D100ie1gqFKnNyqvkSSfM+vZ/O976eWyUqFrp3kgt52+Rss6GQ4DegBDdfYDGMdhXRQhNpOUWm373r1vrHRKy29LWZOMxUPehT3WiffWybXNf520XSP2ni2Z8sXRQpxtk4BB9OeRz1yvvkg7u32UJLXfpot+umi6X2Xo/teRDGVoyul18rfK7S269Gul0405rd1LFjDIr5G1CMBfXBABOeRxnnqucV51WnGUpQT1TXrp08l3/J7x7VKcrVJKznr/w1tFpf7k7yTuZ4sY8iRQIwzEOF646Zzn6E/MfcjgVKpypWclZfP8737dPNW5feKkVLtbbRWS9FfySa11fW1ge2LRyKxaWEMMHksNhyMehyMdeRwM05c1SHMkrO73v87adtr2SVruzZx3hCq4O6d7Oy6vR7b23001skr3llBHDbBIUG44Vicv6Z6+mB0z1BPSvFr8vtHFpc1ly/r019W9O2qZ9BhrKCl0Vne3Tfrbd7vS27jouaKS2ZSdxUE4POcke3DdfYr7gYzXk4mHLNx3urtevz6v8Aw9OyZ2xrq97uye/p87/jbz6mJLEYp5N20pLGT1xgjowx1IPPfv8Ae53ebVahd9tGuy+Sva29rdrOy5fWw8lNJJ/Fp93S7to11uumrt73PA/6UE3FUJPzMxPTPyk8nt2PTjk5rzXVUZ23T8l99tl12vbr0UfZSUaS5ne26Xl89rP8Ps81paMwUxna4OxfM5zjIHIOTz9ew4x0NTVhKS916W06brq3a3Xo/wDt2yRjGqnK0XfW2iS006aW6K9+ybdkzGuHiniBnjZSQQTnB4PUdD+mMgdMCuN/u/jte/u27fj8la+70u4no0ZuLXf9Ol/X1V0vN83OMu2VkgIDNwhkPyqTznPzA4IPGOenPVeOq41JcsdJdNN30eytpbd+etnze3S1Wu11v0T10fvXa006W5ru9iBbokmOZE3LlXeIgFiP4iBtx6k/njG1ihB0nJ1dU37vXTpe+zV9N726XuRXpym4tNe79zTemmuqWluvlf3SVYJFMkbyKcnlehHuu75hjH8t3Wumcqckl3XVbvbfpbzf3aCprl3ej08lb8tvl0S3lP50vkBtkckYOM7QjA84HQYAHcHjGcCuOFJcza1XZrz62b1ev6bXl0zlGUUk1fzfTvey62Vur1u7WMy4ll/gJQnqAcgnO7g45+XP4kYwAGbf2cl1s/R//Jd7Lb7n8PDOm023ZrXra293u79NHp2bsyKSWZkkVkkZyhwG+QkDqNpyBnPr274y2tK8ZPmu04+m/XXmdtO8V1diIRbdo9LSb6Pr36pdvS7Xu8WoWS7coXhBZg68DJzjjsScAHPtkNnFdMIOb0t8/wDga6/LbTVWlq5qmtdVbe3+d+nn562Rbj3Kz25LxAHepkDEHJ4YZ7Z5PQHoPRvSp05JxUrfde1ul7rWz69utuY8jF1IuDsndp2/Lfpa99/hVnayNDVYke1EpXaFiPneWdrScf67gL8ueoz+B53d+GsnouX3ltvr0Wu9tNlrvfQ8OpK6d1f11326J6JK9/PRWR8UfGDTJbj7Za3uJdLcC4SZORbPk4DrnILbTsIBz3xkV9Pg1OMozdnFb9W7r71vro+73fL5mLgp0KkIfxOV25tF0st90ru622S3Z4Hov2HWtFudNl3C60/zrXzMBiqtwhLn7yYAw2TnpyVzX1OGjJxUls+669Fbr+L0srbn5jjKqjipUndy5raJtfF62St0XNfdtcy5vEPEGlwz6bc2Gsw3EcBmk0ya4ZB5EYIYW8zvyYhja27HzLyNuPl9nDe9JRWlrS287dWk797x3aaadzyMxounTUvdtZarV6N7+qfeV+rVlzfCfxZ+G1xbyDRvEUBke1QJouvxcxlJX/0eC/mIx5EgKrDO26ME7SwAJb2qcJJp28rPv+Prpa227TPlatemlJS5n0uo/rfS+vZ72T0PHdP0jxZ4MtJIkja5LOyw2UmQrEdyowojIGEmiyHU5wM5rpT1b3b0T289Pz6b9bWPHrx9pd01ZXcnfrdvvvbXXXWP+Fxz5PEPhDxH/oOvxajouuopto3mZVtjcM2EJuSS5QHoGB6gAnOK2im0klu/S9uv2Xrpq99dElaXBNcuvlt/TdrNvZWtq4u7PNvFOjaz4VnSaEG6mjPnD7LPse4gB3BwvCSjBzj+YOK3T5E11XVd1zNd2tNrPfTXc54xck7JNrX4rN22vsltfRW11taxzX/C3pBMY7qAkGJI2trmN7DUraZfuT28q7gyr1yrfN6DOFrpo+1v+D/ku9uqMvZ1m3a1rtb2vZ2vo9Ftuny7O94xPR9G+J8OqaYg111nt3LQRz3SZm/dHbIZJWysjRqANx5I9CcU7ab6u717+9qtr6aet973M5xqwfvWt3T3fVdfi6NLX+7f3fUtN8JW+pW2ka94Hu7eG+tllmmJmSO3voerRrtKbpARtaJySMcZ5rWM0ls9umu2yeivp2XlqnIUasZLXdNLa606bee/y93Vk767YeLLfVdE12zvbTV9NjDxiMANAAwD3lkDz5IOTIgIwDk4yNtxd9uzW3f8NN+9r6u1oqpTqP3opNO+jailvpq73SSvvbZte7zeDa14SsYfEl6zMNR0bWdLy4g2hZ9Utoj9nuEO3YJg3L5XO/IBAJ3YOmnXUndppK36rvbXZLe+r+GIWTUZ7y6pdNl6/Jxt2+0d78P/AB7B4k+E0/w/1eJ7rxFoevR32j6jIC81pZwGSJrUu5aRUWNiDFuGSuRgHavqKeHjG2raSt1+Tdn+X3WRnOhJzUo2t1TS3vrrv1Wul9n3l/W//wAG6C6JB4K/aB0az1o6jZwalpLRWrf8sZbm2V3cR7chPMLhWGOOQR0r08vs6U3G7Tl210Xrro/K2zbt7vz2czprGUYRu37LtZq03p/Tdtm3ys/qi8Lr5GjW1uyhDbrsOAArAAAMOSOe/p6nNdU3rrf/AId6d3s1+WlrmLXIl2svL/5K34/qejaOQbaTH/Pdvf8A5Zxf5/8A1VxVZc0la+iS19W/K+/ZdtbJy2hfl1+Xp/Xr+kf/0v7cth9P1r2DzyNoyQdp+YDhz+eDjPXOOH+uKfn/AMBfh8v6Y+no9X6/8N/VxI5mVVEylGAxuOcfgTzzjPp29KQPfy/q39a+r3LAkUgEMhB778Z/Da38/wAsgKA3fdJvvrr90o/kilczxpsd5NoD8beRjvzxyMei498hauc04RgrNpO6vv8Agl0726a3uZw92pUk7a7dLL75+mx83ftHB9T8F6rplpax3aalam0cXAeKBWmVwW+1DIR1XoOvHbpWeLfNh29tLLz6NWtr32e17K/KVSd6ytq9Nr+nkn+Pf+6f51H7YWq+JNG8cfFLRdGku5bSDxtrVta2l0qXtpFFZ306TZeaMjyzIpCEk/LzzgJXwNe8cXNtJ6p626rVddG27W3tfS6Z+g4RJZdBLpzJ+b00t7vfdvSyervzfn9fT61qGvfD7R72aOFr6A3eoeUIolW2Esk8hCQqsYUrEI8qO/zE5NdNVr2V4tWa9LW1t+qb5W+nLuZ0NKuu173eunbVW89teiR3OkQQ6z8R9P1C54hub5Iixk+WBbc+Xb+gBVFxnjOScHpXnU/43Z3/AC0st9Ld/wALWPccVOkrWv00Tv8Ad2atstntrE+2/iB8LJ9E+H0MuoPHpdnrmoya0urSHFubKGIC4uGOF8wxxOSFxyzADGfm9aWtNL1Wjd9dtel9t7v1do/KV1yYlLopWttopWXR389tn72iR4z4F8P2Eniq2Xw15k1lBBHe2U0p8uWWF3WF9VvWG4xQlsLZQqMySuhwcfLNPSO19d+9raPbXX/O71O2vUi4KTbSUEu+y1jays0t+lk3zK94/S3h3U7PwPp2q6H4NhuIrq9upX8X+LJFim1b/SZmk+wJ5xLQhmcjy4CBsUM7dVraMt13fXX1T0d/nbqutzy3Dnk7Xs79tN/Np6LrzebVrHlPxa8SX0c9jo1nqEupSXIX/QJZy9nYRkfNcTgECeTb8x/2sKMZBVVKnLdXfeyfXs3rttfm6633NsPh5e25m9Plq/JdL6d+6taSMrwxD4fktIv7a1G8v5YJAltotojxQzXLY23GqSAFRBGT+7t4+T8p55Dediava97t7dNW+q97dK2npe8fdp0+SpG7utlpv+NlbfTyb5dpe7aj4fgtLXTFvlEepalGs8VsgZUtLdlXY7xc7VZMZDsWGMrjla8PFSbd7X922n9W0+WvVKzPq8JDnjGT0tZaa3dr3TfKr6O/42vzSyTBHAyxo4KRuPmQ5Rvmx8ucZB7E8jkjcBlvOgnzyv3d9bW1W1/S9na3ytL2ox5Y31srX6NbX827J/dbvKRNbrc3AZURRBzukJC9uSO+SOM5/qvXJXVv6fa+vXyXS/8AiS0knJ6r0fn0tb5fimmeh+Dnae5ggYu8kkiKyh+EQEc5O0gEEhfTb24NeNjqbcW9W9dNfx3St1063stUfS5VXalFKSve1r3aunbTy07bbLY+t9ElitHUiZo4FiRFWZV2l0+8AQpLEkgD0xkAYJr5atDkfqr72+e1lbd73utEvi+7wsm+V2W2y8163b7axevdLl76FnvlNyQoAcKhbLZVRgMVA+UYHB+XOM9sV5z31WzW/TVXvrZ3vd6aN22S5fVV3F26fl19FpffV9I297Ou45mvGlQxSbIsMoA8vknqOwGD0K9R97+LWD5W+uqfmrK3Z669bfmzkxMVJR769NLLd7+e3u6ejZmW5ljfahQlmAJGdqgnOccngehOB2auhu8eV3/4HT+raWuramNJuE0ul9H3Xa3M+9rtq3zueo6IQ8QA/eOiDJj+VTk5wFbknnPHpXFUhq7WSd0tO10+tt11trs3ry+5Qmko8ra13+d9NtdVt6q9kj0TRUkUgvGAsnG3BDDAzu9vTnAz09W8irRk3d3srtel7W2t59X5pM9mlK0W99U+99k11fW+i0trc73TnihOF+ZmcNtYknk9OA2cH2BPtyF55p2Ss35b6eez1v3+42jafNrFNXe//AjbbXvtZby7WO3kuHDbCFA2+g7nI9Mn/e6dO9Zcre6ktb7bP8b6eX3jlZJaqNtfO/TTW/3/AHm3bWojXeFMjKCRnuB6D2OeuD9eBVwdm3ola2vS/wCG3rb7nHPm5043v9yb76a9H36WV73Nuzt1bYWwqu3I649sY6cYJOc+oya56qc5Oy81527dn9/43jN3Gz1dtPlq9du/49bXN9LaFSdrBEfAx6Y7n5eM4yB+Bzj5sFNpNPe+n2bXXa0tl1/LYh1nUly7K/39+++2trXvd7FhDCjsqyKMjALHjK9hxye/X2OP4mmpOz2tr16/4Vppv+TSZvCndaJtb7fC797vTXe33WsTxq3ltK0imRGG3cu1igJyRznBHPTpyMfxVbl95Ju2m+99La7NJvZO9+llzPmS0s9Vrd67bbPa/wDd/UsCIOTLkMQMFQcEA4+boeDz0PHcgYNZuXNpsrrfXyf2Y+v+VkpaRkr3tt/wbfZ018pW77maqSSSqFB+Z88gg7fU8Y9fp2B4DYygrXV76ddktNVbqrd+90b86V5Jp8vTa/zdtNOvfS92zZjgZyix43RYYjB5UdT93pn0OT0JXHza0NpPvfS+nZfc1t0tcv2l+22tua2vXrqm+z67Wbj0WnSPGkoPJLKF4PU4zyenUjOPy4rKqrzate/RdtdPXz6fIlRXOpedl53dr7dLWtp6O/u9ZpIbJZuSx6Z5RScbgfTnPfGeh5FdNBcqsm3rtt+sVbT/ACa0clOkpyvfry6Lva76W7LR6XXmdFbMBlFZQsbEbgfnkbrjjOAMEZI/PBrKulPo20/LTZ7NLrdaeqsnaPp0KcYw8/XTtrve7tvfvzWty9PbNkfMMcqSeoxxz37nHbPP0rShB9mlotervrre+mr/AD5dpc+JtFPW6tb9LPf7rvTa2rOysz9nijmTy0WUMgYDJ3f3QMZJOffnjIyK9zDwVl6q6t3dt773W6T2e1kfLYmq/fW+ltXrK9/R6babrXVKxuQljmQOrgsqtHLgEArySf4DkjqV9h0avosLUcLLbzXTTtayXn73XRXXN8djqClrv0eluu2nKt9VZaaXuTO21tv+keZjIgjZSrJxyJMc9zgge2M121Zykn6b3t87fLRXl89peXGEYSalZa3b8r2a0craWdk9dtbe6xbO7nVSwljjOcRhgz7RyTyeOM8E554PzZrljSrze7td6Javtrf53/8ASrWj0zxWCpr3OXTd66Prvo+2/k2r+7JNYlOIy6oqDY7HeWPHykLuZSRxz16DONq+lRwdZ2vsl29eyX4tvyWrPJr46V/3buua2na3yet9rrzve5ny2squJS65UZbIO4D1A6ntwAxx1xnDbxVk12bT+/fq106+WuhU25RTel4ptq3VX9F6adeycpCTuKyGN0YAAsmWAOPu7eTycZz144INbU9vn6fjqvw03d72OfdrW3k3+u97eb8oq6ZLHpyeY6pEHO3q7YX2x/Xpnt90Fn9Xptqe0nr/AJ9V08/uvyxznj5U3yK+jtbb8bWa/wDAd9FqZlxbtbop2IpdigGz5SN33lB4PTGc56nDfLt4sWtOVO+uyuvz/wA5bb6m+HxTna77pp9G9bdvwXay3jlrcMt5IhVlRXWMtgj73/LTb0/ixwDx1x0bwMPiajxVWi78imorTTp923l25Xa8foa+EpPBUa/2pR5nbe6011d/w6a6qRmaokYusCZ/KYYZ3QYLY5wQMY9OD7Ecq2mLpxUuZWu036a7dH6L80kyMHOTg4vRfgr7eT23sul23YxHEgl8uRleMghGz83Q4A68dBnj2JGBXi14/vG3rolquu+/u/l62+16UIJKz1/q9tGrN9Gntu3o5U7i0R4jgOXjOA5fjHXAO3HA9Mn6biG4cRS5k7Kyb3te22j13u7b+ltOX1sHKMZWWy7S+VtFLZuzXvfLeXOuhgmWVSrgFhtZdyk+hIxgj1PTnGck14dWlaprpayWnbzUtN9NNL2Tlqe4uWcLWutNe1unZv5J+u0Y554pZUQ28kcjx/wZ2sTyCp5B69OB0Hcij2l1y6J+Vvyt8t1bdXIjQ5ZNtWv02+T+Hu3vfTWyV5Yl5BLFKm5iwfhecnnr04BHsD7Zw27nqxur7qyXprq16rfTXRano4ezvfS2ln0enle2uuj7O6SK8TqjtGYi6xk5YLuIIzuC425IJ7DP1z83A4qEttd30end+9ptrbXbW3u+rCSjHTW34vs189E4+kt2UHi3TC5hjBjlLctwRjg/J8p9fX1A5IqpO9uvbT8P+BbRpb3OSpXkmt1rbv59Lb6a2u9drkxiLQExhlbdyoPAHI+6RnrnkE47qcVn0ata27637bu213t5btD55ct9ey1f4e7bX063Wr5TQFs8lqAyqu47Sd6nJ7HgcEdOcA9CvJLXS66X67O3W/Zb32d15WZk8S11e/Z/cr+S1Vn66pRzHWNGELqqlWARs/xDgE9D14ONpHPzHIrXbz6P+k1t03XWy2LjWb3d07XW2j110lZaf8PdMzL37U8z5jBAAUkNjAOCNvXdkAgjn1O75jVa3v1vptvqtuz6vmSWqVrqJvGUP+3tfuV76XV7Oy67bcrOEuLM/apJTG0TswypYkKR1I+9nPc5Xg44NdtDST8tX3fZbpJX7/erMwxE9rap99E99ba/dfom73XNtxh7iCItKiyxcLnaC44GM5PJzyC2ccAHOG9KPxL8Pkn+L01082r3PKl7z+J63t9/bTtfR7dtS0Y5SBJJslWPIZcZG0cvGTkDG3luMYBxniuui7SffRrTv+ae3Xe93ucOIpwSfZrRPo7et3be1ter1sfKnxd0u4WBWwzxtJKrwyfMUjPzGHzB8jQSK2IyQxjJGWLDDfVYf+H0volf83pFavWy37fzeFWqRjGb1V1e3e+nz2vq/LpaXylJp13YyXs/h9iLh41uY9PmjCuRHkzWbk4Mvy52SA4wAQCpr6jCfwl2Wn363t01Vr2V+nXm/MM1hy4pz1+K+m2t/mulr/5nAat4vsZLTVbOfTWEl3ABqFneJtkVTxL5eeXWNvnikiKsBkZwTXp4ZtTbvqrvro11676PaT72+E8zFVPb03FWleMvJ9dd2rPZ/FfRPblPCry0sZL2z8KX9uNTg1JJI9G1KeWOeCe1nBcaTeJOESS3B4MfySxk7o2YhTXr06yl3vfS34fnvdPvazkfFYulKD20s9Utt7NX+fpdNbHz78SPD/8AYcrRacsm/THkhfSbmXzfssf8Udldch4FXJhiZ28tAF4zXfTipcuvVK/a+ll31207rWyPKcpwTu7uzXpbq2ubfy+SaVzwPxD4f8J60i2+q2+oWV9Oo+xzwRuZ45JDwRIEZGiDY3KzcHpkEV6dGEbdNL6vyWy95deulvv5vMqTlJpvR/Ly62tfXpyq2l5cvu8H4g8LeK9J0j+z31CPU2tjnSry5t5ZJTb8f6JKwC4AAG1lGQemAfmqtTg99Fe3pZNX3Sta61t3u7SjIhJ7p2tbbSz7ddLLe921Z3ujyvWNNtNc0xYfEUel6NqtplV1OOR7ZpIx/DP5iskhBAXau1u+T0XJLTva2v8AwL6t/PbdXfNrCaV+ZdXrfTX/ACtq0vP3dTMs9N/szTZdGvZrPWNC1YLE7277mtmf5UuLRk5jdgQQwPzNyc4NH39dradnrfr5ddLkz/eStFXspJPZaa7txS3S1e8raWfNe8M6hrPw5uTDp+ryX+jTjCw3s7+ZEYzlcEFUMyrnawbce6nBLLV/nfydtLW62u0rcuzb0OT2fJOT6pt6db639fVO19LWal9E2Hi7RfFttbatYrOdXtLdre4kjQRTTRyDZPbXhx8wYMeRjIGByd7dFO3KujV1e11fomumi7aab6GiltrutdU77paWito77d7WblyenFra41XwfqEKLCb+K90DUJSFmhnmUyi1VicrGS3lkMT93nJNQ/4i+Vvy/u2Wttb9XqnaXLOVqlr22st/O6d1t1Wiey5r3M3wbFZaR40G+L7NaXeq22n6tFz5mWuMSyc7cM6yfLjIZSuW4xWq6adu1rbd12e/4NXjq5pRd7r/AIFv8Nkmne71tfTeX9f/APwQA0HTPB8nx1mtLR7W81XWtG05opW3xLZhHktpApHDlOpG48jsMV7uW39lU11Unr391/hrpZW9b3l8ZmzvmFFp/wDLu6e/WWj+WmiS03evN/VzZJKtusbonAxkEZIwMZ5/HuD0xxheuo99rp69un3/AKdNjep8Cd9dPO+vXppd7/LY7LRhi1kH/Tw/t/yzi92/n+efl4JfE/63No6xXp+Wnl/Xfc//0/7d1zgZr2DzxaAGBQScncMng9vYZ6dPTv24oH8vP/Ptpfz+6xC0MOeEQD02k/kRn/Pp0p3a6teW1vxf9a3dws3qk7el/wASncXkEAaL7OJJAmVRVwso93OQjA4wp6/3SDmqqUvcjN9dXfz/AOG/X+7KWt/x6X9XZ/8AA87NS/PL9qr4z2/hjwv4zsLt7yR9H0x9RtjCsImtlIO5UtjgzNGeRMThRk4ODXDja3Jh5rp2vt3ez6dL7W2bTMMLOX1qKe11ZWv5K1kurb+PyTZ/nfftWeKtb8SfEXxFdwwy3EereI9W1O4trmUK08c15cOkcrptETyGTzZPu8nDA4DV8BUqc+JnNrq00tdtnrq9NLdErI/TMIv9ipKy3nZdVtqlv6paLbojzGw0vSNMg0W61RTc6rZ+CtRurpoPmWB9s4sbRZc5jTfIrTLkGUjjrlu2pK0Lptafn96uvXve6b5snaLb6r57WdvWy8n3au2eL+FPEx029NtqJnlu7q8sLq2XzAjAW0rGdYU42rIsu0nnOxc/MAa5KV3VV9387Wvffrbb4lZvfRHXTr6KKdrdrPXu/LW/Lbfvc/V39oPxNqnjn9mf4WafaQ+XDBrEWlw3CyR+dLptz5DNHcx/e8ksAjNgZUMOckL7EtYLW909LrT16tWdnrZb3dlzeXXp+0q8zet9HfdXutLaWXS+vxaW97g/hL4Vk0zXtN0yKVri+uLiDVb8eUqkWmiabdz2ukxbRzZmZILhlw3+kAHOVwzpW5ba7Pq7u/Xu7ejtfW7SJxP7vlg7tuCb0tbS929XayV+i62WhDqt7qVpaXoSOPTX8S6nf67d3c7kta2drutkjZnKlC7LO4YH/WMMAdWbTV1utW2tL63fXXt5O6td3M6CW97NPd2V7667dO2u+7uzgb+0Q2Wn6jpyDUNV18tbxalMrubWBTmaa3hChX2R5jSRjtMo+UjAZcppSu77KyVui1tfmV1r0VvW7O2CSxKildWi9vmvJXtbVu99b2972Pwf4NsNOOm3N68U10YxPBor/PPcMg837ZqLxZECblZo4HHmSHneVI3eZXWrWnLrpfe2nk+qTs9d9Le77dOkpSj0atd/ddP/AD9Wtzt7rUvtVw7XdxJfakf311cSYSKJWLGO0tRkqsdsgVOMA9AuMGvIxFlJpPVpvV26ve60vfsmktm7KP1mEpKMVGNtU3t1fKrt9Fa2l3a3RtuWJdTrJIEhtxgshlfGMDJBZOwXpxkYIycY+Xgh8crbvrvfVPTRNW1117rRtndONoLS7s9Fotk7d+nd6XtuoxzdQnaJm2SHYwATPO5gcHJ3DGO3J9K7Ur7dr627fL+tXfVGUnZX7tX8tL22d139et7S7bwLIjahEklzjzGVpJUYkhFPzJ6hiTxy3GT0NceKimr31t2Wy3/z1UvX4Yndlsn7ZWu9ba6JaWt23tt2teN7n1xotxPdGCGyiVLZtqoJQJGcR8vIzHkMd2enU8luNvyOPhyyh2d0m/LS79bLRXt1vfmP0vL5rlu3rs9d3Z6K/qt7a99j1rw86wh1nmwVbZty3ULtzjpsU5BHA9OhLeJK3km1s9t92trvze107Ox7i2f4adeqv3ttuuu+kY7+zkSZ5IZBsnJD7eUK9QQe3GOO/Qgclq6d3fVLvbuvPV7/AKRyqw5ldp32+Hv03SS779raFKxtD+88whWR8KFHJHHzKe2c9Dn88he2Cunpa+muv6+a6rztY5Ixamk+nW3r6W6fenrozvtJRoFjkjORkAg8ODnHP0Hfk/zXmqpJxvprr0Wi26LXrZvvbVnowdl97Vu6W20rd9HZf3to+n6ZKgkUFiAQME9CDg99pOMEAZ9zjADctRQt8S7S26b9Hpdra1tlzbHq0qjUVfp529e99/5vmr3PRtLigJWRUyWwAx4B6nj3JznIBB7Zzu8qo1zN36tW8utvL0dtb6WZvCck37uj26deu+mz26Pe1j0az2zpyVTYxUgY5wAR7jrjp+WBWPPFac21tevq/wDPbW3c2Tcr3j57e6vy0tZJfJc2iloMkcfkgHbk+mNwyO2ccjnHsPvZIVTslfu1dr57+ve3q42XNoqUorm19VdW8u3l5XNQrEULKVUbcHHLD8OT6ZIx7+lYyiuXdLy8/mn+DVut7FRhqr3/AE++6f8An03bjArvIQnmHPALBvl2/wAPvwB03e+Tk7fPqqSlfZabbX79Lf0tbXLdKMbNNSatsn+etra3020s0rk0sbjYsYO5GBMo+bJB5yvAPHJJ49CCSF0o9F1a009fLd/j1ezOiEqUYtSkk7W1VrL1072trvbrY6WKASwKzszPIMSMy4KY2jjBycdCffp1Nb1bqm7a7PTf529Hay2XTQ86pVh7RJTi1bVra9t9fmtHbta8hscEsUjLuIjyDnrlVOfcgN9fz5rlUlpfRp69H6L/AD96195bFxkm7p3SfR6f5PVaOzt0TLWGCyS9T/Ci/e+vXB4POCOeMH5mXeUb02oq/RNbP56K9/Ts7aGsKlPnUXKKbez/ABvfRX13kmlqlf3ZXoAwdcbSGjCZAGecZ9CehGCfxGBtiiuWMou8ZauzV2nbZaq/3Ps7p2j0Thd3g276afg/iSfmny721udNa242bVKlmcEHjAHc559D24OSCCTWbhKUrpXXWS0vru9t720vZd9o80qrjLW99rN3t56rT73fbmfum3p9u2ZkQ/OqswGR82B2OVxyRwQD37itOSfRP5P8PPT03a7OWlPEwcrOaT0SWur6LqrvVdLbdUjTsIjBFMZg5fzPlBPJB+o4wTk9PTJwKOSXZ33/AM/V6a2/yPSjUkopptR1bf8Am7artZ9fL3uot/NJijUnYy5GOrkfwc4Ocf7XfPOcV1UKTlKKSu93F69N0+aNlu/XR2s3LixOIU4/jfzejsu3Xo1t3UulW4FjaRzXP7tIZejt0yeoGDyM55wB68mvcoqNKznom7a+vz30vs9dNvc8KVKVdy9n7+l9FZxsu/8AlZ977S6m2IkiLRbS9xGkoaYkLMnB8zAxtGOhyvuO1e7SjGdnFXXW3Tr879dPW58jXlKM3Td+du3Jpd6emzutHJJdW07Rmt7lWfYgKsDtab0YfwRZYn1A6c9jjFd8Iwm7X1W632b16b+sbbbs4cRRrUkpVIOEZa62e/3dr7/Na8utaG4uAxj8wGNm8wSNh2jUfwj0OMcdeuQRtrvoxkmn7Npd9NfPfpbf3b63dm1HxcXh8LTTft7N26yemvd2u9ennrpyyZiVm2MVkmBIQPkkrnnH98YwMZz05wGroq4h00/cs7eS89eqsn389NTjpLnf7t8z2SXTW+7009Ne8b+9jyzJG4JR2cFijTswBP3WU5wuTknqc8bVySa4I1YtPXdt6a76rRX331aa1uvhPTabSSWqirrazW/fb5387CS3QgTLqwZlBESpu3D2faSpHbA46ZODu1jOKWrer87X9et/N2Vut0ZKlUbT5L26u2nrqnsm3v6bjGuWeKNoww28MQCWw3qeMgZHQ85+6MYrScp2TjrFrS1ldem97pWu9PO6UuephU5ybTTbv/Wklf1b2urN+9WmuGlVEkLtDBjY7ceWxHBPOeWPQk5PXIrim3Ju6euvRdrrZJbeflqmzfDRh7RQSu29fN6aNdfvWna5nSRxSSCQysgDFd33t/yjIJHA5wQenGOxrjcMNSlKq24y6pJ762XXp3a3v25PYcq8nGgleELL5X/LXTbz6OWDdbnuYQztLF+8BjcAdPuONqjGPUZ9CR1rxsRWcqvVxv8AFe2/fTpZK2ytpy3vL18NRUaSbXvX9NeqvfWzs9nfbp7tZVjbeZI33f8ALJwMqnPOeOpGB/NmJAXkqNOone6sraaO3p69/wDwFKxnNTUuXrvZP4mt3bW/XS/pf3nJPIdkMagtHyS2Oh9ccknGfTA475qKlnDXbXRd9dOr9HdPpdWTlth6k1Utqnfvrf7km/LX12Oc1K3itgHAk3DOQvvjnac469hnAHUDFeHiopyly6qy202v6dXb8LPY+pwPPKPv3te9976eqS26rp1Whz811dW5QnypI5B+7dhhol7jPqOR1GeoxmvJlFxacrvZu19b/NbPS9lbutj2HyyhyxeqV0raXWlr6Wd+6Xaz+1RkuIpisLKQS24BjlZGPUggluTxjLHjGeQarnjyyVrOzS/y6/PVPW3Ro5oRqQm+mujUns2rLaOqa1s9Hq7a81aMXAdktgEdN2dy7o+TyB6Ejn+ZJyF4Kqu27aW3tv8A56637dVa0vWoyvvZOS3vo7de9ttW9Lfa0ZWW4LM4kSMMCR+5PAYdSUI4zyQOfxIBqEnJK3Tyfzenmvl6tkYiFpU2tLdb737b2S0s0+7srIhdp4YxNtd0Y91wDnrkjI47fXtyKz5vetfW3/A0+7e/npym/u8j10S8r7aPptp17bGmjuywuigxKQWQgncQfmBHpkHu3bB4FbQi1e/W+u2yfm1q2vRPW+8vLnKCld6pbLfrs9+ju7LtuUp4lu5JZD5SkSl1A+8oPJyvYKcdDxwMNn5dLW1dtV01V/Jrrp1Ub66aCT5m/Zuytfrq7WtrFarT1t0smUZAjeYCSjY2ll55UYUHkdeemPxximlquttb36emnXuvkvs60VUu3JWjquj1vvutNNfvTVzzrXLmW0lbYUYtkLg/K4P98HlSOxyuB0J/h7KDSkm091t/wz2+fy1ZrVhUcdFpvra9u6Wl9bKzeml7XuO0u+8yHa6xFJGySykmKRfQr0Q8HOOD/Dxtr0qck2rJ36f8P7vTbb9TyKkZQu5NRs/N7/g9NNo6Jd7HfW4WOEErC1xIHJ2rmBoyOAyjoezNyWHB45Xsw+kr3vZq3or6PTvdaptX87R83EKpOPNHqnt1Xr383y2+fIeW/Ejw/He2n2kJFHE4lgubJwGDRsm5vLJ5Jyd8ZX7mNp719LQqR9nq9+vkraabXWl7We7tY+YxlSd3BrXbR3+611/+z0l8PxTqenyNAbi3gMerWHGlzheZ7i1cmWzvgAnF1b4SPO7czdyAa+qwVWMqair389baNX6d7aLzdrHxecU5yj7qT625vwvbW9ndvl7Na3j82/EWx+138E9ssdrqAhlubWG5TAfzARd2LrtUu8EmQgP8IAwMAt61JON9VdxaTXn33016q6vfWyPlqanCT9tdLXVO6fTay106p9HayUT5R1rXDp41Hw/4ngkttNubgi21TypFuNGunGYr/T5lwY4vMAMqhlyisARn5urDKSklvZ2WvRW17eWr6va5xY2FOV+XbV2ktFvfTS+6XlzbK14+SXOp3+nJqGiarqUGp2d/t/s7Vrh/tVpNsA8ieG6UmRN6keaGc+WeGJYFq9/DyjFWle/Sy6a6t6/jbZ97ny9aEbyW270V273/AD66v52Tj5P4i0xIUcya7eaJdFWkhkhvWNpNgcSK5ZgvP3dg2gdcg/L10nUVtEk91e9tL2tbW+j0TenU8qsop+u+ieiu+vW6tdL4VbVo+ctbtvG18JGm8UaxdWnmkLcadqHnNLH0GUQsy/L1O3oecjIV1uey106Lr0vot9LJ7t3uu8SlBS73X/AvbZJ/PfXSyZw82ha7NFcWE1pql/a+U0lte6jHNfsJW5KyQvGAFPGJFf5eSc5FWoS5U1ZO2zSsvx19Lf8AgNnKWVR+8+RPs/J3euu+/ftsuYz7Hw54t0/Tbq71zSr/AE3TofLh0+KC3lK6nuO9LmJFXKRW/GSAw5xzgBr9nN3ta7V9/wA7u716O3a7v7tUnZpytZ6W2be7b06qzWq0ejeso4r3+twzix1SyaTSdWT/AEK6lieKO2uxwrFmGUk4+ZeMHnPdp9nJX01t0d7+fmtL2dt73VmpKvabfItWrtrrfVPWyae+tn3TTsafhnxd4j8C38l3pbR3LwPHBeWEuJBNbyHBkiwSpIyCMrvBXkrkBdY9pK3l2/PZeXTW+pyRg09Ul3fo9UtF1W6bT092Vlze0azrQ12W01V5YrdrmWC+QvIq3C3MagmI7eF2kZVQB8rYA4+aXF8yl0s7bPvr9nbR7eaSv73PVUvb978tlo1su2+2tr9+rcet1Ty9Qh0zXo2Rr4zQyXUcC7WM1lJHvE2Acy+WodTu+YZOTnFNSTlbVtad/l5aJ/puzSSag3Zba30Sur6Wbe91vdx7Wkf1of8ABCG61bxV4n+N+qpPiysLbwjeHT48ZDpbqjzEDI3HB4yM43egr38uf7md9PeWi0tp9/RvfZ6KV/d+Pze8cbRk9vZ2/F6X6Xuru2i0fMmf1t2kontYZkIIkhiZcY7oO5xnn64xgdMV0VZxs3ZvVeTdrb6NL5W3vfY3bVSKUXf1v5O+t3rZ7v0udbpH/Hs//Xdv/RcVcUndt/1+S/L7zeKskv6/N/n9x//U/t2T7o/H+deweeOoAqSxytJmKUpjllPKt/LHX19sGgd+2nn+m/XTp91veiklnEbJ5DBwR88RBAXPRcrkfiSfrmnp0fy6/kvwb+QO99tfL8dr9L3/AEtY5/V9XttMtjNPazeQime6d2UFRGC245yoB5GAQOenWk3pftsv+H2S63l9+5z16nu8m1ut7PXfp56d++tz+Y3/AIKi/HnU1+JWp6V8PAdMuL/Q307XJri8Ro3iljlIn8v5lji2YLJ3PJzkqvzuYVHLm3tfvvbvtfXVbvXRJ2Z6eU2542imlvfvfbrpbb5J23P4/vjDr9tL4i1XR7OWPUdXm1B1lvI/373t7NLsFnbsDlIBK26QqORz/Cd3z8Y/vW9k7dPVbd9LfZ9dbH2ylFU1bqlrftbprZta/Frtra5k2moWtze6v4dN5bPq6aJNBOqlSqraWoaWFeeiYJ7fdJIwAG6mrJJpW6dVb5eatbXa/W0eS9ped5Nrf0ad1e1lZe92V7SZ8a3euyzeL4pI5FdLSWe1hZORILd1Qk4Pdl6gngZJHBbna1eyd912V7rz5m27pR7HRSk1Nruopu71v/StsvuvL9qbDV9G8S+BfhD4QA8u9vNFgneNWYB7+0CTqAgP33jVxxyT13dK3WqVnay0W6v96217+i3ObEVl7WKtront063s9lpotP5U/h9J+BkNld/E/wAOXmoJsi8RvrPhzTpBgrDrGJrUxTM7DYGjKiPBJ611R+yrvZL+lo931XnoKq3JKVr+7b0S2btF3dt7pXeltGeU/tH2CjxNJ4C8u5trXQEKatLaqUnuCZyqaeGyrFHmcl8/eVsgDGK6KvwR89PlbX8r3v0s1K/u8tNNyjpezfNdu3m/NtdP8kY+r6jb+F4NHs0s4nun0y3NlbqFZdGs9pR3kBAIkO0naR8zEnIIC15lauoNxttZ2XbTZLa3r22SZ6+ChL2nfb73vr1+/RbqNlzdB4Aa+utXe5YEQTQXElq5O6W+mSFsYZiCEVQ+E6DBAxjdXlV6ujfdbJ+nqtG7pr52uke/BJSi3dX0Wu6uuZ/DJLf5vVXu+XuLe1W5jkXy0CxhpZCvJTPJRz/eABUDn0yck14uIlzVL+XfV9dVZX1t3tffVH1WEtyR1e36X676P8uxzu4rfeU8jJDguCAPNC8gIeu7cQep44+7n5ZS0iktOndLz83tpvv3PQeyenptfT06r4tdXo72SMzVXj3Qgp5cTMzbUPzNj+JugGRz146HHWupNWVu35f109epxVFeTfT77326q2vk7p9LHU+DLmKOTbFGpZ5VHmPy8aHbyvQHg8/1zmuev5vTe2+nbbtf9eZq8fQy7SotPRb9Hp97uve1v0slH7D8GSq7WpWZjiP5VwCA2AM+xJHPf86+UzHRRunopLvf3ldX9L2vZa+TUvvcFK0V6v8A9u0ffR32fbS7Z7d9lmOxoIcuUVtq/wATOOc98Zxnr0yCQML89JfO27tr6Pdaevzf2vpKMlKK6NWbVr3s23r7qTt1v6rV8t/bOyeXLD5RC/OoBwSe2ckg/TH+71NEZJbrTTy9XtJu9ui087+7tvFrS6ul126/CktGunXdfZpmJmZJI12ojAOvOe/XueSBn8TnAVu+E1yvy1Wu2mz91We+v/krv73I42aV9fvfa66W/wC3l26c0uy02NAucEfLnnkbj1x8568dOmOQc1z1Gptevy/9tf532v1OuMbKNtrf5eb7bfO6skdjZSLM8KnIl+7tHQd8n8OfqfYVxVor1S79H66drPR3VtdDtpt6bva77X8vuv5dHa8fV7Fkgs4+T5g78EDrx+qjr0GCGwdvnVaauraNJLTqtur76fh72qj6dJau6urdN1v177af5o6vR52mtpGJ+dctycFiOOzDuO4IHHoRXmVfd25dHyu/a/p56b31SaOynBa3V0m076cysvPTfvLytf3dGJ57sQSXEmIg+So9F64O4DHb+WcUvbaJWvdRtZ/c721dtrK3T3vs9koLlvbRJR1+XRb2W2tn5pMvNeuJjBGMqVOMcnpnH+f61DqSadtltd666f3de2mnlb3srR2W2yX6va73021e9kzRgyT5Yzucck44YA9MD1z1B6Y5rKavo31Xd26a9dL62uvS9wso9lpf8ursk5adfusmauntILhlclVf5Mn1x7BsZB7dOvOMrrTikra3u/zfV32Wr27PRpnJW5ZXfpb/AD8lu3tfbyl0wfkxoqqYxtHJAdv735Y4x+fNdLj7vf1Wuu76ptWf5K2qPPnStLTeyvf79LNeX4rS3MNn81ArAAsVxkHgE/TPPTnPGegxXN7JuTaS87/5adV0283oXG8Vb/gdf+3vz89bWjfV43t4o0TEkY+cnjJ4465Gfb2OOAK6YLZdNr+r2ts/y7c124ylaXNbRa9r/wBa9NfKyJOA6rGmMKST1HA/xPp+QzVugpbX6N27+tn57fjopbrEWSu9Xr5P1vayt2XVrTQ6TRHLrknJVHOT0znr90dSemDjPvimqSV77737avTX0Wrvt848053cpa2Tutn/ADLyve2uvpY6i0aCKXaxG9znd0A/xHI6noO4FdMaceV2eu97fn71lp/i3tv8WUOeL9pZ2bvt33tvte62vtZ7msAckkqqk55PXnp/F3Bxzzz97Hy8s4WfuprV/e0/NPt56dL3j7GHxHPT5b6pPXR6L5JJ9flu72Nu2lVVD8ExEAc56qB0479eufQcmujCL99F7PTZ/rZWa+Vtd7XOLGz5KMpdPe0X9dd3pp5XO0uLKK+0/wAx2WVnTc25eM7VH+zg9eMDt97OW+lr4aMqak/w/C62/wDJlppZNXPkqGazp1JRV0pO2jsno12k9FvqvlpypBdpEscCO4KqYUYJwDgjyiSMbVHGcHHTnit8HOKi1utFq29Nr2UX1229E03LnxUXUxPtOzu9L/qn997/ACsa1hmJHjKJL+93lySCrdyDlcgew9OB/F7WCgpSet9366dbeVraytrqefm1eUqcY6389/Ly39E9lunLSj3G4laOd1ieP5xj7uR13gY9uv5niumnUXvK199na+ve2mvr5vrH57FQlUS0u9L+Vlst7erdvW49fsy5yTuQYG4Fi8o5BV+uD3/LvtaKzUtej3v0tvuutr6LXfSy5dcBR5Hr5d9enov+Dpuigbku32eUqzyFpGiKjKEH5drjkcDPU+oP93lpToxnaysn36vW79eqttp7ux3Tw9SN5RvaWtns+y+/z020Gz3is4VE2yKu1gRnPbA5A7dgM5/hxW9SvRSb917Pe66r1+ava3naOCVVtrbfzd/L1urfDtq3ZuQ2NoRS4kz5jZ+7jA44U8deMAY49RXM26ico7a2e2n3721036rSxtTad4yWsb387bprvZd3Z7t6qT/JgMRzhi6MQq52krkjeecEce/fj7tZtS2bV1b8P10et/JcySMaUoRrptWtK9nv287u/p22b5MGWREtpmbcGjI2Rr/ETwxGOoA7EkDpuHWvJxdRKTWjto9fudmm/J7X77H0dGi6slU259dr6W+617aa36WafNmskc7pKCYREoyW/jz0Cjv1PQDueMBa8d1ozla+l+/Rvr7rv6+j1vY9VUpKPwvo7bW801fotLdt3e0mTM0UEkiHmNwpYAEKr4CkA85BPPX8jlYc4qor/Pr89mtNf12SljKlJ1dFZWu1u33s9tVd6q+29jOZniiJWTIYDp/y0IG6RjjkemBnJHvhZrzXK23+K/DTzSdn9yvzKGHbrp20ulbZ9bfi9r+ltDnry4aSNbjbvLltkZHLKMZIAz27ZGBj2FePVmrtuyVndd7b+u3VR12Wp9PQjKEEmmvO3kt1r57PXzsYlwrXaDO2KNBvVXXq3p/FgH8vUHovnVJxvo+ny8v6du/lLri5P3e2u+23W1/dvp91tOWWWJOUiYIW3HayjmM9MA/Nj/63Vs7V5bp7P0+f5+nQqTlpa7XmrW9VdpN36de7SkLaM3nuBhSS33vbOTjkYbnjjH44ptX9bLX/ACfl28vMuFbkSTT0S0u7W+9tXVr69LaalYRrHIztiQs7McjhAB0425znOTj0PrWE3yaa66af8O7a+et+mpcp1MRrd+7ZN9PV63utvtXt8zQwk1pGpAWJ94KgchhjHPbPHTj/AGQPu48l3zaaW13v37t/N3fW7ZEnUiuXmutrPS610T3to+zXTdKT0iijiQoduMqVP88H0GOhwc9+a0Ur3VtdtNfS3e6067PvaOKg+b3traLa7+99Ffr203nzmqNHDIXBCZfYSc5DkcHg4IJznqeRwKrp+X3a9nfa3T13OqlGLVr66267PZ6Lqv7z23ukYEjTsS67SwHy7c4fv93rkjOBjn2xW1GKnOzut3e+r8n893fs1Y6J2jC6u72fLorLvd32XlL73E4rVYYjJ+8njSRwxZT0VlHCk84YnsPqcdK9OnSikutrr/hved9v+Hu1LmniJJPXV3fnpdtdte1pbWS1J9Ak+y28tzN9mb5tojbHIyMN9T6EDg4AGa7FBKLaVrduzvpve/a17uzaWp59eo5qTvp67vstI9V009LJy79IvMCyjCqVAO04ClwCBj6Hgg8dSFyN21D4r9kk10V/+HXR9lfY59HT5Xu1Z9td7X00vtd97vQ5PxYYJreW1lwJDaXW0M2CxG3aY8HlyFOACD+pb6CilyRsum3ntprvd7Xe3VXPn8bh4SUpvSUdt3rq0rXte7/u66dEz5R1+xh0i5Mkh+0w3cEcxYEB/O+7gAYAkjyCTkHuc8GvdwNaUZJXvfzvdN7/AGe3by0ufH5hhua7a0s27fLTaSvqlqtbdV8PyN8S9JvZNbtdQkMgsHkAlk2oVtJ2/wCPeV2XH7q4XG6QsoDnBznFfTUqie+19b3tt+NrpNa3tfS9z5HFUvZ86fZvbsuml9tfs32eqseIfE3wa+vaJPfQARahAJY5dLuVRVnjhx5ojLDEkUiZkiZSGDDBBU7q9HD/ABPt163/AKv57aa6R+crTk21tulr5yvvFdNN2rPRn5++J9THglpLHV9JludA1NjDLy3mac+7afJc48s5JKlCEIX+LBr1IJb9ujf3XfV6tbR9NWeRWilzJJaXd7Wt9997p99b3V0zj9Uto59Okn0IyeItGhTzmhMqS6nYIw+fZucyMoHUZx16ctXRGq4bXv316362a/rrdxPHnSU9U2rXdvLTqt7JOySjfY8x1D4eW9/YtrXgnW5ZJpBJLfaa880V5YzJ85QQjcpy2VIx14OMYVyqznu9bq3S2+3be28vUmMfZ2W61v0vo/PXRbO217NpHjcg8aaReyXniW51qwgtTm2RLm5jF2fvRCRSVQREDBHzbl7HIFbQqv3b66dH97vpZqybutH1eplOKs3bzad7tb37JO11+DWilsaB8W77U7ibRfEOtXMqXKPHpTQSL5dmQuEtWZsEQsMb8Kc4yQM10xqSvbu0tPktbK9/K7svV8vHKUop6X6P5d9JX9X+OjjneK7/AFhtLe2uYYb7T323FhceWBLb3EZO6MygDIkPTnp1ArXf5b7f03p5v05nzaRV4q+nV9N7K1nq9Nb6WT6393j/AA2uga3IZrK4ubLWohi6sLqXfbyuMBliJYuH5JXI4HQkfebut73vp/w+lnrfTbbW1yXru3uvW+2vbRdtb683KdnpOkh47u1kuGlvDcyvprPIw2zxp5xtXQ5+8qsFxuyP4Rk0m01y3tbXv13StrbfX5vVI56kV7RS2tbdX+HRa767u2mujl8UfePC2nJ4k0y0vdBnD3F7fRWN1YZDvDqSDaqxoCSElCbGPBbgY5JqVHlfNq79H+f376eltRb6XaTWmmtnslv3vro+bfZS/qZ/4N3fG3/CM+Pvjf4R1SF4pdbsrAr9qcczWAljmtULcl4sbgvzcfw9BXu5cr0J325/TZWsnda226d2rnyOdrlxVJR601a3Vc0tGtdtZPV36Wuf1/eG7uG702NoWLRr8qE4+6M4A9cc+n6At1VY36aLe+u9raaWvvtptp9l4ffbovya80npt+WqPQ9I/wCPZ/8Aru3/AKLirjkrP8f61f6eh2H/1f7eK9g88KAG55+62emaAKd5MbVTchC6BcSheW2HuAejDtnPT3wp87f1+r7jvtp336rz9P62Pnn49+I9V034e6vrWiWz6lZ28c8WpCzikurmG0MTCVmtof3j+QeSUC47VFdctNvu9XpbXstXt1/BXsc7ouc3o7uX3eW/XTdaeVnzfwc/tsfG7W9T+IPj/S59Sgh1DUHktdPuJROb1dNildVkijYmSJymY3WTa8YBzuwBXyuKk3KSv809E1tpbu++q11+z9RlWEXPG26Svfo/JWXV62s1Z76s/HHXLbV/C0Wo32m6dFqWr6ixSDXZJVuU0dnDNJKYiN8cpDZVycjacZwNvJTpX95p2vdt9NU7LXfpfXTVJWR79RWfK9lZ266+ib01eltP8VzwW31aHw1dz6hPdz3Wp3jmF7rzCDI10ximMZYq3l7JGA7NyCeV3aVXypW3u9fJetraa7dtjh15k3o7t6dFq76drJaaLZ9JR5DwnorXXiwQbGjtLa/kkkZwTiGSTcFJxjLk5BJ5xkZyNvH03u/z11vbz0/HpI9DD0+az1flbXTr17rZaavTVn6hWHiKHS7TwQYJfseq6Nr+jXmkTjiSS3hXZeWig4JEsb8jgcAFTkmt10dntfTrprvbffXbrfc8/GUmql1vdJW11XW3urW3V66vSzUvpn4K6zb6prGq2KM8er6J45h1bSpi22HM155twsecHeY5PmKFc5wCOd3VFba6K236aX8vy5rXjoo/u7eX5JW+b9X80jtf2hJtKvPi34h8VwWv/Eu02C21y5QjEF/NbW9uZbdztw7SXiJ5QBycsMj5q6KusFfsvO/R3fXXpbfe90TCKUt2tVe9r3vtyuTtpdvvd6K9z4+0bxJ9v8XPcasjMkkEk95byK2Y1umeQWZ3Z2eWH+RSQQD06V4eMX71dWopW7v3bX06L8Y2fLoz2MDDZtPR2bS/DV6O22r+dontvga0lutVFtpM42xzi906FXG8ITi4t0xuBBhZ/lGPmyCO1cEoc7ttfe+r0Wm9rWva9tEr9fd9dRvKLXSST7WTV3vpdXve+ve1j0C7tDpD3WkQqzMs7yznB3yFnzbxMeDgZyexzg5AzXk4qHLUs3oov56tXfdO3fpre0T6nCfAvw630Wz0t176ad2Yd1pFyZJbhDEz7DKdxA2Dbzt55AOeAeuehG5knpH07drf0vwPQb9xW6+um7t19NX839rkWUNKPOUzMCwyXADsGPyKOcgYHTHqewrdWSX+ffX8exySju+0treT8/NNWT79fd6TwwoGow7SvMiAoABhdw4PUZABHPXdjjkVjiFdLpdNX33srdNr36rula52YF2qpd7dVfTv3+/5S+z9meAI41aOPy9zRjdu6D+Jh/CcAHI/kBjNfJ5ltHRK7dlv9qOr+XTor73aj9vgpvl0T0dtfLbp2dm++nvWufRdtiNTLHK/msyq6IpCpjtnkd855A6fNgivn2ltr1132XytbtaV+tvdPpqHwpbv77q+nb/g9b6MtXiTTpgHYAATIRjdnk9dp5/xHHBrnnOzik9dflpvtJPS2lui3v7vZBX5tGmtN9k/vva1tvOzs+bOt42RJZSu+JPl3DOGY8D0BxwfzxnANdKn7qV9Xp9/XvfTsnp580ocbNLvtp5+cndJdU12ezZ1unxg/ZEOAoALsx6/xZ5IyO3U9cgjBNZTq8q6v4m/Rp2/y6baJXijZq0V3u1byW17vd6WSdknq2dbp8MS+bMnzMZfkYD7qj09S2SRzz6KM7uCrXk72Tduzdnty9Fa3q336HVT2V7qyjt3utem1tVfTfS522mss7CFmc5Ixg4O7vnkjnp/MnFcNWpOyaTt53T+7/L5N6xPRhJw111t5Lz6Ppr0/G518UKHzIbclWQbS27gkdRwDnj1b3yelebUbnLRS136u3yUV+Gnlf3uqnVad77a2T3+VvLz230vHfsY2kAicsAoxtHQdA2eDx0PO32JydtcrUYa+8uVLy0/O2902vO9o9Feq3BNPeSdk/LW9uzdrLr1XwnSrpyw5lh+dhtYsQHI9RxjnnoMY7g9KqMNVfe9tla219He+u/vfmzl9rLTXr3f9f12bNi2gTc58rnAJcjv3IHHseDz3xxWsqfupLW3Zfls77783y1RFSrJRu32vaT6L/C9vT7rF9FVPnKHCfdYDqxGD9Mcd2478U4LlW/rfRpX6/8AD9k1quXmlWcleKeve/l15XqtV+HROV5SptVuHI8zfwF5LKOOTxnpkEg5z14rr5VZavon02s9N7a766re7ZKneVpaPu3+loL8dOnQJ7jEiJtAUqznLDI+X5f72CDztH68qtclJRbbSlbpbfom76u67eV90RLm5mo3tpbR9fy28v0lWieTmPzNpY7sg9R6Y9c85B74xx83NJ8stPet1jv6+afp066GsYScXdNP073fePS2n5WtLcs7ja+x1GVQ/Oce3t1PTkc89ONvVTel7PXZPdP8bav9FbXlxlGzSSdnve7tf8eyt5o1bSZreYEksjPkKmRw5HUAEcE5PGB3AxheXE1HFScVqlf73177PtbV6NOJ0qlL2MrJtuLS0/Xqtb699GmrS27W5W4uAzbwN4THIHHYdv0HcDGVNZYSvUnZyTXSze2q8pX6+mlr3bj0ToRWDveLkltZOTulZ7qSs3ro3snZpHSOZR9nZU3bi+V+UhVBxhueDgDAPOTj5uQvp2hJx5pRWnW1u7tfrq+sX2dzmy+E7VHOMopRna667p9Vb87dNjZtiFaFlBKj53Bb5Qf9roABnOSVHqBglnCUadXmcopX02Wu3nd6JLXbXWz5s6qdWi4vSWq11en327LSXlZJROrttaSQeXzGExE4WQEBuoY4GBuHAJ6gfKeMV7zxMZ01FOL0s0nd7/4lbp+b7R+Wnl8o1HJxlFapXjZN2vbqm7vp+F0iaWeONY2Tcyu+9yCDh889uRnIJDDscHkVgqnJTbUla26f367Xf/bu9mvdudGHot0/3q9nLvJWenZSu9F6W1105Tat9REsiRsuEMY4Q87iMfMQo5B9eee9ejleOSclKWrdrSb1073k1utvLfRR8rHYVzlqtE3vpf8AC3zTXTuubZtJ1S1jjuWVJBI/7liMyqOVAbjJx6k9P4ua9elJqTlrZ66N/wDB16rr3s/h8ivRhyuOi2XRNee99W+iVvk+aUSRygsg2NjdHC4HJXtkgAnHoCRjPH3a3m07Wffbpt/i331XdWdvd5YN0tk7aataa6X62Wnf0vYy0T/SGmc/vGOUjfCKpGAx3Hlvm9MfphvH/dxqS5qsbNt6tWirvR9L6ddfmj1Z1pVYQUKbneMV7sb3023a28/PSwySYTPOUeKNwcgkj92w68Hp0J6jPvnK81adK38eL9Jflr+nrfXlvDUazd5UKlmkryg1fVWd/wA/+HIRe7EG67ikxkyyH06FVA5Y+2QfTGSKj+06UIxhGpFuKsrSXvPvs/PqrrTXQqnldaVeb5JxUpO2jXTutHf0t62ZDDrNuu+KISTKxY71XYCOMggjcACBzjnpgZWuCpm9Zt8tNu+it73mm/v6X/FKPVDJoxqKVT3Ve93pa10lfRvX/Dbq9WjMnurlXlPkkpJGXTjAA64AOcjrzgHjIIx83k4iviaic5QlFS33vp1d72ate1+q30PpMPSw0EoKpFtK2lnb7mtrLr162Zni6mZGleMeWjDjOdvTIIxk/T5R2xzleGNSo3om9fW/rt/6Vto7as9B0aPLdSTsna2q6aq9tHbdt3391aFGQag3mziaBoSvmvF22j7gIGep4b73Jyc9FtyqqavGS009O/RXdr/lzWtLFUqKnzNpPu0++t1r0tfqkulrkHl3srv52IH8hfs8Kqdsm/kFMnkkd8Ec9D0qKk6/LZR5m9LLRp6PXR+f5q9mpUqdFVVLnikmr/K/zurX3+/RS54m+WcKsau9uknk7wVRxk7lxwNw4A47dq8mv7dczlTkr79brvulr0+HXq9Geq/YO3JOL0Tb89PL8rX0eqd5V/tLT28sUiLDdJJnaeoU5O3nbwM5H/s3VvKq1pRu9F001/yv6e7ZvptLphRUvete2m++70+G17/ze7pa2ilmeQCFuoSQFfDITzuPDfgT3z15GPlrKniJa6u172eu2q6W6W3v668tyjCOkvdbulot11dtlbS3axdMVvNuBwspUONnPu3Gc5zjoW9+F+bWNZp6vbb77dtFre7uvJfa5KtLX3E5K9la+/Z3dvy2s2rplIxqSYt2AeSWUg5z06EHJ/D1zjDU25yja1ktbadra+nZS9NUOn7SlGbabjKyWml1fbX81rpa25qGx22A8liZVYkovU+uADnIHJxnIPJHG7pVKbWkdemm9+r39OlvuZwzxfLO0lZ3dk+qX4aO/VL1v7tX7JLJtkWTaFjYuH+UKV5PXHI59SevbbWSo1oza5Gk9tLX8lrLo+2uq96ycXPEcyVrLztrqrd3fvqlv10OX1LYQYpNsm9t29v4cZw5GD8uBgEHgn7o4q7NdElazd+9tb9bP17dbx1pVGvwSfTpr0tffrv13jzU0rojmPK7QTvX5mO3A/d8ABiBn+L3I61pRly1E7fL+u17a3/wux3QnfSbSjbRvvbVbK+l1q/RLU4C6uoprkr+7l3ttYMuChJwdwP3W56/KB0ycEt61Nydmk2tHb5X06L0V+3Zx5asHKTcU2r2Tvo7N26bv3dH3v7ujlu2GmRTPguiwIofJwUMgcMqPj1IHHXvxkqvVzW02b0s+vby9NV1s9HzYqmn7ttX9lrdX6NvTRr/AMBta9mdtYXPnuQkRV42cTRkgIzADYy+q7Rgds8ELkit6MXdNp20111Xy21Vr2d97rU87FRnBu0XZ3t5vTXTz0s+ut3ZqNDxPpsOpwfaLJBJPZ3UVw6rjIgVCskeODyx9OfQfx+1SlFRSur66N3evfTsl1/vO+iPnqs6sm4uOjst+nW75bdPNq/U+bvHujQ3EE81sDaSoXa2Sb/UBnHKyNhdhY525we2FzXfhpS548u19Wr2fnbXtbR2Wq6Pm8/EYecotqDd0/N9OvvPRdLenNb3fjTVtRO648M6m6RanO0osxPh7e8Qnf8A2e2eCJMZglDfu2A9jX1OFqxslKSXq9Wm7Na9dbru9ua94/E5nRlHm0tvv06f3bdXy38tb+94r4oedrKBr2OfUNHtJDGW3N9t0y4hbb5F2wxJ5Q4WUMFWSL5+fu17+H+NLru+idtvwu7O3l2l8XiFFXbav0+et122tqu7XLd8vy94r0HTvFela7Z6pZW5llkdbWD5VliB3eTPYOU/0u2IK5K/NGSQdvRvXjovhe+t9+no0r6b9E3b7Ph1XJvRX6u17Neeltm+vpe65fi3V/AHiLw5eCfRtUh0027MGR2KSOM/dkRXUSR8YAYcAgcHlrmk3aD5k/xv0va+qte/Lv2VjmXIrpvktpr6/J6LbS3XTaNXw7rdxJPdRapp1pJcxSN5l9o00VrPLIufme3bmXkbjxzjIwTVU4K6uuXZ/wBNtdldWfbRnDiJxjfkd7rv01u7atb6u8uq7Ho+oavoWu6DBYXxsdQljz5ttrFhJYX0eCUVFldWjuQF5jKttPBGc4XvioJJya2SWy+XR2+WvS1kjmnKVveVk0ne9l1et079rXV9XqkfNvjv4I6JrF9bT6I0fhN2G77XbyJdWayuNysTB88WW5Idflz8zZANb01B/C07rXTZvy06XS1svJmXuSXxJ3u2n389unn0TTfwnk1z4d8X+HLmfw74pn+12LqY7LVLVmms7ltoMUkcmCqyFgCwJHPUfxVTi7u17enfZJX6W19b2jZc1RsrK9rK2vVq/pZarRuVujbUjzGPw/qWnai+rZnjhiLQalJE3FvIT/o8jHoGk+VQTjPTnOaiUrfF1fXR6eXvW/G3fZSi9t3fR6tX2762Vmra3s7tLpH0nTrnUNRXS9atJt13ps8bXVuAf301oxKSPjICXdpvV3/vYySBhp5lzu2qty2T1eu+ia7aXWvw66Q56tndJ67X9Nn5Xt2jZpr3r+97Npsk/wAOfiZYNZzzJovim3stY0yYZWBTqEKmOSPDFBLZ3QmiYg5wpPHWtXrbV9Pd1W+r3vr53k3fyRzJSjJN/wAy9Fq2nfm1touvm3sf06f8EA9An8Y/ED42X+sahNZ6voKWuoWMScTXaalNJBLcwbsM3kHY7DBBDOOy7/bypJUailezqNrazTikmlppsvs2/l1cT5rO1GWMoOL/AOXaTS11TaSt03dvxTveP9kPw5ury3tf7B1RBFqemRqFYAgajbEEx3aAnJLrhpAPukkAcg12ztJLzvp/X9d7NOMXQ0V9fx09fnZPXXrax7vozN9lk3K2ftD9OmPLi6Y6/r+mF4qkbS3S00T3td+b/rva8upNPb/L+t/6uf/W/t3AwBjp/j+f+fTpXsHni0ARltjZb7h6f7x7H9T3/op/X9f1+Yf1/Vxs6M8TKcDzFZQMkcngHI6A9D83QHnnKg/62/r8P0Phj4+P8W/AsN9rnwzvU07V1lbUYtLuYob3QPECRI5n066DuJbWS4AULOGMZyQQ33qzn7ykmrpdF9/ktb93be2jJeHk37WNRwUve0enps+iT0ivTS5/GJ/wUYl+HXi34pTfFnwj8PdY8MfEPW7ee2+IXgG9sVGnyeIbZ5vtl/oGoRfu2tLkqGe1EazIm6RXJB3fJ4uPLX0bs5NNJW0f/gWj16db+9py/XZbR/cxcar5np8Wr8k7O/yW27ktD8TfiDqum6jbWzW+mXVhf6pI8b6HZLMS0pk2rDPEFWed45hyu8IRk/LgVTWiS0SS06Pz0Ttru3vur/Cdc4zT1qOezvdtrTq9mktL2Wve01H5g1zwX4ov/FAstUjMd150SQ6fCjXF1KWCPDCsEWTahRtd3fCooO/GMNzT1k+2m+y06L3uqu9La/auuXnk+VvXVPTz02Wmnm7b7tu6l6/oJ0bR9YsPDUn2e61aK7gvPE95bPFJFZw2skYGmq6ALLeMzqksbMwBVs5K1EXCMuVpN+i+/XVbPq/Oy5XLoo1rU73kn35rfml53++ysj2/43z3mm/F3wn4b07EGnJaaZ4ksWjwYbjT9Sit5FdGG0b7Y5jnQH5CxyoOK6nG8bpLWOl11S9Vdpa3Vuye6lM6sJN3auur11u3ddW+Z36PRLa7l9A+AfEyWHxHSytHKxXeopJG+djxSfYoLo/dPzqFdlQ4YbkJxnhudt05WbbXndbadb6aO22vk4yLg7wv7rSelr9Ft6dbXXZ33j9I6ne2mpaXpU+u3SRW2pTtNcvJ+8aeLT/tlzMsm4n5UNtGuxvlYuCVPRto1r2vJvXV76dN+XdeWnly2lFP4lF21d1fWzctulrK+ieqfzj4F9lsD4cvPEUdpEmr+K9Tup03jm00nzvJs3IK4V51DyKBtwoUDOMrxYyHPLmTV9enlv8ALz89204+tg01O+tk0tNujTte2ml01v11sdB4O1lfD+oQy6fH5k1i8Uq3Dnbl1KtIHUbgIyN33clunHFeMpezqXk72u3zN+ltX27p+i1jL6yNNOirxT0frov5urflou72j9Q+NdX0DVNY03XdPij8rWND0nU02EJA935Oy7tJY1wQ0NyrjZjLHGcYArHGThVqRkkl7iht1Wt1vrr1T06LXl9DLFajPm1ftZLtpZafa206+WrT5fPL6SdoZY2jKT3IfyWUYTBbccjGY4yDsUMByM8ZNcqstF0077r/AC7vr1PR3/y7+fXbX79LLQ8xuQbdlODuidgTnhWJ+bBOcgn5gSDjsBztS0la7s1+vfS1tPXrezZzVdJrtyt6dGr6tLe+3T9JdR4TB+3+cyHCxtLljjng4XOcsOuOP0zXRUs6a0Tuntp2167+T0v1HQbjXVm9Hfd9enXd/PrZbH2j4FuQtpAY0Cs0aMzphsgj5kJP8RbjBLY9zgr8nmEVdPz2a1/PT/wHokm9UfpOW8rormttbX8Nb37dUuitqfSGiIxskJ3yS3O0MSAApGOOQMEYHIGPmxzg18pifiaWi307u2m+it6/DeyufQ0JWSeje+nXfW+tvmnv0ujpRpFxdxNGjKuHIkbOVXBHfGDyRxkcA4YVyNKM4Su7K9tOn/gT/LfZu3vejSatay3i7eWtk91t1ta+1yn9ja0ilAXzMHaB1QsMZPIOfyI7jGfl7FVS3/DR9vwXa/6R1snrpsmtNdei1to+q5u919q5YwS8sAhcpuUO3ypz0x24yMgdfTisZ2n00WrevyX2dLvzel7a2Jcb2etk9/l8uv3dL7HX2rmG3SNiuQNzFfugntywx6c5zngDpUaQ20T/AB0Xr5aXv3vc2py5ZOy0eu//ANrL7um13ub+mxzsDIflCnKup55J6YGD+B9jj+LmrO+3ffa7t6v8l8zrjPmSs+z7dO/pp8vM7mykYTJFt2L/AHupdjnr8v8A7McDHJxXB/w+vfTT+tNL3TdpdEZJ2a3W70/LRfK1n8rR7awgVSXLgSuBtHRWI4AJPQHI6k47E5rmqJvTW/N63v5K2vXbba1mNyurWtq3e+99fLbyXfa52FsoSyJJCuGw+ex7D72PQ++fvZBohHddbK2nmv7z6t9V3vsL+v8Ag+T9b9/tWi6CVyw46gjt0z1x+R4Jz6ckr004a6+qtpstvidtL/ola5M1o+tu359f67bj900q7kGF8zbhhx7/AKnkYB64PQMey2t673vre3+W67t6shW5Hfe/+W/la+9/1jc89RmF1OFAG0DG0f3hzjg5BIKgjjnB3dqpfu3vdKP36d76PZPTvZ2izkqRcqiXT+tdtvv72X2sieZS7HoY8Fskcg8cc4PPfn6DNcNXVvvf8tO3a70T+dmephaWz39fO/T/ADb20va5Zsh5jKd2GDZBP8K8/L3zgcHIz35xiiEWpX0/Tp3tbVPorXS921zorQ5Kc5WW2+2uln5/he2u95dJp4klY7yuzB3EgDGOcjIAGBn6kcgYrqU3FWt1b8+i9Xfolb8UpeW5O+27V+3b+7r8r9rW5i/DIEZuc4O/dj7qjn3ByB6dTgbskty14c6lbRtNKyd1Z/O6+d7au9mdVGrZqHd2fbtfp0Xy11lsadl1AD4dnDBT6E7skcYOM9OeO+MVFKLSVvTRdt2n2v5ffY0qRUdktLa3v5enRW127HRqJ4rvLzA267WIUgkhh6fMBxx259MEL2qnzNS6rptfrfZ9PP7rEwrOMeXSz0er6/n366apO9jdtn81JEYNGCg8vnGRuwck9MY4BA5546NqqCk1dN+qdtNfN/5+V7nnVKqjNJ2vfW+jje1rfL+tzotPtrcKbab5lcqGl2kkyP8AcyUyCqcj0GOScbm76NHki9/Pu7X21XW72d+lrnPi6qmovbW67pJ300fbXVPtfQ1Htbe3tHjjlXdG7RhNzs7FWycHnr04X3yK2nRSpSWlrN3Vt7eVtX/i+67gcc5e1qJPT11u3rp6edtra7mdZ38dwwjeO5ikXcqpGSu/GRyzdeCSec+mMVwYZyhUajumrPr8vuXW3btLsrYOMqat016WfV9F0Vrvz0Wp1Nvd5jCx6de3CQlX8zcCqtxuz1fI7gcjrznanuLF1tErpry3Vv8AHdbXu7d7NfD81icNh+Zaq7draef+J2b1en33tG6t7d4LwWbOxbanmMNqY4IOORjr9KPrdezdpWbtqmmuy+JK35eehlXwNB0lZrbVNxs9Nfsx676tPTRfayJI9TluJQ8YtQik7A7EAkZZ1chlOeu0HjsTjK89Sk2ubrN3e/X73r5rXZ3skduHhhoRiotc3Kl03S8r3T/7dts73bIILaHDyM8su/hyj/6z1OQTgD/dXjPBBK1xVKN273289eummu/ddtG+YdWpWWlPRbX16enp3dr2tu4uktY0EksCRzW0ahmUs/nB+nygEbj05IP4VmsCtJtO70v1/LuvPRt2Vve1w+LklGM3eS0d769HdOTV/n62uNS4RAIzG6qwDFShDsh6gOAwznsT+dWqfJe3b7munT7+nZ6o9NJVkm2tfS99NNdvxt56SKsry3CBd86rEXeLfx5kZziLOOT2H3uCMjqW568KsorlV46Ws3fT71q9Olte/Ka0cNRpTbfT7t0/v80763tGz5o4YbxY1cRgRzyDZG43OpX725R1XjPTp0AA+XzYU6qd0mvl815X7b201ejOqpWoRirPR+nTbTS97vS+mza2JXjuY3uCslttmgG6FYyASrDsMMp6n06c8kLtUlNSs73st/6f6duvMcTmp6xWnm7/AJaL7vPW42Se4a5tpkKIbaOKWBpGyjINweI5y3A4QEMFHHH8OfPLy/y/CN9v872SkjHnbzJmZAUuPPe5Z0w0TxyHd5WD9zYxxkKSeeBjFceKfNF97K/yTeuq6Le/36HZRbVO66X1te3n09N/u0MltJkMiXErqRcIzuncHOFC5BGD/vdB1OMN4dbDczv3trp+T5v/AErXVq28e+ji+VJad+rdk+jsnp8m76c1rGXNbSodgQGN9wOzIILY5A5HHcg4GcgnBFcVSn7NpLff0/z9enXmunHeVdVGpSWyt8Xd+jfW32ntolqMWzmjm2jCxuUIlGd6YXkY6jkcjn9MLn83bt5N7X/Hp2W15axnDRy27f8AB1svlp2V2iSKyklFw0k2zYfkkABEsZHIHQh8njgDqOcitIXT8r3t0T6Jvf7k7db35R15rk0W6e72fnpFapW21VtVtK9ZoUtR+8JaM7FbGCcnb8wzkkcYIB+gI2t3xxLSStba71/DVbrXXfVaX5j56qnz3Svf8tVe/vWvd7+rvtGrfubONnmYup6h+CwbjKld3Ayc5Jz0I6Vbqtp7v7tN97J6fl52tLWlDmlZ66fjsulkvu9Hry8RdiTyZJ94KRhgqn+KMjgcgHIyfbIPTGFlySttful26213u3o9t76OXp0qFt+90t337pPTz6dbs5a4lR4cJuXKM6uv/LTP8IOcKVP8RxnqO6so6SWl/wDP8HrfVW062sdNWPLR5tNJJOy23137uzVvP/D57qKNJctPEoSXgSIVKgkHALYwWJxknJOfx3+zQ0il59+q9NLaq7v1s7NI51VailfS2z0s7fNW13tr5pM6yxSeaOKKC3WOVlBkjZtoYj5maHruJUEcle/Wt/tP5fpre608npqlpa8eeTd3JXsrbaXvpf7Vt9Pu5dE49fpxNjEXBLyy52wSJ8wKjDqW4wwwB1JPHqRXVSnd3fTrbTb11+S+eyOSu7rRX7Ld/kr9L6a7aWUoz6R+/wBSuoxGdl1Z8HOQJjKQD1Xp1Iz/AA8443epQkpTjF7t+qe9vsr9dL6rVngYqPJTqTTtKKT0VtebqrtaprXs9b3vLB8beDLXWvDt2bWONb+xZ7bWNPPFzcJxsvLeIYLRoDu3DZyvORzXuYeCT79dPyet1/5Nbonf3vCeLcU029t/JdXZprRb+7pdvblPyx+L3hq90e8juJsyvptxm3nClZ44C37reQOoPCuxbngsP4fdoQjo9d07L1b3ulst+W19Xa65fmswlzubdneMt367OyvvdqyUdLX15vHde11bm0vLzTNPluNWgttviXQxhlvbCVCE1S3gCs87SDK3CxfvrYgOMp936HBT187rz8r9dNNOmlla7Z8RjqXLGVml1Vl20fZq2nXu9bpHg8v/AAjhtja2wurDVniN1ptje+Y09rdEM4jsJpSTNBMPknt2OY22kZwRXtX3d9O3a3yv59W7pa2ufMVJPmaXVdHqvuXZbqWnnvL5T8a+CY/HeoPEdRi0jXl81UnleayljkTO5JIwfJnXIIQ/6wjnnAWrj8S3t91tHvv0/Ppa551STs7Reum+rflo9brrrpvK75vmXWfC99oy6jF4s8TaLbw2itFZ6xpM5+13DozKsUkaooEyEfOZQG5wM/w7rpbvb/g9/wCvJnBObu7/AHt2/Tp111er5vhjyv8AbHiWx0zyI7+LxFppLNb37TNKdh6rKxUy2zxL1ByhPAK4U12umnTTT6a7aq261gr622vfRbmMqjqLlb2XXb3dLOzX329EtYnP2WvGdprGTUdR03VDKwVobptu0/6sruYowPBIK5IJyBWFOTjJpdL27W2d+/Trr5jhG1n0vta7fnu/ut01bsacvijxBols2k+MNPh8SaBcKJbK/sUSO/t5P4JJFVAVkxycFQxGOB8zW6z5trL9Nrr4lrayvola97XKnF3b0au7W2a6N2Vlbf4vO8rNHFa14Tm8QXFxN4T1j+01uLNLnUfDhnNvqEccTZE0lr8wuREMAsq8Feck5XZWktdm7vRaa+Vr9Xa0ej6i5brvt0tbXV202d2432te92jlbWS58NzXNlNPJZRL9ik8542CliP3sEiYXOeYwMhs8HrWduWot2tF0fppfpva+t7O1ny4VNJdL2Xn82tL9OuztpY+rdEsbDxv4ZS08R6mumT+EtFudS8P6mkWXkRFFxaaYRnOyaTzYSwwEJXg5FbK1/Lfa/4X2S1teztq+plVXu7/AGtNG/w9UtHZ7O6tc/qV/wCCDWmt4u0bXfiDZBNJ1jTILfQNXbTiglvrPy4pLVrq3Dbxn5j5zBQTyNx4X2sv0pyW9pWtvsl/eW731dt1rZnyebtfWaC7002+15WV/e2Vn+Tv9r+va+02SXTtJ1mxBi1bS7WCZZV5a5tvLAmhYclhKM9ckMQcDJFd73avdaa9Fr+CvpbVfg460Kd4qV3d2d7addL8yvZ6XureV+Y9U8MXS3ulRXQbYJ3L+XgAx5jjBjKnlSpHQ59e4C8tZNTXu393fXu9NPO/9XNobSWukra77J9l36fhtH//1/7dx0H0FeweeLQA0rvBVsEE8cZI9OuOee364zQH5f16/l95EVnt9wRhMrjBV+WA67dzcnr6Y7DND/q3X+vl+bk/R/o/yt+N/LVs5TxZpMOsaNdWVxYmfzYnCRshYmQHCrbuP3kbqGOJIyq445xlVC0pSXbTu+rtuuvpp3tY58TVqwiuW9tNbvT52du+mt76LY/j8/4Kvad8I/hL4u1eL4aeI7vUfGPiG4tJfFnh3VYIb2DSLtpHLx6bcvE95a3jMg3ojhGj++Tna3z2Y0rVb7X0VvJNfJa7X1va6SfL7OWYqt7OKUpbd3prrb3k9vm9W9WlH+dP4jaV4Ttba41O+1+50Ga+ke5u7DTBYyaszSfPKttfTIX05GJPMbKwDEk8Bq4ui16bvX5Pt8l1W57kcVK3v79rbx18273vp3sul5fD3jf4jWlvHcaR4F09NNEv7m51d55rnXbuOR9kr3eqXDO2djEMkDBWXgAjIrCpfmdutnta2mvk72sui6yV/dvl5+mml+629d76u8rbK9ny8x4P+wadfXOpXVw4sdIji1DVrqY5ikSMhoYW7tNczsFCrklFMhwTtrNU3Kblorq3p/nr3t+LcrlSlGlb3k1ez6d/PvZO2j73Z6JN4+vfiVp0V9qt9Z6Z4rjuJofA3muY/tGhMyh9KebkQlo0j8jzW25+4y8lOvn5Yu6s0m116beettu/S/vefHmcuW71fnp/w+m/fZ6OP0d8Op9TTxz4d1C5W6Eg0/7TfRXMfliyfT7KWOQg5xK7Ii4ZGbcNuCS2G5Z/vJcy20T0u11/mWvRK70Vm9D1Ka5aVrJ9Utt1o93u9Pxu7o+mxr+pXHhayt1tluLnUp72JTcMqiKLUJpfMjiDcK4gYkbV6HvyKuFN7dLvvd/c7X6edk9E3EilrO7XXb579Xvaze3W2xV8WSrb+Ik0iAj+zdB06zt1twwSE3qwj97cEYDCFmyqA5J6A7jXLip8kvZpLWN3zJ63+aafpbfV2spe1g9Gn1TenTp69Hrp062RTLwWFtYw2xFxPLL5lxIow7s/TcT0hHRV5bv/ABAL4dZNybSs3dJeevyWvl6WsfXYZOUEm7pK6t59fs+bt2Vlbc9T0OSVrFPNV55LWVmiwSY4Eba21B7MWOeCWbkjOa4u62f+f5a9NfxtH1MLBQptbNyb9dF+Gz16K/Y1JZJfKllWVg8g8t3Z8nPXaM4PQ9uy9xkUde3b9fx6/wDAOjv5LTy1/wCD5/rHh70ETRqgZnVv3plGYWyc5bHCjvu5z364Vr4vL8d+ny/rQ56vxxtZOz11s/8Ah/8At3vb7J0WnyTpJDG0oQvjgYUYHQIFOVA68sc84I6VvV/hx06bf0nv9+t3e1pKg7Vl/i/L/Lbb7rn2B8P5pY7C1DoSNqjIONxyRk/dH4jqRzjk18nmG631Wz+9q27tZ9+3VKP6Ll0rUKa6O36+Tv8AhtvsfUWhSyraxRlWKrhs4yEzz8ze/GMZOeu3I2/N1Y+/59dLLTvvst9r7JOzZ7+Hb3+JtJpXtvez6WuvN+l0z07T7cG0jSCbeZWy64yCXA6Zxz2GSfTd1NcOLtHk6/F19LX0lbv9rfpq5etRbd1bXTVWSa1d+nVtvTTry25SPUNO+ywmaZn3KWCRAfxbTycbh+Jx7Y6r56qvm0f57p2/4PTttpLdW6vT8f8AgO13tL01Ry9pJLHNLJKcrjHU8LnIHbocZ4+oIAFelTaklfez0+d/K9t7fJX1YX2Xbp639H366Wumr+70mnSi8DoMFXxnHGAp9eD1wOpI644NZVdLK7309PNa2e3X0uKWiT1fRb977WstLPrfujsjdeVBHFCQrqNrLjk/gCCDnp069cctxSldu72dl266p6X2W19+u8daU9Wrt27qz8lrzb+T0Sv71ly9ZpDhkhdy2UYkoTznPBJx0x67vTsRXK7Ju7W973tfS3p02W3U7Iy10frb+np5289bHa2sizPCqvk53kE524O0gEcBTuyB83u397N6SvZ2un19et9d+mmtr2NU09fLXt5303Wmuno/s9fFunSRFI8rdiT5uC5wQBnGT06fiDjFVGK3vfrfbb5/5W7O5Xb8P66b7v8AzLKSRorR+YnmsB5TA5xtHTgkAjjpjA7cVtF8vvXt00a2f5bNa979OWRNS5dIvfezvt0sv162780sU5SHbcHYgbco3Z8wn7wIGegweM8cEjANZOsr6NbdJW6aa6+e7372M1GXK/dk+vwvyV07/wCXZJpF6FobiN3xhpI9mR1VFAKhfvDnuMjPT3XupVedct43fn26+em/3rVnJUVRVLpS+6S9bta/jfTpcxHQKpOCTKTGueflUfUDkjjn6ZxXPW+K0UpW2t3a6af1t7u56OFqStrdbaa+fdJK3a12n0s+dbMuhBBYMMjA4zzjAOR2Poec9KqCtBtrrq9la3XW2vnZLe75ly9FWop05RvdvRLq3e/z09Ledny9Hp99ueRSzKqxEMP4SpyGGemB6jP/AAHA24uWv9LW2nZJu2y5fXZzwhQur8je/TXy/G/bu+8tWBCyS3BYBHVI4/8AeLcEjqeeRwP5M3VCKlTd7X5Xo7Wenr1+9XvZ3tHkqRlCUZJS+LX3fL1Vrad9ul3E1mP2e4SWNwQVPKncQABk8Eevfb3wOhqIpJvo7aL5+srp20+52V2dNOfMnfZ316a/dbS+n53ub2n3HnqhIMrkMqs20Ap3Y9vlzx83HIyP4vSoRXJd7ry3svO2t/Tf7NmyZqKaV1vrb1b2u3rs9d7PTU6Szb7RFLI0ZEUaOhfeMn02gnPI4BJGP1bsw9Bya3+7XXbv2+e/u3tHw8dUXtb81tbX2/lv16Lo2lotrs0raaSZo0VpYxCgjUEiPgD5UO/G5sY+YZDBeMnhe2dNQWqt0aas16dXZq/XW2jtYwlU9pFKLUndJ8uu7X9badeW7NGwn8lbmzuLhyLl3u3ljhWTbn5SqvuOxc8lR2zkDINccp81NpbtKyuk7L77etvW9jWpD2VVSjdtbySev3btrbXTa8leUb9oYRJtI/ewSRtFKxPzQt94xDgs3cg56dBkGscNQXtOZprVNX1um+rej6dL93L3uV4nGSjTcU5PTVrd/jvbb4fK17R77T2MUE0EUoMjy7zKzKnzFeI1zjJOexyeAcdV9tRptK0E9N0t9Pkl9+7umr+78tiPbOpe09dVe+36bW0el76mRB9peaaZpikKGQfZUZS8s2SruVGCoXAOzOcAcnDGn+7b+Bdmktvu0vd3VjSqp+y10a11untv16t62fVWSfuwSm4XbbzXlz9qlcPsWAtGLYA5UthgCVJX8cYPRSdOLd0rX7pN/J377aK3VOyjEw9Hl951YvS9nKOjfda7ei/7dZXjs0tFaRJJlX5pAYxnbnjaV2nk56YHX0GK4p0rt+6tNXf87X3/ACttK/u+h9bjTjZ3k/K+/e6cr76dttbc0ZbeUSb4hHcOUBJmljwJNwzwFVeB6Hn6YIbCfOtOV2W+rVvTzfl3t1Mrwn+8TXNJ3klbTS2y1T/D1vFxhtwYo5GyZUVt8RkIDyISSYeQejZx09M8CueUl8MmlpazfbS/yXVWt57ndhq8o6dU9rXb+X4dumlrTrySxhQ7PILNZB5StgtDMRlugJdc5AAPPXjivOqY2EZSpq0kna629O2mz107fzelyVJ+9d8z6a+mmr7a3tb5NDppF2LeGWTYrhAq7kkLfwsFxnaepwFzjrzhcHjGk/dTe2vXTfdWt1XvP0TSM5YWq+//AAOyt8uq7W91uVaScOXvh+8fcEkiQhDtPAb5uDnr938RjC806s6r5+Xolpe39W+aV9Ha8VGPsVySe2vpf/wLe2zem93ryyARTXKpsZFFuGj81ePn6guMKRu46dSeDnFZupa17LXv08rpf1rptG1JPRO7/rp8vNrrs3HE1C3+zXEbcDHDwhs+ag6sh6HjkglsdQea8vE1ZKs1e6cY+Sdk/W2vRP5tp83qUIp4Z33bku3nfdeXqtE1YSWJ5UlZHZgkYOD1RD/CDz05HA9xnNLmUo3+Lq167db3e/lbXl2ly8rjNO1op+qfy2XdXXpayKSRphMsyhR/d53cnkZzwfduMcYIrllS5neSa7Py7d9bPe3fqnLac3ZWXM0nd7K/49vnu2r3HRWnmyEiUHHyhWHzFWznGRkkdeAv15ws+yp/8DS1+umnzV7em44V5rS2vk3r11u36fZS1fvJJE32aGIERODHnJynzI3fGdpxx1AwRnGP4nyQim729e/9enZdHLR1pu3NdbLW7v8Adpq09Wo27aMzpHSP5HZfnchXVSvIP8X3gD6nK+nGK5ZOF9JJre76X/Pbv91zJqM/h0s353vt1vtbdXe1k1aOVqYE0Uixt5h28Kx4ZueCWxgf/Y5zwa2k0oxtq76vy/C/e2vXfaOmHTjKV7arl/pa3+/5t/Fxk/n+SUnjWORVfAAyhwpVQwy2AehPY9iSBSp8z9Hu97O97W6vrt82k2egqq9XfTXp5+7bfutd+qicG8JZhHMrwfvHy8LghTnIG0ngd244HoMbt4Rd1ppda+nXprqla2r7O4VZ88Glbe9u1vl69emq1uZc+TcvGS0xjOPMIw4jyBnHH1PPr6nb7GH2V0/m/wDgei37K75by85zakr3V+mvfRbN66/5O5sK93aNFJGFaFynluzZZOQWJUA/KCMH2btgrWzabWqu2rfp87PXXRxtqdceSUXecVp1dm+i21013WltL2vLoLW72zmO7ZPNVi4xwC5xg5+YAEHsykgdiCa0pu9nfffT1sul+67PXW6RwYlqyaadui0Ss/d6dV1aeu+9o9JptnKt7CX8s/aFkCNGRgMRuXn5uMnGM5zzkYr1aCk5wdno23bdb26r8b9ras8DF39nUTTUUtX218tHqk/87tx5PxtJfWJj1WC5aC/sSUe7jXdIEzjZdJ0lgIJVgRwpOM4Ne/Qm07Nb9H5P/C76X6z9VdcvzWJp3i/ZJvta7a9Hd38tfet0ufHXxRurHxDjU47O3Gqxb4tStYgGs7+D+F1jxhFc4ZlHKtztbAK+5QlJpaN7arbTppu9Hrra3S/vfNYqNSClzRkm1ZJ36+eqfTVdraNpHw34xtbK11OO7sZJtJnhLSW16x8trS6HWIS4DpG3KmN/3ckTEZOcN7uEnaS2+bb07W28mrqzVtbNx+SxnNO/KrvZW7Xu9X5evfzj474h1fT9cmt21TTbJdRErpPMJYYrW6u4/kW80+4BBtZGzukjLHL8kKDivcTUldPTtu1Zf9up6fKWi0tY8OrQ5bua5E097r/Lvvf8NY+H+I9Kgv8A+0phPtvrWQu8vmRvd+XGQFZlXcHj7CYfORkgnGK6I2ut0r9rW/4bpftr0PKqU421tfTpa21r6/itut0+WPyZ41j0aSHU7+K0tv7WieRL238v7RpmsQjgm7VsyQzkZxOhGwnJ6YrXnWmvnr0W2qSfXXTl+d7nFKg5PRN69ter27r8j56FoNLmi1fwpBcjS9QYx6x4dvnS6hsml+WWSxnGfNsnbcw+Z5YMhWwwJrs9peMeW9rR69duy2u+193y3bOFQSm02laTTv3vt9q+u1nLazSuubhL3w7p/iG+ieW9l8P6ja3lxFY3KuzQPsP/AB7zsOZEXG0bizAe4ohFbtpXfX06LVL1TvrbXVyqUZuP7uN0n03v5d9eis1truelRXd14SSzudQ06LW4/sSxOqsTC8n3Xnhd/vA4yAQp64Hy1U6ermtfNJ+npbS17Ltu1KSTSiufSW1nurrbbVuzjvdeWnNwevX+i32oQaz4amfStespVuIpIybe7g3nDW2zJSeHc3IbcNuORnFZzco20a1u/wAdd2730un02duYfNFtK6dn3+7eyd1pp2ut5TjY8Q+I7LVvsGm+OdO8ia4WNZNctEVUllYZhml28B1U8/IVzxxlqmFS8k3upW/Jea80l+Dsznqr372bWnTdrV9uvZelrH0p8DJfANt8QPANn4q1qeHwvuubHW9TWH7XDLpZtZpLd5I/umU3XlxOjYyChPRQ3UpwbVmvla+/4vpre/ytHCrflSd9Zflpp9/fS3u31P6j/wDggdpdtpPiT4seHtOv4ltL/UNIvNFuHIB1HRYnvB9kmRcrHOse2QZTrlSQFAr3MBrSqNfzvW118K10tvbTpZ9bNnyObqU8bQ5U5L2W0b6vm672Wz26bK8pH9hGlhk0+GMqV8lWjQPySikbQeQQCDjv0APXFd10mlpdadH31tdJt7/5XvHtp2hTXN7rSSV/uu9Gvk7fkzpPDtsIbW72SEJNfyTKhBxGGt7ZTGoBIChkYgDHXOOa56sU5LR6K2jXd97fl91iaLbi3LrJ29LLbr9+t7vqf//Q/t3HP5n9Dj2/z69a9g88FOQD/n+Q/l+dACqAGHuR/OgCO7kWFDIQzMB8qL3bsT6/h/Imgd9LW+f6f1f8U4+f+KfFyeGNB1TxHq9vdXdhpVu1w2n2EUj3UxzgRRhSGkmkPChcgZJAGcVUEuZ2Xm+vRavTf7u7bJ+K6kuZReilqtunw/nez1Ssz+R3/gsZ+z/o2seCtd/ak0rS/Fya/wCKPEFnGdJisZbTTtE0mbKKbxJVMi3+47hPuActtPy815mYUOZc1lzRu+bTtbdeb03Xba0erB1eSryx0i7aK1nv9nydvtP1TVz+R74haFqOvQnUVmnj1nTYvI1SyMz/AGi/sBkRXVrExwbmJRidVGD2ySNvgJcujeqb31e/mktu7V+yvc+sUKU0m4x26K/r5/hGzi1a1jwRPDrI7RmWOCN4zM7zyCIK6E5LMwDbiMYHc5AAGKOXrp+e2tuuyae/zbTRolbVWVtkuluiXlvvLTrub15baB4q0vS/C/h6VrPStPX7T4m1KcqJ/EXiR+EtLSRcA2dmMomdwIUnjLBS1r/dtbRej1to+vztY5Zzmq0oOUuSysm7LZuXnvr67215vMNV0Say1IwxkyrbyRWdqZGYMZ0K58peqpH0yCPXIzTet93fd/Lbr5/dfTY15YWuktdb8qvdbvtpr6202R9sfDrxrqcSW9tql0l0+naMtpACfNaCGTKzyXMjfMzeWGC7sE5CnjlsJaSsrKyvol0e2nbTS23WWvLVG6sm7vmv30T0Seumtl001as2e6aH4umvtI0vWrvAWDxNaNyxWNNOEsqGRIPlUKYUXPqecgEljme+u92k/wBXzXb81997R6ocqkrrVytot7q929Nddn00V7WOg8T+MotWv7vWVs0h0xrg3UB5V9VuWfy7PgcPDHtDOuCrbiOetcGLd+Z6X5d9m9b2tsur0ta3mnLvocyn7q0vtsk+ttfO2rf5uMenwXt8bS8uJZI99ys8iRsduSAPKBx93BU7cbR0A4IrwJc3Pa7adr7pNX38t2kn3tsj7LA25U2lbd220+/5XV7a6pH0x4dNumneWcp9olRCu7lVRVUndwRknnGc+/Rbkk07pPTV79NOi1Wvf8LntU2uXbd7fppdau/T79S1thKzFwZBGzlEDcK65wG+7kYx254BI43csLupZu/dW0Vpaadfw/WV2Wvwt9dErW7aN+Wrt192xw2oSSRiUM+0HLuoXJYEgxgHAJGO2SMV0fbW1uXTyd27/wBP7jixFueFukPTq/8AFrdO3m9G9XHQ0cI89uN26U4kdz8xXP3VwSCBg5/QYxlSo/cf+fzf32t07+Us6b5a1Pykl5bdd3pb5X0btaX1p4Mut1lYqjnerAlgex5IOPXJ+9nHTsCvz2NVnDRO8ZX82tr7vs/Ppa6Z+jYGSdCCXRd+l3vo/X4k+66H1Z4UuLmcRRyyIluVUjdwWXAyd3IJ9icY5+XI2/N4zRprS67LW+9/ute179Yq3N9DhpRvZWenfa3RabLW2v8A29Kz5fcNLa3R41jBCL5YRj/Fnv8AUY/DOMDkt4Vedkrvvvrt0W7XqnrbW7aZ7GHXNd7advytJJa+bvbXa50epW0V1C25MhcDBznJ7jGcnGB16+uSW872vvKV4qz121S/4Plts5actzpW2frpf0b1jbXz72tZ83BazYpb+WkKBQ/32I5xjOO46j8B0x/D2Rnzq2vu22el979brXy+Zk4uD5r3bb3b9fwuuuu1tHzU7KQwMGjG3auQox8x9+mB+vcAZCrtKF46u7WvVb9N7699fRXOuLfK+l92+z1v1vqutr93Zo6/SmneWW4kwFlCALgFhgdeV44/3ux7A15tVNy6pa2/4Ou+v4bdSZO706Lp5fJW/HXZ6nXxALCBG7luWJON3Uccc9CQO3pWVu7euny/He13+l7HXQp87T89r9l83q1ez5X63udNo11MsTPxkZjBPYgkj19P8MdamT03u1otb6aO/l977NvQ9JYW6v1dn+T1919Onqn3l2umTTG1mRJF+XErnALfvDwF9GXg89BxxkMqu/N2ffv06769NfPYzlh3CSfS66779dH0tp+K1LNskr3DbmD7DGS23C7jnIUfLyBnof4cc4+bOqny2S6vrdbbrvpq9unw393o9pGMUrX1u9F5ba393Xd+betzVa3+0KzYZtrcnkAZOOMYB+hA65OcYrGNNrW6atppe3/pTT0Ssr+q2H7aKjfS6tbqlfr8O+lvlo1a8tOx03yYXXzcMw8xRlj2yRz2weh6HoD96uqhBqafW3ZLS+vfpva3bqonnYjEqXMl0s0tNO71/C1r7ecsyaZllLTR/uoyRFt6cDDE88cHuf8AgQwd21SbjNcu/wDw2qX5axvvcujPmSS2a3vqtNOi29VZbc1xsUoZMhfmfd5eSBggnA/iH3fX8M8stxrppxlZRlo9eyvd289NLXetlsbSpNXla3K7999X17229LdC7ayK22MqCzjBPTPb+8fw478KelCVKU1qt9u34rZ993va6ceinVqxjqr/AHOy3d9H2et/WKsjoopfJjjVMt5bMXU8gkdCAd2R29B13EE7fXpYei4Stu1ZeT01319db7WVzycZXrKok00m1023v/4Dfyv/ADLUvvdxNHAUJWVpXWQBRjGOeqk+2Oo9gVrnnhkndXuul910d9lqu0r3VkvtXRk5K1t9n3fe23XuvhT1abjuWTCEww4LMPk4yOGGcdsnn2PQcYrqp6JR2sv+Bt0+9em7ldWFrtt6Ltb7ve8/72vVaKPX2YCukaHcZsAAY2x8kDeuOcngZDenH8Pt4ONop699dr669L2u3rZ9dLo+Wx8ruSV7O9+tunZW07ON7O/QuX0d0R5qyc/6lSV24liOCw+vUE9j6issdWtovXv/AC6P4eq33V7aXubZZSvG2u17PTv1vbTV67Wt72qjYtciUQCSJZY1G/kndv8AmOccYz1xjPfOAW82NVX2X3+S291u621+6L5kd04tRa6vo7r/ADt+FvvUN61l+0ywISCyBlUxjg7TwM4HJ+o/HO2uyFTTy1s1+P2fl+PvXsedONm3q3uvyutd+vW7SVldnSpNKJEWAIhjQs0ckeVaUDg7xk5Jx3OM4IbFduHn7jb22779/dXroum6TfL58p3q2vp2t93R7dHomtUtOUp2BZTI94ub4XEl1GglMcYU/wB4ZXIxyM598dWxpy/fW3T21tb5fJdb9LSS93qxFFSpXbtpon+HXXW17L1tdc16bU4pISqwlSBzMWzg7vmA+YADt9OxJBrsckrrr+fbdafNL8LS86nhLarrt3v92t7df/JtWQxyyTZEMflxS8TbiSpx0K56Z9cHP1+ZeZyt6+vzff8ARvezslIq0uVeVk/R/jf5O0dtbF6JktzsZ3jdFLMN24OoHG3OcHb0z+G3kKqkuanrpp028+i1628tG7tGWEjJ1W0nZPva3W2nf4dunW95ZL+ZH57rMrQMwHzDc8Ss25n4HBBO0cDjHBAIXw8TBNu7169mvwV31VrPrbRHr0ab9ur99t+z0319VHXa9zHkFmZMebJJDnBU8Lvz98D0GPU+ozgivElC1R21V/8Ahre9136/K95fU0qV4Rl5XemuvzWumm3ny6IlWZfMCREuQBt37ShAH3TnoePf0LDGGcoO1vVr19b/AI6b6JopwX9a/wDtyv8Ah+HvTW9wgkZZEjCNlZVcDjPUKw3cnp6jjOTkVgp+yTjrq9rdHt16Pz18rrl461FSb0V7au34fZf3x9LauUqYjnhMSvtCPCsEh3IRnKqMgnuDkke3ZamTdTbZeWq/K6trv1u0r80eNUuR6u+0vV9rbefXts040LpctEJFZLhXlADj5URxgqCeoByVJBPbgn5uGvRbnff3UtL2du2yb37dXeV7x7IV2lZaxvr12T9fwj5aq6M2cS2PBlYqApIGPmVuRnj36EEe4IKtztON9Nei210+6y8153unHZTUuq32vfz9elr3i+iehBc5PlunyE8k/wAIHHbkZ/D2Gc/Nk5N6PX7lbyatbR67v/5GrJKVl/Lt0vd66fLSyu9nb3b+mhZJFkYLuBZN+ONpByQM8NkYz+Q5JquWVuZXs7X0Wt3qvPpfa/8Ad3jwzq8jstX+X/D6d+va0ZZIHVwsi/3sEHdvX+Ek4X6Yx9MfxOMfaJp7Ky1u2+/a1nbdS06xG66mouyTtrd2fmtpbb/N73vHJuUaEbliScCQboiMnA4znGRg5P8ADnnHcVi8NrdX3+XyWq16Pm3et9zSE7J2uuu9n37We9+ltL2umYd3iWCUj90WbJBH3V7bSAMgtxn5PfHAqqtJqKtZbXt92ut1po7vXZNWOinUW1n9/wB/2ZW1t19XK3u8vdq7bnkGVjG0lBsHqrY5zzgEZ68HOSWdJWdtbv8AP1779t32bl0J7Nf1+X9d9jyrXZ7mC4EsbK0bySbQ2QytgDkDjaAGJyeR2XB3dkIa/mun372/4ZJXblo353dr66W0uvV6qyT3V9RlvNIIo5Z2jK3GQJ8Bth6FSNuMdACSe2c42V3wlZW001X3b9NVd9+/kYShzO9u7el7X+63nZ7drpmisd2Y08rLRxOXMgOdykdNvzexYY4GfvEnbSinJXb67fLppe6030303KitHF2fy+feT7/zJ+VrSuWJa4lkJKK7mNwSDhhuKsgGCUbOMkdB0Bya76NOzsn53as3bp2W349bNx5MUlBSt96W2ttru9vPppp8R6PpMMi6fNM5KPDPkRnkgbM74mLZKkDHbk445r2KEVFxfn9/rvZ6debbrZKPzuKk3CUNU5ab6LVdLJ7avfz7nL+NgRaXN6Eybi1zNHjckhcBGwOcHHzdDg9CwArvhPnkrJq3/A126db7/wB16nmOnyRatq11v1V+r7aWs7a9vd+H/GmkS2glu9JkxgnzYDnbIGO4tE2ThkYfN0HGDu619BhG3blb77/ctnf0snrbXSJ85mEHJu3xWad1e/mtrb2WnR7acvxR4/8AE0i6g+mapYW5W8Vnb5FaPULVCVkiBKDyryIZeAgKdyrngivZoL3tfTXS21+79VfzVrcp8fiafJPW6vq1a1ru2z2V1fd230vFy+I/ihHqfhu8vvs5OpeE7p/tenXhX/SLViBlZFX5Q8YJinCnduTdhT973aK938PP5fom9tNDxMyiuVPe13q7rTo/htfd6S8r2Z49BrdkZ47e+upNPNxF5ul67HcSbbdzwbW+UsVltWJ2kNyu7HOc12Wf9frtbbt8lZ8vzk5WuuvXrb8Hr92i01dzkvG+hJcRXNzaalY2OtxW0kskSfNp2uW5BLeTs27GZQx4GRntg7lZvXpba333/r13FCd+qdtn5/57/wA17X93aXyXea9rHhKdJbGKP7GJDcSadIvnR/fzLGm8ECJweOcgHODxXTTk9F3tGyvpzLdvWzdtkl66nBVoWlOaWrcr6tvV6W0vrfvotevu1vHfhafxjoMfjTwE9xFbGSSXUNOUkNY6z5W64gtwMoQ7BigYbird+N3ZCKa16P7r9ejaWnXrZW3OZ1XT2TfdPpd+muqS9Fdc2jj594f+Kt1oFvHYeNLOXVdKVFt3Cjy7qynV9ryoDyuASfl789qUG3UktbxulfdevxJ7ddXfls72jjUlz+90b6dF3ejennf0vZx7DXfC2i+I7KLUdB1KMtdxedouqWpTlvvrZagFz5cwOB82C3bg7E1lTuld/wBPq/5rWfXbXW3NLNayjbSz1+757+uvk1zHI2niG41CE+EfFdqtvf6dLGiXMkYAuU5AbJwTuHfkdAP9vknT5L23WvdO/wAtd+2lvidvd6Ela719ei2Ta+1p0921ulnye9/AOzGi+OdKNzDFrPhiK7S+1HTLpC2YoJVdrT5h+7jmUbi69l696ujFOWv6PZ2dtVt1vv5XvHkxOi02T/4fputlo7vvc/s5/wCCBXhHT9dn+NHxFs9N/s6KPxpbaNounD5raGyisjdiCBmBwVErKGBwQRwQa+nwC5aM+3Nbrfa3959e3S2t/d+SxrvjKet0oaaJLSfe/Ty+JdtYn9W1nOtzbCRFKAIFaNvvRuBhlPqMnAIHOO+K0l8d/Nf8G61s9Nr/AH2RvW+FLr/wUdNoLE2b4U4+0yfj8kXP+evWorJOSu0vdX5sdH4Pmz//0f7eK9g88KAFHUfUUAEgDEgjI4/kP8//AK6AOK8acWmloIBNE+qwJNEwGxgFZl39AULjBznj/gRqqfxeXXTX+uz9ELXXu/v1XXb7+1t9z82P+ClWv+C1/Z3+Js3xUm0/wp4F0nwxqMsuo6gIkt9V1lLU/wBkaTpiMqrLftdbDCBuYgttzjbXLjqyjBx6+nXqvVJ326a3uclOvbELryuzu7f53tr99tNWf5qPjfxA+sa7d61Zadd2xS+umsPMnMaPCZmEL+WibpI3jCts+XltgDAjb8zOfPLmWztby/4brf57H3mDqOdCDe7Tv1vZ6+m738n05o+eeJvAes67dQXGrztZobZb7URCjRmztHUtGrwrnF3cj5IoHAb5g+3FL539evfp1a3v1668vV1V3e/y3e19N3ptpeztqc9p2j2Z1bTNMlnm0uw09lkt4bZfNa3gQbftGpMuQs8oPmP94qX284JXKUtXr8vxv2+WzV9r3lxVo+9ffRXvpta73d72vbS2is73O78SeAZdR1W3utGd9QDI8kNxZL51qU2p+8DYASaQj5lOWz15ANQ5S2evdJ/rs/S+naWnKU22nG7Stv1S81q7q61va+nu/Z2ND0m/0WxvI5rcre311axXErNuigiiYM0Rc4yWOd6jd94DBJIpXfXX+u+9mv61R1Rsnfd7N36b6LzVrvXrZNWR7rpVxoniC0jtbbXLbTPIa5spjcQTLavdxgRMsbRxsMoXOzkdT0OCx/X/AAeyXnt1OqL99dk9fz8+1ndWXnZnbeKn0e31PR9Pj1GCS10fSbSxt0hDP9pvAMyyldoypY/KxUE8k7QQ1cGK1m4p7xWrS3tdpfC72Wuu3e/vephVLmTe1++3a/Xv38+0fSvDMP260t3UfKD5Lo7YJO77yA847dTzyOu1fJlG3vdNfL5LV/pp01Pq8L7sVbsnv/wFvrsn20sontljbSQ28dsBuzh16hlB7DqCfvZyT1xxjC5XTUvn99l/XTv5y9Sk7xfdNr0em/yf4j7hxHDM0lu4QIyqVbJeRjkk4z1VT0B5znHBXlh/Eer30aS1+97LTXqlZLSxqnb+vn+n9XOWug0giDqREZPN3n7xT+FOmSFHQfL6npium3v+kb/Nv9PLfmv0OOtb2sY94P0vfT+l+qNHRhCl2CDyTkcc4Hvxg+2PxH3VKivF/wBa/p6v9RfDKOuzvr97fVq+y7tdLpH0l4HnZhHDFGFJZDk4z94r0z6k8EDn+Ic14GNa/d3drc3ndWT6a+fXz3tH7nK6vNT5drcuq7a/3VZ201evLsteX638NzGOO0iYbsbXKjGc44BPTBGB2ye4zmvmcYryX+H/AIPl267b63sfT4VXa1vazbSfZbdrPVWi/na57poDiQNNMArE7liJyQq4wB69R09Ae5r5zFp+64vZP7/5un5adbWse9hZK03a/bz01tvay8vS+qPQbZvPhWRmVGIISPGTgdMryRnsTjH6V5tnezW7v5Xa9d1va/o9WzadVaqys2l96Xonrpt9xh3tq88F0HtyxjYlZADjbycDOfxG3txn5RXoYSDd+ZPZK3nsm776+Ste9+kuerUTUVbVXvqnr9y6u3TTTXc42OJYpAbiNlRWOMnkjnjqMe/B9OK9B0046ttvolf/ANu/TXsrG8Jc0Vbr0S7baf8ADeW95dbpkjOA0e2Pb0LjOQeM8nAzn34GcDiuFw959LN27fddd7LXdXe6jEUnzWtpfpvp5cvf+959kdLaKVLyD53l/jYjAI5+VcLxnPA65wCM1z1I21d77frvd/l92x6GGqKm1rpp6ff+C7bdEdLbRxmMbA+9z93+43TPAx8/4ccYOfl5kruV9O68/S783v0vpqenHFrRW2/RdPevbztd9o297f06V7SGTZmR5RyOpBBOe+O57dMfdxhq5V2/Htt66dP8zR1VNO/ml92+3dtf/Ip3l12n5eJZ5PkYc4xnJ9D1Jzt9Vx0OcGonTTVlvvbyX366pPbut0jil70lG217dn06pLVPq30sle5qiSWe3aGEKDuy3y/wnGe/XqOo5yeMGmodOve+z+9W0ae77XV7jcElu9t/NW30enySu1e6fva24qkO/ARo8b1+9lBt4xyQc4AxnrjGa6IRtaWzWuqu/PZ6O93tptpa55U4ydW3ffTy0tr5eWm6djImJlaVXCxx4zjPzvjkYHA56nqTnoOtZzhzOyb3S7/Po9F8mls7c56NGHJFNNO2trO66Prfrb5bdQt7CJ1ODxt68AqemexHUnPOffGVv6rKcW09fLT5JWl6eXd2N5Yjk395em6/8l/X0e8oDbyISIfvI2Mn/lpn+L8MjPcdgMEtzPDVIPXp2/4dPRq+rj3UlZc3bQxVKcX56Wtbrp6W0V9LLb7TluWj3EeTLHlY1Ksfq3OcE8/gO/u1d+HnVg05N2Sv01vt1XRXVnfrrdnDivZykkvTv103tfv+rtFl1JElkjdlKhGDBDxiQHJUk4HzKP1yCc5rpliOaW2q6/f0V2tfXa+l3GOUKagm7q99mt0ld66b9Wova9tbHR28rvs2x7xJI0m4MOM8Yx8x9OMc8Yz1Xro3dpddL/de32U3p6bP3dVLmr1uVNNbra7e2/RWve70bXb7J19uwMsMqsUUovm9uF/1arxxIJMZ/VWxhfoMOlGGiv5P09Xsr9tHdLVnzOLs5X18rvqt7213V3a+mzd0yXUb+WWSEK+4IZS+RyCV9yeSenORjHFeDmdR86s3vsvy+HtZu6e+idj3Mnp3g3JWun17KS0vy+j0a66bCWcpjjlBlYFlws6okjoCB6Nnpk9W/wB3OWbhp1H/AJ69fJ8u6Xk7J2/w3Uja976P069tVv1vfzdnzbllOFe3ngud8NrCVdSpRpD/AByNn5t/OeMnvg5Ar0IzbWn3dP8ALbXZ289TgnFXa7bWfl0f6c3pazZ00eoxfZPtltIWGM9zyxw4O4fe6kc9xxwDXo4dpwaV9ddtuu+l7peVt1e6jLzpUVGpdaPs2vwWu/f7rbjbG6ivZ5E8i4lKQMJJZIyDkk4YcDIXI79OxAy2UHKNR6X1va2z8/T081zWsb15qNJe8tr6tfLpp8+a/wCBcdizwQW8PlQyA+e033iynGRnJAOMg4IOOcACuuUra6tXvppvfyb81ppfpdnnU8Q5Npr9Ld3f1/uvd2vuRxYhnkCSTLESfNXYWVhgYaMgfLzyeD7cjC80nZXe67vX9Xf5baO+pU7VNnfS2mv9X7q2m19UQXkolfaZlxkBDvxltvAIBJHpzuzzwM4biqV2k199tV9/TTryv5WTPQwGFT1trZ67NW2suVtt2/n1v1sioq3lorBpIxFMfnGC5dccZJI257H8CCcGvJrVm73u307W3038tk7vTTRx9nD4RKom1e+q1Vrd/henfb1dkyoq75dhj8wff2hwihQOOeBnHBOfwOKzhDmafK1d9b6eSej1X/Avax6dSUabcLx0032vbbtZ9btbbaI0zGsaJIYUj2gL5SsCCuTzu+bkDr+ZzhTWs6dtPnZLu++j27c3Z2u2cU69nZNW8tX+n67+Vy7Db+ZvZGVVCFmXaHZlxgbAT1HPXJ75GPm5/qjkuezs9L27eVp9bdbX33OKrirVbbrRtet+t0r678ttrpXuRpMxe3WSNizKUEn3WUIflJXsf4TnHTGQcGueVJwuu3ldPy20d+qWv91J8zvzrmSbXfy030SfVqy013sR3kxYqr5zGSp3AZ2g9e52j8PbjAqHTbvo3pu192/Xdp2WmrSM4bN3urv537/C+l/TW6skUrtNxBURkMo4JOCuOoJPOB6YGD1HWl9VjLe+je9umnbdpq2vTv8ADXM43aV3bza+dvv6efaWWZgNkLNGTI+0kD5QuQDhuhGcnqvfJ5rkrYRKpTio+6+y89dtNv8AF6K1otYiaTUrrTzXXfW+3/b9+ltzWiRYUeKARShVzvaTYUx9cBs8fUdCMYXZ4eHLpfW9tFve66t79elut+Y43Nzn2XTXbztyx0t083t9oWckbwd8iAjYwAA7ED727r7YzxjGF89xlTk1ZtfNpWst0kv66aqNTail19PXyT/V+m5FK/7zDCKFJFye7FuDjGffgHB9zj5enRR1tda6+nXW67O/Krb7NlxnJraTWmv+WnT1fdJ397mdWjQwFmdUZc+WQp2yYz8px06k845+mW4Ztytvpbpf8LLXTXfR26NnZQbbbfVaLovJbWV2l5ab7HNyPC1qVZtsyqSFOAkiqC2CSBg/j274FVSVvxvfve2nnovU7ouzXbTqutltZdVfXm0f2b3PJdZh+0HCyxgOXkeJvvRf3iCAW4zyAwAyARziu6CXRptJvzat20+et1fRrXl0bS/r7/W342ObQtAPIViIwcsUO5MH7rY4Zc5Pb1zgVX2klrfXrptdd/ub011fw704Xi+359X9pLS+vTvy3Z0dpeskca7X5ysbp0Ynj5h9MnBbn3wTXVFPl5uXb+r3tpum9JW20v7uM2k5bK17a73vrs3q/LTraxZsZXhuzLJuTaNsjMB5ZUnGBydpyepBx3GcheqjNrdO93e2r/Luk9H6LZnDXkpJ3XpfVW7bR1fpLtpZc3oGlTXG6UJMjwthFt2J3Dcg+bJydvA4756LhTXrUal0k0ra3d91r+NvTsrX55eQ6XNJaXV73tfvbv8Ae9fi0afKYmuTNDYzrcKfIdpEDt86rgbcH5flGSAM465GckL2wl7ya/m/Vej116a+VjhxlNpWaaaWrSvovn/SurSv7vx54mnjs5NRspcCNxNc2cjOAHLbt1qScbWOd6thBnjj7q+/hHbkf+F721Vr3fS3m312teXyuJjeUlZ9Ve2l9LW0s7K6dlHfW6+H83vjWTfSsbeVrWZZfOtJyu1UuYmyIX6FDIVYbwSj9xyK+go8vNv0+7zer6We/wBrSx8XmTnGo24u1rap/J6XWretktOuh8xyeIbW+tNQ0S/Cxz3qypFFL86x6hja7xht2BNgnaRjdgDJG6vcobRt3S9LdLX0tpstb9bXPmsZU5otW3TVr2a20e9t/wBbx0jH5n8bWb6TYb47eO7s5ppba7EA3PAQQrHBBKOHIYquRg9TjNep36/fvr1te2iWq2asmmj5mq276aOVnbT5qz267PXtY8og1D+z4ZLO/aW905yBbTxlpJrNXIzvVgCiqv3+ikD+E809dNGra/P8dm977NWbSXNNOaju0rWad12WvV+jte+6d1zeX+LJ7DSNXjt5BHf2l3G1xDhtyTwOMnyGPV03cqD1PH3sNjF+81fR6W2t+L1/HortpyurOMo3VtF0d38vuurvXfQ4Cy1u68DTzRRatO3gXxldQxapGEMi6Ncq4VL5cEGG7tgSjHBV48ZP8Nenh2rO/wA0/wAL6rV3+Lqt7XvHyK0W3KSTbld28rXtsvLVW21V1eT/AIq+B0nsJZ7Geze8gtEu4ryN1+za5abA0VzCBn9+FO2WMjdv65xW0aSbbV1zNO+1ktfxvq9bWfk4zGDUEne9rffpbRtefRX0Vr2l81+E/Hmp+E7m5R4Wk0+7T7Pd2oL/AGZHyQLqJesF0h5BUYIXBwDVTvBaXdr7dNduqe3ktdOqJVr69PLR9n+vTa/VuXs1pq1l4hazW9ljSVAf7O1VxxMH6Wl2wUFiCdqOD17DJ280m5Wdm23ZLe6t6K1/Jeeuh3U5RlB9NWr9VsvVvpLW66tJLl+ifhPrFxrl0NG8qO08TWVxFp+n3afuoNRty+57e4XILXDAlI2GcoQMVdGHvq+90krd7O+rt01tu0k1pY8/Gp2ulonZ266N3b02u9bRTavzOyR/dv8A8EHvCEnhj4eax4a1MTWHim2vl8Q6pZSkBbk6haotpNNEcMMRfKrd8FcDgr9Jg040ndbvm8rW6Xu+m9tHte1j43FSX1uCUkrR5befP66WVv8ALqf0XnzEVn2lZiu2TH3GbOD0AyQOvHoOcUS0lfp92tu/e+vX8bR66qbXu+96a3s/6t8+x2Ph/P2Dnr5zZx67Iv6Y/pWVb4l/h/VlUr8ivfd7/wBf195//9L+3ivYPPCgByjOfpkfX8x/X6UDWzfW6t5b+a8u/oOVQ3JJzn0z/wCzj+X54NAaK2l76637tdJr8vvszzf4raZr2s+Ctc0fwrJbx+IZrM3Ony3TtFAJIG8wwyTKytF5ioQZFcbBwDyanmkm7aWt87tdLPtbfzSdkc+KVZRThJRTXro9Latvv/wWry/hX/4LA/tufFX4/eOV+C+oywaL4B+Fd1Hby+G9OuHn03VPEmnb4Zr2/vHkIvdjKWiRpXRG7FjXl4+V9G767fnfeyvZfavbW+0evL8vjUj7WouaTs72ta766217csu3VH4M6vqsNg66trFrZWVtNJGttI8Xks0iyDZIqN/rYUYltkR+XhuRmvFUbLpbfTa8nrZa2fe27T2tY+koxnQcaSlaC6W17XtaW3pv3u+XD8dXE2n6ZcNHNJb22sTC5Os+W97daiXRSFtIoSyu6AhIXYYjAG5VINPv+H/Defrp53O+6tvd2XlrzW76eqb072ZwmnWmnWmhyXsWm3AUkPdSXMyi9u25LtNBHI9xKzNy0eEUdwQM1z1Pi20aXku3bfW9/RX0sYS1k77vptp0T3vs76O17WSvy5Wo+O9b0bSpH8OoPDlm5LXN/dlSscYHAstOkEbLNjcNwD7TjPJFQ3re6avdK1lpt8urupbbaMSio3srPquvpd979lt0WhD4F1/WdR0/VNY1X7TdWcfl2+jwy5LXT+aZJbzYMAu0hXbwQRgA8Ct6cU7XWt/VdP6+++6Omk7xbervZO+z7dbNW1117K56ZdXsOgL4M8PgBLm1S917VYi22S4u9QlM6JcYI4iQxqFbbnpgYwyxDhCneK5W09E76perW+q2/BI6qGr7u9r26J7220Wml7p3u9FG14d8QR3+oS3d5O080moTS7bdghiRmGE8zBHykcjge/NfP1Kk3P3pXd1Z6Pvo9Ekltr9yPbpJLlSTVnva67W3Xf5dE7XPsjwxcwTxwpEWVIjDIrAhiGG0kMecls4weoPBBJNY1Pht0ej8046rd/hZvbyPewzlZLtpb169lqtLN/i4x90tbp53imfMKqNoRBjcg4Ab5SVJOfrnJwBWFktPXvZ3XXo/u+/U9mlZQvt+CWi+d+mrl+Nx9xLBIlwwDr8p2pj5Q3IB3HBGAW4A6njHStKdOGr5Yt6/Lt5PX0762XLMqj6aL1/P3Y+Wl/PS3vctcxhIoIHkXc33ATubpz24AHIB/QgtTlT5pJrs9lrv2vG23/DXSlzTleafaL1623du3p21ZHprLDJ5x3N85iUdW35xkc52jOQMn9crFak+VtOS09Ne3VPtun0aMeaXtILW178r66de19Vez+VrS+mfhrIgMMkg3kbUAJ+YMS+SeDlQRwcfTJG5vnsdDlspdLpa7uyT1ut1dPXRO+p9tlb5Kd39pK9tHo/n0belr7d5H1j4YdmKnBKBgXZGy4C8BfY47ZyevGBXyuJ1m72tqvSy36eXp56M+ywfwq6+7veV1816Ws31tL3XSV8uNXL4bGVyxyIz0U428++PTgc7vLxNOL5bRS916Ws7Pp119VLy3Z69KryppJK7Vu3+atr33+UfQNNuUFkzKcy7wplxuUDqBnjB5BPp/tclvMqRUb2WltPw6+Wun+SNJPmb0XlyvVPvqo+jVr7bW961EbyVZh9+Bz82Bjdj5j0ByP5defu1NKcrtX8t721tta2q729WZuPL6en/AAZfi/k9XHir2zMlzcEupVcldoLbBnkdT8xBHYY9wa76Tcottt9NXZaavT7kt+trXaKjdX1aaS27LS22t/JPzavyy0tPxDbbUKOWICl8/LgkYY5455BJHTtitKiXJGVlv/lb74q/zv1Rael1v6+XfT89fK52Gk24LNISski9Bk7SB/AgIOeR14/ka86sn6630+aV9lp/w3NvLqpyv5JWsr3u3pd6fhb/ALeV/e6mJSIldoy37wKwU7NzFuBuwMBOjcdeDjk1y2s3b0VldLun8OrSvvfS6a+GXpUJXku9rb+mv2fnv21u1LfSEool8xIgJNwQDcGyR8uRjO4HuBnr22tT2WnbRdLPZ7J7bX+46lJNNdlovT9V0V5Xa10Z1+jxfaIBt3Sjdk4HEfXLE8DgcnIxg5GMVpSjzTStq0/Prey8+nny+ZnUqKEFKycr/dffp5WWi5mlazSNxLV0dwCCQCTt7+mcfXoc/U8muxpLdR0fl6+d+vptpsYOo5xurarfTRu7toml0fxS9E9B0yyui54287cdAuCeDt4x9AenvVwqKUuRq6ez2t125Vf7n36WPNlC9Rb2b1t9/R3+/p3TcTEdpi0fHIEzZ65jLAdOD6ck8e5IWuerQbel0r7pWT8n7z3tpdr8bnqYZ8sUru3d6v53T1+7f5l3TgZBPKx8tInGEP3pBjkL04yeMDjqcfwipyUVr33+X97TTyd/LVHRWa5ZNx0XTR7Nem+/33vZo37Oy37piAEiQvvOWMYcfc28FjyB1znuOlddGnzWum76tW66b+8rfe7rV7nlV62jsrO/R2vbTyeu/Xu7XNCG23BSyhiBEUVTtb5gdzOvXoB2bpgdK9KNNRi1ZbfyrfRJLqtHvpfundnmSm3JtSk7a7vr5J27ae9q77K5OkA85ztCxoG3EddwbqOMZ68YGRwMVh7OMvs3TXRW2vp0fzUt7baM0hXabXM2pbXbe/RtdvWW2zs+aaCOSJZJCysoKFI0/wBZGGH8WO/4Lk8g8KtUoqPu2trvtbz6u3a2jSvpudkaiktdLr13W3wu3Xf57Jy3laZYE+cZxuDbfmQf7XUc8clenTOSKdSfLF+89vTXTZJ99N1qrpJ83NwPCwlWV3u77u35+VkrpehRS9CO8LqcSE7yTkrz98e34gHOOSPl8qpiVza2vs9L3+/Ru33dL7R+ppZdD2SkrxfdJpOz06vousdfOz5tKyzDLGCSsUxLh3OAqEcAgjnOMYB5yOM81nJ+9fXpquz8tNr33+b1ic1Wn7rSXNZdrd/8Xlp5vWV3GO3HLG8TK7hFJ2Ls+RSNx6jvnIycn0OMZb0qEk02vXXu7X9Xo1Z/LoeZVSitrdbWs/LW6stmtPvt729a3UAsUiWWGVY3CSKJDE3y4IWOPGWYjoevHO4EFfUo1FHRrro/6X3LzvfoeXiKTq31u3drfe3Tbo+3pbVR14NShRQBa+SRHIqBpXAkzwHLYU49M8HkHGAW6J4mPRRT9NtN++3k9tLbS4fqLaUuZ/nuu2tlv5Xu9E7moiTROGEcbotuGkdpd7o0hyu0EZMYyOehz16ms4Rau9devr33+TfTtsYV5qramrJ0/d+G23de9bbrLdvfRRRxd3SFjLaBBnDI20D6ttAPuoz0OGBqpxumte3zf5bej6lYZLDe9J3Sa32WvrbS214+e65aD2U7od/2eQq24SwqQw9CeCe39ec4bz6mGu5Wi9FZ/c+l3by/W15elDH3k+V2T7acy79duqbja/dyZGiTEiOQ74/uNI43jPJ7YAwO/bGecla8ONJrEvrZvbT8b3v121/9K9vD4iMkm9rb6r1/mutNr36OyVyWK1t42IBjD5baeSpX0boOvPbAGADkivY9k3bTz06vutLrW6s110t9nGtVjzys29dFfaz7u+t9F7q6qzsaSQxSKP3QTnBwPkz1yOowR7exzWU6D0VrtKzeunT7/k7bvRe7xOSV1frbXXfV6btJdHbbdXtGbebcmKGPJ7jG1QMeuMk8dDnPYjJramnGlyNdX6vp1tZPu27dtDCq9ptpdN9f0b62j7t+t9yhHBcSM06lWCSZJYg7QOZIccFiwGVxg55+Xg1yyw3NJu1r3srem/u2+bv301UuilWtRaUm9/Jfdv112tfXRpyz7+VoblZERdgVxD5nIIPaUY6gkjnnjrk4rlqUWpJLa2jtfrsk7vS391ea91m2ElzQbaXxtLZvd9Xr+ErbvcpXk37mD5cyNkEqNqhifmUdQBjoMjjkdCKzdOVr6bX736u23o731ffQ69Ft691a2j3W3n22d2zNiliNw0Xn285VfkhIAkjkPBOQCCAO3Y9O4bKrTblF2erXR/nr110flqYVLSVr2vd+bv8Ac9LJJ21s7Wa93VWTyrWR2tpWV28vzPLDiN1BIZ8Yby3wduTgZ9htVSlyxi7dHt/e30aVn07adNVHkULvR/Lfbz5lsvP0vYyftyO37idY3bJJK7F9CpzjkE+uRx94g7vOlFym7dvXReSt1vs7PfRI3lDRNbJa3tr2aW+nfXXv8Q1kv71vLCQPGOsquwkGfTgZyBzyenDAkNUyoycdVZP9O/ls7aXXyUqjODSTsmt0m+2mum7ut7J73aaMC+jvIIGYOXgUtvjfJKsrfMQST6kjsfQYzXLVpW5VbRXs3rr6evmtNr6uPbRj72j0tu9tkku1tuj+baZy9yCYjvBkjKFkKHa2OpyOM8Z4Zlz0GcEVMabu7erTVvTW+mna3o7tx33/AAv3Vuu2i81e3W9kzgNbSAuoRXR5BhSp+faFBOf4ux/ukjBz1FbRi43fk7Jdfxvrva2nd2TlMnZXWmu+ifqt9tP1s2mYSWwubhbqCYxmOMJPHwRwfvYOQfyP4EkU1VaauvK63t/4Dbbu/JOVly91Ko1HVX0V7ve/klLq3p8ry1UdOS7WGBgIU8wgL5m4KpxyGROm4nrg5Iz93INehTq+41dpNevVr+VbaeT0Vna5zyjz1F23V7vbp/nsutlojLspHuppI/tExLDc6k5UuOc4IAAGB69cDpmtqc7PpbW2u723s/PRLbvrKWNanpvo3b/gL3rbq3XpdvY9C095JYQ0LqlwHVVkfOFwFXdhcjGehyBkZx1r0Kc7JX9Lp6ar0fR62XndXSPLk/3iS2u7aPaz3v5r/PdF9Y5JtKuLCaQSzFmd51CMrNngBXycKR9OnA6V00qi5tL2fRvb8lq9d4pLfoceLk5JtbNaLvbffT3t/O91sfLXxS8KGLM7+WHKFmjYH7POoYsFQ5/dSDGeBwR6AbvpMHO8dW9Gl3S0Wl76aau3Mumt5KPzFfVy07+V+npqnbr+bj8BfEOHSNaS70mSKOWBlzC6qDeafewNvAEhGYyzDMaylo5AOM/xe1hpPsrX73XS/bSz6vvto4/L5rC0W9Xa627X+a0X9XR+b/xI0+DRLu8h12O8tL97snSPEulqDBdRq+4QX1vkIt5EcAujjHJAYA19NhYJRjLXdKz1tr0fmvL7j88xsbSlunKM+19+6u3f0TvZfys1dd8L2Gp+HLSeF7B9bj0mK6vreXfHLNNKMJNdW4bMc0qhWEjbg59OQ3rrz0ejv1s77/K60W11rvL5qUt1pa9t/m3pZ7Pq/NNWXL8jataw3DX9zp1wNM8QaSkkWo6TqCAWWp2sZwyqflIaZQ6rIFbHocYbpWybas++i17vTZb6a3VrXZlOmn206WSS23d9etv8SceXVHlvjPRbfUtItNRgQJDp7/adPjjHz2zMAbiwmYKpeN34t3IXci4YEn5eFq1R2X2nvfvp8k77NrTrsCp7el7eilpd9ddL2307y8Ree3a9eKZPN0PW1W01SCWNiLG6kBSK8GcrHJbyAtNxypHIBWuuk7Xdtb/PlX376vbTzsHs0935PTXzVr9rJau+77x2dEKyWsnhnVAbiSCSWLS7ouWW3C/8ezrGxyLeYjbIu45JJPQqvUqum9313+6+97ar73ujmlpJq/z76O99/lorLS+qPGfEVlFqVxqhsNKeyvLTMWt6UimaPzomwb+0wN3lngthSFUHGMYpOqtVfytu+93p5X632b0Tjy3V/Lta2j2XVO+2+l23u3LP0K4TTNO3akJLqGfULeOGGFgPIj2ks6feYMDyHKggqeBj5ah70lKPl+HW+n4WXT39iY1OWm73XvvTX3bbyu7p6WVtL3vrY+tvhubnR9V0m/hkS5uYprPVdPvOCt5bJIrLvwWCzWzDy5QRuKrjad3y1C3t4LRa7v1t1vpfXfe172QsVWSoSW90/wCk7d7PSK66NKLP9Ib/AIJteG/tVt4B+JelafHZWvjL4SeFptXZZFYy6mlpskkdkIz86nGSTggZHWvp6a92nfbltp5LdWvr8uietz4KcXUr1H/e+bs9Nu6vokuu+5+yflsc7yDuYscdDjA6cDtnPOc+2azqWuuur36/l+fpax7lN/u0ktt/lto7d31t2/u9NowxauMYHntj/v3F15POc+n06VzVN16bdtduvrv63dxxd7vu9PTp0X9dtVH/0/7eK9g88KAJUHf1/wAfr7eg/T5gd9LW63v/AF/n99xwAHA/z/P/ADzxnFAv0/rz7/8ADWsfDH/BQn46X/7PX7MXxR+JGhW897rlvoFxomnRRLMTDd6gGVHRYElnMgjVijRrkHngDFTNPlTV9b39F+D1sulutk+eXFiKlW6ilpe2treuy1v1bZ/no/FeTw94j8Map8RfF/xI0/xdrniB7ibT/AWiwT2Wr23iDUZne3GoXkuJpksJMyXfmx5f7vzDlvDxM+ZvdW0Vndu+/SPffbvbeXv5b7WNJ6bJX+Fv8b9LLbXd3uj4O8VaVqup/ZbXW72DUp7S3P8AZ2nBhIbSb5fP8qGMBZfKBCOWAwR0GcVwSVnZbWu1fv203trf3rdOiPaoQbpKrK/PzS3d/hla6SsnvfT8bXPPLrUPEWjWo0WEz3cL7mtbBlF3c2mT862ykSNZpKRnah6cjBA2x1v962+T29dH81ew1V9531jf1ulbV+6tvV6aX0ZQR9etWtjr0g0mC5Ba00mBVS7uyV4kuWVUlVIyQzs53MW6/wANYVF72vktdfv72dtd+nRlvXa+r06aa7Jre/RJedjD1XSNOS+VvGdtql/avtNtDYzG2t7BXxieNXXy7xQvMiM26THHQioVnp0e60013fva36W+bd04rbf/AD8rW/yXnoe56LpP2HTdO1W4ljl8PTPHPpqRwC0kFnYfPCstuckLNcYWVgDkDOWyKq/KrrpfbsulvKzVuvyOinrTfRp32evTa930e7tflutZHmk+qal4n13xL4hu3EFpseBVSPIOHWKKO3crkRgKcFSpIDZxXFXrt6X0Wjs9dn5atO/bdbNXOuhu3u72v5t7dNfsvunurWj0XguNoLm0trKPzJJn2uHYs+GbBK7twLEkcnvg89F8x767t3d/kr9bWvfbXdXPbpqyVnZtpLTtov5uzv231tc+/PBmkTWcFrEzoXeOGZUUgu3OT5vUAgDGMqdozg4qai91PzWi816dPXfe11ze7hdbba8vfe1rN6ateeuzav7v0Ho6wiOW7kCskeIgnPLnKnA5wRjgnd+PAXn3bV7fpbr1vdtadt7ao9VfClq0/wAOmvZ27N+it7uHIJhNOmXWFGO4HGCCwIPOTxnHX88fN0U9Iy8297/1devpe5lKTbt0/p7W030u9u+vLg3xkN0pjQsyZG4gbcH34HGe4PA565raElG6bs9enyf9dOu6Mr3lp0um/wCu2nbe/dygimlWWG22lpZJwSw2gAZ/4DwMZ6cD1yNzqSSjrf8Ap/8Ab1t+i++945NJ1YpXt1879Hu99Ftbqm7M+nPh5DNGYuTGYGVpHkAKPG2Theu5scZHfI4618vmTTlG3m/mrK/S2mnXtZPU+1wDapqO91fTda+a6Nd7W9FzfWPhlY/s8bRyPvM2+bByI1HKnA45A5GcY9Oa+QxOtRqyf4br79NVdK+vXQ+vwjfL1tbrd91ptvvdrz02PVrLWBDPGh3SJKVDFVyc9PbbwPQ9vrXM4XjZ6tbX/Lz9Vb83L1qP7xf3la9tbf8AA06Rfa7ases2R2RxQRl9sx8x+gA49MdQB2OfqDivKxULRb0e1ujSvp/N11372s78u1+XX+tf8jqLazY/LHKxHlswk24CAjGNpzkHPUDI6nPO7iotc835Jeej32ir9flZWveT9pzaNbWb6767prpp+rabOI1Ypa3Abftfdh0jG44ySHbgjkk9Dj2OBXfR+0vPu3q/vd+nTz6yKjvve9vw/HTpfyfKr+6yzlLyeUska+YwJ8zC7164Ge53dgvpjpXS/gSdtG79+vp2t166Lccm428rPvq9Oy7Pfv0StHudMMochQg+dNp3ZwM87fXn1x6d8tx1YJLZtWfk/T4vS70suiu2bUWlJPZ218+ulk0r69NOtjtLZN7RpLhsyn5m+UIOfmIXPXHX5uTxnOV4opqTVk7pvVeS7+em0dHa2h30pWl2a73tfqrvb8ey7R34oDOqLCEjKkq6tnJxg7hnkbiP/HeQc7q15Vvpr5W0X3r8Fdq97nT7V/zf8G/TdL81bodHbTGxikCDZGww2DklhxxyTyM5OOBzjkBmmotSt16ee7e35+euwJOu1C++vpb9L6a+d9mXbe4YhlctlgMde/IJ288HnqcYIJwPlpz5r21V+99vu2vron01d0avDuMdtk+v423+6PXZbkhzGqoXdyxbMhw5A9AVJUDHXgdc5/hpL3W6lnpt6rTbtr5rta1zkjG9WKWyvfXsr77X2676q5TRSJZJTICHzEoP/PMfMABtGAeMng569Tu6vaKcUrbefXq35/Pzal9nZ3jps9/Xp52td7279ok0E5jlVQzKCADnkfUnHP8Akjbko3N7Rc6j6pf8Pq7X8lfdPVHSo88HG270/De/6/odpp56RM5aNxvwBwW7fXk/7Q4xtyPm97BU1JK6t2e90td97W0Te76K15fPZhGVLm1tq7dLWu9NWm9F1W93zWNiOLExnkIdriNtoAOBs4UYGOeueTjg5JyV669PkTfnbzX/AJLa12vL3V8XNY8iniOeXJ8Tlpp1v07XtotettbKUmJF+5kZsqqOT0Hyj9SewxhevfAqcPTU1rZK9temnV9d3077nbCDdtb6Wtvb8Vvt1213SHOIorZHK7BMDuwDvGD8rNxxzwB83oO4rDFLkb1vZaW/FN6X06dHprud9KndqMevRefrpp3u97K/2bCEm2CuSwJGztlcZ56tkjjtgfXFeXKbnpa/bXfV69ld2012t1tHSWGqxrJ676aedvJLTt662aGpGiBpGG5cbFPPAGevBxn3HT+IHK1yPDXvdWi33fTo3e2i0vr6I96nKqqai9lp9nTyenfre3da3IvtKncpXdJgeQp6BRxg8kAduSPUHqKwc3eyWqfr2/u+q679bNHW6SnGzXr1tu1/w7v28o7tqTcfZluNxMY3+RCcbB13F+447sM9scrXoYdpa/8AA8u+uzfz3W8fnMwjyXSV9berv17WunZJXa10XvdNaJAoBWDchcSLhlU/LjgsckknPU+wJwN3oKUtNtXsulvTb1v063PLUutv6fTReV0+2lldyjt2kJvJZ0uAgtFTbFFkGQluznnA5xnJzjjGSa9LDUJVFfS9vN/L4Xe1uy+92OOvivZXfrppr0stF69/JXZuxWVuIoYjBtKssXzyOGeNOQM8713f7We3PWu6UFT0td2310emj1S0XXW/bQ8J1HTm52+J8337K3l11W2lh7RGExIsKNBKxGMkFevyAfzJHXnnmkvebTSX3dLenlZvZaO9/e1Vb6wkk2r320tb87apbd/OSErb5jWIIpVlZ95PpwV+n8+elc9RJOa7PdfnbR30+/a9rnXTouKWje3Xy3T0vrp9m1ttblLyUndfLRli3AsUJwWx823lcsemPzI6t51HCqeJu0t3t910uV+et3fR6a8vo06jhbXRLV30fkuVP01+9ao0ooRBGP8AR5A2HLPjzFZD9wt/dYnqNxzxkHJr1amGUXbl+du2ur93Z9baa2td83JWxi55x5ldN6pWXr8S6Wer6apX921AokgAR281dzFCBkHquPlGR6cnjrwTXPPDrtp131+V276u93b1tY5Z4yUb6rVWv6+r1t5ro1fSwjv8yNO77CED7UH7uVWxuc4IIx97tg5wazWGT2d7bdOmy+7va+ivdCni3Kmu99LPr22aX3eSvfmlV1Y2VvfeTHOPLaJZg0e7Yz8gHg8HPJHB9CQPlxrQ9kr7WT37vtr0eq2utLq1z0Muqe0hbm19evlftrpr5bWjy9xL5k0KeZGQUfLE8YYgngE46nrgjOR6V59nUu4+l7X00utlqmkvs3stXY9Kk1Rjyfa5r27/AGt3bRuy+VtfdZmXzQTxyor/ALpRvbaSRvQc7MYPJA4z9Mc0uSSVrdO+vVfLftr0vciriJLa8eyadlr01/8AkWvXUzx/ZbRw3UU6Rysu2XYfn3Z7DAYHHGD354PCz7NO3NbTWzdtPlLXbuv/AJLleIb3cnb8L3VvLvtpd2Td+aEQIIJZbS6uri4G4PDLOUi8o5KsAWABQjtgn0PDJhiIWjtZPS+/p2V/K/ndWXLVKrd3V+t9bfhZre27XdXOSe9uIpRcN5SJE5jljVw5bg5cfNye/VckZA4rxmv3ij5pbemnlfbtptFvml6SlzQ1aWnV9Xpb7v8Ag8u8uih1G1uoBNb6k9q0TBXjbaS2F4BTltv1HpwB81epCjFw2XNZK+m+/fTRpfE9t1do5VJxnay373trv8Ltte/nsrtlOK8aSOZLmQSrMW/eRNhQ3TDqckAAbiQPbOcs3DWopOzTtum42ve+2qv99+qtdI9em043TWqvbmu7Py6dtL3+Vo8pqMklo7Q/LJAykpMgYFvlyVIJ4PGc9ByPmwDXNKnG1o3v0809nvprpfro0uhd15W6r01tvpa3f57s46T99cxtKDCjRyAPIdxB+7kHkgEZI4GOvzEg1EI3lZrW35X0v59/xWsSKkko35uvlta2r30t6b3M9rMQllTgB9rOrr8yjuynpyf7v/fXSplS2fVb2730/mvb/h76IdKpJStq0/X79rbPp3suXeVDUx+5KNsktzIM4O1wdpxg8YwSSfmHHXIJWtoQsn0el3bfqvtPrb135ZaKXReycr2atK1m/Lzvqlolzb73OW0qVrfUUhlmkijaYqs8fziNXbCF853DJG7PYZBGM1tBtfhdaaPW7tutu63s76oyc+dbWXXz+Vl9138rM9O06/8AIxGkm53Qq82zbFOyNhTEoAUZznaTz97nJrrU7RtdddtXvv16b9e1rNmTw8Ju70V9drL87baaq+y1tydfZ3YgtcyxAuw4ZuuR3Ixg59M5HJGTkVtRm7re10u23ydtO6bt2v7vFi6EEkkr9Vs+q3d1t+GyT3PA/iHP9ovriwuZzbQ3cDTWV1w9pFcKMCOQn7pY5BGQBznIwV+lwlRqNm7J2a829dVZWtfu/O9rx+YxWHs27dW7rX4rvbW+nT3Xrpe7Z+aXxnjl0q0v9fsoUh1G0uPsl/FF8guPLwQgTpJuB82OQgZzgYYGvocFJNpaabN7ettLJevrZI+Vzmm/ZSav8k9dXf0uulrdVZtOPxB4gvodctWbU7eS603U76GNysfmGC4kI8q5h4yixyjZIRjn5mzjLfYYRe7Ha91p3v67dnvovlH8yx11OzW6fTTXu/n52+9R8NubjUrLxaVa88iDUJhbW1/KzFVjsmMUlpdqenk4BUYHyEMME4X0rN97O6s1fddH5vW3pa1rS+fq0uRN6S89N/x9fNau32U8a+DV8SWV7PpqWserWUUwW6hAX7YBGxaFmHyyCXgwOxYggk4wSvS24prd266LW+mvLra3Xydk7y8mtUlHR+8+kkrOKa1snq7dXfW1tND4+tr3VB/athe2s5NjZTm9tZI9jFrVsmRU+XDKCcYGM88A/Ng43bum+u1/w0te3T112NYVbwjvfyd+67JO1m9u6dnZnkHiKK48O6tDNelJ/D/iGFNS0+5RFCqqKu9DjGXUnaQTncD042lmno2rLrfp+bs9dPO7V2Xzu17W36/O2ltna+669WjQstJl1bxvpV5peq6fGuoWdqUtrmUWspKkcRK2VkYgY4GTnPJC12QgnFSau+uttF0bel9G7WVl0197mk1KTf8Aev308vXXdeSas2VvEfhfxVpHxG1DULKzt4VjnKSxSXVt/pW5MPGYmxlJVOCp3evByVv2UUtEmk113fVt69bb+um5zWu+m3ztbV/Z6pO149rtPmjzHi7wJdqkmtW9iLOCeQS3Fim3ybRlBaR4ynBiZhhSNoG7GeN1a04xXxWiviTdvu37a7fc02EIc0Hda+0fu9+3XZ2XTTd9Ob6T+DVtpvjrxRpWkeHbCeGdNDhEGkIrym61u3h33kcOOViliR53ACruQnBJG3O7lWjyRb95axd+t91Zdt1u+iTUZxcIewkm4rTS/aza7WvZac2r1dtz/Sb/AOCUOi39j+yP8LvEesBklufDul2FlvJxDZQRhVVV4G7cCC3bvnk19LTv7OCel116bfPys79L20Z8VGK9pV2a527W0evfVau1npfZpvmZ+rG7dt689Aey44Pvnj6cZ6mlU6fr300/N9dPRqPVBvRW8+2npb9flq2dHpH/AB7P/wBd2/8ARcVcs9/kdMNvmf/U/t4r2DzwoAmT7o/H+dZym07JL7//ALR/n9wDqXPLyf4f+2y/P77e6HzR+1L8H7T4zfBb4i+BtRjS7tdW0O9ubUMZYp7K/tYGaO4t5YyWzH8wUDHDEbeprSfvU4+jel29f67W8o6GNepKKhy2vfquit/S28uql/mY/tD/AA+b4VePvEPh7T1mlvIdf1CxtZJlZnt5zdSxmdtwO4gDK5OV64NfP4qMoyb1Wrvp+V99u7enS6cvrctnTlhrzS57abpb6dUkvO3fZNwjzuveFdH8JaD4ctHK3nifXIJdQvbl2USfZETzny5ybWF2JG4Ixcct0+XhvJq8tWrapJX6dO2mrUfLV2OilOVnDom2la9k363etna+miu7o8j8L+Dv+Ej8RyavLdCy1S9jnfQooAwW9vLZWIsodwUOjRL95SNzjH+6vP8A4ey2v/w/3aGNWMYpyjdva97N9beqaadmr+W8uC8ZeHJxdXl/fXEtmzyyRF7yL/SXa3bZPFanDqieYMZByw61lKVNXcrKS7O2rta19um7e/W14ulJy5rt6Lp2va60Wie22lklLQw9K8bXz289nqVlYX/h+yWPzJdUt0d0WLIRY5dmSeuACoGMHuaz91ttK/fXrrprfdPu9LPRWOiOrtt6dF19d7atb7/zaOp63qfiL7I9phLKdBb29vHuRLfT1xuCRgbVUjJUlcHpz8xWak4xi121Wuu78n1TfTXybZ0U4pRertdPya367uyV37uvS1oll9LZ7dLHS4vKs4UVpp3OFd0z8vHEkxJPyjA79eW8qcouT5tlsr+V23ey16Xf3HdSjFNW7Xe35dNXpa/5uPpvgbQriBLcW1l5Vyzq32ueIlsE85YjA45wu38erctaVp+6kor4bdXbX133advNWUfXw8bxTn0ez/zvo3e22+7Tu4/XfhG2aMyCaYtKqoZJumThQQmMgLyRgc9+M4pRblH3lfVu2/y2X4rzV7M9/DRja++t/S1ra3fRvZLrvoe06VNEkRiQZQHf8y/eY85J5wc888jOMn71Y1PdqJLZpeiu9t39/wDw8u2beiWi5Vtt19e9um2zsmU9SlVGKn5GYlmAOTITghQcHGcDp7ZA4NXFtOy1T3Wyd7b6P8vS90xWVtWtdtL3te/Rb3X5aWtHkby6mEbboggaTJfPIyAAPucD69f7q9W2dvvte/f16+X/AATCej06/wBfp389DNjaeG9gfHmKzKwIzxzwO/3sgYGOucnkVFT4Ja9NP+H1/ra1my6STld6u7+Wl7/f+XkfTfgrUWjMMkmMxwgRRZyGYgAfnjHPpx2r5zGXfLdPZt3ezvs9tur8ut7H1OXXafaPntvt1Vld7PtZ3R9ceCpoxYrJKrDeBvHILMVXGcjpngcNjHB5Ibwq1KDvKUU3o9n31130v2V30Wkj7DDzVNO/ol/h001VtP8AFbbW9z2DRntlCSGHc7MvlqVGTnBGcqBgcc7cD0OBXl1Va2m719NddLdO3zvf3vSo10rpS21e3S9tra26J36O2569Z7j5f7v51RAxH3UXocfKRkjqAR9cVx1Kale60ts1r6XuvLo/lc1lV3tq1rb9L2vbTyv0tude/wDo9siiX5mTcT0YDGdgx0yTzkdv4uK5vqt37sbd0tFbbpfb5b69iqU23K66JJJq2l/8O/fV9bbo4eTbPPcNIFWND5YJxk+4POSPYfLnviumFHl3Vr67X73T12Tt1dvneO6mtb3Wlu/lqreV9d9ny3vKjDb2k1ypVQ6wZHmFtuGPBIyOcAY68+wAFdHLHVpK6v5620T1+f2rPbdsyqTvytXtzLd3/K35aX2TT5e30mBkIK5GJAdxUndjnB59OOcZ68civPqtXtbr/wAD8bfL5nTSdtn0W3lpv/X4Hrek2tvcWP2jIWaN1RsjcWYnIwuBwAuD9OSoI2loKK9299lZddbPT/5L8WjXncW7Sb06uz66Leztqt9rO11KPRtps6OGWKMrcMNzn5SFwuRzjk47AE8+pVvPqX521e3q91u106+T6u93y0pu6952Vt3a1+tnfZ/N9LNe6S20MUzgMZowAcY4QgdAfmyuQTj888qqcZezv3969umz76rv+V7HpwrLSz1aWqte73ts+nbzVrot27Yiby5E2DnAUF+eME9evXBOeuBilTpvm/4eys9NOba+222y3Onnk4PV30e/Z66fn8ujLUVvGIV2psZiXcq2eD1yNuB1IzwD2wDivRo0VeMpapdOl2nbTbW3eVrXvozz60JSlaLaf8yv+D0e3lp2V1y595DCnlYGx5JjvIbIMf8Ae+6vAz078njPzZV1e/RaNpfgvw7/ACl9nWguT4ua725m07a921dX69+lnIhWIJdorMWhyGG7vwe/IAGB+YIxyKyTSaelr+tvza17v77M7a1ROhNJNNWSa0eu+vLfqrbdVrZOPV2JVifL3FnZVGG5Udth5689Bxjoc/N6+FqO61at1v8AfpaKXd+90aVlrLzsRL9w243fLbW3vaeaVrrppfVJdJdT5u04yGSG2EcaHlxLIzKzlgCNwGT90bT06170XGdF8yV+XW9tXvptutNfO17Pm+ZpyXtueytGW2m/a1lvt19dSz5TS2wJbHlvGjc8yKQAT77cjrnBGfZeGpGS0Tt711bTva2r/wCArb7y7o1eeSs99NF+l9N+/XS1ryiv9v2RQcNGCFUng/L79enHTtzjNcNSVruSva736b29UtNovVNLRHsYai58tr306PTRt2afbyX581GGfzNqsCQgwBnjbjAxjI6jrx698V5MqylWi7vdrS3n97+6/Xa8vQr06sVdKWml+W9tv73p2t8PM7RZtSCOWLeoJEcGyBB0a4P3i3rg8nOcjuetdlem50U435rW0vfXZJ6PW1uqV7K+rjzQxU6TSa6pW30frfXycb9NVoYSxsjqz7g2xnl6DfKnVBjpk54GRzySBhfEeGlFJptpO1rv01b3t+LT8z6SOJjKOkVtq97NX6r7vy1L9lNcKzggjzoydw6KvBx09OOBzycdBVLmje7avbT9N32W+3m9ZefiaXtHpFNu/S+nTprf/ge9duPa2E6skUKeUI2KmSZsqS46xjnhjychm+nQV7OCxHPC1kn38tu1/S9/VaHzlWisOpNrVu6utPJauVtuz3/8C6ywmmtw0geFN8hCMw3BFHaQdG6dM9T35r28FU9+19PXR/0/lZab80fCxMfby5Fazvtrr8km9L+q3S0OktA0n7+4mW4nDBYsALGox8pC9hjGOAPTGRt9PRu3W7a1u9++mre6+Wt7nh46HwxXRJO2u21/h1W3Tv710ovlkvG3vCkUoEmySXdxEw4yBkjjqemfbgNle13rr99m/nq+6elr66s1oQkoX20umvv0+G3lppa9lf3oIojJuMih5P8AV7hkDzOucd+OO/PPclZVP3nK129dtl0Wui7Ju+j0itpdtOryx31T7/pu9dd/lG3vS2sKxsjTLh3dpEijjIVVT5WwCCN2Bk5GTnsQa7aVJdEr2vdrX7vR782myve5z4jEOV7StHe6em3VL5Lrd2tf4TRkJSHzIiW3N5bQ9yPUY/DH3QO+4jK9E4tR21XV3W/l8u7672TPNjWl7Rp9972vpe+zu9HbVWta8rOREzW9pJDmQRNIuFYkGTLfwuOud3TJP49K41T5pWtq9+uy000S36v7rM1ry5otX0tv+Gm2+ul1bZ30Zgalq4jujbGRIlYZZ3U7ZR6gjI78nkkHoCSK8/Et08QoJW69v81p8vudzowOHTwt9X7z7e78tdb3t57Wvcnd4Lu38tVRmeAtvChPmDbW2nnGV2jGQDjIHIrKvFVYu1/L0t3/AM0+2u0vQws/YSTtZX0vpbX1f6qz2le5wjX1lply9jeSnezlFaTH7lGPJB5wMHgbhnpkg1wxXsI8qVnzNtaa9ddvPpa+mlj1nNVrV7tNR5bb7LXy9fxbtaPG6/rI0gyG1K3loX+V4nVWCMMtksG+6SeAeh6nGVmTbd163V79r9LJq32fLmerlcKiq2hdWvsultn877vTq4PaPGW2vwMs9wksDRsVkUuQ3lbW3MHZSBnqOepOD6rDpRk05K1u+v8A8jZ6X2+9fFy4uP1ZpQ1U1zS6a7W6rVPz2vzfy2/+Fj2IgvMvAZVVpDEqCSEqowGJTaVz+Y/unAZqlRg4v59tu2umt3dapd2rM4qeKnzfD0tvtba9/wAdvVbnmw+KOjXIuTJEo3MfNEI3KwHUqVxhl45AHpzjLedUwicvcV9em197u8X0T0s97635TtVbn5VJtb2X6ed3te+1urccrTfHGjjUA4umiUMJI5WjcnaP4GJyrEEbSSuO/ABNdEKHLve+iWmvb+6temn3aqXXGV1fTps+zXTv003u1uonr1jrdlrGnPcxy28xYkrPGyr5GMgBwinaxJ5GOM5+fGKzxlFzpxVtV7ze1vz6W3t2dr2l14X+I+3Lok/heno7aPvfsrNlCa9nkWNJZAJMYicDfbkf7RGQNw5zkYHUdK8mdLlu2m76K+my9dbd9L72Z0zSbfL2d97a7/1ePa+pw2o62lnfPbzJsx924Hz2pJU567xjdyV46ZGeBWUb3tt+nyS82t79NLe9zyhZX/vK3fva6aSdvXe+nwkiNa3Nt50UkQuA+7cZR8/AHyjI4yMAZb0G0GrSS769X8/1fbd9bnZh5qK1f5LbtdatL5b3v8RneVc3ZkPlxSxpu85QQpBXPzbeQvXO7I46jmpct7a7dbrX5bWT69b6ao0nUavPa34X066+mj38+aNSwtYXuVaNfmjy2wkEMV6Kex547YPqCdqvJX7aqzfl+N1ftfd72lEZc1+nVa3/APbVbfq366HYWeo20MZh8lxu/ebNnywEEZCf3d3fGOvPYMJ2eu13r/V7/wDB6XuaypNxv0t2un36rS2trPrtZmnc6y0se5VVUTByx689DwcjJ9vQHrXdh67TTdvedmr3svJ62evb0uc06Stfr10XWzvo7/e/no2eSeNFh1mAwSHCFySY+kLYOCBx6454PQ54Ne9Rq35e19dfwenVb91rbVxj42Lppc/NG7SbvrrdXtpZeS379ZI/Or432WraEl9q8XlavoMcaW9/YTx5u0hkcqs0Tc72t3y6uQGVBgfwmvosH8cfRfp6O3qvuPhsz1hPW973fdO6+TWmia9bW5vgXxRrknh+SH+yJklsLuX+1YbZ4g4MUZBu4A3ICOoBQcbWz3KtX2WCfuR0+/T/ALdtra2i+V03FJz/ADPMotuTWqSav+Ol7N3dt0rdOa5hX8eieII7q/Nitk98v2izsUAmxO8GDJC+0nzp+dyqN3QBjyK+jou9ltyt/O/yXXa997bts+RqTerb677Ws+u990r31873PmXUPEupeELoWk0epSaZqBkPlTF4LrS76ykJhcBv+WBViksWArx8DOc1pVjzPTyd2u/fVXdvPprexw1H7SS0s9rfrsl20VtV1tJQ17Lw9F4ouZJJEgj1mSx1CaO5twGg8Q6Tc2bhFh6n7ZAww0fzfdAHUVrCyjFW6L5u3Ra9bW1376mNOThPlaXuvR30S8tHq1qnfXfRpnynqWkWmv8AhjWvDN5G1vdabJealock+Vl025tnkF1YhWVWK3LDcIxtw4ztPO7GS1d3qn6pdH29LX6W0sbzj7WOja+Hb5+nRr0v13PJ/hzaT6r4u0+TUI5ha+GQdUeZonDBbJTiCNtu3M0gGFA5JHod28X7qv5X89Nrb30tdW31avc537mnXVWvq7rtZ2ttd23snubGraF418XQtrMcFzfz65rV/cmO6jeJ9PsIyWiQTHawJIAQk9xgDI3appJOz01tfo36Nvpfp5Sasc8p23fzu1ortN/g72Vr21v7vR+EfDepXl9o2na9qUdpbM0lrcafPdNPK1rK5jlZkDn/AFQO9dy8E4+XGF58QvcaXV76bd1ZrW/XfRWatIVGf73msktN3e21trab303s7N+8frf/AMEz/gfp+lftK2es+TH4h0nQPDfij7FdtbbrS81nU9Jn0zTIhE+7cIkud5dQ371OCMnd6GUU7avW2i0326fdu+7926PMzmtd8qevfW1lzN6XeqtflfdWbuf6Cn7JHhyz8Cfs8/C74eQRq1xofgzSvPyNmbmQb5WKcHAcsoJAYDAJOSqe+02nto9/SyaW27XSydut1GXz8HeSemujutN7b301tpb7mlzfWsH2jYu4DhV4Jz/CPcdPr19cVzTtzvX18v8APTuehFLkV97au2vy0/T5dDrdG3/ZX3bQfPfgD/pnF7n+f5c1jVteO793fbq+gQ2fr/Xp/Xkf/9X+3ivYPPCgP6/rf8vvsTL90f57+4H8vzrGfxP5fkBMqAgHJ/L/AOzH8vzqQKN8sjW11HBFDNLJDLBHHcNiCRpY2UpKPm2o2fm5+bpkZreCukn10/q99trLe1tNGSoqbkt2tb228lq+r7J22vZH8wP/AAVi/wCCavw90D9ne9+J/hbw++o/FF/iPFrN5dWFsAEsNVuC97bIURpGhtYyZI2OVXvtzuXixtD3W021p08t+l+ml/N2TOrDYt0qqpJ2urdlr26tu/aPbpyx/ky8bWbaVqt/Pf2NvqSTC20XSb0P5oQQTiG6tXjIIjEIQrMC3XJKAHZXgSVpdnr133X5adb2vduzPo6Ot29bpPR3u9Xrtd29LJKzlzXjxmoC3g1LRbi/mgsW0bWYL7QY9HRWWCBZI3kt55FYCHIEmSC4CNtZTkmo2u/1W3/krtrfrbW17JSMQ3yre+999tuq3stV/k48b8aR4fvtUu9C1XUrfSJAsep6eFfbvgvVW4hmE8gjWWKYS5YpkKW4zjNcNenJzbXw6dHptfrvbbVfImg9H29O3W/lfZWfqro+Y73Tgt1ZaNca1p39jvcxzlLMGeW7XrsdlwvPO9cnPI9qdNNbt7Wd7rX/AIbzb9dzri+y6K1unW2r21fXybbcT2Sx0+xke5mtYGS3jt/s6fII5n3qFVLeNciPByd5KheuDkCuXEP3+W8krebu7NK17O/TR9baWTNoPW3ZO+9tU7u62stb38tE5E1vNplm9pYyRrqN5YcRWVrNusrQH5vtGr3HPnXXPECq6A5BkG0CvPrQaTbezd9NdEnpr300b0V9Uz1sNCTtdaeVvJ+S1u3ta70tc9X8MapPeyJDE6yQxkMBCi/MzH5gPSLoFBIx75xXJe/Nd21vdrX7n8WluzS1+ynL2aNNKK16q3XXfTvp5efvXsfSHg+FjKxnAUkAqvpjGFIK9+p/LJyCu8NI+r/T0S1f/DLQ9Whokmm7vR3t/wAH5NLtre0fSLN5Hu7mCSPCGD91t+XLbS2/OM4BGBx05GchVwrP95Hpoul/tere7tr+Nry6ru63VrNN636NrRL9NtFZDdagEUcUqAlQgaSST5BuCcEHkkDg9vx4rRLVeT/DT7nf9Lbsb8ttXbte2nnr2t89zmrhkigjeaLzYpQCpHO5vT5j65x+hHIXb/g/18tTGfTR7f0rd/z+Rb0u0Gox3Fw+2L7OUEaDqMEdTx82PpjuD0qJ6Ql2tvu/nfXpb+kaUdXr5u+78/mt9d/ke2eDdO86e2ZrlUVVwyq2eABlunHPTg5yQM4NeBXinpJNatX31t2018tdLPpY+jwNTkW9k2nvZ7P1el+tuva59YeFZPsdttYeaTEjKztwBhtuQSBngjhv4gcDGK8etHVt7dvXS97d9deuiateX09GpzRTWt+2ltfLmvo9VdW1V373L7f4cubW8ht55A6tu52DcFIOM/xALkZ4zjjI4Jby61PVPbq7fL1d7vVW/mtc6oTcb6vW33bPtZ2628tNOX1a11i3tkt7e3D3DSt5jOuHA2nIyTjBBBBHPQZ4BNc06a9fTotN/ee9/wDt3zukdkKt/J7Ls0vl179Fd+89TZl1Oa4WRJIhhsBP7xyAp289Rn04P1+UpOML8yvzab6rrq93t/L6d5dCnbVO1+7X6pfkvnZc3PaxeWen2qPHvkaKVRLGuGkkaQqMHvgDkEAA++SaJyjLt6t2v5dLar+95Ws0HtP73R916d7vd7X9bG3othDfKl8YmTy+fJ/1cQyOGkZsZJwcbcd+TnNY7c2780vO+11dNa7rtqvinnctNXHT8vJO+68vJ8zO70eFZp2iWMruOVJOFOcA7fu7hyeSR+uK4avxffr1er+75JLyVkehSa5U9+j1v9+q18te9tT0bR7cwXMVsATJOw2kZZNwbo/ULjpnH0IonpGPX8Oll2Wvr5aXuU5O93d3+6/S/re2+nS1mehXiGfyrWXaXXg+WwUBgenbJOT6dONucVyO7lZd/wAHpfZaJWtrrs2r8xpFLlb30/Fa76abf57KNW+0xbW385Sq/JwhZWbgfeABbtkfe4OOv3a3qR5KN99r2X+d7J6Nb9/e2Lo171VHrZ2Xonu7Nfcnff3b8pzdrKwVVKHe77SfYDI/hxyc+v1IAFZ0pJNJq9/Sz9X0/X7z26burPW6fTbz69kttevRS1LgzW/ylSokTBI52qQOv3T+h9eK7eeKhJbp63vu76dH6ff2SkKCVRPTfX5ro9r6b6X5rra8lmtRI33xxCr/ADDnkdcjJxxntjvkCs5w5ltr+D62fVeWklvoYVJ3lay000feN+2l18ut90UlEQZPm+eMEjjj+9gjJ/Ad+AfVvMm7S9LX1t5r+vO93dKPfTpe0pvW627N9dNJLTT79L3Tj0WksrkyEEbT1XACjON3GOnB4DenBrvwtTVLr0u+i5b9O+3xW1u39rkxlBxpO76N+i+5/dfXpax2FkI2uAAN0cpkO89AQD16HoccA/eyO619Jh53ilZ2aXZ6a66xV392n817HzKw9o1ZXeib/m9NElrfXR62asr+7fkwkTbONiFQTyrbmxkD1zz2wOQBjFFeNk9fNed+921pvdpfiZYe8ZLXfW3Vd3ru+vS1mnveWHdLIH8mUFoI03ErnD5B6Hpx354I5Dfw+HiHpK91da9Uk07P9Ntu1j7XLpRUYXto1rtdJK/nov8AN9IyzrNnBlaPLRp0DcknjCjd3ByOfb03L4iclVTfWX3dNO276vvpvL3XKhXSWiv8ttdtb7K3fytY27O98spGy7VB80kkH5j1HYjjgZ79c4Ir3ZTjGmrvSyS1Xpvr+a69X7nmYjB03flvded9rNXfLftolHXfmvaMt06FQ5YNLLIzKoxhVPOSAOh//Xt61w+1jLp81307c1/vX43jyYeclv3ta/8Aw/5ejlZc0dqXMnPXjaOw6flnP6elKVNS2svX06LXz9X20Z2yqxUW7O6Te+9l/hW3p13WvL1VlaruQz8nAfap9+GHQZPHfv1HO3twOFsnJ+fV2S87Ru/m426I+dxVVYm7W8ei67qz3vfXVWs1s3ZnXWhgM2AkeBggMxbYeMFlGMfgD7nivVw2lSzu/eXTf5vTtv6HgVZLDScmnZdfVebinbT1stVe0t+CWTzGgcIxC5AjyoC44ctwTz2z24xxXsPbTW/zX6rVddle+l7nm4he0mnb4veV9Uk9UnounV6vay+ysUwMmCrKGGCiHILHoxO0/jnuM8glqzaXM15/8Ouiv29dXeyj2ciVG+vNbVWW6V31/G3Xu3zdLbrFKAqB0Mahj0yTkDI45Jz0557jNd1KleMU4pt7W1f479N7WWvS0vFxFVwvbS+iW6va11r0afRdrK1i7DHdRzNgebbDcZiyoJLUMM8AjLF8Y4PPcZ5r0KdLTVJu+ul76a92lbvfS26Z5jxLb126vqtPnZLR216J3sjOW4gtiYCGjlYvNHNIMqVJIAI69x2UY4A5FTVha6s9NFpdefVrRaa83qtjeMLxVW/ml2131WnX8XfS5WmtJ7ufzba3iuGJDGTeVRR6gscDHB47f3SCKzpU43Wr6a2Tu+ul7rdLd7XXeJKtbSTVnZb9uvla1refoc7rSrJJ5EtzaQMOqfK7bsZI3HJJOMYzx6ngVw47CKVVzt9lK6+7dKytp0l8lzcvpYHF8sPZbpvfbR/K/wA7eaWtjg7vx9pWmG401rlFuI1UhfL3AFTgOrYHykglvmOBxlcYrxq9R0N1212dl5Xut119L2XN6lSinDmv92m/l1totJRf5R8u8TeNrm1mfU7m00+9spMSNcRSOs+08BjHyCFH3iACMHIbArzak/azUkrWSVlr572u/TRWto/s4QxDp03S6uTf/gXRrp6eV7yvyx+e/E3x60a0e50m8srpVnGI5IlQwsrZxiQsSjjI+XqPQ8M3TRoObXnpfpt87Lz11et00KWI9h766K7v1Wn3ed76a8r3PA/EWt68mp22raDqd/HpMoVp7aBUnUKehmQk9ARu6dM9yK63gXK1ltvpfW/TyaVvnpscmIziFVx5lrBKOuzv9712vu9tLtGlp3j2ZbnydN1eOOe4tnhvJZY0exnZgd0RLxs9vIMYJIVQckEjCtpLL58uunXXbfpvdu2vlrpZs5VmVNSe2v8AWyvdP5XvonaLPN1+I0lhrV9ZanHHHayuYi9rIuxcjYJYZA4ick/McFfTuKxw+ClDnum77enV6xVl06vzV0zqnjlJ0+Wykk7201ev80b3u9vXS/vYUWpWMPiITDxVrUK3IbykuId2mhT90ecPlU8gEgndyRnmnUw6jr1fRd+unqtXe1r6R05vQoY1tLVO7Wj1b8763uumnnZpqXqGj/Ea+8PXkW7U30m7iCC3M0Yl0XXIt2VjkYnak8g4U4xnv1FefiIaKy0Wvd38u2tvztKyR6GHxUud9NFpo7vtuvTbZ3stIn1j4b+Imn6npKNewxWC3yq0rh9ywXBGGEZJYBcY+6Np3DaTnK8E6anu7eq7P5bf8DXY9CGJdtbP8b/1t/wyMzVdKhnUzWF+Z1zvWCRsxzqckgHkjPJU5/AnDVzVMN7NOa0TdtOml3r3Vr7a2STim+bVVOfR/wCfna6jo76f+3bmPp9sDBIIH8yNXOUmZ0kidfvLGwydoP3CBjpk4+ZuGpHl2v317deyvfTfXXRiVTll2s+9/TRd7d/ytF+m3z2klzHHI8KMT5kdywbcMEEI+QVHJOct6EjBrllNp6Je6tfP8+/V2e3u2XL6MI+1ptS3t0677u/lbbXb3bqUu20uOJkt5rZt7Y87epBWMggsr/e6gnAO7OCQTndU+0k/11vbonstn3uuiitYijDlbd9ZJffsklzPom+++iWpvTpI88kyQoUaJlR1wqfvFzgp1BDc559fdajNylFd9NFbpu07W9L9baWudCq2Vtl12frba3pqn52vHnY98J8lsyebGYnEp2qZVyPkY4BA45ATpnk4r1MPSba3s9b9NXp06d1zddLK0sKtRWd1Zd77fh+FlfukrGPqliiqUkZVcrukcMGUFfug4OORjnIH05r3aNO1rbqSb+7Xfaye2m3XXl+axtb47K9769nqktY6LW32r6Pqub85v2s7nUfDGmpeHbJZapeRWt15akx29pM5iN7kjGxc7WjIzu5A7V9Hg/ijZPW3fqtu6s/W34x+KzD4Xd28k728/NWf3XT1aPz8gubOOwZltodUTSNUeQFk3uLC7UxXEeOph+7Kh+bnfzyRX2WC+CG/+S7b7Wurvmsnrs2fn2OjdtaK97+WvlpdJ+W2qSdjho9dGmWmqRSwRQXnh27XU7NVG5HsxMGVkJ+8VjkBWM4yAcEZzXt4ebT6dk/XW32k9b3s7dW3ZRj8djaXs+6vts01p19NNl20atKt4u1n4c/Ha1Xw7q87eBvijLN5PhXUJLZIdA8TxSw5ihu5EZBb3crAIjFG3FsbjivSkuazfrfaz6W+d9ba21Sb93xY1LTfdN289fRWtvZu1+5862Vn8Q/ARt/DXivw9rOka/4euHn0uV7ScR3GybMP2a4VTHNaXiJw6ttZWwUBJprRdNErrv1tql6b9nrYJQ97mlu9evnr8S3emqd97WRo6j4Yt/Hcx+IGmWcNvHcSSW/iHSY4hHc6PrMO2Oc3duqjbBMyyOH24YYJwWzWMvjet4p289PRLReV+b5XNaVW0uTVq93r+b20tezjLstm5eaWaa14O1mfw6nhVdXGo3EkyXdpZqJLSwOWaUzMgV1X73ls23LYyOtaQtyp6ptPfXpouzbV9dNFstjmrSTqSl0bv6+q03fTorWv9re8Q/B7xB4wFl4rh+JNn4Z8LCGaKPRZ2+xazezxoxaOz0yEhrzLHYvlFl+XPORWsdUt9HZW6X89dt9b6O15awOGUteZ9/v8k9Wtd9E9LpS1F+F/wV8O6ZfXPjDxQ2rWVnp0M00UWtBrXU9adDwtlazsJBb3DL807fdDAEHOairG8V1s7u2jd7u27ad/PR9k2OnJL3l1uvJJXe+tlyvVbeT+GX9Gf/BOT4L3nhG+8IfGrxTZGHT/AIk6ffaf4J8PWEW+2tfs1y1pZvIApUzXjRymOXapco20sMmvayyHLT5tG9brZ7LVay/PXZXa935/NazlPt1st2ry3ettdXp81Y/rQ+GwudK8X+FvC0spN83gy21jV7JAxXTmmkeO3gmOf3ZZYiVR0BO3IJDBl9HV6LS0u19uq1v06pavrc4qa0jvdJbtO91+HxJ32tvGNrn1qu3+Anbj7p6q3cd+PTp9D1rmnq2/O3rbe/n+fyPTT0V/xfb7v677nS6R/wAez/8AXdv/AEXFWFTeP+H/ANukKG3zP//W/t5Azn2Gf88j09/pXsHBbS7v5f15adevWw5UyM/0z/7Mv8vy/iAslunf1/4bpbr5XVvdkCkYC9BycjnH5nH5n8BnbjP4n8vyF+H9efN+f3acsiOpyEZXK9VBGR16+p57cVP9f18hX/rt6/c+1+m15Vbt5I4WkVSArZ/1fmg8HgjjHfOSfUDrW1JtXf3dF59+itt6Xuxw9yUpK7babutvR6vd9rP+7py/F37YWgaD8VPhnd/DDxFq2o+H7PxdM9jba9pSbG067W3eWJ7mdlb7Hbuw2SS4kAUYA5O0r++rO3X4de2uqt5bt33b3MXCnGqq/M+ZN+62uXW6s9V/wW7aPWP+fR+1jouneAPEviT4faYun3upeGvEGt6JaXqXLLbXaW95LA2r8bJLuW5QBy7iMO53AsMGvmsTBRrShF300bs/PTVd0vXS61PqcvquvRU2ve0TSXu2XRL4npa9ldPvdn5va+mq6dZR3C2OsSzm6khmWdp2eV34U28UbPiN8jBZV2rgjPSuf8v179Om118l9nsq0pOFrc2+ltfXffV7XTtbVaG5bX1j8W/CNv4V8WR6bovjLwgXt/CuuahJhtQtnZmXRNSaSQoJYuFtpCqqEUoxGBTfLytPs7t76dLLW2jXS2j8pcUJVac3FxjbR7Svazbt+Ct101itTivDPgbWdEk1a88S6ZdpcWU0dlYxSRKIZruZiEeAqSvlIqgmUZUqwbIwVXmqSjHazdlttr2ate+l2vK173PThy2u0k7O6Wz9e130vHyerNi+vL6KaXToIri6G8WpNijyGafYGljhkUYcxklHJO1NpOVxXFUfNrfRK21rWd+X8eqjpr1RqrJ+6t97/LS3e1u7d+7vGHTbSx0yeWDV9QsLCUMjmK3nM7xs6hlhIQnNwy4Exd9qsu3AwdvJVe6ttfXR63vbVLW3q99bpHs4Wo7RWi0Sv1e3a2y0ts+t9z6B+HV/HcS3NvDbxoYypEzDLkDAXceBk8E7flPGCcE15rjyztG7Tb36t67dXp5b9d5ezQdoc3Xmstuzu/8AFdNbO/le59OeHCyMrOM5TBAA+UEdTzzk4wSenQ4JNbNcsVbfS/z+Wu9vJ632R30XdpPr+vba/T7S21itjtYpsSR3HzfKCiE5AI6EEYye/Oc+3zA1i7yd5PWLtpptqtL6efxbW63O60fdtoreuvRPTyXRba2szH1W7a7mCyuXVZAskTSYXHBGBjp2xkdM+u6r69rf18/mN7dd1y+iun3to9bemisirLIt5Pb2zq+8EKIGGyGJQcLg9SxA7D/vkmq5m2vVK2nntpHXdP4fV3fLLSfp9/8A8ju3017xSXvdlYaXP5IgZRFlhxkRg8rhm7tg8jv1wBgFprStFpbPe2nL5LfRPZtrXRp6xClu9Nbvba2tndbN90tLaqV0o+v+F9DnVIvJfMgw0gCk4Uc/NjkB8Dg8cdWxivDrSV+2r662Wnbt5O701ue9hoxau9bNWT3er296Otk2/WzS0cvobR5LSDTTe6oTa2MJUANMEa5dcgqpJzsyB0QEA8jO0txSgpt2V1tfvb103fT0Wx7MK/soWi721113fS9td9nrvo0jWt/ilpsCpb2X+iWm4qeRtdh/AHzudjkjAKjjPotc1TDd431v30t/X9Mr6/JvWVrWV9LLX7l13T+dkztLL4iWXlwqk39mBm2EtNE7ybv4yAThTkY4BOeCeBXHUw6e0ena1vxdnprdva/utvm74YvaSkkve0XVd90n5J+lna56DpmuOxSZr9ri3CB0diWAZvu+WgOWcnoB+XauCdFpx0sm9N0lbpza9NU7db63aNfrTbUVLW/zvbvdW7eW9ndssza1aaVG16482+upNwN2cmNASdzR8hTg8Z57/LkFd1h4uCtHXfs90331SSWiXb+8dMK8W7N327LpfZK60tZJXvty2Z02meLBqptIx5cU0zJmOAnySo43OxBUbsE7cDHTgn5uZ0ndpdnpby+7tZ6q3ldx6PbU1ptrbpeXZ+q03enaXL7vsmnSywTLLI4DbQE8o+YCRyCDk7T1HAbPA75rlqUN9Enaz6d3o+60fkdVOtFxfK+VO7001dradtbdPlZyPXdCupfLjXyyGfJRmIEkhzzubqM5JHPIH8Oc1zKEtpJ2T003/Hpouu1rq75oniHHeTa37NX+WjXk2tbdfd6SdUhkjmNyttL0ZJF81QT2xk4Jx6dv4TT9mv5fw/pNLXTTutrS6qNdSSTlpvv08/Nr00fXSJfaWK8iMc08TfINoiGzdnk4Bz8x4wc5HQ5xmicE48sk0rt2/BJ/DbZ679eVfav2sYyUoytLXW9vS7tokv8AK+7MR41tiGjUMucbUZDKhzyX28nAwenHJ5xWao01otk/XS2/zfa999L2PQoYtq15Nu23TRb3bXVrqvn7vNtOZJdgliMeIwyysp8uReMAr/fyMcZ9OOtOUHy25n6L176Lp873V72OiGIcqivKVnd2Xpp/wfi3T1vaWfc+dGJJPJOwrt+5hVUcfLwSAMkcFscdeNvRUg1Sul73Syeztrvo9LvfTRNW95UqjlXd3zbayez9WrWv719baK6sjmgp3tIhbYw5P3yPUg9Pfufc9a8j2cpXe/m9Xp/wNNNemzPcjWinCKsk90tPl01dtuXTfVvlOm0FWkLKju0W0k7hhiwzx2POMYwDnkdSrdeGilJaWkvmt9Vrul+qvf3nDHFT5oyV1bVJPq//AAKP9O6ty+93Vj5bxZY7SAwVAejHAYBRg5Gc8YxjknOa9uE3GPu6Pl37a+cXqrdXr0Tt73zdXm5mldRd7paJ+vz0+aL84IiiBXaoA2o/LN75IAA5Bx+WM5SJTqSTUm9Hu77W9flfXu1paPNCL9ontbffby66baKV+j+0Zt4QsaKkyMqAkofvAnnAORwOMDnhcEDrXkYuT9/3mvLXTpre2kWr6vfRJn0+AjKUUr3v06W7ap30bd3tfaW5zy5iRy0v3nJCg8A+h+g5ORxnsa8WNXW7fXr1XVN2321vrslome9QoNXund6etuq620769bjjcx/IjsIyw5YcnI/Lk/h/wHgV2xxF1a/NdW1vo3pp8W17L4kn2vc1nhp63UrX0TWu17bLo9W73t5XGx3Mkc3JV167jywj5wBg9cAE4JI7g5BrHm5WrOzbvv5/8H9OxzRowaVqauu0bWb3stbX2vb77nQ2Uys6MjI7yNhlPRVH8XXjjnOB6ZGBt7sNLmtzNNXu79ddtY67rrHTS2hw4mjL3mk46N2V35WastGvw1Texsm8MdxCqGMHGzeGJwx+6MAE8Ec9h3yeG9apP3o+ylyppXSdr/LRWVr+r6pXPHo01GnUbTUry1aW/wDNvdaPW706PVqPc6fmGAyCSHzsCSSWYZLgdQMYz04HOfcDC+nJx9jFpRU7X5o7t+XbX08krtHzGKhN4h813Dmeknps9Ne977P5WSlswzX6KVQ2qLJFvhldtwfnLRt8vXH3Rj6BcnddKc3a8pX2eu2l7LV6bK+npqZSjFNNPS9klr5Wv8+n3P4i3a3UjbpIxCssnMZxlm2jDYUYBUHp1z1HHy11xWnf57fJqze3ZW6u5zzxDjdNqSV93olf7tWuq8tTroopEjsXErNc3eBHLLsgtfMDZaORuBGMDg5OW4xjFenh4pKMnO1902rK3ra2jfXVJPQ8zE4hSi7U1ful/W999e6T2OpD6OLkZliiuBCRcyPPGI1njxxMvy8Yzh84I5LDk16tGtRjZycdN/eu/O17X6fy7dU/d+YxEMQ5vljNJ7Wu9Leis1e2/rFpHknjDxVoGlX0lxcazZ3Ak2ollbzxHZEv3nVskfMc55wPfIFeTj8dTjVqRXK9lpt37u/3xdtrWPbwrqSw1Og4Suk1JtWlrsvl030084+L+JfjDp8jTJp14Vt0CpCXuo4UAH3lGwgt6b/mz6AgCvFeIlKT5Zu2trP/AIZfireepvDBcrUqstL3d27L12Ss1/e36XsfP/iz442lnBHd6fcQXt1FceXFAsjSzvcNwREBIxZAcbhyB2xk1E1iKjvzzd9N5LbvrLt1tfzvePqYZ4eMlblaW9lb7+3otX958t+LvjT41ufEQvLVFjjSEnU1kSNY4wQzDCyMFVc8Anblic5+WsJYOpJu7ctt9X89XbS2unno7HbicXR5GlNR93pf8FzW1S/DZNWl4Z4k/aGv7i5Fjb6xqCXzEzSRAK1nZRxnBRkiONkg6k7VHduAK66WEcKaUlrdu9rW1Wl7L01b8rXPmq2Pp06ujv7t273/ABu0u1uVd29Uzwz4h/Ee5ukhurfVJbNriSNLm9ivlubZnbqRa8+VjjgHA98V10qDi72dm97X000teN+v6NXaly1swjNcqa1fn226Lv01T6fZn0vxu9vo1xDD4m1zUdWji3INPhe4hMJAwWiTc4Kk5ZgOgPQfd7p6x0t5WS+T6q9tNtdtTyZ1HUno3a72en3aX07vs1b7PGa5qviB/KOlT6rqUl7Hvv7vSHmsUhL8eRqFtKBLE6HhmQqGxgda41CTla0nr5rbS7/PovvvLspaRt1162e3mr31ST1+09dy94c0DxbdObe41GV9JKLJNHdPGsVtP1RjczM8sJLYEe/aC3XAOG9GjSUoNOyd97a+jfvX7bNPptcmpOpS5UveTWr0VuXXrbT8ut9EdnrOvm1totBvJbFWtlEcF6b+GGaYhebS4W3LxTB/upMqq3TPJBqKuCjJv5p7vv10Vtv827suGaSpuzT0Wvm/nzXvo9tu1vdoaT44WbSr3T5/supx2hYLp2qXm2bSyM5lgkEiyTJnmLarY6kYBC8v1T2HM0lJy0cbX3ad1o27Lr53urtR6oZl9bk05Sj7Jc11Jp92m1yvzd9Oye8us8B/HLXNP+1RanbWMvh2Bfs25L3zYnUhlQxSvKskd2jbSybAuBhQeK8/EYCpP94oJJLa3rrpfy6feehhszhGSpucr3Ufjfy6Oyv3s302uet6B+0dq+mxpp2q+Hhe6HeTkaVqMd1L9qictiON3DbUOH2oJMBuMY5rypU5Tk6Dja15Wsru3yvsl6PS+lz6ClWgoqqqjatyqN317p83XXV662b+z7t4X+IcV/Ml3Fc3Gnyb1S80zVl2zxlgMOMlVmjIbO8Kcjklsg1x18K1F3jrbRuP4dLW7LTybdjejX56iak3drZv73bbz16+qj6u+oJNJm2itrieaPazFssEky25YgCpU9AcDGeAcAV87Vi1NLVa66bK3knzXva7V+1uY+qwtdKHM9LW0dte/ktF5K6vp8J3Pg22ktrSaWWJshnUncdkeSflZPl3d/XkEAHGWahbto7+q7dX0Xot037pNSup6JWSV9LXaXrtZW06ab35Zdi24wO5mQhk529UweCeRyOgyOOvB+WpcWk2nstNLXe6t8vP15dApXbUul9u66K3RO6evXyscHeyefFIu0/IrIu5iAxPfPb1yMe3UBu/Dt30fX7vz89Gvv1Omqly73vfy9b+r9b3d+0eXkeXR7cM8rXltM/7xJTma2LcZDHdvi54POFwfavdpPSHS1lvZf0lffz1d5KPzmKS5ZrlUmr/ACt0++3bReil8b/tdR2Vx8PNXtVCXH2RUuFAbMsPzK6gE/LPAxY52D5XOMrtO76PBtc8dbe7fby9Xe+m6VttT4fH/DO63T1a6v7r+rurXXRI/IbRNdufB0kdxfW7mKaRoJUlR2iuNNugSjscbN0RYIWyNvQkZJb7XBW9jC60sk3Zaaff6OzTt1sfmWaz992umnf8l5tfNdtftS8n8YeKzpN/JfRQfa7fXTNZQwM5ZLcmTYqMVYYwvzAc9ONuCK9bD6NW30dtvV/hfpvr3l83ipOy6rqmtbJ6au/X7u7WkoPiFrkOk6NpA0y0stQuIILebUr6aB5m0poQCptSgVo5IiRiU9Ac89K9Cd2k9+66rS9mrrTq7dbPo3Hwpq7elm7XstdFptbW/nry9LPl9H8GfHvUdb8CT+F9Z8Vy6v8AYIi8DarDZTeIvDtxGkhi+yXjLm70l+MW7q0iKoIJwC2iWiba+6+ia203e+/pez5eN0Zud+aTu9Fe63vona21vtJu+10zkLO48SPBq+oyyWk32OK316y1fRYRbvq/2Z90tpqEALRTedEcOAv3genFFk9lbtfpfaT7N6au/VLa8eqnNRS2UrfO+iV1r+L0WyTR6T4h13w1feGhrF62laFFeWNvcQXgmaO1juXAU2OoeUHliWRwfM2MFwSDjAFactorS/VdLLfW7eifT3f+3filzV37RuS6apfj6pLtd+Wy5fnLWtZ8X6DqFvfx+HPDVvJLCZ9E8UJHc6vpIPln7PBpg82SCKecldheHduOTjndV9fLV69bvpa2jdmtVvZN39zgnGTvZ9Xe6tfv8td/8lKP1r+zb+zb8Uv2p/EMn/Cb3sGg3Hh/wxNres3+o3KW8XiLTbfFzBpcJVjBbXstsoSCNBGW4DfMuK3o4SNb945W15bea7+71a3W99VKzjHmnWdGm4tO929d+/e/4paLa7P6qP2MZPgb8Lvg1Z3aajJrmifDo2/ie2tdTl+0apP4otraaK10bSIMA/2fYTM4l2KkZm3O24thfZp0Y04qPNbbb5dV363t1d1e0vFnJ1J3s/i6vX3paJaR/O395ac329/wT++NniL45eJPiL8QNZ0+OHXfEusStNF5hZdM0Oxke30qwgiJby1EQ3SbNw3s546NqorVLW8k299/+3t9Hva97q+0ZqPlr013jrZLdvtqmkrXSktUr66w/WwrtYDGDtzx938ufm9efQc4rCerl6r9dt9PnrvqdOJvLl5fO9nb+vTp03Oi0f8A49ZP+vh/1SOsKu8f8C/Bs2o/B82f/9f+30KRnJGCMdP/ALI+p7r+PVfYOBtWtq7baWt39b6brp0uKoIGD/n+f8z+HRQG76/fpb8F5W7frKRRk4zjj/Pp/P8ALisZ/E/l+QiJ7cbg6kI3UEHB68ZGCMg+/AP3Rmp/r/L8Qst/67f1/wAAhkluIdzTJ50IBGVkCNkDjI43EHjuOc9BmtYqy9dddd1/mTOXJDmV/O2t0+3633Pz6/bG+PHwz+Fvw48a3/jDxZp2i6jLpxtrPS7vybu5+0KfMiaK2WRXBcKQCu0+pIOKxry5Y2sle/lsu/m3fReWupxRjOpPrLVWurt/qtXez9FbWUf8+z9pP4lWPxL+Mvjj4jWwTVr7V9Ru/s0jaWthbR20MhW2xagjlUUEbFfcwJIOSa+fry5qjk9dEvuSfe+vrfXR6XPr8phKnh4xerv08+7tr9y26M+Qtfi1ZzbtuvftLu8t3dG5aMus5+5HEipsWOMiMYGRjGFwtYd/w/4O/wByennc9vmirvt10/Hvd6rZu26u2eT3+nL9uNhZW8zhpvOvJFBnlK5HGTubznJLFhjBOSCcis6t0nurX20v6fnsvK70jglCU+ZWVnZbdL3t0dtO9tnvePtlnp3i3XrLR9E0C5nsrLSY3vdUu7qX7RI1spTbEnnqxjfbuCqzd8hV6N565py3dtOr9LvZWba2133smZ1pOMfd2a1WqWqa/l0vuk72s9rty4j4tePf7OtLXwp4ZUWeovC8FxdRxwxXMdtK2bp4ig3JPcFm8yXhyG4wDtXs9haDuul3f+a3a1noktOW17+QYOUpQu9bTe7u+Wyt31dmlq/Jqy5fItLhi02IySq9xOqo48wFvNkfGTJJIGLYByWbryeCcV5leKjd2vo/RbvTV6t9eu9lZM+hw3wp9dN1r+bcld30S89j6j+Hd46tCjRiJ5o0d9pHdBhBgchc4HPXnn+HijG7fXbV9l09dnddVs9JHsUnanLWzve++qWtl7uyd79+yXNL6v0SeVBGoZsMFDsSN2zPc4PsMZ9txFdLpqz06aWXW3XbS++vrY6qMm2nrpZWvu930XnsvvSO9mnEaRtEyOvD44AxkZC445xkdMEYwPmFcM1aVvw/r+ulla8vVUrxXnq+10rWSsvO7sv+3vs83fTx2128zESrLtZIFIBEmABknJJUndjC+mWxUrV+r+78f1+etym9PV31Wqv2eia6beehsaM1rHcTXc8jTXEUKyK0gyokblUiXoSg64xnPOANtCeqVuv9dd7baadLN+8tbN+qv1f/AKVrbvvd/Fb3fR/DEML3X269aWdGbMaTnCBgOrLxhQclR9c4zsVVtI999dmtvzUd+62esiaVm27W22+7y1V0+t9rK1z0CXxZFoFtcTK3l7htYrsTzRyQiyFuEC5B24698Ar4daDnJNb63Vtfw0b7Wvfe7vaPs0qqppLdt7bJL+Z/E99dvJdVHx/xH8RtT1uVLO1u5IYANiiIlliJIBKLuAJ4Gc7iTjBPSohHlXLKyTvftrzdNN/X7jpqV+aGj1Wis7X076tt2e7W2wadc38EUdnpV3d6nrczf6qWYJFbbsEyymTckSY5GBkZ7ZO258s7a9Nt7318tVt0fa9lGXEqkk1rrfrffz66K6tr5dFHv7DUJ7Ca3ttWvvNuI9slx9mkZo94I3QISQZpOoBUY68iuKrFa+Vrfh6/np52PRp1ZOOlla9+r7t/dfv0S6qP0Lpnj+4vEtnit7jStKtIVjBupF+03DbgpkVSQFzzs7gHPB+auOUYzttvzWfR2Xpunrpr5bR1jXcLtvur9/8Ahkt+uttmaMmt3msXtoq3rpbsxZt0nmCNV6dB87ydV3HO7PHINbezTjtrvrt8tb/+krp5nVSxTur3Tbs+9vNenrp5K8fQ9I8d6Jps62X2q4n1KPDLGsYf5RwPOcfLEOPQ4PXGQazjh1KUm+lrpq+238qV272v5pq3vaTxM5KPLJ6Xu76vt/MtHfb0dz1vw18TLjVJDb3N+tjCHAhjQKWcAqGZpPmIwNx2njPBzgMuVTCLtZL01ve28X03uttrHdQxc4pNvTX3m1e9tE0t2tr7+t24+4WHjey07ypRqcQlb5xczSu7Jt4CJCpO8v2GxfX5jgLxzwl72WsdNV0te7fJ/l5bXlFbGqdk1qv0b00b172Xk+XePcWfxM0zbLc3OqIhYeYYHSPJI43AfMQG3cIMHHHGAVz+pv8AHv016WTvpa+u3nc6aGKbS/S6sul22793p5KxN/wsyHEaR3cAklbiR/LR9p+5sjxwAD1+Unv3FZ1cM4QvbTtff8F2fV320aRt9Ybejb62b69V0bez6q8rf3jqtP8AERvIk+y39mk+4MWk8mFmJ56kYbHpwDjseG5vZrsu3ZW7vfdX0v5a2ZrDGSWl97J63+er62X8vZKVny9o+oM0UaTamlxcbQ3yBC2/+FBt+Q88c4z13HAC5VYKMG1bdbq6t5bJbd9Nru9z2MJXc5x97o9b67dN79Oq9JXUiRtWklgaKW2mMkcbhjIydCPvHacFSPbOeeMHd0unektLa30v21XzenktOx0wrctd6reybvv39PufdJtoxLDJU+a6pGZCcsOUzngdD145GeCTjiuKFBOElFJ2Vk7bq/5dU/eW2l3c9L6x76s29bK7Vmn2183rold6OxtWKfYbkurGVW+ZHQnaMHPTjA7cZ/MsaFFws/8Ah/1v1dlb5aOWlSpz7rto730W+6TumrP8He51ttcRhPMh3tJu3qvX5uN2M8ZPPf8ALitoVFpo1fXfye3uu33dLXf2uWdO7ukt+ul2/v7bX01SbvY13nf7OEnK5ldid/3o8dkwAQPYfp0W3N8r009Xbpa9oeWunbXdGEYLn+at/wAD4r7v/g8zUeWvnc5jUZkX5gR0KnnJy3UAcjbz/wB8mvGxL5nLvt3td2/u7ryj6v7P1eXUvdTT2+/a11re+qV/LbZGDNPNtwCcrksMAc8dO/5D8wa8yVFpXu7vyuuru/h9N7elve+owtOM2m0r6Lb7/tK/b7Nt9WU4ZyzkuWcYJVF+/ng8nrgc9z+IGa55TlCytu+um9ulvTr1vp9r0nh4NO6u7eWt9uv32ats7XRPFqKl2XywZOeGb7mPfJ5HA5x9OtaSqPTXW6073++2va/motWl5csJyRemjvbTZPTVWa+fN5pu1i/p18yTl4/mwSGU+3/Au/vg+uAQG7KE3ZPrvq9t7d9vTla197WJ4+Ksm0tXputPwae66N9nf7PW2F3HJcrLtRCcqCFztOO2ffrx07nJNepgqvtVJtN8t0uvW179bJPovO+54GKUqbUUlrvro+z/AB2/L4o97o9ybpnt12StE6K7N8gQE/KoAAyWBHI6ck44C+rhavPUdN81r8vl/wAF69VF9ekjw8xoKNP2ltbXVtNbf4eur8lZ6W5TpLmUW+LVtssjPukSHLC2K85Z8ZBYZz/7NjFehTSTt/efp+ttuut9NNz5upXT0vbsu3yslbbq9ruzRz2pa5FAxG2WCYfu1AIVSOm4M20qXODnPI9Np3dsNr3+W/p6LTTz9UcFS8k/O2l+m+n9L0TdjwTx98YW8K3UVjq1zeJZy/MI5ZwhjxyrqVIZ0BAbqM++Bu48RVrQbUHaN/O/l3SWrWnN87NR9nCYClWowc7tteTWj+d+2nrpe55Fr/7TTNZTm8uby8tI4Ga3uJnWxtJreHkgQjy7i4VAMGRmUNjsMlsaNbEVJJ80rNpK99rdGr7adfvdzullGGSvyLR/dd9dXtZ3237qx8Z+O/2qtGtdPvtUScS3FykltbySyskMQJwFghEme4w5HHq2Dt3q4apOTcm7/wBa/a+67W2utzzq0sNhqkoqNrPppd/1rf3b9Vsz5B1L9o7xbqUqXLXdza6TA+PNcFUZByVj3fNIzqQudrLjk+laUMLa27d/6WyaV1d7dNOsvCx9ada6oW1XS+n46q6tpb1enLyuo/tIanqmow21vcw6VBC64uApF2yj77RuWZVd+TnPU9TivVp0IrlVte1tPnr0t5drO54MniqF4zck7t9VZPa7u915Lzvcn1f416hqANtpFwJdOESPfXt46STzzR5Mq5zmXjhVAIHtXdTox6JP5W6ebva/m9e6SODEYzEt2cnr66elpeV/LqltLKsPiJpfi+GWwbSdSWaU+RdahZwCPz4148uWZ9hhjOD8kYGeSWHy10wwylbRW7deidnaSvZX67q3WB5tTEVL80m76rW6vvtrr83fS19Gzj/Eslla3a6Na2AGEU2ds18iG4Zzx5rtIQjHJ6njrkn7yq4dU1tpd+fTR6aa+Tk9Hd3SCnVcpKz67dNNNflpe6S8r8x1WiXOr6HBZTxaPH4dvLQeZeTw332mS4gxkFZNxjZQo5VfXI6kNw8nNLlW2z1v69tdbbvvbQ7udxSbd3LqvxstdOju0rbrY6zTbLw347vrsnxrqC67N+8gWwWdUDJg7LgKqLtV+GIXB7Z5K6eyWjSXM9r6vZ6766dG1a6XS8taGKvbpy3e3fT+a+22112sjestD12wvzJf+LvDVnYwhILo/aZJL2aMdJLiCQBTkkbvvEe2AamNObvyatdv/wBrTTu5a6W1R6LrQt71nfa3T003u7dL23ehieP7bw5Yz29+L3SrvdHua5tbtJ/NIHJa33L5a4OeBuGTjBwK56jrR1v8r32/W+nl03EoU6u1krWtbq3o1br92uru1Jnzjq1x/alxcLbTR28So8lvcI8jRvIg+WNXjYSrvPG12IXOTjAFZ08S4t+0XMklbbv8rbL59XZM0WDai+TeStdevdJW8/k7Pc8r1WbUtXs/7LXWZPDF9aTbmsmaYQ3vzH5jPISr+ZgFRkbCevG6tnmtC3I0mm7Wdt38m9189b32lySy3ExftOaSW+vNp22le/yWmnfl9F+Evxz1jwo58G+OJ7qGGWR4tC11o4JrR2yxjtNR8/sGx5E6kMOORxXLKjSk/bRSXMraa2Wluy7qz2821zdlLHVaaVKTdvz6eVr69OtuV3PpTwv8Q9S13U/Jk8TPbanZ5awtr4YjulGSsccisokjZcFeW4wD0+XixFBTi7q21vPW19Lu3lfq3d3fN9JltZ1GtXbTV7paXt0evmtLa6rm+xPhp8RPG8c8MV1BpVxKCiw7NRC3iktgHa7FWhywAQg4zn5jXy2NwajzT0TTdrq+l7doq/z0vpax9xhLzioq/Nv5JfffXbr6pp833n4I1vV7yG7XxDaW1vcyKBGLaYtv3LkZQBULYAJI69iK8tUtN/w6efv36t9Hfdto6JUHF3u7Ky9d79b7t623XrzdXcS7VgRRKfMeVGUZOVbb15BOODknpkALnNRKLUW27NJX0/verWrXT07OXZRXLGza0Xy6v9N3bfZbHLXsjIr71XMMmERDl2GcHcu7nqRz0xwSQSvTht/L5/LXXf7/AE3Kq6Jvy0/Pbrsrb/inHidY1IPMIVVtsYLODtKlW42j8yDggjpjHLe3Sd0tNdLu/XS2l21+HktD57Eq/Nfzd/N62trbf8b6WsfBf7XWorH4XW3tUa3uY4Jdk0crFJ/mLNayKflGOdp247YHWvpMH8UdtHfXbXe+rvfbpu7a6HxOdR5Kcul03ttrZ9315vLfRpI/K5dck8VeG5rXUWNtbaXcT2a7UHmxyTANCk1xyzwlgfmYfJ2ByN33GC/hR10atpqu/d2tp0W2t7s/Jsy96o3duzer7bK++vR9W9dNjyTV9OF/q9hp9i1xNZ2zQXt39siUrbzR7Vl+zupYsjDkHdxuzk5xXp4fdW111/HfdO2m+7Selmz56vK+7s3eytf7tvyd+0blj4g2V/bae15okNzclNQt7+eOCMXDNZ3ASC8t3iIcyW7QqWEWBsJ3BV+63pytyrR3t32S1V9bd0+1krXdzy7OTdtm5a6vZ36+tnZe91tc8JvrOGPUXvGhurdbxptMurmzWWNxPZlbiweWDaoUzQu0b7QMkFTux8tK9vk+nruru7vtd6uz0ujCc+WUovW2nze9lZ2a7tv0e5718OvEl5a6pa+Dbey1WaRobdjcvYyR20tle43RCVgysRkYY4KKD1zmq67rRPfXVaJdm/v1200jDjze9oubW3ZW/wAW+mitrptf3ekuvCDp4A8X6Fqep6ZJqWla4GIkmR7eO1upWZLB24WScq4PlqPkPP8ADhXd7vXTTyurXTs9U99t7dGyeV3tvazemmr+aXr7y6abHKeBoH8MaPqVnDqtjb6PatD9v0++Md+iwTEbnsVUbbedQcwNneoH12z11d118uzXdW76a2W6CVFPol8rXd3r1atfZ81rLe7Udi0+JXin4e30en6D4m1qz8E+ILlNRn1K2mmF81opINvbpu/1gG5VLNsUnheCatVakFaLaS1st7vXRe7a21rtPuk/e5a2B9pquy2176Ncsuum+u+tvd/Rz4PftZ6y/gnTfDegx6hCniG7n8Mhh+81CG1mw6zecdzCaUjLsq8vI2M421vSr1qkkry16czurtdr7Lfttd6yOCpgORXb/G17X237Pfe/T4j+oz/gm34r1fQl8O+CNU8MpoNzovhiDUdX1KLYZLw3jkQx3k+1XaUgrKxfI3SHOCcV7VCMo0256u6a9PL3rre/2fPZo8LGx5MRSSduj/8AAn2b67a+Vle5+5vmeYFlXBVogQQBzkbs8dQQRjIHpz0WXrJq6a5l87aaffr9+x0VL2i+mvXvbda27b9Op02kf8ez/wDXdv8A0XFWFTeP+H/26R0w+Fef9f1/wT//0P7f1OQD/n+Q/l+deq52drfj/wDaP8/uPPFpe08vx/8AuYD06/hUN3d/6/Jfl94DigJzk8/545X+X4jOWQGfqmBZXRBYhYf4cF+o3bM5wV/yeMNcJu/K1ovva1208u6t53MppzvHVWd9Lu/rsldbay1ta1mfys/8FctY0Kw0D4n6FrOhpHrLXGnaj4f8TahLK8lxDcyeXPaWpYsomtlBdlU4KHAC5Bblxl1C+j3fRdOtor8n+aFhG/bOHKr3XvW31t52t017vW7P5SdTurKeaTXJYfJk0+xGntqIOUmkjBRWithsjiluMANK244UkEkgL83OUlUa5Vyuye/mn3va66rdK259fB+ySSV/di/+3vuV9XfXlXm7NR8X8RT6xbXljBFBHNfXSvIi8u0cDMxiYqcB3kyACeOMjOMVqrO3Npttbt1/Lv3CdRyVrtJ9bveyab2TuvS1tLXI5NFvtDtYdViSAazOHaUSbTDBK/395K5ZkDD5QPlYEYbA2lblUHy7dE+++q89ne9l83HehG0N23fra/vS67Wtrqn3Wlz3u70eDwb8H9G1eSTfr/iL7Rf3bq2yO4hhQuIwvyuIl3cfwtnnHIrzaUmqmis+Zq6V+qs1du9vPquluYmtK7cHa2qve7vbV2sui6OK9T8wjrEus+Pzd3DmV727mjiDdFb7qA9cjHLDj0HrXoSlKUbpJcqu2l0s1ZPS2tu/fS7Lwn8N6Kynfq9L6b7PXR2lttoj2HXrWaC80XTuHhkjiknK7fmI6jIAPyEkDI9AcYzXj11q99Xrp03d9t2rP79b2PWw9Zp20fr09dr3ta9tnqlds9f+HyyT6owfIVGBiQHACLjC9ycD6H8sVyxjPZWeiXmnzXtb3tGl0e687x9aFdNWlfaXlq1bz72+d7K9j6zspWhtEYddoBUfeA9PvdeM9VOMcda6HzK97LTqtm7brotf73rrY9LDTi++97J/r7vyvb8Uzo7HVF8ra8yqUUsA4JwMdgD79N3/AHzj5uGrTqTTlG146bdfz00XW+/W8fUVSCX49FfTddfwTflZsytQ1q2DRmKDz2OV3tnlyeqBcY4789PrvmjSlNNz0afS+na1rt6636/3b2jLxDTtbTbXXurLayvbt8rM39Pa8v7m2gEZgzGHC8jhR97cQPmwe+MdcMBQqWsk5JNOy7afN3vdd9tLaohYm/MtXdu21vXu72vqnbS9/s9ddeJYPDluszzLcyNGQsQbO4jjBQA8hhzzntgAMVzrcqj7zb32dlbfdbtLbva/Y7KEeblSdne60+f/AANdpX2vzR8H8SfFTUbq6AcG8CO5jsIQzpCeNgfaFG7HPJJHJ28tXlTxGGpX56c25PSz312d7Wu3+FraxceuWGrycZOpCKj5at3vbfotGr7x1u3zRZod1r17crqF9La6XHKDKTOVh+yxjG0orOoViMEs3zD04G7iqYiNSXuUanW2q1u+vVa6LR6NbWubKEqaXPiKdlutn+Vm2tXotrqzR6JY+IfA2k3NsmreOtMgklkBujBeKxZSAcSlCST6898AN1rP2sowqTlhp3WzfS6tZ6PrbvtbmVm54yqUoVYR9tCpzN6q1k+q6deiXo3dno1r8U/g7o12mr3ev3GpLaptjaKNtg28fIrR85x94kMPfgV5WHxcsTX9n7GW9t31W693t2v095XTO+viaGHoqa+er76d9Vbf3k721StHkdV/a/8AhOupTSk6nerG4+xW0QZY8qAMuDGQefbHfkAV9JQyarVSlGDh1el/LrJbXvflV9tPdZ4FfibBRsnT5pczVuZ6ellrqkm/de19NDK1n9uvw9/ZK6T4f0Ca0eNmdbt50SWQthpHBK5U/wB3DH72eMZrthkVfVTbS7dtfvV339LK/Mc/+ttHmfJQvFaX9/fr8P4Xett1f3eU079tuPToiqeHHDSndJc/b182UnIYyNjcSeeMj1B4Ct0UeH5y5rPXq7xSfbdt/jJ7XS3MK3GEoxXJT5bvop+vn07vrfS8Ynf+Gf27tIsJllbwo944J/5iS5IbORg7sHnJP0zn7q7vhyT3ettXpZqzevkltvZaLqo5/wCuta38FtddJa6t901fW9vmnZM6mH9uFLzU7nUJdC1C2a6URRAXXnW9jD2aNABvkA54wd3GVwBUPhWVTSLs9949Lb69bLo7f3rXkLjWmpL28XTj0nae/Wy63+W3m1L0rQ/2xfBhKXT6lf6dNbqhLXVrd3U13cD7zFvKMcceQMDbxwNx2jd5eL4YxVK/JOTdt1y6X7W6/Kz62949rB8Y5fUaTrpd7xdl21322v8ANraXQ2f7XtjdXhvm1WyvCJAY47hZbfywcYbLbe2e3qBgcN4NbK8XhuaVSnOtC9uWSut9H7qk9NOnXrb3foaPEGX12uTFpS3vZK6XTVxtbo10ta9rnv8A4P8A2r9P1GZdmobZolVnNud1pnrwxDc/X6EkiuF5fiKiUlh5Uk7O9vw1Vl87dNXZnpUc1y+duWtGc9Otnt/lqmlulvc+gvDf7Q0GpCdLrWo4ElAMFyg807W/2YwSMZIPp/dGA1ctXAPlcXOXO1pGyXbVX279+ml05e/l9SrUqxlB8sHdcyfqvNW67r/Frc+kfCfxAuJoIGnu7e+LQh7eVWZftFsf4ShZjuCjuARyAvBFc0pOnanPora7fLbdvytbpoenPE06MrNKUrt82vNf1Ta0T3u0mktL+76bF4gS9SMxAQhlzj+H3Ct68YPfsOF3NLozlTlOGi33X9Lvu303fLHvw1aM3Go3te6fXys2rXT87X12SNiwv5vNGX3IoChi3TJ/DgZxjHTPTnbxybv7zen56arVNN2bvrayXWx3+1pdGttnfTTTbv1ts9Weg6beyOpU7UKsNmx8cn0Ofx/+J5DZyqwUWo6vv8Lv26rdaWt26cwnJOLSetu1vPey1fldro9zcadnVCQGMfzH/loe+cc+2cDbyOegNEJyas3p1d7X7u1nr+GtlvaRShdXeut23bTu09fPS1uyenNiXzqZhcmGRdzBBKo2LjP3SPm5JwMjA9u1ZTpxm1Za6dt7f53a081f3j2MBWktLt2T6vReive3/bu+l72M+8tFmjZ4g/C/MN2MeuPlyOPTP0ABK4YnDOKdpNeltPRaP+k1zNXPbweNaet29b377X3et2vyV3dyw/LeDbLENq42nGSUx13cseQeM9c98AL5UsK2/ibt3tdX36a7a/DZ7x6nvQx/dL5/rq09tdNLNuSsjAlkAleBZNpLE7icZIb68jrnp9Tn5eRUqid23e9tf6kn/WjulHLE4xcmmmjdt3b+l5aXetrSuabdSRXJzhec9sv6beRg+4Hbv/F62HhdWlZ979Vb/Er9t/Oyt7vzGKxCm20tXfXXTzXzfld6tLY7e21A+WFYKZSTsTIO1B0I6fMBz6/XpXZFqhpSXLfdK6TX43+T8tT5urUqzblKbkk9LvZfctr23d3tbQ1bbxNcaXvktHCQoS5WVcyGZMkxOpALxuRw2OOCSQcV34WbT5k2np717O3lpd29etlZ35uWq5VIctSTmn9mSVreWrX3PVdtCvY/GGOLxNafbI7ZNJ1UxvlBgreRHZJbseQqscE5x7A9a9OliY6Nv3k2terfS19bL09N1L5bN8DVUo+w5oR0+F2Wq32lv5rfa9vd4r44+KtT1bWrT+zIVs7ERqwlgfaGA+5uZWG8IORjp6Hk1GJrVGn7Oo1/h+fnbstn3e/u9eXYWHsv3y5nF7zV2/npa/8A24/W9j4t+OGvfbbYT6nciSe0s4IldWLNK5dQkYwGAMhwHwegIwc7qzoTqTUVUm3b+b116La91u3rroz0a9WNCklTjGFkuXlTW3a191/i9Hq4/P8A8eNSVPACmWaazM+m2sSRWzMs88xRcR+b1WCMEFkQbTt53HcK9SNoR9xNNdVfrrfZW6vV690veOeGPapNyd7LZ+fy6q19Lr+ZWXN8ReDNKtL4/wBq+K5DcWNpPuWzmy3ntCQEjH3gFPU4xzyT0NenSp+0oQk3aVtbuzaX39en4K1j5zF4hVJzlZNN6ab20/vK+i6+lteU8d61aT3E2qXcVlp+jW8flW9pFt2pCvQbO8nAPY8856tUcO1Kyb2SVul9r2377xWmj3PCrY/2LaStFba79NEra36a/mj5h8Sayvii8hi0+SDTdJtm+edIs3dzjO1BjBjHTJIORn5ugrsjh4q3PKXlZ9NL233V0tV5LQ86riqlaSnGUmtn7229991vr2+RivqeraNa3M++JoyXW3M5+d+MD5cr5ZO37xGS3TbjLdMKEN/aS168z6a33Tdvy7Xi48sq0oN3UW/S666N2W99Lq687mJaeNfGEFpDcRwy2ts77W8u/LPMWfdlERgAp7cH5eO1bp+zXKpOSvvfX0e9384287HJVXt3ze6k9LLXZaK/fS342jZKXb6X4j1DWL23W90d082WNVmjDSXcrYGCrneUHU5GBlegI20nUv8AFf5v8LtJK/f59Uo1DL1Jpuqo6N78qvta90uz101sk9WfRmmeEdS1F9Mg0uXVZb18eZbXd4jRxKOSka5Uvkdj79MBW4sRioYdqPs7uSvdL71dr08r2d9bHo4XJ61S7hXhJJ2lzOT1t0fTfbW/TdqP034f+Et3q2n2F299f6PcWRaKX+xNFuZJSSQHF1NEroN3TLbQcZAXk15tTE+0X2t09HZ37ve938tdbe6j16OXU6OtepGT00jdX1trutl00dtLfZq+M/hBOlld38q20emWuElgmVpdeu+geV13KItwOVDx5H+1wG5o4r6upazfM779Pxf+fdWudn1TL61km01o1z6K/pr0TVmr/wB265fKJ/hbcS6ckPhfwxrF/HcLvkutS8kZU9UjIVMAdV289jg5eueeZUqkuVyav1b+/wAvR2lvZKzOuOWUIq8edtWdlJ/la3kr7d/daKlr8M/DFrb3F1fTzWVzbD7PqOl3zxRmG5I+WRBhWaMnowz0xwQprNudubCT5pya5vaXqcqfS2iVtN72vutEP2VBe7VVVJX5ZKXK7/JS1a6ee1m+Xg9X8JeHNPkW31a90+fT70t5DiTzntZAMh4GBJiG35irHBIxxXVRSa/2pRTve8Ule3TXXR9277tK6OGrzxf+zqc12leWr7rVLSy0/D7PEeMfg5qVpbpe+Fr/AE/XtJ1K23Wsl4VbaxX57d49w2lSMJIuDwACfv1vbBQd6Mpur1i6jlFRfaDs01a1veel3ayRzSWNrpQrU6UKas+aNPllf/Fvs3fSS9NpYHhOPUtFW20fx1oNxFEsuzSfEFjLIzaaSflaQozuFVsH58DacAnGVc6sXDZKy6797bXVttOa13fexvhcPVpzTjOSXWzlpr221V72s011u4n6IfBK9sL+xtodRNjqs1jI32DVLIOZ5XjUsn2gAeZglUDZ4J5G7GV+bxXvVFu43va++vb4dnpb0aafMfeZfKUaad5OTt9p7Ldapry6XSfdM/UTwXq8b6HHeyRNbTtCIwrx5UsVxv53FANvXcMFsEgEbfHxMUrtdtbaLbfb07Xu0k7Ll9elNu1233bb1TW2vdK3ReabudTZXMlwF82XCqryRuCQTzg5OTkkHPToOSMELyw1ir/Nb2e/y++XfozthK0bPR2u9fwWj/NvpZ2uZGovGT5xOzZnIAwSgH3j1zn3ORz1yN1x913XXfX+relpb7aFuSe7v5N/h1/P7zye+vI5bmeQKVbc6qOocjOSRxt/DtzzjNe5g91fZtb/ACsk7r7/AHtrLlukeZiXFp6aS2stvdsra22X8t+jjLXl+Gf2p9V019LksrnYEuEKtcMcGCfHySADrt+7jkZ64x831eEjdrRvX7mtbp8t3ffZW6Sb0j8Hnlowm3JPR2vtslre3W7urr13j+Q9+8mkeJLzTVuG/szVYYopHH3Jp5gREw5wPMz17Hqy4Ut9lgoOMEujtvvvr02+69+l3E/HsxmueXXdf0un46+jcXeF7iefxCGMMYtdKjOnXEZ5juN8nlhyxYtvULnB69cgDFejF+8rO3z00+TV73/VNI8KstHK13p6r/h1rfTbrf3er+L3ww1Dwwmn6xomv6ldaNr0Ed+t7p8uZtF1JRlraaCMhhZOMKzEPgE8nBrup3durb0vr/nf7uy1seTOXK92tb9u2jtvq2221rbez5fljUvGnxF8F395e3lvFHDKkFws2padHdW1xsUqk8ROQ7O3VvvcENjI297s0mlskn6b+drKz05r9b6qPJVg/iUnbRt626769tdNHtbVo9z025+InxJOg67Jrt3aWo0WEzWum2kGnafHF+7RLm5aKNHLRoCwVnZwBgA5wvLU5ul1prZtXd+6vq9f5bed7mVObW7183+d76afPWzT5Wbfxh8K2WheA49A0O4nmTUdXgvNY1jzNs1zKIwPNDttkWIOcBgMkKGyM09VT1u3bfW/f1ei130v2vHqhO7btpe9r6t67363snq93tvKh4L06zuzYaFd29j/AGfZ2kc0siR7UudnzebeTyYaaRsYUEsMnHHKrnCM1JN3kn3vp6e90XeO1u9zepNO10nddNPm9Ve7s2101bSO2l+GOv8AjC5h1Y6hY2WlzXH9maJoFjbCQpaRybPOlyvG5gHBXHBPXkLVRtu2r6+v6P8ADbVq7Uudyt16tvpfre/vLZ9FpzdPs/o/8BfhfZeDNO0C/wDEGm2WpeIdK1JYtB07TbZTcXk74Zbma325lkyNiA5+9ngct6GCou6b5u93rutXv57tvyvZnk46fPF+8769e3bXS109Vfmu9deX+rT9jH4b+N9F8JS+MPEmnvbeNfiUdOnTSrqAr/Yeh2SxmGNlKsYjMiElQME5AB3CvoOVx5ez7+XR97ff8z51Qk5Pm97XRyV2k9Utb2tq7XVtLrRn6x2yzRQW6ylMpDEj44+ZVwTyegHQDbj0b+GNOnl/X59/1j1paJS1tfXz0t362/zW512kEG2kx089unP/ACzi9z/P8sVzV/jX+Hbt70tPM3Tul939aL9e19D/0f7fwMDH+f5n+f5V6U/ify/I88WpAlQd/X/H6+3oP0+YAfQBlawGbTL8K7RN9mm2yJyyMy4RgMEE5x1I9ecCtacbta/Ly89Vfv5+VrxLpXva/wCX+b3a2+eql/Mj/wAFefg7q2qfBe8uZdSm1rUobmXWLxI4le+06wglYtcgDc6xRqArhhtUcnHG3HGK0Gv610XWXX7/ADvaOeFnH60lvqtO3brqvPmXq9j+VVbXRI9MCasbOW0MaqbgFI3nBJ2faITuyyHID8DB5xyV+dcU30626N66/gumnXqfWzafLorckVp0aX3dNNbdVe6PD/HMEfh/UNHl0SKTVLvXbwKmoxobi20uytxl1ZwCEYxKyAErliWJ4rCpe2jab7aPstLdravm7fasQndeX43T7Xei8tErb6uXF6258T+MNNsIy8FppqQNPCH2pl2TdJIT8rPMw3cjGD2rKT5lZvrr5J3tdaN7WuunVttnXRd4Lp2s99b66Lvd3WilLc9y+PVrdXHg6CfT7hYrbw/4b8mOJOVQeSqykqpAQyYOXAXP4ilRo+8mu/Z6a72v12WtlrtfmljVd5f1ZJ2SS3T8rrvvY/HSLUmstWW6hkMUlpeGVSzdSpw2GOMhj8wwO5BLferqktOV6KSvtonuk93Kzt1WmjRtQajTklu5N6aPbtre3S7SvpbVn1j4bv7Txb/Y+oLNgWlnM10SwLlo1X5STjkn/ZJIb7wIzXFUo3unu+nTdt6prWzts72WybOmi/e6dFo9Lb99Lpro7rXQ7jwTrog1uXy5RGm9sIWwAOxyAOCD2H8PeuOUHCeieurt5vS9m19ny9NWe3RUZRTlvfT5LV3evlu9762976YsfEUfl7EmZ32ZK53BzwcDnI544/TBWnONWUbqDa8r+lv+C7tX0T0cfWpSpQSu12f9adPLR6WVvd6OC8ke3N1JDcQxFG3SvBIqAKCWUuyhOemQTjPPHNeRia08JzRne8rz1262s3ZbpdN1Z392R6dKdKvG8be7o9l5reTvpe1nrs7XUo8kfij4S0m7Iu72CbyG+WCNVlkBU8rjDgsG+U9cNxz1ripY6bi93ppvo2v+Guve02lvzdCoQavprZdtVo1a7tffR9NbXLepfHu1kha407SrhYoUbZJt8hn4OCCVOAQFP3uuckV5lTHYh4iMYpyu7veyvLXa93bo7dlvyhKjThTlJctvk/e6bW/Ba76NWPmjxP8AtRataXE0dh4fhlZd6rNfXJKrkt8yoEYbvXJYfgDu+wwGXzxVNOpdXs727rW97b2uruV99D5PG8QTwM2oauN1ffptpZ6vW19/V8vh+o/tA+Nr0yGzOnabudpGa1gDOzMTlhISCdpzj7uPQ8V6NPIcLF/vYqV9Vopcv32W/rrfZM8LEcWY6ukqc5U7Xu05Ja6Wb0u93e3ZWVkzg734j+LtVd59R8R6tcoxO+M3csMGO42I+COwyB26V7NPKsqowUpU0mrfYiut7Xu2l+XS9ry81ZtnGJm4Kc7S0vzzenl0t/TvtHR8Pf21rN9C+k2Oo6pKzryomlRT1JaRiFA+vcgnGcr5+P8A7HjQqWpwvZ6e5r2S1u2r/wAqXZPRx97K/wC0Y1YuvKU7u/2reXRJa9La9ObWJ9a6T8Pfid4s0+HToRY6Z5oCf6RIDIo29Qq4HuCeh5bOAK/OYV8LRxfPSoJrmbdox21326766rVW5j9EnGNfDKEnZ21u+/R6JeT3vs+jEvf2b7bSp4o/FHxNgtb4gh7PSrXz50yejN5u0E5IzjPbPavo4cQwcFTjTUXHlbataWm2zu7q3bqk9TxXk+Ho3nNqaq7Xd7d/v1s9+toptHqfhH9l/wCFeo2TXOpeKNemRMFrmW8S2djknCQK+VUDqSTnOcDGWied1Hqor8O3a11fTy9buRtHC4GKtKK3vq/LbTV2btvf0sefeNfBn7PfhC7+x29v4n1+9VmX5daeO3QKOpAJGST057DPOVzhnGITfIt7trrvforPb9PdWpUqeWuKUqcXbrey+atfVea2e1uY44L8ENjCbSvE2nqTyYdXYuD2PJDHsODj64NaPOMY1tfXTbXS+3JZ/e++qMJUcul9hL8fuemtvJtd9SEr8F441+z+JvHWl5OAr3S3BU9iE37iuP4c9znGGqoZ1jI6262Svt90Vs/Py1OepleV4pOnXjywvzKV7Xa0VuWKv33130u0bOnL4cBB0D40Lasm4xQ+I9HkZXP9yR0ds5HAOOAS3HG3rp51Opf20EkrLWy30u/cd+2y17+6cdTIslo60ZPe3x1Pm9bedrevKrJHTW3iL4i6b89jH4L8b20ZzusJooZpV/uCGVQ4LDOFBOCOucCuyGZ4G6dWMZR3afV7fy37d+2tk5clTLIVP3eFnOnU1andyat31jpZdb6/Jy6/RPj5oOjXQj8b/DnxX4UuGARtS0i+vIrQZ+85g2vbygcnBxn2r1ITyjG03BRhBy06/wCXo3tvq7u8vLnHNMtqqcZyqcmr6ab2u+vfbpa/2fu74IfEfwb4gCy/D34meGNc1WZRHH4V8azJod28h/5YQX8mLZpDwFMmwZzkjrXgZhwfQlz4qhV55RStBJ3e3962l935b2976LLvEbMMK4YarS5YrSUm438m/de3r23eh9gRfFTxn8OJtOm8TeFNV0GG5JLSTt9v0xWXAMmn6pZ/aLKa0fqP3ynB2lDnNfGY7hXEtOThK2+iS7763v8A1d25Zfp2TcaZbiqaWJqwVS3MruV09d9Nfy89Uj6q8A/tD6Dq1tDJ9qtZIboqQkTA/vR12NwVBx2AwTgqMha8KrgquGUqU7pWer009Lpt2/8A2Vqo/RQzZVKkPq7vSbVpJ/n7uuve3dydkz6Y0XxlpGrxxmyG5pYiX8qT7rBd2HQkspyeT0x1AyDXl1qCd/S2q/H59dNLdLM92jinKyvf9NlbW/5K/dfa6PQ/F863M0bhdkc3kk+bwV/vnI4btgEe2c15M8M+a8b8qd+jS/zvb8NdLHpQqXjd3087aab6PyvdWb1SVko9xZa+PLe4WV1wzIVRgwYh9uOTxkYIGP4cc5G1SXI7N/fprrZr09db3s9UejSkp0kl01v59P6T++6EufEpj+Vg7oSCBJt2gnq2Ohx/niiKbTa6a2Wu219VbfTf01PWy6g27tfzJ9L2169LOzVul9CUa5KUUqMqy5YDgHPbjJIxzgAdSCc1zV51ZK76630fbXez2uvS/u6uXvUsLTjrtbVLXtrfRb9tLed0oULq8fyDOPlViflHADA5zwQPmA9O+fmOa5Y83TVdXZXttr3fXv7ttrHRyxitemn6Wvb9dtNU3y8TqV68NzG5GAWHHqpPXOc89wc/Uc7tnSjJ6bvXazfftZ9U+nnexzYutSpxfvJNK99XzW11912uvW3T+7dtL5hJIVUvIcbQSSEBHbjA9futju3FejRwnMr2cbddtdtfx1fTXufKYnHUFdJ+Vm3e9+m6+/me0ddHHdTUWyIYnYALmSZs7lk9M8gAnnGQO2OKHhtXd/1bT17J+6+vLsjzZ1lZtaLW3Z37adE/NPo00PuL6f7NcJc3cMrbBLasgVWkPeJ3yAT9OfUHBLdWHoS22X9K3Rfj5Jr7PnVMSlJ2tZW1+fS1nt1vtbbU+UPH+vagmneKbTTPNGrWcn26yiLndE8Y3yCPaRhXAJUqeenJzWc6cqcpXd9fn9+vR3303Td/e76Ps8VTemqVvn0vvfe+8ddbrU0fht8RZ/GnhGxur6SS5v8AToJY7lZmIaJ1Gx1l3YLFCPlyG+oxXbhY+0aT+7R7rrtbW93bpolpy+RiaioVHTjvfW1+9v7t3r2a30SfveM/G5LO38P3Nx9uDT2cf28BWyHJYOsbYOBgnA4/LPzemsIo2d9Lb3Vn891a+7va3wvQ5cTioezSbSdlfTbp3dk9L6ddVLVHz/8AEbxLpOqaPZXnibU4bezsNCiu2gRlCb/JAiiwcDcGw8jE8j0429NGjzNJdd7q3pr73T8dG3eTj4mKxtKnSdmtn1eq/wCAtNl89o/nB8Rv2hPDelWo0DQdTsnjg/eTPE/mXDS53FVKg4b3JbkEc5+X2aeBq8sOW/K+tu9u2nzcdOidvd+ar5xRjCza6631v92jfr62sub5e8VftHtc6cdNitJLmRmMvnXU4WND0BYHkjHPT67cYr0sNllZuzvaXZa27PXpe3rrbofMY3OKTcrNaW0b2+5a3b7Ja3to+bjNG+O11YwyI994f08yZGZ8XNx0J3RKRtGAfbrzjADfV4TI8I6KliKijO/Xoun2rq/o+m125fKYrPsbCpyYWDnTa3V7X+7y/u267WMq5+JFvrU8iXmuapfxS5Z/7LsZSnPaPYpwRkg7SfT5fvUp4DK6K5ZVo3T1vKOnqvv0S11tazMqeMzvFJctKS8lzX87WV0/eule2l3u+Xa0nxJosSobXQPiHqQjJHzQXiqM94wV+UE54xjvwdpqIRyKCaqVo3Tuvgenf4o9La2dno+a9jbl4i5bQozunay9o+m70Wy85W1f909F0zx7p1lJHcXHgb4lkoBh4Evl24PTK8ADkcYOOB1y2n/GO/8AP+D3l/y72t0vJX2Wuvmldo5qlHi+afsqNW97K3tPw0fl01btqk2ekaZ8ePDdhJFdz+GPidZyQMCr+ZqSNuGP4sMeQOuDkjkDkVrGjwzVTlOtTutEn7Pa1/tNPt6ra3xHL7HjyFlF1aUGryvKtFu7b2tZ280t/wDEpe9eD/27PCPh8yWp8QfEfQxcII5YLm7mWAnj70c1mQSOu4uOfXANYzyrh6rf2VWGr3TpX89ttHa1pW7WR3UsdxbhdMRSq1LJ63rzvfTd30V+2nZWSO10n9rH4f3tzezwfFfU7WbUt32ga3Z2upmTePSSSNgB26YHGDghoo8N5LVbjUqwd78v8J/rr96Tbvpc0qcXZ1g2pTwFWPVv2dZ2tpf4bvZdk7X0sekWP7Sc1/p9no+k/G7wXe2kLBobTUPC76TcAD/lg97bTSBlzgb+mOuei8mP4Dy7ldSlUVkubT2bdu6dl6W87WdrnpYHxUxUJqlUwMnJNfYqO+3frrpba1urN+HRfGXxP1KDVLTSvBfjKJE8uaz8P+KbWxu79T03rdPHIXB5AO772MjPzfB5llFHAWVPEKLUrfGodv7y7Ja+vK/tfomUcYwzJtVcBokmv3Tdn1v30827RtrZlrxD4Ybw/olzpfjD4R+KtCgAfypRZQ6nEiEEM0d/bPKWCj5g5ZRgccE140aFaTtGftUmuvN99r33a6+i2Po/7UwTTbjGl1+GMLd97evXXSys2eYaAnho6Xc6TZa/PNp4k3RWEoSDVdNcn7ib3DsCWzwOnpxXpUsvxF+eeHnCP87hKN7a2bcUtevuprbW9pctTMsFNcsMRGc7/Cpxbsu8YzbaV3/k/dOUne/8O65Heyi8vtBd9s/nWf2pI0JxvuY9zKF7FlzjqSMZaa1B073f3aW+en3W12sr+70YWvGdrLW/VWdt+8m9Gv0Tbsfa/wCzjrmi2uoPNb6Qh0e+lVjdwQjyraUsVO9iv7sPuHyjaBjafWvFxCs7pXtqtPLTaPfTrq7pOzZ9HhKzvGKa113vtf79X313Vkj9HdJRpSYodkVq6FxhvkeFgWAwABuIz3U9uDjd4OKvr5X1tvr3duj+dtLtWPapyd1ra72Xk++uvz++509m/lvHAEEkEIJ35wWznK55JCnBxnn/AGcfLy07KPrJ/N9eq2T6X221O3nXI7acvbX5/o9NLXvJt8uXrASNJZnugilSFwMDPOFI3dQPrxxg9a0W8fVX/q/+forkqb1fe7u7u19tLO9m++r6K6cfL5hHMt7IoYlEba2CMsM5ZfQnuQfUDIFe1gr6Xenr6WXS2l3p+O55tep7u7stHfp36dNvid901a0vyr/an8QAXUmmT70wsir5jAsMnG8dS49s8D1zX3GWQUpRVlf3f+Gat3Tej1202PzfiPFqUZJPXW9tNe176XVu9uiVpH5a+MdcltrywbfP9ot5ra2TGf3m25Xy5SO7bGIBwDk8ZwQv2MIKEVovS2nZeiur7293oj8lruVWo+3N06pN739G+jV35KWLc+NH8OajNdx3iyabdalEknadbkqGYeWH4UNxkYAJyScCtIrW3nu930bt7vR238la6cuerG0HZ9LfP/yZX08+1t3L1TxV8TtasvCum+JdIadJ7O/itpo5A1xZXVk4Ust1bFgpRsEFgOAfunBau2lfTr5uy9F0ad3fa/m7I8DENq9rNXv5e7fyd7u76+nSPSj4waBqmh2+n+I/ANhrFpO9veLbNGGiaRwSqafcrFI0Nvvw5jdOOQAMF27b9NdOt9uif2bL5fcuZSxlV5oJddt7O9tdHF2d3ZPSyV2m3FHodt48hvdMttP0Tw9a6TEbTyRpVspMMSNjyxKqRrJMyFRuLBFUZ64+Zb9Omv3ab3XRvbyV7nNCHO7rX7/l+d3pfXobA+HOp+OtcbW9YVbrRtPGnzXenC4S2sGChFaExsGBAxnYquc4znadwtrf0ktrb3fT/K9zWVqSSve2na+muuv5ebud34n+HkMniXTraz0Sz/s6WOBLWKzC2llBF1VJHYhnkGPndtq8cA1pKnyq91/Wj1dlbZp281a/uwq997WW7+S30tu72smlLXVtS908DfCPVdZ8Q29to19p66kqJBY2Gm7ZoIMsEA8xZNslwzZIRArHB7iqo0Payvq1e33Wa77tq+ltHuzDE4hU3buuZ3vazW3xR1Vlr1d3pf3v6Of+Cf37Cf8Awg+o6J42+IelP4o8TNC1za3GrwYsNMSc5hkEM6MzzoOhUrx0CkqV97D0I00m/TTXz179OnTtdy8SrilOTS31W35WdrbXS5vOXQ/fPwxoC6Xbh5Skl2coZ9gG2JeESFQP3caKQFUAcemTW83ey006rp/X/D7oKdqib2d991rr3jun23XS65uvSJOpyfYkEfl8xH58f7WPlzE5WT0Vl6X+9LX1t8t0dJpH/Hs/G39+3H/AIvp/n161y1/jX+Ffmy6TvFv+8/PovKP5fdb3v//S/uAr0pfE/wCtjzwqQJk+6Px/nQA6gDz34m+IJfDXg3xDrEVvcXB07Tpr0pbLvkP2dPMwRj7rFcdeAc471vTbVtHt33v8nt00+6xlOno5Kdrt3Vlp5rVdPN3fa/u/z9ftQ/GPTJvhv8RPir4mmP8Awk3irwbqml6L4anxe6FY2bl7fydRRAyQzTIC4DiNi+PQ7s8RJOMlte3nbXd2Wun+G2+u8s8LRk6ympL3Xd6eqb392+nfvZXal/G/400zSb60u3v7uGLWNVu7s6bFb3Oy2dRK7x2ccKuPJit1bIkKsCMAqeK+brQUajSfMu/LZ3ur31V3d2/Dzj9XCXuxvpZaejtZPp5t333cV8XyzJr2tW2s3lhptxdhbINDPFPJImluFQuyRsSwklZMhSrLk9OAC2Ddk5P59/XZ26a9b7O50unpzOWiV9FrrfVbp2XWySvru+TrPA8TQYv7yBri68R6lZW9os0m9o4ll/fMPm3bIwqhDyDnnABDc0pOVR9L209P+ArbWXfRc2kJclO9r2bS6Jv7+9+7aWqV0fX3xDtNO0zwjr1tq9odR0y/tnsZrOKUxSGL7PviaG4G0xyrg7QG+Zgd2c5brheySWtvR3fe+ltVunbpa1pc0qrnJ+75avXt23+TVu+so/h/4+0fQDq1zH4N1Sa6tFmffb6ofK1SCQE7oZNp8uUKwKh1I3Lj+Llt/Z3tra3e2ln+luqXZ/zSUa6pvl5N23v30ta2+m91/hR9a/sh/s5+LvitrcVkfFUHh+3kj8zb5D3MlxnAMMUf3AzRg4znk/ULccPGV7za6Oy3V79X3/va947S7qdS3vJ6Lpf4V3fup6tdOW2u9z9j1/YA+C/w5stLuPEfirxf4j12/EdxcWFtLZ6ckZbkK0mySXy27Y+bGeFwTWsMBTdpxtJ7dvL+e1726O2m9iauaSpPlWllrq/PXr1Wqt53V0e3+Ffhp8KPCYgj0vwNpRKkKJdV3ajMRu+9I8pIZyRztUDjHQ7q10ppJUKbuktW9dPxbt5K+iWrlLmeZVJbScXdX6uy+TsvO6st7nwt/wAFJ/ivqml2Xw98DaPDpGkaN515ePDounw2Mju7xRbbiaFRJKgSPAVy3PIx1bwM0yyGZTpya9jyx5LU7O7bl/M/NbXttdcvvezlmZyhSqc0pO8+r1SST10e+v67tS/Ly21GR1EoZeCGLqRuOfTIGSTknke+7FcUOHI0Yu05ycu6jZW/lt2/TTY9CPELvy+67dXfVJ26cvz00v1t72hdeI5/INt5ksm4FTuJKjIOACHGMAcnHB45qKOR04VvaTTd27aWfba7W+zu77q1/d3rZ850nGKg09/ebfbzve73XnZ683ESeGjdb57lmkMjF1jXHCkk4bORz9O3GSSK+swuH9nTUU1FJWv6ddHdfc7Pbry/E43FOtU+GMtb21ae7v3u36r8VHl7vQWF8tlZ2Uk00g2QW8A3PI7HAJXokfcsRg9yuDudWtDDJ3am91zrTS10ndN263TWtlYjD4KeLkmuanFWX7vfXrr1XX/gs6PR/Bmk6Tceb4paXVL9AJItCsT/AKNG/wB7F1KFbeU6OitjPy5PRfn8Xm8qnuKFJRa1avdK1u99eit6NaOP2WW5HSopVJVarcbXUrWfa++lu6tfvZHqtr441Wyhi0/QdMFlbLjFtaQCJ329AzKN7fQ4z3JzXg4mUJRu3rPpv5WvaPe199rctlKX0VNVItRoUoyS3lKOr1TtfXXbordH7x2dt4q+JVzAZLeOfS/k2gopScptxx8xbdjvt3EH+HqvkqpRpSbUacns7rrrrZ22T2+etrnpRwuLqrmcWt2rKyta/fXvt5X0sRaXF42e83Lpl5e3c53SXNxHIxfd1LSNggKODg4PUY3DbnVnRbvyxi2rPl0W2trJ20d/ifnZJuPTDCYiVozj7q2Tj1ejezeqto1bW6tdHTHTfiZcFo7ZZIN6vGYYVfAXGNqt64z2PueyqFahG2vk/u7b/Lo/NI1/suTSvF9bNXSWu3Z30Wl35O94+c638OPHEbSXF1ZTOWJkZ3Byp4JHRuQ3J5PTPPG3poYyhBybcbWtbvvvtf8APXVL4Tmnk1atdU4u/XR2Wjt66bbab7Xl59daBr8atFNayNI3ytJLtBXrg5O3GMdcZzxwMM3ZHHYd2vyW1a08/T8nL10blwSyjHUP+Xd+V63jq++93byt3avsYZ0mSzctcYaVQWAjzITgZC8ZCnPH3m5546VvDGUIyWi22aX46vT5J9OnMROjUcFFRkqkdX5qz3Tv8trLXsinJpuq6jiYRrBEDtUtywAJAJBPQ554PQf8BzrV6FTppZbNL/Nv8/J2UZRCliIvSKav9qCuuj0be2r7rzunIhtNZ092kguTERyJYpZI13DufmBz/uj67c4XhSpRk5Rbeul5XVtrPRq19b2vttoa+zqyupQUYvquWLXzXf09FGzOksvHfjS1RIv7buriCJuba4f7ValT1BSfeCCOGXK5HTrmt42unCclJe9ZN/8AB018+l+a1iHQSTi4prZtrmvr59dey7u+0dlNe8Oa7KBr2hmxu8gjWfDc/wDZt1G5wPOWFlaKR1PzEYwxU8gFa9OhmNfDNVIzfu/ze8m1dO+60vezj1sr2scNTK8Lir0q0E1PSXK7S2095RTV32XpdI+l/hj8dvj78Jbfb8PvH/8AwsnwSBvvPA/i/N3Ktn1eJ7C5nEUmU4zahHwMjnaK+hw2dvFRVOuoTTX2YRjq1rspa7uzcfK2x8zjuG3hqjrYFVY8rfK5VZSSfo2tL6Rf3p+8pfXHw/8A2nvgR8WJ0tL7UNZ/Zw+JDyLHMXgn1L4eT33A3Xdj5cWq6MszcNNBJLAmdzKQK5cbk+V5jCahRn7eatB+0dk3t7ul/JXXnfRS0wPFXEOSSh7epTeCpyvVi6MFPle79p7z/wDJVr/Le59z+G/if44+Esum33i+8t9Q0S9jRNL8b+GLxNZ8K6zBJwrDUbRpRbSspBMOoJbzK3B5r89zbhfHYW8qSfKmnrFSurduZWWuj19NHE/XuHONMuzOnFzqqlOW17tfcovpJfre6kfcng34naV4j0+O+stRFzFdWyiRB+6d5iBJDInTzQ4DLuQ8Y6nk1828F7OLp4iD53try/KyvfXfWW3Rcsj9AoYuvVXPTnGpQS5m1FL3dW73Sl53S1vre6PUvC/im4MM0UpMY+1OzM7l1hU4EZbOM54JJAPoGrzcRhKa0s72svx+67b0vK6ejsj2sLjLtKLSV101W3k+/nttraPfQ6x9t2B9spXCztG427v4SF5X5s5OP0x8vLDDzTtFpa9r3T0tstld9PPm2PqsHjHSWlrJa3d9bO+tuu1uVW1V23ePZ6dLhoYGeOGGYjy5ZclVOMLuIIHbnPHPbIKlajPpa/8AhWl29OXm06bc23mub06GZUZaS32un991a+jfZX8kjqbywktrdGkMEscn3GjYOjtwAO2O393rk5z8uMKNVddPSLbbu7bx2v8AhpZK0s8VmFG14720+Ja79ddfv8kkpHlniCRbIlpiMLlwHwPL5wAM9evqenbGWxeHqqSfNZpqzsne99fi1tuv/blZnj1a8asHz+95c3L52Vk7Pyv91kccviqSxjNxG8OGb960n3mXp8ijP1z82cYB7V6eGVeMdJJ91bt1u27uzell31Pjcw5PaXimnf8Anb626rVf9vR8yZfiHYRMQszRzM2+JnBkgdiOUKkZ5JxnJ546fdubu9rdHrp5q67rXd76XesU6tTlSv7tr7Jf8OuvbW/Y53UvG8RuIWluIRZXE5Cxkl47e4/5aR7hxF5vVQwUKefWtsPKSsk7ee99raXttp0b7v7PJOpDVSSbSvdSd0rO1tNLJ/3r9OiPGPEHivTLTxmmnXUoij1IgQahI+6B4JAVe0mlAAMiE/uyQDjjn5d3oVcDKai1rzLbz/Hrvbfy0ZVHHvDxapy5E9LvXp6X6r+Xts2jzXxF8S/CXwa1jxHD4g1jTNJ8K3tsL37ZcTxQfvCnzRqpIkLZ5+RfmJ7kZrqwGWVItuUXbyWze1u9vM8LMM1pU5OVSsr9W9Hd32SdravTW/RI/Jb9pH/goj4WlW78OfDRJvEUguwZb+681NNmjRyUjZztLRKyg8uMjrxivr8Pw7WqxjWmv3T6WV16+9Ho7bXXlrzfD5nxlhXKeGov9/DTmvJq99LJq2j8/NWa9783/Fvxy+O/x01R7FdQ1TUlnxD/AGZ4cgnt9KtYchUhlnXfHsRcKzSOBwSc5+bu+oZdhF+8pXlH++09PLVNv5K3/gR82sfnGNk7VZeyb/kSdn57+Wvy6m54d/Zt8aXKifxN4tsvD6tzJZ2K/wBpaljqULo+xW6E7j7HrheapmWGppxpRUYra17X+9u/Xp10909ChkmKrWlVcnzdG+/6O/8ALG789D1XT/2dfANoglvn13xBcDAaa8ulgjc/7oTgZ5xyQDjsSvM88qxb9lNw1eyul+CV7Pf56J2j7lLhrATinWoqTXeXXr1jq7+f4pHrfgn4D/Dme7ihh8Gaf5rMhMt0punHvuYAf3j8owd2BnaK4MTm2Pqtz+sSta1tFf72mrLrrd9NUdlDKMroSjThhYW5l1bS/DZWvfmdr6tXbPtLwv8ACPwR4cghig07TIy+CY47CBWVyBtwCmcEjHfHGccBfncVjMQ2+atOV9d+ltk79/xk/iveP02FwWDikqeGhG/92+/nF208l030kj6W0LS/CemW9pDNp2nHzbWT5JrKFXWQLneH2cAEnZ1GOvQlfGq1qtRqTqyttvtb1u+vbVaO+h3U6NGm+X2UPJW8/VaWs3o97aWR1P8AxTUemw3M2n6bICf3CpbQrIgQ9WATDL7sgyO44rmc66v++nZ9Hvfa2reqtf5a3tafr4aNN2Xso/n52el9bvZ25umly3BL4QvZrO5/sjRpXuFUJu0+3SGJ0BGHDocjPDHn2POFI1aylrVk+j76Kz+druzWu19Hzd9XDUK8U504OS91aK+uuml/08+Ztnfad4S+FWt28y+JfBvg/U7UbTcNDYaXDIy8bkTcpmOehMY46gH7revg8fVptc1SSXW7+Wi63te10+mlmjxa+WU3LSjFra3KvWy1XV/ppdOPEfET9kj9j7x3Ajz/AA10fSVkjBkm0q6jgu3B4AAjT5Wzk/dB7ZPWvTlnNWMoctaUFfdP9bX8vs/oYx4cwuNi1Ww1OfJdJSjvfV6+73enToldKXy54k/4JdfAGeIap8MvGvjHwpf53jT7+/hvrBSecrujDBR02+hA5+9XoS4hxypcqxlV+7aynd+j2T06c0fK75kcNTgXKVN1Fl2G5tk+Tr331elm/kkre985fET9k39pT4XWUupfDqPT/iHp9qjyKdIu10/W1WPk7Ea4jEkuACB8vfrgivIo5hh6+JSzFRxMJtJRrLmSl3UeaLXX17pJM4sw4bqYXDqWXw9hKLu1SsuZJN2aSb19elrO58YyftSfHXwbqcuga74n8e+B9atn8p9G8RSXqJvDYKI13utJ0BUgbGZWHoPlb9LyrKMsqwhWoQo0rK8eRwS/GV2tbWVum+8fxziLN83wkp4eeDqtNuPtHSrO2m7aUY9Pvu3beXV2X7YPxXglWXWofBXi61dcSLq/hyzS8kX3v7N4JsnswJYHBGcEV9nDDYaWHVGtShXgmnyv3k2l8Tsm07Xvo1pZWV+X4KWJx+Gn/aGHzCtGu/ddBSh7vNrJyVlPS1tV5O90dfZfth+HJCx1PwLrGiSyfLNJ4V1tZbXb0YrY6r5wYHb9wcY6AgYbgr5TlNZOP9n4dTta/K1r36Xaeu3TW9kzrw/F/EVNq+MxSs09HLXbTS2yaX2vK2iPb/h7+2n4C0J2XRfG+seG3uQFuNP8V+EY3s3BP32vNOfCsN2Q+0E8YAPy187juCsLiacvZRjQ5l8dJRvFX1tdNPRfLVu97S+yyjxOx+ClGVeEsVODvyVfa2lok3eKV/wbtq1sfenw3/b2lubKOwtbn4b+NFZohBJD4wtPDd+8a4Bjjg1loE85shVUnAPUnNfH4zw5qu7oYipUu+vs+/W1rdnrp3V3y/dYLxeoVZJYrB0sPHS7SrJq6v8Aak1v5abq7aZ9KRftp6P4bsrHVvHvw+8S+DNDupfIHiENY+IvDcMszbYhcavol3eW8JfAIMpVQME4yVb5zFeHue4eE6sU/ZQXNNqcFJJbv4fPtZ9P5T7DDeJfDWI5aTxsoVZ2Sgo6Pd8t3e3Kld667ahrv7a/7PTyx21x4+sre5kBIV7O+kiYMAUcSQ27IysOgBHPHc7fIp8N42LvL2l9NXZd/JX62dnbttE9WPF2T2aWJlrqko2v2s/Jvs+rck7o5y4/bF/ZxlsLqFvifoX2lEfagW6t5SSD182JRgEjIP1PAAb3sLkleEU5QldW/X013tp9zVjzsRxVlbTX1mTvdJcsXuv8Wl+6b77tqP48ftRfF7w/4l8QHU9A8R6bqttbXiqJrG8E8M9nMcglTtMTxFsP93pkDoF+kwOErU5KykuVpK2nzTtfto21snY+EznNcNXjLlkrO9mnd/Pu721TXS19XH4U+JPxFtmubY2cyyNJJbL5cTI7BU2I0kRyNrLu3Asc7ucngt9LBzSSldt6drfg77aaK1utve+GnJOTkp263VvndX0SXl5u91y+WXWu22o28lnBfSSKl7PcJLK2+XOBkSSKAN4PKYA+gyRXVTgub3ruXr879u/ffpblOerioNWSv0+W13ez6O14673Vrnuvw18R/wBreGp9PmxqNzBG5srSSc7557ICYgh8LzErkA9fu5J5r0KcY66Xaen+VtH89UtleyUfHre/dpfi9NvRtvqrxtY9u8B65p3ijU7CLTvCV2011AkayWl95NrvVv34Zgpijkt33FgyjGMLjhmupOMY7K+/36J73699dtfijlGNLlSdNuW13tdaXtpqld9d/Ox9LT+I/CPw8t31G7121bUFmS3urCC0Msl3cKjH+y7S+n2CY24ZVvLiKPZv+VWG0VjCpd2u/Xb/AIKWie713tvK4Qs/dVnvpbTv2b83ayXa7POG+K3xl1CW50D4e+FPD9rDq2buCfUp2urj5zvicIu1IeCOrKMjHOCW3pSXtJXjeKd12Wm2i6vu3d7Wuzmqe1jVk5QUoP4W9b3srJKK100+9Wd0e3+CtA8dW0Sa18QfE+k6r4rjtwieGBM9rpFlcPwHvJkZvOKBt3lRDj+LI4q6spTkoq/e3W3R7RTV1svK7WpyVcQ4tJUIrfVc2qtunZ+T3120sfr9/wAEivgPr/xZ/aSm8T6lrC6/p/gC2/tWSKCxEPhqxv3kCwWNtCQ0d44ILNPcDdGV4UZO32sDSUKavGzb0dou73ste71+H1s04+Jjqs61eL+CKik4ra+zvez093z9Xqf2j6XpllZfZ1WFBmBUJCIoSQIAyqBhQoYEqFJGBkFa7G7XXp1e6Vn19f5uy2uc1OCcrtJvXf7r73vfXW1n0djXihaPIUFgx6kjpn8BwPr/AErKcmred3/Ss+9+n6nUvd0Wn/A/PsXQoA6Dnrjpx7ZP8h+NZ80u7+/+r/p8xG/pYAt3x/z2b2/gj/z/APrrGo22r9vXr/X9I1ppJO3f06f1/TP/0/7gK9KXxP8Arc88KkCRXAAGD+f/ANgf5/lQA15SoYhCSvQZxn07H8fTHfOGaV7Lv/Vuv/AvrbcPTc5zXornUdG1ezNpC63NjcRhJD5nnFo2AjaNoiro2cbR26g1stlpt0/4Z/qvkZzhKUdbRT+e3ndb/L57w/ib/bcXx54X+JPxE+Gd/wCJPF/hHw5e6nJqw06PRvtGma6huWcaZDczxiO1QgZCCVN65C84Fedi+az5d1fpaOul762325ZbJaWbOrAQSnZ7366fhdX2eif3n4s/FT4Q2d9eDxdp39tJGYzFNpNzd2NpCsSjbcPZgbpDLIASYvkde7DI2+M7pXau9Vqlf5+mu2+57koNVFyuyUV06pPtdX1s2lvbRte5846hp9poWu6TatZ6fbaDa289xez6pMZdWV5UJ3wR4WKd1ziMShuDxgY3ZS0i3d7XW+34WtZ630bv7y+Lo5J8q1uu21m9b79Xv2tZcydo+fWvxC0bW/HdhPo+n3qwaXdC3tDLB5XnQwylXkECDyg7ld4ZT+eflxUW9em7fqtVfTW6u9O17/EWk/ZPdu7er1b28rWWj7q+iteP1lq2pax4l8IeJVW3N1Jo0trqbwLG0t3caYwkV5Ybb52mW1Qgz7FBRfmIIya3i+V7f5a6u797q+19GkndcvFfV9Ve/wAm/RWu1/w12o/i948tRpPju9mliEERvpJBG6tsZZDvUjoSrliRtC/icrXRCpHlffW6b+9fB/LZ/g1qmZu7nG2uz9LPtvra1r+Wl2ffn7Mvxq/4V9Lb61aGaMQ+Wwe2jHmIV5kWPeOCMHGM/XPKzKq7uza7L+vS/wA+nLaXdGE3G9rxslsldbpvWz0+V/i5rJR+6P8Ahs3QNfvftsln4n1u6gRRIHkitNjHO0JJIrIFB4+Xcy9D0yzjjnh4uGt3rezuulrLs+nk3dXcSfqDxD5vhfwtbpr4r/Ens38tuijuxftW6jcBZNM8DrtAO19Q1CS4kA6Bn2pGOvJwMDjGercVXNJefwvTVOz8uV62va+1rq97HpUMi5kte17Wu+tr3dr+alfZWsfJ/wC09d678fNJ0jUYdMttJ1/w883l+S7SRXsLkMIwX+cS8EKcMfm/3qmlmtr8ytqn1VvNPl0W901K3S9rS7Z5E6StFNyd3dJWu1d/a181919ZHwKp17RNTGjeILG40y8jJEQuEZI5sZ+aKQgK2Rzx7Ywflr1sPmEamj11T1u7vpf4O9tnq7u92eDjMvnQ5pLXrt8tr/fdbptc3xHWwhp4grHad+cdSc8hgflPfpjA5xjB3ds4wqyUktIq352e1nvr+MpXtHyo1KtNSjfq7LZ+mytto7v5WJ7m9e1jjhgZprm4byII0+9JI/yrjGf4mBJAGAv8XSuavXjSirba3f5X0W3b8tFHqwdD281z6czS0X3pW3u7apJddW7R7Xw9oz6TOyl4rnV7iNPttyCGkj8wbvs8TDIVI+Fc5BypPtXyWaY6UpQ5W/taN6KPXqrabd72Vt4/fZZgadJPmsr8ttltu+qtd3tfp1ueo6V4RtLiQstgryYLPINrMwKEkk9c/gc9uoZfmp4ifM5Pf8O7srKyvfW+u11e8fp6VGDSUUnppypdN1/8k2+uiu3ze0+CfhZDsS6t7B3kkbcZpoAxUbvux/fwRgfN9OCchuHE47RLsn1VuvTSy07vfZ39308vwTUpLl+KWifR6XXW2+qtqk3dH1J4W+CFvdvDdXmlTSZAO2RV+ZfVVxgEntg8HGTjFfPV8xlGTtLzk27rpv7yt06Svu1Gx9dhcDdfC7f1smlqvnZp9rn0Rp3wk8PpawgaK8bRLjH2NQzg44D7eR1yPmznjoTXJPNZJayT1tq3a993p1a1+G2z3SPWo5U6jfNC1lfWO61Xk3a6d7ave6947jQ/gJYXK/bG0i2ijQllh8tBISSfnY4PfnHzZ5OBnFcVTOX3tvdp7arR+6k769vuXvemslhyp8u+ya1W2q9e943ez0OiuP2e/DesONPk0YO0pWNJFhUIhdcEuQh5ycHIYg9c/LtyWdSlLlTfTW7d326PRx77Svdfb5amWexkpRp77pR28mm2r7a/ekrKPmfib9gnw/eW8zLpVxNerct56xR/u4rYDcHDJnORyxz+f8XXSzKpJ6S213fkt972XRLZJ3taLnQw04ONSCTfklpZ6NWd7X5VZ9OnNc8e1z/gn/o9gqXcmmXdlaTwu9vOF3pcMDt+TepPB+8FU47bh81d0cxqR66PZPbv3t0W99Lap35vGqZTg3NzVtdktXbo2ls15Xa37uPiXjH9h59BtvtKpfRQXADW/mWbyxhmzg5Q5APH3ieM9SRXTTzByt7zv1fTpt0eu/bdN25TnnluFi3ta2t1bS+ydrJW8n6rWMvkbxj+z/qWjPLGYZ50Ac+bHC6AAHgKjE5GAOoz9CRXZHFzTTb/ADemvqnvbe9nre7OHFYGgqbcLcyfZJ6218nr2j6bHzrqvg7UNGd08iZE3HKvFwVHr05zjkbunOOBXs4ar7Rbrz6fjq9FbrvfV/a8CrhuXSyS81128mtHe1tfKzOaigZCyCAKWJDHgke44OOe/tjBDV0xalUjTcm0318tbPr3S0j6aHnTpSipOCXMndaaJrT79+/n3jqWkV5ZTpLa3l7FMj74ypKFT1ADgj5R0OQfwzXo0uWm0lLlt12/W176p9P71rRlyagozSura2Vt/RLW+ur7ux2om0LxcBZ+LLZrDXIFCWfiTTtsN9Fj7rXHl+ULmIHBYOW44IHDV69LFKhH2sHeVPXt2tpJyTvfaT0tre/u+Lictp4qdqlPmpydpW0Wujb1uu/V+Sue0fCz9oj4k/s8zNpF1qcPi/4e6uwt7zQ9bH2/wtrtq42tDJaziVdMvtn3Lq2Mbxy4cMOK9ClmKxsXGrFNyVnpFfNb7O62vay1SPDx3DnsE6+CxEqXI+ZRi5u9trWn/W6lFXUv0u+D/wAaPDXieLTtY+DOp+YkTSXGu/BvVbzzPFehSAb2n8K37kf8JBogJZ0thsuraPEY343V4eY8PxxEalalB3Sckknq0nZbrfXW19Lcqse1w94g1clX9m4le09r+6dSTjopNR5tYOXTpZ/ij9Evhd8RtO13QGllvVF1fRqt/DMzCazvomKSWrwsRLDIF2lUbDZGDnJFfneZZbiaTd4NWe1kvTvp879bq9z9hyLPsNW5f3kXd3Vnvd97a9uttXrZKPqegeIRpsrrNLcvF5jBZELHdGT8pIIwSBxuz9RwDXk08PUvs07O2i/Rrbe1ut9dUfbPN6EI6tW829LPXTlV077Pl+d2e3jVnl0b7XY3PmDYG+ytJiYY53Rk7tzZ4KdB0wcALnVoVru8eurtve++r39O+10OlneDUv4sfRS9F/JF93d726ayl32k6pqGr2dsNPjlab7EFkj2GYb0H7yRY2zhiMEEA/NyMAEVjToVk7JdX2fy3sn1S0vfdtLl6pZxgqid5Rb7369vgV3vs2tOlly+G/F7xZqGmGBjp91JFakW9wJIDGT0BdmX5S2ecZHvjGac8NVtqmovrZpeS310e33t6KXHTzLDuLTlFaNLXy3fu9O2vm3do+dLvxlPdQvJau8haQAxCTascecY53FXG7PIHQjnOV0pU6ra9He0V+XOlt0177K55WOxVCTTulbf+n3unutr3XwnGa38S73w8Q81idV0xxtnltpSt3ZE/wAUi7SAE/hZTzjqQQzdX1Zvpq9e9+9uz+Xfax5lXMY8tk1bZdLrS2l1pp1l97bgea+J/jTp9vYSX1hcXF4g2i7tElCPtBOJm6mOeDqSAudvUgkV34bBNu6Tttou7W/5beTkvs+JXzC+iejd7t7Xt5rqnps+rVkfnz+0v+3BZ+FLNNK8NTx614kdB5MZnVvsWeUkleMMVmiPLYIPAPH8P0eV5XXqVFzJ8t9LrS3d62emm32nd6WPl824jjhab5ZK601lbW3y/LzTd0fkv49+LXxU+NGuQv4o17WPEep3Tpb2OiW888kAV2IiiW1QkOE+6GaPoMnHWvt40MFhKadXljb+ZWdu3Xv/AJNWufnlbHZnnE3HDOcrv3XHz0stFbe7/BRu2fSHwv8A2PpHtLfxF8V7iezR9s1r4RsHaOedWGU/tC4DI0SHADRBNwBxuOdy/P4/iVUKkqFBc1OKVndWXppr53/8mveP2eScFt0qWKxrarTs6jerUk/XTW+3Nv12l9caV4c07RrBNL8PaXY6HpcCeWlppdtFb7gvG6a4TE9zIcfM8j5Lc85r5nE5rLFNt/Oz6PbaNtO2tl22l9/SynA4WklHlk0lpb5rW6V7eS00bVrGbqLafpERlmuIIzz8pdfNLZ5G0szMx5xyfve9Y0qanFPm3fmv+Gfy8ryv7vPWqRo3UI6Lt21129LJyXZN2bOB1bxrrTxGPQvDlxcRkDFxNlNxzgGNdrHBOfzOM4+Xshh6aV5bX+a/GzvvZPXysuXy6mKqSlyra9lbTz89PVPvpsV9I+Jvjvw/eQzX3h28ghRC5l8wkqoBPACgnrzyMZHWsMRhp8y9lfl1fz+fNZ28ne3uvc0p4mNJN1XZp3vf7l3V9NGpfeej2n7TLy/Y2uhcRur7W2jc52t0PIxxweevZRzXj18txM07JtPX0630S206ba2aupejh87w0JKLceXfXW2v3u/kvLS6NjUf2r7KbU7SGO+bEUDwzC5YxBGOOOh+6vA/UjIFYQybEJaxle93pa/ptb1v06XfL2TznDSmnzLVJLa3S6Wrt9/k078x31l+0TpdzbD/AIqC1CFF8yEXIeRydpMMWSMD6Hp64NRPJ699Vbonbptquj6b6u7937PpYXOMNfdLyvfa+r10tbpf56yl1OkfGy0uZvLEvmRmIG2gFwAwf+HIHd8DHBbtgkZaI5bUpt+00b1Ta/O+u7vsvla0u/8AtWnJx5etr2em+2/Xz7Wa2Z3Nj481mYC4hu47Qyjc0JP3I/RcFckgAn+nRsqmFkr+Xbpr191X081bVWlY9WhWjVjfeyTfntd7+b6xd/R8s0/j3VWZXN5c4UgK6SvtYjk5HmKDt4wMcf7JxuwdGonrez19fJ27enXqd1Ko4J8qbv02VvNLzv1d09bPQ3tG+Mmt6eHjkneUp8xLSHfjsSD7DqPxC8CtVGdrdbpPV7eV/XbdtWfLdOUVa71X4a6+Tdl5d9F5XPXPDPxsu7gRPcTxqjPgxsxXeCcYOMZJB5IA9wc/NlUo25ZSummpRdrq66a6rqlv21upxyhiIxbdSPNHr1vrre9nrpsuitbltHk/i94B+G37QNjd6P4y8LaVdNJEVtdYhghj1WyZwAJre7RBKWUkMF8zGRk4ziro8R5rgakYQnONFNO95paPe9pK3le3mrpx4M1yzKM2w86dTCUuaSb5uTVNru2lvqtHbe+iifi3+0N+yZ8SP2ebq51nSFvvF/wwf99b6usbG90aItkJeQqXcpH0MhK8DPGa/X+HOMMPiadOnXmnVlHW+/4tflLa2l0z8C4n8N/qMa2ZZdJVJpu9GPJZQlvZQTk/RL0aSaPlaLUIbtEuIp/OEihsp8oVvbgnd0yCOo5xivtY1KeLXNS+SWvVKyt/ml00teX4+62NwmLlQrUH8Vm3zu9rLblVrKTu9Hd6qT1ikrmZRtZtwIAJJJ6ngkjjAOe/HQD+LSWKq4dNTpupDTmhrK9ttFZ9tNfO10XiJ1ZVYKlT5JzbtPWPLpa922t73XzuyobN0feyrIFLOQVDkk8nGQcHPTBbB65yNsU8xlN/ucO6T2vyzjyra6Uknpsnra77JmdTCVpL/aKt1pzaxlfy1SbdtrpXvq+kvStH+LHjvwj4b1jw/pXibWIvDWu6fJb6j4euNQuJ9KuFQZD/AGORngilQqCskaIy44zWtWePqUakZ1v3Ti+aPtItOL+zqlrorqzd9NLrl56GX5fRrwxDblVpy54/u3LW+m0rrS+2ultdOb608IvdeJPh94K1hZHZpNNWFsId7NF8uM43OAOhOfoMfN85PD4dyd4xTe2l99ejt12S6X+17v3GCxiqLShPVLVwlfRej+5293rqiinhu7n1HVGGlSXTLZSSK/8AZr3CIUPJZjEwHH3skk4wOM1UKFDVKK8uy06e+r3S0t9ysViK9lpQnHt7s131+G+lu3n05Tw3VtP1G8uplt9NMSrKkUsUFpIqnBB8xlSJI09CG+hJyAvXSo4X4eWL9Vbv0u+u+vkrHn1Z4ua1cnbvq2tVZ6LV6rbp0STPAPiz4V1O1V7uGKS3MSFmMW6MhcdiOBgn+Hg9guQzFSlQTdoxbeqT272eylpp/wDJct5c6q4iGsr66JbWsuVu9m9X0tvs27xPN/CF1dW5s76RnmghnC3SMHLCI8byvO/Byckc8dcAVw8nK3ezXS66eSvLfSz/ADvaPSoTau7/AA8z077N636Pyf8Ad2l9X+AX8PzzNfhktEtLhH+1QSvELnzPvKU8v926AlM8KR1zkCrXu7duyvbT87LZy01vobwp39er6rqtNtdL76apu9o/XvgHx14d8K6VeLpq6ZFpVuZbuVPJMbGXdu8qS837nmmYY2IFDddpztXGak23rva++219XbRp2v16XOZ0+Wcld8rlf10Vuya66bJre1ifQPEnhT4r6zJ9rb7fqYMkcawKi2+j28zHCizcpnaNuZVYu7gdMgJpQpuWu7TtqujXT/hm3rvY3hOzXRJXfktNdU9r9XLT0Ppf4ffDyLwPaX+rPcan4l1C8D2ug+GbeMacRDghb7UbyXLx20R+6q7SQQRuwNvdOrSoR9+1157vfpaz06+jvsTJ4yvU5KNGcotpKUW9fw8/71t+yI/DfgTxHd+MrKfxfremWVu10qWuhaOZtTuoPPfaTf30hdRszuLgDaAepI3eR/bNCNdLmWkrXu/ufu7rtbV6O1mz6R8I5vVwEsQsLJrlvot9NeXVaPa+tumyR/dj/wAEqvgN8Pfg/wDAPTrvw5caTqev+Jx9t1zUNPkilkCN88NoxX96DH5hMgdfmfI4xivssLiKeJpRnTacbK9u+urffVaJbW1lf3fy7GYXEUcRUhiYOnPndlKPTo/jX3tdNb2P1GhiIUxs2Sh+VuDuHUEdx6Hp34GcV0f1/W/9bW2MUlFW3632t8tb/J/fb3raseRwSOpwD1+oXt7flxuzqdPn+g9Vs9/l9/4/5LeS1mI3tL/493/67N/6BHWU9/kaw2+Z/9T+4CvSn8T+X5HnhUgSKDjqf8/5/wA80f1/X9fkA5kVhg/n3/z1/wAmj+v6/r8gIWgRvvK2c4B8wgY5/hGeen8jt6rpflipPW3n5bde3yemidxzqqFP4W3e2+mvy/z9VofJn7T37Knwx/aV8JXnhrxHpFlaalNjb4ht7OH+0INv3tk2wOzAE4YuuO2MmqdJVqfNokl1332TsrbX1V+ituXQqKNqmvR8vz72Wu3f11Z/FH/wUf8A2Nrj9nj4sX3w/wDBXj6PxNoNvanU7aK8hWO80p5P9bbSPHI5mI4PO1uOQORXzeO5aVVwjrpdrbV2b3vtrpaWut1Y+jy1/XKLq8towbhy76201VrppaXatv0cpfhx491HUtNv7hPEUEd9FauI3CW7LM8aEgbXZXO0YwR0HYnGG47uS2dndPb0va8Vby+V9Pe9Xltv1stuuvaTXps+l3eTPNbXxdpdhOuoaZpl1GBOGjURJuh+b5gDtU7PXnnrx1qU+TR67a3tdL5O33+nPoRKjeNk+nRO2u9tX1utLvtbefrukfE/XtB8SQeIrWYixmtAotzGrRgMmyeCcFtuyZWYMjArxgAYG2pSaSlZv8b9fTXZ+eul25cUsJq256at+6m7dUvft6fL4t4+BfFzwtpfiXxINWSyhs5Wf7Q8R2+RJDNiRZIiAOEzjZ8wB4BHzbs4y5pW1jZeq80unlpfv0vFfV1F6yT6rTz9eifXfX4bWlq+G9GtbSxisbe3fMyPFA+Nu5jy0qgdE4xnHtxiuhLRO931W/4+l3ey+Vve7YqKila+lrebtvZp63el3b4dOVyPX2srbwtoGl20ccUmq6lIHld1BMSE8ZBDc4GQSOOmGyAvFiKkVLRLTT4vP00Ts9+bprHXm7cNDme61bbt69H6ro1ddFpM9v8AA+gwXtpHtLPLgSTyZxuJ6gfeAH+z0/3sZrgnKLfw2V/uX4dLbJ37n0eEhy2u7r3eiur+ret9LdPxl3t14XgkU7FAYuEDL8pXAGGZcAHnP5Dk5xWDim2/X/geTt6NPyslL0pTvZWWt9fTt7q39X67Hgfxn+F0WveCtVvxHGdT0KOS7tJUj/0hTFh23uBuKEDlT0PJD8hu7BV1GSXdp9enT7+qS+dvd+fzXCc1NtSack2tF1v62tr0lp1Wp8ZaFM95psU05CzLHsYqOP3Y2nA5Ocg9s+uT976h4qPsk0uV6LTX16xaa26v77Hwn1N+0cbtq+76X/4fr8tzqfBehjV76+1m73mHTohFYhRkG8lLBWXjGYxyMgdM8c14ONxPO2rxV30XlbV62TSvstP/ACT6TLsBGHLK7dtUv8tFe99lt5fCe1eGvBsCyid3njdgyzFxu3FjuznnHrnjrjuTXzWIVpKTd7q9nfT8vPRu/VW1PrIU1JRSfLyWsvLTdavv1vfvY+h/DHhi3R7cwEGMMjSfLlpMDoD1GeQeh9d2Bu8DF1WovRXd1vpZWX/B0+ba90+hwWHjdXcmlvf1bavZ3fXS21r6n3L8PPDdgLeyaOCNF2jeGA5YdgOQBz6Ae2cCvncTVkkr/aT+5X16Xbasuqu7Xvc+vwFOMXflTt9/k189VprrdysuX6i8O6TZRzReYERWPGB6dMcHAPPG38uleFiNb3lZbaPvtpZLS6Wj8veu+b67AxSjflXRK/pq+vlZfLS9j27SvD0dy0OWDQNgqAF4B78DOeuOfxXGa8+cE/ttvZfik/LV62T9bq0fXi1HXlt0tqvzUlr2vp53932HQPBdgYiir95gxYk8AHneflA5yOB0wOP4vKrKetm09lb0769+2+uux0RxF7qUY6Ky835dennq9LJe92dr4LslkZ0ReOQ4cL05J5HOOTjt0+Xq2VN+xkpS5mn/AEvtPrp5X+UuevV91ukotu6bldq22z81beL7raRfvdW0Dwzol5aTXcQM8ySNcyOnnIqkboQWx8rgFTntwcjivewkozV0pX2Xdv11va+juu9tT5rGwlJtzktU3eOi39dL9leVrO6s+bzPxV8SvhR/ZcputXgfUhJHFp+nS3MDLG7jHl2sQJVd3UncADznJxXqQoV8R+7hDo2vdvpo+luz7Wei5m2eHXxNDDRblUd9r81tb76tavZ26PXmT5ZfD3xY+P3w2jh1DT7rxXounRabLuP2q8ga58xfv2vlAkuUOFXA4684C120cuxye3k/cel1bun0a6t9eiPKrZpRd/ffK1r71l5dN9bvTzaXun51eM/2jPh34g1K6js9V0xLSzQJvATdc98qTxlmHPRfX0b2o5fiVSvUT87Jpen2b2T7X1vZW97jWb4LmcZy0Wvxq99fT5prbXTU+c/E3iHwx4le5uYZ7TynGIyPLIYY4ICrweAM5HYnGBXdhqdalFJ7Py1V+i2Wt2v+3tLq/Nx1Mxo1anLTacb2V2m+1ns331fm2rpHzt4g0W0DGa2MRQkhQhGNvUcBskED245BGSK7YXup3fMpfj5rTpbo79XoRKpShNWV27X9777XbXk9Fb5o8/nuZbYsjKXjyUyOoHtznucdDxnJ529lOm5yTm5bp6aL5NN2a0Wy1dlezMKijUd2tNHZaed1t1322+H+aa3ubVnQEEspypzjH1+vTkH9fl9GCjCDT1S838r2V/w26aWEocvupXj0s7emvr690neSO6ijs9T057C9RJ9Lu08q5tsZMZP3biFgGZJIzh/lwTgDkHNaUsS4SSjby2+6949fKy3stpeVjcDCtGUJyqWaekZOO+r10069tdnscLoV/wCI/hj4zhtrDVbuyvrQrqPhnXrSUxyy2wO5AkgOGkjGI5YzjO3BBBNfYYGuqlLllZtxcUkl1WjtrstN438rpn5jnGXfUqylQTVndOTc2tbdbWaV76K3dP4f0U8M/tparLoTDxXot5ZeKbSBQvi7w5JFbrqTxp8j6xp0qvDLMeN88UaMQecn7s18lweMg3Xg9NuVuL89uXvbR/fZ822WcR5ng5RdOpBWs9YRe3XppfTXXrre54T48/4KG/H1GNjo+vR2lmHKW9wbdPPYA/KZO4Y+nGTjgZxXz2I4cy+lP91TkrvW83r0dry6b/at1a2j9ZHjPNKkFzVqck7JxVOKfn0jaXV+b6by4iw/4KJ/taWWy3tPiNeQxlgQv2W1lVV64UNE2OPc89eeaw/1ZwlTSdOTv2duj2d+vkvn0FHinHxu5Rm3f+7vtrtfW2jte1vdWp7l4W/4KR/tZQNFInxWkhuFXaJJNPtXxnbxgRqDz2wepPYht4cKZfZv2U77fHJa/fbp569NWo51eOMwo6RhO/T4Ou973a110vpo7s7eP9tz9qLxs39mav8AGi1isrqbfKj6FaN8zH7/AJnlk8E598duTW8eC8FLWpUjbTrKO60tvrvrdemiFDjvPKK5qk4uD1UVTglbda2fTb4v+3WrH1j8OhJr2kDXvF37Wsfhucx77i2j8MQ3Q3bRn5THhuc8c88+qt6NHgzIEnzSvLf+LO/ovhS18vLTeXmYrxIzjmajSlPXfkg9Fr5el3101t73g3x3/at8L/BdYrbRfjOnxWnlZo5km8PxaTti752RIGGeB8vocHGa8nGcLZVSb9lTnbuqrbv33aWvTV735k7HbgOO8zxFvbPR6aU4Jry6eT0X3bH5mfE79uPxN4qiu7fwzB/ZS3aSR3E0ZCmRWyMgDAzjkHAPfaOVrz6WT4ek0lCS125m39/XtolbbW9z1a3FFbl91a2vok13Sty6Jvp+Lu3H41tNT8WeNddt9PtFvNS1jV7pIYBHumnmklfGRjJwCck/KFXI5AJX6CnKjhKN2oxUI7tWaSsm763+538rngSo47Nq6bd4VJXcUmmr7ttbabff7zV4/tZ+z7+zto/wg8P2Ov8AiGOLVPHt3BHcPPcr5i6T5ihvJiRtyiVQcE8HdkjHRfzrO84q4rESpwmnTvZRj8+vmr9PVTsuX9o4V4ao4DDwryo/vWk7y96yfq7K2vo9fdvaXuGq6rCS9xf3OxSCSXYLtVRnPzcY74GeeOPmNeEqdSUrS1i3vZ310avo7t3vdu1ttEfWV6tK9naLtsml6Ky0Ts+/Trc8g1jxw1x51n4cQyEu0X2p8Y8zjJTsQOeeg6joK74YSilzSTu1rdu33WW/zvo99TxcR7SXwS02S1/NLt1V76apM5i00Y20i6trEjXt3uLYlfekTdQDHyoUnABIPrgZ+XRSpRvFaNbde+tv01/C0cI0J1FeX+Xy2a06bPXd2udFqPjTRbLS5Lo+RLd2q7hBFtGdp6AAD069fTHReinCcl7t97LS9vv311evyjpzc1aNGhdtbLr/AFFbN9r263PEfGXxN8SeKLDOj6FLbWYQwvemJkRUxtdjI23PXtgfgMV6VHDVnG7b9Ov436Xf4O2jPm8ZiqVSd7pJK1k99bt+S6L08mfMmsa7dWFzbrDqHmGI/vY8ZIdz8xBHVgO/6sCVXtjQ01j66JX++3XfXyVjzqmKwsPgjdr7Sd9k/PVWvt1/mvaK2dt/bQmuH1CONiTI5nZg54zxhsjAOOgH0+/XTSwaqJte609lb/g9bdXp2ZyrMZX+HSytv30trZa+t9klqVJdRn08bLUHUDET8sbtvHqUYEH+XHTd1q3gIp+8k1bb8l0/u97/AN1rlLebVkmoSUXo/R6O/nto9Pvu5dl4G8a3X9oOZL260x1I8pZpCSZPQ78gDoBw3fHJrnq4DC1V71GLcet2t76Lbs+2vZPlj04XO8TTu6leT25LeXS33dV8ro+o/D/xi12xkjt9QQahHGoZbi3YMwjPO6RVB2gDk5HI9M18vjsv96Xs48qvyrTt1V7d76312sfY5XxLWvGMqr5U3v8AdqrpJa95ebXxS9u0j4l6XrCxtDcq0pwrRb1BDnuBnI7dsjHXnFeHVwVWnZy5rd7fpa+nXVX89D7bCZ7Sqp2nHntfTrp+Gnl37tx3LvWZPmmBYsVJyrcYxnsRkDHpz6is6ahdRlFc2i1vvf5bXXSS9Lm08TXnrGrZf5/f1XZ6a94xk0zxVcwxoqzEAycg4B64J6sMj0DZzxznK988v9rTjLkXK3GVrp+d1p5rp02bOWeOndqUrta6v/gpu7f8v3P4fWtE+JlxYzLHFchg3l53HpgjjPzEdT/Xdxt4cfl8VCzh0ttvp1ejemttXuklox0MbOb5ZTvFLvot9Ouuq6W7XPUZ/Hcfi2xuNF8RJHd6ZfQNaTWk6xyQTwuuxkO5QBxyCB8vbOFrhwNGOFqRqRXLqknbfXbo/ve6voc2JnSU586U4zhJJvTWSt/NvfXV6vrFJc34hftR/BWb4JeOjqGhI7eCfEkkl1aKASllJI+5rdW6bVLYA4I/HDfsfDuZXjC7Tat1+X93d+XnpZRl+CcY5PXpYqeLpRlGDcmrJNW3unpr11v+HKeGxXKug2DGVDDnKnP93v175bqMnivtm3V5ZQdn0em+1/istL6P8Xbm+BWJlJOdW8nT3vu76W0v87KPne5K06gRneWZvkVEBLvIcYjRcbmbkAkDkkcYGKVXG08NBuvJSfL1Vumuybeu1l5rlu1G6GFr5jNRocyu7aLu/nfa+/Xrc9N8L/s9fE/4hxpJcRL4S0K5OBeakji5ngP3mjg2/IGUnax256kDARvjsz4pwcJOnT5FJ3SV27PS173v9yVt3qfe5PwFiaypVqtOUlGUZScrW5d366pXej003vL9APD2mD4a+FtC8L6XFDqcWhWqwrfXMe4ySf8ALSRUbbwWyw3A43Yxg7q+Sq59Ud3Gp5rZWvptsr30d01a60SjL9Py/hjC4eNqmHjpe929+/fZNJ637PYJPin8RNLgvLXSYbSC2vEeKdhplvK5jfqodombBGMnf25ZuNqhnmJat7Vq68rq/ZW0+V9+vK1LpxfDuDqRbjh4peXNbTr0f3q62SX2fmXxr4z+I8KzQW1zZxJJu8y3h062WV++WIhViuDk857c8BvbweMrTV3N3lp00d/VO7vr+LVz4fOMswuGfNSpKFtGk35Jvd6tp2dvPlVkfMHjzVPG9xafbpXS40xoSl232YEQP0dT8uRjJ/PggDavpYWtWrTtOblG9raX7abp7Lf1dtEfGYulT960dbrVq9u99r9EmpRfrZo5/wAGQx/YzeXEEMkCvtmcJtTY3qBkAgDsMDGTnit3J97W0s1/w+1ur++7Jc4KCsrPS++qvq3fmV+vbs3a8fp/4c2vhCSHVLOdba7sbqHdJHDOY7qAHHKkd1zn5SOeOM/Muafe7a9O910tp1Sbsnqm1II1E37ytu7X/qyVkrWst3zXPo3wh8L/AIW3nhzy76+1y90+a9iFxZ6UfP1GD+7JLG8oJVB/GM4HUEglapzvJqT91ys15dttfNK2q0T5ly4Sr0JTnSULyul29H8cm2+63fR2Tj9G/D34S/DXwxqthbeBfBfiPVr6fbcyar4iK2dh5W4HcfsxmuJ5YSc+VNtTIy2ACKjGYz6vFSg+VpPt076NdPx63Sl7uT5JPMa8YKMuWdulrK3lvq1dW1Xc+0/Anw/tPEVxqsp0/UpILeREnvbdZT5UxA8yGEsTiFCDtUFcbexNfC5tnWJfM419d+myXZLRvre/XfaP7zwrwJh4ypqrh7pWfLbq+vxeb1bd1fa1z6H8M/BXwlYWYuLfTWMj/M01xGvnlv7zMQGzuHqevbJr4N5ziPrHNKq37z2S1avrf162j5I/bJZBh6WDVBUV7NwUXF9bK11rdL5b73suX7g/Zt/aO8a/s1+OdLvtDv7q58JubW31zw1PO8lo1pIyrLLbRszRxTAfPny1AwACckr9nkvFuJpYqhh3iZKm/iSsr3dtVfon/M9tOkY/jfHPhVgc4y3EVcuwipY+N6vtocznyxTcu1rpu6Se2+p/Uv8ADrxzoHxM8J6L418NXiXWl6xYW9wrK6MY5XjDSQyBHYK8TEo3OflyVHK1+44bExxOHhUg7txu3183536aLW+25/HONyzEZRXrYbGpuph5SjNO93q/7q/B200Sv7vdoc5OMf5/Dt7flmtZO6j3W/4f1c8/mU0qkdIz1UekbdFv6/5bD6gRvaX/AMe7/wDXZv8A0COsp7/I1ht8z//V/uAr0p/E/l+R54uOM9s4/wA//q/PNT+n9f1/wA/r+vvJV+6P89aAHUAMddylckZ6kdce3X+X58U5awa639em1v8Ag9elhJe0bit01v69Pd0/8m3/APAs3U7lNO028vf3apaWs9y/mqNrCOJnPzHIQ8YznjH/AH1rKbpUJaq63T6rezs23+N7fZ1ZMdaio7vtZbPS3V2Xe3lqfwS/t8/FqL4i/tBfEzUUmhTU7DxPqUVnbCYD7XZ2dy8ZhjBZmkbCZCKeRgAAEbficfjYvES1V1+Xf4lvbRptfcz9RyDK3/Z0nZtuba912aavfu+ytb5W5T8pPFkWmeM727CWYku7VP8ATdPCpHPCdxJk2AbmjUFdxwWGPukA7XQqRkt0r9bqy77K/ZatLpdbkY3CzpS0i73t8+tumyd1fVa2jb3vmLxX8OLRbiJtFuJdNud8nmrJIJIJCeQRwDtz8pwMgnnJrSS99Na6bLbS2v2bbW1flpduXnwTS10ad7N6ddk+j7tq2iVrNmAk0sFvJpOp6a0TooiuL6ELJbSL0Ew3bWWTuQuc7sggYNauL5X10attunrqo29WvRqzUk7XbtdP8u/W9nrr12tsVrjSrPUF0a+lu3uls3k03y5E2RLK2TDLK+P9XjkEgAkY4ya407S6tt6vv5dOmvXR268phLRp3tZ22vbydr3TXe1lqk2pM6z4daHPrHiy7uDKs2m6LD9kSZVxbtI3zyt/d2RhQqtkdMcA/L0uVoXto9VfTV7d7ttWtbu1c1TXKrJtb9+r6p272V03zXu7XiuqeXf+LPscc3mwW9wwBLbuQ20ImGA+UnjBPpj+KvNrv309rfPTfy3SSdr6bbXPQwi1Vrau11brp6u2n8tu+t4/Zvw90po9ODxwnIVEYhduV4+Y8cn6DHt2rmnbTppf79b+bfy9FduX0dDourad9PT8F3UrfKx6HdWSWyPMkbOCxCuUPLADO/gnGckAgZ5+Y8VOjjLo9112T6JO/wB/3XOpvVbvXbrey3V+i6t+V7Js831HSk1bw/4qhnvSizabfH5FGZHWCRhESWAXBXv/AAjHGcVjQTc7a+V+v4u+ndK1+rRnmKj7FuSTsr6+jtba26eqkm1sz8ktC1CFYNWhb5Ta6hd2yjPJZZXGffPTAHYYxzXtzlU9nrulo11eulr9N+uvfY+Npwg6z1SXN6qydmv6a+aScfq7wjpv9meH9LsozGj3ipeyh4xvzKqlT3zgZ7475P8AF8/WryVS0neN35Xu9NbrS/dO2ytdH1OHoxUPdjf/AIHXR2V3fa99bpWPdPD+mSvEAyq+ADnaoyBgkHLZ9Oh6fXdUVmpxjrqur66/h+O9ls3Hpoq0pO97WS6edvi0ts9dd7xt73v/AIR0sMsarFDC5KhgVDbRtBYqQvpwf/QsZr5/Fwaun/V27J/Fs1e3NHfS2rPpsFZ7J3027dF89FqpWtfofVPglbaOAQpIu6NgdxZAPl745A6Y6/e9TmvmMetY2vbW1vnp13bu+y7XufX5dtK76rX1e63/AJu+j3ue3aZdxblEsyKAwILHjAIOQenPTPr2GN1fP100no9tdNvLpZb21l6s+twk1ybbLv5Xvq/0Wlnd35T1vSPHGj6ci/bLuCNYou8qrwuMn5j6DPP14GFbz/Z1Jcyim7PmSt07W66u+/SyT1R2SqxV3JxWl737a72teyez+WiZkeIf2tvhP4PgkW+8WabDNAv72NLpGkB67CqtkN26MTnoQfmull+Jqy0hLf8AlbvfZdPSz21WtmzyMXm2Hw11KolpvzRtfyTe/wBzfdq3L80+NP8Agpd4O0a2nbwtY6jrzpHLIZIg0VsqqPvSSMjABhyDuwew5wv0mC4Xq4qSVSMkkrpuLt5elutm+m+58rmHFtGjG9Kam+Zr4o316W121u+vktT8lPj9/wAFPPid8SF1Tw/4b0yLw9azBojepcGWcDcRuQqigNgY4x6grivq8v4Wo0XFTaumtL29F5vft173l8vjeKa1ZNxi03d6X9b3u7q6du3d3R+eU3xs+LF3qAuJfF2uS3IlMkTNczkRuePl+bg/NxgjHUZwa+uhk+Dw8I1IKMp25WtGteumyt5dknZ+78bWzjF4mo6ck1HWX3dHdWeqs/h79EiCbQPiV4rhuPENxp3ijWLZpi82qJaX93aJMxDOZrqNWhjY+kjKfpgCu+ngaTjflVutl8r3aWv/AICvN6Hn1c1UG6bqe98Pxddratb7dmtdG046uj232C4ht9XV1SYpHN5gZZEBwNyq23JGeTntg46tM6VKUvZcqtttazfy10Tf2t79LGCjXnH20XJq3d6766OSSV319L3fL9TWHwX8YWXhyHxBpYbWPCt9+9ivLaGSRrf+9HKU3hNucZYhR14zUzy+HJdJbbWV+vp1/wArq/MaYDHRpVowqVN31f8Ae6+87fK99305aF94S3Wf2jTZpUvIUIkgZt8akDqQTjOeccYPGTxt8KrSjTrJN6N667X72tq99kujvc+0TjWhGpTkns21r52VrXt1td9bK7Z4fq1/d6dLLbarb5Ulgl1GCqAn1UqeR65HT6GuqnZWa69/v0enbXXVa6aOK5pJa7d36WvddL6673025o8806Ogmtp1kXJJ2EZz6HDE5HTj/wAd+8urhLlez07N26+T19E797NBSxMeeKu7/p+W34LVxTudV4a8RSQv5chXyWYBkZgTknB6jg4yT19yMislTkn10s722+V/10s7cza5dZSjKW6v8tn1Wl9e1n6u9j0DxppMPiDw5Dd2GGv9BxqmnTjlyqhftNpgcsNoJClcZ+YrxmvUwuKlSlDW1pJ6y8/VadOra89Dws3yuOIg9OnVdt7ddb9lpa173M+wutTvNFTyrff9ohXe4xw5GGycDGDnqePQV9BLN6SS95PSz9V10X59vs2vL46OQVE9Iyerto3pp05V+mm6klKR5L400mS1tmkngc7SGJUbgH+nBzj3P3emMVwVszpVJX00fR201urve2u9r3tZbFLIsVZ8lOV1suWW7226PZqyfR3btHnLS3/tKG2GhaF4g1a/KqGSCwmeEN93AdUIz053e/IwrN5zQivihdLvH/h9Hr57WXxHRgsg4kr1HB4OfLeyfsauvnrCzstd2r69ox77Rfh38T5x5p8FazFE33Q9rNERznJymCOnH57vmC8tTiHDx+3FPquZL/253ffTpZWsfU0eAc6xCi54SV3/ANOal76deW6bS62+ScTtrHRPiHoUglvfC2q7IWG4fZpeAvq23sB6NjPXOK898UYJztLESsm1pOHz67rbbteyvzXjfCziVU1OFBuPLdpQrN/coJX6K1u/u2aO2uPiS8NhJYX9re6e4iPy3CyRruAxgMegzjrnP4gL6+DznKqyu8U+a+zqU7vbf3tXr20vstT5LEcJ59l11Wy2ckt74erqtb7xi7X7rXy+18D/ABO1648ReJZjMxEMJ2wquSCARz2zk8jj2GMmu328K0nyPmXT3t1pbW736+Xday5pRhg481TDuM18SdO1pbtapNNbaevW0eFNmIkXk/vACRgcepJzx1PuO+7gVNSHJq9erts/T9NNLfashU81wzdvZa9Hyrfott/+3Y9Unpc/V/8A4J3fAdNSbUfi7q9kTBpoks9D86IlGuejzoXyGKdiM9c5HBr4LiXNHRjKlB3e2jv8n0va+/8ALbofrHCGVvFOliPZvknaS93aPf79enbS3JL9CPGWpwabHP5pXz8M3lr8xdiQASAwIOT3HHQEY+X4XCuVWp7WTb1u7vf8+19+nV6n6jjKn1ah7OEUml5LbvZrVrysmnvdnzDr8OteI59khkS0duETcp4PAYj1J7gjqTnC7faeJpxgnon2/Pqn0W9+uh4lDC18RLn5Ze90WujtbSz7d+21mbmg+GZbIRo0HlqQI1BXlOf9YSdvJzknqPUYBbllj4vRS0Wqs/6W6v2W57CyyUYK+68lfy7v77dntc7i3+Ges+MtYtPDvhlLm8vL1UjuRaQvOFBPVtuQjA8ZH6AgUqDlWqqUXdXS+7TXe1uvvN6a6pqPlZjOGDpSlJNP1V9Etdn8nZL+60z6z8P/ALBum+HtIbWfHjzRfZ4hcT2zoU3Kibj5hZjge34Ajqv22CopQTkt0tlv1sldemkn+Z+V5ln0K9SdGnK0ndJJ6u/Rb/fdrrpZM/Mn9pPxlptnrF/4J8HW8Nr4f02RoWngC7pCOGDOq5IznuDk/Qt6X1mjRjyu176Pb772672X3XR5dKjiK212m76b7/Pd3eyStZ9WfBN6JZrry4B5kkjqo5/iJwGzjIZiQAD378kVlTqxrSajfe3rr5trTS1r9m7u8eqphoYSHtMS+VLe+mm/nru938rs+zPC/wCwl+2DqHgEfErSvgT461TwTe2Jv49ctdDu57WSxMe9bmNo42DxFMvuU9OTnI29dbCYqEfbUoycFHVxWjfa9ku13b1vY46eaZZWmqEakOd6Jc2t3bolF30tu97a+9zfMdz4a1rw/qJ+22M9jd2dxsurW5hkilhlRiHhmifaVYYK7XC47A4rko5i3P2dS6eqd3ba/wDitulv5+9f3d8Vgf3ftaV5K11201tfS+mn4XerPsj4e/AjQPjn4Pn1PSiNO8TaeCk0EQ4mdBkPtVwVDe4x9MV6fJHkUl1t5rb8UvNfdZnzTryp11CpKyTSXS+2nnbTv2Td7nkmreGPiH8Jr3UdNvNLDQMdgurqF9ssceBhZGUgAjpyB+Wa8yrThKXvaLps+/VdkmnfV73d2o/WYKUHHmTd7bu7bv8AK3XV312tpcwLDWElZtRsrlrXV4DvawBO2VupRFXHQ5IJXGex6V52Nw9OcEopNq9reb19PLRd3/e9fC4+dKr7je6b9OiWnbva+13ynuXhD4nw3cK2uq7re6UeW8Urbfm6cE5PsOOO2eK+QqYGcaznqk3fXZevupPZ30j6ae/9zg82jUp+zdr2te/XtstUm3u/vud7d67ahY3tGCHO5mL5J9hz09ix9mIwK9ZYqFOlCMtGmrW10899vvta7VkzbknVcp62aem9n377baO2+ty/pHidDKFbaZGO1cnjcemfl4+uSfTBJNZYqrGpSta+mulvJ238+uvZKxz0qkqVTllqr21td667PZ9LWs1dp3PePDl2by3t98oSSPGArlxyD27duh5HpkBfMqUOahzQ3Urr5Prp1/7ds/PQWKqupyqL1Ur6dl11vvu7321vYi+O3w/T4mfCbW9MnVZLuwsJ73S5ioZkmt4zIUHQgsUHAPoDnIavWybEToTgr3Tavtbqu1lbay06+7a5w8QUcPjMslT0dRQfW7136Lz6+rejPw80czrDc2t0hSeyuJLSVGzvV4nZDlT8w+7nHGCc84G39fy6q50OdWbSbT6WfRaLRX7a+XxR/njH4J4SpVpyvH2j9NL6W1l6vT1vf3fsn9j74Xx/EHx7feILqwOo6f4MgjuFt3iLwyXk7ZhdlbIbYVJ2sDngcHlfhOKM0dJzi58mj128vK2nZ+rdrn6VwNkqqck+Xmaa6avq7aq2vV37bqx+oE/g2+v7+ITQzReYQPKaILHGg4VUx8oAGAMLg9sdK/OlKniZqo6ibT2u38refk18/s/tdOf1KMaXs1aVvs2Wu9/RK99fud47d98H71bRb/7I95b7grtHGx2biB8393G7pjA6nNVUjTT5ndaWte9/R9UrNab7djulCVWP7tO3dLsn2V97LZtN9bSOs0z4DPf2kLJG0W6MPhouAMfdyRz/AHevX6fNtSnTv8cdtN/K22vnp6M5KtOpS0kna1lpbt6eaV1Hv1R8n/HH4Z6d4XvLS4eyaGa3cFpVVTHIxYqBcAgbU7HIPrx/D9dlMuaGjunt1b1s7du+jlfbrc/NuIaaXM9d/S1m27WfRvt1vpb3vkjUfDVhO+v6ZfIlvba9HO1vGVBiivViZxs6/uZlxsK9yRg4y30dBctTR21S26Pr1sr+fSzufnWOS5HbRavvbXS9krW07976nz14G08abrup+GL+0jubO4DxxLkDapYosg452gg8EHj67uxwWultdWn3vfTrf1XXfRx8ufNZPXbVdl+Pnb7na9j0/wAP/De40y41gTQXEdjPFJBa3yWs58iRj+7EjQoWAAOVYjDcEgdKFBdU/v8AxWq289+lrXjEE2929UvRt2TWqT0stWu1pW5j7c/Zn+BOs+JtasdRh8STafo2hhJ7vWZM28d1OMFrHbOFMxIBXb83bnjLc9+Wckld7J3tttey6brr/iu3H08Lgac6vtZP3pdHtpfX4XbTXV7u1ndc363/AA68OaLZ3Eul+FrKbXfEGtO3nXU0ayWunxYMU0hPIjLZLqgPUdT0b5zOas4xdul7N6+l7beT1Ttp0cf0/hRqjiKStfVW22vpu3va7913elo7n3LoHg/QPBHg62WaSDTJUVri9knRElnkdi8jmNsEqCTsJ4x69a/NsVUlUrSp+9fr9zvs16efkk3H+lskxdOFKlNwSdlZtJX/AE2XRO/mlY8auvjF8Ori9uIj4g0u3ht3aIyTXUMPmyoTlUTcCemSOeO6n5a8qrl9T4lu7vbVnuVMyVaahHX3tFF230Xy2fXzb0Y+y1fSvELvd6TeWd4JHHl+TMkodV4YAhjyQ2QBnrj5ck15rp18PiqVWXOlB63u9339zbu0tttEd1JzoxcnT5lVg4SXLdWnZa3vor200V72T0P2u/4JefF6exu9c+DusXbFJA2raIk8uSq4/fwxKzEgBn3bV3AewIr+g+DM5WKo06Tld25U731trpp20v6K70P4n8ceGZYbOlmFGNsNWbnVcYaJymkrvbVJXfRLyR+1y+mc4HPsc9D79+vT0r9Fmne/R7fdv5/Jffc/BZqClJU9YJ2i1azXlbzv0j+Y+oJN7S/+Pd/+uzf+gR1lPf5GsNvmf//W/uDCEjOR+Wf/AGcfy/PFejJ3bf8AX5L8vvPPF2HbjIznPT2/3/6/h3oXXzX6p/p5fhaS6p+T/G3+Xb7h44AHoP8APr/P86QxaAAKWJ4xjj1zn8Rjp7+4qJStb1u/T7n/AMDezKp8tOXNO7Unpbve/l/W99jzr4uXf9l/C/x5qQ3D7H4Z1af5M5BS2YgjqM+mcY6dg1GNlbDylqtO/lrd2/8Akf0JjB/X6Urq05xXay2s7eSfy9T/ADHP2sPiLK3xL8YanEZTdt4q1e7guEkC3EbJqEzB4zvDK/AGPmB6YHJf8rx1WX1p2b66Nt2s+vf4rpKzd7XTVz+kOH8uf9lUk+T30pJpfzRve9nvdJtX+Vkzwm28bab4i1PT/Fmi3Rs9cCRw69aiQBrraPKknCAloJtoySQySHO4DkV34OrJqKd9N0nq1bptfV9V9zbPOzTLZRu2otLa17r74S05vudmm72j32v+GzeWMOtAfup8Si8hkRtrSfMfNhfGCX4kK7hx2yob2oVY31u9bLVa2V7Ws+mutrrRbNnx1fCvmco2SV9HdO6W1ldLfZ+ulmjy3WfBcV9em+mZ7m3e32+RFcLHGJkXBbZvUkHjt6kAYAbq54tbb667ad9FfbumndLmsjzJ3hLVbNvTbvZ31utttNneyOH1bwzeiyu9JUJHa3Aj2RW3zTDYwOGdT8pAPzENk5/FeOtFqUet3drt6vpa1900tr2sZcvPdrS2ln1b6v8A4LX3p83u+j+Ej4O8ARw28xfUdbEcbRxRAyxWjDJIx+8Z3HRiN3XO3gU4py0u+ru+l97a2Vt9b/O14pJtW6207abp+V35JLZv4o+Y6Jbaba+IY9Oit4r7V2uN0iGbC2y+smzcxkHUgjg8cH7vJiIOEle0ut1r+qS3t/29rZax9XBx1t8teuva7s938ST0s9Uj9DfBPh1rXR4zNG6vNEJPNVyygbc7V4BHTPrjgYOFrkb8lv5b32fvLZdbtfJ3Pp8PSbjzKStZae83t1Vtbq/W+vTYTUkW5hm2NNGMNCUj5ZioxuVW25LA9ecHGc8hovZpPrs/vu/lbtrtrY1to53+HSSV73fbR99Lp6Pf4VHxzxBEdPstSjijlSC4sLpG37lZ5BC4LcHk9m6Y9DmlRq06dbkcXJppX3Tv/TW/fWP2uDFKVehNq8Uk2ubtbXboru91HV7O3u/jToMMlz4xvNHAdvtXimaMICQCrXcmV5DEdPoOgznK/R16tOGFT5Fdwbezs0r3eq3k9dH5HyGDvUxc6bbSU16W9Vdtd7aSu9tz9WLPwdFNa2QFtCn2azt4QcYfMcS+nuB24zxnJr42rJVKkpXsk+/MvTWyW38r+Vkj9Ao4Zwoq81dx7Ppp9/VWvvbpaPT6bpQtykTbvkbGFyGPTHPfgEfhg9Kj2ya9m01ZLX1Xf130d+a+m0pjSlB2tfm1sr3+emr7JdGl717x9W0WWS0KBRgyYVCevIxzjGO3ce2fmrzMXblfXya7ed3e99PusrJn0OBve3LpZJtteW1vR663d773j6voGrXmm3Mbx2ZuUYDcWOI+evOQOM5xkY5Bzn5vlcVeb5eVO116Ozs3orvyu7fefX4GEdpTcFK3xJdetrppaPW+/RXfL21z41hs4JZr7ULO2gTLNm4RdmBkIfQg46ZPqDgCvP8Aqs60lFppaf3l27J6P5PdKOx68sVh8LTu6yk0uZLzv/iXW6vsr6RdnzfEn7QPx5aaE6P4Y1pzfygwpNZSZWJW4+Zs8nGByO/fI2+xl2TRpzlOr7ycdNNd9uvTvbpq95fN43iJz/d0oppNttPdbW626W33vrqeUfDX4U3/AIq09dU1Ka61GeaZZJp7h3laViSTwxIAG7pgAfiNn0uEw1CnOPLSg/ev5LzX5O36I+DznMK9WMpe0lHlT0vfVrT56P06Wvyx9J+KfwtuPDvw61SWysdrzQmNnSNgVyoByfQ9sZz0PZW+mhGLpStSVPljfmWt7Xdnqra9+X1d2z4qjiZSxSU6rnzSUbSastXp9nb5tLXTeP5hHwBNaRz3M8PmiMPKzKpHXggg89Tnnn06ivla2az+sOlKXIlorNX0dlq727dO3Ro/QYZbCOEVaC9o2r2t067T1dv8OrVtmjh7+1+xJ9oto0y2QDtxgZ56gAHoM/KMsOD1r3crk6+JjCVaUocrbvbTa3rs9Hb52sfO5tL2GCq140IxnzKFtdL77PTb+67rTqz+rD/g3o/a8+AvgfwL8Xfgj+0Lb/Dm50DXLm31a1bx3a6OUaKRJo72C3ur+Iy5KhWSOJlycEEEYr7j2dCnQa5r6X1sum2kn+DT3vufi+a5hmUcXB0aKknLd+0T38k1+Wult4n51f8ABXD4Yfs0+HP2k7zVv2YLnTJPAfiK1Oq3tno2oLf6XY6jM4aSKwZWbyYixJEQOEzgAAV8fi8Z7DEc0VFuLatzXXe2lr62203eujP1vhv2mOy1rEQ9jLlvpzeerc02/JpLo7xR65/wTotP+Es8F6/4P1SFL2ziVzElwvmqqsPujdk7SOAc5xzk5Ir1KWJVag58qWjslpa6a/vWu918neylH5TM8POhjv3MpP3tntutbR2stLedk3flOc/aa/ZnTwZqFx4j8MmS1B8ye70pdwguEYlj5SnKqwHQ7sducZr57ENTqPpqkrarte9k799vVXsfcZPWxbpQVSEeR6O/NtfXtr1337WufmV4v0WG+Wd3g+cEhoNq7o2GdynHy57nBXg9adN8sovfXrZO33Na37Sk/wC7c+k9g60HZ6NbJ79Ulbmd1buuyve58ueItJvdCllutPR4omcloXJ2nnJ47Zx/Djb1Oc7q9OlOM1yytG+nnppa9++l1dPa6t73g4mGJw9WLjC8YyvfXlte13be92rO23W9xuha6ty6s6iOQMoljOAVYMOnHIJ4B565YAD5rnTSWjfe2m+13s312XTZXXLdLFTlLmait7b2fW3xvZavuu259HeDb8farGSRvNt5W+zTRb1ZWSddh3qcD/8AXznINck4Llb1TS0S8te6te/Z3O/6xOry3hHona7/AD6aaavtoleWpoF8lk+raUVjU2WpzxRjHSIuTH1wMBWHA6e5INc8MPKrvVqJPta99r7R++/ra7Jr4iNDanB7brTs7+lunTbofXH7M/7NK/H7xL/xNIok0K0nCEuG8uWUclRhcH7vADDPQ4615OaVamBdoScrvXmetm2uiXdvZ+UlofTZFhKGY8tSacHFp2glaTWyvK99FvfrfU/fL4GfsE/CnQrdIrjQ9NWCBVaaeSNfMO0DhFCBiScYJGPpn5fEq4xyS9/fW19ejVrSer6336NbH6Ngak4tRhhqN4uyajJOyta+tut7J3X977P2No/7Jfwbu9unJ4M0qZHYrFKq77mQDr8qsFh3DhfM/EnpXFJ+21dSS393mW/bXe3mrXvrKz5fXnjcXGK9nTp3T395dfl8rbd1fmL2o/sE/BDWp/ssvh3T9JJU/wCjPIs0sxPUMUztHv8AL174UVm1SquzpwVuqXvO3X132lvr0aklxHmOE0dOnWvpy1XNpLb7LWmqt92iu4/NXxs/4I//AAp8R+HdTu/D0cFtqH2WWWCJoyV3BSdqsUJOD05bjgAda7sPSpQ1i30drbddk9Luz0b873OOtn0swvHEYDBJS91tQnfXreU31b3ivNWaZ/Il+2t+yrqH7PPjfVtPvLJEjtJSFba4SWIsdrLkckBs9unQ5G36jJs4qzxscJKEeTRc6+Lfey2urbL77H55xnwngaOWVcypxftajcuRxhyJ91ZN999fual+f9nZtq+q6fp0GXe+u4LeNIxn5ppFjUdcgHceh5HHHG37qs4exqSbaVOLaUWtUtbWWrs/ON+9kfz/AISnUr4+FB4ekoTny3inzWbs7X09N/npE/rH+D3wl/4Vj8AvAvhvS7KIX8mhQX9wpCoXmu4VkdnYr/CD3JJxxxyv4bmOJqY7H16c1aKqNRceZe6n136766ban9TZJSpZVl2FVGHNNUkmppWT7W37Wd47JtK/u+G+JfCz/wBqm3eL7beXLMRs3SLGxblB2GD6hvwzhnKrTw1Kzsklu7LpbuttX1323PTp0v7QqJ1k4t20hbXrdXt39L93ZGxo/wAK51AklhCE4co0WWB49eMc9e+76V4lTMKc3KCk7dk07eW6vt5W0evK0fS0Mo9lCMqcW13lG/3+b2skr+WiPXdH+FZulSGPThNLctHEgaIbU3EZkJHYA5wD2xzms8PXjOslVclBtapa203bb3XkrdL2RpXw9SFCUpRirLouut9bLe3fy5Wfo1+zL+z/AGnhKZL22trE3jEPcTzQ7yQwBwjkbht55ABxycV9RGrChGm8NaSdt7P1ta/Tb8LNWPznPaFPF06tKrde6/hdn27fm15XaOr/AG1EbQfhT4iu7GNEni02YO8Qxj5MHnPH5fXH8X2eExLlg3OVudRbTTsr2vbW3pvfToz8Lr5VClmvLCU5RdXvfr89WvVeup/Iv4v0y81O61W+lUR+bczSO2/c77nbjHPpxgr074FfK4rM6rqNSdkpWXL2/p9+tuVfZ/UMuyzD0qdNWbbgnrq3ddr3Wuy97v1ufM/i+xurKS3FkSqyKJJOMMGVsg7uBwVU9iOwbGa+y4ZeGruMqzd3LS0nG1utrPe7fTzja6PguP6NeFGUKEWvde29rNd1v67662R/Wx/wTZ/4K/fB34cfsv8Ah34TfFTxaIdX0nRpNDfTLiB7r91HC8MbNuDp5UikDkcdOa/SK2MwWDwNShHkad5e/wC87211kr+Wj1bvZXtH+e8FgM9WbwnRc/Y86ck1fVSu9mk35XTWtuWzPwb/AGgtd034i/GD4jeK/D4t/wDhHNY8RX19pohRUSS3mlZlYKF6MvPHJ7bTuFfimY5hCOYN03a816Wvv076WjJeiaR/UWRYGpUyuH1iN58mu6b0atu3v011u24po+uP+CbPhv8AtX4k6hopiLW13Fl4W+6u75SccYUjPOOMd/vV9rlM44rD805c1o3Vura20uul9+3b3vzTiqk8HjaKiuVNtpvraV7Neq7/AH7S/Sj9pj9lPR77QtTQWEd4ssEjo5h2tbHYchJVUFlViece5IBG3zM0k6E1yNrrZ67ve2y++Leivoenk1epUppOV07bLVfr1STS08rH80/xh+GuofD7xJfQCeW2+zTnyp1DR+dGr8Ae4Xjpz2xkVy05ynC91r5aLuujTfzat0ufV0cPGN5JNSavvdbdna1mt0/Vtq55aNfEkD/Ox1OPlJgxDNtIwSe/sfbgtgGoq4fmh7y6WutE/Lrpp0b0d3a7UejD4idGorXjHTR9NG16X0ei1tvGz5u98I/Ead4o7TUl4B8vzWOQM8DL54GMY469c8Gvn8ZhYU0muZtf3mr+b803fp6K7R9nl+Z3jaUk1a1tPPfT8uXW9ux7vok4uBHcIQY22ujlyVIPULtIByOAf9ofKMYXl1taTul/Vtvm9vNvU7ZQpybkovmet+a8XvbTRLXvfsu59E+DtSmg+zqqksxB3g/Lgc4O4DGMfj78rWeIxLo0NGnHmV09d+vVp9L9L621Zz+zftFbVfC9tI7ffbd97taJSl9VeE4YtZtprW6ZDFcQSwlQ4Zf3sRU/d45JIIBHIBAOTRRxtOm4VNpXva77q+nK1t5X3Tbs+a8Xl9JcqSk1Na+/L8NXbe9rWW92mfh38bfBieBPjP4z0OP93BNMb63UJ8u2YkttzjpuHQe/Ar9a4ax/1nDS1UnbRrbq+1k3e+z62bvY/EOPsHHCYujKmrKWs07+Tfp6prlVtGfql/wSy8EnWPC/xA1owl1Oq29mSEzu8sy9TwDj8/XOBu/MePMVV9rKLaW6slZXt8+y6v5XP1Tw5hTeEhO1p2TWrato/Jve9vd6K6u1L9YYfhcUma4azaRGOEXYvy567Qe/4HPU46N8Nl87RcpSk7Pe+l97ta2tvu/K1rn6TiKcazblG7i7rlsrbLTRfclrs7WuexaV8PrddBe08qNTOPuNGrNnjqMNjkHjjA4yuRXozxPN8XR/h2tf09O2ljfB1JU+WKSXaMo83lzJ+i0fl0VpSuad4RtrSMWrwZMa/u2VdvzjuVwcqCMYGM4OeuamNSz+LTm2b2Xb16PSXle3vb4iCrpudrpdNFf5d77WXqz4c/bJ+GU8/hyTW47G3iMPytcQJ+7n5/1M644lz3AX+TV91k+IlGyTVmotaXetr9Y6aafK1veUvzDP8HT5Z7qVm0uZrXfT3ZNPr89Lq6j+O2rWd5DfWEV9biGW2v4Z7SYENHLDuVJLaRW+6VUngnOOmc19hTm7KStzdbW369t+tk+1z8pxsPfcGnyqTX/bt+9/uurJu9loo+DfFTwNqOm+N0l07UrWxklb7dBKsnlqY5381YRwAcFhleh7YBwveq9NW0d7K6v33fls95O3nojznTm7aXVu3R+et/S8t9OVJo988NXfjjSI9K1/T760t9Ta1W2iu7xPO0O52KAVv7XbLFK7dR5sTcch+csvbQ1srW77731/FbN6q90rkOEou8bdFqr3b2/mS1u1qt7fZR+sn7OtvNrujWNx470fR9JvprGUpq2gFoLOXcu37VFoh8uASknAlbAyeMZArGKpqU6lS/LZ8m609Xa+m2mnZWTO2jVT9nTpKXtlbmSfNFd0lZuLey03193aP6EfBjTvD/gi0GnbUs7SMy6s8t20UusX5diyXF3PkukUhw0NqCqKpwMkhq/OuI849nV9nQcGlJ3TSbs7X/mttb7WvZan7pwRw7VxEKdapCV7Raetvx1bs762vp2blznxx8S+O/GGlXqeF7FrSym3xJcyxlmlgAKr5cY6ZA6A44AJXO5vm8JTdeq6tRN82rdtL31+ze3zW7te1z90y/A0KMFSquSqRSur2bvs03Z32tddOl2fjF4++GXiq0vbm9vbrUJrhJpGZWMiKj7jnaibVX7xGdvTucAt9BUoUnBci3S7bdut9v7vW99z1IYOhCrGUFLmTWspaP1tffp3Wml7np/7OfjfxJ4S8TWWm3N7cyWbv5RtpmZghZ/vrvbIOR3DdeuK+ezPD07JWe135Ptpe3nZv8eaP1+FhGdKSnFOUaT5etmovW2/M9mr636H9AX7NHjO68DfEPwR8Q45ZES21O0iviDzJZXe1J4yOQUAIOTtxxyORXr8IYqeExUI0pLR7b37u+vV/dqktEfz14qZXDHZNj6eIp8043cGrJxspbNPya+K+99dY/1WaJqEGraVp+qWzh4NQs7e8jYbSGW4jEgIZSQeDj29TzX9DRqe1o0Z7uULuySt5ed/RW8r2P4S9l7ByoW0pSlFX1e/W+u+23kla8tWkBvaX/x7v/12b/0COsp7/I1ht8z/1/7hVccA5z6//W2/+ze/tXoHn/1/W39d9h9ABQAUAGcdzyDxge3fj1x/MnrUuHNZre6Xy121S+9ffqKpNqMX15uVeluumnT+bv5Hjf7QskcXwR+KDSzSQxnwdrIaSMgMubST7ucjJOPp14zmssdf6s+lrq6e+8bWs99Oul7Xd05b04qeLwrSd+aGm99fla/W8X106H+XL+0NeaefGPieDVIzcWkmv6rGl2Dsu4P9PuMSpIoAOBhtpKjjHQ1+T4x2xM3bW7vfVr4Xr636X+dlI/qvh+jL+y8K+W3NShprrotneyUtm/d/8lufLGg+HZT4stZNC1lJYZriP96GP2lDu5SaDgElc5bLgg9Rhq7MJVSSbT73T7aPp01evLe3S95PM8LF027R266211+x6dXaN73sfZVzHdaW0ca6grwrYfvVdfMglfYufMi5Eb8sPlHHoOGr1IVbrW3yeunVfnvH8D8+xuEinPl21em1/wDwFb7avTpezOdtLjQdZto7TVLaO2abeLa+ieSWznlOV8t1iYS275x/rERDnqcV30qia6263d2r9dYrf189NEfMYjDa6a2d7tr87NtvSyt5Nyu0WPDHh280bVf7OFmslplnub29UvizbMmLUZcszDADrkYP3uQK1n7+sVey/LZfZbfr/wCS3XNyTh7NW73V1utG+ut7tX10tpe1peyXel3UfhkeJdWUxNeJJDoFlCUWSGBj5cd0+cA/LtwDyBnAGNtZpuLbtbpbpfTbSVr3W/Np2veWcIXatfezXlF36+Xk7a3auuXi/hL4L0y38WKlvDG+p3Re5v7+WMXIhQ4Oxd4BZjnnIzkkcAg1y4luTje3Tu+/zttso8u63PZw1OybtZL59t9fyt5pu59+T20FnokEMhELy7rZ5rdTErxYYqyiVcI+QD6E/wAXFccnaTv1tdX1X5a2v+Tvse7Tm1FLVaLVOz366N627pHikMS3qao/nTCW0uUS0kYkjdv2kMBtO4DByBtJbJxgbsZtrla87/8Ab0b62vd69X997mifuTitU5Jb3ta3lr5fD+Njntf8Gzagsw+33ImxKskMgQkrLFg4AGAMt8pyTt/iODXnyq8uIi11fdK9trWvbVa6eTTv73TSwvPh6jWqcXvb8tXrr18k3f3vxT03S5dH+PF9pmHX7J43uY18wBv3Zu5SpPtg8HC56+lfTVJ82CTumlHezTdrbfF2319Lq8vicPR9lmE1orSTtbvpZbdnsn+DZ+pUGsaeLoxSzPDOhCFCdqlQFCjHA5PPBORwfSvjPrFq0ls79e13tv8Ail368p+iRpOVCL0Wl3ZWXr12S8u/kddb3lvIoYsgwOHUZJx2ztOePYDFNztzPZevZei7/wB30drhCjeVrXlfS6Wuut9uyt+F9jVi1U20LOq+eqpn5iQhwMgtwDjH0/HBNebi6t1ZP8eb5vbX8r7q/MfQ4Shyxvouuyulbbo+z206N2PK/Hvxd1Hw7YTSWWovbsyN+4jfKgkc7d2GByPr1Bzu3V59OnGctXda6b6d7rl32SSfa8Wvd6qlWy0dmlp/et3Wln5N+iep8taf4i8ZfEXUSNU1bUIrGSRylpFKyebgEq7AN1LFfXv0IYt6NGhTik2l+DtvrsrrS26S80+U+axCxdSo7TlZ33b1SbV7O9u3VrpzJ2htad8JPHC6g19cabPc2gkDqYlMpji42s43E/dzll9ccYrunUpRglFrR200dtrbd/JvXVJtMrD5fWleUrttW1XqvK+l79tdXZQP1V/Zr0LQNI8Ltc6/LHH5TfuoJAqyN04EXL7s5HI6nBBx822FrwjNOTVk167XslprdWunG/TocmZZHXq05S5ZfDfZu1k9097O2lnr6qUfof4x+F9J1f4dala2lkjLqGlvcWmVUyK/lhlDAY2thc4YKex3cGvoY4mmqMrW97S3XXp8Sb+LSy8rSuub89r5VXw+IjUcZJKd7Pprqr9F8tLp3jrzfhDeaBM1xe6dcq0MztPA1u4K9HZVyp5JP8PABPTOcL+YZ9GpQrOtFWs73s+jS3XKrW13a06WbP1zIatOthFRqtSbXW7t3e7XpdLra6ueO694LW1FxFeW8ixAMoYEjZ6EAdcnHTnnqBw15TnsqPJLmamr6Xd2r6dL+f5c1m47Zlw/DG0J0VFNSadlbRp33afbZLXXa6OIt/Clppc6XVu91LMWIiKylNhYjjaBxn0G4d+wFe5PiytJcik4t2v8Stp359dmuv2tFf3vmYcDYSpVtUpxumm7qC6trVpJa20al0WjVj2qHTjcaLbWss0hvJAG+bc7BeMAg7hkE46ZOOQPlrz6eMxGLxEFeVpOz+J2XXor9W9F31+17tTKMFlmFnGFo2jptZrysovbTVbXatf3v6BP+CTvwD1WTw1qvibVbe4isr7KweepRJQoO0oGAJznGefrnFfeYaEqeEd3J+7fTyWt1tpfyVu97H43ndeCxyjTs7y+5d1bXzvrtfdtx+1f2kvhDo2p2F9CyafJPbw/PDO8aSiMhgCTkfN2x3zjB618zXxfs6zTdlzXWt7X8tPNt33V9Ln1eU1MTVoxpKnK00tbT0225brp21trfU/nV/aR+G1v4X1O8fSxDESZDJBFjGRzkFQTnoOoyeua7sNWVW22+jve+vz/AL27WqstrH1+GpV6aXPGVopatO67W87a6LW1vdaR+dutyxXpms7pTBKuf3c45lBx8yBihP3cgqSDnsDXanKMlJN2Tv6W11V79fwt712o44qMZxnBwu2uq3bVt9er769OX7Pz/wCIbSfRr1bmyeRIw/zLzyTyxJ7r7cjB5xjNd8ZuevbTfdeenzWt30sr83zcqUqTvayTW/m/NRt5Wi7PvpKXvHw61r+0RYtC6rJJPAp6Eh96ghs9M88jd0+9wN3PWdnrtfzfl5r/AIfpZI78NOLs/PsrO2id+bRfm9o3aPQNSnt7Txj4ktxKiSRy27SJg7TIYULsVyMEkgnk5PQ8/P2YGmpSTW2z0vpr632urctut9zx83xag0l366Lto09Xq94v/ArNn6vf8E1fiKo8Q33hQETM9ylxbsNyqpG8kYOeePu9emcZzXznFFJQi2lZ2u+j+/XXbor28+Y+74DnUrpL3tbJq+nydr9n1i+y05v6UPDt06aOs6mGETqqL5jkuZgB8wjDByvH+z1JGea/M6tacXu9L3d73t9/Tta+77H7jl+Apy6a3ertve9trt2v106WvY9F8G6tfWbSRPOkktwS7ERvGWRD8qiUtuORjIVlIyeeNtTDGuMt7NvveyV7/at31t2Vmz16mVQUUnBaeSu9PuS23vr9paKXv/hKezaHzLtNOtrx2LBmWR5JFbkKzSM3lj1Geec5wTW9PFPm5k76vTV2s+3vffv6tXPn8Zl0XzJLa+2/3fh8Tt57Hd6jOJbIQt5c0IU7BG6sI8jnBXDEH3H5YFenQxN1u7vrpe2vq9N9nfytY+fngJ0p6LS7aXV9rbaXV97d2lbn/lC/4L2+CtD03RNN8QW1pENQvnW3Z1QKzE8nJxnIHTOfrxlfXyJSlmtO12mtbadut3e3a8b6vQ8ri7Fv+watOcW3BOOqb6eq6r5aWasfyt/Ca2WT4o+DLbLIsviTTI3J67vtcXToOuRnpzzk4NfpWOlKlhsRppySvdPflb7xv12/C9pfzrlEnPNaDUbP20Vdp/zrXd3v6/cj+2LSvAepa/4R0ueONxa2Og2EIlIYBtlrH/FwoJxjAByDjOK/BcTivY4mrUnpeTe+n3Wv0u+m+uzP6oy3BRr0KPNq3BaaW2s9Lp9mvefY8x0P4C3pubnxBcW7piV9iSsfmVTwUQc88nPIyOeOF8bMcz+tR5actesY2v6W0/Xyve8fustyejBKTsrLT4dX20tZ+Xvb6J2aN2XwDqlvdxx2dpOY3jOWeMhMDurkbSAfQ7vryKjKsvqTaqzcnd9fLXVu+1v5vVI9OThTqKhFXjp8P97fs7636pderOy8EeHJ7LULQ6nwkdxygbA2lsFR1wO3X164r1sTTpUWuVrm6Wae3dWXp87tO1hZnhaksI3CnfS97NvRJrp89+u19T9N/h/oWnLpFrdWO6FlUMXR/kbHO1s9d2Md+/qAvoYCtz04wbbtLRr8+t122stm0ry/Ec7UqVarCpeLa7NaO9vNu19L3fmeUftG+D2+IHgnxBo0dujtNp91G0WM72EbbCOBgn6+oGcivs8K5ey9nrZq1vn26vt72+9lqfnOIo03iHW5UmnzX8+60u/m1pbRXaP5JPHvw51Dwz451zwnqcMtpIt7crE0ylE2lm2bcjb0OBwMYxk5Cr5GZYGcFKbTu7yVv10tur67/wBxK0vr8kxVCtDllJNxair6u2nnez01u+jd9T5i8X+FIdPvpLDVreWeMN+6nTI3FiflTjoQSSRx/u5UthleZ1ME7Xs7u3L206P/AIHfeyl2Zxk+EzFcrUXpqkr99tU7rtrqrtxMTw/4Ks7C7U2Fq5e7OFlkUkhM8oc9AuQBnr+Fd+L4jniFaM9UrNX2vfV6W0td2TtZb6HjYfhTA4SDk4RcpO607vVq3m924vrfQ+ldO0C2tNMEczItyYlJVm4PoI+cAkZAxknpyTlfmYuriMXF3bfPfz10utV1tu9Hqk7Sid81SwlCUYKKSi7X2t5a2bSsunmndn68/wDBLH4Uah/wlGr+PbhLlLCFfstmSv7uYHaWLZUZxkgY7emM1+q5VzYLDR538atdv1+/T/7Xdn45xTTjmeKw7pxUpU5NScOz7/Donron0ei+L9r/AIp2Vk3h3UpLgxOsli4jR1BVW2YxyFKDJJ+Yj2x/F4Wc5hHmWqbvbR79d9HdWv8AN3vax9Hw3w/UnGno7vp01evW/VdZeS6y/mP/AGs/g5f+LdTv4tFshdKZJnNyqZETs7MUh7kAHPGeOe+F48PmdOnTTbXvPvp00trtbyvtdvWX6LHhqoqesG9F/wAPfWyeu7t6n5NeMfhXr3g65ZL1ZUkiO48YygJHzfePT1PuMkYX0oY+FWPKnf7m9r76JbaWXrZNo8XF5JUo8zaejvqr7dEr6PfZ/fdyjxtvLe2dxDKsYltd2LmAhtzLnBKqM4I6cA+nGcrjViquidl07q2vb5Nu19G07e7wYajVp1lGztZ677b2i+VX0v8Aa762R9PeBNM1W/tVn0S5zBs3C0lkLRoxwSrIcFCDxgdv7vIXwsR+7m9ba2V19/VLZrrrfrqfUYOM5dG9Fq2+q0W1u2t/Lq+b6S8LR+KrdRDd6OZs4UT2pZtpPXg52/gOPQ4G7gxEozotSasnfvfW2jVnorr52stXH0I0ndebW2++/dvya9bH2f8ACTwz4lumt0g0yaBDIjebdfImCc8nIJHbp/dHOSK4KtWnBRvLTS13qlpo3Z+Tu7PdeZ69TD86p+78+vpze9pp2TtqkrLl/O7/AIKJeDD4S+OvhO7lSONta0CX7a0XKPIgi2Fm4zjJwO/oMbV/WeCa8KlJRTu+22vpzWaa3+HVeaR+PeJeW3UJcq5ns+rbj323a3tfpazkfrH/AMEW/B91efBX4j390u+CfxpDHY71DKFWObzdgOCcvgtzz1yBxX5x4hVlHMvZxX23Gz7Xau3ra6V7+XTc+p8OcLOOCitbKKXfXli2+3VtXbv5XsfsLqXhGPT1eSYeSYyCDEPlDEfKCvYEn29+wb5KM5UqULdejW7dr9vJ/O6ulyn6NKTjOStfprpfXpZy02Wr000erjPoWnxzo4ZSW3HDgjjj04x36/TnGa0ptvXmd29+nlpru359/e2NcOtLvf07bem/n+sbmoaZHHlzbJNckMil8DCj7pwgHOf4uPT5eDXXCElZ3dv5vXp1u16adU18XVKFkuztdKyTut2+u72Xa9z5R+M/hCPxVo+o6XqpFpC9tN5dwZHMUb7WZXdPmGY22nGNxOB8y7dv1mU17yhFt3v99tkr8rei6r1tb3vk+IMKvZSaV+t7au6v0irbJrTW6d1Y/Dz4h+DNU0qTULXVUhnjlkuotB1XTlR7dr2zJaIXSnMkTzKACpC46Ak19/h5c1O9+mt/e2t/hV7PTdX0v7yZ+L5jQ5asrLeTdtH5/hrd3lsm/wCaXj19o3grxrp/hJtc1TUF8SR6m2lXAt7MLBZpFsUS3RdfupltxJwduAGwGX0/Z0+SLlLVpf3rPe1/dvbTs+m+p81UdZOSSdlzLRdFt121XXrZtWZ9X/C74Y/Abw1BfajqXjeTxdNocyXXk6tDPp2lQ3G0lYxbrEH1ARycIFKoWGCSCDXJKrRp3vLd73WvbTbReemt+qlthsJiKrslfma1s3bb3VouttE23Z7WZ9ifCX+0fHeoSXKWR0bwBpskdyt4kPk32vXMRAtrCwjIJgsGPX5VUquSTnC/P53nMKFGUISSt533S0dnF2+dvRr3v0jhbhL6xVp16urcrtNf5xe9klaL8r3ufd/w18G3vjvxMmkWVofsUHl3WrXUSArsT/V2UkhGBsUYAXOSD1ztr84dKrjarqu7V/7z67395bd3dXtZ2P3rBzpZNh40UldRirrl0aS1tZNP05tL3a05vtTXfAGgWWlx2It4sRwLEy7AGJVcYPAIPQHHXI4AJrvqTWBw97pPez6LfytovW+172Pdy7E1Ma/bfDHmt5pLS1rt2+fRp3v7n5x/Fn4R2N3eXkcFuApaXaoQE9eSOCSSMY6cHB6A16WWYlY2LV7rXq+nzVu+i189j3/eUlunfbslvv3tbVu+6s1zHwN4k+GVz4a8QPqFgZYpVYMo2FSCjA4/iHzdscemfurjmFD3amjuvnulrfR6NX69N9FH6jLKl6tOGj5k4u3ntfeyVrednZRb5o/pv+z14oudd8LQWFw5N3bwRx7iuW3xjHBOCHyCdwHbBAypry8nqujjYuOt5fD5tbfZu1ZN69NnfmPk+PMlhVlUw7hdVqcm09N4xd/tbtv0Tuk3qf1R/sa+On8c/AzwtcXE3m3ujwHR73JUsslmzRDdjplVU5xg9RnJr+g8mxDr4ZK91FJ/f+L/AA/Ny/zr4zy+OW8QY/CxWkKqt/29G+2jTXaz30dkj6q988en9c17B8r5W1+75f0vvub+l/8AHu//AF2b/wBAjrKe/wAjSG3zP//Q/uCVTwccZ9fQ16B55NQAUAKDg/4+/wCf+fTrQH9f1v8Al94hBBB9QTxx1xx1x29R+GaFNJ21vzR/rbTf+9+NiKsXyQfRTv8Ahbv5N/hbqeBftSzG3/Z4+L04IUw+CdZkBPABW2bv6kcY6HoawzC31Wp3963frt6d1tuduF/33C6ac1Ppr8XTzTt6dNz/ACyf2h7x7rxNrcm44m1bUpARwP8AXuxJHJzl8jqCcnIwDX5HiPexFR9nZ3u9b2vfXoui/Jc39fZFT/4S8Ekkl7GGv3/d0tv3V/hPLvgjokl94un1BoXI06FpiVDfKMN8xIVlGDgnPp3B+Xrw8Goru3bvva73VtNbXfa+r5+HOZezUob6S387p9enfS26s2kes+Ntdkt7looZ9ioxZ5FkODu/hY7fm+XGQR7cYzXWqsYfE223dJb2673012t0e90fFzpSqN7Pm2upKNt1/M9+y36K5wPhTW9Fj8RwSLfgiWT/AEuwuAy202Tj5CGIDliCDjnggnB3dNPERv7t7vp6Weuqv2S67afEeTicuqrmk+W19LLom32tbW+29rJ3Ppnw1PcS+JdOfxBK1zptvNL5UCuV22xTfbW20ZG1sIi9m9skV6dCtGUZOzW2nd3/AOA+nd+9do+cxVNtqyUbKzt1V09dFv2u99LanpPxCumdxawL5UFtaW1rHZxZdLW6nxthBPAaJchhtypOMEDNTUrQjLVN9Vbb12XVrq++ljnoUJczakl33tb5ry+e2l1I7f4IafAmr3s0Cb2tbeOO5u4kEu65YbiiLk5kGCB82QexIIbjqVVJ3+6L0e/f3t009vPW65fcoQ5Y2afNzbp3W21vLtbR9ZX936R8SyvNFDZtI6gIk/2W9QIxUYy5xlxnOQM9D/Dj5eeTs2738/8AL57XcvU7IRl5a/fZXuuu/wD27a32tjycyW9nq17HbxBvOQSPEvzIqBeXA/vbgTzjGPoWwb55KK0vd6vtbV6R+/ppptzdCg4wk7+uj110teXpfTR6/wB0v2N/bahdSPMgBMSRbmIAJB28AdSR9MAZ7Ybxsa3hq8FJp8ztp0+G27u9Gr287817R+iyumquEq2tB8ml92lzJ/PRWV9dPfim+b8TPijaReF/2r9Ss2AWObxLbXSk/KrC4mBDDIAIO4H6dzjDfV0Ye1y2pVUrLl2fxL4vlfV7uPe+h8DWXsc25HvUkuVxsrcvTW767WflbRx/UzxX8K0m06z1izXbcT2kFyFVSN++JXzn5uOc8nqf4s/L+fSrWxMr3SUv8Oza26/PbbZxP0SGGl7CElZpxWyd9UvPvpvreyir+9xdhZXVhC0VyrvIpxgrnGc9emc+oBPfdkkVVXGQcWrNfdtotNd7rqtPk+bbD4OcteZfO62elrRb2dtei+1dmk8iC3kZoZSSmCACEOBjp06n0Y9sV5Mq8alVRs7N2vfv9/537tbnsexlSptuWy2V9bdE9tN72VtdNPe+ZPim1pLdRWxtVeeYKkKBeQeOWHIOPQr1HU7mNd1Ki0udyv1tuu+ul9Hr878srWj41fmnUUU7K+nXbfa1tL/LvaLOp+Fvwx1WOeK/8h5AyK23bgxoRn93gEYHfPqBgYIqK9d01ZXa1X9bWvuvvV72PXwWC5170k2r289tLrmerv001tzJvl/Tf4RQ6bawwWOpaQlyPkDSvGplwSMlsj5lBGOrDgknjLeXHGyU5c23Zu3Xa93fS3RdFpe0vewuAXtP5kop9+2m1+nd/ZXT3fsXQPhX4G1iQ39lb2ttcMwJ8qNBFE+dw3QfdypOGKocflt7KWMXSXLouZ32u93ef9d76npzwcKlNwcEm7+81fdfD5u+u8fN6oPEHw81KKG4tGdNTtCHCfZ2wU3DHKcnp/Djvnjk17OFx0ZyUHLR7tv/AINtX1TWyXROXyeZ8KwrwlJScbO6tBPqr7NN2Xfm1vayVj8nv2jv2cPEuh61L4s0DT7i5Vz509rDE4bG7O4BcAMoLHqOeOeDW+Y4aljqHI5qNrrmSTf3X2bfna97K58jDB4zKKy5KbqKLtqtLWfRSXdXe3RX1PjySJtVk+wa5pU1s0DfvTLEUlkZSRsOVOeeOeRgdc4r4mOSzoVX7Gs6z1tGzV1vso6KN/R2Vr3cT7LCZpV9mp1MNGD5Xfm8+9m+iS1a8lpyFSHwrYX08lrZaU8k0jqtqkcZlkEi427Qo5Jxxnr7/ertw+WYupUV6S69dGr9mo9X3evey5uHEYqkm63tVF3vy3Wy0tutbaqz0Vr30PvH9lr9gX4hfFrxVpWpa3o15pPhhLq3eaS5t3XzolfcwC7TgSAfkRyBxX32WZI6XJWq2hFayfu9V2d/nb/wJ3TPzriPP8S6NVYeKqSs0kpPXpspPT5bJau75v6o/ht8K9C+EXgTTfDOhWsNpBZWixIQscZEgX5nJwD174Y9hnJr2sVjKFChKEbO8Wl899NOi87Xvo0fAYPC4/HYmNarQlpKN9L3t8uvZbau/vWPlT446R4am0vWv7VulN3cQzH7T5+2QMgJQgr2Q9gR06HNfm2ZVouc5qSvr7qtrdvR6f8AB131ufuXDNKrCWGpTy+HK2o+095OPwr0frtpa0vij+Qlh+yXL8dNQ8Zazf8Aiu08MeDPDkF9Pe+ItR3SRRSQwPJDbLnO8ysAnCkjdwTk7PTyebajd223emv/AIFu+1rLXS1o+zm+LnhqrpU8HTlFu3Ndp6t2astbJ/zO/XvL8T/ij4XtrC+8TaNpmixa+NLu54IPEEUThore3lcC6jY7fLhmCbgCSf8AZH3a+klO2mmuil18tLPbXtfrdrmPLWF9vF1Ki9m5e8oLbpvo779Gu/RHyXfSJqEVzp9zEhnQMEboxA6AkfMeFHPPptODVxlKktuZW69d9PK133tqrPY8DGUYObp9L6aJ22779b/Drstbmh8JdPuE8R2tmVIV72LYoLEbg4yMYA7eoA755WsK9fn05bPRrt99k99/d89bRRyfVFTi2py19Ft/w/aN9OiRueLtaNv4/wDGU+SfN1RbdRn7pjiWLA4K/wAJbHPPXcATX0OUJzpOp8LSV13sne2t9dummiaukfF57FqpG022nfbfVO+lrdPx395H6uf8Eu7OR/HGoeIZYWaGNo4o2fJBlw2SD0BJPP8AD2yOQ3xXFeMcpSp8sdrb66XV+vey00WutmfsfhdhvaRjKfu3tr630tr1t26N9Yn9MmhaxcXi2G5I44o/vAAgqCOSAuRnHIznJ9cV+Y4is3e0Ul6Wv080vul1vsf0PgcJGEk03e6b+Xyj1T8+1tGe3+HLf7RcRPHcSIp+4WbO3B7DDBdwxngHnv8Aw8caUJu8qjXNrpay+WnXTS9nd2W56NdShFqyk/u7p7c33203SVme/aZKfs8KSIJHXgMyookx/efGTnr6HJ+7kFu6nSUbNVHZeSfl5XtpfbtpdHgNe0cly7v101/w3t6+Wtve37e8nLzgLGsKgB0zkc8ZXtj2zn0DZG3qU3FqyXpe7+/Vb+Ub3v0SOOrhU7tx1f3r00f5yv5p+7+F3/Bdf4Xf8JD+zaPF9nD582iajbzM8aklYnJDeYwHAXr0HQdK+u4br2xlKpyxvHSzWjV1r9qz9L727I/OuL8NfKMXe6cZO3pa38rd3q7u3bl6H8VXwwuY7X4o+EXdR+58U6YcH/ZvYznPY++B0x/tN+j5zOTwVScY6zpu6vdK8Xa1lda6Ws/O6Z+AZP7OGaYeFk/30Oa9v54+Xrp5Xvuj/Rd/Zr8EW3xG+E3hSytvs1vZXum2s15cOq7QYraPCmRfmAbHAJOM9wcr/NGazq1sTjKT9yNGdk03fa9mv67+7o5f0+qrwNPCVKV5Rqxi9Vay2ffbzv8AO7Mb4neDm0uabTtPNrBZafJ5V1NGgAkRGOfLbC5JHU8HGCDg4rzMtwl4Va8pS5qd+VPZ6dXd2vo9d/O3MfdZTiliKtClJuMKjSnbRq7+dnra9uuztcXTNDufFegf2bpp0e4j0+23RlvIhugB8zqZCoZm4HB3E8gdSK+kyzMufDuHs4RalKLtporpW1kru/ffV3TXL9lj8kwmCcMVTxFSo2ou00t7baJOy6O+2murPAtas9M0jUlsGZGvhK2YoxucFW6DrnkEA59+ciubHQu/aKb06Lr+q1b6/fY6HyVsDLnjFWTekdXb0ve9/Lra9j6Q+G/ic2tpaW9w0kELAiaKUHjHvxjgjuQMnIP8PXleI9mldq/Mvw0Stvp2u/LdRj+KcWZNTrVKmIhzKXRR0Wm2lrPr066XXxevaxp+majZve291EwZMPEjAZGBkNzzxnj8SrYyv6Fl2KhPl5nFXS0vppbd6a+drdrH4jmWExVLnUI3je6upPTXt2t16drNS/In9t79j6Dx/Zt438GQLHrdvEztHbxjdMyAtyUAJZj79+c5Wvoq1Gjj6WrSSjy3Wi+e6dr263trezPnsHmOLy+u4ThKLlO+l3ZrfzV9eum6vdn4S+NPA3inSLwWnifw7fJc6cxiZ2tWKMAzKG3FeSRkk4HqM4r4/GZBGPM6UpuW+7W2/daW6Wevmmfe4XO4OnGpUjO9u6vvfrvffr1d3e5iWmiXEkkMOlaHeXMkx2eXbWrvJ5jYACgLheSOmOeeMCvKwuSVXN002ufW8tN+ut3ay726aptm9TiDCyiozp1W0rLksl6Pt87X26NS+0f2dv2HPix8Z9a0+fW9Jv8Aw74VhmjmlutQhkgeSNCCYVLKv3xwMnP0z8312C4ZjhlGvXqw93XRv5W87rXbs9rS+XzLOalROlh8NXlGT5fejFt29PJ2V363P6LPg/8ADrwf8DvBsPhvSLZPMs4xH8ipG8syoAzO2MNlhkNjP0wNvVmuZ04U6VGg4uVO92mn0tvbbRp6a9ea/u8mUcOYvMK0qsadSnZ+/wC0i7W6cis7W66q3a75jlPiNrFzrcNzHM4trKVfLkiQNsYhSQhkOd25RzjaCeCR0r4PMMVKrK8nrvZWX5X37cvTrZo/ZsjyOll9KMq8ZNpXdtNr6Pqt7beV4q/N+ZvxruZNImmsdO0qHAQlboJkSo2TtjZeVbkjJI+9kkAV56quaUZuyTun3vvdXV/XW1tFufTe2wte9LDQlGUUuZycWkrPt206WuraJs/Nb4j/AA/i8VPcNLYTQTyFs+cu85xyVf8AiGT2I7dSQV9LD432atF7ed3bW3R2v59LaK7Z5eOy+NSLvHXe2nRJ9OVp79d97W9753vPgVKQXt4xE8PJlCZwEOWVxwCDyD3xzuXmvXo5jNtaxd076dO60Wq0f/trXvHyWIyynTlzxi73srXW/SzTT67vXbQ6bwf8Pde0eX7XpVuLlYQpvLSInzXXvKkY6gjJI+9+Yrnxc41E5NpNdE/z+K13Z9V11XvRMPRmpJQVrb6af+29dfnsrWl9hfDjWtJVoYtRtmtZFYK0d1Fsk3Kec7lII44LDpxtNfL47GShB07x5b2btZ73Wt42215Vvu39r3MLgfbSg5J3bTVtL2d9tddE/is731TUD9C/h9rmiTWkEVvBZrtCAEhN2MdV6AngcHd+HBrzsXUpqjCSm3PfV3WtmtNFto909H5HtYfL69aeq0g9Glvvq1q/P8dLWPxq/wCCq99Dc/GPwBBG0TNFot1K2zGcBIgDjpwe4xnsBjFfq3h1OU6TqNu8Hor6S6K+9/mtX3dj8g8SYTpzUJJe6rRTj1Xf5a3tq3fSx+0f/BInw+2jfssaXeAMr67ruo34AHzMqTyxE4wMgDpyfUY3GviONJPEZvVc2m4zm1bbSTts22rO3/yLXLH6jgeKpZXTna0nCN9Fb4Yt2Wr8tbXtrtyn6c60sn2ORJgGkIyAy4ZgOm71Azwe2eq42t8csRVq1FRaXJTd46a6PS/V27K3T3Ve59pXw1PlhUu+aTV9Xypv5q23bta9nzc1oCyQK7ZQB5SCpznJ5GPTAI6AZ9sYb26CTppv4mtNNO2q11drf5XaHSpqNkrq/wDl1XX711d1Yj1O7mjvGieORcKzI68qQeNozj29sY64ArejWbk46cq20au/x/K/XXaXdGEZRTvf0+TT3138tb2b+z4145g82yvWmQhRDIGS5+bzN6n94BwDt5PJXpjjad3pYLFTp14qKjrJbrZJ6q+m/ZJbu9225ePnVGEqMk1uvspfy7+S91Ja66O0b+9+FHxhuLzwn4s8Q2VxDNPpl/qDuI5FIi3SMwt7iEnIiKsRlkP3Rg5wa/Tcvq+0oJvWVk/d00UfnutvNq1tUfh+d4f2dSbS+03rrdX/ABfXpe1nfVniHjHSbMaFpl1pl2NITVJFfUZBGHL3G9UKeaF3KCTuYgg4Ocnad3o1JN0r3fw6a9k+l0n2eis7P3nY+eo0lUqRTjF3fbV+T0duq1un1srs+pvhF+zl/b9tZ6lcahPf6Zbw211c6jIH+xwllDLDGr5SR+uC+7GM57V8PjsbXVVwvZczVru99NtYrXsn9zvzfpOU5HhfZRqcr5mlJRuktndv3brdNXbts72tL9M/BXh+2gj0TwtpJ2R28CrGEGZJpicDYAAWYDknnHUdc189iJTxNZ0puTj0afdK6vs9WmrJb8ttPd+7ynDrC2lHSO1mrdX20012fWzufrr8EPBWmeC/CtvBHp7tqFxBFJdzeSPtE15IMjzDs3HDNjktj0A3M3vYHC08PStGLaafxa/e7J2ttfda6NpR9KtiKdaolOXV7SS089ddFvZPVdGuap43srp9RmllRoEyMpggsy9cKOOT2J9yFH3vmOI3NPki1FW16N362V2mvJ9Hq7WPuMgjRjQSSTSk29tdkrvq3vtK3bc+X/EejwP4msxIoZbsuojYEbSM8EerYXOc88epVcMV3CTh0la93rt2fbXr63PpakIJc+vVpeu/W34q2mrvePj3xR+FVpNFLctYiN9waKRIhggjPzEKTnrkZ9zg/Mv0mZcyjJrVTSd/Nafi2t7Wdt03y9mS1vaYlO9/Z25bK2utr+9qn30v1ve8Zv2cvDq2Wo3mnTKEWORmU7duUbIXHHJ98YP90ZO7wstpwdd1L630/Hpa10rdfus+bt4zm6lNYuKXtoRaS3WvLHZ73XeXTRuzR+/X/BOzV1isvH/hcSN5VrfW93BFnIQTIPMYLwPmYckbcHJOckV+1cJV3U9vTlZKKhyrqt3Zt3VtPnurbH+enizlvsM1p5jJSVTH1J+0W0fcjGKcVZdd1d/KzP02yoAxuIOP/r9ufX+H+lfZYj93Hmj5f09722b++1rH5RW5Uly6y008vl/wdrd1Hf0r/j3k9p2/9AjPoOx9/rWEr+6273jft1f9dPxvIp35dd276f8ADvt/w9ry/9H+4ZPuj8f516B546gAoAUDPFADypOOOgA61k/jXm1/X9fqFT+HH/F+j/z7/dY+Xf20bl7H9l34zzqCT/wheqJxyRvhK5/DPTj8fu1GYXeEqrup/r6fn9x0YS317C67zpr01/rtv6qX+W18ckP9taiBlt19eMueWAacknaMngAZ6c/lX5PNXxNRNfaf3c2/kt7NPr0sf2PkGmT4NpbUYLfooy8u6X81r9dHL2/4HeFrXw7+z74z8e6hbKt/rWtW2kaXcySKh8iFwblIFALOWCkMQVHQHH3q9BQ5aaaXTZ6emvN302fy2Pnc6rc1Xl8+nn5a9Glv31f2vknxxqxaSYjJDyPheRnrnGRkkHOdxzzzjnd5uIqt1OyXury++19NdtktmeXGlpBtbrffXz95fn01vdM8PS6li1FJt7IUlWX5SRwHBI+UYJPfleDznG5uvDVL202fd3Xmvh3S816W5ZRiKanF2S0+/Ty6t9Fbp1uz9L/AEtjrGk6Br0b+b9ntobi9hcKFY2SAjcxOD+8Vc5xxxxnLexRqRinb/Cmntr5pNX6b6PR6HyOZ4VQdO1tU02vPy5l30s9nsvs9ZO91NBFdywbZHkutRleWTzUuLueR2R92BhIgQYxlhgKMAgsynJNt6PSytdPV6rbXZ221va11GPmU6clJaWW7V1a3nr101s35PaP0v+z5oH2HwnNMgmWe+v5r5mtohLc9PlG53Ubd3YHIHIxkrWW0ZXXXbftdpaXsrvfVdXZs9WitG7a2ST/4F7u3zslsjrPE2qWtvcNeahM0sxhljiY7jJ5ifdSRPmG/IUN/DxxnpWcttXdbJ/k3tp6/K+x1QTv1e/m99dLaWbu77/3rtx8etPtV1JM0Bdr6ZS5k5KLG2Q6DPI+XgDHHv91sHJRkpP7KvbsvP13031vomdMIKSaf2v0+/wA+3q72Ol07wt4pjEbRac08jsGQjuhPJ/hAIB7g+npu+VzPFxqYhO7ajLpvpbva+3S1+re59Jl+HnChJK7utkrt6yf4X2a36L7P5H/tweGtX8K/H/wr4kvdPk08atZac+XyUM1lIoJU8DLAgsCevORzt+zyPFxxGXYmi3blUU7a731erv6e9ba6tY/PeIcLWwuaYOo07SlJtLTqk1v6bPstNOX9ZvCPjm11nwH4VuLiGYxtodnE0yW8jo7rCm4b13YwTnk9+h61+e53L6tiG7395u2/frpr30120P2Hh6jTxmDjzatJK3XZW79l1VtX2RVurLSL6VWjVyZDkIsTgk9Bx5ec9vfOe1eD9ac03zPtu76P7nv2j6aHpf2e6c5pq0Xtp081a3npf1VryrXvhmd4sW9jKsaq25pYwgGR8pGSMkcY689duML04aV5Ju26te9vNb39NNVpfoZ4il7jWl0mklvey13aXXZu3lf3fHL74XR6jqrXM9nLcGI7lf7khbuqAjIUduDgHHPFe6qy9mo/rd+evL8tb7bO1z5ydCTqLR76LyT6929HvF363ue5fCLw5eJqzW8sDJBb5CRPjcE9MkYfBzng+noF8jGVVr2b769V8uv2d1qlZ83v5erNJ3TvaystNNdU276efRRaV5fXUnh9NMSDUIbaeCZYyExH8hbHfHUnjuSOcZySvkRlzzkvS69Ha/bTf+91irKJ9jg6MEuaWmitrffX833l0jr9p2k6l4q0mdLpGlZpXzBBBkFUJ4eRd3zY+9/CeCPam21HSVnfW99O77O19PW/c9OFOLskkkttL31Tv0b0136W0s2e2af8VV0azs7G/tJr/VbiT9/P5bReXD1LEHOSOTk/3cjGSKyWKqUWpJ3vo/8AgbaJdXzNvtowqUaXLeyev3J6ebt+N97XTOui8ceC/FUF8b23jS2sQIpLq4jTZLu+8ioVLMV6ccdCeBlvWw+bSatJ262fn56W1be27skl8PBWyrC1vf5NUv00v1VtdNXurPVxlX9lX4NeO7cancWWiqk+ntqclyJ4IT9mZuFPyhvtDHhYvlchsjIrqp5g1VUoK81fS3fd7/Pfs7p2Pn62WYarOVCv7tGV+Zxcla2yuknv0SXzSfN2Pw0/ZQ+FfhS4bXtC8EaTrzWcKPt86C5ZSZWUSPFvDhyVJIAyAMlUBrthm2LU1KMEuW3SP9d+/knLQ+azDhjKql1CrNLXRyqf8D0+5u9os++dG1S68OaXFaW+i6D4Zi+xrLbROEgNymMDyJPuBx0GXHOfUhvUfEOMdGUJJKNle6Wu71ej3s/LbVWZ4MeEcpVXng5Smtouc7NrveL0emj69VqjzrW9U8Va1FPMiTQW6rJzLdKEYhC2E2ykFR1U8Ag4K8g14eIzOpUTTk3o0nr3107tfPo9mfRYLIsHRafJFXtro7Wa02W/b7Nr3asj4n+MFnrFzoragIJNRMn2xLmzt/Mku7aO3Ulp3jCkmALz5gGB33nivHU6lWrBPW8r20+fo3Z63a7Xsub7TCYfC04x5eVS2Xrb0S1722Wtvij+UHxF8S+PNM03UtM0W+vtO0S/nJl08LKLO6lH3PPXKqz44CkdxnGPm+ry+bgrbLtr01SW+/drrfXY8/G4XD1KrlKzaasttO709He2m1tLH5m/Emz8WWg1ImO7t1uyxvGgRkUl/wCCYAgFGzxxgDgZFessT+8jdq11pfS3XyXld2e+lj5rMeWkmodEtGujvqt7X0au1bb3dGfGg0TUG137TLEUiBKs3PzKTz9DgH7wHrxghvTnXhKNk1dPXdf1o+/pe6Pja0ZOq7u3vX2TWnXsul9HZa2dz2j4YaJa2fiSfVpcfYtIsb/VZnzwiWdvLKWZuQASAF6eg7mufl55Rt1aVrd301Vr6dHfyIxc1Sp66Stqm72f4fhLTrZ2Z8pXniSHxFr9/eICz3+qXE6jkljJO3lY9c5Hscdhw31VGLwuFk9F7jbVv66+rjfVPRHwVeaxmNhSi03KdrerWvROytp2lu7Nn9Ev/BO/wifDvhXTp3R1vLwJdSZ5yzqSvqcrxyTz05ya/K8+rRr1p639697fe9OX7vdt2e5/S3AOUSwuEpz5Wrpa6bb666breOuz5dJS/dHwlNMYYEdPvKnz52555AyeODnvgEZI43fFYmD1stL2ve21vXf10s97o/ZMHTUN9Eoqzs9fXV2WtrNu6vtpy/SXhCMvcfZ0JUIqtvkyQmByeMA4Y/wkDnOT/B5yjUbsk/i6a6t9t7eX3t35TrxHI4P/AA6312V29bt6aX29L3PfLEym1EEpEysFETD5WPTng8eoz93uOAa9VwlSgr3+Fb9dNf5raPe3pvaPzVOSlUlG1/flbfZPfo1bfr31taMr+bp+W5aCQ4lXd5jKegAG0H055PTkdadLER2fT5pv7t7aPS3rZc3a8PBpdXbRvR/r0f8AwXe0vl39tT4b23xk/Zs+I/gqCN5L+80S7ntI2GczwQvKgXcAATs4PHptbrX0eTV3Trwb01Xn13+z3v8A5XUZfEcS5f8AWsJiMNTTbkpPSz5tNteumujtr5Sj/nVa/oN/4C+LEtpewyQSaF4k8q4DoVZHtLz5s88EEEDk+uDkGv1eVWOIwUbtWcf0tbrtq99tNb3P5Z/s/EYHPJRlFxVGo3qukZXa36dNf/AtOX/QJ/4JvfFSHXPgho+niaOQT+HdNuI3HLGKS1QMUPUlSCGx0K8oTtC/zPxRXlhM5xlKMdHVdtL76btpP7/RxvzR/qbLcNDMMhwOJevLSTb7O/qreduZbLTVHtXxM0G8vTO1tLK1nOXICqfmkB+bqASAOQCMfXivFqZjLDUHBr41b5NaaW+WjVn31PayKEZVlJNJQlv0Xru/Pd6drWj8rX+gax4fmll0u9uUklJeWNGYfP7KWUdeCMkjod2QanBYmbaeqUm3bXrrdvotdN1ddLe9+jVMwhOgqTd2k1e93tZaeiXWXL03OAg1C7tNVN7dxLNeOG8ye4B3IRzv5brx/e6dAMfN9C5uVNX1vq+y+/y2u9u5wvGqEHTuvPXvu/Pay1Xps5ew+Gfinp0kRsbi2RpoYy8j7du1RnkOeucZA5PGPQLjCcozvF2Xfez7bPfa+l929EfO4+hGvFqW0pbfld9bf9u7t2drS7CTx9pLosKTNCLgZXZIAee+Bkge/brk4w3tYXMZ0knzO6av/lo9de++3upWl8xiOGKFSnKTimlr0s29l8t/uvsX7lj/AGOt1NqUNvZu/lxrPOgknY8/JGfmYYPJ2kHnkg17dLiapho2Tb5tVo9NbW6Wvpvf5anzL4Oy+rXc6sUpJ2V7W36bW+6XdbWPEfFXgXwF4kkVdVtNKuJpijbZFgMjlm2ZJ2/3m2rk4y3JPFa0uKZVZWau9bqzWmmlnb89bW0SR3VeFsso0XGMFrpsnfTs7Wemu67tWsdr4Y/Z++HXgi3XxSmneF7FbWDzri3nayknjwwwQgBy4Jx8oY8Ybr8vXLO07QpL941pJ6b/AC3vZ79bq32vnlkWHhWtToKpG+t4p3a6aRWy1erteyeqPeNOtbfxBZQtofjPSBZJAkz2NiFtSsaryp3bIw68feClu3+1z1KmdV1KXt0qf8qm1p6a3ersly/Pc1nhcNh6kXLBwdv7j7vbR7631+TaPEPHHxK0vw0upWEul6vqGowTxrYanEGe2znEn2nYsirAeCZTtVRyTgktwuVWmpc7bctG73v0vdb6a3tHVXtoezQqLExprDUVQ9m258q5eZOyV7pevTzvZM8V8V3PjnxbdwSator2Mcq291pjaNdM2n6haRpgJ8rMiz7WZn3MA2DgDHy+JXxPvay6u99PwWqatZ6yevmz6XDcvs0sQ+ZPR+a78uuq30f2t3Zc3G6x8LbwRC41vaIr0NNbB5VY2o6mCUMWBOe5x16tlSnBXxfuw5W7uWvz/wC37+t3r5WXN00qGDvKVCDUnH3m0lffZ7L1s2+l7WPnPxz4K0gkQpAqBW2l1UBh+IUgg7f9j9aKeKkmrO3W929Fvpe+l/Pza05nVoQlF33WisrJ9bdd+j6dn8J5He/D+0eZltSreUgchVGGB+8pBBDYHXnp0IxmvQo45xlf53v+fvPWzvo7dbO3vfP4jCQbbvq2tNNLapbP9Xok7aM5O9+DHiG3uYvFfgxHmRSHurUJkF0xlTgDaCQeGG0dTkAV0zx7km29LaWfV9N1vpp66qzM6OBjzLlVnezenpbb566Xur3sz3D4XW3hbxFqEGk+ONKttL1HeIpWlgRX35/hYKynJXPBU54JGK8HHV+eE3rurX8np/Nvvd83yaTl9Hh8CowXKrtK+kb9PJdUl566ctpOX3P4Y/Zt8FMIbzTbyZlkG90guAoRVy3y/KAuV65+nGcr4MsZKrOFK637tfduna195X30v7vbhaiw/PzRSdtrdvJy00s+q666M/m4/wCCnxsZP2qbbw9pU8s9t4e0eCzT5xK/nXbRLsYpkHJBx8vXg461/QPAyeGyutUcbcsJSvZq217u29uln0ve5/NniZjHic5wtCF+WrVjB7rTm5drS1+fe9780f6xP2FPhZpfw5/ZY+Dun3Foba7k8N2+oXW7/WM2ov8AasOmABxKn3hk45wMMv5bn+OhWzetd/bnt/jltv8Alrt7rty/pPDuDeGyejZNe7C901f3F8/mr3T6bnuniJIHup2MamMKRGVHHJxjtz6ZB9M9a8KlViq9Rq99UuttLt/Cm9P+Gd0z6WVNyw9NNvSS/Dey+S6vVaWVnLyrdBDKyAuriQshAZhwTwx9hg4wPqc17FColSeumn/Bta3knp56BCnte11L/g62u1ffr201lFupSYVbpWLTyBUDHGxMYP3W25zx/F+WMMqFT94tdui+b30+7y1TV0d8Y2Xo9l5fNK9+r/W8fMPFWdUZopkZZYIWzJgLG5bLFT1+THAYHr65r0o1ZQqQdtHJW9dbt9u+uy2OTHUfa0mrLrra/o9raLTW+z1SSPyO/a28LbV1O4jjcmazl2Fo8mJ4H3oUkAxhgCPvA44BBBVv0TKsQ3h4avWMdul0rLq99bu9ubW6sfkvEGAtKTsndtW9NF2v+ie2jcfkbwtoFneeDbRtettTvoIrozM9qvmxW6/u/MDLgvhcFiSnBOBnBLe4q16Tjq91o7ad9b2v0s2+7ifG06KpVo6aXulo3v0d117/ACkto/qF8NPG3ga9+F+nQ6NqqW2l6QkVl9jZEguru+EeyNZIx+8n+YFVwvB4OM5X4TNJctZt6Nt3WtntfXW1ul+bq9bXj+q5DGMqMU0/hjd22uujvt8ru2lr+9+jP7Enwgh8a+NdQ8da48kel6NZwW2lWk4HkrdNtdpirAkkjuCCB6gtXTluHpVowqza5pc2lkn0XVNdLbprztE9bFVZwhOnST0W6Vt/eV+ltbWV7Nbt6R/bDSPCWh2TWtwUSOTyEmDRBWt5mRDgAYz8zDHA9DuII2/TqjQjBc0ldL8H/wBvJ7PXvu+V3Pip4nGwxSVpNc9/ifXs9le1/tdLpWaj8tfFTT44tUub1eC80jmHIxG/PABBGCMEAdc9QSAvwfEtOEqsnH3koR1toraa/e76Po+q5f2LhOvOvhqblo77XfRrp8/ya1PifxjdNBq+mXY27or0HdjHyFlDgjBHC578n0ydvyOW4tUMZ7O7u2lbbVb/AJuWjdvP7X6LXpSWFcnta7791tbdprb7m2etePvD8Unh201EoskU8SNwARjyycldvXByMlRg9OK/RsbBzwcKl9XHRPW3vWd3fotvh7LueZkOK5cVUptvWUN9Htr2+Vusdb397wT4Zx2EPii4QOqBuMKVIGJeRgYGdvrjpjjFfKYGty17/h58tlve920+l2+tj7TOcDUr4Pmabi1u+y+XX1Xb/F+p/wCwrrsej/G3xFoivi31vQhPCWzgy27ruyMbfuk44/Akiv1nhLEv29bezUdtdm7W1V3bXTorKyu4/wAXeOuWKNHKp046wqYi+lt7dOt/6bu1H9jCRnjOeT7EHaeOTweRx0689W/UJv2lKO3y66PTR26//tbR/lampuu6bV7PXvro10T19H5vc6DS/wDj3f8A67Nn/v3H/n/IrGf2P8C/OR32s2vP+vx9fV7n/9L+4ZPuj8f516B546gAoAcn3h+P8qAJv8/56fz+uKzl8cfl+DCXvQ5VupXfkrb9Puv92p4F+1JoB8T/ALPnxc0RMiS98Ea0I2xn5o7Z5AuMgZYrxz78gGpzCL+qVNLpqV+m9+t2k15p6/y3Z04T/ecPUu+RVIJ6bO6Xz08tPM/y3Pj/AKPLb+JdWtXiZJY9XvbZ0YAcpeyQHYV2lm3JnaOvtgM35K5JYyUH8XM9Hez1i+yW7btv6XtH+v8AJZxeQ4SspWj9Xh7y9XrbZ6btrzXNsfWXxz0Ky+G3wD+B3w+02aWa7vPCC+MNdzH5SC61i5kkhQIQHWRIj95wcgnrzt9asuWirqztay1e2/zvbbz1TPkcbV9vi37NuSjO/wB1m/uT1sm/W3vfl5r1pdXbupikO1pDnrncevTgjv1yehGK8NQvfXd6fL573V7OMfM3rQqWpcsbpQs/eS9f5t09bLy12jxkPhi7kmNw8cvlqTz0BHTBznrjvx3CnpQpSp3V7O1u69bX0Wqe+nV6JnL76dpRsnrun+Xb0vr0ufYHwZvVstA1fSru5jiQwIkImYhQskv7wDaeWJ2gD0BHzDIX0cDVclUWrS5NL9LvTZWTt0fR35rI8jNYc/s2lblunbZc1kt77+r+Vj7Cv9OtbmxtdIgEiTWukrI5XaYkYn5VVhydwA2nOOwz91fRs77XWl9bLR263+a5ZPS+i1PBjT5n7u+/RtdX1W6batbdJ31R9WeF9Fj8N/DvToC0Zvby0SRI4XaOeHHzuZJY+YsqCNjY35x3YM2layW9tVs7/df16Xvrax1UJJuUb6pq/r1d9PTTVKzsuXlj5NqUtvPMwnimgiLu0aqjliRxvJmQPKu7J4HGckkABsprdPT5389Xdb9Xp6K1jrhKPNe9mtdVq7736auys1v3uWfDVqbs/wCiQxGa5uGRz97bHEFxs7bWJOcZ+YkdsLxYmMo0Jpt3a0S0vfXeyt/5K9N20ddJ81WGl0neXkrrpypX0vu106Jn114D8OwJHbtfYllZQsQQ8I38K54Ocn5uvp321+d4upKFWXM2+2vb03TetnZW801L9Ey3DxnThZKy0enLdp3ber/7dvba/LK1j4X/AOCr3wBuPEHwd0P4qaLYbrvwJer/AGs0EXzJp8+MSkjJKK4CnsCeME5r6XhbHxTrUG5KVWUOVbX+P1S69d7K705vA4zyhTw9PH00uXCxftE3yy95qzSsr2Seu2t3F6os/wDBO/xvovjj4NzeHtQis7y90URPGs8cMsvkGFVIG9N38GD8wxnkHIC8PGWErUkqqSlGV3eG/fW22jTtrqrafEdfhzjKWMhLkm+WErOEtJ6OztHd6bX17bH2Fe+HNLF0ZNN0q3luNmBFHAhaMtjDEKhOc554z02nhq+NoSUqUO93fTX8ddL7f8A/ScXOg3KKi7xT5r9b3ej20trr3ScTGm8E3E7Ge+VJJVYRw6fFvU7idqh0wMsO4CnH413RqRp+9re2iWvf+tJa262TPm8RapJ8iaTvG70d9dWt91ro776qVo67/C17Kza71PSxDK6eZEzRlAq87c/L06jPOOpGOF2oY9SlJNSVlZXUbu27+d7206PXYwhg9OZuN3daevpb03t1t8MvnjU/Edp4R8Sx7pYYgsm2Uo/G0nrwoyCRk8pn0GGpV4usrxktm0mtXbVfNJrt1torS6KVDklG3dJaXe+mvNF97fdpo5fVXgb4g6Hq0Mcd/JDdWrbNmSknzNx0wcYyQ2BzjtgV4eKVbDR51K7cuXdefnrs92urbbSkfQ4SM5LlTldR3eyatpq77apu/Zbcsfb7fRvDF+qXKxpENrFZoSDtB6YA6HGQfxHc1wPFVW2n5X79Fvzba2/HX7XowpVIptyu+2+uy9fK1106XjDceANPvvNuLa/SR5ImjXz413KDkHaRuG7HcnP+yedtU695e++bTZdPkrXu97PTpa9zdVbaThdrtbTordlddLrXu7RxV+EU8VvGtt5U0e4q6Izx7i4PzMASM5Ixnd79cLcq8V8N9e9unn8+1+l1rKTVppSiuWMtbdt9d1a+vWOu0VrzdboPwy1kRXtja3F4YJY0OFu2XyZYlyoTcxHVeEGFwTwcZZ08VU548jabvZtNrzTu++nZ9eXaWTdBP+Em9tWra62S5b+701ltpy2bloaH8OfHmn39tc+H77WbK0lmR9WEeqfIp3fMXUSqzFiG3Rg7VBPyrn5u+nja6a/exv8A4Ek3bS2rSSb/AOHbblo62E9m4Swqk2rXfJ3vd/u+91fqrW6n1BY2/iNZrSDxNqdlrGmwWYSNL6+aCC2iXqdyM7lgeQpxuOPmOa6I4yq5KM5rl1TSVr+Wl7O+mnM7aq2vN4GNo0pxlKnTjB62Sik/eW19fO2uiu22viu3WvaPY6ZcW+l3kk7wlp4Lby7hrB3bI8pHdnkldjwu9dmeOActq8VTi1o230uttrLte3nf5px8eGHqO2ltbO/Tzavqu9mtl1ScvnbxL420lIb5jHc2fiN9Pu7eS4aM/ZrSOY5lt/si8O0iDC7/AGHeuuliaOj9n135ru9v+H+z5uzV49dOlUpSU3U57a8tnrs+W97aaPfVdvs/nt8RLHVvEcVz/Zui/aLY+Zdv59slpG0aDaLiFMndggsSpHPTI+avVoYldI9nutL626X0tql9zZ5eNdadRyT5F0jvpr321S9F/wBun5xfFzQrq2WaLVLuPdtYiBSFiaNs7VLjmRh/tZ56dcr3KTmuaOl3omuv5W15ru+i7ax8KvKUtJNW66db72tqn202sk7+78WahpAubmSOG1CqjsGKr25ycqqjIyPXsSe1aUqtSDSlLqrX2022TS2S2200PEq0/wB5FRemuvz31fZP1393aXNfEK8TwB8GvFGqoyQX3iiZfDWnkHZK0M+PtjR85xGhHmAfQvyRX1OV4dV5xnKd4qXvRaWttfO2++v2Vyq1z5jiGs8PB31drpbO3b73o/P7NkpfJ3wR8IS+KfG2kWkbGSCC4tZJyoLKP3g2owHG4/e7deeeW9nOa8MPQklHmdujtv8A+BW3sle/u63s1Hw+EsonmmPpYn23s1Gpfk5ObTmb+JTXSL+zr0a91n9X/wCy34cOkaDpixKiCNIVUBcFiBjAHYHH3cDGeOh3fj2Mq+1qzbVrN6b27rzdrb2/G8v7M4ZoQo4OnRcbWVufRXsuiTuurtf7l70v1G8GWiu0MlxMCQwxBnj7ucE7uMf14DD5q8WpyySV03fX9NPd6u3yu7XcZfVRk4vk5L2atJdNbarR6Ps2tNrn1H4YW0tpYRskyEyzJjDE9QSwbgdgR75J4XCMowaXLza3ev6Wtd2293y2sY4ulOpByTcU1slfR9H+t+W9vi0ue2W/2WW1hCwrA+0FpkbgE9FPBGSTgnP/AHzxXbiX7SmrR5bxv3a+WltLXV3fTXVSPm8PBxqSvP7bi7x89t/vbW+1teasyt9qfnzMLnBJKHjjBxy3boMdMHGF+elz0pXs733X42dnf0Vn56ntQtFWvf5228um3m+l3uc74lltrmwu9OkiG+e3kDKwI3R4IZOp3ZU9MDIPevaw2NlTlRapP7N9eur6p6NXWy81dcpwujy4m8o+1jUjyq2lubTbXbzeiV1dn8QH/BT79mSbwR+0PrWq6darZaP41uZtZ0t44zHELpj/AKRCMLt3FhkKCpGckc1+g0c9p4fBxlOKbsrx5mmt3tZ3ata/N/hvqj8g4r4M5c0qYhV1BYmUnb2fM4Oel37y5rP7+rdmj9df+CS3xUms/ht4Y0vUbgm58NXU/h3UI5JwJPssjbrd3HOQOVQMAMdDxX5LxP7PF4z69BWVSalytuV9V9v3fWzWj73XN9pwjhZzyzFZT7e0svjyQqcv8b3OfmUX8Gum711dt5fv/r/2zWtHS+0+WOdrW33QW7RxLE6OMn94Bkt6FlOPQ4Jrza+X08ww8a0JcjgleCXM5eV/svSz0Xz2jy5fj6uWYmpRlBzk6lua9ratXavr123/ALt4qXxx4y14idra807y53Yxu0C7xEQf9YGTbnaATtI56bhnFc2Hw/s43a1Ta5em+9tLf1e9kz7KnJuPtoVHO/RaLu15et/Rq3u+G+KoYr37R/ZV298lvB5oZY/s0juQPMV0bLna2UGevUYzivShW5ly8tlfe/T/AIZK+v3Aq0nPmldpN6X/AOG3S6q2ltNjy7+1rTTmtvKmHnTgC5gkbbJFIpw0bLkZUjJGSOuTkkbtrKGlr9ddOnWzaWv+JdkvdOmU4z1bcdFeL1t2erdt7u79LXLhivft6X9rcuUcqVjeV2SAdeOGypY59vQ8lZ06bdlrp269P6VrjlWXs3CK5rLe+/Vb32W2vyR1up6/4t1qGz0fUXibS7YGRLyGEpOuVA8uJ1AJz06gr1yaftYqLjJKXZ9ltr00V9bN+TPNdCn7RzlJ3ersr2e23Ml5t7eTtcx7awuZZpJLuHU2sfJZbaSATNc28sDbopkOB5mH2ny2yDkcjg1dKVNSUtH717Xe112023e/4lVqdD2fL7rTXl06btt9trvpdHqvhd7TxHaWiazq2pLa2QMOoWVxaPFPcPnmTcVBPHyEHoeQD1rulX9ov3aUXGy5k9fVWbelt3yt8vX4DyHhpwUqmFVN2aupyVPVp+et/wAL6817H0VommfDaztLeOz+1xsGRpCqzqsgHIEqbV8weoww/DhdFVxsU39bq8tvgb91PZW8mlp16d5S8TF0sdXnaVPDxtorVbu3e1kvLXdavVNR6a/1bTbkSado3g6C/FzC1rLPLZKq3Eci7cESxNjj+JSCA2OADtyrY/ERVvZxqO9nzSemnXXv/h2vzapGtDDRwyf1yu8PGStB0Gp8z0unfbptf7lePFP4U8app50ObT9K0uwtJGk0xlETyW0TsZApIBZCmSoDHG3jjnb41euptupaGl7p38mmuu/S2ju2mkztpYvCxfuVqlbbWcUlrtdqTe9/5V/hu3LgfEPg/wCz6bK2q37XkyBmKmRvLU5Pyx8jhc7ueDjnAGV8+rUjdRpSc223K+0V8m7Ppq1/idz18LUhOT5aSi9NbW5n93XXZ6ed/d+J/iFe2FrcyW0UkUpyxMSDdJheOTz0PXjryQCcV2UYS5VzaO9lbVJPTy1v37ddzqqQvG+j7/5a2/Bq3d6c3k+kSwxeIYC8DCK6Kod/MeD6547d8Z7dFDbtJLdrXba/zu77pXVuumrPKqUZJ6rRLV218vx2273W59P+ENJTSdSEaQH+y9QKrtxvg3vjfnIKjqecA5HQ9KynVcU1ZSdtN1023V7avTdPdakwvCattu5W/wD2vz7N305ej8cfBHSLopq+j2jRXLBZRJFBlg3XcrRrwAThSG5z6YFeViMVVcJLlT8m3qr+qfd/g03dy9/BYn2ck3CMltyt6WfTdO71t6NO28er8G+MJPA3hfxEdVJh/sjR72Vrq7YKQIrWUhhuA749TnHyqea4qFHmxuHVKUpuc4px7bbbtd7NW9dp9GZYfDrB1MbGfK4wnJxfKo2ivlZLW/S3fY/lWjTWf2n/ANufT9K0xZtTfxP8R9I0pHjJkV7GLU4vtMh64ht4QXcg4CLzwMt/TGGX9k8M1qrt7SeEk1Cbt73JdLpa9mt3btqfyrmtaOd8UYGnGEZQp4uEZyhrJL2m6TVr6tO9vNtO0f7y9F0GDQvDWheGLdoEsdF0uy0qBojhJEtLZLdQhX/aiOc8dc8Zr8CxaeIxUsVzOMpXcoW0vdtpPfr1v5aq8f3zDUVRw8cMl7kVZTfuu9lFNq6WiVtHG/Z6M4PXLWSKSaLdhOY1IzhjklW3HvwB2984zXJCMo1VKzfO/PZtJ66NtP5bN3+I6uaKouFk7e8nfXVX21V3rreVu705fO4rd7aeVHQOHORJw2088nsFOO2fcnOF9q6glFbd9n5p2vbTa3fVK9jGklL3r9V576NfZ1V09td/dv72PrEjFAWtGkEbFXZW/d9OGIHI6Hufr83ylKUea93dPq7X8r9X52k+i6o7uRQUbapPV2to+nxK62a2SfSXMnHy7XC+198MsecnDSZDKf4AcAhckcgLj0OcL6Ws+SWi1Wy1+bdmnbyfbpcyrRUY6e8pQbs9NGttGu7t+DWh8T/tAaRYy6HfSXqFUmt54RnLIrsuU2pt+UklVUgnL8bRglvscoxDUeTdcunm/d0avpftrunZXPg8+wkZQ5ru+r1j0s9Fvrb1vzW0tzR+TvhjPaeA/Dmo6dqelRy77+0uYpbhD+9068YQXMcgYE/KMtjjGTg8GvqKdZKLTu+qvra23f0btqrWUeZ8v5li8JUp1Izhd3d7Pu+i00+cel/KX0n8H/DPglfEet2sPhX/AEW0lg1S0vLlUmtLd7sebG1nFtXzCxOFVQ2DyM5+b5LOo2k5xd9Xo/W9r63062u7K97M+94ZqVJQUakORWVnfvd7PsrK2uu+jaj+zHwB1CPwzoxKw3FpbyLHMqSRNbMScYLqwUNn+6BuA9Put87Sz2OGfJP3XF20u03179H37Wu9T9NweSxxcPbRk2pO2lnqt7O76tp3Wt/s2vH650X4j6hG2Y5pL6zlwGt9+1rZeo8os+VX+FgNwIBPbFelTz9V0oxl1dte2l3otH2tdeT1OfMOFoQj7Vxs7v7N7vXV2lfrvddlq/e5j4qXjXtst2MQSyqreSpLDbsB3ZGOoIzzjpggE7fPzDFytJ6c0l1eltfS+qemru7rselw7hY0O/xtOL0tra/2tnpvrr8X2fizx3Hvs2kMZE8DF1PqvByDjqemMn6jG5viKOIk8cp8tvf1V7+mvpfrr5WP0vERU8LZaXh01bd/VaWk38rXR7NpN7F4p+GWnXReR5o7Mo8aHIEkQMXzD5jn5TkduvPDL+14Tkx2XK75OSG+l2m30ul+HXq7nxWG/wBizGnJe+pz3lo1bXs1fW+ilfpypM+QdHvptJ8fC1kOwNMylVwp+ZiRknHUdAM88ccV8HioPA4p8vv3emnaPS1ttb6PZa6H7fN08VlaaSTUE9Ouumiva177O3Xl1R+jH7OviO48NfGzwJqkiPHb6m7ae75K5MsMjKpbPIbGcEYz1zzt/SOFsVyVIO2lS0Za3t2tezXVL4rdLWtL+PPGfAe1yXMMaryqZfFzp07XU+erGLuujXNdd3r7tmpfv+PmVWAxuVWHfAxuA/I1+3Uo/wCyxqbXSd3ra6Xbun5fKzkfxNT92SxGjqSk046JK3/bqe7/AA63Rv6UCLd8jrMT9f3cXI9vz6Z74XCbvy/4f1b/AF/qxdOo6nO2krVJxVuye/z+Xotj/9P+4Zfuj/PevQPPHUAFADk+8Px/lQBISct7KP6/5/D3qJJ80X0vb+vl93zFB+/Uj/cv+S/rX7jifiJYHVvA/i/TCpf7X4e1WFV7vvtJRgYUcnHA75/hzVYxqWFqLfTTW1v6f3fcbUKns4027W9tF3fr08/Rrzvo4/5sPif4Lap8T/2vtQ+G9jYNOJfiRq9tdxbHf7HZWusztdTyrsAjjhgSQs7/ACgAnI4r8rqYd/XXLXdtaN720s+ztre6trzWP6cyjMLcN4GC3lhoO3RvXZWWut3711bVRulGx+2brsHiH4n6tpNlGkWleDbDTvBuniNVRGg0K2jtDIpXcv7x0dsZ3D+InjbvjKnLBRbTd7em269Hfbrs7e95+HjKdWU13v8ANLTXT56WXd2Pgm70e0jVjIVDFmJJAwfx5J/BcZ656V5vRPWzV1/Xu6/P/wABv73bUrNyirbLV3/D4WtHvon+RxWq/ZLSGbYxDBflUYKkkHG/Hvgdsfhhs3C70frpf9Y9+/pfXlF7/uu29r3317JR/N28/tJ8K/EGkyeM7TTtfvDHZySLIIFwFmliYGOA9MB2wCT7dcAV3YKKj7Trfl79PVtXs79b3u7XsefmlNRpxt1utX6ei+0+i1WidlzfpXb+VrOv2Zs0laK/azQwo6hUgVY/3ZKN0XbnC7s49yK9KHXr2Xa7e/nfW/Z+bPmKXxWtd6rTTWz9bapX1a1W20frPWJtunWliqXCpBHGhgDi1W5aNUwxuNpZY0wcg/ewBgAE1fzffpbW1radH5PV63uiqHx1baXt+rV/N3X4pW1UvJ79INY1G5NzcR+dp6BseasihFGMfL+7JX7vBy3VsYNZyve+ya+5Lzdnrfa3ZXZ1xd29rPd9+9tXa2+tt7d0U9GSC2eNYi8UJvHZkQhXeN9m1ImVsxo5GSTkDPGcYXz8d/DXVvme+1vP01662vvaPoYGEXU16W3673vZ/PRa7X6H1/4BvRLFZyiTaluQmxjxGuPkDE43ENwW79DnrX53mNKSnqrPX16NdeqX43te6P0fLJxUEm1ffot23/ebs13ttq7e73vxQsNN+IXw48V+ANQMd5B4q0W705omQOoZkxEw4ONrqCDx/I15+AxtTB46g9XFz97+VdNnbpp5eb1OzNcPHGYKth73jUhq7XV0r2un66/hsz+e79jLXtS/Z+/aG8TfCnxUJ7SKz1qSyeKYND5uly3UkSSqGwXURhXBAOMZPIBr9exuFo5xlPMrOSpu73fwrVaaO77L5H4pkWMr8O8SvDe9DD1KqXVK15Nt9NOt21ZPdP3f6Q7fStD0yK2n0iGO4e8gint5UHnGXzkDRgt9CCOBjHbPy/h2IhVwuNq0WpKMdEnppff4ei00v2s7XP3+GJp4uMKlNpqcYu6aavbXy6tbq+zskz0PwD8JV1PUY9a1e1zPJcLII2JEcJyCHxjGenbjruODt64vz9ba7/l2t0OevCFpOLXN879tdl1uvTW90zsPidoejXv2bwtpa+ZqDoUuZVGWRG6KVxhRnkYx1HTGa5atWNJp33nZvTt01V+i1vrHVWZw4WNaVSrdStb11VrtX73v6LX+aPyl8T/2JrzVdCl1rw/aC5vkhMk9rLkmcDn902F2Oc/Lx275G3ro4q6u35O7+fWT0T7tfjc6qXxLm2unqnfXRvv8+v8AdtaX5+3GjeIPh1qs+nzW99plxZzbGsbyN40IX5iEkYFGjbJCn26t/FniVGtFR5k9ea677W6ap36abq32fq8BGMVzP+W3TTvd8zvtt0XRaM9W8PftDjRfLtr63lKtwxTbMgKgZJ64AOcNjBzn03eVWo2dorrZvyu7prp8tVt71ko+zTjBvdP00/SPz1dt9bvm9s0T9pDwxOiutzHBgp5iSDB6dxgj/wBB79AcVwyU42XvX1a0fbppZ37dL3vfQ6PqUKiVrbJr/h76Wt/Muiadmo+oaT8c/DU5Rv7WtsEbtvnqo3DnHJz/ADPtxhcZe0d2k7rb0fz36btO+6eh008shy777LXZO1rbXWr0ce99zrbL4z+H0DLDfIpkbdJILgbQSODkOOnvke/Ws4urzR3VtN1rpfv1t05dPvOeeWx2TXbrt1ertrd20ts+i5eo0v4veE54tQgn13YvkKYILU+YZ5gjFmfHJLHHsAMlTg7u5SktVovy1/xNu262d3ZbKUOaplUbN2Tb/Dz+J3+dvV2bKVn8WIo40SGH7ZaOWQzTlgELEqN57AZDZJOOhU8Vo5zjHmV9PLXv11ennH10OeplkUnJ2as7rV9N+23Tr5X5ouufFym5tJr7xCltYE7idNdS56mNJ5HCgovfaBx0bg7dKUq1RrW1vTy8tPzd9Wre9wVcLCF7JPS9vz/l0/8AAvRaqXlPir4g6PpE9xLo2uxSX9xbzxzqltbajHdfaH63H2gAo+0bFKOm3PU16tOUlFp9V0VtV3Wt3rtfTzTuebKMOay2u0vLrffS/XXTdO+p8YfEfxrr+uSnyyZRbk2hVL2CydolU5zb223ahyPlzzjkjLbvUwcpNrmetvTd/rroumzjozx8fSioNJXbd7LondrXS789L9W1ZnwX8QYH1jU5IRp8lvKoELKt3JMueQZAHLYJ5yN3qTnGV+rw8ockbrRPrp9zve1tbqWt7e7pzfG4unUU21p/275/PffZdFskzyjXNDg0eySxtsSX2oyRwocfvDJI+MLweRkk89jwMZWqtN1pr2b0utd92tb6+uzv2jdmEVGnTdSelk3azelur+5duvU+Av2tfFkd34u0b4e6XcCXSvBGlwxXjRfMk+v3gD30jdNzxvti5Bxt428ivvsgw6o0Oar/ACytddFd9Nru9vi7635ZflHFOJeLrOnTbavbR2Wri27e7pr07fFZJS+if2Lfh68SQ6vcWeJbm4FwzygBtq8RL6qGwOc/XOQzfP5/jXUjJKWmyduifo9nt8Xey1R+l+G+VOgozqKy030tfm31d9+zta1tLR/pF+Behw2Gjadd3XmIz7XVQ3AwM52jjB+ueMDINfmFeqnN8zTeq10207O+v49H9r+jsC+SMFD4Uk+yfn2VtbaSutb7xPuXw1OEaGe2Rn3fIxOcHPGFGcZ7fxHP8WOK+f8AbuU5J6at9k/zs9L683fWyUfs8Hh41afNbRLVXfXyt17Wb06n1F4fMywWrr0YIzZ27lGE3dmzjjHy9OSxyCu0Kq66pvuu71v1fz3V3dIzcFUqOne9tFHXfXrdab+S200cfY7SbzbUMOQgSPax2hhnliOSD6ZIHzdOld7rU3FK99Ne/orW2svS2t9WfNzwco1JvZKbtpazv/29a+z1W2mqZtRIDG0jkAHHlhOcAcBS2B3PQrj1YZG3imoyej87vfXt2a0277Ss0YVeeGr3S27fha69ZXv/ANvnPa5D9ohAjhV5mVxHJnawAU5H1G7jr79cLvQvNLb3dNlrZ7r3l2v6bct2dGX4iLqKUtoOz0/4fWyutFqtN/c/Cv8A4Kr/AALu/HXwe1jxZotrjWvh/P8A26hC755LND/p8akbmC7AGwNw4PIPFezh8DLF/u+dvpbVf8NZPu3p0V3LzeMIxxGDeKpRu4K94q7sr9Xa2ltbP8VI/GD/AIJ8/HV9B+KN34Nu7oWsfiu2Fxp5LhFXV7L54ozu2gNKFKDBzuOCRgbufPchnRwcYpX5Fa6167a6vXo7frL824Wz6GHzSFOpJQjiG1UTbfvbLaK2V18W+9rc5/XJ8LvGcHivwZo98JZTbXMC2+oIkj74bmFfLmRhkYORwMrwR6hq+PwM3Rk6VR6J2ta3Xrq/PW/pa59nnOXwWMniqUWqclzRcbtaxv3XXt6Jxtc4D4meH5Y5pr7Tbea4t96DcpYAA8nd8xPT72Dg9wcnd2YinDnvTWjXRX/W1+m6ttpZEZViHDDeyq353VnvulfTXXW/57P4T5v1+1nFy12txp2nXOY4/sT3BRpYscv8w2kZ+8M9e3euOKs116Lf7/S3du676uPt0pqWujTevp+e97bfhaXmN3ZR37T/AG+KziumMsvmwL5hnjj4DJIjNtAHzNkHpzyTXTbns1ppburd1rHz6L/t7XlupKTacVotPmuu8b+Tv16XXNk2Ulzb3BFnqUF0hC+XG0mCwIxtPYbDxghugPc01T6X+b//AG23/Vr6KRBt2SVut32T63ctdfX1ulHqrD4hvb74ZrecT2MgUt5amIEnacDGWUjjPQDnPOa5K9KTknFtq2q22+a06pX1tZNtXl0Qw7rX11Xnt5J2/X1683r/AIf+KOibY4pBDBcphkuSq+WrE5ZJIuevHzge/fDZWlHRXW/S976d/XS/k3pcVXApQ6NefpJ+bvfay6WaenN6r4e+LPh6KacMNMYysJGVoIGLSKf9YGOfvED5WKj1B4qfrU6Nr9ddLrby17vZffdHmyyepiYv2WIdNJ9GtXrptdtXvs/O56vbftCeHbaOPGnaKJk4LGGAlh2woUhPXjB6Y29aj+16rfLq7Xbu9+vXZektLu/M/dOOXC+KlK7xknbs4+u/JHb/AD1096HUv2hbC5cSwW9tC3923hjyCOmwADJ57leoPfFY18yqWTipPm069ba9b631totLP7VrhpQjfF4h1YrWKfLKzXXRb2372VovePLXXxG8UeIw0el6LqRWU/LczxLDBKScZ3NksAM5wVwozhsVjzSxKV/nra3XTXu916e7e0oeDy7Cy+Hm3vaKVvP16dPVbnO3fgLxdrUcsmu6va6fbz5HlwSb5NuDlWyBtO08kc554zlOmjhoUZObbbaS30vvftbv5dHZOO1TEU5RhHCU+WUbOTStdaqytGTWut+tna/2fMb/AOG/gTRZ5I72W0u5gcu8zZkdjkkbmY8545HHqcHds68YbNfh2fp3Wl/J2OilOs9WrX8n1t/itf10tu7vlzJfh14P1qDfpdnGbiP5gY1DCArypLxkYB+hIzziqjU53pdW8r3v1be1/S/lGy5lNTkneO73d730vdWt262fk78214Lt7W3c6LqFuZWhn2RrIm1RtI2kHAY9McEZ6E8AsVYxfleyv33u1fvpulsmrN2jzum976pN7deqer7t/kpac30bbeH7lIrfyG3wzRYaKEBkQADCHzPmyAACBjpj3bj9hBzfM9LSfl3S8uvV+ruYwr8lRR7t7vZryskm3ffmS3V72Pyy/wCCm/xV0v4L/CjWNPtLmODXvEtlNAkcUipOgm/dKNuQfn3HjB78jGK9zgnIp4/NvbTTdOlUi31Tjdt/Z6b9+978p5/F3EMcsyStQnK1StTnGN7J3fXda3b6LonfSR8Lf8EHv2fZPF3xk8SfH/xHZ+dpfglJ4dHvriGWSJ/EOreeN8J+68kKg7wGyGK/e+7X6XxtmSo0IZfQas4KLjfWzTTfa+qbTS2tpY/GPD7KatbMcTmWKV48znTlJPV86kktV0066etj+up7d7Z1cruE4B2vEoVox8xZAvMZYE9gwHYYr8m9k03z3v6fjdtfLSz7o/bnW9potL66PTTotu7e2u+lmo+beMYQfLZFwRITtOVB+91I54B7emeoNPkSS667+ltVq7p72svmK3bXT+rvX8vvPLLuO4XzDFsVpAQxIyBjoATnGMnB6npxjNFRSX5tWve9vW+t/wCXa6ve0dsM07LXdfd5tW7bbetmzlblbidDG0i7zxIEXKkDjdzjH5flkUqd/lf3Vts3r89Hre3zaj3Vdlbur379P6v162PMfE0j+dtba6oWz6MVYAcenGOvfHJxXqRm+WKT6K99LtLrp117+iv72da0uXT7KTtrZW6bdvl3ejPnH4nWEGp6TcNdRZtwFcRhVIBibzFY5zjDY/vZHBz0X6PK67Vnt+Ort2V2tO/RLq+X57NsMnRT1frotbv+8no9PR3vY+a4tIh8Saq+nbYGGoaTcxCbylKQYB8uTbtwu1sEcds4Xnd9NSqyaau1bZrdu2vT/wCS7eR+dYiFqri4q0Zffrquln8+llZtHvv7LWm6N4c8b6GPEWoHUp9Jv44pvtc2ba6ELqsKGAsUKKoBClHAP8I614mcVfck797eSXRK2utkvT7W59LldCpUgvYwd7J6a6372strfaXTyP3G1TwxpfizTYdT8NtDDOwDtaqyrE3y/wAMa/Lz2wAMHjOAF+DxOXRxUJV1Plldq1/5eu7aTbuttvVH3eUZtiMtjTw1eLTUnJ83RPrtsnb9OW95cUdE8RaNOzTwyR4Cr8jHbgjt0BUnpwOmDnmvBjHE4Kv8Tajrqt0v8lv+ct4/aQzPD5hBQbinKKVnrvZa3SV9dLJPqkmkjZi1GTV4ptO1ko8f2dYkkH+sQKDjJwCM8jcG6Y6cbfXhjZYiNpvVJRTutOz2VrX2a1ejtvHkhRp4Wvyx2lrppq9dd7baaO9rrlskfN/inT5VkvrTaWhgZzbszZYJk8sSPm4PALe2FxhvNcXGup7a3ta2+mju7NX00l3d7Pl+oo1faU1F7tdddd1ZWVk9935Wszo/gRqMV3puv+F5JFa5s72S4tYiRzFOqb1A5OAdxwVxluc8Cv1Th3G89CcG7qMYq21/efr2XWV+8bs+XzeKw1ahUfVze3ZK702tfe787J3l5H8TvC8mj+L7a9j2q73S/OFxyWOc4Azk+mcdzyK4M4w6VTn3XT1aV1b01vd6dtXL9HyDMHistlFN3jF6a3S5ntfl0srpaXt02l9b6DDNbaJ4P8VpL5Z0TVtPlaVTsy5KI27pgbXYZPr90YwvqZJinDEUI/3rLp3f8z6q/wCFlufhPiBhP7QwmaYN6utT5Ut02pwm9La7Xdr37q7P6EfD2ox6roOialG4Zb7TLSZSMEEGGM/e5z1x179SR839EYGr7TAQbTd4L8Yp229bW0XdW97+B8ZS+r4/G4VKyoTqL7pWfTun2s+j+z3Glkm3fPaYgfTy4+tZnNRjyxl3c3J+bdndbaPTp9x//9T+4ivQPPCgAwT0/wAf8/59KAHqpDDj19+3rQA/ufoPxHP+eMfrhqa/dtvpK8X527/532+cZhb2lT+Z0rR7t3Wi/r1Kd+Fa1u9yhlFtNuU4IdfLYMDnjGCR36fgsVbSoSW75Xout+nVrR76b7u1gbfsoU4Lmqe1UuTZ289rde/otWfw2eNdDtfhB8Zv20PjbGgTUYvE/inwt4QIUR/YL3Xbu4jkuIZedrxJIfuBDvGRkYr4jEwjTqzlNKKu9Hpsvnb+l71uaX7zkuIU8pwFC6U4UIRcL+8nrvvqtt9u+rPxQ+IGsT3l3qV5Pcme5uLmWedpXL+bM5y8pkJyxd89s/QY3fLY+qpVEovmXM27O1k3ppbXTu1/hVkfYYOgoU06iacnrfrpvv3srapdGrSnL5Z8Ta40IkYSnGW/iwA2cYGOg4ORjjr82cU170YpJ6LX9E3v1v1/NxidJKUm1aLel9dPLbW601+66PCdf8WMgkzLuLPjaCTkjr3HTpxn6VtTpy1tG/bVWX3fLtZb9pcspxguW9nv5qzW9r3v1fTazteXnOm+J57XXrK7VjvhnWfhv7jg7c9Oe45/3jk120YciejWqV3prq99/nZau7tZnm46TqwaXvP7LT/K1raK22id7P3kfu9+z7rEOs6zp18tt50a2VrqVnGRlJBNZwtjdhhsV/MHHde/VeqNuWV+rXm+vku60bd+trngRg6bblFq7aXp53k9elv/AEo+oPEt3ArM1xMzyRx/aUWTDW0bysSYAgKs45woPTA6ZwzbSbvey33tqum9raPzv0smTSaUqjeivp/e6X3lfXp91rXPFtavUjguICvlyXGJ5WgH2ZSCMrFgDdxkM2WOduTjIDZyfVrTp6L/AD9H5Xszqi032u7L1+5Oy3Wl7rrZmZaatLDPYyrPELVXW3J2KobGCcO3LMoJBfGOCRnNc2ItOD6pX18ntZb6yV2rvdrRqx6OFnyTauk5WSuvn+V0tHdvrsfS/wAP9eutQu7ZdLt5JLGLIuJXZvLmZchAnGBl8hgPoTwBXxeYqlqk/eeyauk3brtt1f8A4Crvl+yy5VrKS1jZX6abd2+r6u2+nN7v2T4Z0yEW66hebdxUPHE0ZwnALqc5O7OQPujIzzkFfm6tFRUpttSj8G2vndrzta3npZcv09GqlGSlu9I66Pv9l997elrn44f8FM/glfeGvEnhD9qP4e6TOJdAuksvH8FlC5L6YJ0KX8/kjhVVpA7urbflJPGa+44SzePL9Urzu5WUU3da31TsktfN/K5+d8bZHKVP67goL20by5trLpqvX+Vv7nGP6efsCfFLw38YPCuiWepX1vPqNlp1tdabKZY2e908gfu88kz2bkxS/eYFclRmvM4uyOphq1DFqCVPEzkoOK2tG7vp3enM/luzs4OzylWwlXB1ptYvDx95S0SblZWd9dL7X9EfpF4o12w8PxG00MRXF7JCUCW2DiTG1WYLnDBu2f4T1yN3w2LqLCrllK8pJaQ956W6rl3vayWt7aXvL7bC4fE4mpz8tqSad5Xs11d9I7P0itNdWch4F8B6xNfTeJtYZrm5nIkcSqcQoGwqrk9lweNvuGz8vBLnrJTtZbK6a6db6J7W+JW010cvelPC0YciTdV6PlV07LZpXsnaz957bR2Ppm6skttBne2kDyJb72jDqQ0bD50XHQrjpjoM8YocnTi/891a9/O++633097gdCc6qlG6u107vSya/VflzfPHiT4V/Cr4nwP/AG1ZabPe7WjdnjhEzMnyAGUKrZBbPfnnHJNZ0cUpVGua1o7XtbvrqvLbba2sT2vZ16NCnOzkpS5bJapNaeWiVn7z3Sdt5fIXjb9hPwmRdXGgOgYEssC4AwxJAQq/bG3jb/CR6V0OvTf2lfo7rW+ur0fTW602djajiqkXrTna99nr011b6XfNZaNcvU+adb/Y71HRyWa21GJGYkPGrvG3fJ+vIHfp3NKVWjKKSd32Vvu7rv6ep6cMc5WjCM4+vRdbNWSe19JeadjCj/ZlHlrLHrLWcqMAYprd85GMbsuv8jjI65DNDdKa0sm+r1fa3Zr5LZ2vdKOizOdN8rUnfzfzcU9rNv7fe1rcpWf4F+LNNuo5LbXNPliO9xBLC48xVOxVy0nUgg9CAM4x0aqVGm5qzj7270t/w/421u3pEjjatSV1zW+V21fzejtq7K/noW7XwD490m5a5tb7S4boN+6iig81GZ/l2kZYEt156dCDwa2cacZ7Lva260t+mvTcVTFzSv7279NNlvv9/wA2rHQL4d+JcVlK0uq6cJDcCK4tVidSC/H+qU/dIyeD6YJq7UnFSelte9/Tt6W31dro5ZY6U/dtK/8AwPXTdN3vpuk2iWPwFrYSE3eo3LtJk3EdtDL5MQz02SO2S46dueh4C9NF0F8K182lra2mj1S9P1OWo6s1pdXd3+G+1356LR259h+o+CI7WVJIY3lg8orI88aeVnrgnkiQP1x90jsDit7J2aajZr1trbq773/K71l58qFS6lzRvF6q2nndOyu+mnnpdKPz7480iKJJiLRIbsNgTwL5e5e7kAckjAGc88ZHAbtw80pbPp1XR6a2ez8ttr3vLyMVJ8zhZ31u9v8AFva22vw+nws+XPE9raaHHc3k8we4k3OTLtyqnOSQcnAyRkEc9sgV7UKj5dL7aJO7bVnvaL36LfyunLwsXS5buz97p3frr06NfNWR8bePPiFY+G9C1/4gX8kZGnpNYeFoHYf6ZrEoKboV6usCN5jEI2McHJJr6XIsPOryyn31TWmn36vbWz6NfaPl84q/V8FUkr35H7q3fmrtvXfXbrteX5neCtA1b4keOjPdedeS3V+dQ1edt75aaRpXDsST3wuegAGBnC/XYvEU8JSa5fihaK2slftfe+uln53Z+W5RSqZpjnenKEVNNSqJtPR+XbztfvZcv7afAHwoujNpscS7FbyVMYTCIiAAZ7dcngHPXnivznGV/bxklzKOu8ru935pdr+ejtbmP6EyKjHC8kYr+Xby12V9Va/S1/JxP2Y+HVzHBp2nQKc7URULfdPcfLnnAPr7jHG34vGrlnLXuu29r9+t9m+z5bpn67k6ulOV32Wln00eq/8AJPLX4j7E8JZ8q3R3wF2vle+egH908YPHHU55rwKtSMNEr7rm02fXZu+vn8rXPt8qm1CpSabbb5X2u077PpezutvNxPpHQNTYeXDEMhFCksfm2nAOMDK9B344Hrt5lVcrJRerta+3q9dbW69dG2ve1WXvD13XlVUoybfLZ3W71u9dLK/R7c2qj6hp9y8hQb22n5Sme/XPGc4HX16cYzXfRjKbS5rLZ6XS0tbePy12fTXm8qvJc0vckk5Sd76av01T9Nu1/d73TjtgaFmzkZBY529D0O4g5HUEY6YAyV7VhpL3lUTur7N/rbt8n9nRngYvVtqD/PX1trbXRp/jaObqZcxb0JOCV3IcAf7R/PoAMd8A120YKlBPdu7Xk/veujeqXTe46EIKk042nLW/bTbq3qrdL3uk7XPm/wCKHhKw8YaFreh6hEtxaa9p11pt3GyKw8q6iaJhjGOSQQO3XPJNbYXEV6FdVOdcq1UOW3mnvb1u/NRf2eqpTpYjL6uBnBucoNe0b8mtuqTfn2u7XP4cv2l/ht4l/ZN/aZ1O0tobuyj0DxFHq+iSujwCbTprnz4/KblfLRDsJUkEdcc1+k4OnDO8FaVqclB6ys7u3/br18/nFXfN/LnFGGxHC+cOqm8RBVoyjyXhyx5rW1bv8tvPeX9TH7A/xy03x34W0OdLmCTS/F9pBcSssistjrqxBbiA5AVWkkBfGVyT06GvxPijA1suzCVOMW48z9+KtHfbTRXtZ6O3lqpfvvDua4fiPIKE4xVKtTpxUoylzynp8tdLb6rV2P05vNMCIRJZx3KBXDQuCUbeOGwCR0OR859sYNefTxapwVOXvPrK/o0rXb07p6aaPSRxYzDy9t7WnF04JKLja/w6Xsns9WvuS0ijxnWPhH4O1qaCfWLFppXlkKhD5YQZ3LFkEcZwBlue4HSm68G076Pz1a9NeW+ztt1bupHfRjJUedu+l7a30/K/o35W+H5q+If7My3V5f3uneIbrwp5CObK1hkdTPA/8CgyAOG9AnP90NWsMVFRfnfp12tu7XXlq9dLGuExPPB89O1m1fuui3+V3p6JuJ8h6p4R1jwbdPBaayxlilAcalbSMrAHl0YtnD+g9TjJzu6qVVVHbReqVtN7bX6K9tfI9FJO70iu29n6vl3d/s/dvKYeIPEZkmkltNJkbywhdMwrIu0DzNjA4bHOQTzn73WuidNRvdc/N17Pr5389NvNqSjL2crKTalq+np89+vlq7lrwd4/msdQuFh0OHUX2PDLvjWWBGxjcu9McYGCOf8AdIIbjqRa05W7PdfJW676r4tL9dzrcPaR/iNdXonp87JPys1bS+iPRLO9Oox3N3FpCWxg3STKJFDEnBbYFx0PRM/kCNvLOkqvxpJ302d/Py1TvprbSxjGCoz5Pa83M73srrptezb166ef2te1nuRsni0yJo3XOZXGc4xjDcgjHYdeu3Ga5ngopp82+tuuvy8+vL3vpyHRKUIKyle75tdNtHrrpvZve3S7R2ejLqMm2REsLfB3bpHV9gPcLk9BywwccdSPmbp0Y2vGMrvr0a6W1S7b9NG03zE6dOcObmummvw8997K9r7q9kj2jRNU1VrRI5PGVovl8RWdtAu9GPAyfMbAwcfXHJzlXCjTk24y5Guis32vfS+veNunupNnlV8HTk3eKa9GvXpvo77pa3auZ/itPEEkSWdj4slee6BDhE3NHnrhkYhcg47EHucA0VMP7qtWb02ttfor3173V2kr3sVg6NKnUk3Ril01fT7rteV/vbRxlr8PtKiU33iHWtQurvI8yO5MoRmIyCPn2kcdgBxjtubglSad7t2Vrbap77fO/NG2t0to9/tqSlyqlFrvZp6Le+3Xy0tf3W3LZ0S90PR786bY3pjs5edsbkFpHHO9iMlcjPJwMcYx829GrKDUeW6v1+Wmqst77201v7vLNalCpTbjFRdl5t/k/nd+mrPSj4ctr9H1K2n2XMYXY6L8rY6MG7tkAEn8N2S9elGMZxUpOzW2z1XS/u9PTTS+rUfn51KnPKmoe6nbn79dddEkvO99L2SO30nxhp/hvw7qN94nuBY2mjWs97cXU0mxjHCGdtrvwGfG1VB53DpmsXQlOUacOZylJJcq/Hd301Wi7u9mcdaj7J+1eyblyeS130sktb66u3RSP5Bv29/jb4k/a3/aet/BHhHz9SshrseiaRZWnmXQuJrq5W3h/dxBhthTax/unJJTrX7Xw1l9Hh/KJ4yT9rVnDm5ZJRtJdnG/n376n4nxvmsuJcyw+XYZqm6VTlmqUnPey1XurVX+0tt/5f6pv2Gv2dJ/2Pvg14J8AW1ut1LeWcWteMmaMRmTW9QQTl+NzD7KHEZVi3I6AgrX5XnObVMyzSpVnFRSm7JdlLTqrfK66Ldo/WclySjl+TUoKVq8YJzdknL3L2fxadHsk7aK14/oe2pW91YRlJI7iVmeRZFB8w84ETM2AgQEgAD8q5JzuruNtbJ31+a7XXTe+ltVPelSkn7zd73V03dPZX63vfq9tHax554laO6eVWcoqDLHqyk/eAAbB9Q2Pcg5rmk2pJrRXWi2Wq/xK722uuvRR9KEbQel3r0Wvu27rv15lfvds8qmlCysrSSPGvG457nuOc54PI47Z4rSUk+n3/8ADR38n910Z0o8jSj7yu99NFptp+OvkrOJx+sXvlSOYiFRgwITgnH12nnJPHU+mMU07O1k9tb73fXdP/K+2kjv0qR1/K//AMh6/wDDXPKNf8u4naONjGPK3HeSeoyQo+XPOT0OeM5xubphepF2fJZ+trPrp2ttfzauZSd79OWSi9N2nrrolfTTtfR6I8K+IibNMlEcrYFs2eSY2GCM7QcDgZPLY5PtXr4CfLPktdp2vfrdWuntpdWv5aHnY606bi/d0bu/JK1l5qT77d3ePkHwl8OPDJ4l12/mV4oLRltxgsrBgzGOIE/eGRnAJPU4r7ChUXKrrW2mvS1+2zavqmnttdR+EzCjGM7Qjzvm1srbvpvr6rba+0vmn4+eONa8G6j4I1/w/wCZpdxcXVzLNFAzRNP9nnTHnKuA2Vw3QcHv1bxs2ouvCVqjjo/Py/Nt7+ltVH9O4GwMK3L7WFk7X5k9N7pWbtb/AIZK0mfqb+yn+1xLr2iabbaxceXdRQxK26chy+ApJBJB6ZGMdM4OMV8LWjiMLWcIzdSG9rJJ3bb1V3o7dNVq9VaX3eecM0a0nUo+6pQik1G6uo/cm76vr15dFL9I7b4mrrtrHIFjkRwqBzgkgL6fz+916AABZq1HUjadOzfW99bb63ve669LpvXm+Kjk2IwldyjXnKzSaWl7O/fsvW7t7u8myLa6kySx74pGYBhEO3dmAIyOOhx16sQKyw+C9rUspcqeu193t+KV9P8AwLWXqqU1KPtPiUbJt7237PZa9EtNb3PN/EGgz3TXjsG+zjcRIAd529VY89f1znjna8wwroSjZ3sm77J9eiXTydrbK9j38HV5rK6Vvdb017aaJ3W7urLTU4X4EwW+j/F6TTXYKusafdLH5uCftMR3lVzkZKdPXbnjpX1fCk+aU4OT99Rtd9fe02ez7b7vZKXm8WQ5cNQqWXuc7S6a2tt9/Tt0vLpfj3Yi31O32g+al1kFlyBkh+ee2ccluhI7rXvcR0vqtKMkue6vd6a+5q9FZa9/LW3venwFjKmIoVYcqsnZu8tbSqJvV30SttZXS0+13mjagJPhXc2ksjNKj29wqg9TGwOevGAp6ZOeMDNeRldTll9ZtrSkpOLe/M7NX919bdOnkz5riLBQeZTjOelWU1qr7Qv8+3k9EnvH91/2dtWbXPg34D1AksH0S1QFmLf6uNFI3cc5/wAecA1/R+SYp1clpV3FKTjypf8Abid9fu3189D/AD34rw6wPEeZuL51WxVek09o3nJ8y06aJK687tI+i9KGLeT/AK7tj6eXEB9ent/Vu1q0ab/npxm/WXReS2PGSsvu/K3d9v8Ah7Xl/9X+4gHPNegeeFAD06/hQBLQAmOc98Y/z/8Aq/PNU5XpONtm/vadrbfr872ioRTq31vy3+5+ut/RW87mB4ovk07w3rt9Idq2ekahckkgY8uCRwST0Hy9emaU2oUpaW93r0Wuuumi1s2tr3VzKMv9up8t3r01tfo/Pbppvpe8f4SP27fHkVvoN94ZtIXivfG/jXxP421Gd/ka6tX1KSCyK8K0kY8tirfMpz8pIAK/AZrWi5tXtzX67PfZ7J6Lbz0aR+7cNUJ1adGSTdkr3Ur7tu+701+57WufiX4quTIsseQpL7i5PBBOdhY8ZBGeTnA6cfN8u4tyb1/4a/XpdPokr663aj+jz92EfJb3ta/37XfXXry2935O8Z3HlyzI248tgZwpI3dOMc9uB7dg3XFcq73bbe3XbVrf5eaje5xVG5cuq7rr7qs1+PmtO9rHhOrOZUJ8tSTMedwzwCegXv8Ar3I6t2Ue/dO/nr1fX8PzUvIrfE9bb69ru34+XLay11scYiE6jbjGwiQHIbC477j8oxxgE8fN/Dxu6XLl5V6bbb33tJ+q+5Nax42rpNd10/rft1t5n75fse3KS+E7JZZkj1Oy8PxxCQkMNu4rE6k7CF2nackjAAGauKvtdWt53vrZ9Lvda9Wlex5eKjyqVtdk+t9VrtvbVq/Xl1s+X6f1y8jS2LPGpkQCPzGPmm4kxvLqnXYMdcEc981VSLim+jS038tXtf8AHqml7pwRe911itPuS3Xrt6t2Sl4zr2sxKx8xIw7IGcOVKlSAuVJGF4PAAyDxzgbueS0d9Lbf5fN7p/odidmlv892vSzv8kl57EXh/wAM6h4y1rR7CCKS1to5jK0juBBHDCDLLKVHLYQEAnuQDnIC4Tb9lJW30T8tL2XXby63adlLspPlqQfna2n+Tt93daH2l4SSw0YQm2EcNpaR7I44wm+QJ0kKHbl5WUsMdAeMZYV8Zj6b9pJ3s+q10SXfzV2tNfJM+4yyquVJu/lt0aXfb0e+lrWPdNB8Qan4iuo4IQljbEIuGG5nUD72ACA2evTBHBI5r5/F3jC97Wv/AFfztbftvdn0FHWcezf/AAPVb+W3XlSPXtT8HeDfEXgzxJ4O8V20V/pviXSbrS7+C5CyGRLqExlkDZKsrMHTAGCo54rzcux8sNiVJaNSvq9Wu3T0/Gz2OvMMCsZhXBe8+Vxt5PZ9N1dbtq7v15/wK8FW/jD9hf8AaFPw01u5urLwPr2szar8LPFMzSx6cftUxf8AsS9umwohmDPC6k4VlUjGSV/W8LmGGzzL54avJOtSh+5Ttfmdlpvd2v6Ws7aI/GM0wGLyPMMNiMPGXsq1WTrtbOMYt6uy2ffz0je5/SZ+zv4s8IfErR5NYlmjtNZskibV9PvJUMlvclN0p5fJgkZS0LqWVlKnhTuX8zzPIMTl1eeJxetFuUoX6pSvdb/Zdn7um6vdo/U8u4joZlhqGFw3u1nFKdtd4pa/NO8evVppRPbvEXj/AE5LSXT/AA/apkIYZpUIMZI+XehwTwQBxxjnDZzXzGKzClOXJSVlHR6W8v0d9X1Tvo4/bZfktT2cKlV8zlfl1ve+vfZLTV7r4Xf3fLrLX9cnUwi9fywJI9iBiORzgHJOeeMnAyeCAF5JVXOL8umq/wCH+9bX00PoXlPJFNrVJPRptrr8+3f/AMllyqeGb9biSexu7iGeSR5QjSNhmzlgF4ALccHcPoBivKqucZXhvqr33V9dbPZb9XzddpepSwlF0YRnsrOz727tO/w9bbadzoYBrTRsZ3ukkUKpjGw854OGwSON3X8qz5q76v73fltu9112/LYl4Ghe62326b3+z9/l8K3lstp+oNCtxeXKTRhcCNtvAP3lCYYnpnp0z1z8oq1alaTbstd99NF6pW2fTtpJ/U6aXurXtb5+TfXq/NL4TLbQrO5KvJYxBVbBBjiy7cFXffj5Ae4H5Yq4YyXMu19de6fdxu+/u3fltLkq5e5O7SS17/jpfrbbzadmUZ/B2n6lqH73SrK7lghKxPDC8dtEgG5ixUIhcYx1OT0JxmuiOOnFp9P027+aW6snr15eeOGUZbpW/RbbLpr9rXZpfFX03wTZPcu7aVb29rbN5pWKEPLMoOCBv3bQcZHKEc4ycblPGybv536+t27vZdlto7K3K50VLTf1VvS/vS62807Wvq4mo6R4eto7totFsllmBaJ5fmMZGQGPOC2MHBJx2/iK9lPFSlFvXvbXTz0f4W37NPmypYP34trr316P+R23etl31Z5bq0SywSxwWixrkBpVVN8rL/zzwmdoPHVQRyOhrSnXk9Vda3trpr10Xysnbtf3Tpng9G0tFr5db9NE1o35a828fKtQ0uCS0cSiTiR2KdE+Xk5HHbjPOfQcmu+liKjlBPZtX0d3ez0/Lt3vduPJPDRV3tZ79L7v+V232f3by+OvirJZW5uHaRYUiYkknnaM8dTjIyOueRnHNfQ4OM5yWj1enntd/Ls+m3WUfmcfGlCbk0o6W3tvpfR+T6dOl/e/Lv4v+N7XV7u8tEvoLHQdLhd9a1piojs4BktArlsSTzAFVVRuy33V5r6vB4CtUnTunyuUb6d2rt6NLS/Wytu7qR8Nm+a4egpc0lp3tt1+13/vevY/K74vfEkfFbXLHQfDlrLH4d0aT7BodlFvZrhyxWS9m28PJcOSxdiMJkDBI2/d4ehDBRs7p22dk9UtF/kl/wCA6n5Tm+aVcdXjCjGTpylyuyvf3v7t197svNI+uvgL8I4/Cnhxr27ib+2b0eddf9MhgFIwSBjjIb5c545G0V5uY4lVPdstI2u9u/Ryd9Uku3du0fseHsso4elGpy2lLe8VdtPTs2lva3/bztY+/fhcotHtpzuZUZVfbj5Qp5IHGTwf7vY7WwQ3y9alo/TotPz2tbVXuuisnL77LNKisr2tZdrr5b2Wq09dWfpl8P7r7fDpRtWHloIzggBgBjgjkcYHdcnOSAa+Ux1FXkurXZ9t/wDhr30ty/Z/W8lTlThZ9vTdvXRWfza+fun3H4RhknWIKx+VUUEYHPfOc9Dx0HPfmvlKkZNu6ajd6O+97eW//b21tNWfc4SCp2kuze/m79E1bfRu9rdT6G8P2bqiMCBMcDGc5HHrgEnvwMHI44K6UKN3d3stUtOl+q269V21u3ExuJ2j8STtppe91brt5KO19bnqWkCRGUzABywKrnK4xjnrjjjpweoPO7rguTXZ3+7ez+LV/dfre94+XjK0ZRXIrvltpu3bdrfZ9ZR6eaj1Mt1KIQIgQvVmHoeozkHpwOuf0rrVXnSins1azv0Xa1/Ky6XVrnmU4ptucb+TV/xcl0Sb69NNGUZLyRICQWaMnLhvvZPXPTgfj68Yrr+wktNO19LP0tdfNdb2bInFKUrbdrJK1vPTr1+9r3TiNXtVaRGikJ3OJHQ/3G64J54xnnHtnGKIbrXTX+r2v2eq8ra2Ena9mu2mmvXTbqttn5n4xf8ABW79iuf4vfDH/havg6xN54z8HwSPe29vGZJtQ0lVLSH5VJZ4PvgYB696+nyfM3hpU6S0i3yu/npd9PnfTZ3R+S8f5XHGwrTjHmlG72V77qzt6b83fq0fif8A8E7/ANp7VPhH43Pwt8S3TWek3uqr9mlug0b6ZqUTlVdQxBVRIuyVOQByRzX0HEWR4fMctlXgozrcjaate/yjK+nTS++n2vzDg3inE5RmMcDWUo0fa2d/hUV1d+Vbf3e7V9pf2UfBX4iWnxE8OWd080DX8EccN0iSBhMu1RFdwgFsxyrgg5GCeVGPl/Aq+XYjDSnGpF3UnZO66db2dr69lu72SP6P+u4TMqEalGUG2r6NPX/t1paNpaJ36tbHq1zoLPM0vlqVR96AAkMexxnjHGR8p7A915EpppNPttbS/wAtunl3T97OFoXhLbtto3bbrv03XR3bjgap4Ni1rzJL4CWeIYgD8BMg4AxjOCP4jjsMYBrSTlBde/b8m/yf/bp1RpwhpH7XvLTrvrqt+1tF1e0vHvEnwu0G9eK2utMj1K/kYq8iwrttk3AZJUj7vX+LO3PHSrw9aUZeV15/h7q38/v+1pJ2Wmrtr+uml0vP8VqcXcfBzw5pkn2C8s7S9jnlTyj9nC5TP+rkkA3KCDt5OR0OAPm9GWOdJRvrf8uyWtrer7XX2cIvV7K3V7fd5LXfXdbqAkH7PHw/t7y4M+nQW5vZi3k20z8IgUkKVdRht2NxYY7AdGl5hFrVLfvZ3tstX0TV7+nLo40689I726X79PPfstru+qj31l8CvBVvo0i6dpVrAyzuspku3lmIxkbwzEBCMYYA++M/LMsZCW2lvudnrbWN7vTby01Oac6rqwSey820m0n8l6y8vdTNSy+C/hW3tik/h618oLv+0LdkyMT2CGUgKexPA6DON1cNbEtvR+a7aefdvpbrre6CtKrfvtK/b5a39U9bp2VwsPhZ4FMz+ZpgtiFzDHFI7+YehHVzg8Z4xjp1rm9s72btq0tem/e17Ll8vK3LLo9rWhCKjGT3b+1ZW6+t+703vry9KPhl4O07Yg0iKOeQeY7wO0pSMheSWK/vCMDGBjOeT9241Z3913d9u2/VxS0tvp0/7euNeo370b9tLX6Wv1t2Sj+DRiXWgaFoPn3Fj4auLuJXEqGZ0Kjn5i7E79uckAFemOed2sqk7WknZavX8Fora6u6fa17c+t5VPhVrLpvbv8AZ0eq3vq7JWPNtYeTxBPK0ljbW8CcwwogGwLn7zZycHg8ZOe3O5xXM9PLzve+2sddP+G2loqUlZu/ndLfzXuqyWmra6Pc88m8FWeqFZT5MFxBIdrRK6EkdNxHAX3z0HGM11U8PfW2umiW3n+ffo3u1F89rxbtfTv+H3vfydrHq3hLS76yshbXCxSxOcBgzMAg5J3dAABklscdx1rSnCTqcis9baferXvve2une10jz5ypqUpStbrstFf11+TforuP4w/8FSf21ND8D6Bc/CbwHqsN3qt6kkF1c20itIJjhLjcAQwgtmzHnlWcYC4ya+74fySdTE0a9WEvZRcnJvZ6dNel1p0297Y/OOKuJ4YHC4j2LXtW+SEVZ352o9bK6u900rWvqZP/AARC/YQl8S6y/wC1b8WLV9gvJH8B2OpRFX1Gc7jLrBjmHzRb2HkvggkZ9Avu8Q5lChQeDpNfC00n2Vl2tfW9k10vofE8P8PVsJio51Xi5KvKM9b2W9nr2b7K999bS/pv8R6SYw7fKwyzjnGV7juAijkYHsMgivySdKcKkpy6tvsnrs99dP5Vbomj9owtWOIpwmrcsrQcfKys9F1Ss37uku7aOFjvv7LlaCQYiuWBQsfljKrgbSOmSck9PQHBKtVFZaX6O7sk9XdWXXt05ftXudkqMEko2dle76pb7vvv212ScSpeyRuBITnzCVZlGVJxx1zn8AOe+BTvzWs7a311vbft36/JPVy5qknFadU9fT5P/wBt7pu3u+Y6pdx2ks8TxY8zIjHXnpnOQMgYPPqOgIK6Pvf5f8N3u7q8dnre5zQl72jWr/LXb8Om9/KXnN8GkkeWfc8YJ2hflwe3pwAOR755wTQtnovnv2v+OmulutzupS79dPL5/ltHv0SPNtbfFwzKxYBeS3AQYyFHUnHX8eMAZrvwsV2aWrv67276O267q28eifLa8esbv7uvnZX6WWmtmzxTxky3VtJbZbE8cke5RkKvzdsgA4PbH1bFengoL2zV9pX/AB0+038132W58/j2330V7dXve273+63TSJneBdEt4tFmtbeZjCJ8yDIeR7mXKpG3I4xhgp6Z4xwV+hVblbjfVNJLyVlt897q/lry/Oqi511zNpSkreV7Pz6fE+q+wr3Pln9pb4TapImk3pWS5VLmeSJCGzBG+N4jyHxtGOuOeRnOa5cTU51yt6X5b9fXTa7fk0rPupftfCWFp0qMHFq6UX177bLV20s9dLXu2bn7PvheaCazhtxIjRhCXG4FiDnLdMde5wPx+Xw62HjKT722vf7ny/etfNaWj99XqwjR5ZqLl5226JXV3tZXk++qdz9ffAEF/bWdnHPOzARxtyTllGcn8fbJHPQAbuOWEVrJXvdL5r0W3p1tpfmj8Xiq1L2krqKafo9H5KV9NNGttbfZ+mfD00EQjyvmTyp5cZyMITyS3UgKM9B7c4AbqwuHjTTclrtt3S8vK9+qf2rXPCzCd5KpFNJL/htOq1t16pdXHd1XSlurC6cfLAI2UleMycZkx6ZB546jPqxjcG8RBtJt2W97620e9tVrv8tIGWAx65+WbV79bdO/vJrXzfTo7nyfLGfCPxH8NeIVmBgh1m3R5AchIpv3EmWDAKCGzzj1+bOa87Kas8Lj6cFflv3to03rrqr3jst7a8x7meU/rWAjKKT5V721vi0Svd6a9VZ79OT0/wCP91HcaxI6hf3vkzW+McBhnORnIOAevB5JPSvv+JK1OeCjfdpJXvqrwWmt1Zp69dFbS5rwBT9kqrk7LZ3vsnJfN38ne+lndS6zwbYxn4cahc3kLlVhiUSEcBj165wMH15/2QRt+Wyrm9liG9nGLVtVrLppppp017XtLxeIakZZvCKbbU6ln0ScPv06O++tm9D9p/2Qp/O+Avg5SciGF4oec5jXaRn0+97Zxn1Df0fkF/7Ao6bpXS6P2aXk+j6K3W+8v8/uPKa/t/GNLfHVfn+8kr36XUf72qtd3vH620v/AI93/wCuzf8AoEde1K6jRT6UYf11636/fofKxd+byk16H//W/uGX7o/z3r0Dzx1AD0Bzntj/AD/n/CgP6/r+vzJaACi/T52HBWnzPbltfbW6dvu/rU8R/aO1caD8FviDftcLZj+wbu2FwefLN2nkliRypAY49Txkchoxc1ChLmkk7faa6LZbXd/Xr5I6MvoKvmFKUfeXNa0fJrfps7Wdr7PZKX+fJ+154ul8V/FDVLeO8+12XhmCPw/pshIETQW7yPKyYIAMszsz54zzxnK/lWZVObEaO6V7211fz7afa38mz+mOG8FTp4Sk7W91apqNt3f4dd/7vZ7XPz88VWi7LlzhADvATleAM5znrwc7u/bGKxpe9ZdZc11879Vr+HytaXsY2/vRjquVu66W++1rfzffZM+O/Gs3mTXGzBUO3JJ5IOMD9Tx09T8wXeraMYx2WtrWT3u++y+/fRKxwVEo+zT3Udb+dt/NXa+99EeH6lIy7lAPXdyeM+g+93OcZ/PqvVRTSu1pt6318rbba+q1R5dWMnJNJtdNL6vs15dLfdqc5Y20t9qdrE0ZbzZ0jI37cbmAB3c85xx374xmnVkoqnqruTv3SWr+VlfdeV3rHClTcue8Xola+mr0Stvre+/33P3c/Zp0mfSdEWFPORxo9hFKAuWc+aGWNx2QqevptyVyTXRQezat1vunZ+fy6vrduyPJxsPdlbWXl/i6O+m13912naX0Z4kv1n35EYmiiWMyBWWKJUxkB84ZjswcA8njFb15RUElJSl5b2fp6W95x3u3seZGEk9VZrfS/wAur0b3v9+jPHNb+yu5ndllJ3TONuUwAdigHJwM5wP4upGSa42vdtq7r72vz1OqL0i31/FPpvr239Wz1T4aWs+geHr3WOYr3xDEbawklZnex05CWnuOSPKkuN2yPBXCjHzVjJJRfNouvTyV/i2s3e2u2u8emm23eK5rLV9F3dlfVa3VuvVno/hTz57qO4ubqSSOTK2kcjkRzKM5mOTwOVCAlclfoK+Wx/I73dpPpe9ndf117PZqP1GVtxS5ny+b17+l9tr/AHKx9d+CtW03SdPlNwImmWLIcuMsw6Rp1wfTnvwTjFfMVacqib5dFs10d97J6tqy1tstrpH1VKonyOLTv20ad73su+vVfO7R3vhzXxr10oksjCvmKollk3ySZOBnBACY5yAT64NfPYinGMr9U0+z1u/lZ6W0+drn0FCU5U/PbXXpeLTtfps7/N+7LR/aK+A/wn/aD+E83w/8dQJBeNG0/h7X4fLXVdC1vYfJu7aTZ5gtVkIWWPKblzgk/MnZhMxrYOpCpTneSa5Ye9aT3t010TV3b1tymGIyejmKdOvC0E3zSdk1pv8AafZaOL66XZ+X3wz1r4nfsu+JY/hl8X9QuoRpwW28D/E+LzZdJ13RY222una+8bOJYRGYhFJKVngYspOwV7+K4pw+Z0VhczaoXTirq7b5dlyp7pdbLS19GeFHg+vldX65lVN14p80rPl5Utb2nNaJ76auy1sz9SPAfx98Oa3DaaFrNxp+i6xPHEYrlJlltNSik+5NZXKv5c6sDk7WLJuIIBXFfL5xkXsKdDFYKEqlLETklKKvsk9Ulpa/Vd7Xb977DIOLcJUrSwWPrexq4dJzhJWSveOjlo9tVHVLdr4T6t8N6XFLbxXNvc21xA8hZpoZI5ODg8YbcGPpt4Bz0wa8hUKlOP7yLj/i899G10d9dVbpduP6A8yweLpr6vP2l16brTbstN5XtbqzupNN0y2njk8xRlQY/k+cscBiBwRwGGScY6Y615eLr04WtzX5+XSLemrd2rdXsnrptdcuUPaVF7OP2XzXlKMfd20vdX+d9bNLUbMwYi3sIbVZ3dt0lxETI0I9X+6pPZTkjHBPBrKnzVfeT5U1vL3dG9WtrdO99t02bU3Gn7tVq6dtJKS200V1ra/xappWSZVn0O8OyV54LcZ/1KRgtwBuYdRknnGcHpzjNFWjUcbOcf8AwOPppro7X3Sb7LVHbTqUZPkpv3krtySSS6ptt3tpbVvW+iS5efbw693fhBeXP2YoWl8yHc25c8JwoO8DAA5GeqnG7FUdei112079NLvRb9rL7TqTp2d5KMmtWmn2+6zfZrW99Go9hK0ttp8FiAPs8JO2LYsbsvT96ypuPI+7jkjnH8WnspRje1+9t/yk3ddWlv0SSj5jpNzUuanyX6yV9V0Ser5vPZdL+7zV7a38sscMayQG8wXkxtURDhVQAnIIz1I9MlhmlCDlJaStvbkduyW61TW7XayjdI2VOEr2lBWurOSVtNu7eisktN7yv7uRceGpJbaa3lSNnBbl/m+U9yckknkYAGTg88V69DD3jaMW2+V2sr36rrq9NF+F3yW406a9o7Ta1ag7ye9kkr3s3ra70+1ojir/AEWysbOWKQpllcoSyoEcfw7Wyxzz7HPbGa29k4Nc1OaTe/K01/w71Sdtkt9Jc88TSkrWlT30nFx06fEnp93roz5a+I+qW+hQ39wTDHDb2jyu80yW8aYXLGWSTYkabQTvbj8iK9SjhZOKqqEpOHvKPLq7X1Se7a89LdTy69WnGnN+2otRu7e0g5Wdr6aPTZNWS62ufij+0n+0DocUWqTWmsw2Hh6281dQ8QTsQkow2/T9EiZVe+upGGwSxq0SFgd7Yw333DWU18c4zUOVJp2qpw0ul1Temm+3K0mtXH8q4m4iwWD51KsrvS0OVvqtueLvv2u/Npn4gfFH4weIPi1qUPg/wZZ3Vh4UW5IstMT97d6nIzHzL/VJVx5skh+cb8LGpIC8fN+oUsFhsvpN1uXmim7wcZa22Vt9bWs1pvfmvH8NzTMMbnGIVPAxqNVJKLc1JR1dk+a0rbNXvr1T1Z9H/Af4HW3hiS11rXStzq8gV1jOxobZtoKoBtX5wSSxHQntgBvn8ZmdKtZU+dbra1unTr6L5x+19vkGQ0MFRX9px5sRa/uWqRTXaUop2b1ffZW3PtO12W2mXkcKgPJdeTsXkjceMNxxjJ4CgfL15WvFlzzfvNNvV3eml/TVvzs/ed07cv0+EpQhNu7jR3S2SVtuXTbR21/U97+HGlmOONgWK7Yxtbj94zZ6cjkn0wcdRzSqwbg1pd317JaL+W/mnrdaJbS93L5xhUV3e8layvvpb4u3eXn0sfo18MLQW0NhGi/OyAtxgduh4+uMD6HI2fLY2lrK7u3prZcvlbey2VtFfrZxl+tZHJOnDlUk3Zd9Nb2+7t030977s8JwiO1tgzOHcBsgfwgfeJBPv6ZxwOtfN4mha+17a9dunfpbRabu59vSqOfuxunotdE9P+3k9d727tq1o++6JcwooJDNDGF3TjOBwmT/AA/p09BghvPjPldlFrra1/lurrfbtbRNuLq4eU+3Va9+70nfV3a0a633PSrO9eUwxbIkjkClJwN7EduMHBIwT0H867JUp1EuTS66qy5un8y76Ws/NtcvFToU6Er4l81m/wCG+Zu/S0krNJ+fzveO7FpupJMhjkLxN820hioJ/vduew5A4PsrpYWotZSgrPa+j8+mvffdd2zOvVws7RownG3WSXz26W6u/la0pCamk5hlEsawkJgLH3x1LHoM/mfQ8NXpqnPkTur726W+/VfLy1v7vmycZNxS1Ttd/wBRb+/XbTTm8+S5WScwTgKQWRHTJ+U8MGI6ewyccfRpjFq+vkvT8bemvnzbwynFx3d/nulte+l91ovPXU2Z9OgvbU2MsKT21zDLDLFNhop4ZV2srKxYYKkg5B684wN2sHOE1PmXLo0ov3tLb9ne+mvfq1H57NqFF0+euudVlpGOr6pXi7bPXV2e91qj+Sf/AIKm/sOap8G/ihc/Gb4XaY0Wh31w2szW9rGRFZ3pl8yYAQ8bHJ5BA4PBODX22TZ3TSjRxTlKnomldprX5du/bkdmz8g4h4MnOE8wwEIwlrJRs1PfqlFpt+ui6Oz5vXf+Cc37f1xb32m+GPFEp07U9JEduQ7OVEPCuk6MWdrdsHEnzeST82QVapz7I6OYRnj8AqboOFuSSXtOeC1vGN99LXf33PM4V4onlFSGAzRVo1Iz6qSXJJ6aycfs2Wittqt5f1VfDLxtonxE0Wy1jSbu2uUnRDcQJIhaB2TIYYZhJESciRRtIOcHmvyLEYCrHEOEqc6XK2uapFxgvP4W7dn6bWP2WlmFHHU4VsKpTVk3aN9/KL8lq297Wf2e1l0k3U08SxsvzcMgG3JOQN3T8xn61nXy6rFXptYhWVpUruN+sbu+tvJX6vY6IYlqLnKMuVNp6vm03fwu99Ptfdoo8dqnhe9sZWnjSbzA2dygDaO56BmAyMk5GOc8mvPWHnTl+8g6a1fvL8NX1avr92lj0sNiaFWPKpRi2+ur22vsnrstu6slLl7pnthi+sopWdv9e0JMgDfKQsZyeOcHP3ucDFa1XSSim1VdvsNe7vdN8umnbmstNOZOW8qCm7U6kbK9/nrv5J66+i192lcS6DBbOLnTpJW8oraSRE+bLcNkhGXkquGwwzkgYBORu5KqhGLtB2vdX+d0tNej12VtdGzSll1SbvzRtraNnd7fLWzW6v0umuXAtZ7a7MVlc2U1ttidWkSRoGkJHyxsGxwnct09+RXl1qrb933eXRp66+W2lutvuaR2vAckot291Wa5d9d+lu7Wqta+/MWoJbGyhlhYzagsat+4WQsYz/BCXwA6/wB7aOAQBnJqY4j3bSTlrf8APzTv133et7GksFGo1Zxine1/ufRNPRK2u2uzZgveX80iN5Nrp8SN5kUNuZGnGGyitLuwP9rIXp0GPlcpKpyuN4NdX21X9383vpa56NDBUKaXMvac3SOnKu707vs9O9y1Y3F7FctvluJmbeXZ5NxYuudqOeCqZ4yB+OAF9LDxtaUp/K221u/a/W/ZaoK+Ew6g2tLaaXv+S7f3vO7aQ/UtNjukO17tpjjeDcSBTk8E/eXZnsRxk9c/L0zTrJU4Qd07y1Xwtb36a3a+LtrtLyY1KVCTTjv7sFfWcuqXbfrddG5WvHlLzw9NalriGQyMQC8Tc7e3ygY3becnHOSeMVpR9hFKEq0VO/w8sr3vffZX20ttbVq8s6uKnyvnwVSlBuyqOcOVpdXZc1nvZW0vduzKCWsdnHc3t41lDaW8bSXM887QQQIo3MZN+E6ZOGIJPCljXp0707VJ07UNlW5tLtWinHSTd7WVumtrnjVpqpJ+ylz6t6LaOze3a19+yu02fkn+2/8A8FF/DXwT0LW/CXw81tr/AFjWrW5tJDbyFrmV2RlK2uxvNsLJSSHuJApkTPlnk19NkvDeNzCosRGk4UE01UlZprf+a7+a6J6fZ+M4l4jy3KqMorG06+IensIc8JX2+KUeV6u+8fJXufmr/wAE9f2Dfid/wUG+MEnxp+Lsd9a/B3SNZjutf1a4V4D4ia3kMkXh3QmmOZbEbRHczxpIrAN8wJBr77F5lgMowNTCQ9/EJKMbXVmmm7pptNq/X7naR+YYLLMfxDjqeY1oSp4GLbnSm03LRWaalbeKt7uuybu+X+0PRPA/h/wboGi+GvCllaaBo+g2Ntp2kabZxxw21rZ2kYSGJUVVI3IgLseS2WPcN+UYyrVxGK+sSneF78lnfu12d35Jerso/q+X0vYUFh68VUppJQUbJx16ty1utl+KesuuluU1SKKCZIxLHGyTnaR0HG0/MGzzn5j75HytyYytTq03y05Qai1zN9tPV9979dbndhqMqbfLL93J3jDqnfdyulqleySva91ex5H4jtI44ZI3VlTzj5MoUsAwbAGecZPXIHXBPNeHGXK+v321+6X5ff8AZ9GKm9r2u1bvf5rdddUpJeSODl1VAyWjYeaEFhhtgPHXA3Akfy4IP3q2jWSuuXd99vny+eu/kukVNNLlcb3Vumz17v70/PV+7Lg/Ed5JJOEe3/dbN3nhxg56gAbiMEYPPfjA+7spq2z1emq1t0vZ+W8Y/P4jmjhnG/vpq/ZpfK7la66/fdqxxV9OHt5IlfCMw8th94gZB2kZx16sMc85q/1Wv+XTb/hr3TNowa69Led/PV+uy733ieb64IY2jmdmCRxmMlSCHZuPnA7gnjO3pjPIFerhtIpN6X6aenTvulv2STUaUnK/3JX011Xa+3RP1PGfEEExhAgkSWTcUVWO1SpyMKVUnIXuefYHmvUw8VTl7S109bLR+ibb/RX2l1OLFQjJu+t1r6X/AA3elnt5rl9Y+BnheObw9qt20MbSafqbXCs43bpGQBYSGzuWMbmDEL1454rqxEkuas3pLXlW61tbs9Ule8u91rzeInGVd0YQkpQdnN2s3fmWyvd7X002ta0vQfi/4B0bxL4Ph1C1gjWaNT5pXDiOYqDIpQAsAzDsCOAc8kLzQqqcbtt36Jq3X7XNo153+Wil+r8KTlSlTjU10ilbZ3e1tnq7X5tPPRS+Sfhfpq+HvEMsEi+WhlwnGQWLckdx7dMdAAMiuHE1eerZe7G0VZ6Wt5bb3/qx+hY2kqsfd0vBPTb4bdFvd78rve+mx+i3hK7gihtZZAHUxhG2nAV/xzhRnlRu9Oxroh7sFLWVo393d39bW2W6d++qPg8ZQcKzi5O7lp3WrSey10a9b7XtH17Rr+yimWYOVI+RiTxhj8rAZOTkgHjjHQ5w2il7SDUVya3u+vmuu7a3fa2qceSvh3ZUv5o8ydtPR7NPd3XNfyvc+gfD8NrqELRTgt5kYOxCoDgr33DHzEgknb6nnivQw8o06TjOLm5Ld/jpe+q7/dq0fHYx1MuxKc053k37q7ad0/8ALybvH5B+PvhddMivmtfMhZGe4ijyMb1wV2dxiTpjGdh5GSG+bxlH6ri6Fd2lGcp8sU9U+Xrfo7Pa3d7JS/QMtqxxeW11JNPkhy8269/W3xLVLbRq97a2OX8Z682v/wDCHhTvNxoWlzzHq5fyI1kBOTyG3dMc9sCu7PcVL6nCtrKOto3tazinbW2+urXZe87y9nhbB+wpYip7Rcq+GPK9felZ3062et9tLan0/Y6ddaX8Er67K4N5eRrGGBOECckgbQBn39MYya7MsiqmCoyXufWLwTavy8s738012tfrqk5fnGYYlYviL2CTShUtzXdrcmmmt9Uku12rqyZ+u/7H1uYf2fvAjMpV5rN5WBPqQCQPTI46fj1r+h+G4N5RSw66K/Na28YvXd2+/W6Vz+F+PqyXEOaU0ruji69Tm78tSXutbr4nZ2bWis7n1tpjkQPkf8tm7/7EY/unv/k43N61SPK4w35IRhfvby6aecvU+X5bQpTv/GpxrNfyud/d6XtZf8Hc/9f+4ivQPPCgCVSNo5H5+9Al19f0X9f8MPyD0/x/z/n0oGITjH1/ofyqV8fny/qN/wAN+r/9JPgH/gpV4xbwj+y74xmSYxSXxggyDglVYuwzkckDAzuzz8vBDcObzUaEk73tddF6P/O6avpt73qcN05SzGnbbnW97dL31vre3fo+a9o/wC/EO5k1HXtSmkZpJLq8muX/ANr7Q5dct6qOOp6np0r8ury5q0nruttW/wDg/fr62j/UmX0uTCUtvegvk7vTfW2nX1b5j548cRTQW0qnhWjbAwQRgH5Oc7iSARz6dc5ropU9L2s9bX0tr6dVfrdPRLVsVSTvNPSySj82teu662svO7Phvxidkk7fNlnfrxt+c8c569wcZ9T0q6qTnTvru/SyX3vsm7b6R+1xYiF5J31cVbS+3f3o/wBdrXl4nqksgyVbfuOANnt0HTrj049Bn5e2PwpJ9vv1u/Kz/rQ5ZU5Jrr6K9mvv7vp8nb3uy+FGjDxB4x0awnUlJLuNnHG35Du2tnaByB7jrkYBbnrNXj2je/r91l215uvmiFaCej1W+19l577L4tNXfaP7o/BWGS00jxBHEh3LYIN8jdIrcRDCMQMOByPUZPGAF66XwR10Su1ZJJu70eulu0nv52j4GLaUtW7csul9fPR3SvLqteW99De1G5kazMMb+ZA8g/dscFwGJyZcA5yccgZ9+NxP4/SzX+Xzu+/43j5ykpeq8tNe3bZ63vrbS5zUlpNqVytmjIpmaOIkgFYkB+Zc8YAxgsT36jJ2ro/L8tnr89N+ve8admmrX0b69Nbdrvp2+R6zfyQJ/wAI94dhnWKQ4guplO2EWcWGkIOSQxyUXIGW4OeKwxC9y1lotvNNb3bvfslpvppy7Yd6tera+/1ta+utn3WjNhtbY3zRRmFILULZ28KbY0CJjDsxP+tYEsR3OD8wGF+TxlNuSkk3+ibTd+/bfzeygfT4F7LTRPztporaXvu9dLPezidpp/jFxCLS0DyhXCTzNztYZG0bscDhSR1684Ary6lNqM1s3f530/XW1/xvH6bDyslJ7q2+lld+t2u1l6+8e1+GvFsmnWCut0PtG8BVkZVVffnnC/7PQDqBgN87iMI5Sk9tezsrbactnqurV/VJy9/DV2tOnbfr6dHt9/u3uel6X4z/ALQm23t2txNs3JMW+U4/5ZoOQOOM5HbI4rGWHT5NXaN7+t/Tq/8ANPoe9gZxbqe01UuXXon5NWta3zeyb0NHWtC8LfFHRbnwt4z0+11jR5NyKW2/arAupRpLa44ljdOcYbb8uefvV4WOpSdeDV7J3Tt6b/Fvayurq9rP7P2mBhhJ4WpTk4pSjZ33017J3dm+lvd3Vmfmn8Z/2Zf2jvgbNP4h+Cjx/GX4To8l7L4O1Cd4/FHhxQd7/wBh3uFnJTqqLNtbbggg/N+rcKZ5ltKg8NmUI1E4xjTc9eV9LWutulpadVY/COPOEMdWrU8Xk0p05wnKdZwunKK2i1bvt8V7666HFfCn/gov4m8D6rDpuo3mtaDf2kipdeGPFsBtdStnTh1TzwIbqIEEK2Q5UDnu30WYcH5TnVN1sHWhGUoOShBq97eX2tUt3bvvy/F5Zx3nPDVWOGx1CpKnGVnOWidnyt9rKz22tbqpR/Vj4S/8FHfh540mt4/Ew09rhwgMsNwtnKrAYKGCQiB1yc5icA4GM5r83zDgnG5dKf7l1KTuove71ttFt7PtZO9nqj9XyvxGyrOIRhOusPVSjOV9GtdVe+/vX2jpty3PsbRvj78LPEriWw8Q22nCUhWS9by0ycEYnTzVwSMbvlHXrncvymKyXFxl71F048z77Jvq7K623+atY+5y/NsoxDSji4VJPVe/G6vtpzdVr0vu7NpnqWm61pHiCaKTTvEekXsIxuNvfwykY6AZcEE55yPbudmbyenShz1arbbtutPu5dnt57JJ2l7M6+Gox9opKcW7K2/vLTrp31+7qd1Y6W1xdYDiRUUvB5LpJuIGfnZcjGcH0+nStaeAwlm3K/W7S0V9/uv0W11Y8+pjKDXwyva75Yv71qtrK2j87XLz6Bb7zNKVlueWS385RvcD5UI6KOOu8ZVcHPFd0cBhYxcoPml0Wl156XfkunXS8mc/1qM/3dPmi39pq3XpzS0vZ9evlzGVfXGmadZC81W5sbJVJV5ZruG3jix/yzBmeNmK452jGTwTnFc0sMov+F1a2d7rq7W3v1+V73KhOT+KsvvitvS3XtffZXufPPij4w/Dfw9JdNqvxA0KyCbniWG5W7kk77FitxKxYkY2nb6cgk16FGjOMV7OhzT3UbSe3kr9NNLPo+iNliXRi5xrw5466zgtNtW72Wvfazu7e98H/HD9u74XeD7G8bTbn7ZcESZvdXng06xKov3oopZDeMDjdxEm70DHFelh8tx1eUb4dq7V7qetvOzW7tu/+3tzxsy4oyfDU5vMMXBT5W7QlTn06NzWtr2087x05fwH/aj/AOCln/CXT3WlaVLL4klQPHb2lmpsPDUEgLBRcKjC/wBWZSR8sjCBsYKsp219/k3DlSnUoVMVBRoJqU018cNNPs9I69f8NnzfjHEPHuDqLEYbJ41quIqxdPDzjTfxyuk703JJXa2j162tH84YvCvxr/aK1hNW1oX0GjK++NriM2mm2dv2jsrNI1jwF+4fK3H+Imvq6+PyzLbxwyhfpycvpspdLd7Le8rs+KwWSZtn9SM80nOm9G73i+j+3H4ddk433S3PrL4d/A7Qfh9GFW1FzfPjztRnQrO8mORGWGIlDY+4MkEcE4r5/E5nUxl1GcuVp6LTr116+b0ta0rJn6Ll3DmFyymuSEallfm93W/X3UtrapvZX11Z7lY2CWsAMRXerFUYjJ552sexB4LfN1yMABW4OTa7t1VvLz0fbW/f3W/elvXgk7JW67/rdO1rP7O+rdrnR2AY7IJDl5JElyDkFgeueucZHRfzAFaqnfV6Wv8A1b7u2ivrrEiMmlZadO3RtWVrK3/b1l62PrL4Xab9ouLeI5kQyRHCjIIjxgH7gHHX+nWs60k42WnRa67t3e99X/e/I9zLISqVIeclvHv/AMDXrderUf0l+HVgg+yv9mYldqtgcKFBwAMqMYAJ5/Jj83yuPm1J7a/hro+qfda2SV3dNs/aMjpKFOHW9raWvpZXelrN2v8AdeykfXvhydngRPI8lCwiQgFn3nADHgBVBPQEjvxmvnK1S947vvva/wA9bL0ve+l0j6/D0rd+jb89/k7paa9E72cj2fRIxEiW053mQKS+0/OWA528DA4zwcZGOOadPDQaTb3f462/4F/PyOydlbotnZdPzWuvnr2PXtDs9sqI/ls6gGEqQqhQBhcfKCeckY/P+Lt9moq19LWunfb/AD9df7trni1pe0btvdrutNNdf0XfmWh163u5pIkREIXy3jcSAlj3Vs9ec/yGBis5Ra77u9/W17aO97LazVnpdnnzik77t99H+evmuWP4GDPbywpPFcSNJCwJB5LKx5+9nIGecc4yDkc7utfw9raPr0120Xp5cu0dEcso8rfRN39V/Tu3o317S4G5sI7TfKzGbzC+GwdyknrwegH5Y/iyRWD/ACWy69v6/wAkclSve6vs1Zt6a7a9eummt/Jy1tIu/wBzCJGSV4/lC4GdvYN6EY9fTjkbcYyl7WSfwp2W78/Rbrp06anlulKvOpztuFNvkT1S0vdP3vRWVumt/d8X/aM+EWm/F/4ea5oV7axyB7OVrdWTcRKqlsDhjhiPQeoUZO2q2IlRi5QbTW3V9ui6t2tZ26XscdDFUPrUcNWjzU72s1fv6X37vtbVH8j3x6/ZQ8UeA/HNz4l+Fl1N4f8AGWh3LSrp8RKpeGJmLLGjIySrMq7ZIZPlbOOchl9vh7iZ05xw2Kk/Z8+sZdYt2t21v3b062vLzuMvDXDZxg55hkrUMW6btGFoy5um0JvX5+e1z6v/AGPv+ChnibwfrFt4O8XTXPgTx1ZSJay6JqjGDStXkjwrz6c9w5iieQgs1szRxHcfLUcCv0LMslyvPsI1gnCNZw95rlTba1enNZX297y0u3H8CwPE/EHA+NngM4oVXRjNwUpQnaybV05WV7Wtv12uf0V/CP8Abn8B67pMdp4zt5dF1maFW+0I4eyv3wAhRQxAGTuDwuUOc/LxX5njOGsz4eU6Xs3XpXdZSs5aPWye90lbpa6ttaX6nknFeX8Rwg44qGHU5qEoSmoyUne7svk99NPisz26D48aBrdu8Ol6lBcJdn9zOXVpIl/urufdkADG4c9zz8vx1fMYV5yoV6Kpu/K2o2/+Rb72t3ty3979dy/hqnHCPFUa31htOSUXzXW/w7/JN/O1z07Q7OPxRYmV0ghRIBLJqM8mwMi/NhU/vdOgPuORt6cLl2HUZSpy5uZ3f2knbReVr6brS+2kfAxGOr4TEeylSlSbv8Ufitpprf8A9Js0ntqcvqHh6Vm8y1dWnRiI4liLoY48kXCsAyhsdic9zncKxxuBsnyq/p8+6Vr+S31vHY9nA5vFWcuq2dtdVpe2nXWy7va0uSms4DPHDcl/tFyrNIxz5qgLj5gvCqfr9cYr5irhGptJJpt3VvPS14q3a278tGe8sbRrx6XjZLpd938t7u+z1THiwt3gNqtmHlLDbMCVMag56hhuLjkhlPXGQSKr6g7LTv0f3eXd6u/W9jkliqcW9eu//buiSvqlbztbW9m415bBISkNpYmV2ZTLI25hGcgFSQd2WPTjJ5AAyQuawE6knZW5dHv06vR736W330Nv7QjTjK75nZWStbXZddO333bi1Lch8PyLAZbiCe2Ow5xA4jjHUYLZYbh3bdu5ww5r0MPgJJpOWvT0Wmr16vXttdXTPncXndRScUm/e6JWXZWUY200tftdOxK+k6aYLi8vdUtNJgt0QyzXtzHBHIpwAcvt28jrzjPTgCvVhh6OG9+tNRUkoq97tp6x0tfVr+VX6dTgr5w1CLjBzqSlaNlHSW93fl0aT0ejb3espfJfxv8A2lPg18GNPvbjU/FVhqVxBE0piF7GlojKuR/pRZGZCV58tTxwoYn5ezD4COOkvq+FnUbtaaaav3+y2lo9LW2dtJS5sRjayputmWLhRoKN+VpwfWybje1rbta3dr6H84/7Xf8AwVg8T+Pb668HfCOO4u3ui1naSWUTiyWZm8qIadZR77nVbjP3ZrkMgfkIoBr7nJuA8RiK0KuZ1VRwcYuo4S59XHWN3FPqtOj89FL82zrxFpNVMmyWjKrWn7ixEXCa926d7qM7u+mnnpZc3S/sIf8ABJX4tftO+IrL45/tZz614Z+HD3kGqJ4f1BpY/FfjNRILlbeeL5P7M0uX5Y3AZZDExUKPlLepmvEscqpf2XllOEnGLi5xhF25VZL3rSd7vW67a2TPG4d4JxWaY5ZpnFeahKfMqU5TS12dk+WPwt+8n52uj+t/wJ4H8JfDnwtoXhPwDotj4V8N6NZxWmkaJpkC29nDb26BAjKifPMwwzyvud3LFjyRX5pisXOpWdXE1JSrTd4xba1e7tp330s9k1yo/YFhaWHdPC4SnFYe3LKSjtbXe3V9+X9DuHmknRmmiBKDC7ev+9045Pbb3PfFcUqqbvs72eumm3dapdX3Svqy5YZRu4p2X6/df012Xe5lXLypGJbd8SID8hPzFT13ED5uD8vvjnkiuarK8J+jTvovktH9yjva70Ip05KpTVrx59Vbrfqrvqn320texx+rXEl1bNHJMQqAyBflBZxzkdMDsQM9ce9eNVqJddPuv5Xs9Ot9b7abnuxox+HTXV6b6rXrs3u+m9rJHgWpyT288N8uQRdSQuCM5XB2ljx8pBAPHPbGTV0p822uzT7qy7We73v62v7udSnFXenuxT0S1b6Lbs/S3VOwauiXEEIL4Mse9s9FLD7oHDYPB4GD7c11wnd62utv65Vdro7PzW556fxLzVvPe/krfJ/g5eZ3he3aYsQ0UBK4x6nGQDntg5HPYgZxXZFdb2vtbv28ra9/JvRkvr52t89PPX9LWtqzznxNcRxxBIZVaOQ7sDnezDLKcnhsjnAGOgyQK9KjZRitd1+Ftd3bTz69DLms9Oja7bWS0tq9ZaOz0vZfEeP+Jb2SSO1toztkG6VI4wFeQg42FjtwWPQ98k5H369am/d3XS6vZ2tdv5JLTS/naxzYiS7pN3XTRvXX709k+uh9M/s7W11c6drFq8Yt4ZGWSVJGLHlANrcH5iwySNuM45+9WGPc40E9etvRvprrvbbpra65vJw6X1uo3vfmvb56rW+69L9L2PYtA0j+1JvEGgsjeX5MkoB5WPbv2tgnjA9m9e+yuXBRnUUo62V+99X2s20m0une+lj9ByfGKnVpSTW60T28+luid+bW17XaPlfxL4Pbw5r91cCGUgSlo9ueNp5JGPvMfu9cjBJGVDa1sNUjVTktLJ22v81FadNm9dFZM/UcJXp4mEXdNtLVyT2S03urabbXva12ex+FddW5hhVTIhjEe9ZBwRt6gcA5A4OMfTpXTRjdcstmrJ6Lpp1volrv2u9jxM1wsVUU0k/evv5t6NR028t7ppux7HpOom6dIoWUFTvVeCWCMBgnA69VB3ZPBwBmutUrK9tNG3rtu7fF3T63+djy6lK8otveKT72u7p+em3bV7I+j/COp3IMMUJkyRt81mBVGK4MZ64HOV+bnaeuM0oTV+W9ktNf0W2nqlpbW94/LZzgY1bVHFuzt32t2XXXv6pnPfHm0uJ7EXN7HHIWhaJWhjOzakb8E/NkDGOuSxBOTyvk59CUaeHqWbkpyd0tL+7/AHrvr2+d7R7shxF6OIoRfwxjZXu927O2qtZ7LrrY+TPDTtfW2hsxy9mJLRD1cJDJtVRnGOWxjOeMHBIrjrzeJy2Cer9L680U72d7WWmkrdb/AGvtMtvhsLVtpzJb62fM/JenS29pXPtLxpqdxpPwm0PSVHmPdPF5iKwGTIVVT3OcMM5A68dc19HgqTWGyqFPf29V2euj+7bpr5u2p+QYyp9Xx2b5hO1sLSjUTbWlm4tp231Vu1vtLWP7T/s/aQ+h/B3wHp0g2tFolo5QrgxtLEjMOgPORyR0A681/RGSUp4fLqMpNfw1prtyp2vtbXo12eiXN/DPFteOKzjM8QrfvcRXs4u9+aTeq7u/nr8nH3/TFDQORwPObqP9iM/3l/l+XO7vlLnal3S/rT/g/jaPkN3p4dfyYenDv8N9enft91kf/9D+4ivQPPCgAoAlTp+NADjzn1wf5Y6d6S/iL0X/AKUD+F9tfy/4B+Kv/BZzxkdL+DWkeFhceV/a1w00qg/M0cUMzE8EcAqD6DHUE142eytRkm0tLpu9t+vu9tNe+63l9NwlTc8fRttz9r9rfn59/OP8WniOJGv7hg+8rKfLOMAgHjJ56/4dMgV+ZU5c2Iknpeb1v27aa28l8nof1FCKhgqFmk+X1fxNeTdvSP4I8I+JCsbVT5e5gH3c8qu3r9R2yWxnHbc3uwjF0+nyXS/k11ene3q4+XNy5mrPVfk9vNr8E9bWtL4I8alY5LgKS67nJ3HLZLdOR6/T68Zbl5U5paay2su19F7vTz772fNNeD5oWT1jr2v10vfv56W93aXityEeQ4PCnPPUcY9v65z74rss4rRO3Tz/AD18r+WtiYw1dt7tu6s/Tf8Ay720al7Z+zrFFN8QNNbGRHI8h6AABQTnuCMDB/DBzleGbXM9e2myTu0kvx7/AItx5sYlFJ6uy16bX0vZ2Wt9b+r3P2Z+G+prY6NreyGSWOeIDMSBpNwIwq5x8pPB5x64r0KOkV91r7e7ZdX23/m6vU+Oxj96ak7K9vLVWbtZvZXaVm/dW9mS3Uk1ygUoF3iNsMu10IPQlSRwPUA569DTcW5X73+W2j97dKy3/L3uOnK7dn0T/wCD16eat20NnRo47aVZmxcOmCyBQBkHoSB2xgk7cdR1xSfRLRbu9/e/JpX27/3bXjt31SvbV+u263+b+6xbnvPLuJtQcxTXsP7wKn+ptIZWJWNyOWY/eGcHg5zlRWVRrld+r/He6Xkrd9V6qOtFNy91PfWS7dfd1091dNdFqQWl+lxNMZJIwJJgzyFSfNZB0VeMEZwrZ78Y5r57ERUm+ln1V1tu/hvfR3v0ei+19FgnyW5lZdvv9ej7aXvqdnpQjQI8kuZH3GKJWAxHnq3XJOB6Y/IV51eC91Jrr072vdKXba7V+jdve+joVoqL95N6dXbrutU+nXfq7e90Z1t5FW0ZVjYbtsvmcBDwwP8AtAdOuenHWuCpSXX8vus9Ldd/lfY9LC1el/Tu0tPLb56K3Zmx4b8VGxeZJdzQxqY4G35IJb7xzyemByMZPXPy8VWiop3TfNtp36bPbR20va1z6fBtTfxpbO7XZPpv71r+V7nu3h7xtFbxCQToZpiGkAYDZGF6HpyR1BzzkZHIryKmGjO/MvS+l/w321v5Ws7nu0qsl/Dd9rpej16dP/AVtdOx6xonxLESiJbxAu3ATcFG0nBBOSMDByOM56EgivHqUq0Zy5Yuyd42/Lrur3dvv5rHswhzwipJTb0d1eysrb2Tu9Xq7ddFFHifxp+D3wF+PUQtfiD4P02e8eMp/bumpDZatEcEqUuI49zMDnv78V6uAzvMMsmpU602lZuN97brXukt3FPrvzR5sZwPk2dU5RxNGEZS05rJ20evw3TV31S7WSUZfmt44/4Jn6/pV1cXvwH+Kt8tujtPBoXiKRLnYSf3cENx5kJUA7Rzz164w33GB8SJ11HCY6hBUoxTVV9Z3Sts3e0pa2+67PzTO/AehDmxWV4mo6rk1yQVk4vmflrfXfo9m24/O/iDwB+378FHNwnhvWNYsY8sZ9DuDexyCP5dxgE8xKuF4AHGcDOfm9uGb8MZonTr4mFOclpanLSTvpzJW0vfr6qzPgsRwLxlkU3UwdGrVjCWknNR2dtFzXv7vdaW917xqaX+3z+1D4FZIfEfgzX7R4QFlN3oV9byEZw3zQKoPu2c55GMHdnV4V4exV5U8dFqTukuXTrptr0SvbvZr3dVxLxnl1NQxGXVanK0n70npFbLljdNX00l5vVHbx/8FbvibpyIlzoupW7KcHZca1bt6ZdQee5xnHbPOawjwPk0lFQxMXvvbTr97T77fZ15jqp+IOeUlavlU4tNXuqmm/z1d2/VoztT/wCCuHxOnUC20/WdxcsNl9q6E8cH5WLkj5e4x2DYranwRl+HkqsK0JON9L00nfS97tvRuysr7bu8MqviRmlZOlHL6sHLTmhTrScbN7L3m76K6ult15jyfVf+CkXxy8Sz3a6d4Xvbue4BAkuINcvmy3G/9/IY9/GdyqehIxnK6/6t5dTf72VNJf3oWfl6a7W9L6mEeJuJ8WuXD4XETlLVc0KsVv0ckrbWTe+miuebX3xe/bN+Jhe00Tw/rVitwQgktrGSywjnqZ5jlevU7ePcE1usNw9lsHXnWinS95q17/duk9rPS1nzK5v9W8R8xSw+HwNSLq+6pyqOFr9feaWkb6u2jvfRqUejfsW/tC/EW7W98f6/c2AldWmjlnlvrvYT8yhvOZVOPWM4PXOCW5a3E+VQSlg0ptaKLpzjr9yvt+tlqdeC8Ic8zafPn1WrSfMlyxnSmnda3TT76tyXdLWx9jfDD/gn78PvBklve3ekXHiLV1US/a9UAnjjYFd5SApsXDYxyD35x8vgYnjLNK0nh6dKEcPWfs5SU5Jxi9Pd1fTTbW62sfoeXeGeSZD7OSwsK9ak4yhOoo3c11923Vb7rzs+b6sPwZsdIs1Y6abe2WMxwwxIkKZGRgKo2gL7oc4xzivPjXlVmuebk9bvzXXfRXu2k732fU6MfleC96SXsbbqmtEt97O9kv1V7uJ8t+PNEj0m9uLYq7qTlPnHy/7I4Xo2Og/Ljd7+FjJQulvv6dX+asu6d0tJfH4mvWw7dOkueDVuZu1ldq6XdJLXW/TRpR87jnjjBiaNnjH8AzuBxgk9gB6n6ZPRetWe+vZb3fbvvvr00s0zzJylL4t7a63tt2XW13o9rpL3onS+GI0uLyJ3iACsdq8vlegz+WOg5GecfL0b3T00vfd3av8A5feaUlHRNbuz+T8tXf1+Ubvm/QD4P+H5Ut7W4SJdkmxVTb93d1O7np2PpxxkivNxUlCDu332+5La1nr8O9r3tc+vybDuVSNkt1rs7WevfTts7K7esT9HfAWkgC2jUJ5KQqXwvzH1wc8/Ug/7pr5XGVFJy80/Kz+5tPbT8VZo/XcrpTUKaS7fLXV66X9fXofSmhwpOtvHChUROrEkgKSMcEleeQBjPtluNvzNRTjJ9db3Xy9fOy663tsfaU6Mqa3S0vvrtf115t9erdvhPW4JbmHynNvCAu1IyVB3DOW3ejcdefXoAV3o17K0uiel39/wp+WuybsnZsxnqtOW+ujf9X8lbZ30PT7K2RooJYWmQSgOBggiTqSp2j5c9wOOhBzsr1YxbSbWkkuX3tHfvonprt26XtHwZOMJSc6kNW3pNPVu+tm30/Pday7C00yYIwmkcyFd43jPUDnI9R654+mFpU11Xy/JN83Tv1/u7nJUrUm7c8LX/mSd99H7yd721X3XXLjXkDoWDNkP68YI7fTrjJ+bpxiuh0pcvTVP+rf8P+ajlV9+D9nd+nbur2uttL/ccXqCpHNtIyjfL2AyQSAOO+ePyLL0bnlTmt7b90vn28vl6Hz85JTcX30um+tnfe9t9/mtGYNriG/jKY+diCueBnH4HGPbr3OTUVIxUVa/PZuX+W3krP8AK3NKJVeRuKvd25n11fW1vy9LL4esuPKS3NuQzNMGBPpkdAPmycHrkfrXFy3/AInw307vpb8N/d31tbmjxyoYeUnVf8RPmvZK/m7q/Xo15RVz8df26vgzdWF3F4w0K2czyuskjRL+8Vs53AjngjHA/LJrzsVQ9/noO2m+1muqW2q21v5fzfa8N436vypycm38Ek+Xslonffvr/MtT84NR+FPwk+PFiNB+K+jSaVrlqqxaf4p08La6rbTDARzKI8tzy33Wx0bgivSybiPMctqK07pNbt7X0vtvbe+ml7aHJxnwJlfFtJ1MRhoKq/tRUW3freXdu+iaTfnzR4TXvhz+0f8As0Q26fD/AMV2nxt+FsbLJa6Jqw83XNFg7RwXa3PnAgcKBHgnGQOrfpeF4ywePoRp5lDmnJuLklsvmnsv+DfaX88Zx4MZtl+LeKyOvKnSpx5o0+beS30i0ru2jW2ysveO78H/ALZlrpwtU1+31zwHrETKslnrEN6lssw67L0RLGEDcLuk6dzjLceMyLh/NG54T3asndP3UuZ7LZNWb13Wm6s0b5fxPxrwnFUMbRnVo09HeFSWi0Sb5pX0TXTTvds/RL4Xf8FNNa0vTItNutQ0DxJpsUSRqou4Lh/KHPzsj+ZwOOVz1PGMV5X+p2Mwl1RtVjL3rwbkl2Wj0bt1Wu2t/d9ePiZl2ZyVTNKM8PWg+WKUXC67tSu762tfTfW/vfR2lf8ABVXw0xaC88P6dFZS24t/LtLswvEc/OwYo4XcC3BPXnbnNcOJyLMuWSWGqz6e7B6+Vra9Hv11XU9jDcWZDVSUcZSpc2vv1IqzWut7PybXzvrzX4P+Cinwc1a9+1anp32RYMRxRxanESw6bpXaNS/fPGO5zgbvCqcPZhGblLCVoq7etN307Oz30V3b8Wz38Pn+UKMuTNMHq1p7XS3d9L7SV5eWtrmvqH/BQj4CwGOSytpA6orStPrdokJb0CeUGP4lc+3G5SyvEqHL9SxHNffktr+Nlp20dnqb/wBrZY5X/tXCNaf8vFfo11Wt/wDFpqrXaPMvFv8AwVI+DulhpludB06OFQzNPqylR5TAhnSHMjHPTacn3/jwp5PmTk1SwGIm56e7By5db3fw/gtP7t1zZ1OIsiowc6+aYSFldJ1leXkvebto+/8A260mfJ3xP/4LheDtPS4Oh67Z3uFCLDpVtLEsiou1SZbgSMTgDHGDyTjjd7VLg3N6kFVnbDpu79rTkn57Nre3X0tc+YxfiFw2pOlRjLEO9uelVg15W9zXT8dLyvc/Mf4s/wDBV742/Fq8ms/Aei3ss14TDZzLb3mq3bbmxGIbeECBWw3BeMEckbgc104bhnDwmlm1Z1YQl+7VKXs1Get78ylfR2SXL03slLy6nEWIxcb5Rl+Jq1ZdHGM+RJ/E0lHS+/XZ+7Zyl5v8Pf2Mv2y/2wPEdrqHxDvdS8GeHdUnDy6r4kkkQiGQ5/0eweZACVYhFI4x0OStfVQzbKsmoqnhaEZ2jZSai3dp/wB1Xs7fpa3MeY+EeLM/qKrmNd4fDSabpqnODUdf76S0301WrtZn9Bf7Ev8AwSl+AH7O89r4lvfDrfED4k2Lb/8AhK/FCxXFrYSqAS2lae8XlwrnJST5nBOdx5DfOZpxBjsfTccPV9lC601S5eqaja91po77rS9z7DAcHZblNOFoqdeNvfmlJ3W/2bq+mt10tfc/YvS9OlMIRQwQRBZIwdscagnaiKoUKMDgDaOgxydvzWJq1Yxb+Kpr70lzJ9Hp039fmuaX0MY01CNNJpdOXRKyvtot7ddPucbQnit08neB5W4KvO4ZO7qe/Y4x3J64b5uviYayrQlKtHSEk0orW2qer0va1t+6vLvoUJRg4xnFRdrqSvK67dtP8XSy1uIL9iNqKrFgQ4z90Y6ZyPm47Y9DngVzwxXNo4y+dl+WnfpfvYt0Wk3zJ2dtv10t8/uT90zLmRwkjZCSE4KEfwt6E4HQdcDHocDdsqikpLuraPv3XK/zfy+zCp2a0TV77W+e8r2d/u63ajxmrQI8AJZg6sMEdSCwyDjIwR6kf8CPNeZWpSnd3t5O+y+7VbXsvnvLphPl2vf8HZdd/wAl3voeLeIJN1rOH3bkLsCO7I5II6/3evf26VNFqFoyW6tpdau35aPe++kr+7E3zX7tNb97+lr37/NfZopchrWJ2GVaL/WZ4GB0+o9jx713Qi4NNu9n83bz1/LRd9ebglHl+1dauyT3stt9X2stdW9TzrVryAtMR8rOWUb/AF5+vHTse2ccV6VBc6jotGlr1UbLV6Wuv6drEKz20aaX3P0Wm/f11PHNZJlkmWU4jLlkK9QwY4I5wN3B5A9wc7V9WjRlpa1r3220v0f9ed3E4ZzUKklurt37u76WvsrXvdrS2tzy7VtWjXUPs+3fIJolzsyQqjgBsZRODkgnrnjBr1IU2oJvZ7rybsmkna9rbN7aa6x5qk/a3a0bb79del7Wvv73bW7cfsH9myWZotYcQM6yvl9xyVCqMY6HB65OPx5Vtp0Vi6HIrJ01aXNazd7r+a9tvLW97I8qrL6nWcqjb9o1bld9Ukknsru6stfk7H1t8IPD8Gq+NPFIkDHOjzfKoyQx3sMDjJBycAHPqeNpktOnOtKglaUHq31u7eW+q6W/l/m9zDV5UvZ1m3yyta2mlk7auNna3z7XtLzz4o+AWCzXSQN8k5Dbk+YouQTjHPC5PJHHJ6qvq5hhIqUrLXkvfzs9FaOn3+Vope9+h5Jm8f3cW5NXjduXpvZ6W9fPlVve8CsbWbS5imDiQOm4j7pBIXOMHgE8c8jA5BNeHySUvwas469lq7XstfdfXXY+qxEo14xa2SW/zd+3S2q8/dskeq+E4EkOTMQW+XKkqVKjeW465cYHXoc+q739nBqV23FtNdNdk25W0v6bWd0eLWmoy5fevt2XZPrurLf5u/vfSHhK5KzLbqGxsjZj6vuA3A5HIyTwQec84+bCkpTnpvv/AMP8KdttfwSueTmPLHDz5nra60d3qtOu+jbtK3W1nE7D40W7z+DbCIKQbVZGlmQbkMT5Us7YByM8gn0GV60Z5Ql9S5rr3VpbVt+7tpq2uvu6v4ep81wxieXNMTQcXJVnCMHf4eVSbbem/wB/VX3PjT4Z6c959lAjykGq3oWXjY0fnh8fXacYyMd2OCa8XLsLPEYKSi+VXdr3f/Lzvezd1rpHfbW0f03EYulQwlaW7hGLajb3ru0dtOvRbdZacv2Va6FP458Y+CfBNvG7/atQtGnQZZUt4dsznI9dmM4UHOO9fd8O5fLETw8W1bDzcm3rdO6Vla3Ract9V8X2fwHjrNKeAyDM8Q0080pzo0v5qcqNSOs730d2vdb00VtT96tJso9O0yxsIIwkNlaQWyJnoIY0QDAwo6HPJ64xxX9A0VF4KFO3K1TSvfRtJW6Prrur+dz+GcRXnVxVSm7uTqubbu043emvn09L7nYaX/x7v/12b/0CP6f59etYez9moxvfRP77/wCXn+keqXRfyxjH7l/Wx//R/uIr0DzwoAcvf/dP+f8AP+NAn09f0f8AX9IehAHPr9Ow/wA//roGI44LbsfwgDljxn15/wAn5s4V0o3rXf8AKvlrp183qldPvf3VV1o20T5nr8vnt6adnrzfzKf8FqPF0+pfF7wl4P8AtDNZaT4Gvb6e3jbI82QXCq0kfPzc9eOO5AxXzvETupJdt9e71S5rd/z0vzH3vA9JKtTk/wCdu9uyUv5vLr2tzaM/l68RPGuoXDSI8I3sqRHjg8o/qCVPXHbJxyV/O4x/e8z0V+110tfXXW3bfpe8v6JheVCNt4q3dat+VrX6Pfbmje0vBPHrLHC6+YCzK/DtggDGAB+ROTk+/Fe3TkvZqPpbvu9dtW1/h026ownTftL20td6Wtfl85J+Wmttmm+X4E8eFlmuFwCd7YIXHVx04JOMHv7Z4JbknH34S9f0X83bX4dPnciclJxe9o23btdfd313+88YlbdM2TwDzk9fzH5deO4zXZzv2dtbrrfz6q2tvV9+vuwfQv7Nht4fHduP3YM8csaKem4q2D1JJ9MDr6YFedK6qJ/3vwTTV9fN9rb3evLxYpuMdtG27fK7ezve7XytaWx+pnw/1i4SG8soQwmR3yozhlH6DPJAx7cYr1KT93ZWtuuiXqtmrX7N76xZ8bjoOcpXSfNtd6e711389ld9dJHU3+osixO/mI0r+U6KOjZyGPQjnOfyG7ALaJJa76tr8nr1Wq7d3fRnBTh7JuWl5aJPZ8u7+Frro+vZXudNaCKCxWFJZGdoZZHYYySf4SRyMA8Z5GPes5p3eu1l/T0T/G62atY2au9+zt59+j66PbTS9+Y58xlbRrlZj/p80kUkAPzIkCj55PbBG3I6g4ySK58RtF2t023f5/NaX35bXl3YO/NPS11H1Vrq69dW1bprfQgEzx+SiEF5DuygOMZxnI4ye/8Alm8Wtom7Xb1XlbTu7t/LToe1SvaN77erS6P1tY7O3LzfZPKmxMI1QoD8zE9V43EYxnp+A5rzZRctvPTf9V+T/A9Cgvi36a9Nfy9b+tjcmglSaKI+ZHg/vJ2OeR0iRSeWLE9+w5Oa5qkLxs7q2q6aX2/4L00ue5hel3dXtbv3l0ts0lf7rs2rO0ntmkkZdgkCFVkz+79SchvmI6HsOQME7eapFuKutr9LJ2872T7XbSemtj6PAvWWzTtfXp/wfn+F49DEt6u424kbzMbGyVwduCOc5XHTp3IJzivJxEWttO3zs+m1raq3pY+rwSi7a9U9116LrZ7X+T35o69nJrR2pEkvy7gSAQwYDg9BxnK9SPTBIrzK65OVrrpr1X3O1vNX8le0fpaKhbVq9k9dE/we1v8AgO6Npo/EQhDBZvMdWbHzBgeCCe/OOcNx1BOQK8qupSvvdP8AD06Jb2s9NNb3PfwTp8yV/d2fW+2mm71+a07kml3nii2favntISQwO8bcH14zx6+nGcfNxJLmcpdmvWXbpa2+j9baHvpUFCPvKzabvt67yb66O3orNR68eI/GwdVjE7qoI8uUNIH6Lja2VK8dcY+uaxnUxMGnSUtHdNfN76eT389LIcsDl2Iuq7g1LrfXyvaLXV3s1rr1uZOqDUtWgY6v4T0i9BO3fdaRaymRj0BZoSfXrgc57gV6FDM82dqalOOzv893qla72biraaO7lzS4XyJe/GnTqzf2Wr6O+rW1k/7y8rXscJN8N/Dmoho5vhZ4RnupCDhtBsy4XPLFvIOO55wOO9enSzLNo2vVnfvra3fdrbS2l+2px1eFckrK7wNK/VWgtL7/AAxt0d30tazfvYcfwG8L3VxJNbfDLw3EqyLE040a2MYkZwCFXyscNkn7y7QSSMgL1xzbNnHkdafrr0/pWfN5a2bOOlwdkdOrGpHBUoON3zShHT1S30020etpXaj0Nv8AAqaRgtr4W0OzCuIo2ttEsbfdEr4Mg2wByQD1454wxINKeKzWpdOtK3a12vX3r7X+0k1ppud39jYHDXlRoYfR6R9nB3bW33pO+tuuukfavCX7Od1eOo+xTR8DdMYPssQAXJwEAyuOOn5cGsXDGzb9rXcoX96Djfysnzb6d5WWzu3IKk504Si6VOEEtZRp04tJefe6XV93e1z1nR/2ff7MuUebTruWO8V4raYxHypJVXnBKtx0+bP0JzXXTpNK+tle19/zd/1895eHLEU1Nq63t19bt+rv3dtUkm5dzZ/BrS7DTppndPNtJWWZQimVTtLMW5+5Gcg/dzt47Gk9Gnbdq+yt6Jvrve6/G8vMx1ZTcVbS9lr0162te3lHuna6j8kfF5DpkjW1qq+RFLIdwxkrjqMgAfd/hJ9sDNdNCb5lvv1fmn/K973vZfifLZjCNnpy3Wzfk9VqttrfdJczUfza+KiwXV+0tvkuWI+VixjbPzFsYz3xk9+OuV+swdRuEbq97Ld6addGlr5+lrtnweLpXnPqrvp0d99X5f8AB3l4w1gIllkeTJKdVGCXPY9OTjGOp6c9K7r26Wd1/S9N30ve17OUvEquztbTmtfy6/drr/md18P7NLvV4IAm8DaGCY+XPTIzkE/e/i68+tdD0Tfq/l+KSsrJ62tstEaYf35Q0tdp79Xu+jbta+2mqsmfq38JPDkVto0FygbcgQRwsPmJOMnBycD1HT2xmvCx1a68n+vkr6631v8AL4Y/qXD2Ck6i63avpvv10vt59ls3P7M8I2Bggt51JExwjDHAJ6fL1PXj5eB1z0r5uqlKTtt6PW//AAeivb53j+w5fg406aezdnZ/Pdardt7r01PoXRLZ4rGOSVNkszDglVDN13YU549AO+QeCK8uvBO9t77dul076qy8nfto5dNWNWzs7N3ttslZevT7SfkrXPY/D9lC7QCYy7iAUDr+6PbOSpyD9eeSSOVXOnRba02vddOvna+2lrLbW/u+DiqtWnfV918Pa/kratLXo3daI9wtvtMCwxR2lvNBFCGjwiliwxjaRxs9uD392+ihTUoq61SWi3vb1XRfO2rR8pSqUqlSXtaj+J6WlreWuqXbs9b+XvTLdmZlkkiMcrHnPEaY424OM/TqcgHPSsKsJU9unf8AL1Xyvb5S650MI9faPrpaSt917ef9Qlha6pk3vt24wSVBw3I6dskE8fn0rNVpdno7aPRaddPP+7eytskehhVH2bUXfSy+Ub2SbT1S73XVu0XLyPxA5hjEkZY/vQXVuML0OOPrwDn1HBNaQvU+J20063tr2jvr26a6pHjYmklWbVr306W236X/AEMezvIHQyxlTJG4J5JI55zxng+oOMcZwadSnGyfya7rvfrta2v5qPm1vjnZbPpr077LteyXkrnYNdh0t3KqWKBiMcD6cH/IyQQa8fETa0S1T0bu+vkunba3XSSM189duyXby/W/kebfE3wLb+O9Gnt72M/IjeXhAQeDz0A6ke5I5AwK5XLmjro+z13tZu66a6tei0aOzBYx4euot+6mn23e1le2v3d1ufk98UP2b5NOvnl0+GZZZZiImSPaA24kZYY4xjoR3xniuOVKal8L1181fp5d7tv0V/d/R8JmNKpQSk1e23Mn03ttpvZq/pY8WvfCfjTw3IllcQE27EDkEmVhzkj5s4GBjP5j7sXrR1jzWT08muttVtb08teXoU8PZvkU23flf3aK13r+P81rxnmuvC9zbpo/jj4faH4gty2HS50+A3Lp3JmEW8A8ZO4HI4J6L34XNcZh2rOUWr6Xf3b7+u23LGzcvEx+U4fNU6dTARUZ2XO4Ndvu081bbW7cfEPGP7Pv7OfiW+luNI8P6/8AD+7lIcnw7qdwltjHaEvGo/3cYPQ9q+owfGWYYaLio+06vnbve3yvbR9lvrufGY/wXyXMpKtKp7Cav7qilvq01zadej3vurR8C1L9kOxaaT+wPjt4k023LOYILuwS6MW4/KJ3Mv7wj+91xzgdG9alx5XupTo09N03fbputrLW333PmsV4BYaaaw+Nq/3bKKX5u0r266+drHm+pfsifFSQyrpnxl0++iDsouLmxeIlBwCdrgDI5bggFuD1ruj4h4WEX9Zw1KTb933b2SWvo10tfRdNUeS/o8ZlKa+r5hXjH7V5pXktna19r/zbWe1jjLj9iX4zaojeZ8W7HyS/zC0tLkycHHB8wZGOvHUcgZ+XiqeIuVNtLCR5rvXlVnd62V0r/PTdXujtpfR3zlRtLM61n/08/wDtW/K91bdfZZp6T/wTK8Q+ILu3bxJ8VdSlglcfahZ2MzyBSRnYHm2liCSB/wChYyvNV8TKdGP+xYGnOcl7zdOWml1qu2yV4pdW3eMujC/RxqTqP+081qxpRty3qQ1/mvfmiklZ3as+l/s/Yvwv/wCCTHwbs7i1k1JPFvi6RWjkaTUZngglPB2iGFumRjBHTg9NteRieOc7zRezhQhSUtnBTja/97tZeWl+15fV4LwV4SyVqriMaqzhr70qDV11s76W8977fEfq38Iv2HvDngmztY/CXw80PRhlWiluNMguL5yoz/x93ETSIxUfLtbqeM9V8h084k1Vq1JT9pK3LGUnZu+ttdPRapfZ+z9Hh58L5DGX1CjSxFV+5KLp0moxWz9x6JXevS20m/d/QjwX8HJX8MnTZ4o1ubOeJ4/3HlXNsUO54zkIWT5TtKsMDjIyobpq4TEygnL2m1/ev23StLa2vvO3Z3ko+NmHFVGpeNPDwprZcsOVenkur012drH0t4Y8JFLaISqYRD/o93IASChjxEyHBI+YZbIA6jccV0UcNKFLmn3s1vbXdrRXey2t1TbsfLYnHRqp1L+83fTTd9NVezevn/N8Muqi0cWwMayB4xwxZdsjBeB8uSDkY9M9xUV6ceW3dW2XfvrbT8HezTcTGjXk/v7u+t9dOjV7a+t7HL6toML3cU9uSFLHzQozjHGDjaOSOOT+HzV81isKm2099H9+20na1769NW3Zx9ajiruN7Xd769r6JX3srO9/RaHLXFotvcy267vKkO9SMkxt15IPQnjHQZyGXOW8urQ5E+Vvyfb52ja/o+3K7e92qop7WT021s1dd1Zf8BaNtxzZ2UpIrSHfGDv3NyRzjjucf/X6iuKNRqpFNv4kred9e33a9bNWaLUW+q/r7vz+66ceb1F/KQbv9W8bbGPqR8vJPGeg78E46Ct5bS6b/wDDbfovKxpbe1umrV9Pu33d/evdeh5FrqrlEMYcS71IUcjJ6kDORtPX8MEZLci+JtfzLt5t/l3163E0lHZbfO6X433vdd3dO8eWRvIsp7WQjbFuZGzglcgEZx0xxx6Hk9V7Yy1vutb9dfWy11tdp+UUeJiJNJt3vtbZaN7WTXfXtq72tLyfxM/kxPN1COzdNucjIx7g88Ag89MYb2cMuZq1lt+LW2u3zXazvzR5I1pJu7bT6Xfn5PV/Lz0aZ47qWoqqSu0m4koACeVduw+nXoc9eOje1Rg1pe1730f+fqtbavW12jmqzcnzaq7b9Erv5aa7/fdHB3ILXkUscsSyNMPvLueRHHPGQfkJxzu9flyRXbze6k12W/8Awyu7aa9d1exlTmm9PR923e1rx0s1rrr3Xun2l+zeLm1g1aC5YM0SAq8bYDhhlc9cnGRtGMdSSQRXXg7ONdvt+m3ya2v6Wsjxcyk5YqmnflUrrrs43tt2Wrb79Pf+0fg/dvpXj9p1jEiX1k4kTHDKGyQfwY5PsBXJklRLMKiV911682+qtpv19esfp8ZTccvpTju7Wt5w0stN7fq09Ue6fEbw5pt+s5AVI5k3MMLtjLr0ycjIyeD15xj71fX1oRqJ6a3a1s+/o736tPunoyMqxtWk4p30as3rpprdbWuukmttkz89vF/hn+yNQmKHzLZJn28clc9CMLjPXJ6g8gcFvFxVBQfMtGm9lvbttazS3tZ7Xtyy/UsuxjqUoqT1cUrvo0op7Xtvpv2VtZRpaDdeTcbSpSLBbcM/Kx4HA9CvXnr7ErwtxcHpezd7rstr6b/1e1zataVRWSelrrV+iaej07fdrzfRHhK8mnuIvKwVgWMyYOWdNoJ6cZAHTJA984rljLll8++m1lbST7dV5Wu+Xzcypt0JOz1WzWyfTd31to0n95678TLo6l8P90rrBGls+1EIzJg/xcfMpx0GOcjJwa3zGSqYGSf8tlfS7U4q66KyV/n9q3KfLcP0XDMq03ooOMtLqzkpabb6376xXvOV4/MXwXiiXQJH3xgjU751ZsERiOQh0B4zkryOuOfl5C8WXw9jg2vOVle207Jpe9rbstO7uj6HE4ic8RPD9KvLbe3urm0Xy318ovc/Q39iXw0fF/xb8SeKbqPdZ+EbO3tYpMb4Td3aFv3bY4KpgHHIbqqjAb9S4IwTlz1JJJOzTev2pL+Vp9La3Wu1j+Y/GzOVhMLl+W05e9HEVpTinsqkIS2V7X30WvVp2P16G0ZOcknrnt/P3J6d+1frE0qVGy/l9F8rX2t2jf8Au297+Y6UVKs6zVm/Lpq/17vslq3HoNL/AOPd/wDrs3/oEdcvM5JNu7sl/X9fmza/M5Po5O3p+H9d9Wf/0v7iK9A88KACgB38H/Av6UAObbtUltuzD9cH5cD8OSOzfTirhv8A1/W1/wCrES1kl0Wr/wCDtbRd31stGfx8/wDBWzxWLj9t/UdIlO9bbwhaWaK8m2MedHK4wvdxk/gT6V8rn8m7r02emj2vytq/R+i10cv1TgunFuD6323e2zd9Pl/5NdI/B34jP5GqXxWIkiWRt7YH+rJUDsCBg444AJ4JAr4LET9nJNdYp91Z9fut638mfumAV4Wb2UenXl2+zt66dL3fN8qePZFuLe4uYzKWKYcE5jUjaAEJ4AI5OQ3TgcCqp4prR91rrft3SettbR7NPRG1enaE7dflfp/M7Wv830V2z458dRiVJSqglfvY6A9f9nkkE8Y569Qa7qcudXfTW3a9/Tp+Hfc8q/vfKy/rXt5eSd2zwu4U72UrgZH49/bj8PxOa08uv9fIo7PwFrlx4c8Rabqdqdj21xE7NzzGrAsvDcBhnIz0JHzAsVxq2vF+e3p97fbS1vuZz4iClG7V0k/+BbXd3drr7/s/rZ8PdVttWto9WsJDLb6nbLKGBIZXJw8YG4E4dT16dcEEGvQotci9fkntp676rW9lc+PxtoN67SfTXVJX0cuq3vrtrdcvfX0jWssQ4lBC7lMmHj7jdypzk/XjkKeG2/r+rafi/O28vFdRyai22vut5L3Y9l116XtaXVLKIrCO5YEmZDEVL4Ty2XkcDOSBhfvbWHcnLZyfvW6JJ69He6tdpN/8NonePTSbdnfW/Xta9npq/vvfVox2aS7Agt45PM8sKpQk7WYs2yYnABYEAnjjrjFcuIfux6a+tm9PLsnv91vd9TDKyfS+nmt1da2d1qtn0szSsoZI7Ty5guQwi3JuZ45Dz13cBe7AKvOM5JrxquzSd3v9+nbsrrRtb62PVpfZ2/q9v67+h13h2zxNJK292g6HjLE9SAOSRnOQuPzxXByPqmrWtdNfddrql3117I76DS5k+trf8HyXpp1voeq2OgzXkFvOoypkMgMvLZO3OF65wBtOevIxis6kd32/G1+2129uXbXTePt4aSTtdet12/Vvvp0vodrZeGBOwkMUjAZGJvuk54O3qc+hzgc8A4rirOKSu0t+278n997q/S32vosFq5cqurRenrorrbr9leV7NR9p0b4di6gsy8as7BNwCCMKvGOB+IJzgdfmzmvLxPytunfS2/3vfpd9Fex79CrKFnFNtab7LulZp6d2t+tkesaD8IrWa6EXlKVbkOF+6T78A/THXkEcrXmVVB2u16Oz2+5r8vVtI9Wliqzd3otL6eutnL1fxf5HrNj8FLK4ARoVLR/Lv2qCAeRn5Rge4z9QMmuSdGLT5nFXXpbppp1/7e+92O+lmNaD/dxk9dNXppbu23309Gzdh+AVmSCtvGWDAEqqEMfQ/L1xz0xxjDY+WIYFVNk3FJa797Wajrf1Tvvdq51QzqpGVpyUHZtxd181utvX5fDHprf4C6c0yiaBVVflyqKGGQc849eRjHTocjb208v5EmqbeidrJ69bPra2mmuz5bilm06kko14pXtvLvpraLS72XzWilctvgdpL7o3t8iN9nlyIhZsk4IBUcEnPuCfqvTTwaqtQlBU/wC/tpb4dLNv89bXs0dbzCrSgp08Td6dXr/w+3TbTR3lrSfADToI2lisokmvkEauFQPHGrdRgHB6KSB93g4xW7yWTV4yVtPR2S7y0sn1Wu/TlOZ5/iY74mCfWPvX7ad1rezd9Xa2pp6T8BtJtZUsLizWRWCl/kG4PIcBnAH8RI5/EYHzVMMmqKorysltpfdd+a9r9GtnskZV8/rSpONTEpRdtU30fKrNNPfTTfS9tHHqz8EPDb6lLbQQfZWsYka5SWEt5aoM8MMoY3Ydi5PUYw1dLyxxetVK7u3aXR+qfVNPfzVjlhmk23JTnLtab6663+/VRu9oraPV/wDCs47RbfZYb4I18vz4lAjl8z7owMgsBkjoeADnNW8vag5KXNZbJfleXfX1vorWljPO5WcXzqTvvK69dI+ellG+u3xS0f7K0SPQLqF1nt49N3rLNPaOVMsg2x7H2t5LI3HHyk+o+7m4KlF8ytfR9PvWuqXVJaaPpycEMViJVVa/LzXvfS10nvrf/t19tdGfKPji2gsNKuL797FDcpc2m+MsfNlYMys5IKDcpXJJGMAc159WUOZPmVk9Xtp1fnfR9L7XW56nNKpy33e9vxfZb6b/AGn0tH8pPjj4jDtc2kcy/aADbwlsZ3DIUnGck7gDzg474O7vweHdVqcU5xvutns+tnZW7dba2Ujw80rcibm+6Stq99PK1m1v8rLm+MNS8MajcwTz3Kx7irPM8Z+Y55UjlgB68c5yc819VhaajBJqz03te63/AJrWWy+SvsfCV6jnVbilK7bdtFq+i69Nem3Rnkuq6X9jhmLRM6KDjdnAIzzwATg5Pc8exNbq0mra6+n+X3/LW9jysfGUrKKb1V+lrWet7Wb267+XKegfBGzm1PUfOjt1IW4CNKuN2FGCOc4Jzx9OAOlaTlaLXk2vO+zSXa2rt23veXRllObdNOGinFO8lpr3XZa6enQ/Xv4XWWbK2dgqqES3jQD94Sowd3Xljzk+udpxmvlsQp6uStfu1u3pt+evw6817y/ccgpxTTW+nT793ZtLRbJdE7H2D4d0ZNsW6Jhja7YIOAQPqOC2QByfbG2vPTiuZvTre0mk3f1+ffq0nJn3rnKMFbe2+i26vztrrb5W5T2DRtKmWSMzGOSIAPGGdt6dwf5+h9MkBa8udSleXvPe1nGSb39f0876m/tqs6UpqF0vNLbfS7a16697O1j2jw9atLGbq9YyWsEeIo4cKgOcAMT90ntkMcjgDJ3dOHUNLPfRbvV7Lp87vr5e78VmeLnKq4wV5pu8dF22bvtvs0ttLpHf6Nos5ePUM3n2RpCsa/N8qt0IU4ZlySAQpBGSCuM17WFwWM0vT5Yuz3hr22b0sk+m+qVry+dzLP8AK6OlGDlOKSn70l7y0kv4aW91pdfLU7S60K5aJpokUsygx7lKeagHfdxv6glSTnqOAV7KuAruOtO+u90vv1X9LRq5nl3ENGrJe0oNR6Xnd9tuXT5t3vonf3eJ1GNBavCrMk6sR5bnlCPvZJUbgfYHg8DivOqYf2V1PRp218+2uiT85Jt9Lrl+iwlX2s5ShG0ZPmir3sulnZXtZdNetvij5L4h8ueKdduJIwRgcZ44YZ9euMZOM8YFcrcE7Qdmu2vk9dvlfbTUwx0ZQk5tWTe/S/a3TTsrddbnI6RZjyic5ErHOMAg5JIOenryGHfvWdRztzNNJX101v18vL/hzw6lSPO/eV29vu67beXZOzsdiisLbeBlEAAY+vXBxk/lj6tjLcNSPPe6u9dtbtfJW22tL53Q4q6utV08reW726/5nS6Oba8gjtpdrCQ7WGQck8Yyd/qO31JGK82t+4q3ndU3/dTWur+0n1fpvd2aMatOcJKdm7WdtL2WvftZbq9+l2LqXwp0jUJgbzydrb5AjRKwwFzGC23bl2yONrHt32+rhqdLEw56dpL4npr8720Xpp0bbR0UcyrUr62TXfbzXxWa9fVuyUPBPFX7OWm6nPJO9vbJalHWKRI99zHM+S2wYwGAwScZxx8vBrKrhm3y04p6pPTRPa903rddu3uo9rCZ1GjH285tyUrKDTa01XTW6/w23V72j4Br/wCytY6crNeWxdbhHaHUZxGQrucRJKByMj3GM9ycrKwFWNnKmmnv5K/R33t/h+5XPpcNxfVrwUIUYqKVubns7r1s7u3Vab6XPAda/ZiJ1W4gtgZHiRQfLj+TL45ReSRz17YwSMA1FbCSfL7OTg9dNvlbZ+S1tsm7XOujmlOpzVKs7NPvokld3X538mt2ZkH7J2q3F4bezsWuIFBaSf5UAkxmZWZhg7FPAwT25IFCySrWj71RrruntZ/g1630NXxFRotKEk9L6v8ADeOrT07b6bS6qw/ZCf7bBbrHPNJPJDA1qLZgjl0yvlMV2sDnllDdM55ah5NCnHkqXqOV5K6vHTR6peV99Lq17e7o+Lm7OM1TUdUoy/4N29OtvR3PSdA/Y6kW9ktZLKeG5ik2/ZTGGZRwdx+TgdM+n+0TheZ8Oxqu/s+u+i22TXKn57d97o46/HfsVb6xNeS0vr0s76a9V27uX1N8Ov2N0nvbfTrjT42nmw0bNGoUcEjexChB/CxJAXt1r1cv4WnKckoxilZPXvrb4dbb7Ky3vsfF5/4jKnTpt4mo+a9uSMnt31a6NrRdbdD7a8EfskaFpCyvf6crTQWZdIV2pGsu4DCvyrgjkHjn1Ir7LCcLUILmnO0tHaPK/XXl203020i72PzHMvESpiW4xqVmn/Mp9VqnaWi9Iq19ke56L8FNBs7NwIomkt2IMTP5jW4xuUcAjgNncPcbSBlvTpZHTUvdk5qC15+Xy263un66arSJ8lW4uxkKkZ0FFylLllzOcbx8mrXd01q/usijqngWy0iC4nCKz8PG5GGcE/dGBllxkdOf9nLbuTNKEKNO0YrmSSult32tr897bX9z6HL85r45J1oQV92nJvsrdtdenor2OeSx8u4KiJY0uIvlVOBtjHVvRuOMn0+Y4Ar42pXkpOm7q7Xd6+frp/nK9z2dGtG29LfyvvLr3u9Pkr8xWurAPvfYVVsBmXnYRwGK84zye2MHHXNZyi5Ju7e/XXX8uz3vv0vHqp4ilStGfMm7W5Yq33ro7/1qcRqETxxTnaFIcoVXoVHIfJ5DYzuHp+FeRi6UlFzdrdr3e/Xzunu/vslL0aM+eScL9/h28rPv0b1XTc4ZYZLiO5kC/vVZu/QexGcHr06cAk4DN4dX96+WLV1pd6bvVeSStfV9kldnoQrRo6zUlpayXa+ru/wastXrpy8NqCMLuIg4haQRyt23E4xxk9c9uOOvSvMnT9nUhz2u5LbXVu6v8PXy662uub18O414SlTfupNpS06LbVdb20d9X0M3VbQShPLySG8vax+5nGdw5K5A3Lzj3H3a2mt7a3vqttenT9d9lqzJzcd7/wDDd7/rbV38pcFrelo11G4jKtHESpDYUnBGfpnHUN3I7VxST333v6fLl1eqbS0SWqIjNS0u3e6163Xy6eXS7tdKPlfiWN4fJ2A7ZFxK2OMjH064x049+TXXShN25bNN9WlZ999V30W2u3vcWIUWna2itdWvo/013Wq0dzxbxXevJEbYyqFVsEhdzcL7A5465HTPLYIr6LCQaSbWuz1XR3uvie9na+6S63j5Mo2be6a08vTe+77aK6ta0vCtauUadIIyQrsoZjtBLc8gHBGB/s9cdetezC75dbe7fz8l9pb97763bUY8lWUrbtO9ttEraqzve603fqtOfD0qzFxqiNLvY25aVJcgxnDcoSMAY9MA85GelU9t389NVp/dd3a6u32ulfmzoqTdlflu236aXeqd3tpe1r6fCfbv7PbSS2+qzy+WqGYJDtOWZAOdwyduATnI/LPy9eHqRoU6jqO3Pqra7adNbt6+WiW3NLgx1N1q1ONJN1IXc76LW19WuVu0U9E7d3sfb3wtsnuvEsuqqGFvaxfZ7cnBExfhsZJ7Z5zjkdK8zLaqo46dSScYSkrPe/vN9FK6em3Xp/L9RCDqYSlSnvDVrdrSy29b+fyR7f4pnJspN8flfO4mD8KAhBUnOApCkgjn29a+onjIuVrtR+LZt8r0dtVrs7XTW/vWXL2UsLTk4qnraCTtpeS3T7+uvo9j4n8fXNtDdSEtl5C5kDcp7EDpwOMD054FZzrQqxcU7yto+m2r3SWtnvG97p6Jn0+DoVqaXKlttfvsmt9NHo9O6v7vC6JAL0O0CAvkjClQMDBxtzkcZxz689TXjYmfsrX0vd6uy66/a0W/V+a0R6lKnVlWjCfxytZLa3N32XZ9797Hu3ggSR3FuiqqysVR17bQcEnoGyDjIPHocGuOhiKcp6ttrybT0tdLTSzT31tZWub5xT+rUF7S0U1v28na+7u+j/FnZfFyUW/hxUjuAII4jiEcHON20DOXTIJyGOCTyCcV2ZrUX1WjGDu58y5tn6NdVdv7/JnyeU0pRxNVK375QUH5xjJtP3tLW3d+1na54f8AD2H+zvBUV6FXyri61K4YMcFfMkOGI49DkYBHGc4FOlCUMInJatya6+7ul2tb/F67I9Gbp1M2pR15qaXO7WSvBqy95J72/wAmmz9kv+CfXh+Oy+E2peIFUeZ4l167uXlCj54oXMcQVsqxACjAHAz167v3LhLDezy2lVtH33K76rV7rS/ldNxutdEfw54x454vjLG0rt0aNOhyJu9peyipaaJbfOyava597BcYO0gjgAEfnnj/ANB/IDFfY1Wpw5U/6+7Tfzt0v8Mvyqpe1qemltO3pp/wPPVHQ6Vn7O+Rg+c3/oEfu38/z/h5pK1l2iv66fl9xtB3ir7rRn//0/7iK9A88KACgCVOn40AQ3B+VlBwcZ9OQCV5x7Y5PPtg7tI7NX8+1vn+Olrdd7SnmX72Gn8Jv72tfl8/0j/EZ/wWNh1PQ/21Nf17zGXZp2mSvI75CxMhQLxggBcHA9zznbXxGdxl7aTd2r3X37N37/ftbRs/ZvDelbLMRJ2b5pOLd5fYTT1ta/dXfktz8pfHCf2ppxv4QHedTOrR4+YyDLbuvAOMDjrwT0r5bFwVRQlF81ovZapOzV1e+mt97Ju6Vj9PyvGRpwUZaapO7d9pWu0nfVaP8HqfIHi6zmEU0UiZZ85I9eOe2e4zj6YzXCouLafft5aeu/bR9z3J1Y1aen2o6a6pX7cq9bcyuu1rHyV4006VROP4CT1ByCeMjO4jv36YzjPy+hTeituun462v231+djyHTcXzNaX1e3f8NVvr16ngl5Z3omAVZNpPQYOOPpxkntn0wMfN0xqJO9/X+vVf1c56tRbJ/15prey8rb3ZJBFd27B2hlQKVIJyMnt6Zz7jvkYzUVailKml0cnbrb+vP7jiqbp2b0d/wALLdK716fNH6Ofs165c3Phma1DsI9LuQE3bWAiJV13bxnBmUYwo6HJOcV3YdLTTZ2X/A9P+B1Pnsdfmb+fza0b26tvfok7Wiz6bOo3mol5rqAb/MlaaTcqRsz89BjOM85GPzAXurfDHR9/w21a/wCB1auj5+orvortb67dt3ovnvZrc622KyW1skpZ0ZRnau5I1U9R6H2H9RXE1ZteW3bro9b2a36rot49+E1t5Nr5LrstvS66KVveZ9uId1tx5Bu5WOQMGKNFEYb5cDJC+Zg4wWxhutcGKldRsrq7126drR+er263971f/Jr6X02t6q+72vvbyNKwYq0qCViYoXfPUyHHBIBH3jyfUDGRg1xf18v6/wAzupK7a7tX/Hz6LTfyT6nZeGPNFytzvZo2RhJHg5bBG0Dlse+ee2TnC89VN2fle2nR7766bb73V7NHo0UpXvvo1p+Tu18+a3VJ3se6eFVvZ8SyAjEqpFwSkUJPQL0Ld8jgj0+ZV4a3XqrJK+i02svK9unVbWUvbwlBSd+i2vo/yk1ay389Nfd+hdF0uNh5G/ezurmUoB8xHGOuAO4B/PIrxsXFylHp1116Xtuu9l38rXj9Rl8VSc31aiu22tk9b39N+9rS+i/B+iJYQW5vQHZziM9SFAzyDgqFzx2PckbTXBWknFrdpK/m7fra2qe3S1pe5RkpNW6NXv56XWybta9trvfRnt3hW2t45pQqoHdgFJUYIP8AdJA78HjAPXOBXnOMeaLlpe9m+iX62V9LJ3v0vLuSm4z5b3sndeT26dtN7a9rHrVtawIVLsAvyB9o5wOTn1xz1yO/H8SryoJK7XftfpouW6vfpf4dnozXCUMRN3s/Xe7e3r0tom3rfRqXd2MlnHgq0RAjXYoCkscjkkKecZGeOMYJzmuuhVp+zi4b3V9Xty+mvZWasrpbe9TwVSWIn7RNrkdtNN2rLr5aL778sukNxp723nGNFZCCzEKMkHsOuQSBg5yPT5RXoxqXitLteb0VtOmqd+iV/LQUMG4ytZ6O/a17be7323a87JxpGeCS7jlCxAXLopYIuI1BxwPl5wTk/L6YPWs4VOarbsumnptrfXTft1aj1V4OFC7TS0T69Ld31sutls7tKPQ6zeWrSwtGFUQLH+84AymM8Y6tjGMDHfPVfRp4hRum1p22X5316uVr7c1rHj1KUpPZu/k2rdnro7Xf/b2nLa8q2m6nD9s+2yOpnaZUkDoGQ2hXbhFBP7wEArzjgdMmtaFaM68E3p73mn7r3220/wAN+vu82GIpS9jO17pxVkrNe962e/m93dW97S1eDS3tZ4YZ5DdOWma9SQpJJAuT5Uw7gk7cAkZXPfauuIjFe8vVLXZpecn2SXzb/lWFlUilFxd9Elfrra/uy/C2u61TMLTNXtVWG1ubl4jG5AWe7MUEg42tIozsA67hz24yFrlhiLSjFtK+lu+/pt001dkktWa1sM3TlUUZJR1tfa7+dm9LJvfTo+bkvF+rxwiZba9VrO5Pk6lBazyXtjLG/wAm6RiBmTncpHKnkkjArjxzUuqutltfrro7a9bddbEYXnVn8SSXS1t27Xvun17u1muU/PD41+LJdD0HV7S6lim0mO4eG1ZJpEl88KzCdQdvC5A54OM8da8iMFUkobKbS9N1a2r21etnrZvRHoTrRpwlJyvyq/f0vpp0v8vdlZKP5FXc+oeKdbvb+fdNaG4ljt8hmKlDw3JAJA56ewIJNfXYOiqFDa2nTTpZO3ZW2dvnufMY/EPEvl6X0dldeekne7b6vycrm8mlXTWnkyw7Su7sN0gzld3oOvXdxgnPAaqeJfvxd7a6p31t26q1lfTpvf3fNjhElzt2vdrz/padOva8vmj4rRy2HnRnCHCgQxgBsucds56jOOexwOa6qM7rbT10Tautb37737pbKPl4uinK+t99fNu/bV72trptoo+s/AXT1sbK0CR4nnJmc4AyDyx5Iye2Pk9eRgNc52Tau7Lr20emnlpu+iSsubvy2jG8O7aemm2l7667dfv1cv1F+G2/yLRYPL8po8o5xv8AOwPlIOCSG4znJznjFeBi6nxaJdUr9m9300V9l1aW/N+v5HGzVulraPrvreSv8mtbPax9r+DrY3EEJuJl82JUeRc4Vm2/cA6noM8cd92dy+K6l21ey2s9Xr52j6bdndbS+vqzag0vitZLrr56+i1S7S0bPfNM0hntI7ua3UQTOsRJdVcg+h3cAjv2HIbmuWVBNpp2a+532S1a+7a+7PNjiakacoN2Tvv1V3002f3a2vZo7fTXhlDWVqLeC3sSilC25ZpActg4/ey4525wCOOp2+jhsNzcrWmvq7t72b11enw2182fM4puM51JO1+a7euy7rWTWvSK1191Ht2lXOtpsje1inQRKLa3kjWKYxsu5CFGOSvIJH9Qv3NGnKMINppcq176Xt1tuvW+ln8P5zLG4TE16kVKK/eSvu7tSat8Md7dGn30ZaOtKUezunKSQkl7Zsi4iJzgxjA/dgcnhhjjnBaorytf8Fpb16b37/dY9SlgKjs6F2pW27eWt/TZ37WaOA8TW6zk3cAVSE5kUffHYnGPmJ5OSeM8YFfP413urNXd9G+/z3+dm7e89YfZ5Q5pQjPdJRe11tppfpfXeK2avJngWvLud3MnkFchlY8sfTjg5GQc49OnLeKvjfo7fq/xv81bc9zG4b2lPZu/T5ee/fTp6oyNKZFkjRmBSTI9Av8AtcbsE5+7jPoxGdpUk/h7O2+i7/j93Z7x+Pq4VxrTUU0r+u9rp7dX31a6WudSYpDG8KFgoViDyA3sfrnr82fTgGsuW1nbyXlZP/hul9/OTp2hdSu19zX4S89vu193M0++ntZDCymOaGZWVgeHTd1HIGSD6tg9M4rhxeGday877ei8uuj7q27bZ1OKlSbvdNPVrbXvddfO9++h9G6bqmm3lhbS3IW7ChC0OzlpAOAjDLbgTgAjrzk4KteDmsLF03o3tdpaNrprr81/i1bPGnTam1FPfTdfJvXV2ttp5piXM2mXaeRPcx20KTGaRMeXNEd2fLfBG7cvGT+OM5X1cPXpxj79r8zd210fXTTe9lftfrGalCrKn7t/its/k+2mz2/wt6R5DWZtBttQuZpja3OnXCxLaC6fzo1lAAUCAq68tknDAjpz0rqeLoNNXWnS22vr2ttzeejudeDoYmC5kpW12v8A5JK6337tqzZzcnh3SrjUHlt47KVLyPzrg2yqrRPGu4RxjGQOM4yPTr97nfJWqRatbpbprv139H8WiSXu90KuJpwqfFvZJ/1bdbPd+TR2PhvwppP/AAj96kiCJfNNw8yQo9xbYYYaeI4kWGQAhpFO3pw2QG9WlBOPpta33/Fr2er3s7aSl4OLxGJjJJNr7+vV7O/m7W/vvU73T/B9qlzBrFtNb3rWFpBdwGKOLYiKM5hULlnVBkkjI7hv4eujRoy5nOzeqXNZb67X0tp5K97dDya2PxlPS8tVe923113u/ly+e6Z2+k6DoNwDrloRJezvvu4ygy5PUo/JIJ+8ABz3AHzdcaNBfZivL8N1q7JPW3dK12eLicwxMnK8pt263Xn+GttLJfzXOz0+JYb23uo4SYo3HnKknkOkJI3ISu488gYZT1HGc1vTcabvBWV+m2j/AMLVtb3ffrZo8PEznXj+915W3FtJ+W3NdX9X0WnLc9etXmt5IybyY2Uw3LBtBJt5MMobljiM4Gd3OCOckr61Gq2ve81u9dnva69duvupXl87iaHvOS1eqtpf0uu/pddHJfDuNOIZJ5xIPs5gXescCKjFP4nf5CSRgZIPsDya0deK5ne109Lr8tum/q1r7seJ4ecnHT7S9bu+iTi79tPO/Mrnmni+5kvLSVrGPyblZYmgdwGjEA+98p65H64x/dbwMxq86evR7dNN3fre1vhtZfFZOP2eTJUowi093fpbyT1vpfouvu6o80u2azi8wljLw7L2DHqw6lQSfu8j65r4rE0nFuSbab666fLZq9vLruz7KDi4p397Torta9r6ra+l/vQy2njhjneZ8rcw/dIztcdAOW6E9QffnJ287qOKd+3fdvW/wpJdUm/Ky05XCHNUTkvR6O3+Stvqtle+8fGda1WQT6nbxAMEVnjIbkt7Zxk5zyM9uvAXycbiHOEoJu7XbS1tuq131XW2j1PrMvw8G4NtJta7efk9rtaNadNpHB+HtQvp/Pin3KGYjHJJznv7j+WB8tfMwnNVmmna+ur6aa+6mumlmrdFrI6MdhYKLaa62vp6rZXV/Xuo6tEesrGjLGkZCo/mMrLyXBzkc9sHIzx224G7TFxbtLqtttHuu2t9Oy87WMMBWdNThbW9vLy22s/VdX2jzkLeY1zM7AK0gLq2Bu2ZwcE9AQOmeMHI3HdyxlJtdeb7krrT7lrtrvtaWld7JaPWN99HvbT5aPR662sc7qxErBFAJ8sqzcHrk9lPGOx9jz0rdU1K7aX3X/r5Ly1IpvWz6W0f+f8AX5njHjy2mSNFTbsVGbCEKN3J64OOuO34YJbow8FfSyV07PW9n3vve/n2UteXOqrX1spduiVm7667N629Xry/J3iG8uF8yMMqs024St1QAHIA43Zz1wOvdQRX0GGjZW1WvXW93vptstOa/rqzxq9RJ2v1838/XTRq/fqlHzO9JdhcONzs2/A2nAxwR3OMkdMnHIWvThZPvZb7JdL2v21626LRKPDOd/OK1vp87q+lrLS8vwsRaJFceXPPExLvNtjQ8qQr7t7ctjcCV9OoBOCVp6LV6769dP8APddGk7u9o64ZatbrTvpp00s3Jrpd+S05vtv9nW3bUEudPhyj3VwG4GTGir++xweGb5eTxyACCd21JRmkpqy76fld26tbJ9VoaVkoSc7Xknd6WbsvK17Lyv6Wsfqd4D8I2mm6RHIbmO3mCoywMoG5EG75324HHPDZy3HXFdscLh0ub3brrq9eqaVrt9beV2viKo4mq2o+zbSlda21e1tLXf3S/vbx4/4j64lvbsEYbZGkjcMfk2nptyAzc7hzk9c8AGsasoxu1bTTrrbuuXy7RT2vufXZTRlWgpW+3KNu2i122asr22ezPz58Ya2t3rUtoJNwjfcBuA25bGzsD7AdjgsuK82ti/Zt+Tbf49V33e9vxj+hZdgrxV1o+lrp7f3lu9tl0Wz5rvh+YwShNsy+YuQY8nOR046k8YGCeuWHIrxMXi6lavTineNrNx2um+t3trsl2X8x9BSwNCCdafKpQVle6aWr0fNvpbTfsrWl9YfDzTfMWLUJgYEEPlxs4U7WIOWP3iWxkDryeeua9jD0EqfO7Xtdt+e3np5v77HwvE+J9vP2UG7JvZbK621Wt0/tO+uySR5f8bvEDW+k38XmmVonMVoZyFlYEFfK2rhdoJ3rjk5JLLg1M5e15oWuoLT59rS7a73+/mPLwFGVKMak9OS7dktNdtbfLVf9vaMwbD7VYfD62t5FWGf7BBMQec+dExlwoHcnPTn3xhfVaUcJTstbtbW+1Hu1qopW1++5KSVavitdIxu+6XMtHbbvfbrzauP7w/sV2Ysv2cvh25ABvNMa6ZVG0hpJnJzw3Xkj16knrX7zwxHlyTDaWfNNevW9vP5/LRH8CeJFX2/F+YVL6ctKOt73Uetub+tNLXl9V78kbR+B7/ouP1/o3vnw2nr5q+n3qP6/LRnRaX/x7v8A9dm/9AjrKe/yNIbP1P/U/uIr0DzwoAKAHJ94fj/KgBkqlgVUjcxbG4cenJx79s498laFJqVujXRXd/T/AIK+X2r9lajWxGto05LS/RXu9GtN7O9+lmrn8in/AAXw+HNzpvxk8N+MoLb/AEHxH4WhR5o0YI19ZPNmJnChd5RMgZJ/PNfKZ7FJve903e9tJXv5bP8AVOycf1PwzxiqYOvTv/y8krN6u1O1/Oyd9F0u73P5/dG8QpPYS6ZeKBND80AzjCA4SM56ldo/rgqN3ztCCnCd/s6K63T1aSvrZ9krXu2/hP1CVJ0IUGk06kG2/KMkn9nXS/o11V+bivGXhpNQtmvIPLDOzb4wwGxxxyo5OcZ74+mQvBVilPlUbP7/AJdd+mumi1sjtoVrWV7pefxabf8Attra26nx94s8OA3Mscyq7mVkVVTdyemeeTnGOfy/hIaJvpp07X6q79dPW51Tk5U5O/b9bS6drPt56Mwrj4d29lYm/mgBl2gxqUA2ZGQTx0I/LrzndWc6rV2rb929NPK3Nt9nr9rTl8KrUam03e2/S3TTR9O9tdG9DwPxSCskuzAeP5QqjnAyc46+nr057BSE3Umk07Re/frbp9/52SLk7xT6Xkremmm/bp+F2j6W/ZU1OUJ4hsZi2AsUoQ9/m9Dgn8euDxwSvtYdXUbt97fg+7+d/vsj57HNqfkrPyei+7dN7+jtY+4LQmSKYu5RGRMKRnBI5PYemeG6dgK9OpG6T7a9/u1Vtn3/AAsfP1FZr16Wvtr96ffzVrnS2rNBZx7JGKNERhcZbPTGCOCRjA655xjK+fVVk/K9n/V+3fRq2p34baOlm36Ws16LW/bS27I4ysgVCpVCC5YnDqecZI6cjuTjtnmvIrSb5VbS/fbz+Ff13uev/X9enp95p6VcqRKnlhycoXJwSOgAPp6kn8Fz82J2Ura+92t+r9Vba2rlrJKK5fSPD101tOiz2y+Qy52A4Pf5i3oc9MgnqBxhueqm1FXd0ui9NNLK2n/Bdmpd9KTTSS33Xy0WllZX/DdvU988MkR+VtJSKYq6xk5BUnJYH2HIBH0xzXBWW+/R+SX4vu9X99j6LAT2TWj6b202T1t+fe2x9UeEY4ZmtWh2uuEOGP3tv8QyBjGMjpnH8OM15WISW6d7O2mt/v3um9Lejsj6KEvdTe9vJ6t2fa+9t4pJ3VrKMvZrK5aC4UyyLsRlOPRf7q5wD0wcfUZwBXiVZWbutPyXVN6rrppa/ex6+G5rJpNt979/w+atbvoexaRMXKXCMvllQY1UAFSBnk5br1P8jgVyVo+15OWWql5q3y6vptd7rleh7dB8ifMvitul06P08k9dXFXsdE1/c31vPBFIUlOQjZwQR+pz168HkZxXBi8PKySu72fd/dpZ3st3+h7WXVI83vLR3d7bfLTZX9Vde9e0uk0SZ7CwiWWUyTpzIzMMk7hj2wfbHoOmW3wUJwhq3/NaWnyT7rXePrfY7q3LOb5NdG383fffz1Xe97I6cap9qjkCMUWGMsVPCnvnsOuBjHpjqQvqxq+6urta21tEv5dVo1t0+1tHKFHW8kopNb+fbqn1/SNrSs+HtWedpxNF5pR9kQPQA5+YdAcc89Cc8DG2tMPf219k0/8AhtNLtvsrLs3aNY+lS+q6NN80dNb6dO+39O7UZLjXNk0lvMCQW28cgenPJAwP9r3xkGqqympaJtddUtXZ776aa6/rHzqOGhyqTatvro/1a+7Z2dxr67aWU1qrME3sFb1KHjA6gc98+hwDRCvKDUvtRflu3bzT+5Jd9ypYFVG1GLlF9r6abtOOuq89L2ta0tp/EOkqYbeNjK0wZ2dWzhcj5TjPTAzkrkkkdK7Y151I397f0Xr53W2sbXV90ebVwM41E4U5KO+m3y01+7VW0R5/4p1uxhnE6N5CjKpcFN8ZJHIkGT16fwnPO5iM1505yjPma0jdvqr7a/rvtu73O+NCLoyjLdxS5dr2tdWfM3a+vVbK/wAUfFfGfxDutJ0ueOOWIRFJZV8hjiZDyM5yVYcnr3wcfdqVW9o903fV+vXd6L18rq948M8PTpResYu2t9u/Sy7bXtvdbH42/tF/F2/1m4vNEs7yTzNSu1t0j37vJLPtlIORhtp6gYHXnDLXr4ahG8ZWu76dLt28pd3u321uuXwsdN+zq8m3K0n012V3a3Xrs1dq65+I8OolnY29iDt8lIxLKxBZ5W+Z5DgHqOGzuye4wQ3sVJWoqLWtnpfy6vu+ytd76u8vApN9XpK2+6f4X779krXud3qd1Fa2JeMGRzGP3g56r1HA45yCBjPTJFcVCEnLXTW23RWV37yvftd76vQ6ZW5Hs/d2Wuv3ppWT9dVpe8fj/wCIaSX+p2wlIYGceYTyxQMOvofcEZ+oG716NK7+a1e35vb1+6zPncZN8yX5/f5b+b03W/u+8fCiD5ogseEhVSpPAAT+H15x2GT7YFVVgoxle+qlbfTrpv8AOyXrqehljlKpTaT+JX03u/Jdmmlfz01R+gPw3lmlSGQARspiWJc8J83XHI4wBng+oJwa+RxblbrZL/K+rtvfrZdrWP1/KWoOKk+Xzf43e6v/AO3XW59peDbqaIjeyNKzKWBOPlBHYY7YzwPYNmvEc0nZtJdHutl6N6r+by03PqKk4SV07taXv0672a6p/i3dM+ofCdmuuyRRXt4VtQyqsMD4RXwBkhdx79fTg5rtw79rJKKur2aXTybavo7L5aPW585muJdOSdNXSWrSWis903Hdq2/M9lb7XvnhfwzZHW7a2tbWJLW1Ti6kTcJLkupMu3gNuGFB9fXAFfYYHDU4xhKSSfmn9267vq9rK3xH53n+cyUHGm7u1uVa9PRarf5Wu7NHsjWsRnkuWUbIZWid+EkgWPChkPJA4HAXnocY219ZyUeSNpK9lpfb/Lb+966Xl+cOnXpy9tRjKabcm07q7bbu7emlpdtLe9y3iXRbC/RNWjkV1iX948ZCSkj+FpMAOvHI55PWvGxihdtPrd3b1SXo7et13R9xw3mtRNUpxbaVrN36/wCHftv8tFLynW32RbLdisLIWZTuJRsfjkZ78jGTzk18xjNFJ9no1r1fe33NfcfpWVOMq3M2k5Nyd/N/LZ3e3dK1keE+JQs+3Z8xy6yMDjknAzzx+A4zkZJ+XxIu829fvv6fn2i9tLI+mxGsPLR6Wt0dvP776Wu7e9zemRPhfLyTE3foMH0I54HHPT1ziocZ+0ldaJ6Pe63+b30fXbqfJ4mKdWdkt9VtdJrZ62276b2Suei2EQmjDbi6gDzFyOD/AHex/HGT2xzW7jdWdtO2nz7fdL7rpnmV049trPR7eWrStd9dfLlMDWrWWK5Sa3Zdq43RY5wR17dB0HzY9sgUqUY80lO2q3d7afPbyv8AO+prQU5UbpNq7jf8bLfp18+lmze0nV5be3RrZphMSDvUbxEy9Rt5AzjHQ4zncQdtfPZjGtCspRi3TXVaJL0s/v8Akk7ozUVz8snZ3skr7/j3X8yXlsaieIo5ZZ1YRPJcHbdeZkmQ9GLDjDd+Bk9eMYrRYmjyql7S03ZW10btt3Sv10W/VHoxw01BOEPdXp5LyX3PVPd2cThte1GezuPskeyXT5G80r5YMkLjgCJ2yRj2HHA5xTjGV73fLutN/wApPR9n6u/u+vg4U+TkaV2/XX8Ou7fL0bvexs+H/FFs0kUU0wR0bYScITuGBv6ZI4BOcf738Xdhqid7O9t/Jdtl568rt00bRyY/DVaTTVN2a5l5rb8vNvo1u4+o2OuXoiuZ1lskubdI1iB2/wCm2RZvMifoGODu5XPucV7dLFwjHV2a00vrsu/b0S8r3j8zXoTnJ+42pPR/8Nf9N7Wd2zo9F1iKG9tJbC8K2LITPa8ExF/9agHJaINu+UlsDgYAArop4mE5e7L3uun9LZ3Wja9U5R4sTl9SKTlTd7P1W/VaL7u212ek2Oo+dqUU2nygw5VJYY0VYY1H3pFXgAHJY5LegxXrUYR5U27rr/evbs00+nz6bx+WxuFq0+blhf03su3Z929dPhd3E9UW90+B4Y/MXZKVEzrg5XqcgltpyP7vHHHdeh18PF6zu072Ueumif8AwY+b0R4NTD4ie1N6Xejtt3tfutuq3d+Y2o71fKK2d00zbzJCJMYj5yqqfkJjBBByeOeuRt3WKg4Pkk0t18uur87b69+pwPC1HJqUNb9r+e9lfTb3W/vKx8VXMayRXzRSMZVM7DGxgD91VXoABzgKCeg5NcksZGTerdk9OVq/d7/ja612smdUMtl8UqaTey8/e7NNO2t+XrqluZd/rgu2yqqqs3yrwF8peAAvX36qOecYwvn160Z6366p2uuuvfXf8lq5ehh8JOPLypJ6X16Pf/P8jkdWuVWNjtjlds7gDyQD06YyO3XPTBGd3k4hwcG1vzJ6K3X8e9raWe92fQYOnV51zxXKk1r6bdbdE3d662kYyTrOmHXam3gA857nqM/TjjgAYY15s4QaaT+Vui0X2vx1d+j0ZvJqM0lpr5tfdvZq63VvPY8w1zT7e4vWxlGLMu9ePu888jOQe/XHUfNXkVqUVUvJq32tL/F1t719en4u7cfdw1acYLleqS6tfh2tbTpfVu6UeQkit7F8pnmTG7vuz3HcHnqcc968atShCpfpft02WiV9VrfdW05rXj6E6s68Lbya/p22bv2em1tVy5Wrync7D5maPK9WyMHr0weOvPUggDBpVeSpHTZLz2tq1qtNfVtaWveOdCHspvn3ejfS9/muvkl52MO3aK4KbgFJDLtHdguST6fj78DG6uPlitV0+Tu+na/bX0ttErXeq2b6/wB5teV72tfS3ldnOao3lRy+WoOCy5z1HI78kHn+IewFRapf1a2tbX019f8AIyg7O1/taJ+Wvnb8fmeM+NZCYcMwP7v5V5JGc9T659Rg8cqR83o4WLei8/N/Pa3ZWe7vrexeJ1jvb3X6ddvRt3VuqtayPjvxQEmv5rd1OE+dQDnPX2HJ3EdOcc54r6PDxcV2ura/n5bX2+6zPmsVP3rK3+S1utk7b+996Vkec3cRd40WTymJUIjdSOy59f8AgRx05wRXUrRbvLTVX/DVdd9mvnK65eRTTsr6Pyt8+3n/AMOdDpcIsI9xYAbB5iHtyfnHUc/QY/2ulNOM7232013+6+vS663vds9TDJaPW76ff13X+e23LH6j+EeuXvhy0GpaRFEZ/nWN5AdqiQ8NtG7uBwSMYyTxtqa1T2UUkr1OqVtdt9/N33s9FpFy9jBYSGKxXJLa60sm/vvu+22r+JaR+krb4p/EadVD6xAx2qPJEKiNVUcIDgHODtbqSec5FeQ8fiacrTTjFPe68r3Xy30stVe9pfe0+H8BGlGbtzWvtpdJf3t977X25o68uZ4x8SeLNY0xgRuuZEwhiyYnYg4z02kH+IbTz2OA1vMoTjdVFdJ6+fXt13vr2vdo6MPRw2FbpXsn79mnfyst1fVfE7dL6I8a8OeAtZubqTUNakYSyEyvEASEznA3H72Bnr/47jZXLOo67tG7vp9/bZere2js1ZH0VHGYelS5udcsUm35pX0011SSuo9VaWsY/UXgf4bj7C+s3zRpaW6r5YlBy2D0Xdw3HXHPfnO1vSwWBXLUqVVZxlpfe1rtXs7XfVp9nZ/D42ZZ/TnJUsNU5noppW01l1slZJpvS/e1rnQa/wCLtP0izubbTD5cAX5VVgpDqMMyn5R8391QvJwSf4eqVemuaCdmrX3t838uqk3sjhoYGvibVasHFNXTers/LmVttX0vs9GfJfi3Vb/xzr9hp4kb7J9qj8x+XZlTHPcZB55xweCc4rShh7+0na3PFcvR3W6W7vZW6J3u9miq0aSg6ENalWPLBNaXj7z97Rp2uk0pX1uo2SPZvEiDTvDkVqGzJFYrEJH5JC4VRzzx36HnHPWvQbjOFOiv4jk7ee1/5Vr+nTRHk1F7PK8dzXU6cLyd9lKpa6avurvTr0V7H9Bf7Nulro/wN+G1iNvyeGbCQ4GMGeJZT+rf4V+/ZDB08nwsHvzSb+aTV/PV9F21taP+d3GNZV+Iswmnde05dW2/dc1d/l5Wt3Pck+8Px/lXrHzB0ml/8e7/APXZv/QI6ynv8jWG3zP/1f7iK9A88KACgCVOn4n+QoAGyMEDPXPbHfJ6+nXGPrmrgrS5tLWtr3Wv5eT+VmpaUpcsptv3XTacW3y/NbO/o7+VlzfiX/wW0+EY8Yfs3W/jW2tZLq88G63bXEzwRb3gs7hZYHLlUykIaQbskr2IGSzeHnlH2tKTUdUumvXd2jLzSXTVa3936rgPHRo5zGPNGnTnOWl7Rd4pJ7qPpo122R/E14ksZNO1H7RFmNxLvKgfKV3cZPv1+vr1X8/9q6NSUW9U7We21/7u22rdvmnL+kqlFVKbqRScXrD7Vl1sraWta6aVvnzZcmqrNGUkdSxY7hnbknHuO3c/kcFK74ThOO0b362130va/T5d7WZ4dWhOFRyvLTtezv8Ac1r0176HEal4XTWdStXiAjUSb5OFJbJzxxzwPbBJIJzUzhZp8tu+mit9q3V+SertdpX5ZrYlRhGN3be19dHtvHTdpOMb7Xd7xk8deHo49HkjjLDEW3KrnOFHpjP4c+ueDXBWgu3aN2u6b7vrfZ9OlzlhU53vdu3a2+nSyttfz5racsvh/XvDyQzzK8bu+/ncuM5bv1z3JOO/QA4rOmnzuSW/Rbp9bO17K+m2kd3c9CpHlgtrvXVJett3ffotdW9Ue3fAjR/7I1O8m2qgu7Jo8Px828EHtjjAHLfQZr0sO77t827V7t+VtX076/Jc3zuOind9U01b02vo307/AJI+rtHuJzFO8q5dndUUngqncc7uOnU47Zya9atK9OCTvq9b76LV6L13bW2h85U7dL308paPe+vX/wBu2j1txdGG008ABizZby2+ZQDznjn6Y688c7eCpt/27/Wmtvv++x3YbdadZPXu5et07W6etvtRNfDysx/OkhYsxzuBVjw2H6AYGPl6/wCzivLrpqS+/wD4Z/K/S9/nL12nypJ7NrtpZeve/wCF1uW9PneS4HAWNlTtjJBH59c46e4wA2Gv5/j/AJbf8OOHxLV6PT+tNei/G9/e9HsZbhpI02n5GVm4JJjAHc56/XGcdTRKN7pryt/ntt+W172PYoy5Uv1dv0fV2/z2l734V1BJo4QP+WZVY1LAYPAwR8vUdvxyudrcFaN4yS3SfnfTq/m1e/a3NZn0eCmrJJ3+fRX6Wt6+877Jq1pfUXhG6cPabGMTLHs8tshCT3H3Mnr/AJGa8PGK8YrVXk/Oz3/u7+sbW2d1y+7GSah3T23387Jb/O66WSj6ZHfSSTvHcEiSEhhgEq4LdB05+XPGeue+K8OvT6aq711uvX5PTr3XRR+nwNSNorR3s0+vo/dduy09bWieueG/EiK5tVYKAi439CcdAeATnnjbt6H+EtzUYuMn1uu2z7/hay301lZs9Oqk4q19+j301+XS/S92b1r4hMM8kXBlWQYPTcM8gHd14z932HJJreX3Lq+3672/qx6GFnypJ3Tslduz2X91rbpdNd9UdXBqRnmZTLsjcKzAscjjtnbx9eSecgkCpSTfS+uq08tO903rZabWs2elSnySU77xt5O3Tqtn09NNGdNFem32MrFo3Gxsn5SODknjhuM5yPcZIp6R5mtWvPu/R7eav6amvPzvdW0d99/Xbba3XpZHQ2N7bRFpoZgHcDcobKqTnuMY7+h+mDVUq9pWtd+t+nTa19FpzbLbRmeJpR9ne32lv9rytrs9vel52vYrtqCXInKyxiVBjnHHq3OMcZ9fXngL0+05/LXXV7LyfS/XXv5xtUG6Wmjfp+nZab/LV8vlXiTxII7kI00ZFuFKlXwxIbpnnjpnrnoMZZlJxfK5aNq3rv8AJprzvvurWOnC0bU9W7tbb2s3pfo9+j1dui5ebvfiNFo+BbzwsoAkLMxZlZ8NgEZGA2V5IA7lqn6xyJqL1d0m/XW/bvtpu73HXUVpfTv1V/mu2vLsusbpHlPij4zsytC8yEMC52sCgLH0O3Hr+oxnFcNWtzpx1ak7aL8fi31fVX21tc8io4x1ve177bNd9m9Ulpyu3U+Sfix8cPL0u6tobuNXiVwzbl+6VPC/Mo7fUjsOrdeCwzm4u2zSst3tvpLa/b0vpy/O5jiIxTd01fTXyuu+utrejdr2Pyw0rx3/AMJb8UmF7MjpZLcTFN24NMxxGTy2DyOePU9QV+rw1Jwtpe1raaNJaLXe+99berTj8rXx8XGcVpdWXd9Evi16/l7urPpjw7qFrJc7JZlEfzklj8hYBiqbiSCcjp07ckZbpqUpT2Tb69Xfvbyu31vv1Sj53topJXTs7+l+X/LVvbfdlnW9fuJhLFAFEajZhThsDvgnn8dpbseKcKDi17ul1va721X47Lqr30G8TFQcb7J76t6evW6fS/ldOPj+p2jTyidlMhMm75vmwR/DkcZ7cnj2JNehSpNLd7W0ju+rWsdH669bWXN4uJrc0naz13v+Gzs1bt9rS1z2D4ZSFZ4gzAFpCnk5AOByCc454x3PTPVd816fuy6e7LTsrf8Abt+9rLqk9D1MsrqMqadruaWru9WrW0ja6t1e2l7rm+9Ph3eRfumXazmRY9u7qQ23gbuvJ6BsEfc6V8djKbs7J6q2q6a6rd+mkt/Jn61gaqlLmdlt1313V+i06v5e65fYnhpzutshwS3llipyQep46Z46cdRXz84NNpJ6u+n3K3frolpptZH1VKUJR1dtNNbeSW2vlZJX9UpfSngjUE0nVLRY5UlhADy8f6uY/cV8kAZ9+vTIwa2wVX2UrW0b/X5PTbSXXr8R42Y0lKnLXu9Outt9bXvbVPTW8bqJ9X6DrENotvcXIcQXpkE1/A26O3m35UbQSB0UlTj0Bbmvp8Pjk4w6r1V+/dW16rl72dj81zTLZTk2ott+Ts193vWi+id/klH0ONlvlnuJb2NbJ43EUyyKDNDj78i5+VickEZPuMfN9NDGQcEk0vdjs0+29mr7JPR/K58VUw+Moc0OSSXM94y6/fZ2V9W7+V2c5d3+nwxGxspvtEJBLiQhVVsfVs885I5yBzXDXqxd9b201t112s7+Vret2enkuHxMKqm01rvr3vo3Ffm99d7njmvX/wC7uEgIYqxQqo6c84HUAe+5euD2r5/FST5l1/4D8lbTs9NNXe5+u5WlGNNttNrdq6TtfXV3XT7Pna9zxXVUkE07Qt8khUOh5G4Y3H7wx9fXrnivKjB8ye6vt8Lt962XSy8+XRH0s6kXBK9rabr8nutun2etzNtvPFwIrQqBtJkzgj6DkLzzjBwevOGq5tJt2e+uv3dHbfZq/TW1zw5wTqyd1bmdrL8tU1frvtojpNK1dbedoZgUBXB3Hgn1xjkE+vrjPauSpXat+l+lt9tflp/efxEsEquml1pprf8Arv8AcT35M93E6/LBOhxIp7jOVbOcZ6cjnOecUoVbyXS3fS/a1+bRrS9r9LNNculPDqjB0n01d9/eXTzXnr1Sad47nhS1kN5dWkUsMcqwmUNIflC4Jc7eQSR7e+CR821Wl7SLsk2+jWvS1r37XtZeeyZ8zj5ewrqSvbm66bX6X+7ftZXRz/iCJrOdpyqgY3B4UxubPVgvByeeCOAMYP3vnMZh44eq5Ne9pLura2Wu1nd21/ws9TA4x14xitn18rX7x8t16pbS8l1rxTDOzQXUrW8ytiOUcbQOm4HGMnAz79+DWdHHx5uSVui1dtrJdWvvtp6SR9PSw3uqomrrzWvXXpvru7baWblxcniBlml/0yNipXH7xVLA9wyZz0OeewyT8or1FXpQS5WveWv5Wsmk+n5O1uY64RjWg/avWLS1107208t30/8AAe28O+LPOPkz3cmPuKRIWx3wpycYPqeh7/MK2p4hPZ3d233XZvt8lq+1mcDwlBSvbXp06/4fxaWuttHKXqOia+bK6jkhuUJiYEpuLK+OPnBxwc85788jJpyxXsqkGu1/PfZ7q/ZJ6Pq72Lr5fSr0JTTvyJr79fJX07SXo0fQela3DfW8d9aXQtpJFHmJFtOWHoOwbrn5STycZ2r7uFzHmio3s0tn1ffy6rr26Jx/NczwkoVnFX1d7dk/lpe1tnbzudXaao6yQMXMzoclNxC7ehduSCSM/Lgc8dxXXKV/eT6ry21snvrovtea0bPJnglGKsmm012asnor3WtrpPbutzrINS85pG89ogxwG34Zd3VCocAZHGB+vWqWJsnFtPp20/Cydlor2/E82WBftVu7tXd7X/D7k7bbu5IJo4Sv7wtPncokbcuOv7wAn5eeoYenas3UVk7rXp+t9Pu179LnTLCNQT1tfW99+q09LX1XRdovudQeRww2Y2HcUxg4Gfl74OeM4PsOlclWsrP3lbZa7tvTppfe1lbyuXRoNa7rbb77+jS+S1vdOOcsgdw8h6cYJ6jr9eTzjDZH0NefWrJxeuzS0f42+e9+ml2d7jKFNvs/ld/rrtZ+VrtlO5lSMTOSUPVRngnsMDoDwD0B9zha53P3W77bfLd7b31utr31+IzjTc5pyWj76fPXtZpaaeR52b5rmS6Mq7PJkxn+9zkcHAx6EHnoOo2+ZOp+8SWl3332292Len/BtZ83u0KKjRbafM9duu3399X3er5Y87qErTSlIot2fmbjJUdm6qBxz1PTnOMtyVqXRapr03e7d36eS0vLc6KbUem3Xtr89FdLXe3S9zl57gxymKQg84OevI5HVscH0x0zn+HinFRhJL+V72v1Xlqnppe9vOxs/es/O/8AWq/X0OceT7NcptOVdi5BPILHkDG372TgZ9uP4uH+v609Oj87mdT4lfWy2tbffqrWsrb9+tipqrIqOIiXEgyexU4yB3zj174xxnNH3r16fdf9ddrmPVLs+bfq3y9l3vu7PRLTmPIfGAMsDbY+NuC4Xkfe69uB7Z5PUV6GBVpxbvrK234L12s1r53ZWIkuV30snru/henTW/e6Wi6e/wDHfie3CaxIGkCnaxH947CVHHrx+Z9xX01NWjbV6ry1tpbfdPq5HyuMlZ26dXv+Fn1bW60Wt7M84urSS+v7VArr9nlMyvgjk7i27oMf49BjbVVFvv03V+ysvyTdtVfraXPRjzSXKm3o0lorXXXW2muz26aOOxetdRGGOJowkbBpS5/1uTkxjHJxnIX36N0ooWv56a9vyWvdt+mh7lGHKk9Ul5W6vX4lqtb6Ppboj6h8F2E9r4d094opmN2N7Ki5xltwBxgjrx83T05NdGJnShS5nbntrrt+d1tb53fSXv5FJSxsedqzsne1vhvbZ9fR+eh7V4f0q6fymdZVabAKFTgZxnJ5+mPXsckt8fiMUpVXHzX52815tp6LvY/Uas6EKMGpRulqtLaR7e63t89tL88vXToxtLELOp8hsFmCZCMozyxPfODhR65AIC9GFpU3Byb+J6rt11fe9+23leXyeZ1ZKTnHe1rrtZ9dFr0181fSJtaZDpkIt77UEQ2kKiQj5R54ThUI4B3Ac8gduete1haFOKTtqrPbZuzW+/frvu7xZx4PE160ZU2ny7a9NOq3dubXZXV3dLlOf8bfEy41O2k0rTYItOsICDDDCNrMgx97aeckZxgj0GCzL6E2vchTV1rez67Jp+X9bHoYbLWpTqy35rxurK1tL6bpK+iV+trM+fPEGpXd+FsomcyzKfny3GfQZXGTyThs++Pm0hgVNc7STb35f/tX8S/vLurrQ9V49UIuF9NE7uL+7V/kuu56J8NPh5JE8OqahvEQUyb5Vwu8EngsOR23Z7YG7d8nTGi6a6pR21at0fe8nfRdN29EpeRicRpLERa5qC5tOl/d6c1t7b21tq01HqfEml3vibW9F8NaZEZLjV9a02xjCDc3kSXcK3BCqc58ks2MNwvIxxXXlmDlisTTtd2b5dLavmTs9b9F06d7ni8V4+nlfBeYY+c1GpUhOKvpe1ana3RL338TaSel7JH9IXhHSYtC8K+HNFgUJFpWi6fZBRxzDaxKTjp1BPAxzjnmv33AUvY4ChB7q6/rp/VuiP8AObH4n65i8TiG7ueIra9bKcv8/L8G5dGpwQf8/wAj/L8q6Tj/AK/qyf5fcdJpRBt3I/57N7/wRey/y/LHzZT3+RrDbe+vn5d1H8vu05v/1v7iK9A88KACgCVOn40AOx1+mOeR/n19ePSrnaOHc/Nq66aPf5fetLL4hVJ8tNpbyklfTt17L5P5/Z8n+Nfw10z4s/DHxp8PdWhjlsfFOhXumyCRVbZMyF7aZcj5Wjn2srclcbsjgNi6P1nCzk0tE3tqlZ6vR9evudrKzN8HKeW1qOJi7Xkm3r1dtLuN9el+10r3l/nhftL/AAu134UfEvxt4A8RWTW9/wCFfEWoaW8jxsont7aeVLe4jBCl4p4QjqRlTkgFiK/KsxpWxM0raNp2V1zXT1+FXS++104tuMv6l4bzJ5hl1CpK791Rv68/nJtaLfXZtu1o/FuuyyWchZZBgPjIXaQMZ6+3rn168Vz0a8otJ3vZt9vlt5aW07u57WIwvuJxXxd769ekH91/v1N3whqMeoOWc5lX93F8xUK3QMxPbnPb0PYt60J+0jrrZJu+vddk3r6W6Xvc+Sx9NxmmrNa7buz26eertez+GzZueL721gtY4LtRs2ESFSrbmYcFe2foeemR/DhVjv1WzW29npr00af32soy46c+WSb2TT+evTS6/m17bbx+XPEujWt3JvtSjhW3ZyN5CkMAcEkEjA7f7XYVxNOPvJtXv7q0s973W9n008url6brqcY+W/ndb7S12v3302LfhDWI9N1yytzH5ayuImG4APngZPYA4Pf7vsQvVhHdp397Tu7XTVur2belnZ9dDzsbD3G1va/dra/W/wB3rrrE+h9OugHkGVLCR1Xy3DKFc9mycnJPoSeT1Ar2JtckNW9G/wCl0em3TpufIttyfzT+Tsu1rqz2frodpfcWdoYhl1XgnHBJG4nIJ6Z9cYzwDmuSfnrpr/n9no+1+19Ob0MNq09nqn9+j6/Lp35tJSozTiO3Nuqj5mGcYBIIwWXHI+Y54Pr1ya4Z/Eutl6/8Np0PZS9xeTt+C6aPp2062Lthe+TJBFuyePm7DjgAk9RxydvrnusNXT9L7dv8krjj8S9f68tfXydrnpXh68uo4ibpR80uwOTtxGT8rlvm6ADPHI45PKpxTjbX1t6aJe7orbXvr0slL0OZ+4u+l9ev/As1v30t73tfh29ihSGUhC0cmHfHlxkgfITwM5IxnHOec151VK/fdW/yWq0W/wBztpy+3gqjVtGr6K+j06dervZfcrpH1L4f1jToYdNubgsZJIi23LJCki42l2yep9T+Wa8fEw26au6Wv9aKytz33d9HL6Sk21q9bLVf8G7dr26b6bXPRY9QPkm/WZGM53HncVz1VBjjAPoPbFeNiKau9PV36+afM9dNL+t2/d9rBVHzJW2atrvp/wBvLRaLts7t3jtaRrsRkUCXDp2yAxJyPzxnr+RySvCo8renr632tqvy8t7H1NKN4pvV97PXpdXb1T/zsr3O20/UJJhJI24OGyGJDMT+gP1wvBzjsylt+Gzej32/rtqjpg9fmuttN/NK22radknZNM62y1Cef5Y5XWVFBbIyGUds8Z7YweD2ORWUpOCvyyd7K1vv8n8/PzPUg04r3lte2l9vK7t30fZJW9/t7LU5Li1KySbjwjL90rg8HaORx6Yz0PQlpTlUveLV1bW+mnVvr5arV97Ralyu17ppuOul7emr6rsv5tEb1rqFvBBJH5qp+7JkO4A7sYypPBPbAx6e7a06ave+t/PV72bu9LdVv9zllXrWhFOLsprv3t39H173T+LyXWvF0unzTR280kqzkjeH/ngkjP1B7AnLGtmnF3btLsl/k2ml5W1uvI9WhOLoKSaWkdNLu2++1rvq9ra3seR674ikO+Z7qKOQBxIHY5bA7A7l49zk9B0ysTrOMGr27699u9+3z1avFmLxMYQk1JXjZWcl/NutdXq/5UreVzxjVPFVw9vLIm9yQy7ck5A4yMEYBHI55HrmuFylKSXvNadXZJedlbW3R9raNnk4rMG9E15LXTZvr3e2iXla8vDvF+tX81rNIZGCqM4STa/0wepH16gn5a7adFct9G106/8AgOru+uu3oub52vmE03a/bX7r7tfh0T0+z8B/GbxhdwwXNv8AbJkIDEgENuBBIGccc8deuT833V+lyyjG2unrZP8ALs7aJtedz5jH4uUr8z5Za9bdP+3rvTe1tPtWfL8SfCrxkF+KFxDcXO0X0MkKbn2szKeCM46epz2PbFe+6Sirx1Ss9EnotN16dD56VZSlrKKu27Jp73drO7Sdlu9Ol/tffGna95FtBEhMhMrlDuAKk/dJO4Z7fX35SuqhCEt3FX6NrWy1v17+Vtk7qRjOrZ7rW+70SWqs7fi7PTZ3XLqXfiWFgqPLG8hxuAJyvPRsHr75b3/u1pKilqtU90uttPO22u/mk9DCWJWznHdbS6eW2tunLG1+t0xv23zIURG+VcyYjIZjnkjn5uMHpnrjjAdt6UVfVLW1ulunV63fbl+5JnPKrF/ai3097z1fXV3X/A2Oy8L65b6dPHP5vCNkpkDbzkgt0ODzjLcZAPy1GIh7srLS2vd7a76W/wC3lpq/ictsNXVOrB8yS54t6ro9173TXqreaZ9jeCfFli8FrcwXaiSbaUUE5EvBxx0LZPbPPG7ivkcdSlZrkk7XbdtvLaSdrJb3dvtaKP6hlmPTcPfi27fa16/3tG9L7Lppoz7U8D+LV1Gxtka98ortR3BG9X9u/TjovuODXzdSDU3dW1e8X6O+7tu9Lr+7p7v3OGxXNBK91a2i0vt/M7a7W3XLdqyR9J+HNdBVYg+ZDtQXJyd7pjaW6dc5Hc+g6rl7K0rxi2lreKv6LSK7db+q1ZFavBxfPKOtt5xV+m3ppf7krty9707xNdLapGsyMkak7VfCGQj72xsA8ZAIJ5wcDO2tacpwlZ6J6316XVte9+t7eVkjx6lCFWWlpJS6Lvvsm+r2XneVkjd8OePZJC1pdsPLDFBCCyhlHdXHGPw7d+a76WOmmnKVuml/80unRtrvrYzzbJ6KlT9nTU7xi24xTWtnJaLf5Ltpqb934kt5T5cLfZkTnYcE47kMSAwyOgOeOAowa3ni3JX5nf11a8velbvrs7vW75c4YKjRpq1P3rarl19Fovz++9zitV1q3QyNBKshmPz5yWBP8RGfl5549/vcBeZTU78z1/vPe/Sz63v18nbQ7qNT2MVy9Et9Pw5ul/K1763Sj5hqOteTuR/mMrHDDpyf+BdvQ+3zfwnurVcq2062tprdWvbu79OVG08ZJrz6d1f1m/8ALrqtJJpOorDMoyXM4PzDaQvHQdMAZ69vfOa55OLlLVPX03urK8Y2emt316faftHyRfVq+97vXTW23rr5aM3mCl2uWIZidiKD8w98Dg479evU4JrGVKEno12s+77b6XelrefYqli5aX76ra+vXXTW/f57GkZUjiQNLuZRu54C+2DtPpjn8+NxGnCLs3HVJ763a17/AH8vTrqjVV+eo5WdmrXbvbz9267X1d1r7qdzpvALNfeL4Y4sOJoZEZXDbGbb0by0LuDnAAGD1G0k1107SVopyv210/X5rr1uz5fPJRSbcla3fz67rfVvTotT6RufAEN4I7fVbaKUugNusEbDAK8jaFXgYGN+CemSclZxGWxxDvN8un2nZ+l9em9m+2mjPlqOczw75aTc0n8UWn729um2++t+lkz5p+KP7P8AJdfaLzRUJ2huEDHaeflePaeR7A568dU8HF5H7NOVJXa1et9Etei11T6+m8T6/LOKL8kK0lBbNy09fe95+u222lj4C8c+AfFfhGaW8l85Y0Zgd6uEPpw+D06449ucr4clXoycZ05rXrbVfLW7tvv97PsaGZYOvH93iabel+V27dPu/W32ua0b4iTaIRHNHGCRktuyC3PGDvZT0HQemTgV0Uat3bns9tW9LeVls792l12OtU/ar3XzLo1tp62S0vutLO122z1/w/44s9RK3v2kwscB0WQFGP4ZIz25xzyBnfXo+7KHNKVmvhvq/Ltfo7ffezZcHVpKdNptTd3r2ur6rps9b630aXN9B+EvG0SiJY5jtJ7MpH1bqP0PHYADasNVcalm+u+q29ej338tLo8jHYGNSMqiSbtfbXXXTaz6f5rQ960/WzcRo0UiEfKzENk9AT6nHTjOe/IAr6OnXjKF+bZbdX5br8bpdVfU+VlhqnO1Km7J6bWfndXtfdaeet2jpbfWHkUorBTuHOSOg642g+gyCvtjgtg6jcr3drvft5du92/J21MXhY7uFutu+3ld+l0/NXTN231Dchd5z5i4A5JwvQH0A6jH44OcrpOrHk+Jp9n6a9k72XV9kiKtFOKUYXfMrrqnd63+7pHyWjJ01QyZQuCq9Gzjn34HfPXn6cheWU3b8u35dno+u1+piqMlf3bP7/l1+6+vZWLK3zbkbqfbBGMYPG4g/iMjrxzXBOqmuW65k07XXff4b9LdF5aWk5U3yv3f+D6327aevYztQ1DzQY8HdnAIONp/hOOB1z68dxgCs5VG421Xzurf+ApvbbTycrtRdOls7bbN3V0nsl026uXR9WcRcXzCW484BRkIgCj5yo+9wT15HOPU9CK82pJxmpdVr91tXt1876aWvafpU5NtK2jVn02Wnp+HfW15Yr3riOST5geQOm3aPfP44IHP47rk5v4k2mrLVb30vt1fp/huoxltprzv0vd20/L/AD2Rwl1ePJOSW7nMg+6CD0I2jr7dAMHnJXzK85RfKov3nfdNrWytotXbW997K11I6qLvFvS61Wi/4P3pW9dCjfGQeXOuZQoAITluoIONuMAnPY9zjJFc7TT1663/AD189NNX9944VZxTTclr1W176rouvfTdc2nM2+eNbcM2W3L2OCGPHYds++OvOcKJN7dPn+Gnb/h9jJvmkuV3XKnv5/hdry072seWeJg5tHmLsFiSQMpb+IZ28E/xZxzjI7nPy+hg/dkuZNO+z03e+u1rdvPWxlXb5Fu1Z3ejvra7d35O1+strM+NfFM3m6s7MFWcRuQm/ZuG5iD3B+bjOPbkk19NST5eZqSWiu+mm3d6Xulbu9kpfK4qV5NRfNJt/wBa30a6aJXV9rGJYIGkjmnO2YqZWXILY/ug8ZAPQ/iM5DU57PdrZL9et3rd69rctvd6MGuXlurN6u6asmra6X6W15lay7ofDbpchDI4laa+aOId0YsNpfj7gHTOOnU0UlKMmrWvyrXfp+b6q27fS0vanype7JNpLm5bvWOmmiu09Hr9+h+ivwc8KR6osVhKsSfYrOz3McFQ5Qb9oyADyWIz1JwT0p1KLxFVqV/Z6a/Z21V7aa3tZLpe1kZ0cRUw0nOLd117q1tG2mm+tvTS7cfq+58C6bp9sklrd2okAUvG2wcED7pPORz0A+XrnGFwrZPhVHmU4Sdv5ldeVkk1q+rb08z2cNnGPxEleFVwi7c6g3FJPd6/nburWTlDp+gtqEN/AyoYpY2jTJB52Y3rxzk8dhjvyS2OFwCjdXvFTtdPZXW7Ub6LylZ7LSUTTMMz/eQoRmpycI3jF3fNe1mk2nZu299dL6o8A1WWSKxm01g/m6fez2u0n5iUmZUU89h/MH5cYb26eDio+7K/Va27K211vrZL5Jc0vUy2r7OPPUioytdX9L2tfTVW+1263PLrzTr+7uSFGJAdpZD065BUbiRgY6EZ716OEwMPZVJ1V8Lsub0T7LVvp7tld2dmj2KeOc7qGzbXu2/zfS7t372Tl6R4F+Gk+pXouLyM+SACTJncwUgvtyD25GBznHGRRSnOVT2cIOW+yutN2nsu22n96yPPx1aEFeU1GTbfvNJ27ave2t3Zq1knc9t8ULbeHNMjtY41SFYWEOOe+W3kEZOcDk57KT1bTFezhS0nacnZ942d7ctpW0Tsrdt23y8WUxr46eKocs5KpCMaT1tJp3bT11STfXu7fDHrf2KvAt78S/jTN4mubcP4c8Bp9oMsiHyZdVuAywxbjlGeJdr7cZXdkgdK+q4NwVTEVo1JUnyq9n5L2kVd2T1WvnspK94/jPj3xNQy/L6HD9HEx9vUbU6EZe8oyhRqK93e7s7679rKUv3KClPlAAReEAGMAcHPTqRxwflAyeRX663TUY047wSutVa/rfrpffo7WSP5AnTdKbh/hn/4Gr/1/wAAWoJOj0j/AI9n/wCu7f8AouKsp7/I1ht8z//X/uGU5UV6B546gBy9/ZSfX/P+fSgT6ev6P+v+GBCcgdv/AK3+f8igZNQ9VyvVdnqvu2/ryE0nuk7d1f8Ar+uwxycEDkY5BGeCeo9CTgdvXnGKabiuVNpPdK6XbZaPTT+mE25pRk+ZLVKTuk1rtronrpbXo7tn8qP/AAXY/ZiTQ/E3h34+6PZt/ZnitH0PxMYYFWO31iHa1k83loAHu1kdTM5LsVUEgjNfJZ/gqblTlSpwjeEnNxgk21bVvlbbV3ve+tuvL+qcAZ1LDqtha1aclKrSdGEptxhGKleMLuyTbT5Unfysj+WjxTpzbZcFRsf5UCYbIJBDcfMQRjJ3ZzywHLfHOg4VNn5J2t5rZWv83s+XSx+5TnKrQjUjP3XFO17J2109baLz12RS8P6U+kaY2pybvPuMrDHsG1QB8zYOcZyDkdenGM13ShJqPJpprbTtbaUbvXfRaXtraPg4p06nLaz5b323ffVXt6xT10e5yfjTUpri3JYszBQBkZAOP4cYxjJ7DHv0rnm3G7k2+VN2v2Wzu9HbbV9tTk9lT191L0S27bK687+qR8xaj4pvbG4yrjyxIysGJ9cdOnTOT+PeslKM9Lvv0dvxW/qu3vX92lSVnZfgl+W9uxnz+IA89nepIEmE0TNtJBHzDj8Tntj6ZrTD6VN+ut+vray009LK19zKrFexkmlJ7apabW720t1fT4kuU+p/B2qG7eM+YvlOI3yo5YlPm9+QAckc+2a9+pKLpwSSTV7/AJJuy/Xy1t7vw7h/tVRWdlok3p1fpvvolp12j7TeXf8AxLLZkOBhkB9TwR2HPT1wPYA1xVFa/pvvtvpdfjv3Wp6NFJSVr2ettu2n2reqs/LSxgrLM0kcbEZYcvzgKSenp3B+6e+3kbeCfxf1/X5fk5etFprfRL+rX2119PREwuG80s2QLcKuzkvJ6FcHvjJyPQcYJqqfXTprfre/9f0x6qz3/r5bf1e1z0vw7rcl7YPAx2rFIm5mHz4XICHvjpn5effBLZ11ZRW3fyv3S5no1/wG9I9OHb967b2S699tttlvtt9o9r8N31vsWN5N0ZCgljz6DAyehxzxnsK4K6aVra9tmknu7tafe/LVHv4STdnpe77adFfa2q89dWla57ppuoutra2jGQxPMPLaMFgAT/F1wCOAMjj1wErwK8X0u+uu2q87+vna+n2fpsHPSXMm7pd9OnbXXrZedlc9X0y8yhgMrbEKphjhSQMAg/h0AAPUjpu8+qm76O7t5b66+ei9Pme9hVd2stdn66u217rXfrbS1zWsobyFnljJY78jpgrjI54Oe3uc8HpXE6fO13Wt2tl+u66ed5fZ+mou6iu2z6/do79Xv2elmeh+H9fmik8u6Tc+8KMnKjjgnj27A4xnnFFlBXunvbTr28uu6621teXY4pxfp827dErarXX3b7a7HrGn6xauqrJtikcfIyfL83ocnnIGR09MHNZzqvlStt8+uvTz093z6JSwgvZ1G1J2em97ap6d/S/32LT63Dbl8uI3/iC4OV9TzgexJ5HI24G6b8++97f8DppfuvuRvCq76d/N6rtotrpbxtZX6o4XXPHlrbM0azSuTnKcvub0JVRjvk4PuKai4PmsrPTVq2uis76+nbbl2OmlOVR8jtbdPt531ersvh22vseey67cXiSiATwGR96ySIzr/tJ0UEAZ/ulT64JXnq1Xu3qm7NvTfXXTdeT2s3qdGi92yT0svzt+fRPstEchqdlcXLbp7hHxkMXGUUnswyME+44HJYjFebLE88+S2jvpZ/ZV+/q1o9bNbLl8/F8vK+VdVbz123fKutnffpexxVxNDZm4t3QvIFKMxQCILyPMU7iSOwI49c5C13UJWW7a0067t23TV7J6bqy0+I8arqpd2vuura9NLd1fpax8/ePtQa2tJgOFbzGjIB+YdB2OMHODkeozkV3UY3rQbvo7vS9vTa+mmz+9Pn8qqtJaWX4O9r6tPX09dWkpfm78Y5WuYbrBZnKyEnk8FTxn2Pbgjj1Bb6TBrllF6fFf8bXVrLXR+fW97HzGZLmTW/8AWtkr269dNtbn5t6hqGpaH4kj1my3xT2Fz5sD93VH3lWAO7B/ix69MnNfSUvepSX80LOO+q09O/fTdu1z5ScnSmtEte+mm9u/3q3nax9z+BfjHpniPS7ac3KDUPIC3dox2bJkAXcgO1sk8g5z9MfPMKTi9Xvrtto3bW+/pba1wliFJPVXta+y12v8W+q2j57py7oeL7JtnnSxRgtuLF9mPQ7j1wPfnjIXC7t+blsk276K3XTfp+O3nZ83I3Ft3aSb2Ti79NtNLPX/ANtSUo9BYeK4ZG32t3FJtXCKkwJwB2UZJAznjcfTOCVp81rXb331tun326tdLXtowUIJ9PPZaN77ytrp9rXXR6S6WHVriYoRJ5LsFEpYhUKr3UEjLHJ5z+eKTc9d0ve73187/Nae6lpe75doRhdNPZ3aSWt+2i3dter6wPQ/CvxAvdIuIxPKYrcSArgsVVYyqqQeRkj8R2xkivOxMG4vR2flq3f8Xr367S05fqMvx0Kbi3LW+mm3923Prda207bu0vvH4d/Eu1u7OGSzukW5lVHdvM424GWCE5Bx6E+nuvzVfCNt6NtX76rpze63t0utnrtyfc4LO1CKTlo0lr87fbs972aeqvrY+5Ph18RraGG0gvbqGczKWEjDkOByM8gEdwfpxxt5IQlC6t91+nfbbpZ79rHp1sTSqRTulvZdW310crWttZdtPs+/WXi+G/GYpYCQQNykg7MddmRx7jPqemK56kJSeyfR77eXlv13Wlm0dOFrKKurLf4muu3XW2t/utq2Tp41tjJ5aX8SPAxVgq4zjIPzEjP1/kRuohRelk3bSzv062tfyv7z/u6XO+eLm4v0stW97f3uq9X5Pc2h8R7MW0qSyiRkGEwcMT6559vp1OfupuqDdulnb17Wf+adt1fVR8yrXqPdtavZta9L2v8Ag0vyOQuviHB++KkhypwSflU4Ix935sDJ/iz+tT7KXTXWyvzXfot39+nnYSrQsuZpu3dJ32to9Hd7Pmelulzl38a27Tq0tyJCeSD0546Z49+RxzxQ6U97afPS/R6Lt0b76ah7em2ru+v336XV9Xb/ADtqy0njyANsjkQGMlhtOSPrjPvwD7HOMtm6Du+/l1fTprt3V+6s3LKWNSfKrNKyT10tr0a0+b/7ddzd0/x2ZQY2uFO5uGY4Kn1559OnTsTnC5ypPpfR/wDA6W77dd1fVFxxDfb5X3W/fu933vc6iPxZZTLHE8+6UglmDegz1LDA6gjJHHXiiNFyV9PP07bt/el+JX1mUU0+m27179HtbrpfWyR9Jfs12c+reINR1+3RZbfSo1jTzHWNWkmbDFTJwSqjPBPPrxXo4Sl7OV3p8/v7W09e3mfLZ5XlWi4Rvrp57Wva8rtpOy09ZbQ+4J4o8xzLNIzzZZx56FoCP7pHLL6gbQef9+umtODmrPRJPda+TVt331tezT1kfL4WjOMJJppubdt9dez66vRe7s73ucpczi3upogk6StgqODDLnPzSgqSo5BOf/HvlrlrVI2euttEnrp933P8bNndCE29m47J+npfz6/fc8b8eeEdE8R6beW2s21vdTS7/JMYV5Iyy4ymFPQ459uMZFeDiKMK953eiaXX/htH0+ex6GDxdTCTSjb3mvl87v0W7846H5QfGP4KyeHZ7+e2sry4sWcvZ3ts4F3bStuylxEpZpI87QMBSOmR0rwlSjGpbpd30d99L2a2/qzd4/pGWZo5U6abto1bX+69Nbfi0rXd3Y+T7TxDeeHJ/sl3NfWk6ysipLuEdyAQBuUAbDgY569fUL6sKUZRtfy89tr9L9Lx8+bS57cMVGpK91dt9dde2+t/KL9fiPcvAHxSjMkaGcIxYoUZ87sEDcOT2HHHOF5ODWDpckrq9lr6Pz22263+djaXLOL7X2XX4u/r/nbSMfsLwv49SSKAR3IV8r0bIJJ4B5zjjsTwPbK6wrNXuveta/y3t96Tureex5eJw3O73drtN7X6ef8AT1u23P2K18XibYrOBOAMlc846jIB68fxY9CScVp7d/y7/Ps/7vby6ehxSwd9W0u+m/zfrezWvnc7XStdE0eSwJ+p9fy4IPcZ98Yq4VXN2s7K35P1t9+mm7Zx1sKqcedPW+q3dtOumut0rartdHUfbFlgVtxBP3duRn0POOnQ8Ljtuzmtns7aXStfVpq35731vt5x4ZRvo9N+m/yvHZ6bv8yaG9KDf5gddu1SD0I9sZyPoB64xXlSb9q+99b9nrrrd9bb+qt72TT6+v8AX9fmVZNTWQSO5/1fOQfvHsc8Z6Z68gdsVpa+n3+X+Xyv+kbjSk9vT/Lq3+F12laxyF7rCySOMFj1XH5c8c+nAHqMZNebU1qaapXjq+6fXzSvol52ehtyuK5r6pdvl/NZdeku7ZgT37iJkJwpzkE4O3jpnGeQMcjPoq1LqtWi9rXv2069t/uWmtiN7addOrt2+ezWvlbVnHTXreY3lfdPBU9fdvvc9/7v9K4as1KV09n17rRPZ6Lfdbdbo6Y+5F9LrVb200d9d77floyRL1UwskpfdwFHPU9f1PofXphuarK7t56bLT8+u7dvTU5ZU3O2mn+emmrtv11662vKrdXykyovQDaFPXIHHcc844Puc5FVRnqlf1fmtmlZ/dzet9hxg6atb8e616f1t7u8vH/FF9Iba7Qb9vzOw4wM7sccHj/62T1r0qL/AHl9NNNNLaJXemr30+d3f3bq04qm99tO+9vle9t9bX02j8oavvvtUuXbAgj/AHZ3fKx55I65BO4j168H7v1VP+DzXXL/AMDa23be+3qo/F1aadZ9NevTbVP7u1/leWIs7PeSWEcLhPJ4mYYEfP3UbaM5GM8ntz1rPaCd76uT/vbaL01e2lmrL7PbRWumiVkm93bp1669LXVusTsdJ04y6rotmCvN7FJM2AM5Cuc9jgDnleOcDJrSglJrd2bstL79ZX0bT7bd7Ll7Z3hFu9mkunn397W+u7v/AOSn6HfCu4urBZZFV4vtGCkjJw8calR0ByCPceo/hrqm5QfKo6Lya/SVv+H0fxR2p0416EGvO+u7b9JbLTbrbX3uX3a3Gpa5dQRSzEwlhho8qcddrA88c8nr1Oc5XJU/aPl76v02217PTTa+tjrVf6vTcOW2n4/+Su/3v1veXsljp0NnbQW8WWdY8u4wSFQBsN0645Hp3PBrvoYTkpTclFNzbXW99ddIu/TTTyWspeLRlOrmUXZ6tJXu7e/8t9bLW97r+/8AF+r38b+NfEGnFMpc3bzxMccSBzvIPGGDdcnjHGM5VxnGE7NpPbpbS3rfT8dHbc+7dFxoxk1K6VpaWWi11suqut7PR66nX+GvDdlJcmS5zmRt/O0YfkgnIPBH0HI7gGux1/cVKytJLVr5K2rT0v06a82vNze1qUrOCb6WTas++mt9U76pWV+8fWpb+x0ezYwtFE0KbcgL0x1PGOg5P4k9qITWHTmtG/TX/DrfrpG/XfS5hKhiMwqRTTtd3bu322vbZJN/ctLHz34u8S3/AIj1G30eyLXd1f3UNnp1rACzz3MriOLCqCduSWI6YXkHFeVhlVzHMqdKMW4c/vW+FXXe7u+97bW97RnsZliqHCuT1MwqSUJ0afNC7taXMl1SvpN30ulumpWl+4/7LfwbT4LfCnSdBmRH17VCdb8RXW0GSXU70I8kW7aG8uEKFRSSF5APNf0NgcrhlWChOmrScVL5SUWr6XSala3lvuz/AD+464ifFec1czb5nRfKn00/drTmkr+7bm89Yu1j6S3ZwD1A/L29+vrx716EFzQjVe87r5L+r66nyDk6lqr6pQ/8A0/rTz85LVEnR6R/x7P/ANd2/wDRcVZT3+RrDb5n/9D+4gDHFegeeFABQH9f1/X5jk+8Px/lQA9iAeS3Tscf5/z60AKuCD154OTz69fShf1f+l/XfYWjfovzv/l28tbnyv8Atm/AfSf2i/2e/iF8NtQt43u7/RrrUdEuGjSSS11zTYmurGaEMCRI0sax5UqfmOc5NcuLw6r07tJcqav3vb7tvn8jty7FTwuOw7g2ru7Sbje3u/PRrv203P8APq+Ivwr1TRPFWreGtQtZoL3RtXu9JvIzE0bRTWdw0LM6Mu5Qdu7k4Gfdmr4XF0IwnLRO3e/e+r6aN6q1+l3bl/ovL83lPA0ot68i1T/zatsrbPXW9rw8Y8diPSpV0qDmOzhEZxgK0o/1jAAfe4BJyM+g/h5HU5LX969ttPVW5tN+8rWtY6cM/aOpKW7a87X06208k/u0Z8/+ILlntLj5CpAPzM2SDjqPvdcc9MjjjGV5Knv31tdfh37aLpql3ejOx04W2+Vl92979O/e/wAJ8w+JokOSOGLZJ/vEkjB49CcfyOMNFODjeW6kt+2z189e+vlZEzShG6STbt01snp1/LTz0Rw8ZlacRlmxkbSxyM9Rx2weeT78EVqrRd0l91vyt/Xe9jkUVUjJd76d9bb+it1v5XufUfwx1U5jtZZMyRRnad2Cx4GDjknj+8cDgA4rvoVXU01dkr/8NfTzWnmr6S+bxeGVKpKTS97y7bvZb3Wl2j6iWeSbQItyL+5L4J68jGRwefx/Krq9dN1ft07K3xPXbstNeXKNrRe2nbW+63t2vs7d9DMjuGLwoD1CbvoG4weP8+vWuCe/rqdlCV7rsn59N72Tv9/roWNQfa7SkbWQArjj7oGM8e+Tj06Dgq6fX5fqbPby1em6vp53fy89dCzo2oSRco/LjzDyR2yRxjOTnsPocncVOmnz/r5dNPO5pTfK079Urfl3stbbddb3R7l4a1ct5EqopK43R5+/gjBbPQEkZ65PHHJrkrxbV766rXo913u+iulbvdo93By273b1ez7fab089OqaVz6g8Oa01zBayLCgKqPNQY3J2OAB0A6dc4wc4zXgYqLTV027t38t036NLS3pyn0eFk03d676a317Ptq7+7dq9vetH0u2vUnXyI2+fckpkHHOeUJ+bkn26DGBnK+dNKzta3R362X4dFstb7NqX1eDvZO9tIrz9bX133916+jOp03UJzKLe5fZC33XU8qfQ9Mgn3HqNvSuGcvZptLfTfa3Trfbt162tL1IVnGVmtNH+ltrX7Wdna2797sWItYYrhXwdxJz/EOoOTk9s55z2x91cU1PR2vr5q/4aq70v0eqsuX06ddS+J6a63/p7a6tN3vpojTi1meFY3Zi6JymOpzyOxxjnv8A8CHFRKi0lJXWtttdrd76W8u91f3c51bt2+av0b67L8bvdtXscfrXxDCyXVrGxN0CqlGYgNuOQM9AeAB19+mFle75W8u2nXrfrp285dlGPPbz19OvZ211s+bXZLctaLfy6sm57bZLn+6HLZ78qGOc5Hrk5xgGsa9VqN0+3y+7tZv/AIdnpxoezj7TolrfVq636NN26J9LPQ9m8P8AgXULy282NI3VxvRJOqk8sBzgbuck5A6DHRfOk3Nb7662fXTzTS/vefLsjzcTieV2vZ3dujeq7217679tOXJ17wu0CzW8sAtGmy7SkAgSodpXvnKjjA53Hrk1lHD2ftL3S1ta1vxel/y3dzi9vKouXq+zu/Kyd/km7dm7WPnfxbo0kFtPcpKCYty8DDAJ1fIIyjjhRg4JxkZxXVSclPZtvVdNV119erVut948lW9nZJ3V/NNvbdap+q6vqj5E8c3jTwzw7wyFG2sDwrfxKACePQfnkYLfQYWCajLrrZ213fq183p52bl4+Idozab2vZaWe397v1X/AIF9n4W+INmZllUsWzuTOODnr3wf/HcY4zjK+7hul9ub063Tvpre60/Fu54GJ1i2+z89LPTZPXRfkkfEfirwwPtkzeWEBY7jt+5k4weccnnpz7ADd7dGTjG8d/XRabqyd9PP0tc+OxcW6r0vrrvbvvtvpe0m22+x57/Zd3p85msrh7V8kB4yUzjnB2nB59R174OK6U3Kzt+Nlp23tZ+W2rvY8+uvZp2uuvnrt93n6GNqvibxTIGt5r24lVPlDCRlYr1wFGSR26k9enReynSi7Xt91vv1ev3eUtbnlVMXNS0u3dWbv56KzS/9Jv2auZui+LfFGm38cn2y7jj3Af66Qgc9OwP02+p44FdHsodLbbWvp06r1v2003jksbUb+1dq17Pp1a27dV21VuX6h8LfGXXtISNroDVYURWKz/eHI6Njrg9898Ec0nTjbZJ6/d21fTT3t/LRM6KeNqKyldXe+tvm2320V03a7esuT6H8GfF/wr4tH2aScWV5IQrWNy22PzM/ejcAY554IH+7jNefVpJ3vql2XTqrLqvKzd77K8vYw2L+HVX9dV31u9vPyvsnL6P8Na/eaHNbNaTM0IIcFHyrKeqZGAQOO/oOMk1wTw8XfTR9WvL527NW83fRH0+Gry5Yy5k9paO3W679322u97H1z4M+KZjWOKS4aE/JIELncoxlip+bkgn5cNjsRgbvJrYWKTdm+l7L8l89nHvfc9+jjpPlvLy1vtorLVduiXe62Pqbwx8X9Okjgja7VZAQVbzGUtDn5w3Axg+p/PO6uanhFN6x3f8AT+G+vm3oumrPWpY58q9/W3e179tbrW2rvvtpaPfJ4vsTJJNZOXWc7nBcseeeG547ZI49D/Fi6PLJ2Uk02np0Wi69nf7N/K9o9zzS0YWa0S11s7LddNrtW267ItJ4wLb0LCAKmEy3DL/eZiSBxjP0wSeK1jSvq073von2Vv5fW1vua97F5mnq9W/z73dnbTS/K9LpqzUvM/Gnxs8N+GYLn7dq0U15boWFtbyebIxX/ln8in5vfrnAOetbrCppP000vp0WnT5901ocDxk3J2W7eye+vnvfT/L4T5P8RftdeILpyPDnhl0jJws9y7kn3IwMAjBAGRk9eTR9VjupfPS1+nlffb9R/Wq2/LN9vdfZ66Xtrpo9erVuU8Tu/wBqn45xX5lt4rSCASE+SqkFkz/E57kDrjP1UisJ0oq6Vt7Ju2nz01W7S0/xO7ldOdSc7WleT63unb0u9NfiSemjs0fRnwp/aS8Z69JBbeINOYSPIAJLdmwCTz+Pvk9+mctw1FBX1X4e936K/bf0vdnuYWjVaT5J67adP+G6bu1uh+k/wh03X/Hd5atCkkFvvjWa4fJIiYgtgNz0zyAeOcEisFOKko6ferLvpZrbzWtjqq4d8kpNNO3wvRro1Z36d273umrPn/W7wJpen+EtCttK0yFY0MO64mUASz3BUZkDc5LHoMYGO9bTqqEW1dNro/61+atfZaRl4lTCKrNKXTutXr0313fTstmzrZdTuYykiMyfuw0jMSxKx56kEANnrx25zXl1cRLmvq7K1le3q78vS3rfRK1pEcspr4bb3uknv+Ha3zSSs3LC1nxBcsYXjvWMlwFD3GcCNOgBXjAGO+ST2HBrirYvR2avbr0Vunvb9NH85a8vRDLYv7NrNuyVv+A3q93ptrc4TVPEAtoJZluTKIsia6weRjB2Lzg/Q859hu8qrjZJPzvpeVls7aN/kuy3cipZZSunJJSXTq+zTuvN7rVW1s+bxXxFMmqNLdyKGt3XrKN4lTqSFI45IPTjvuH3fNhipSqPXvvf8fu6+esrNnZRouhbkTu+3VL8NddfuSabl8XfFb4aaHrf2jUYYV+1neP3a7OCOCoHCn23c9sYBr2KFey3Xd9dtbW306a9dbaKPWqtSDjeMtVd36parXXWystFe9r/ABHwF4y8O+Lfh9qK6ja+ZJpjOHwruzRrnPJ57df0x0r048so2bV2tVprfTza9d15WSPcw2JjKKvJX03f3cy7rya07K7l6/8ADf403H+irKylmI6uCTtJDAcHBHvz6A5rmqU1TvuvN6XW9vNLyXnrY7tJ2Ta0ej01T8tLduvXe94/cfg/xzDqZtrkuDvRc5kwM/d6E8HPAOfzPK5W0Xz6fr1vddrbLvLkrtx5rO6tpvZq3Ra9Vf8AK2jPonR9bi8uMIVGMhiG7EZAzgg88jGPTjBLbUWlJ66cvXr+KtZrz39EeLWqc7tre+34Xtvd/pdbo7ODVWliUJKOOMB+nt04/A8e+Tt6W1s7Xfd9PvV/mtLdbs5pRbW3o/03Vu9uqs7q/u3ReSQwSBpwVO45Bzgkdz+vJ564Xjd5stKjfR9bfr8r3079byzjHmlrH5du3TfXytvdpHPNqhcMgmZjk4bOFI9epPv7dycmk5xTfvK/32utt1f79fOx1KO7a6aLr3V9r/c97pfZMNb4iZ2Y7izYwScgD7uDx2x1x6fLnNcU7Ka3663VtVfXq9bdNb31JrL920lqtNuvpr81p31szI1K+zJI3mfMqfd3ccjgYGPYde3avOxM5J2im9brz310v1V1pp3duWWFKLTd7KTd72Xz07Lr069THt7ppkeYsiupKiNj8zL6gccZ7k/lmuRT35vXe3n269LOXpqXJtbaq6u79PLrt/d8nbYpG5aQoqMFYuxVs8rnlgevGOgz+JwN2c31100Vr632d93v5XW7W5tTUZPW1krd/P0Xlbm9NlJUlnTzpLkeYIjlC3G8AfePY/kTz0ON1Om7SWyTW/rbS3TbtL8EgqKKlbR3721s1019NH839ryXxhfxpJdqODLak4DZ25bIGCMg/Nx8q5HIavXoyi5qz5vh1XW3TR9bdV18vd4a9SUab5k4325no7JPTSyvZ99bLXc+YL0k3LuXcK7kEE8EnnjPUjnp9D0r6ukkqC9E9ftabNJ2WtvPqmrxUfjq0n7WTSduZq977JWW1rfJpedwsohJetNDIcSvGkKLgrGV6v68hcHgAEZYnBpT5fYwbtzJO9/J6tvbW7S10urctkz0sLeTfN318l1duj6Je7psna0vX/AOkyat400+xdQQjec7oNx+dQg3Y6fngZI6nDb5auealZtJ21+HZrV6LR7afdZo68YuWlzJbpadt/krcq1alfe9/dP070Tw/BZ6faRBUR4YkiYhcHgbck5zyBnJC9vl5O32MRRitU1LmV9NdV0dr27bS0fmzmyyvLm9m7uN9JSvZX1dveST1vZLa603PTdEsrWBSQoMiqFBHuPvLwMn3yeOBg5rz6N41HFqy3UtVfXVbtbLytbbVndiYSnUSXM03bTW/X10duj6PSyUmeINfl0a3nSAs886+Uu08KpHJ6cH23EEjJI4Dd1ev7Ok43u1G69bPS90+uujstnvE9fKsvh9YpTlZKybk0lZ80XZ3UtVp0272934q8TyXdjrkmrwo25JvtDsQdrAyZlRvcfiB+BC+DGrJ1PeUrc2vppvvZWvt0V7q9z7bG4en9WXspRm7Wair7J2ejSel231ur20cfdNK1K2FhaX0W1kubZJd4YHaW4Iz0yDjgkY9+CvtUkp8spNNw0t02XbXv2s+7Vj5mhe9RSi3aVop22fytq+z1tfWz5eS8R+IY5YriKGRgfLYEE4JPZR1zwDjr68/dbzcxxVpqkmndtxSfzf82r/AMPdO+8fosJRVGlKtKk07JxTX39r6efnotY/SH7BPwYXx7441P4l67bFtC8ISrDoSTxEx3OsP/rLmNpBtdbZGIXafvcNjGK/S+BskjN1sXWpyi/ZU5U5SjbmfM7pXTvpa3a10m0fzD438dTeFo5TQqp1HUqRq0oS96EHGLV0rNXcd3G7122P21ACsqDJAC4boNvb1x0ycEeuOa/U41pV4exnGyStd9Vpr23Xu2ta97bQl/KOGhKnSqKbu6jd776zb2v00e/TfdisPmzn2/D+v5fi2flfwL2VtI6qXe9n8mtttV3saxSjT5f7118+yu7f1a+rkUCOj0j/AI9n/wCu7f8AouKsp7/I1ht8z//R/uIr0DzwoAKAJ9oznH9P0oAWgAoAgnjWVSrDORwvGDzznIYYI4PrwDkElXG7ajf3HfmXR9vNNa7LXbXQynGopRq05OMobSWj3u7ba6L7766o/kf/AOCuv7O0fwl+POofEHSbMQ+G/ifZnVY3SFYo7fW4I0XUbeQKAo37DKjfeYsc/ewvy3EGGUfeorl720vp2fr/ADefvW5T9T4LzOWI5aOIqOp0tK/Zuy0d9V/dXfmep/NJ48ad9T1Bs7gbiUgktnBckY69AAPvcjHUYNfG1XKKim23Z817K13/ANvdF30Wzbb5f2jB4P3XLltGVuXa2l+lr6q1/efm1qpfO/iaZhDLApLM2SxOOg+8OgB5GOmPTJNKDve/T8PyXXpttqkmdcsOo7wVtGvNp+nTbZ/OyPnnXbjzpPLU8o2B6Z9MnoO3fv8ARdO6/wCDr+PTs9fOxhXpUmlHlW7+Vvmk7/kl6xxI4iCrPwzOFwPuqD/F904Ix+RJGcgUvx/H87eW7+6x50oRh8Cs5Xu9vlZX01e1vxseh+GdUTSdTs5DIAgcKzHuCMZPHrgdumcHJ23RfLJJe7zPVaa36Pb8N99bNHmYqkppe6pO7u3vbq1qrt+e+143bPtvSriS88OSOoyhRWVwfvAqcnHX69cdMnGa7K9+TTR6+Vk9u606a69b3Z4dS1OVnGyV1ZO/p0fnZ63t0tcks4ldodxbcAhyOmNvGeDnkdBj3JwDXnT5lCMru/Ml+Gyaa2fk16XOqnyqCSttG/e+i63fX0vrpozN1a8likCyL+7eTYDjPzAYUnHbjnp+Oc1jzy11f32ulZvppvbReWl/drW3n18+tvs6evbpdylRt78280J4MbAbj0O/JH5DJ5/xrSnJ3b3t3e356v00t1Li+u6tstNNW2tG7q233bWl6toepvG0YDEHCEFfn4PQHnHXB6dvrtVd3V9r9n6X1Vt+unTSz5nP1MJP3kr9e/fa23prfpbex9O+D9ZuvJARUaUeWOeCU252845PqfTHOcV4mIfvJpaa/Lve12+jsv5t1a59Vg5X7beu7X3XbWqtZ+TSl7NpniKCQPviaN02goBja/QtnoQx9/cBc/N49ZP8dH38ui9NNdrt2PrMLfljb02366b66W/yu2d9YagtxEh8ll2kE/7ZH8Q6gg5/DHY525OClBJq/Wz/AOHj23u9Ntz0YX5ubsr6+fyfnr+e0urn1AqkTXLKlsw29RkcZ/2sA8HAznseobklRkpRSstvP8brt2087s6OdKD6X6J72tbWz/F67XfxHB6/8RbbSWEcK+du/dxAAtk84yAT/wCze5BOK6eZQjeVm7dWkumnztpor+SVpc3M3JK93vbr33dt1bflWtlZayxtOtpfEd5HqEAZZHZXlUoVC5PTkHO3n6dcDAFcGIrQcZd77p6Oyenl10d72td7nvYGryRXXbR9Fo+rW3XXS1tW0fQXhfwnq8EsNxcSYhIUgIMeYuBwOmDnjJ79M4IrwsTUTUlfVNdb2afnFp6eluzTaPXhjY25dNvKytp5X2dn/e1vex9MaI8mm6fEJJAY2Zt4xmRVHuMEd8HHXsMHblS+z8/w/wCB/Wp4OYKVWTcVovsq2rlqrdF9731e3LznjC4jvo2QP8rQvdRzlcrG0PSJh3yAck9Tn1r0aV9NGl3t6+vXXVW1T1sZ0MPJR5mmrJb7t36LTXVq135LQ+PvHOoP/ZV/aRvDIzxsrOoIcSM+TgcYU4OMn2yQdtd9GKbv+a0u/O7va9tEttb2FUsk7vTR/f8AnZu73f8AhuuX4U8RiYR3se7IikLHYNzYzkgdcn0x24yMgL7eFp2nG60vpfp16S1T2Xpez95R+cxcouMlF2vf/gLrZ263d99Gz5z8WWcd5tWKM7nclwflZd/HI5+p54HBJyN3rRWv6WV7adN3p3v32jaPg4hqKd3fS+6u+ny692l0drx+ffE/g6Se4liFtMY9u5pEU4kOce+cDIz069MAV61CXu23t6tt2+Vl13l30TZ4OIcea6a89uur3s3v6W72SPHtc8BTlSka3Uaxc/6vJOev8Pp7HrzgiuhPundO+mqa2X+d76+STPFxUoybV1e97P5+m3/bvdrS55vfeCtS3o9taytIMgtLE3QHuDt7c/XsCMN0891e7TTvZve+mvVW23Xnove8yULp7aXWmydr9ZK+muq32/mjlSeDtTjkDTQmELhsMuQec8D34Gd3P93oK3hUe1tdX66d7RVl5p9N27S5v62/QupYXUHmRnMmEA8tVz05PfOeM988cDFKpVs+z1s3+Wif4XtfXm3B7O603v5bPT8v+GOams7mCWSe2eeKbd5ikEqUIO4cgZyCO2317YrmdTV9V3v9/wBh7et15MvDJpp+elttdLW632t067o+kfhT8ctW0FrPRfEbSXemBlVriUN5kOB8pMmHGz05xjjnBNc/OtX5v53bv0aT89fLleh9RhqjSXVpdX07O2+vmuu7u4/oD4c8R6Nr9raXuk6lbySNtchJ1BXA5yMjHBzj37A5XCtBNPstut+zT5k7PW71sloldo9SjiXd2vd7LW9u19fL9Las928P3l1OqRW8RnmxhWRx8jtzt46ZIzkMOw4yRXOk4tNPr16+fVO2unz00R6NOo7WtorX11/9Je9tdPO7d+b2XRvFV5oGntLfyskjqdtof3krOOBGMZOCQBnGc9QcndzVa0Vd9btaXfXtZJeWq8k7Wl0wlVnZWfZO/Vb30SV/NvbpcvXkXxG+ImnxxaTb3WiaZKNryJGRKwY4ABbY/IGeBxnqed00q8ZXSd9N7W0/rb4r7NaJmqp1d+TXe2jvt110030fbds19C/Ze1DyorjVYp7y8c5aS5xvfOMk72ByevJ49Bj5fNrY1c8lF2s2l1tbtp913v6Pm9rC0tI81k3q18tNdt09ku97O0uni/Zxx5scensCuSAEU9e4wp6nPcD8ia5HjVdpv7r79rapdnZ/J6yl7kIxjFKySslv9ys/8/O8r+7Rb9je41/dutZ4dxP7xNoKA+x5HB4H4da56mMTVu34dtn+d99L3sdWHwtHm9tJ25rS/q+mjVna2it5S9d+Hf7GGoaJqNgIprh40kUtvQH5epBPTBxnuOoIPSuOc/aO7VlZ2X/B2++912vY+gpYnD048t1fTpb10+dre9vo7NI/WH4Q/Dmy8H29vb5UXCwYk34GRt5bjjIHTgH8tzRGm/i/Pz9bvy879NjzsbVjWnLk2aWv9eej11vdNWXL9IWl5DbpFGGVsKdgOBkg8E845xlR83c9yaVSo+VpaWey9Pm7fLfvZHjyoycr2vbbXe3r5+X32ZSuNQvHS6QISkwAjTGGQg5Yk89evO315zmvMq12lKK2af8AV/J36PtbX3emlS5Xtr19HZ666+lvnq0cneXEslrNax24M5C+SZGAQ4PJ9SeuDlV9Twa8ud5zTv5d7ffZPpdXj5HavcS2sr3Wq3XV+8u11a/XW75cs2c8disdzJGsTbjPEse/G4cBuxPGV9McZwFa/YOcJXW3/A7XS89fvu2efiZc04tb2drXtr38+t7ffqcZq+nTxQJ9mtiYowyr552uT15TB/dngggY+gAry6tJ03dLrqrX8lbby6eVl9l0cQtIuyd2tF5WfXzu+3966UfLNS0W4mhf7XHBbxTE+YY4/MRQTt4b5mBIJGNv3jkZwWXpw02t1pzJb6/je+nl837sZdFWuvhb6aer3W0lror9NN3Zx8M+IHwjg1uxZbO3Z4HLB2kKl4wcncwYD5SPurgMFwPmH3fbw1RaPztd6dVumvPZu3r9nnVVws3onta7/C/6p9ND84fin8KvE3wsv28RaDbSajowkMt7aocmEg/O0IU5VcDLEqAfTgq3VifejF6Ly0v+Gr9Gkt7pWPYwOL9o5Rk/h26at+e176b+Vrcp2vwl+M9jfGK2eYxT/KxhkJDfKVyvIAOGyMdT1PHC8a6/5fd29Pwd9z0KkeeLtZ3Xnf08teyfa6+z91eFviPb3EMYjkQZ2h0kYbs88ru2nB7YHGM4Oa1p/Fe2iW2tl08+l929+iuo+VPD8jcu6tp30te/d9el+raUfaNF8VLdFEUbd/UtkDk4BHI69e+Mc9cUqitJeivr5dPv/HTY55xtra172vrb87dFZ2s9bvY7621CFYvJJc7juJYkj6A4APp2AA6dS2M/hfy/P/gkRXvb9Lvvr310s9ej7J3tGvLcRsXWMqBg4IJOSeBg4xyfUfXbiuKS1b6/l5P59E5eppfTe72u/uWmnRb2t5LTl5q5u3tC7TshOfkwR68bsE7cZ7/mc1hJ+899Pn92/wB1vvuTP/g/qumuzXbfXRs4W/1+VBPKduGYg5wMLjjgZPQ9MH0GOq81VJX9F/wz2evr1voZL+vnt+Pr2s72Mm31SSd4wHVnY5BXIC84yeg44Pp/vZBbgm7Pr0S87/P5fZ/Ng9f6VldX21XR9PLV2OssS7XEK9eMvnuePUDHX+nGcLEtrdenr+Ol9dtF3JgpQd7W2W9097vS7fp8tNzYuphDEkPmbmmkwCQcg/3cY6c9cAfjwz73ukte911+706dQmnKSa9dHft5LZdH26XtH5y8cXJW7kLSKJJA0W3BByhYD0A/MfjjDenl0HzJa8rerdla/bbrLott7Js5c01p+bjbutV1fXXpdfO94+TX6LJFAsZDyS72kwP9Xs6npkc5IyCTtyCckV9bFOMYei+emve3Z6/fufHN81R9lJpO/wCXw7rTW+/W95QaYqws2BswjLknGB135Gfmzx0wQeevzZ1/hS3Vk79dH2/4OnnY78JUvWlFW3766Qbd3aPl03VtPtfS37PljJf6vrOqYGdOtoArAf3nJBycHJC+vtg5FdmHqfV6ei1te7vfTXXd9O3m+ql31f38lT2fReX4d9rdbWX2fv3RNSN3GkZYh5QC+c4HAwBxgDjrgY7gnK130K6rU1K+r5ldbO266vmVnf4vJu1zpjgJUYxTWqv1VvO3xWvrdc9raXdk4+i2yuoiSMqWK464I479jyB0x+J+WrknFO6TWqvt5rS9r20bu9ryumjeM1Bq+ll1b3TXe6ei11v0stDKvdMnuWnaYDeuJI0zkMo49ye/QY9wK55UpVFzXSa0/Vv8b76ra+h0LGqKVLbmd9Hffqny6X3atF92eJ+OdMgSGbbGTvXlQvYjD5+9nvn26qcfLxV37NNWs1KS5nZbXulo9vdfW7d1y3SPrsranR5W3Zx06fZXTb1f4SdkcF4Z1by9LudIkdmNizSQ5HJiYhtvttJwRj68jLdGDrwdGvKWnLKy80l1vu+m/ra8VHjxNF4bHUnJWo1FOV1smn7r6bvz012Wo/wz4Y1L4neL9J8E+H1lk1XWrpEzGrOttbK+6a4cr9xY48n5iMnAOM5r0uH8kWcYxTab5ZX2srtPa7trZddOjdmeJxvxdDIckr4qpNqUIr2Su/ed4p21Vt79Omt9Jf0U/CX4e6Z8MfA2g+EdMiiRdNsYkupI0jRri7YbpppQgUl2cty244wCcjLf0FhMPDCYSjhof8u1dr11vp36n+fmc5xPPsdic0qtudatKOt2+WF4xfM7N3SWrWu+l2j0utzyQoAKAOj0j/j2f/ru3/ouKsp7/I1ht8z/0v7iK9A88KACgCZCSOfXFADqACgA6HPp27fX3xn1x7N/DST5ZNbqzX4+at+tum8W2uSUftN6d7W9Hvby730Pzm/4KVfs6P8AHj9njxPb6bZJeeJvDFvLr+gMkXm3fm2i77i3jOd22eBXDKS27thidvJicIsVQlJxe1/JdbdFbrqrWVtLR5e7IcbPA4+n71k5xT6aadLO+je33JaH8C/xS8OXWlahfx3UMlvcQ3U8N1bvFseG4idkliZGG5WUqQcnIxg9Bu/N8wp8tVpaK7S20Wi+f/kt07q11KP9SZHmdPE4Sn72qin13fRrkS0fRXeuvLoz448V2zK05j3JkkYGT1PTnjp6ZPuetcVPW6d9Un/mvL7n662j7tSalTbXqtb39Pdj17aelve+e9VtHWVmXOd5b3PP0PXnnPtgdV27+X9fr5fgnLy6nxv8+/W/4mdypyyEDqM59evK8cg+v4YAY/r+v6/JHnz2Xr3/AE/4OnncjvLgREFQcrt2ndxkEYGfl75zx9M5G4v70I+be67WWln+L+TOPk54zetl+P5fdf8A8BvzH3F8GtYk1/wbPHI37y3t/IfkFtofrj5ue+ePQ46L6VSP7pNrR/NvbppstNu71tc+bxnuT/wtbeaa02bVrX877tpnf2KusPnKpIQ7DnjKjjjvxnHAOB69a4sTHlpU7bc2jtp17uT27v77e6YaXNdXautOuq+1/wAB733VnExtedMlmVWQIx57MR06Dp0788981wvp3276u35W7eeh1r/P8/66db63OAmml+yKy7ieehPY5A+6Oxxjr/NRSs0093tfpbbaXX7u7sTe1tdN77vTponq3re6+dj0PwbqU908CIpWRdq7eTvA6bifXGeBwOMnINbTSlHv1/z/AK1tsurj6GFfvLTquvne3a17b97bH1F4N1C4kdbaUNHJ/A6f89OAoJOMkHIAzjjtxXi4pK6266r7t7J3d791tZ6M+uwMk3Zdl6a2v2vpbTXy3aPobQ0NzB/pg2EhS7KApOPlIBBPPBzjGM5xyK8Wt06avbW1nq9Glqtf8rNx+wwvwx+Wttr7W1Wq/Buzta8fR9MV441WOOSSEfKJMklRnkZwMAfTB9RgrWcZKMVfe7+emndvpZe7bzTvHu29d1bf03W/9NJnG/EjxvbeE9HaeVhPOwdLa1LAeZI3A47Y4574yVbANOckle6bTu7Pa62asrv/ALe3lutjlqVeV8v956PW/wCGjt1d7aaL7XkvgoX+vyQ6jqcod7mdn+zhsraxyHKqBjnHyg4yfm6gEV42LxNo2XRu3XXW3Xpvqlra2z5taTu7rW+mydrWW/k/VO2rdrn214Qs7SzisoYnjkWQYf8AdBTu7ZY43c8YyPoua8atiZNvW3lfo2r272v8V+7tKy5fewsW1f7tE01o013068r03va0veNOdQzIkpWOFVyGIYDjPHIxznoD+GK4VK7t5vV6X72VvTq9NXuuXpdNp9b7Xa016b22s18N++xLd+KojFMiW8kcMLbXkZsGVh1eMdME+mMe+QK6qNly/r0stey36327WvHop0FO8tG1p+asvu010TduayOF8Qa5LYxz3ENwJLOePIDuMRl0+dWJwBlcjnAB6YztX06EHPkUU2+yX66eb3fmtWZ4irDD0p8z5YxWt3sl16vW1/O/R3R8c+O/EUVrd6g3mh45IWlj8kkiR8FvRh8hwDzwccHrX0OEwdSUleNndfFtZdbWvbfo7J3d7Hw+Y55hoJvnvZX0fXSyTsu3mr3vtc+O/EevyXl1I6sIUlkzIodN7EnuTtRRx1ycfNnGK+nw2WtxTlq1a29tbb27W3s2+iWrl8Ri+Jqd3yOyeitrLyV9k9NVb+XWX2eUD2F0JrmS/wBKsouQZJiJH3LkfO7MsZJKnIVQBjAzwa9BYBcydm3dLayXls97aO8vPc+cxPELnJvmjFX01u0vO712tsuqVviOKvtV0O3eQJqC6vIR5f8Ao1uI4lyxOXZyyCIZ++Gxx3yBXbSwrVrpdraaW3s0nZpdLd9kmeHiM8TvaV7N67eV0teq2ur79bHCz3VvqzXEED2iyRjaUDoixqCMM0ku1HYdlA69x/F1xw0UtVdbu+ytf0fZXtfppdHk1s3q1L2lZXs2nrrb+7d7vta6tY5LUDYW8iRR3tpPLsPnpbhbtiehOT+7Tr8pQg5HGDirdGKi9F80rrqvR+SasrbbmUMwrO15y5W9r9Hr15b7rW+rd9NFLHn07Rbqzc2trqcsqZMsk0YjjXdn/lq4CFSeoUk4OeADUKmuqW/y7bXjqumuu2l1zdUMU76Nt9en+dru3XTTdXKFr8ORc2L3bQxqSMlotrcNk4b7q4wOx2nnkYCtw4mDS0Xf5WfSzvf0V9bK97npUMRzWUrWt3d16Su+ifRb/wDbxzzfDQ3EqgRxyjccIAS59R3J5zj+fGG82TnFtO+j7fK/VbW2bv5PU9zDU4TtyO1+1ra66Xb8r6tPy93lvt8HUwjSQOolZFSPDCTJI4P+zz6tjOc9apPmXpuu+novPTXXS569KjZbXu7fc+i+f3Kz3Pb/AAb8BNcjtlubO51Czj3DakTMgII478+vIGTgkjjdj7VtWvpqr3u16+69vV3tbS3u+1h8LrFv772+7S9/m1rbVNSPoTwt4A+JOiXKw2+t3qwEANlWkeP+4plOcFh6d/QHFeXisQ431ts7XV7/AC0t5avZ9YqPuUMDzW0aW7279L/N6vppZM+wvhv8PtUvGtX1Tfd3KMJJ5bl/MYtwcBeRknPbJBwM8CvOnWbWj13e+737tel7rz1Pcw9ClDRpaK2vX010tfz7Xd7n6I/DH4f3EiwLPp06QnBjlkjUwgL/AHPLHJGDgZBz0IxmlSqytZdWkvN9be63re/XyUrXM8XWoYdPVabrv5ra7V+rW2iV3y/UmmeEfCcMEy6je2yPErM0dzI63O0DgW0DEKemMt+mAVTwVSrJy3v5dfPS1ltpp57o+W/t6EK0o8y5U9FfZXul0b0VrfnqzhpfFPgrRb26gjFpGkbBfOvGRd65x8g3Ebu2B9e2Gf8AZc3pbbqru/8AWvbz2i5dkeJqSWtSKdtFe+vfVJvf87J/CXYPiz8MdJH2i51bTUmlHytOPkAycghQRgHgEnIHGDioeT1pN2g9rLW9ul99fuXyb5jqXFOHUIR9tFW31tbXTpFq1tElb0u+bptK+Mvw5vriKCy8Sac0ysj5tZoipzjKvlgVUc9un97o2MssxFNO8Gtd7Pfy0ta3p5t2OvD57hsS+X28V/29Zdr2fR77LZN7rm+idK1vw/rFkl3aahbSSkKu63u0zgjjG05+Y8EbfbJwRXNOnOnBqUWnrv8AJ3fw/dpf5tH0GGxVJ2jzxnfbW+/TS6eumq7t/wB58+tw2jCNUMoRlKSeZny26kFweMccEgDjGM1xv3pOLT6atO/Xpypb635ls1o9D2YQjKLejd3a2n3vXW3VLa973XNoxaxNfwM6P5TEkD5twcDuO2SD79PxXGthYtt33jtppfy+6/boc05clVxaeyu7Nf8AyXazd3brHqVpw7oruWWZFGWL9ATksMDHQH+8cHHbFcSw/LL0676PytG+9r3j5XudCfOrXV+7tqu1rq23VPYklkluYorcSKgLYGwb2fHcnPr82ce+eMV0NKKe1np9+l0rPrp1295Rujgxa5Vo76X/AC/vO1vns0ouxtW1qv2aaOabz3MbAzkBucD5SCuFC/d4xnrz8xXzKlLmm1sr9tn2d76Wu73Vl01PCdaSqNRundedttXbls2l9ye17HC6tp8HlSOkck8ED5LWpTyxt5YykjAGeRjHfnjLNYZW001t379lpazd+mz5nZx6lVd4Xd27/PronbRLTbW/TUwPslrd2e5IIHikb50MgJYYwpPCnPIyoHuMcbp55U9LPS+tn+Wmz3tJ9Oj5z0IxU4pu21ls389U/wD0t927Hj3jr4Wad4ispbeRo8SI+YI4/wB0dwb5ZHIyQcjIA68jOSq6Uq8ptqT0SVr6W001fMl8+1lfcdOToSurXem/3WXu7d7rSWm3Kfjl+0J8DfEfwk1xfFHhmAf2Y0plvLW1EihMtkzRBVYjbzkDIzyQBw3RdPqvvWvn0skvL5JP3fcw2IUo2lJejl02V+1169+yjpfC74sjULWIXdxFL5TorSibZJEMDiTlSGU5HI9jjjdpGUbv3k/mlF69vu69XZyupR3qxk4Ky0b0dnr6Pqku3+Z92eD/ABqktlbtBeI4ZVKMCDkex5zjtgnk5/i3K6jTas76aaq6v30t5+SVr6WOGVN9VL7n+etrW17Pez1PctD1mW8jPmXALY4O8ZA9xlTjsDnjptXHzYTUuXZ2fWz9et/z021tc5/J/jfrtvvdPbpZW3OlbU7a1jDeYHkA4GSQemfrnrn8uhrik/efe+1/82vz021sUrNbWWmr79vxs/JXRzGpXb3I8zcwUgsSvTqPf9Ccjsx424y0ne6S1tfZX018/wA7+ZEnu7rXt5r/ALe3+K+ie2i1j5xq90wDhJN2Dll3ZP8AwIZzx3B29Oema5KjvzNO+23VW8raL1+9e6ZWe/a//B+a/DfuVPDl3PPeK247dxGN2QMHB7AdO2effGa4am666dfLVdtW/PZPYNLpXWu/dXfyb6f5u9z2SwdhIF5yArFsZBXPI6D+6SBx7bcA1Gj66r+r9tL9b+SexFWUk1Z7N3t1v1WmjTtfZ/NuUk1bWra13TXEJEUYISXGCJOucnAySMdR7FgKb7dHa66PS3961ur5bat+9dqLp80m9X0ezt9zVunXTqubY+Y/FRfULi7uA0jeZIWiwePmYkHPzHJGO4I24yQDt+hy+N7OzTutLPXbz2Vrre/dN+9wZo/cd9kr+Se210tHK+j8rPRnJW/nxGNCY1eWCRW8xsjPXAUHO/A7Bs984bd9Fy8sd09nrp5dXe1nu3p0Ub3PjeZuo0u9lv8AfrFWa7Xb11dkiG2i2vJuBAPQOc7cDnA4z1yevHBIxlc4+/KKdtN2vN/PVL+9r0vZM9jLaKdSpJu73jdK90v8V9b+V+W+trR+/v2cfDMcHwy8SeJGwbi91GC3gIHSK3Qsyg+gLkceuD2r0a+Fj9WbTd7PXbo10192zvd+aUr+6YOo5ZvGnq4qVrdH066bXei6W1uepaDqLW+oi3J/1rYQl8bX6kegBHOB17cksvj4OtKnL2T1s30313SVtr+d/O14/pOPwqhSc4pJ8vNpHbS1l921+t3zWiz6G0yHzYEm3g8xgqsnKgDvnOQCDj8RxjdX11CKqQWqu+mmnba2trafnex8TWTVSUVd+85dVez20001e76WbuzoLmCJbGSSSSORguUEQ3S4DfcY/gT1XHTkjK7qhGCa0d76Pz011irfL0tYmhTlUrwbulZJXTW7Tad+bVdr66u60PH/ABdDasp82NvJkWVZlIAZG7Hg4wBn+JvTnHzeJjaMW3rG7VnqreuvW3W0dFe2h9nhqvspQjC8tFpHV30V/O9u9tHa1j5O16aPS9ab7HISgHl+oYyZ+VhtG75unBJ3HI4rgwOF9riI4aL0qS+ze26WvvP0e1uzvY787qQeBhzNQkqftPaSdkuTmduZpJXWyfbRvY/Xf9gb4ES+HtGn+KviOyU654hj8rSY5oNp0/TgSfMQNyDMp56ZHTA+Wv3nh7IllNGFdac0b32eq1vZvV37S1b0Wx/DfizxxWzrEvJaNSTp4eco1GneMtU9+W2jVrprt/h/TIAggdiu5eMcE/569OBX1vLoqt2+fS2llbTp10/qzPyOKSow5VZXtbzW+r1u3fp6OX2XgE5x2/z+P+fWkJf1f+n/AF23DjA4/wDr0D7977/18un3CUCOj0j/AI9n/wCu7f8AouKsp7/I1ht8z//T/uHAwP8AH3/P/Pp0r0DzxaAFAHc4H9fyb+X55+UAlUEDB9f8Pc/z/LNADqACgA759sfn1/P68Y7Zqk2lJLZrXz1/TXp11voDirc/2ldJ9tL+j17r7tSlewJcRNDIqNG6OsokXerRspV4yp4ZXBIdT1U55wVZxnKMHBfC1Zq1/wAf6v8AJmcZyU1UWs09HZb9NLpdOv4bx/lE/wCCuH/BMbxFoeqa/wDHr4L6J/a/hHU5LnUfGPhuwjkbUtAvJH8641K2gijZZtPkd3kIQIY8fxYw3y+b5VSqONSlTXNq5vmbTfTRtataaJ6J7M/UOEeJ54XmoYyrz8/IqOiXLFKz1jHVO631enw6I/lL8b+EriCW7RldZY5GEkbJh43UkMrKVJDKRyCoPY5IzXxtfD1KE7W0vreN9/8At97u936Ozsz9xy+v9doqpGqnGUVLTluumrstmrb38lqfNWq6ROLlwF+VFO8dGHUk+/fA4HpxgNpGMaislZrfrffrfTts/ldmdWtT53BL3o3TevTounR62l6anJXdk65wvyAAKcH/AOJJ5Of72fbNTOlNfDL5PlfzWsdNP+Ajz5VY81uR2vZa63fpa90uvyb3Obv7aVkAAG7IxnsACT247dd3X8KiK95Xd2n6Wv23+9prS2l7x3pPDtWVPfe8pNPtf/h/PQ+lv2Y9SlbUtc0KRzzYyTRA42sVwScHJ4Lf7Q+vyhfUipTgoOXNbWzil3Wr7+Wre/S8fnc5w8Yr2kIcsVvd6aK7Wt+veOnnax9IMzW9s6AkH7W4yMnJAyTgbVxknIPtnHWubEwaiot8yTvbRcsnv+Vuvy1R5mEq0ai9nGFpxjeTd3dL1SV3ftd2SVzC1SJp49shz5qbowvAVgOFxz976n8ODXkybU7KzjfTp5O7tLe/RW9b+76ShG1tOz9W9d77vr8tNOXhby1nsdNmUlmdCZMnkIDzgevP0x+OGurFJ0+XTVq6+Vu/d279lsZSjZpJdbWV9dd7barfW34KMXg3xHd2d2km4kl1AQAEkZ+YNnHAxkc8cjjik21Fr7O1vTp32d3qttL3bjpFyhKPJeOvLpvdWat01++yuusZfbfw/n/tHy2ZdkbFZQwGXR92WVOuTgnPr2weK8nGtqMVfd/Jab9Ld1rfta1z7fK480I6ttpX010tZtaattvfy0suX678KaITLajzTNBKQyq/Kkn7wY9QRwTgMP0VvArTaata977tfhZ/LVNdN2fc4SCVOL5ddNfl93Rq99W0/dtc9dPhuW2gmazQhFBZwWXy0GMnrznHJGTj3424yndJLvd69fui/wAVtdf3dZ2Sun17/wCe6Wvfpu7RPz1+K91ca98Sl05Jg+maWsSMgbMZnz8xOC3IzjgHHQ5/hicm4tN/f162t573111VrLm4XB892rq6/Xfbb56pX6M+gPAGm6fbLG7qkSqqAliVy+VxgZPUgfxD0GMHd4+Jg6iSXlLr5qzt1+++zk7nZSs3bRNrdaNXt6u99Hr5trVn0PZyyomx1FsINs8Vxvyjv1CBV5Ax7eh4Jrzp0Ha7Wt76LTtr5eu9/NHsYSpFNXa0X3ba367aXSj5tJnqWn6kssUJFwsrOm6fZj5ce3Gfwz2I774VJ3bd7K2lrXv5e9a3Wz6rey5fUlWh7Ppp2fR9ddl11b21va5m+L/H2g6NpyqJk80ZOHQvISP4ljUMzAH0HJGAGydvr4DAVsRKNovla69EtH/LdtW7ba3ekfAzHPsLl0HKdVc6uowT95+i6bbvza2R8OeP/jVHdSXdq2t21isDHbp6yJJcycjEs0SErCo/54u7SbSSyrnZX3OByaFBRlJKcmlq1s7a2v69273SenvfkWecX18ZOcFVnShfSMWvk23LV6rS29laNlzfKXiXx5q+pXckMEN5ewkAtcW/mTRLkltpAwgLEcgsRj8BX0WHwCjZqnZ32t/wLrS10737Jv3viMTnE5pp13JO61fRa39Nvv13Z8/+KrxtKjOr+I72aJpZJJNK04iR2nALAS3METBIreN8LifKytgAkEhfZhQ5Uly31fW97LbZdLWutOqd0pfO18xlNtKT/wAXfXTVNX/4OjVmeV2mqPrM730WjatfrkE3mr3U1vZQvuZgLbT4xFbiHbwI1WVSB8pJBSt409G/d1vuv0vtd9GvO2h58sTJv49La66adtL3u977rpZ83RW1zq3iC+h03TYPPuYisSBQIbSHeVHmJb4iWREOcGbepwTgfdqlG10lfzt2tftrsmur76MxlV6uT9b3/wAvx36NaSO11Xwb4T8Fy295488UPqV/exKI/D+i3Ya48xukNxDAvl20bbgQ+4nH8Ixlq5XZvXva3le1k9v8urfKQql78tvlZ31+Xrv0t72nNx2pWml3t6bCxitvD9riJxDYwyXlxEHRWUXF1OzSiYjDOFIQE42jGWmaS0ajZ6eemmvq+nvWeid7uXRTqPff1dvX7Mrdeui0V9WddZ/DvUZLQGGZZrJkDNdXl9Fas2FJJMUki+YMc4UMwxgZxWFSG+6Wqtbtbz8l00vrv73pYesk1zJX01vey10+zrptbrray5u/8GeC9Luo0tbjXrOWRpfLktopSsR7fe2gHYck7lwR0znFcc+VXu91f06X6J/Ll87Wbl6lNzqbKy3u1Za+Safna+uurSvL2DTvhTosE6mG4N/dcGMLDmOMA5GCoyM9c/NzyeMCuGrC+qi7a3elttrO3Xe7dtktT6LBVfY2Uqkbp7RjzP036a9f/Avs+6eDPhPp+omN9T0qOQ2s6snyF2b5v4BsUZJI+8TjJxXkV04aN8qd79r3Ste72W1ummrV5faYHGU6kFFq90ldQ1WmjfvNLVP7N7KzS1PtvwV8GdC0+DzrrRXVNQtCI43WM7N4xHLGI+QwJz0z9Bmub2qhF/0lZ7dXq1bprts5Hp4dXkmust+3lbS713Vul7WUo79/8JrWxurRpoVmS6Qk/wCjptMMY2RvJIQPLdQMc5IwSTwK87ERdV79rabrT3d127Py3Z9LhqypRTlvF3Sdk/ySXV/O1lY6jRdK8P8Ah6MwPCyyO6hL8LCYYiBwZNpPmdMYx78ZAopYCU7WT9Nb2311S+d1tb3l8PDmWZU6cX73KrPW+iereq5ne1r7dnbePWL8TNX0CxmXT01K7tINyxXWnny0U92CeW2MYyDj37gL7+Dytaa66XUlp9z18tbW+V5fl+c5/NuUE3ZX1g7dd+na+3lpc8T8W/FjXPEU8cMHiMQTqrER6leRiRSOdriLyJ2x0/w6170MFSjFKy0SVvPrsnppbaXqrJHxlXMJTlzOU7r+93+53fX3ezVtFH4v+LPxG8ZaO7/ar2Ke1YnyWsrnKlh990KP5injO1yx/WiWCpuzjFLr/Xz+7RIKWY1F9q6W/l2+118uZ9X9nm+bJ/j54ktpGSe8MsZG1IryN2dSvAC+bG0UmT2L5PX5uquOFXRdve21/wDAfwtH12CpmLv8V2tXfV6dfilorr89be7U0j9qLWdLv5BJaaaZJDsaYRiyUxgbSG+zRY3AHhsDkA5GN1TUwXNF6X006rX1VvK9n5b2jphs4lSmrPXZLZfhr5P082fWHw9/a3uVitLePXNQ01iwzJDIhjTOPuziUMyg4IDqvcZ4rx62WqWjjGVr6OPZ7r+l10Vry+vwPE84KNqs4S7qV/l1381p56n2p4H/AGsdfgh8u71CXV7W4ZQJHhjufPVuc71fzAxGeisSRx97dXk1ssp6tQin3228vetr5dftfZ+vwHF+IjbmxEpafaV/m9Va685fO59T+Cv2idJvwjtqdkpQAvaSz/Z50ywyBFKFORx2PTr/AHvFxWW68yUr2tpe33q62Xa3rqfXYTiVYmK5qlOTejTspdlo72+fqrbH03o3xJ0vxFHEbW5hjQKPMV2VyxxnAYcHPGAG7d8k15E8JKne93bXT17NLZXvqtei3Pfw+JpVbNNJuz+Ja9dOl9bbvvZNo7fTLqF3a9ypHKIqtwiHgnHTuTnPfADZ+XCUXFLmb620X3O+v3bb/wB6WuJUalO/ZbX3+emr33t6Je7uLfJeedDHKBEEEUaR8SIO8z8AnJJG3K/Ujmudx6re1vXzvff5LVX6vm+bqVfZztpdaS3+XTsu9r7Xfw5960cM8dq0pSCSPBjXAMj93K4+YHqVYdskdqxknBW6t6pafO3vd7etrydly7KcavK9+TRP8+t35/D+MmebX0radqUyz258pmJtnOV+VuOFX5RnJ6gEdxyd3JUTfveXq35L5a7ap7xt73q0GmkmltbT9NVd3116dVoWJLi5uocqqgldnK5cL/tYHUZGWC84x8uPm4atdw/rS3y32b0emz5k7m7pRcovV+9s977/AKX2TXS9/d8W+IHg/S/E+nXmnalALqSaKWIEqrqu9TjOcYx0zknOPXFOliruz1s/u6a6v02XfWx1uPIk3pt733X00XbXVWut9D8Kfij4H1P4HfE24h8mR/DOszvLCQrAW7u7BlJ5QYPIHzZJPoK9Cm1P0vtf56XUbXWn2bfZvduPt0avtqMaau7avTuu3M9fRx0/mbTPon4d+NN2nRx2c5YqA0EhwQN38JUc9eOuOvzDpVcyg73/AE2+T89vLfRS0lSTi0tnda6afK9umtnbsrrl+tPBnirUmt42u5FJyA2zPOeh3dPT+6OecdVf1i/u979PO+r5nbf1733PKq0rSb7O6/X8Hfe7ttH7XtOl3bXaSSTSBlZQdjLgDHXaegzz1OPpxXDWlrdW/XTu997dL7q6WpzTvZq/b1+d9reS+zd3uJqV3FDZy/Z2GSCqgktyeM9x1wOvGc81yymnB333dn217LbfVr0e0sdlft01/wAn+d/J2PLb+WZLZ5Wb94d4z3Zifl5JA5BwR37dMrjBaPXfdeX/AAd+m/k1KHUVna/k767a/YT76XvstDc8G27zIJJCYlUbwcHBYEY54984PfkHJrlqrW2uq1v/AE7dlqu7RzOdpa6uz8tXrtZ6bdH6q9j1y2DeXumlMajptPUjGTwvPPAAxz6VnFWtffZaa+XfW3n5O9maSqO6bbXz07W2W2j3W2iV2zB8X2d3qWiz6fasY3bM7Tt18sDOPXoOwyOvOa3jSk3tpp083Z76d/t30dlpz9eHrx130fpu/V9Oz31vGy5fCbwG1tXSd95i8tdw53AADPQYyOeTx15/i+owPu20s0unf56+W0vSx4uZyU4ySto7736d0t7a2a72WljivOWW7jlVuIjIAP7iuT83U98HsfQcivVqe9CzutL36X36X3X3abWaPl4R5Jerdum11bdp79vuJUn83BbhUb7/AK84YY569M55z7/NhSjyzjpa727r8NvWNuh7GFvG8tUpX2119eve1l5X95R/Ub4BQpbfBPSrK4yl7fXtxctAEG37O74ilXPU7QM52/XqK+gb5sNs/hW7fnp8OvleOut27pHPg3KOYxqf3r8138u+l1f7La2vq4277TWsb0jAdxIDG3Tp7cjGBxgHPtglfmWn7eUrtpy6LW97Nr/hou2q0UT9N+uLE0lHryrf8to2+Ttfqr3l63omqtHbW8Chg7BQ565PXdzgYIwR97PU4xlvewUlondWV2v1utt3onLTrqeTWwajJVE7btJ7eSt59fej0/wnYQPKIJpDKZAzOjIqjftJ+XY3Yg56Y559m96hTp1Fzt2a07J2tro99db266PU82vXqKSpQVoy/W666Wu77PTvf3fK/iDqVnHm0hJjzCDtZg0okUDeHJ53E57Dnr0G7xczhCVTkT5ru67O72tbZNp9bLqj6nJ8PKNP2k7rTVvTS0dltpq9Lt+VuU80+CXwzuPi78ZdE8MQwyT6fayjU9ZYKXihtbcblV/4R5jgdQfbOCa9nhfJ3PExrKN1F2b76pq7e1l2vbS7e5+c+LfFFPKsp+pxn72JV2ou7WklpZK23eK694z/AKPNC0m20LR7DSbKJIbaxtYbaBEUACOKNUX2yNvXjOMc5y373KmlhadNLWMEr+tn631/XW6Uf4Tqy+se3xF73nzX73l/VtrfyvaOuOSc9R+mf59P6dhUqV6UF2b+Wv47rr99zCnUUqaivsyf36+ne23ToLSKCgAoA6PSP+PZ/wDru3/ouKsp7/I1ht8z/9T+4ivQPPCgAz2/z/n/AD3oD+v6/r8iZCSOfX6f56/5zQA6gAoAKa2fp+qG/wCG/V/+kiEZ6k4x06gc5yBxz2yCOODml/X9dznT/ro/UzL6xtL+Cezu7aC6triN4Z7eeJZYZYZMq8ckTgxyIy5DBs8HIxgmtoqPK+bd2avp01/mv899klds7KUdIVU0nT2WvVd723faWmv9w/B39uj/AIIlfDP493Os+Pfgze23w+8d30kl5Ppa25Ph/UrgxkyL5UWTbPNINxaOIKHyTwcV8/j8t9tdwju76LS70/u6WVuq16t3l9bkXGGNwVWNGo37Ne672ty38ldpPW65brXpY/kp/am/4J3/ALRn7OOv32n+Ofht4hWyDSCDxBpek3l5otyoI+eK6jiYkMpD4ZV2g845NeBWyurh1zRUve0+Hbt1e3RP01VnL9XwXFGBxNOLlUhz296XPrtfXTy00V9/KXwPrfw91GzGyayuoHwQ6vbzRMhGQwk82NSshOWwRgZH0bza2FrpN2d90ra3t1Vru22m22vxHt0sywVdc3PTl5J+i3/JWVrap6OPmV34SuXkIjiklAJHyox599uTkkdMH325rglhcROWkXdLou+j1028reTle8dZY/CR5bOKeuzdrdNlK/l+Ldj234DfD3xNZ+KJtXt9H1R9PSwnN9cxWNy0EMJHWSRYyka9Cxdl+p6V30cPiIRfxWte1lpLXz1te99PK13I8jNcxw1Slyc8dbK2t+q8vNby66Rsz2jU98UF2pRnH2nemONqknr3LHoCPp2qKymornXw6Lzvb8tXtvtax4WBhF1ZVIu6cLLpru3+V+yX2rtxobQY7STBJMozz8oJ4UEnB4B6Zw3tXkT/AImurUkrv19Uuvm+nkeytUl/d+9dr+TfX0MfVY2NnqEB2vJGXLJ0ba3pz935Tj7ufwzW9XaPR30t1+WnV/Jb32M9bu3V3Xzt+K5kndefu3seNeGrprbxJHasoAMgbDdVJfpjP6Y+h6Csqnwv0dvmn6bL/g3tc6HDWDatqvm9nftu9Ff9I/oN8HmkWSJGi85HkGB2RWbB28NnOOxH4Ejb42ZO0Yu2t2/wev2u/fXltqtY/oXD9LnWtn7itZej010/He9lZn6VeAPDSzwWTKp+RhhNnUMMnnC9DnoOMY4z83zFapJy0f5u3lrbdW66b9Lx+4p01GCS23fne1r+l7dLtXSWx13xTKeDfAXiDVDCEeKxnZGL4KuyMF/8exjjOcdRVYb33LXpd3162/u66L08r80uOcrVHHTVNav8na90306u3u2Tl+VPgrTb3VpJ9avN00tzdSyuzcsVZzjLHOcKcA56ZJAzUV3Z2X3d2trLRrXX/t1JX2MpwXLK2ml9r/j6q+iVuu3vfQmiT2aw+TdOsciMGjjZgjAIeO43dODhSPY/ewhDm6P06Pz3810+erRxxrunJ90klfS6XZ6NXXk/wfP6npvi21ls5bVmHyjALntjkhuQPYA/nzTdBtRjv6fk/ldXu9ttnHZ5goJXatbXXRW21tp8uZ/3ktZc34m8eP4b05prG833dyDHFCXw64HLY+bKqp3MWVQB95gDmu/BZW8RUj7r5W02uqs91ppfWySfSzevL4macUwwtCajNSdtLOy0Svrd6JNaXXnfXm+I/H/xT8Xau2oQ295cWKbWWW/35kYAiNZbl2/c6faxybY9kjbi7LGVadvJX7zBZVTpKnDkSS15V0663W97Ozfd6fa/Gc14jr4qpUl7Ru7+K710vpbby93zersfHmu+JdA0y7ha68V/2jq11KEms9NMl/dyEMRIZ5FkjjRmwXzLKyruC8AqF+jp4dWVkrLbS97W3tZPdO66bpJJx+Pq4yUm7ybk9Xd79VZ3Sd7W+H5K9ypqPxN0bw4YTJqGo3F1LCGs9ItPKW6eSUruju5rZ3fYp2jy5C4BYrv7VuqVnslr29XfTbd9X5WSvLmdZtJuXfW9npbTa2mltPO2tjzy61/xVdSSalc+Xo1nPcGUXl1AlxM0nJWK1+1b4ZBGMoMwuicdDg1air9X31t9n3rOz+b7rS+0snU8279tPlrfpu7a763Ri3fjrWLm8tYRq+oXB3AW9qr/AGuSR9xClLQKIYs/wx/KnfAU4amk00uzevf8eiSuktOu5F0rXsrab2elnZdG29dr72s0dlo/iX4h3N15l99p0i1kCxhtSjhsrSXdwQ62kbskhU7UKTbWJIOMHdVrK7frZdfnt6f+laOKutkrrT1a07d331106nqGiafoNiW1HxjDa2fzb7FdN2JeXTB1DSXkkwdltP4jLtQkZwwJ30+WO7bs+/nsnq912W3VbRSnLZL/AIOmn2b3+emzb0NC/wDHGgSW15J4dMZS0RkuLixt1e4mk3YSKNhjzEAGDIzs5xkhQM1m3G9klp1ez8/Jtdb9tjopc3X+tteu6Vu9+17mD4f16e6unit9PXUbidt6C4uJtqgZbaSSYkJGQxVGYHpjOK5KjfL5u17LX5LR/hH4bNq1perQkk1om7rVv5LVcyvr2Xo7vl+lPD+ki8t7J5dIfSp7gm1mtdHU+VM55j8+7aJAzyEDdhRhVOHwM159WPVLpu9ErK/q/V9D1qVe/uuS5d9NL66JvVX6b9NLX5T6s+HuiXkSpbX2kLpUUaIYri5lcTyoP4nbcAI2I+98ue+ea5aik2935vbXfo15ee7v8J7dGtTVneyvZJbu/S72S2ura662SPdLDXtNsZksoLma+1BGG2x01CwbPO+aZN3BGTuYMcccZry69Fzb1su70vfSyv3tayjfS+ux7OHx8abXJdye0Y629ZO606aO923ZqSPrT4b+L9Kv76y0S6hnivLWA3St54kaNR98y7uODxtYLkdBwa83EULJSi7K/wAummlm767Ppp3j9Fg8zvJQdlK13r0Xe97t32TvbTXRlnxn41ibVDY2F/FaCbzYkkv1UxPIm4bG+9sLEfK2FXsSDnbrhsNzb6vr0a0Xlfz8unNa5vXzhp2T5enxaX87aq93/N0XLp73zXqOueIbC5llbUobeK3ud1xDdyedYXSKx5RnZBEJB90IG4xyuQrevQgrpW+F6bX07LZrTfXtd7ngYvHOdOo23qne15J9Xa0kktLaKK7X1Rb1HxY93bm+8H3yw3M8O27i0m5ikRZAvzeZZskpKk55Uc+uDivdoJRSTj0/p3XvbbrS23RuX5zjarnVlyzbXM7pN69lrou+3rbQ+N/HWteKNW1kI0VrHqO4xA3Ja3uZGycSLjyuT6YIxXSqV37uiv1/zv8AjyvV6pby8ydfl91q9ny32tt+l+qS8k7y8hvodZvrq+0lNV02bWAsk95ouqTSxtJCi7nmsZ5I2XzFOPkhO9scZ5Cjp2dtF3X6Xut7tbR/UyeIdr/Ja76J7W72Xzs3uz568WalqQE2ipp9nqeZR5lrFeRw31qY8/NBNdmCQ8nGN+cYxnFbRgkrdH5ap/a6r7k16aXlzzqyk733/Do/v0vqr+d7HmWo6jZtpk+lT6fc6LrMEqzWN/dypOgVVw1pchXlguEY93ZmGeOoDCgle8d3o+99LO21/NS827e9DqSvfmbsttVa21tvPq0+i0Zl6JrQs7u1TV9Qn0mSfAV7ISSWUxB4KpHtjXcedjFcZwSfmZcqlOLW1tXp8u+t9+q06bPm6qeMnFp3a6adHtqnJaPW+j13Wh9C+F/jMPBskc3/AAlOni3jYBI7qaRHfIwGCBQEIPOFf8gTXHUwSkmrKz1va2/z8+knb58sfXoZrUi95fnZeTjbS339la8fqjwd+0hZ30MU15a2etWeAbi806bdPADk5aM4lZscnJ6cjGM15GIwGrspLrtv5PdWvpZK667JS+owGeOyTkr3Xxeb77rRWXXfe/u/Zvws+OiTKlzoepSPCuxkspZsssfHzbSd8QByCNkqjGM8CvCxmC7w/wC3l5d7p/PXp9r3eb77Kc992PLWTWnuSa5Xu7qX2Xq+ku7Wx97eD/2hbOPTFGptIsuAScghjwcKwUq5yeOAR0wcbq+dxGXycm46d09FfsrJ9L/dbVu0vr1xBFU0p3Taumtb767JPTZ9d9bcp7f4L+MnhzUJ/s63LQXt2Adsg2SORzGqKTgqevUjnnIrieClFNytuuv5dt7LfWy3bcfJnmVKtUajJ2b6rla21e1tEurtZe7q2ey2t2l55NzMglZvnDufmjB5UHkgZA7YBHQVyVKN5R92/V9U+qeln+N+rav7vqUK3KnaSs/NN/hvol3+K3VqNLxI8LWElwiiWVRwnG5SucYbGeR2wcZzzilPDRcOnNbtbV203l9/4Sv7voUMW+ayaW2nfXbv33XfezON0O53wPJL5iSOdqhjgIvTnOAADn16d+i+DXw7d4uLtve3dPX7VtL2u136Nns066k4OTTb31sr76aPXyaun3fwV73ToxLKyRNO0g+Z92AueMjGcnk/nyCTlvGlD2U2lffT8btN9redr22SUfRqu9LRN6dOndPTrve3ysrHxd+1N8JrPxx4U1RoLZXvdOha4icRAurxfMQCMnJHBPP0H3X9GlXSim5Jb/aW3e1kvNK8fV2udGBbg22mla/VeStu76aSS13V07H5y/DXQdQ0/YnmmOS3mKPFMjHdtbGMbhg4Hp7cZyu6qqbvdNadUmuvT17u+yWknH1HUdm9dN3du3ystL3drvXVH3j4LieS1gVoo2UlRKw5PTGfzHofQEfwr3VZ30vt2vb126pvXz1PLrTvJ35ra2vey1Vl0V9L26f3rWl71Z28wijERVYgORjlwvbqckYxzn6HrXDiJvo72Wq1bb2/HZWe+utjmduVv7r+eun4a6JWt1almatEVgM1y5gyx8uHoG2gjPf73I6n6jPy4U3zOz6/d6bL8tPK1zCfwP8ApO233Nu97WXyUvMtRu47q6htY3BXzADnuQemO+eh/DPdV7YQXKvuV9bfNtLfy7q60POnUb2W3VX0/wA9VdbrpZ7y910a0thpcOYgkgC5C4+b3x1JyexH1OcLy1420ivP8fxtazTeu920+bndT3knd9NX5+jfS2629FDYtY3vL6OJv3UMBVioH3gCD3C8ZOOnPqNuGypR5tWrPz9N9+2vTfd/Z1qzd0tdur6LXz2t897aXk7xTd29ha3UcZDTqhR3zxsx0zzjg5HfHc5DV6tOmtvn2uk3b+bW6tvr0tb3ZpVZKXZLrfvbfTW9+67WTVj5p1eQyQPtTIdsf7xBznvnA6nOOOQeWb1Kfu2966ve9u9u1+nS+t+phiJ8yfN1v93Rt8sVt01ata/Q4CRdqTIQylzjeB9zHbGevryOg6V6FN83Ru9vn+Xn5q+t7XPJ5F5L3rpPXr3vrfy9GpaOJDaCSW3j8wgKykkHOdzYy4yARk8fXtndVTjqlurq/ps1u7XfXpbrZSOym7RXbz0b11113a7a7aux+nXw18QWtn4Y0fTTcQg2djAmdwUqSmcE8nJ6Hjt3OK9Si74e3VrTbTpZL5X7em8vUw+CjJKrdK93Zre2zt5tPbl31W6j3ivDqV1HLLIpAzja4JOOBztA9PU+hGc1xqjzO9no3d7/ACXb5HqQnOhSjJdOa+70v9/yWlvkenaYtlComOHVFAUEjqOAQcEnB4xxju3UV62Ho8t0kl+Pp/L02v6K2spR9f8AbPk26PXzaevKrX32V9NI2Rm6v4wj07c0HlhiMgOcqMdhjHzdCOT/AD39dVSppRjdcye1vi1s7K915X73bt73dh6EZSUpxulLez6212urarvbSy2j896rPr/jbxDBo/hzT7rVtZ1S48iG3tUeUoZG2iSYorFIlP32I5HPzE4XmwWX1sbi1GSlZy00evvK2t7Xd/PTSysjm4l4lo5HltWpGpTUow0jzxTsoy23d7eXazlb3v2s/ZK/Zxtfgn4Qju9VSKfxnrkKXGtXnlnfDn5o7SJiu4In3W7krk5wFr9uybJqeXYaEmvenGLV9/mr377ra29/d/iLjzjHEcU1qq9paOFn7NKMlJNt3t8HS+j/AAs7n1+OMkg+w7Dr9APfOPwya92FVVPd5bW07LrbotdO8bb3ejPgqVo4CSb95pWWzd/L3ns76v0bv7rx3PYnI/If5/8A1ilJWsuy/V26v8/u1IoxtQjL+acvlq9PP1v8o68y1JYUAFAHR6R/x7P/ANd2/wDRcVZT3+RrDb5n/9X+4ivQPPCgAoAlTp+NAD6ACgAo/X+v6/4IN+6101f4en6/LqFBzkLqM55yc89PT/ez+Ix7HJ2tu/y0OhN8qXSy/JfeMIyQx5YHhuhHsMBRz9Pyydz5mrffv8tXaXT+ne8W3fol5q1/1/K2vUxdf8N6D4psn03xHo2m67p8mQ9lqlpDeQHPdY51ZVbHHAwOh3dFU2qluaMbR6L8dbb+dvRaWCnXq4aXNTqT966ab002aS5bb+fr1PkXxt/wTy/Y58dzXNzr/wAEPC0k15KJbmS1s7a0aR+OfkhIGQMdD+PO7lnhKFT4ov5WX6O3/ky0Ssr3PTpcQ5lRjyxqQcfOLbfz5vl9nTTyPKLP/gkl+wXpt4b20+B2jB3kMnlyGOVQW74MGAP++sep6rEcvwqlezV9Ltq/TyeunVW1drWOunxPmsk71Ie7rpB//JRtol3b11bTcuj+L/7JH7Pnw7/Zu+MGifD/AOFPhDw403gfWfLuoNItGu0kW2aRXW68tZAcoCChU567edzxGEw0KUpJNb2e973eu11fT5313MaWeY7F14wqVFa/2Vyv4lrpe+/b1vdn+fX4ntms7y/gPCw3MgKFTj91NKpBHJBJHrgY74NfE4xqc5w2jFu1t/Vd1Z+fa7smfp+WVZrDU5dbpa/3lr27aO78luYT2clxZCW3KrtaN/LGc7gd2T6Djk4IHv8Adr5/ERUZSs9b2XWzvo/vV18Ov2Xa8foqEudq/VX2220v1u+rW97WsLe6YL2Nb5FIuEi8ufBwsmB1K8A8nuDnGf8AfynOcorbRW2/XTXztqtGkvh6qUIuequr3Semr3vv0SfRLVPe58z37NYeN7VSNhkuVUgHqTIR047ZOc4+gBqqL57qSbXktNEte/p690aTa9pBKzV1ppZ76K1vPe/no7n6afAJHv7qyt/IywkXc7cZU4wFxheGGec9CMcbq8LOHyWSWik9PLV7+rff5WufofDNuXbeCV12vru/nt02bspfsb8LdBMlrEyQ70jCK0qgZXYAWAGOSQMe3ZmGSvy03eT21/D0emjsr6a+UmfZYhyhTXK+S/mtL9bXV7e7prv6o8A/bQ1a30fwSNGt5H83WLuOLyiTuZS65UDuu0cfp1NaUnZOzs2ra76X/FPd2d93a1pctGKqXck5NbO1rO+97pb333S2b1Pj/wAP+Gbm20mFre2d7doVb90NvlsEUsD0wR34OcZ7ZrmqVG5q+qem+u/z3vor+Wv2scVGUYPlbi7N6a9NfklfW+jT0lb3eP8AHeqWunQ6VcWzyI4DQyZYqd4Y7gfugnrknb35wQV9OjCNSK5Urvl16XWm3RO9kkpcu9uZM+TxmInRbm5u1n2sk9d/Kyve3ZfaUvN9Z+LdjploEGpwgvsUNIwRTccgEuPmaNArHy1yzHAOXO2vosHljqW929lq7fg5bLdaJa+Vj4zM89dK653y62T1vu9Uu+qWrta+trHleqfFHU7uG+ubO7+0s8DJ9qudqMI3XcHgimcRQIYo5igl4xsnkKqVjn+qwOXwoJ2gubTyS83vey8720d7H59mecTxLs5PlWr1actdl2VtL62vpu3H4i+JPxB8Q+M7x/CekSXNpo9nIr362crRve6qkKP5Fxc4aa7MHmCSdU+SOaQxRqNjs30NKhGCvon3d23rq3+WqeyWtmpfLVMRUlJvdt6Lsr7212V1ur7X+0c0dBu9Fjsb7X7ix0DTtzPcNZxxzeINUjRFZ7e1il82ZJpmxEJmZVGcnrurS9tFDS71Xk9NEraer+Wpi27LX3npd9Lb+tvl87pEs3ibwr4Yv31KGxjulvYIFs9Ju3W612d1G9jPcMzxwgyEDyYtmBuBJwEpqMpWurLot9b6a7bab21uri5tbXvv2VvTz+a+VmZuu654q+IN4upa9faboOnWEUdtpmm2ak29jb5yPKVQIp7uUL+9l3yujMV4yGofKtoq60e3bdt9/lfptaRd9d27eT3tbol579R+keJ9V8IWjWvh630SG4uJdkGtSWMU+uys+9tkdzeI/lRvuORtG3GA6gBmSeiSdr7N6a+S1vezb+Le6e0Snra+/wCXp17frsdl4dup9DuoNX8aS6h4m1KVrc6fo5lNzptiXYyC4v5ULR5VgMRjcegzz8y63tv3ej8+ltUrXcb3C6emvfs1b7+vdx16O9zb8VaZ4x8Q2FxrV7D9ltrt8Ce9kjs7Kz0+IlykGXXcGx8qAZYYATJ2tMpWT01baeq1/wAr9Fda907xcW27Lo/XrvZJfd2ta1oxMjwtba15qwaBa2moWiuqtNMzxJK4APmRwGJVfPUMR788lsZbXur36afpuv8At223kbxlrazskrpdX0XSzv8AetYpbx+pvBXw/wDE+qXFpPFZy2kjMHkkuBZpYhs8kMyo7KvoG5C98ALjNNP3U22r3dtn0+0r269vsu/u9dOVt773s9+vqvLbzs+Vc3ruueJtY0iVdFvtf066ubAR4sdMjVjCEU7XLRbdjAZyWOO5x/FhKN7X6eVvXqutltpbrdnVCoktG72tfe3+fRrbs7pe7taP441TUJrawsdZa8vLgLFOI7tr2YAMCsYiVnhiUYKyb2XG75VAG1sJw6JaX/z/AB9HHs38R20cQrJuT3X9K7V9HptpFN3skfRaeIbz4f6LYa5q8wjmunaGytrW2wJGUDf5jL95lJ+cLxyc54ZuV4Xmu3d92/0tfbu9bbJbx9Whj/Zrolsktd9r9/W6t2dmepfDP4rQabeJrt0I5NT1+T7ErPmN4bZgTviidgpKIPmyGBPoAK461PlvHlTjHXbZ283Z6vzdr6aRUfWoYjVVOe0pztp00vp726v11vtez5k+MPjS6OnXN9pckU0kUjSASSNvuLTH7z7OqJsZ0yWbceBwD941WHUZq3KlJ9UtU33+WvS2tu8oxmIdKTam3fztdS6rR6r7/JpnxXqvxg1EQyW0GqTOJV2yWWqK0rIDwFtLjegjRST+7KPsHAJw27s9lZ7a6aq/pr52XRK+nus82pjm0km1F7xfS3Rfjs99PeK3h/x7dROVW5uortXDp5U7WwIPXZIzKk4OMBRuJ6YI+Vu2jzLRWeluz2/xNPvrp/iszw8RUhNuTvF3e1nqvK3bXqr9dU49RqfjPR9RjcapfaiNVKbY7m6tIY0g3fKX88Ik+UPKsgcHvniuyM7dLvqu2l97N91s/l9nypu99eu77aa7NeWsVbqtmeeXXhK28TXkMkviN3myPst1buz3W7+FiZdnyjv84J/uck1fuy2bT2s9b9fL/wBKa81oc95R6Pz6f5301+F/LaHnPxA+C2pT2+r6nfavHM2nR+YdQSL/AE0MiloxKhVZJCQMFoi65zkjjbaptJPW/drptZfFvtZvz10Uc5Svayfnr/8As7ecX5Pc+NhNqGJYr6O41S1dnRLi3nLDy0JUfuH2qJsrjaSpyOOSdtJ2v5b6a/LezSbfwu+z6OKk77Nvffv5LS33/dcrjUtRkjlTR9cOmXmmlW/s/VbeCC5kDD90DbN5tndxYHDtIHO7aVYnNVyu2jV2uv4JXXX0jt8yea2ur7Wv9yevorq1rWvcz5Lzx5cg3Gt+HbfU7QEO+sWGmwLawZycXkFtGFhyMD5Sh/iOQRRKFltbv2ettO1u3nZJ2bjpCvZvVva2u/k9tL2/4NrnZeHfiBLoENjrFrHbeHopbpbG9keL7Xp8yocN5qqTcWxdMFSsTjghivBrKdKMtHZ3tZ9FZ2v9yt5LrK9jrp4qUdU3f11tu0k2r+V7+UdZM+qPDPj7Wba3ivopo7W5s5xLpGr6JcmSHULG4AcxkqVCyxZw8D9sghWyK8/EYKMovS69Nd/8PfRq0uivoezgc3nTkk6kkvN9tb332S6ta9bn1n4O/aIludKK6zZNdx6eUXUWsb9re6CnI89ofnjIPJP7sHPBdeS3gVcsbU3Fb+X4W20/rofVw4hdqalO9lprd+XVbpW0sr63vdS9l8K/HvQIL2LVtB8S3r26lALLVdjm2kBztju7WaUKVGPlZEx0LcsK8Wrllbmd49fK1/S6TXT5aW0cd3nkJJe9rpqnf9V12u1ppbS8v0t+C37T9jqlna2upXkVzazKmb4zq8cbH70XmrgRzRAg7GJVlwVJwdnFXyucVJ8rUt2mtPPTby3v5R+16+XZ8lKMZVG4yaSlfTtZq61a87+bvY+2rG6tddjgu7SY3FpLEHRlKtGdwBG5h36f3R6bs4XwqtPkk09H26/n06aaar3r80ftsJiVUtKLb0sktN0vXo29rLlvrZIyrhVsvPimKkMf3Yj4A5bgnOR6Z6dAduMVx14R5JWSvyvXd7dNk/PW/pY+jwUm59baaXva3kt3169bXtzFeK9edAoXygFKg9Tjnr94ZIOei/hg18fiIWqz69X0VvS7vt318j7PBJWj9pNWtq79ettOltF1vLY8w8T6fJcw6halvMSeKUMp/iDAr12j+XI6kZG3yZRlOt8TUeyvvbbf/wCS69Xc75zjSje3XT8Pm9XpZq38rumfnjdfD6a21fU4E3Iy3czIqtgqC5IyOBgE4PK5BAr08P7kdL+j7+vK3ol/w9lKXVQqKUPVLdu6uu9ruydtP/Jb3Pa/h3pGsxGO2uiksWcKyAgqMcZ4Xdx15688ZNZ8/NVtZpNu1311s9E3uv7t9G+a1yMZBKi5Jat7W1W10366626rZNS+j9Ps3i2wkec0YDBBgdcfUZx0+9x6c7s6kdb3e/3dtdNO94/dZo+crPW6fy3vp062tp5fcc34lhMkjmUgIiEqvPy5DfIRzkhsfxDOMer1tRjy8rdmr/f+Orsn/lpYzetKSvq1t136/F53fS/W/PHyvSNOF5rFuGQkpOXYDsN3rgZ7HovAOCSQK6pNPRPb7tevwrRbbve6e5wSlbq/XXbbr5q99fK32voVYLezs0Zn2gMOD3x1z0A6evoSQT8uM483XprpffXur7t7O7dtFYwteUZJ2s09tV1v0vv/AC69bXSI7a6aMpKvSVyJpuirF/CEOByfmPT/AOKVU48r1VtrX1/rS3qdlX4bteu2/wDwLrq+2j1ln+IdPlurNy+RFMzM8m795gRkrwQO+D95c46HpXdB23dtvv8AXXt/w25jTScvwXZar/g6aeqaTPDdUtGhs44WyJVyxkPTbu+XPfcQfcnPvhe+k72Xou9umuq8v0asYYrSL0SXLbby33S00016Xcbnn88UgaRcA7mY8difxwCM+h/T5fWox0V76L/hu/rvr3eiPBnUipPXvrf9LR+7m020teW34K8E+KPGOuW3h3wrp0ur6/qW9NLsow0k11cxKZTGqDOMqhIJGD05Ne1gMu+vy5IXctrK/wAl8r7Xj07o5MwzNZdChXxLVPDPXmfuK19lPlto2uq877noWm+M/EXgPWJ/CXjzw7rfhTW7CQ21zaa3Y3Ni3mwttkaB5kVJYiRuV0LDaR6IF7cZk2MwSdqVTXpaTT16aLu+/m9T38PxHkuPhRhhcXTc9NI1oyu29VaLvdbbp300uz6K8M/FXQlWIvfQYYZDCSPO3glSC3U++3gZHXFebFYqKcXRlzO+8W/k35W7Pd3tufUyw+Iq8qjVpRptRsmnd3801re76dm9Ly7Gb416Rbnyre7jIcbdglV5GPRQFQk7ic++emeS3oYXDYypJfup2d9OWW+i03e9umvmzhrU8NhEpYnF0IW395R737La/VPq72TO5+G/wk+Mv7Qmrww+C9EuNJ0JSr3niTXY7i10yCNjhzCZIkNzIEZikcRJPUkZNfT4Dh3EYucKs4ySjJaPmXbdWtr2vvvuuX4biPxRwPDtOWAw1WjiXWTm5QdObi2pRs1zJp21dumqb2P2V/Z+/ZZ8HfA2wS5YDXfGFzDGdR8QXMa7jPjdItrG2WiiDk+X85yqj7ud1fpOW5LRw1OPNGKaS3j7ydtXzWeqSe8U29XufzDxVxviM8r1rVpqEpztFSbjytvdJ2s04rR93r9r6nGBgepOPQe/45z1/PmvZqx5LRTuopbXej2Xy8/kfDwj8c/5pJvvLazb3+9dL6DsDp2rFabfhoVvv/n/AF/XYMAdP8P8/wCfWi7e/wDn/X9dg6W6dun3f1+IUAFABQB0ekf8ez/9d2/9FxVlPf5GsNvmf//W/uIr0DzwoAKAJwAOB/h/Vv5/nn5QBaACgAoE9n6MKDAjk7fj/Sg3Wy9ER0DDAPX/AD/h/n0oM6nT5/oJgD/JP8/8/kKDMYyZHB69c8E9OM/h6L198UfJv0/PzLi7Kfote34O+vptvqeNftBpL/wo74q+RC00i+CtbdYkXezlLVyVCg5JIzwB25xgbssWn7KWnTS+tunnte/XeyuPBTSxUW07qS0+71t8m1pvG6P83D4hQt/bWtvHtBl1K8fZj7mbmX5QDjGDxt7dSDkCvgK6/wBqm3tq107f8Fa2te/ROX7LlUr4WlreNo9LW2uuumm/5bHG2BceaFdT8oONvYA8HoO3YD8ereTiYLmb7t39b779vv8A7ux9Phr+56226e6/17aed2dR9lj/ALPd1XaZBliOgJHbjjgnH/s3WuXk0dtdLNPzXV9Pet9nRNdmjp5uWT2TfTb5X1+Wn33Z8UfEdJNM8T2eoh1Aiv4w2SRhfO55/wCBddv5E5XTDQu31t5W7K19d0u+m+nxGVSq/aRtpZa216p+X5K+2u8v0h/Zs1a4NxZTGdZIZhBIqJjIwylR3zyc9Pc5r57P0lGNrq9SUe6d43v0/OP4I/S+FJc7tp/DT3Wmz6brddfOyfvfur8I5DJpUMjROkXlIzkHGcrk8Lhs9ume3OS1fG1JWdl0ffv11Vra330td7rl+5xcWqUdrSt0WmjvbZO2n2fk/iPiX9tpFvfFHgyy+YxT3uQH+XIyAv8Ad4JPbPHOOCK2pu6bt+r17X63Wui87293LBQvza7K/wBz6Lls35Nt/wB5XTlq+A/C8zaXcwG3NxB5CNGisBvYrggNjHXIPHTkZAO7gnK9WyTer9Ld1fyta7VnZO1yMclGEm91dX6trW++m118WnnFs+CP2n7O80+8u7OCFreOLMm9SNsIdTti4zukkbCLtwXdsbsb3r7DJKDquLafK0kla/M3Zvpqrf3Xa2ytc/JuI8fGkqkYyV17z1eltLLVXe3RdraNS/Nm8vLLUNca31fVw1np63G63tn8uA3Nuge6lubo5Vra2KxwOyBTdTE28YCh6/ScLhowhbZ2T0V2tNL6pLd3tzXer5bWPx7H4yVacpO7Tel3+GvTyX3SSSOTvfH9j9rg1LUZv+JMU1CPRNHh8ww6hqFrss7W6v14WSB7oLdyCVdskFvbW8cYRSqejCCj01Wvr+t7pdb6vWNry8WrUcrvSz+LW1l2XXS/bW+m144Swa9FY6Vp954a/sPxDfxR6pba68bCW40i8vFluL6CZC3li4XexL9CwK4Cg1uuVu199ba2TWvq9HbZLa8eksbPfq+/TXr8lbrrtbc8gm1KTW/F3jEC9W5g8Li4a0F1c73vpkuAj+XIxJc53SfJjb1wOSzasn28nsuu9ltsuj72XNOvVbbt+t3Zap3S6bdbaMg0+zvYYP8AhJZYbA3t0iHTYVWKeUIszq0ryt+9LjpHlkHsMlVLvlttsrK6Wu9/Ky2089GnI2S0vdJK/d769Lp/Pa8bJnq8Y0vxL4W/tzxDqK+GtbspAljd2as0GoW9uQTbTwS3BgiuGfIZ44lyCRhm4VfZ5bav5fPo76X2062v7ouZO6Vtrrql36Xe+1+i1slG54b0LWPiHFHOdPBsrXaIYQ1vFJdNbyEGe6mh2yeU23cFYAkEknk1Hw6PXy7adenba97dNEW/61t69JKz2289dOXN8T3WoeE2e10yS+u9RNwIbuws1N1a2kgOQY5H81DsG3pvG3jcuDvm8pde6d9fTa1vm1v8S1kO0UrNW6r0T116a9Uvuuc7qfiXx5pwspNTkmitJtrNHqcouWG/5t0dkQwKbcYjAZsDIAINHLa32np5WtftdaLzfxdk5Rej0+Bfnr11/wArbptv3fafDfxE8R2+k2d1pOkwarqMsvkwtBpkVuHVVAGDEqkE9cyJxwOMfNlNpXUtLP8ADt9zvbXbpextGDsrJu/nbW1/Oz0ts++mqPSbjUPFEFkdd+IHinVPD1oYhLp+jxzLGs0vDGFTAV+XbnIbJ2jJx0rJVIz1T+W33JX76a6672Z0KEl0tp0/V6NdXurdW7Lm8w0e58S+MPEdzFpLyx6O0yPfX0BmVmiO5cz6g0gjQFSAysyEH1xiodul308r6dFy9vNeXQ1jB+i00f5bWV9t9Otr+97r4a+I3h34fazHomm2kV/GUC3M9kQZp7jAwkl0AWkYuCGwx3dDjINJJWu9fL7/AMeqv96taW8YytZXS89np6NP5fc7o73X/i/4z1zU0t3tL6bSViWSysgqLa6OXXaQinJBYjfNvd2ZuRjlaOWLvd/LTX0bd9bL/wC1tFSuMqkbJJ23flta2n+T0ve2sul07xdcXNlNaaU1/d6pZI2oteFnCQMkJLxx7mULEgyrbQoIPQknbzVKUW7yas1azSV7dGtXd6u1vk7+96VGrNRSXM2veTb2trpstL2tdXv1ep7L4U+IOteIPDMOhaiukzXVqqXUjJLmSSK8AJtwu1cMAApAJwT0/hrOnTjSenf7+2tne35LZ2HiKlWa953ur3Xd66de+rs3a72tLO8aeHvh/wCIdJtrDQ9OOl+PVuRCtnqge3tbmRxtzDcMYon3OeG8zBHReML0tQmk02n16/8AyNtE97K+17nnSlOLfNqkm77aeem2i1+batLm8sv/AAXf+GVTTfE2h3D3qjzft1lds62+TkYWKZwyqeAyBscHIOArgnF2aaTtpprru977bJx7amE5Oa0krL7/AJPRf5X62TKtzqMSaesGoLPd2kahJpTK/wBqt4Cf9ZDcSnzt6LysTgIWGARwa642bt53u1bfy632spab67S4Jvd28vmujd9ej3Vu7VpHm2pReIoZl1j4eeLbTWtLtfMnax1LybPULd0+9C6f6u4wRjdvBI5553U4xeid/wCvlderfSy0MeeUXqtHo3drfyfMtfS687rk53S/jjrU14n9vG4gWJnS68+Nri1BU7XRt7EojcgFAwI4GAcVUZdrxsutnbrp66vz6byIlHre997dd/X8LW630KOqado3xH1GO/0t7fwQrSK8GoiIQeHtXmhYMFmeBS1rLK/ymSSNU5yxABNWmm7y23utvy2/F7p6tka7Wuuut2mtbdL+X3tO9jmPE/wl1vWp9U1m/wBM+wxx28mmrLa3FvqFtdOiEQ3lpLbSy71dxvRgVcbiGVcbqeqs2rpWa8r/AH9L/nZ/DJRei16LdWsu2vLq9tXpvr9r5y8L+NfH/g/Vr3SEvtRtZFk+x38Dh4xPZK/lmRRKrjf5Qz8w2kcHqa0T5o3d9V81bvtt6fJ2sGj1S1129X16t2trou6u1LrtKt/Beq3er+G/iBrcfhS81mO6u/CHivZI2lzXyfPb2eqW1srNDK7EKZigiP3iedtacqcFOLu19m9l/Vrp7W9NJSpS5mmnbvey+7dbPe34NSX4f634t0GXxB8NNWltbt5AdS8P69ZTbbW7MR2lrWbe0YLIVbywM45fPO3Jxv6/k/lvpy31t5x1lLZStZ7NO2ml+tvtWvp0uv7y+Fth8Z/GPhbWZ9F1Yut4nmWUZuEtzdSLK3yAt8kNzAwIxllYDkEEFay9j1smnr3899bavfvbXdS6PrDsrNr73fRdtNddmvl9r2O18YaLLo63y3GtaF4guLswTR6dZNd6PKNiM008UpD28uS3CvJEQcoxIJrCWFhd6Xe6iraX36dt1/6Vq43HFVFpe8e+nTbb7tV/4Dqj2j4R/tMaj8ONWhii1OLVtDvJo4NXtZxNHDdASjzFGcG1u1BzE2UKN/fwxrhxGCjUWyvZ7q0l63u3sv0try+hhcdKnKL5rK/d2366tv5+bTdmf0DfspftO6drmi21m91JLpsyGWwiuJAbi3jBGYZHXcrBAwaJhlWQkbmwBX55nGAnTm5RUk/8+qWn53Tb2sfr3DGZQqRpwnKLT21fTVpvTXt2v1Wh98nUdP1tIp4JFlUqGOT9wn5hk/xL9Pr3r5VuXvwcbOzv5/Dstb9UtY221sfp9CdOCU4Oyl89e23ndbX7uyN7Too2Yh1Ty4k4KnKtnv1J468HP16V8xXXLUktdXZdLq+y+PeySXbtf3vpcFiHa/daLy0W3Lumv05TM1TRxMlzLwoAJU8HC4AJGBz1xwF6YOcbl8aTca0nv/7c73Wtvzfndppy9CrV9pGK2s9eqd1r21v19d7pny1rfhqG5169NsigNyzuQoLDrtP0z2OR7A7d41L6LZ/j+CV7/wBbKPRh5uCemt+tv+D+MdfNXUu58MeEL2Hy5YkSaMYMgGN8eRnIA6gYzgZIPPfC7wotS5vPtsulteqt1dlvfUeJxDdNx+9dmns77fc9X0slL12LTorePCwxPKyYeWQbHUnk7eBwmfrjoSBiuuFFOOr3tra/Muz1VvPTfqrI+fqtp7abf1/lon5rSXjfjKRIPtEQ2najEFRyzYyGzkngnoOOxzjLROPIm7W8uu/R620626X1veBCTldenlfTtZbtee/zOS8A6Jd3TPerGrFZdpJOeCT6n68gdeucfLknzbfnfX8PyTfW9k5cOK9yXz226Lbp3fXfRO9j2q408+WUmtVdETdwQXZu645Gcg/Xpkda3jBNJ3tdtXWnz36317f3b2lFG0umtk2u73721/7d7qNroqr9gnghiMUkA3j5Jo8HeOMccgZ6cfXGKn2fnpfT3f8A7d6/l5XubVHey6rfy307f8NfqjN1tP3EdiGYCRzl1252kZUDOMEAe5HI7g1TmlfR6een/pOmnrv02lpQinZeqenTa3zv/e7e7a8vJfFtpHFaFQjYi/d72+8eDyT1JAI9fTJyTXo4J881qvPTrpo/ft5393T5I8/GycVNPWy0t1+V3Zad9991z+RJbN5kzSbST9wBucE8ZBIxxjgnn3xX08KdoLTTTole+1u2+9t9rWZ8piKtpSttr1Wn4Jvvor+p+k//AATR8Bw+K/2gINWmDeX4T0iTUyAAAZpMRxAHqpyTjBHTJxmvu+BMGqmYXd2lJWS13i/7rW3n1baV+U/LPE7NsTDK8Ph3eFFRaU9UmnUT+LntfumrrZLZH9AXj74O/DH4pWwt/HvgfQPEWEZEub7ToJLyJHGGEd3HGtwuB0JfHQAnk1+vY/DYCdWFOrCF1dXtHp1s43t12021tc/HMHnGNy6nDEYLEVJzj7yj7SbV+yUWrJ7at+6r3vofJ2of8E0/2U9RvjeN4V1ayVmJ+x6brk1tbMSTzt+ZkA5yqnnpz/DxVeHstnLmhTWqVnaGunb2ey2V36W0PpF4kcVzSlLESpKMUleddfCrJ2Vdb6Pr36tnq3hL9in9mzwW1nLpPwz0ma4syjQXOpPNqczFTkNK1w0iOc8Y2ckZGOlXh8qy+jJJxitt4x3v1vGzfoku17WPMx3F+b5jF06+aVIOW7VetFt97e0k3v3ve+jPqTT9MsNKtYrLTLS0sLOFAkNrZW8NvBEg42LHFGq4HTsT+td840qbtRjHlWqtbv5fqfO+0UW/rGLni5zd1J1J1OW/RubbdtNH6a2ble//AFfh/nt3/Cs5VKj2Wna9vnvH8/uv72fsqUpOSV7vm2/Htr933Bgfl04/zipjza8zbv5/0vu/yKlZLlSttt2X5/f94VRmFABQAUAFAHR6R/x7P/13b/0XFWU9/kaw2+Z//9f+4ivQPPCgAoAmUkjJ9fr/AEX+X5Y+YD+v62/L7h1ABQAUA9dO/wDXl+f3BQYySTsu3p+svz++/uxydvx/pQXGTd79Lf1srfe/wI6CwoM6nT5/oFBmIeMfUfrx7/59ODVRV+rXa3o/8u33aibatbq0n/X9fkZ9/aw31pd2F1Gk9tfW81rcQSKrxTRTxsjxyIwYMjBsMCOnJB5WplJz5oSS5bW/p2V9/J6WurXJg/Z14zju2r321e/4LSy83paX+er/AMFF/hRD8I/2rviv4S06xi07TP8AhILrUNNs4IlhtobW9mlmVYUVUSNASQAikDGBkYNfFZlSjSqvlWl2rv797JNq7Xl0btY/WcgxDnQjGW7imvTpvJ73Wy2d23b3vhLT1CXQDHg7PlHB3FiGyecg9Ogxjjdgmvn68U2279f6s7/8FPS17H2+Eb0T1Sa6eX36tLXyXmeg2EB8i7iRRJhcorHIztOMA5HXnqeBn0ZfPdSSb1S0d+1tLvaNnbZW+a2l6MqSknLW/ZaWe9+vbfTrvc+LvjdprSNPLt2PGzSZVcYZW+7kDk8Z6HsQTn5bozktY6X0aurbdfn579I2fNzShFtcyaSa766+qv663vfo0fQf7LHjSK0bRVupCGCxwEO5OWRgvHvjH4nmuDOqVOWG5pRu1NeXd9L2vtvpdrW59twti4QxXs+bRU3ZX87JNaWbXfZaXd7n9FnwT1VbrTbVfNZIpYYpVZXyNu37o7EgZHJPr2O38+xChCclayUm07fntay2V7tuztc/S8TW56C1Vklbpbs1fe/na+/lL52/bbso59U8G3aOuy3uUZJMbW9SSw68E+nOTtAGGqnZxdtbq3fbRrTvbd+jTveOOXVb1HzPTRWuls90/T+7Lo10cl8BeJ4l0020dylraLaN9qvndVEbKmSPNfhScgZbrngHJaujBYNTqN1I87k7crXLt35bu27teL6O9jy+JMeqVCSpP2cVo5LWSto7PvJ7aRstlc+DP2gTYa1rMliupJBpVrI2uaxdzXG25lsLeGSSZ494GMxBUt1UqGlkw23cjV+h5LhPZv2lrKKtFK1nfVpaqzSXTm6aK75v5+4ix8q0nG7vNuT72jp7z82r3tLq0rI/G7xPLc6pBquq21jarpMZntobaBiXddRvL2S0uCAmyO10/TrdpFMrP+8lNzJu2kL9dTtZRtrL8/RW08k0tLu6dz4mqm29dFrru2r/AI2Sd3t12keK+OfE0B0vStG002++PTJ7uK9RseXeXN1FCkIJO6TyLPdKrOFKmSXGHb5d4x1abbfb0Wn2Vb3np072s0YOLlGySs7eVm31s9dEt9HfSfQ9D0Tx94t1MRafqXiuGaa00COytSqqyR6ZbDaI0eUM0LjrhAu5gQ3Gd1RW9knd7N+u3fRvrvbVW91Tg4pa306X26f1bTfVs8N1DUNN0LV9TjEzSXc8V5eRzwRApcyuSxWUBhkSSOMEDALZPXcunLKSS5vzVnbvveyd30W0XZRML730s3q1e+1n0T32ta+zVuWPCad4nvJmuLi7MyXtt8tnAJXQQxs25vkVsGMqxOGQgDjjO6nLSyjqrPVrdrXW3mr99b9B2vrt2W17fe33tdee1jp08Y3mv3ujeHZLlJLCy8+6eON9ouNxVismCi5BwFyD9RginZpc0tWna+vnurb6vr56p+6aXte737bfg3rfS173stEe5af8UpPB+nXj+Hpo7G/vwLESTybxbRyQmKQJCN7HIBO8dG7NgCsNLu/fbZL8n8r381py2o3St6aK9ne3daWf5+Ti3wJ430nUnu7PxfrfiBoZXLCfw9b2jST3gYDL/bPLVnIwpfzoHwMccVM7u3Kkr9W359Emn32fw9LvlcUm3o3dW5bd+zbvs2t3fS17Hpo1j4WL4oXUNSvbzWNNtLK1iYahvbUd0anCPBFJMIpM7RvY+W3OCQpVspKbWje9l2e997p212cbpLVXOinBXenTW61Te3V37X89ldOPS+J/FFpPY6LqPhmGLw34Y1N5ojAjRrqK/Z8gvMoy+JmAZCD+YI3ZSckveSlre6flt93Xdb9Dthh29Y80E7X5vxt8XXXT01tyx8z8Q6tqniu7t7Oxt9X1u0QxrplrfzvN5EuPLnmaPdMnl5+YA7SE59RWaajd6R1e6f8Alq/nvHWzXvdUcPKdlGDk72T2+ez6X3fWytZs6W60jxtoMdlompeJJXsb6PJ0XQysVxLGQreVO8OJCI+M+Y7fdOIxxuzdVJNxj7qv7z8lZ3231a108/hOyGXz5kpX5mrcq1/4Oi06vR37R7/wF8MPEXi3U4be0spNP063u4YpbidiqW27YzPuIXzHP3yeOTjOQBXDLHQpv3nqul9+/Xtvdd2r3931IZRWqpKFNpcyu7WsvL4lv5yberSu+b7pXwDNNp0PgzwhZo9xBFG+r604YvMxA3+Q3zsx3AhsbgoOQOSV6aeJhOPO3a+iXNZ9lfdf8M72SaMamW1uf2MKbk95S5W9Vrby1Vt2ls7NNy9w+GfwRKaB4ps7xII9VuNMube2bys7UkiwC0m1GB3E4xyeny4DV52KxiU4vm0um7aXa9JtNeit6WPdy7J5OnVjKC5nCSj7vw30btfRrVvS/e32vn+H4FazZyyxabf6g2qW9xMZFQyLGsaOTGY8n5ggGT1GMZznFb0sSptKSTT2d7a2XXS3Var5LXl8yvljjpFyUotqStovwa8ur1d1FXL+m+EviBc67HqGpS2msDSrRkP26U28kkSH/WW8o8lDdgDCEuuMZ44LdUKkZbNK7smratd1sl0taPS7V3y+ficFOMUmr6X6vT15Xr693or3PD9Z8b+KdE8Z382o3moQWqyhEtdVuTO6or/LFDH5skUsRBwG3HKdQw5XqTVk01fXz0/T0v5aNng1qck5R5Wk3o7ONtbX6/nt3RB488ZaB4us55XS68NamY0WRrdvJ0+7CqPmMUWVGRkt97LHjrWrk3qlHp8Ouv4dLfZXnteXH7Nq9+a3S+7/ABWqv8/K94+B6Lesb7+zkg+3WjPs+12b5wxJAabOzI3EE/e/4Fk1adtHa7tZtbb7eWz6fm5YyT1W997O19uulno16aq+jK2u+HLyPxRDoz+IdMnkl2SnTVvJkMkUg3JDKpi8okDgrvPzctnO2tNErtN3f3f0vPve7dpZ8sumqfqu3lr/AFotVGqLvUF1iXwtHez2OmsvltprSF7aOQnabjax8oxk8jHXAPAwtG/neyfpbZ7Wvd69L7PRE/Dfm7d+u3n289f5tUe++GvEM3gLQo9M1a2ivjcy/wCiXdpfIvkwtzG4tWfyiw6lUi3E9cY+aldK7el72vayu7LZ69fns0jJ++9NFdeb/wDbdrbJK/la8vL/AIha74U1LVm1e8t/Ju47JoLOVxEZ7yWXh4pWRELoPvKGBZeuRkitLqSWjbWujt+i37crt87BGLTe/wAuvpv+D07pu54B8RvC2n6n4NsdQlcW08Fw0tndeYd6SpygRDjeAPlYAYIHQfw1CbUbNPXSz6369GtLdZb6JbFWjzee/wCumi2WujW32rs4bwf468RaIkSaxLZ6hb6eNkeUK3Cxz4jLwP8AOykJyyk7D0wap2b91b2W/fzv6aXevlrFcrd3fm6K60a9bry+d/eerMfXc+JfFN/p0V/a6gHEdyplmSO6tmdd6x20jhkLqCBtDfeHy4JptOCvbV7K/R9X1Td72totNbsIyv8ALdt+fy137+TV2jqdOXxZo9ta6lZ6rqF7faS/k3HhW5kuE/tG3jdfLuEx+7EpUmLf8wJUHaM5abxbtJJWej+1+XXpbXXR7od99UrvS33a9k3rdberMfxJqeuxa9HqdrbagLe4lFxc6fDIyS2qyCPMV0uBHPtbISYAONobcxApSSs727X/AKX6fLVoIylHbR+V7b6b9W+t7q7bs+aMv0Y/Zc/aH1DwhruleGmnvJFK/bNHkkLFp7Z/Ke80x2GBuActFkkbiUDbQa8HM8BGvBySTlFa+79z8189N9bo+nyTNJYarGLk1Fu1r269L7tJ3WnT5x/oQ+CH7QMF8lvY30/mLPs8nzJQVXcFYRkg7lYhsoCxTIwOu1fzjMsvlSVSUYq9mnor9f131Vvu5v2zI82VX2cZy5l0km2rN7LZrVPrdaK73P0D8PX51SxSazb91cgMHXnYO+ecjBOPqORyRXwFa7qTTWv9bvdXsnvr5WR+kYWTSTi7xaVvLtda26v8Hb3Wde9jOYHV28xWQDjoV9+vUHPT6Zrxa1Fqs5Weq1W/K/wu733a+d2petGumkm/Jtabbtap/wB7drzW55PqPhm2/tE4DKHJ3jPz8nPy8AZ5HPX6/cqIU3dWs/RW3+b79tfK56lGonTV3pql5+vkunfZKOspdd4Z0VrDdGkUsq7jskkkIfaDkqV4/Dn3BOM17GGXvxuk2ls9fzutPVrolJHmYxuqpQjLWVtnstNdk9+mmr0u9TS1lJWJ2qIFRGzxySvoeeT0JxyMcgVWJq8vRJPZ7K3W7tbroraWdracvVgcL+7TknJ2W/vXtp1Te7/m76tqx85+OrpMvGCGlPyg8fTk5JIzj0GR05rznUTTu9tXrp330SS/Lo72PMx1PknaLcdXpqut36PfuvN7nb+AdJaz0RJVuUDTjeVfAHOeAeOePUYz1OaiEuZ26J9NG2+zWvkvXRNK8fMqyta+q3b7d9fS3X77I7SW3WJ082cu0uBGqnKqccnIJOcDPtjqea7I0339LprTy959bbK/re5VLExUXZLr9lfOzvrp3bSd97Iz7y3RXWRhDmHLYIB3EYOTwQexyxB+uKzne/W1v+HX9b/I6MPNOXvpO9rdW99Hp36u3N2aT5cWXy3k3yhTsDEHGQDjjr0/+tmrpK+rV9fn06+qNcROCjaFove8Xbv266W0tv1tY8h8cTBkMYI2A5YqeSTu64IyQMYHX5eoxXq5dFOo249dW4rytba/a6fW2h5NWqlGfNZuzWrT6dmurf8Aed/PQ8jdI0YFRiST5dxOAM9+/OMHP3u/HSvp4xbfKnulp0d7drav006J7HxeJ5pYp2fu83N1taVt+itfo9bdLM/bT/gkx4O2S+PPGEyZzDb6XBMUyCMq7bXOCMjI4JyQcjOK/W+D8NyYanVUVGbb95RtLyu+W9trWe3feP4p4lYxVMVUwvNzRpxjandOMbrW0eZJN27XflZs/bQDIGcYHT9AO3fHvnjkV9/NxupTjGUkk3KSTbe17tb37811v2Py7CVI+zkuVr3XbRaXvbZt/wCXdhHxk9DnGehwOxPt7/TtVVal5LlbiuVaJtL7lpt6/mo4wlL3lzSavtKT8+mq8vPy2Jo+Dx6H27/5/wAmsmrpt6u6317lckHFPkjdOyfKr2t/X5LqS0ieWP8ALHTyWn9eQUFBQAUAFABQAUAFAHR6R/x7P/13b/0XFWU9/kaw2+Z//9D+4ivQPPCgAoAcGI4AH54/9lb+f55+UAlByM/n9f0/l+VFrfPUBaACgAoMprVPpa39f1+RHJ2/H+lA6fX5fqR0GgUGdTp8/wBAoMwpqTjf+v8APb8fLcCNwAVY5wGG7joMYz1Of++fz/iUPf5rJ999rJa7L8lv1t70yjZp9U1dbpK9++v3fPSx/GV/wXq8Dr4c/al0/wATQWjC08UeEbW9afZtikubaaSOWNSM5dVIJ5YnqWBJSvl85p2nOS0Sa06K3ne+z8umjsfofDNZynCF73g+769H6tLb0skj8CxJ5d/CQNscigHPRSxO3nkjGfQ++M5X5StvbtdXSvtdaapPS3n5q6P0rCfFbRrT57fJ6O+jXz0R6Vo8ctxFLiNlMShfMU8MCBzk57YJwBjjnmvHqbv/ABbd/Pr56abN3eiPbpRUm01/S7r/AIPfazPBfi9oTzWNyzYJMcrL7kLnJ47EAcjn24WnCXr23/4O97v8+baOWIoXTa2V3otk/wA0vTrra5438C9bexvhbynY+n6jGxLZ+4ZTk9eg9cgAnnHNaYumq9JwSfe76Wu03s1dvVq/VdbE5ViJYXHc99GnG/q00lpfbp71/wCbVM/ox/Z28apdaNpPmTKpQxqo3YDxeWOvYY7/ADdeeSuG/OM0oSjUt3l99+3wv0snyrfex+r0cY6mFV3o4722ut/iWiTWySvvy2Oe/bB1+zv7DSJAwMayrAhj48l4/mkcsN2Tjp8pPII5O2tsDh3a/ld+fbTda30TbW2sVLm5qOMUJzvLXVRa7t7tbaKyt6WcU7nyXcfEuRPD6aXpUaL5Jjhh3uSLi9dCftF6Y9rNHEMkQ4IXh3xtAr3ctwj9um1ZPXtp2WktrL7Vu973j81xNmF8PKMGm9kt/wDt6Vndbqy1fkrM+Gvivez6tcXfhqK/TVbvxHeTNealHIxgEduEWS2jXcdkUdztjfaXWXG7biMGvvqHLGC5VyqEVf8AvN6dr69Lc2y72PxbFOU6k3LVzdrvdeel+u+muyvdnypqem6lqT3PhfTYmEE85sIILaM75orC0XTY/dkn/fCRtw3faJHGAAK2WKVN+8/LmbWit07W30/RChgJ1I6J99tG72Wltdbt6yto76XlY0T9mi/8TQvaNZtctZrJLavDDsMc8jBZvOfYfM8yVC6KfuKeCOBWNfNIQs1JLe7vaVr6aaPqrpW7e7dM9HCZHOpdShKTdlstL6We+reiWnR9WjP1D9ljxv4ajuJLHT7mV3XCSyR7mjwcuqfdGCuVHHscZy10c1hUaV156u61untfprs7dHb3eqpwvWgm1CVuiemqbsr/AHN3Teut7pR+TPiJ8PfE+j6rJM9tdCeIFQrQlW+XGY3HMbLuGVCleAM7c/N7VKvGUVe0WmnvdfK1npfe6V3Z30UvFxOQV4N2jJtbQtq/Lp52s/ut7vitzNfaILm91W2lF/dsI13RkKsJQo3HVSBtyOeme2V6opVElGStv21301V9f8Pq9GfO18PXoNqdOSe2t7abdP7rdvx0SJvB122m3E2tLbrcWvzRXZOWe3R/vSEDkLk9yfbGQKc4ya5dbrbXe+3o9NdW+jto5csZWlql59H1207rbXXv8JjeIfEb3uq+dZNKsPm7kPmMmCG7BcHjnH3s5PTJNXGKjB83npbd+d1ZX3s7eTdjRJzklFtX67aq+z1Sv6dFvqdFo0+o3e2SG7uFdTmTcZCjHA4bCbT2ALEHoMHArmnOndrlVktU2kkr6v4Y9Ozt103PYoYFzi3z21+d+/521b7W3l7z4V8PeJodPGqwM6x3Dqpc26SMSpI+V/8AWgAg8GTA9iSK8rFZhh6eloq26Xl5bNWeuq666Lm9zB5RNtPruuZXbXf4106tffqe6+G7W9geK81W9g+T/l2uLZJ15HJaOdHjHfnAIycZxXkTzqjrGLWu1/68tlZa+VpfV4LIqVRxc7JLd8t1snd+95d/nL7PvehaxpcsAs9JsdHsrqUbJ9UghiW6A77NqgLkE7gFOc9sg1nHGqprKTa/l3T/AO3bxt9+mu11zfTU8jwCUYUmuayTdtfRu7t9y0Sseq+C/Cvh6O/tL2423k8HmrJdy7TMm/hwGPJBUkdGwDxwRWVXFuzS0Wjsvht6aK/q/PSzO7DcNUbrkXNJayb1v9myfVN+UX0tex9TeG9O0G+C2Oj3VvDDAvntEjoHkcZ5l+Ubm9jt4wec15WKnzS5ou8pW/l0v6Xdv1Wlr+79bgeHIcnK4pLq9Peb2v7t7O3Rxs1uk/d+hPh7aW+k3EMwSGcyMVmuGVCURtwbaOMNtJ7ZzjrgtXl4nGYqjFNJ2VrK/wCbXpb4UvNJn0WB4My+tJx91OStKXLFys+10tXfXVb7s+0vCGq/DpbbZFHbyXNuFadJiA102NrRNlenGfvE5H8WAG5I5pUnbnduZO+uztfRaWu77t3XSzO6fA1OlTlKjC7hd68vvK3Xol16pX7aR4nx/a+ENJ1a38QeHIbby543i1CzI3i3WZdkmCqZ5G4gruxuBLcYr0sNmWnJKVmtYtN2b6Lo1ddL+rV1y/F4/g2oq/taMHJO7qQ5b29fh17Pvrpfll8yeOfBMep2NydEYf2dcMbtrddrvCshyAko+cIueFJUj8K9XCYypNtXd27J23XV/FbZ/N6tLaXyubcLTpQk4QfKk3rvH0VpWS1XXVb7I+Qvix+zpqGraK+uWV3BrYtogyxNcKLy12KNwMe0l1UjAJZdo9cYr2KOK96z72d9brv/AEtO0r8sfgcwyGpCLkouXX3dXr8l3/mt00Xw/GQ0X+zTcaVr9xqKwOxRDCN4snB2oJE2kvGDyxBUBR3GK9NTTas13t38umnfe/XpI+Tr4KcXKPK7a26Wt1ta71Wu79do+U+I9O13QbwNos2n6qsD4S5t0aFIVkPW4TzHJYKevB46HqvZCpFq12ra20d99No2+5v11UvKqYaadrf5WW+lo63fV/d9rf06yuNTjhl8QW9hqtrbjzpb5j/pNm2N3+j3HzFTnj7nHQZOKE3L7Tu76arb/PfTp6oxdNQ6KVrvR26Lr19bLbW91yx2viTwJrF/crqkk2lXNkog0uObFw99LESEWa4+QmEgZCgNjrzg0oXXNt3ad9LLdK7f9Ja25jOau9U+ttl/Vul+3nE7qTU9DvPC2u61qz2ln/ZVmE0iM4iguJ0OxRC67TJNt5ZQOB9MN0RTaXXo7deqvrbX/t2/TXUwdk9raefa9ur1/q2541b+FpfHGraVYeH401DUZQtwltauLmbeyb2/dliU4B+Y4A6gdFqmre6uv9aP3m/TfW2pLtu9tvmunnvsJ4xmvdAjstI8SHTdPgjlmgWxnlR5ZZYgVIUFQyPkfN90Z/iqNdrNpbtapL9Lvrr3XeJ7q+0l5fqvzdnrbrc8O8M6FrnjrxLZ6H4bsYJDe308d5KuHEVuhZkdnBcIMDjg++Dwu9OKfnbVfctOjt5rbZXvcUm42s9X08trPdrbord0/teb33hfU08f3ml6dC0+qWlxdW221kJlSa13L5m4OR8rLvKkjjg5q01q5arRJt9tun4tfJ3Zk38KSve19f6Se730vtLXl+uPhbrUWueBbjRvGDxz+M9B10RafqDLi4FlHCjRQXbDaXijmaRz0GfYYqKkotJpXvr2Wv3vVf8ABs22UotSa1smrrTR236PTtd+a0Mn48R2Fp4+8Mjwtdkw6r4ZsX1a4ERgsobu2QC6ALlEdEJLbk3M44GSVKqy5Lt6/O93pbffp+au2xRu5W1Xmrq2q/4drW+ys23GP4brfy2una9p073t54N8RQWzLb5MmoabM0yiW2ySfmygXcWYfMm0n7uFRN200ku97aaadna23pa500nZ3TvZp+ttHZ99FrpfrsnL9Nvgl8Yl0zx9/ZTXzx6TqpttR0tbt3wY7lUxFC5wfMtbndHIjH5Cs0RwRXy2b4KNSnKUVrZ9r6X323WtrSv1asmfeZDmkqUoRlJ3bVlzO19NV7t73XdX6bXl/Qf+zf8AEy71/TYbCbckqMbeaNmx5boNyOGOQyyp8w2cHIPGNtfkuY4P2FWUraNuzfz1bu0mvNJata6H7rw9mLxNOFNvW1tXqn66XT0t8Xmnex9rWKyNl8lwy7Qo/wBWPX05XOee3IPZfnK0bz3utfu89NOmt12V7s+sbcYqV93t/Tfn0XbrzGa+no99M0iMyKARgZx2yMdTnvxj3BBrJUldN2eva78rLm3ez1W1tbJnZSrXhvb/AIbVfLR7v57x72w0iCS0RxC0p2nDK21jju44OP8AvkDvjgt6WGp3cUk3rrdP5WfR3e1vVK/u8dXE8k7u7UWm9L/c9NV1vu3dJJuMfMfGsNzboVRvs+S20D5gcD7pbnjj8jzjO2oxVLW1m+/rfza1Wm99Va2p7+AxkZQ0d1y3WifrbVNJL/hna58sX8T6n4hSyPzgn951I4bk45x+ee2Tj5vNnRahJWvZfO+uibuvO/y0UrHkZjNOXne93bW9/JO1/lrfTaP01oehxR6RBCka4jjG0njGB/wEHkA49scYDMYWknvaz769tFtbXf167niVfedrvfTtrt069v8A0neWXcSy6dOYmdbh3OV+TJiUEZGeCDnAGPqM5JrsqOMFs3bR/itOn3qXaxFOjK611f4a9tG7eqtfra0udvJhPLiNi4U/Op+QAsc4Hrg+v16Yrlm9e66Xs7367/8AyPlsmegqLXm7a3u2vySttu9N5a3Mi8aVohEAqFjg4IJAJwCThfXPQj64w103tfa9vX/Pr+N9wdNvtfyTXbzl18r9dX8PkHjaMWKFEbc/mKGzn7w59R0zjoffFe7l6tJve/8ASS33/wAK21TPJzSk6UFO2jV/W72vZ9m9I37yevN5gsJDvLIwKuoIUDIQjsDx3wMjntzgivqcNTTqLo2rW7X17Pz31Xn8J8djaipU5VOq1+/zfpbWWn963Kf0y/8ABN7wPL4U/Z703VLpNk/iW+mv1G0K5g4jQk45XA4BJ/Dmv2/hanFYClprzOV9Om34Po9NtbH818ZVp4vPq6vp7l0m9Uk9d3qrLRpWXd85+hHfGCME/kMdeD1z7dPxr263vTirvR20+Vk972Tt/lufMW9grW1aST+XXbt52vfyAd+Mc/n/AJ/H+i3KLhaLv8K3/r/L9ZRDW77v+vz7L53tGdRgD1/z3pPTT0v621/G/wDTNH5bdvl8/wA/vHUhBQAUAFABQAUAFABQB0ekf8ez/wDXdv8A0XFWU9/kaw2+Z//R/uIr0DzwoAKACgCRD27df88f1/DvTeqv2svlr6duz9QJKQBQAUEz+H0f/A/Xz/G8WuMjPpn/AD1Hp6GgiDs7d/0v5P8ANfMhoNQoM6nT5/oFBmFD1TXf+vL8/uBaa9v68/y+8jlG5ce/rjOMnGfr/nrVUn7O+zune90tbduft/w92hv3rt2X3tfhG/4R8mfzpf8ABwN8LH1j4V/Dn4oWttvk0DV5tHvZhGNwivPLCI8vXaWOQrDk5OAB83i5zRUsNOrzPm5o+703v19fK9tleLj9TwxiWsfSpNJLkn9q20fPTztrd27JR/kMlhQzywSsilkDxHjKlT90jswP8PHbPHDfDYiFld6PW+nft72tlZ7Lrbe0v12jNxjGcbPZtX0s9PV/O29lsnL1Twc5k8uAHcsseHBz2XnJyeBjvz7ADK+DipOKcl0fV7tdOuzenl2tc+iwVqnvOytr36dNreVk/J3Zz/xF8KzXlrcKoGPLkCfLztZWyD3zx3PA9RmuCOMqqSVorXVeXTtb10d90/dR1V7JO217366abXjdNeXX4Vb3vhazsZ/DPiiaJlZDO+DnhXIOcA8c9vUDHUktXtUZylFystbr0T6ta76PXrdpq1zxqq5Je0XSS021u3576K3yVk2z9Lv2e/i5caZbWlnLcAvbyIEWWRguCuEAwRnIAIBfHTBGNtfN5xgbz9olK7abdu73+FtO67erdve+pwWaT9jCm+Vaa6tPbZ97X7uPWzuox9w+MvixPEOhJNdt9plicyW1jG+3zJXQZZmDj7oGe5LYB4+asMHSlCNrO1tZb36aa766/D28zb6y3UutVbRJPW2urvLrbS/lrdcvytLp95Y+H7vUZLxzq2pzG00/S4l3RWNq+FmnV/M3fbLjPkLKu1oovMI3B8L6uHqxpyio7L4pPr1+SW9tbtK2t1Hw80hUrQnKVpN/DGNtL2d0uXTpq3LbbVHReC/gd/asF3PfPGNQs0gv1cxkJH5xKtZ2xdAW8mErLIxyzzFiSygCvaeOTioQdot210ba2b959X1fkk7s+JllkvaOU0+/zcr2Wt9l21s3e2h1ng79nmCLxDc67Lpca3X2C9FuRDsghlkXy1aNMYDETOQMc53DLKN3jZrjp0oW5nZyi3rd266W0/8AJtNO6PrMiyyNeXvxV1DTS/L5vSG10lvrppa59ffCH4M6XpUd7Pd2cCiRovnkij3EoBnAIGSzA5AJH44rx/r0a6V3d69W/nfS+j6q730SZ9XSytYeTUYqzad/npZpP0V4ra1tWzoPiL4K0Nkks4bOENs8zIjRW2kfeGAp6kg8YAHYj5nh8XOlUXLLTu9tL3SutNErOzfm72PXhg41YWlFbtLRfNK6VrtrdvporNn5v/Fr4KaNqt8872MUoCSAtHAMeZsO3zDwck8j5uuAMEEr9bhMzcqLUp6pa2e7/wDJXv8AlZ2vFHFWyalGftFTtdNrTTmd79VtfttZ2jdo/OT4t/syzajavcQ2yo7GTyooo/mjKsQDwMclf4u3fBAr1cNmdTmtF6aab73ej6aO2y1TtbXl+XxvDNDFa1KPM5PW2lt1vp+quvO5+dPjjwJ4n8Ay3drLb3dvBKCsrKjLHJGG6uOhGT0yODnttb6TC41VuXma5kuuzfZe6luk9VvpdfZ/MeI+H6mWynUpUZRoxTcuuj6NuTa23SXe2qPL9PkDzwo6FiWyCDnPzA8gjgfn+PRemt7Som4ad7W7PW3u+fXzbdj5zBeyrNWjy+Tbe+l7uz0aXXu1ax9i/Bmxsrmz1xJbaF5BArRb1DbWATpwCG7DG3/gXSvmcbVdFVOZ97dLW367u2vxLpZr4vvMtw1NKKspO6Xw97WXna6e2rSty2aPvb4K+CIPE3hr7P5aHybhwQFDFV3em0YGe5bjrzjDfEY/ESd/ebemilrdpa3s12fTz3ufTRjSo6VI7O/+SVlZ+WiXTSx7ZqXwJtzaER2TttUAYi9upwc474yQRgckV4kFUlO/M276dV6JvTvrve+qtaXQsZTjH93q7WTve+26ejv/AEo3SPKR8ANb0vxLo901nd2thqdwVt5lkZI5Sgy4WMMRkc8FQBxyea76dTEqSUZtrVapdPN/jddGlaxUcZUhTc4ytNLsvl+d+q06fa9+tvgD41AM+mSXqQvg4MeVIPOOdwPfnk44HHNdNWvVcbe0s7dldbWsuXR+rt1vGy5tsvzrNva8rxfuJ6p06aslrvZNvTXfu3qX4/hX8S/DSPf2Vvcs8ALM6pKCxXnacDb830P45rmjiYKLna7Teuvp6Wev+StzH2+W8S1p1FTq4mM09JJxirp+lndWfbfpZHd+ALv4papC5hgls5IZjEyzRuctkhuueuAQSfwGa5JZrGb5K1mttdl90F96fydrn20c7w1GnCpTkoytvd/e7xl8kl0sr2PcdOg+J1hIssukXFyxIZmtQ4LHrnjueML83U89q5FWwPO37NatpXlLS/yVtVbr3cd0e9h+L6coQU68bJWe3Z315LtXfZaq+nMkd7BrPjy4ikjTwfq91cuhyrWxcSAcMeWAJ4OPu49xiuiNfCpe7T2Vt5q3ba9raW+JW2WnMVV4jwGr5oK61eyd9dfde9+j+65TsfFuvxST6RBoEsd55P8ApGmiNhcR+rSxjkbjkDjBIz8ucV6FLMqNOySs9Fpd2e1l7tvLW2y0WjPHnjMtxDm6rg1O99HquzcUnto9HunpflLVv4I8a+I0dLXwbd2kszZjkVDHHKWblWUnb8x6llX/ANBrvp5rT5lZb20u7277dNVpzW/A+SzPDZLKM4r2cP5Wuayutrfd11vbTQ5rWf2L/ij4pMlxD4KmjuH+cwzfZBb3AXL7lIkRwTzwCx5+hr1KGY3tJX5X9nrZafe97W27XPzvHYLKZynHmhGSb2UmpO2+ys9OlrWtqrs+V/FP7NPjnR7i/wBKl8Dy21yZmjZUibYXTII3MGB56EHt3/h7Hm1KO7t2u97LXfXW3yvZbnzWKyrBzTdNxduqWj9brW79fRX97x7WP2X/AIlQaNfO3h6/s7a+JjjZLaYx7owSR5mzaeccDb+eTW39rQjTjVbfK7tO+js+j1/FK3V6HzVbAU1UlTjr/V/5U9n3+69j5A8a/A3xzZaYlre6VeLLaTyPBdR2kwkjbfjPADMxUep9sA0sPnmGqzaTV305r6PZfir/AH2i00cVfL3GOz8tO/W3RW/vvf05eftfhB451yHT5vEd9qOn+CdEZZ3S++0KlxNj5/Kg5yzMAMn8u7exTxkbPkkrvTlvsv8AwJ3TXaS9HZnmVMKo76RW9+73Si4q717672Ta5e80mdfAsep+IdJjl0VorfybXU8L9v8ALUFA9sYWMdvuU8mVC2Dg4NbU8QuZ3fM3pq+u+j63fu9Oyv8AZ5p0Oq0S2dt9Omu9rdVu9rny3r+j6h448UNdwnUtbnaV55L69LyQWiynLSQ7sqJDj5jwCeuMZbdVeWD13+zf53vp3eu63stYnO4XaT1Xe23Tu7Pt+u8vZPA3h3Sfh1oev+JdL1a9h1cWkqS3LXMUD+eFIaGBlVjGASQGC5PcDIatac4uKT0v1v8Al7sW33V15GU1Zt2vbTa3o9brS6669L3PM/g/Bf3D+KfG8qzS3NldXs8Ujn95cNcuyuTcYDNgNueRl+YZBYYG11krqDkrSSs077aarRPuvv1TfM6WvvW1WmvZfL5Xav1S0SNsW0pkufFPh/xHp1xd2W+XU9Htg4DvK4/drIWxNOq5VyUGBztNRFWjyvbe/wDTt6X32S3RpLV3i9ZXdkr+nXXo3deqjc73UItV8YxeG5NS0S2it40a2RbnCXLrcbVG1m24VpGABAzz3z82PNFfE3o7J6tbWXa7s09mrO19C1SnLWzvvZK92/S3okr31et7R0/hlZXfgK2+IXgnU7iGLVNM8Qf6K1vGN0gm8u7ihEwfAW1lk8tZFbDNuIRdyipxFRRlHlejjFavrffRX1u9tdNXpY1oYaXK7pt8za09NO/dq1vNrVmjY+K7lbnSbBZRPJp2prqdjdgCG7t7a8fffWcjKuXhS9jeWPceHlOPlctXDiIqdOT01TTV9E1s9El6WXTqelg7wqxW1paaWur3s+mjvte29nax/Rr+x942m1fTfDmsW80gE0Gnx3OHBWaWCKOCYjLgmQSLvxt+6+MnBavynPKH7ypHVNc1rdddFvbtpo3a+mx+2cN4lRpU6ibs7Xs7NbK63t/S0vY/anRL5XtYJpQjxvEgV12gF3HO75sqwwcg7m7njivlZ04KnqlzX1vvby0Wnn17Kx997WpO3vtq/wDNurrpe6vby1eqdjqLaOCCRZ1eOYuyq0fDHB749Mk8fmR0bn5Iq1krdvXs776dtL30s+b06VS0dW/v2tvrrr89Pete8js4kVLZpIN2/GThdoXK4wOucYzjac9CpyTXo0lGNNvls7dLLZ9N7LZWT81e3vcs71KsYuWi6P8ALddr3vtrpex8+/ELVI7AzJclnkYsR1AbGeV67RjjAJzz0xXFXlzJ269tbW6/Ct1rfZ9E9z2aD9nT0SXazt+SSevkn1V7Pm8M8F2S6r4lub8REQo4UMB8pGSSOgzwew7d8LXnTvfdtX26PS23vWXe992viVjy8ZUcm/e19db9OitqraLW/XQ+p4ZY2tRHDFhYl2ngYJCgdQB19OfqcELpBWSt7vd/p3/F/O9zzUp33lfe+q+ffS1l1/A5e+tEnlLR2zb2J3ykfKBxnHfPv+GDyV7lCLjeS5utmvyev3W102tc641eWzv21Tvd7eWu+mvfpc4fVbCKLzBGShctyeCz+nrjJxxjpznK7eGcI8zXzva1ktvmttrdUn9qo1arcbSbTdrXXl1tslZLfbdXRwcss0Vwlu4YyA5LnO0jsc8AevT345C5uy+H/LzS9fs3fTa3xR76LenNq7qP/BWm70/K+lzzfx/MY/KR0RpJDuyeSR69STj1wMjqeSte9ksJOTcnzb6PR/K9/wD0n77WPms6rS5lH2j5Yu3K9UvK3/bzaSfnpdqPA6RavqGrWFiitLJeXNvCkEY4LSyKgGOcjnP4fdbJr6vK1Kpj4xezl8L1vra+nW2mzerSvaTPj89xEKWWzkkoy5b3fy8o20vt6NLRy/r4+Avhs+EvhD4C0FofIlsvD9j5kQ52vJEshBHY/Nkjnk9ulfvWX01Qw1OMEo2WnL5rf8et2/naP8xZnXdbH1avO/ebXNpfRvfe3RfgrbnsBbJOd3HHBHPqTwOv457niux6vmerve711/pHmzfPrJuT31Wi8ktfv6+WqFU5zjOOOpz6/wD1v8im5OWrd3t/X4k2S2/y/r+u5YTp+ND6en6sB9IAoAKACgAoAKACgAoA6PSP+PZ/+u7f+i4qynv8jWG3zP/S/uIr0DzwoAXHAPr/AJ/z0/TLAf1/X9L8nJKAHp1P0/z/ACp9Lea/C/8An3+8CWkAUAIQD1/w/wA9f85oJn8L+X5ibB6frnr+X8/yp33XciF76bdfxt+PYiIwcf5/mf5/lSNRKCJrZ9goMgoANu78Of8APIx168/TrTWn9X/B29PLfW1g/r+r/wBfcfDv/BQ74E237QX7KvxJ8GOzR39hpUviXR5Vi8xv7Q0hGuo4VXehHniHyywJxnO0gMK5MdT9rhakV8WjXyerfTTprrazvdHoZZX+r4qFROz2v1V/lLr5O/XdH+ej4m06bSdaura6Uxz293PaSqy4aKWCZ4ZFYHB3CSM8Y4J5xxXwWPpODaSdrX3XXfbz8tLXvK/u/suT1/rGHi/LXpfrZO9kru2jv2vb3uo8JyOZLZopNgil8uRfUFj8+4gkEkdgyjsBnNfPYmC9k5Wvt+LtZbdL9dL9Ej6zAS5W1dK17XV+nf8APfy7x9i1/Q5by2WVXTyyoZyeQBs+YnlcnrnnnGBjjd4D92afZvy0bVuj72Wmm+ujPQn7ycbNJX1Xk29Nu219dlbXl+G/i54V+z30eqWy5jWTO5eORz2yTn6g+2RXv4Sd1Ds77O+uulrJK+zs4tb6ux5OMjJ0207NTWuyejSev5ej93eWZ4H117HUIedhPlyxn+E46rw2c+nOcnI6Fq68fh41KKlt5r+mrd7Wt2erMcPXnHRtvW/W+votE/npfVXPraXUpNe0mIxT5njjQeWz/N5b4BbaeuP7wOcHPbC+MqSp03dXttdWf431V9ddLWd9D1aVaV1ZvW3V9vnqtOln8OqcTtvAvgy41bW7WbUFabS7E2wiVmYJKYsMRt+XJZmwMYOD/EcM3m163s4uMVaSduml+t3a/wCS3d72Paw+ClibOadrJvzW+iu2+i+JN226n6KeC/hvHrLC3ttOEL3G071T+E4AXPOQq8DkNxx6Vz0cclL3pL0ffyfrt+N9ZSwxeVpaKNtWm328+mmi81qj37UPg8NA0FBdRRQXEsJjVVQbwcoUZhjPzgHvtx271z5niPbQbV0v17J67NWdu1tOb3e3J6HsKkY2u367X1V12e1uZbPW/LLzmwSHTpVsJlUMsjKyPlSNvKMT3yTwc56HC/xeRhpSitb2bvddbaNeul9ezSTveP2VWh7RKy0au7K97+dnt/29t6OHM+L9Ma8u4dQ8soiIyyKDgOo+78pIwp5z169VArrTc56N6JNK3Zr0vt8t7PRGMV7KXvaeS8+2+ren37XufOXizQFkaeVLaNoG3usTqxPnclVRl4GWwGJJ6ZOckV6FKVRK+1na+7t0W7u9+1umqSO2EqdWydrv7r7a2Ubt3fl11bcZeQ3nhDSNQtZobiwiFx82ECfOSTyMcLjOOcjnqTn5vUoYmorWkrde91vt6/d6Dp4an7TlcVprf5u/TW7bsvd8t2j5S+Kf7Kui+L7K+eS2SZnjZcxh2Eeeig/dZh3wevPynaa9ahmEqco+99ryXn59dL2ttt8Isx4eweYU5UasIuNSPK3rez27bb776O2h+S/xc/Yw8X+DryfVfC9nJe28TmQ2bLiTYPmJVsgEY6Yye+D1X6rBZvCcbTmrpb/J6Wst+97/AOKzPxviTw4xGDk5ZZCUkndcuqveW3NPXrpp6u7PJPAfiC98KeIH0/WLOfSmnDQTpdxPDtkUdULjayk85JOD0DdW5Mwo/Wfepu/VpPVa+aVtX1va3Ztni5XhcTl+mYRcHB3u7K/R/C5+ad7ddkuY/Sv9jf4l6HdeNb7whJd27NLi5iUMCW5wUBHBOSD09+MV8hjsvqQ95waTe72bWt09b9bbWu0r2PoXUoY+7pyu3t8XXVPVR6Jpd+sU1Y/bfS/B+l6hpiyJDDtaLcWIyE46s+MKOO5XAPbB28VLDt9Gt1vvvbS8lq99bW11v7vNOjTwzvUaVnv723ZrW6te2nl25vgX4pfHT4T+Avjz4J+HGr+KNNad7zGpyy3cculeH1lOxBPOhkhhmlYHKtJlOS23ivYw+U154edVRbWvLJdf/J1qr72+9swr43C86pQmm9NPfVvw+936X1vHl/bj4PeFfh74p8O2WoaRq/h3W7WWFSJdN1KwvshlGMiG4lYErnjAPOSq4r5WpDEPEululKz0V+zslbqrXSW10n9qZ08RCHtaSvfZ2jZ6J9enVaLtpb3vfLH4U/DKHTtcg8SzaJp+k3Gk3Un227v9OtEtJ4omaGUtcXEeFyBuzwcckdG+iw2WRq0mrX01WvxNdLuNvL8ErXlywq4ijVjNSettNLXvd9UtLW3fdW0kfI/wg+F/grxhqGr3PhPUNM8Q6VZ65dWP27R54Li0aeOUgxiaIvG5QgAlcgsfYmvJxGSpVXy99Hdr163V9W73V1ovetH1q+aYn2aXM9Ely2XbZddd9XLquqlL7T0z9nGPCKtko6EhBnt07Dnp154HGMr508t5JNN6XtrZNdP5nt0V7Lezt73FDOsQre89LNLR/c7LTfrr0SbPT9A/ZqslkiZ7ILJ93JUdG6jrznHcZPr0FepgsqjVst9fXr/jS00d131TtY5cRxDiY6qo1/4D6a9k79Xs7KUbNy8D1H9mXR/D/wC0o9vLawqPEXhiO/jRwCT5Mu12jwUGB1OVbtzxivSrZDyQUrOzX9bzS23v/wCAreN0+LMQ4xj7R3UUm7LWy6Wha/Tppqm/s/aGh/s9aHp/2eY6XbXQwuUkBC4PQnaykHoTyT9eN3JTy+mpW2a/xaP8t9NvuRw4rPsVUT5akvw29V2evTd+kvQIPgLo0knmDT0tATvRIy22Mj7pR2fIIPc8kDHzZyvZh8LUVRpbLrdL+ktPLr1OOeNdSlzSqPmtrbq/vivx+7Tm8q+JXwc8CaIbabW4tNha8v4LaGe98qHzrqc7ViWaT5TLIflRc73bgbiQa9l5TRqRUqkrN2d1fr/29HSytt1vZaHm/XMXKbVObt2bWzvpq0ra336Xs7pml/wzv4K8aabY6bd2FrFp9p+7S2SKKNjKw5kcbFY5HOWByvRvmWlPKZVacaEaqVFOyeia81eab3tre23mcVTMMdh8RKUqTnFcrclyr8N79Ore/lHxr47fsSfAjw18NPEnizXrTTNO0/QdPnvLrVJWjjWExLuIDOyh36YUB93YKfvctXhuWFputSxCckr7rXbW7m7a310fTZJnp4LNK2YVI0VQu5NL0v8A9up7aNW66NN+7+Wnhf8AZH+Enx08JDW/AWq2niHw+Jp0YWk6qySxsQY5rcESQkEZ+ZApX7pbO6vPpY2dBSjWqJyi3ZrrHa+3fR6PTvoe9ickqcsZTpuHMk7Na69bcy6+tr6u3vHxd+0F+wRZaOht3AghditrpNqMGYDsQmGJ4BbIx+fy9uFzVTlb2ifd379V+i1s9X0UeGplC9m7pK2tktb2/wAV76dtOijZ83xTrf7LniDwetxdR28lrpYiWOcCRraJYxz87rne3OCuBzx3DV9FQxlOdkmm77vu7Lz8td9NLXaPnMRg6lNtqm7J9N0/Lby/4OqPgL4vaPfWuoiGa5i0zQ7Oculsksfm3jqW3M8SMGZT/edSx79Q1e3CtSVOys5SWlt1vr6r1162ueH7GrVqcsYT5U/va6/j2ldvRaFPwjZ+O/F3gmfwf8K9KuLifXbqW21bVkgd2t7OV9nkx7kCRZGTlGL9fpUTxNCk+arJR6rVevlrbvuumrcfZwOQ5lj24YWhOVrczUXZLvsl+b81ds+2vB37B/jvSvB/hTQ9K0K6vNUniudX8Q6j5bzETM0YihcAqFChSSHbvzjIrgqZpQkpTutUklfRL0dtPRb7taxj9L/qbjaKp81OXNy+9Za7W7x+/q102l9A+F/2OfF+iabeeIfFemvcXGmTQvZxyLzH5R3ReWgJAQuu84AG1QCHyAvk4nOaMHBc6V/u0s7LR3Svq7ettTuo8LV4RcpU3p5bfi7d9Ltr+WyZ82eLfgprWm+LPFXiK4hmZ9avIJTGkbkqSIyqhRwDthbjjAKjnjaf2lCsoNSvaz0e8b/K12/N63e/KcVTKJ0HP3Hd76f8PbXsrtNb6o8RvfCctpNLrNvA9q63TWZgnVhKd0ks0T5bIRH5UqV4IwCetdDxUaitfq29NErLZd+nT8U5cjwjpzUnF3Vrqz36d01v1jtpf4T9sP2ENR+x6GNKvJP+Ph4Z7dwzBreXjc8YPyhQWBcKQP4uc/L8XnUOabkldp23XXpqtGlZ6v8AGPvfeZBPlSh/Naz2s3qn1677aXel7S/ev4b3129pbQ3MxuAViIDFTHIQFG/5DgHAyM5yMZIwN3xOJhHW2nZefVeaTfS9nquX7P6bhKj9mk7a21bvfR66R0fzst925H0ZZaZZtAJiAzZ3MACAueQeOcjHHXH1GF4NddP6+bS+Wv4WPQU3bRaa313fXolfXXSW73OinWK3sS8UJcgFi7SfKMDA4OMkD6c+uQrd8b+xlpb3fvdk2u2m/V6a7Nxuk+aqm9tk99d/J3W+3nd2Plf4iI9zb39xOFYZkEXzfMCVOAOVA7Z+bA6DHK15sno73Ss+l1volZ91bfde9d25u6rU9nGz+7TTzvvttv8AjePPfCnSbmS2kmRFKrIWMgwFUcnB6cnnpwTwc8GuZx13089btvpqui9dtVqeLVqPmve7+K3ZO/XZ7322dla14+5LHdO6C3VFjBxMTgZUDqAe5GTkdeg6GqjolfbR+XffV66X/JbDU27WSWyd3fXr629fNuP2s7UTbQgnc4I+YtkAHGc5HA5xnPB7nOSrd8Nlbv8AjsrL+vuKVJOzu9dNrta37/Drb7L7bJnmmoLNdXRljYNZAk7xtyScnoMnj0BHQ8dK5K8ba90lf56W3Wur1Wmi115ujDq8rOPwu3r0v5PbS7ttpZuXC615U7mJGKHcCJFGHO3tyRwcYxz39hXDTk3LuvPTr+nz/SPoz9xXStbp38vN7du/Zy8H8e3Es+pZWQCK3jWMHGfmzg9cg5z6D0J4r7XJaScFJparp1dv8WlknfVW2V7XPhs4q3qtaXb63t09NWut/Wxf+Dge8+JHhURw+c1trOnTTlxujKrcxfKV5DYwTgY9TnBr6bJo2zKmlHVzXnddXrtrq997NvRnxfFEZSyqo5NqKi9rap6aJX0s/JX7u5/Y3pGz+ytJ8sbI/wCzbHZ2GPs0XG3oMdhk44HOAa/dqUeWlSX/AE7hp291bPez+Xn0cv5om37SqtdKk1dq2z6aKy9Ommm0b+ck/wA/XP8An0/Or/r+v+H+4gtxqMcgdh+Pf6/WgByDGfrj8qL9P6/r+uoD6ACgAoAKACgAoAKACgDo9I/49n/67t/6LirKe/yNYbfM/9P+4ivQPPCgBc8Aen+f89f1woH9f1/X5Ccdv8P8/wCfWgCVVK5yRg+2P6t79x+OflAFDZJHpnv/APYj+Z/rQA6gAoFJXTX9fmvz+8KDPWDXn8v1n+X5kL/eP4fyoH7Ty/H/AO5jaBczlaO1/n59ofmFA/Zvo/w/+6BQS4NK9193/wBu/wAvuFBI5H+f8/56UElW+s4dTsrvTrpFktr63mtJ0ZFYNFcRtE64PHKuezfTJo5PaJwvy3W7V/6/Ht1vE5uT3uzX4tLzvbf/AC3P88r/AIKQ/BSX4KftU/FzwgkWyyg8T3ms6XsjaOP7Bqs0l7b7MoquF3ldyhhjjPADfDZnBOvKlro2ruzvd72tFP8ATsrJS/X+Gq0Vg6U7t36bdb6tX2et7q7vpdM+NPC2phLyFGdUWQbfT5+oJPABGM5I9c4r5/G01Tjyp363at9/xJ6Pv991yfaYKu6lRaWV+r2sr2WnVK3XvZfa+ptMgF5bR4lEqIgLjs6kcjBY5xzjkZ65+7Xzdemubd3vtbby3Wytvy+rbsfRQhzx1TWna9/x+XS1t39nwj4p+Fnvbe4W3t1jhjMhcKobkAkY6fNxk4LdOSea6cLVXNGDso997pXfdq3S1nfZctjzsXSlyW5eq119H992tNrX6o+Nvstxpt2YyGzFKSD90hA3qMeo4A6HPFfQwjGvTs3ypK2lm9U9Omj3enXpc8hpxb0Vt1p2v59eq1tqm1Z83uXg3xFIj2m6TJGFTkc4xweejYPGCA3I7bfNxFBRhJJyUb/8DTazV+zulq9Gd9CqrpX80/zWltVo9t10s+X7/wDhFrVlq0scMkSRqGjD5ddwlUdduMnkd8k9jzlfk8yp8ql7z062va77+7snpt2vfSP3eTVmoqPLBq9m5a2t9yv+W/vbn6sfBqa3jS3t/JiZgoKXLYJByNuQcjkjnByc9TjFfJurUVVay5W1ZptdG9LLS3TW3VW0R9LWw1OdLmUY8zS/vdl26uz32WybtH6J8TxDV7C7W58hpYo/NikGA4WJcYGAccgEfdPuetdjryqJQvddX8v+3vldadE9eXzaWChSlz2fNdWT15bfhb1j2d3ZqXwz4gsvL1+5kMm5FG5Hb5enUbe54HUt3HYVpFWsklq77Xvr007tvS1lpZ3fL6SruMV3j6PW9vnZp9fSyscb4pup7mxCw733ukTyZ+YDd2xnauDycd+citIycJaJf0l0bb1tfr6q3LEjTVbWWy7aO3a/ztsuju7+9xes6XC1qtrAjSzC33LI+QpzjO3p869CwznuR0rup1Zyg/hVtFbSzS00s0+267K6ZUKaoyUo3unze9rf8kut373ytc8T1y1nsU2vEonRzkN96QHjaXxkLg8Zz1zkZrWnWqx0vpHTVJvrbpZ9ddG+71OiNSMqnNfV6X/z3uk9LdduZ2sW9AitrqxuV1CaGCKMFvKhVSzjacqp2jBzkdDg9RxXUqy0u1e9l6vW9v8AhvPVWl7EYKrT3lz6Ws2rro99L6WXvaaeZzGo/Dqz8VWk0kFgTblyiG5iUBh0LbCMZx39eMHGW7aWIqJxs7NLSz38r2u72Vvh6tyV7R9LBxjCPLVjCejXvRTaT03dm3u72t2tZHyZ8UP2Lvh/4382G90WNNTc7VuLOPy7ncerK8ZQo24jkM2MjA4xXsUcyrxVuaNul4p9bWva/Vu/xaWtGzPGzfgnJs6jNzoVXUnFxUqdadNKTsk1GEoLdW7fZb1TPmnQv+CdviPwH4ntvE/w/wDG11ouo2sokiS8thdMfnBCTEysXUHrle/Qk4rStiZV48lVqVtmkkorstk/v8tEj5zB+E9bB6YeVRLtJTl6K86r236X+bjD7Fn+AP7VvjPQzod98ak0DTLmHyZToemixupIyuDiWKWOWMkddrZPOA22uPlpw96PxLVaPXa199vn2d/hl1VvCnF4tXqym+/LFwevkqu3ovk7OUfl3Vf+CP3i28u59aX4gP4g1GeRp3fUreaeeeViWLzXMk0srsTyNxOM5XgV0rPsdCnKlGVKMfhf7uD93b+V266/nZuXJHwXo0ZurONeck+ZL2lVK+9l+/V7vpb1toOt/wBj741/CKM20+q+M9N0iNSr3HhfxDr1nAE6fNBaXcQjO0Yyp+meK8dybqus7c7d78qtftb8Pu7GGN4TxOCh7GGGnKEU0m7PTr8Um/ubvb4leSPLviR8HPHRsbWe6+JfxKg0jUrhrRorrxr4huBKGYB0kgub1iFJOCCGB+YHAGK7I4yrQXNTcYt73ipdLvdLtfZdtbvm+KllWHq1ZqcXCak09ZK0k/JrZrW66Na3Z+jf7CH7QvjL9kjwvB4ItPCun/ELwlc6l/aUr31/cabq9vPKxaRo7xI7kXBO4nbJnJ4OSM159fH4mUuZyir3XwLVb9ns79V3drJyqfDlKqlFYjli1ZXg3Zrb/l526uXRPW6Z+4Hg7/gpv8GporRvFng/xX4YllKK6W9umqpGzYB2ELAzqGz1CE9dozivNrYhb7yer0036LV3sul77XjvLyKnC9SPNyY6MtbKPsfzfO9n/S3Pr7wr+2r+zvr8drdWOr+JgrouUn8LTwspPQF2uGXOeCQRzz6124DMZQas1G3o3bVtrorfr9neXiYzh3F6qCdRXdmkorVbr3n6emuqTifIPxw/aUsI/wBqr4Z+P9HsNZufhppOgahoPiPVJLYxXEUl2wa3mgtTlZVQ9QWDY4HXFenjOJoqmqcqV+RWclNK9uukLq/Zc1ray6HPg+F6lZyiqc1VV7vmlv1suZNa9E3bo9T7z0T9sb4FTW9q0Gq6rOTGgYvpPkgHHAwZJACBxwevXPJX5+PEeF53eg9db+0133vy326Ky322Np8HZwpWjJqLvaLhG6i+tuZWennp1W539t+1T8ML9F/suz17Ug21VZLOOCMMxwMyvJ68Zwc8njrXqYTO1Vn+6glF7X1fybVnZ67+l9jysbw5i8PJ+1jN23adr6a/a0XW+/WyTtL5J/bS+HepftR+DfD3hHT9c8S/DzSrbWrXxJ/avh9863Lc6c3m2kcc6Tx+SscgDn5iDtIKno3r1qmPrUualU5Xbbki/wANEnrsnpp5ctZd9Uws7YmjzK/Wq12V9L3bu+l11ur83xb4+8J/tv6B4MttP+Fv7Smr6trmlvBZWFlr/hDR7O4vLaMiENd6xAsl1cTIg3F5NzOVyWJxt8irDM4Uv3lWSnG7VoxW+ltNra62W2yPq6f9g4qzqU4RT0cXNt36u6s3269F3kVvGH7F37UX7QHwmbwx8aP2nvHF1dalaLNfaHokC2GjPOUDfZ7iOK4ikukVjtIIZWAxgfxeU6+MXuVK02mrNXtp362du6d+0bm2GpZFgsQquFpQU01ZubfXonp0/O6TV5flX4h/ZR/a1/Ynv7vUvhv458T3HhoORLJZNdPbYLH573TTI0AAx8zbemfmPBXajhaVSpH2ico3968n+O/59dLtn0lbE4THxi5xUmlaLi+W1trJRs93dq6t3uz8/vjr+15+2b4j8RWOhX3iOa1vtNukuLa90vTf9MvADlBO7RHMZOVdAQMkg55r6ejlOAUHJU9UlpzzS69Ltb2svwW58hmFGpTnKOGTSb2+J6bWb1W3ZttdbRZ1Mvj/APam+MPhG28K+J7q/lt3VBNLpmleRqEzkf8ALSWFI3ySc/ezjoB0qXPD4a0UrO107vRK17fj07btHDRyzMcTONCGGlW9q9XGL0v0dk1366PRp3PXvg7/AMEztX8dS2mt/EH+0hbXDpI1ldmaS8nQ4PzmRv3e7uoxw3bkNhUzWUdITtbZ31trvda7demt+p+ucLeD+LxHs8VjaVqTcZOHItnq03ZbLsvLTeP7XfAf9ij4SfDXS9NtbDw3bWrWjRt5LWsam4kQZDzPtLN8xySd3r3215mJzStVsqk27PTVr/F1gru17tfmj9ifCGU5FhqccDCkqtRWr2pwb8t7219NvO595+F/ht4QsLW4e20mwMkodLpYkUYHCqi5HGFOeODk5Vs4Xza+Oah7tRrS+92tPVd+ivqrNHzWLy3Cc8pVKEHJ2s3FK1trO1vP4ZfO/vQ+JfhN4c1XSJ7P+zYfKvQuySOJAYvK5VX+VV5+63bA7And488ZOUryk5uO3zlZ2fM9XdPXbztY8bF4LC8qhCEUpNJ2ilZrZaOK+7l176qP5q/Gn9mqwOqXradZYm/18jRQL5McpYIGDBQCVjyDgcH1yHrbD5pUg1Bt6Pq7O1mrP4ra23e+ulj5fH5BSqKdWEU2/LRX0vouW9n5pa73aj+a3xK/ZxuLOfUoorF2V763lLiLHMa8M2M5wWPC46k8dW+jwuaxai+azUWnd737fls/lb3visdksqdSXu3tJWvFrS6T2t59F5xie9fs+eDdR8MNZafKnlJHKj+aYgrg5C7PMOD5ZVfmUnbnnAzuqMTiadS7vo079FotevS66/ff3tsFhPYuOlpR3bSdtrp7dH56bOVrH7gfCewe20vT0Ie5gOyRZA7vLHlRkcLtMYPI6Y56CvlcZDml7t1pe6731vr0Vuq3a7uX2eFq8tNJN9Fb8+/R2tr520lH6ytYzLZ74i4xiNiBtC4U/f8A72cj1+hBIrmhSTT54xe++9tNNHfbTVPe+lj0qdRt8rlrvrZ67pdHur6fK3xmPqV5K+nyQTExG3LDy923zOThmOMY6n1xzkY+aJzUU4Ruk1t5PW34qzvGz1S3ietQppyTtqndS89ttPXSyvq01dHyZ8RtTdhLErja3HDcckDAxz25PB69c/LyNXVrbfLXv0td9/TWzYsW2rtyfX9Vo9deq0301ueh/DeznXQ7WGGQQoQZZSPlZ884IPJx37Hv1rntrsuzff8AK/a1nte+iPI5oPdq76PffdPT7neyd+7PT5IF8sIu4uOBgkeYegyOg/X2wfvRrtG9ltZ99ddNe34t6tFU0m47PW9vzu/ed9H18nzWXLy2tWsv2aVZQWSQbNijBAHHDDnj7w5Geuefm0VSqrWm0uqst33V1e6f37tNnp0vZ6Rdn6dPS29rdXtdJaPm8qu1XT0WNN6xhyAzy4jVn6DkA5BJxkn8Oa5a1SrJW521e/TRPr0Tbtt7urbd7NG9CFJVG7aXu1u77euvZLu9dDiNUnt4ZmeRtzxbi3IyMjnHZhnocZOc/LxTwdLmkrq6vfXp5vVJ6W0b6vcvH1Iwi7aJ6ppdUtNOtk+/k7u58y+L7u4vppdshQGckBSfnBPCdv8AZOOcE5HrX3mX2hRSjeMrb217JtN3va6+yuj6s/PczbrytSdpRl71ld/PZLTTrbZbXPqX9ivwFfeMfiz4L0CO1lvbifUo9Q1ExjP2XT7N1md5MDKKQoG5yF3devzfV8PYSrUx9Oo1zXet0krX/wC3Xvpv917S+J4pzOhSyurh5te2tKPNdX5raOyT/B7PTlsz+r+KNIYYYEBVIYo4VGeVWNFRVOPQL2z15J61+2SjyxpK+1Kn3093r/XyjsfzgudyqubbbrVGrpL3XLTa34q620sSjkge+P8APTP5/lxUlFgEjufzx/h/L8uKd7dF9yf5/wBfch3t0X3J/n/X3IlX7opCHUAFABQAUAFABQAUAFAHR6R/x7P/ANd2/wDRcVZT3+RrDb5n/9T+4ivQPPCgAoAdt6EA4P49/wD9Xp+mWAHk7sYOCOo5/pnOPr9M5NAD6ACgAoAKDOp0+f6EbISScj8v/sx/L86DMYRg4/z/ADP8/wAqNv676+f9dtiofEvn+QlBsLx6H86CZ/C/66/1/TEoMRDnjHXI6deDnj8vQ/Q81UXZ+un5d/8AgfpJNX/D8H/Xf0ex/Ll/wcF/AWMal8OPjzpdmFXUbW48J+JJooCoZ4THJp807RrtLgl49zkNg47Zb53NsLbmq8qs0+66XvfZ9ez6q9uU+54ezC0Y4e+2ybXyW19l6auyja0v5YLYfZdQaN23RpIwXaeVI4ByQCc/U59gRXxeJTqRcmtYrpvur+XS2qXyuub9PwM+ScOnMr+l42aVnur9vS1nzfUfga+MkFuBIVIjQ5JHzY+8pHbgdOOp5HJr5/ExS+V+/wBnTS+ttd9beivH7fB1IyVlpFq34aW6LRXs2/naJ0XiOyjvI5kjiBSUO68dX2HgDtnAPPvjrXmubS7ap3+fyt0+1tppuGIoxe2t9Nul995JXv2a+5c3wt490Y2epSt5QR1kkDqOylicZwucHnpznqMAN9HgKz5dW36ve3krp6aaWts72PnMZSUHZPV9bJra2j81vtropNax47w7eNaajIJQyxqw8s5J2sSPzxz14+h+ZevESUo8uj2v6PS93a9uqvbzVly+dSm41Eul/wCvstdXZre32ro+wfhprl3pusWzrKUWcIVbcdm7qCenJAxye/UZO35bMKN4y7Py1bvp129GvLq5fXZXi3GUYp3V4vV31a+V1u99Oqeh+tvwa8UXV1Z2yCTy5lVCSG/i3Dp68dOAOeRy274zFUeXm6b2tt2sn0v8+jeukf0LC1een7zumrW7+S/4eXS1r3l9ep4kkl06VJCN5hdHOcEkr198npkenDYNZYdNOz26tq2mt7u+1+97d1d821SKtZaPvv5921u1fTTVato+WfEkq3s1xGXC3Ns8nlNuwJEJ3YJzglTjv3xg8FvUpSTSjbXbs77a9+rdr63b2vHBwavv5tf8Pbv/AC66vozzI6nJl4Zvmkw0e0c5J43fd7c56YxxkYKxVVn2+Fqy+S0v87/hpc66MbLz16fdazk1066u2+vLoXduLvyVMnlG2hjkhIBJlnYgGP7uMMeCT0zkZ+7W1CdpWbdr6eq17dNVonfzHVi7XSel2u7tt27dV1u7bHkvjeBJ1ujKfLlVlj55G7nnt0J5+7njGAMN1N3frd/0zzuaUJO6dtovZr3VZNPXbs/W94nk11HLpEaBbgqXkV2MiAKq+m7cfvfTnqCSPmtJ/FbTf0t2u9dNt+jbV/e9rBYxc0L7XWjtr5dLa3Wm773seg+HfFX2uGGxklhSIMT5pIBGOcADGcnAHB65zwa1hU2/zX/yDW+uiS9fdPbnX9o24rVu11p+mvnpHo72OxeyiniNzCF37S4lAwc59cdB7KPxziu2FRr1s9W72e/RLXt56cqV3H28DXVPkjJ6txSbs+1r6pXt/S3jSTR2kiFwCrsrbyzjBbb1HC5J74PsdvNCxD0Wu/R/9vb27eTvaySs2fW0G5OyqRvdXSTbflo4vVK66JvVq15eleGxbxeX9q+TAGzd06duO4xjrn0GPmPrG6vb7l+d3frbS2i6rk9ulSnKNuaLcrK/bTfz1VrNa762PZbM2MlvGkZQEHJPfB9Rwf8Ax0D8AC0+1T1tq9bX+XbXTV6X7pts3hl1SleUnzJq/LyvTV95dbPTrvrpI6aTR9LvrBoriG2mWTg+agd2PQgr9T3yfpgFT2nl17//AGq30X6O9zGpTo6xnhVO6cW7RS7aXu+umu+u3xeSeIf2Xfhj4uAuNa0WN/LdpYwpKJHK3JZFUhck7fQ+4zsqZVLppbLX1W/Z9E9bWeyurM8j/VHh/FOU3h3GdVty/eS+KTe9rdezitnrpIxrX9jr4bRSRf2bLc2TBeEV3ZRk9ME446HAGPcVyz95N/P5W+d3/wAOrWTODEeGOT4jWNRQV3a062luyvG99tl3RqXH7Hml3bW72WuSo1rJHMqvGMSbGDYY4Hbg8nI5OM0OlTlFXVvx33abtvZ7vXZWueHifC7L0pxoTblF2S5quradnbmdtbbSlttoz6C8KeCl8Hww2t7p0V7BEFVXh8v51VQOU5wc56Dp1B53XSpwi1Z2u7/jsm79ukd929GfFZn4WZ3drBuUo9L0nK9tOsk9L21kr3V7XsY/xd0//hJtHsdP0DRnnljvIFlhWEK8UJceZJuxzsHAznpjIzXVVr4RxjB0+Zpcu6V/N9d/N37aJx+Xw3hhxXhataouaVpNp/V2uu2s2rvZ6JPvK6idj4R8HeGdN020j1Ipa3CogkEsR3BgBkH5cA9c/e744ya8yUcI5PlpLfS/X77Xv6bW2vY5MbwTxlOfLTjPXqqCfX7101v8pX933jSZPAttaWlnDq9hB/pEbvNJvVV2HkHAz/Dx0HfB52+9l1HBqMaj5VLflb1X3Nb/ADd9dPhPlsx4J41vKlLKsXXevNVjTSU15K6ab3evrayjH6p0jxz8Ko/Dlut14j05bq2lEYJYlmhxh9ibc49cgcdc8Cvofr+HoxSjZ+d9r2s93Z6X899d5fKT8M+Masm/7Fx2vXl1Sv3031VrddW7HhnxC+Jfw1jZB4elk1K7hnDlra3dU65zvZVGCfY5645Iblr42lWjeyd9LJrZLTve3mtGurdpfSZH4M8Q4qaq4qhiMNLW9KcJppLzU2tU7rl+VtzJk/aBsodBay07wtNLrasGhvpp9kCL/dlj+UYHByPoQM7q+dxKpyk2lvfZ722Sdlvr08rOyUv0zLvA7EynFVpz5nZNWn0TWuut9X13vbpH528Y+MfFvjf7VY65Np8NleRSRzWcFsrgxONpDSOHycZGcLg5xjNefepTqJwTa30/DRt67f8AB92R+m5R4QZPg4xpY+hOvUfvKaqVIWSfbvfW/L5Wdvd+Y4v2VPhhLfS6pP4ctJr9yW+0zIrSruO7Cf3Rntg9DxwdvpLG11BavZO3a3dqT39Omjdve9it4W8KRkubAzV9X+/qaa7bp/O630vZc3rfhb4FeGbJg+k6NZW80eDu8hTvx2JIAJ+93zkc5zmvNr4itOV27a20svXZva2115NptnfT4Y4cyRQlhcBTi2t23Jvlb1u77LV+9rfycZe8ab4StbCzVIIEF3EwPyIAqt6EdB06Z6D3wvHKo1u3d629fPW33el2jfEZx7n1fDwVOCXKktred7bdrdbaWsa93eR2UBuJF/0qNQBAvEbLwGz6HjOfxHXc3m47FOMY9NWtfTvs3fpZdL2PD+q1Pfq1Kjlz/ZTvb0006rXyWnxS67whdm9TeXWDzZQzRrwAOApI5OO3X255ry3jZSaUnfX+rba2u/Xa+qPnsyw7SckraK+6bVtNkkrJpu1+ie1z14CD7NFbhAzFuijoT7eueT6nn0raLuk31V/W/wA+vqvOzufIzi5Tnfo30W3R/Em03a3l21R5l4v8K2N55/8Ao4eWTggqOmcknIOecdcHJ4PJrmrXg207tWlv3jdbW21tp5WaTRtSjzRtbfe6tf19Fe27VrLe0fknxf8AB3TtWuZd9rGZ0bcwKDBA7AAgcDpkfUnOG545nOlJrm0fa+m97avV7N33vpLVnPjcqpVqXNyJz5lorPTfyvb8VttyRn8NfAjTHKFrRFZiq5GFIXgEjAByR/LAJxiuulm8paN77ara7sm7LVPylo9OW58/Vyflb933vTftfXt5eel1zfXPgfwivhaFYIVklhjiCJk5BB7duO3PTHOcgV6Pto1IqWlutu9tLfpd31TtFL3sqOGlB8uqfS/la/bVW7O/q2z1lbwi1W3kCwsxzjO0D/aPf9Ofarhyyj8u3XbTWOqeu8vwXL0JSi05aL5dH5b233Vl0buee+NHCWU6yzliYyN0ZwwGBx8vPT3Prnn5eSpRs79PPVWbf3bpeW396Pr0MQopapvTTVr5bXt6+TtvH5G1u4N7qkFpCheNJkJaQ5LLnnP3s5xnOfwOaycVLVXT2Wl72/7eT3/u39bJy5cZiXNNO+t1f00318ukbPvc+lPCtoItNhdZPKKxlUxwvAxnpz16Nu9+uK55xVmnrbv0T6uzfrs7W+0ro8xLn131vft2su623036Wl3drZy8MZ4nVUywUHdv6gk5PPft6gdayox5m7q+tv666Lp02e52X5UnqtvN+atpZdLtv00Ry+vXRHmHYdsQ4GBiT1zjHOPbpgc/eqq0VFaf4tU+nzXZaa+fVHZCaaVu9vS//buul97bbrY8n1QWmpREsfkikErA95UyVBI/ukDIHXp1NYSgna+0unmnrpvpvq/PVXNaNX3nJa629braz3dn2XV6fa+ffGGoTJe3TJxFFEQ2G+7xwQqhskc9fUjjOK9TLsPqnul0/Hvd6PuuidrHNmWItTa631t23vtdtW01++75fDLiWe8vEKuSRJkZxjHHbpyePfv1NfYYLDNVYxto+W9vz2W70Wi17/a/PcZjlhHXrTaafW+m1t9NeySdu32T+kr/AIJufs9aX8Pvhvb/ABQ1OyV/F3jC1TyruYkyWumEeZ5MPmJmNZMqWKbd+MZI+7+z8O5RGnShWcfs3183v1afz9WrKJ/PfFmb1sbjZ8sm4Opbo7brW6Vra9+/VM/Tjpx1xj+QI65xgHHU9O3Rfpakk2rbJWXounX8X9583Uabi1/Kr+t36/121Q9ADz6Y/wA9R6ehrMzJaAJI+/4Uf1/X/BD+v6/4JJQAUAFABQAUAFABQAUAdHpH/Hs//Xdv/RcVZT3+RrDb5n//1f7iK9A88KACgB24gADjH49/oMfmfwxQH9f1/wAP9w5MZ4Hb1+n1/n+dAElABQAUAFBnU6fP9AoMyJwc57H/AA+vt6D9PmCofF6f8N+vn+N4s/z/AJ6/y/Og2Fx+I9R/jgEfiPz4oJn8LDjsD+ef8/59KDEa3TPHBB5JA/QE/p+VFr6f1+m3r9wm7K/9fk/y+4+C/wDgpd8HV+NX7H/xU0KK0e91fRtEn8TaNFDAJrp73TY2laOBdrHfJGpwRg8ZOeRXPmMVVwvJHR2vd6+dlvazVtLb69GenlM3h6yrN+7zXUE7O/z+S3+Ube9/noeILWfStSkjuoJLeWKeVJUlUrIjxOyOki87GRhgg859MEV+d1sO6E6kJPm5no9UrX06JrVWa33emkT9gy2usRCFeN4qCs4u+uiWyt/Na95eaR3vhDxNNYXmnhkLwSzBJBycI46nsBnBPX8M4X53HwUbrTXsvku2utvsWSs73sfcZdW93e1uun3d9Eu3XVy15fqSAWs1pDcQMJYpM7M8lSQec4+o6g/LxkEV4q32b6+Xpo77eVlvfRo9Kc+aSXfr6J3tuvlp8z5m+Kvht7hrm9t4d7liroFGYxkfMSMZGPm6qenUgtXuYGfLGzWmi33smlbRv79rvWd2eJjIu6e+jbV7eVrXVndaaPtomz5ovdNuLWZQVxg8rgBiR09OBz78d+RXXGLc7t3Wtra663v7109nZ37X1Tj5kIRb1lbre3Vfitd72/C8vV/BWsXdssDXLIWtXSQAk5MeduCc9sgexPcfLXHjKKlF6vqtVe2+9mndq+qT69uY9PBS5KiV9tpddNfPrpvezuubWR+ovwa8bwiys5rdkEnlxGWLPzKRjJGWOQR0JA+nFfG4uhduPqmtrXd79e/RTWqWh+iZdiFKnFOVrq2nSy1drvst5XSd7PVH2RZeJRqMUzRFY1MBdQWwS4XIGOQc4OMD0+7k7fNdK3fe3/A79Wt9bO9uU9Z1bbLS66666NbaNXvbXzSs+byXxBcwpOkgkYLPK2Tn5kcnDKSACOexA4weed21K/Om43a03dl20e/w9Fo76vcbrOScbKKs03q15aadmnrbTW11y8pbssesyI6qYynyOcMMEnOemOT1PT3xmt6ifNzP/C1e3br7yTVnsuul7vl3oVNLWXn91uuqWvnfa6S5pdlpzQz3BwweSCKQncB/EMLtBzg++OPQ8bsbOLVu977P5avb1l5JWbO1wUlKXNra+n367Xv6dL3Z4Z8RLK+gDXIRsXcx+TqQit80gOAMKDuxjkeoK1103a2l7pdevZ7dVrb5N2cDysRT0b1V27f5aNXdtFpbyV3E8P1eVHt2ju7hghHlqy8MDwQxzzgjI/lya79JK1tHu/6dk+vTXsro8v2kozTTeklq27adOz87NX2d/s83ZztYTrEs7OsbLNE5zt29TkgBQc54xx0Gc1Ps+RLlvfXR/o9vl33a+E+jwGOtJqVmul9X1395201+1rva57x4b8WNPp6IV3gfuw38RDEYyPXPAJH1xms5Vqkbrl07u6bv3tsnfr+h9LSnTqxU+ZqWjXLJJaa72X5WV1vc9XtzGmlRIrf6TO2EgKlpDjqeAMDv/DzwScUo1pydmla26TVrbLeW6vbR931R7mCnKUeZzldPo2rX3vune99r9k9ObqNscllZRoIheCRQsRYB3HVsjjA7D7uMYwMkttGSlZvvZ/P1S/Hd7W2j9Jg6uIlKKcptX0s5PW+rt5bqzfrr7uvDcSRSbVYxywr+8TJ2qBzwR973GD24/u6zk4pKK2tZtrs+6e7XyWmtrz+wy91KklGo29kkruzdvN9PR+WjN/T9fu55UgByY8ybxkkbeQCvBOce/HJ5G2so1Zyauo6fLy/vK/y773936+nQw8YJunCTXWUY76arX8+ZL72el6brzXkA81GHlbVfO4bm7HGB6Z4HAyOMA1hGpXcmmla773+enm76fdd8uMKdOT0o0YrmbVoR03tzbW67t+jbfL1ulXcf2iKQKTu4AO/DEdexwMjoSfXBxmumMZy3s09Vb9FZWd7fjvblOLGUJtN0+VfgtO2kVpfS+/k4pnokJup1jEcQHmOI1IyFGep+g4647Dtht6WFlVu/fXZJuz872e/3dNdVLlws6cadadVKNSlzK3u7pN3u7N6362fkdLB4I1W9NtP9ptxFK+wssm4xjuSAx9T29c561ccGnPlk5uzto9Vb1Wjf/bv3ux58s95Y1X+7XJayVlp2equ27v7Pk2nYjbwhdWGqNZKrTyLJkTBwkbA8/Mw6AgZwSP5bspYGXtJRjFuEZWV9X89NbvtzX3e1i6ecUK2GjWqqKjOEZXSUdH116fPr1sj0nSvgl448TW32nTtKtruFvlUrNCWc/wCzuxk9uuBjjGfl9Ojk1SqvhfotNH666O+uj6ve0vlsXxrkeX1+WtOLab19xxTT2fvd79Oq0jZc0s37M3xMtIFdPCTXMksm1kie3aRc5wSMkKQMnBDevFaf6u1+a6dRX6RcuW99Hs1t2j16WaPNqeI/DVarK9SMVpdJwUV5q81a7X96/bZGXe/s7+O9OBl1DQFtyQMR74i8R67XRTgdT2x/e6fLU8mxNNNJT368z02301v6a6JPRG9DjPh/E+9SrK17X5oWb+Uu+r087I5S8+GWs2Um25jgt8/KYoyjOrf7WwAceuePfNYxy+uoNNTbu+7XXS3zXXV69Gpe3heJcvcVODoyV9JSUW2763tf8Fe3VM56+8BXdrhw8k0jgFEjUMR6hlGBkHBxkHvz0bCeCrK+jdtdV1/8B637vTTS7Z6lPPcLUtJSpp9VFpX8r8z6P0WySu2N03wPdlna5spUYg4LKQVA785AHH3QeOnJIpQpKEH7VWfn01+V+13vq3fYWJzqn7aLjUholvZtK+/W1r9rWu7Pc2LDwtHFIftmfmyVEZBY4zjIA6cDr65z3rkrV4xukk15+X620tr+ajz18x9tZ3T9P+HW1+333Zp2qx27zQxKu6JC6qOHIHOGznkjJPoOOM4rzZYmD26dOt9t9etrWST+VzwcbVqVbNNWV1r57v7W61+XXRmLrOrTWkiXFgyHzE2zRE5KuOMldwPOOxOO/TNeZi8SoXcFtt16d7q129L38loznw9CGIv7SNnF7p2b7/Zlre3fprqnLmIpZr+VUnlz5jc9h8x9+Ofrz0OMV4FbETxMuWbXuXei69vj2+f3391YiFHCxk4tvmT1k7/dtslr3S3e567o2nyW6W8rRlTIyQYUYXYBkNnJO44z+nOctjCneWqe6f6Pvf1e22l7HxmNxdSs5wbTj0Sjbbm3erurLdpauzlY9dsxDFiRm2yvtUq3YADGAcjjryee+cEt6yVNRile9nd7Ly797fD8onyldyhVlba+/wB66Xs/nf11G6hGnmGTKjehLZXJYYI4znGPo2Pyrz67k7rrs/J+lnfstZd+ptQtfm6trq7dOnXd9F21uuXyrXdKUGS4ihbLk7GIUKTn7pbBOPXnODxjIrx6tOKlL/O3p11vr6b+9a0fRd5QXK91u7a+W9tVbZq19bWDQUaOQCdUjdcEbCCuBjIHJxxxyWx6AHNOkkpLfTa728/tXa6frqjkrYR1ItpvZ30V3+f4W9HeTPUrHU1Qi0uImSaUbolAOx09S/AU8EdR6/LnbXv4ed4KL0urLs9NvS3Vy18rJniywsoVFLz62fV6fZd7PVK3/b17Ryru/nl1AWc1qz2oBZbocqpHIQsOTg49cgcYx83Qp1Iu0dF18r72Tv072/G5E6UXrLpvrZPZW67q+/MknbXVx5TxVdmPT5zsSTaj4Yg4CEYB65zkjuD27Zbsg+aLurvftaybtstO+j7215Tm56aulpp3+/pZ9Utbb2unY+WreGe51tpU+VWkEJI5xkj5wpx0x6t+AxWMoxvLS1m9fv8A+Hvr+seaom1e/nb+vv631W93H600Sxtxo9nGJy6JGnmOBkibnI4XODn19vVqzdGLvda/ntZpevbl7t6pGUZcr002176/JPX/AA/K8XLe2NHLi3ky2QZVA+XCjGdvGMD13e2M4rigvZN2f2nr+Pm/ne9l1sz006TS11aVrPW9lffo9zk/EF43kSrJDja20YGWwwI3Ag9D9Meh4Iqpt1Lc3R307rvtt319FuX7PW8Hp6Xtvrvrpbz96y5tVHw/W9UjsZTZJBJuvRIqvt+VQq5LnjjjIJx6cdqyap22acdGla/k9l0ts3ddtDWMYxu38Wt03bVareyer7/NWXL8w+NmaGRiJ3DSS+fODyWXbgLngc4GPToQMkr72V0m5JW079rt6bNu13azXw9WeHmtVxWtko736/Dptda6LVPRNN6yjT+EfhK68dfEDwt4eiWWSTXNat7b92A2yES73O3knKITggcd6/RMjwVOviIxq81k1s7O26tp5eV99LXPyTjDGungXyNXt131ktflHy0vvJ/D/ZL4C8N23hLwZ4b8N2eRbaTpNlZpuUKT5UMas2NvBJXHBx39Wr9lwsVhsPGnT0jyJJS1ezs76Xfqvusfg8pTrVKk5tOTbtZPo+uvfd/+SytePXjv9efrj/Pr/RYtbbZtv73/AJ/1sYR2t2bX9b9PPy1sSx9/w/rQUSUAL0xjuPX3P+FO9v8Ahk/z/r7kO9v+GT/P+vuRKv3R/nvS/r+rC/r+rDqACgAoAKACgAoAKAOj0j/j2f8A67t/6LirKe/yNYbfM//W/uIr0DzwoAKAFUZODn8P8j+f5UB/X9bfn9xKFA5BP5Y/9mb+X55+UAGbb2/XH9G/l275+UAdQAUAFBnU6fP9AoMxrAkYHr9f6r/P8sfMFw+L1X/B/Ty/C0meWfUY+n/2yg1FKnoCMe/X8v8A7Mevchgmfwvy/r+v+AIUI54x7DH67z/L8qDEYQpHQ/iaP+G+8mXwv+upDcW8V5BNazqrwXEEttMjAFZIZozHIjAggqyMQQR7DPWnKKlB3W11azva2/xPXurL8WjpoTcFG+m2/p2/C2ifXvL/AD/f+Cov7Os/wI/ak+JPh1bIw6JrOpyeKfD7KjRR/wBn6y7zhIcqodY5A4wuVBGCTjLfHZhh9Zvtd2a1tdbW0vtslq+luU/SeH8deiqfN3Xa/wBrS7b311tdPysfnf4du/s91DHMQwjIABC54zjAz2HTOOmSCK+XxeGU4t8u6st/xer2Vrpry/uff4DF7Ld2eu69bXW1uV/Fr62Pp/w9qRexaIM20osipx8jL1wd2MEcj06fLjNfOVaXJJ2Wj961tY36PzS0vbz1PoozvFSXVL/gtb9tuu7bslLO1SKO+WRgcs6lZ0PJ46Eduw7evUVpQqcqt5vr0t6N6ttOzXle7Ma9NSvu9bPbvZeWjbbVkn5bS+cPFWhbZZJogoTL5U5BQ916HHX2+vBr1Yysubz6P8elm1vdyT30ueRVg4Xd30d932uvR7q6vvrf3cLQLdHkUSHLI+1gGIV09D2OMA5GTk9s5XOpecbrW7s2+nba17eqv52tK8Kpcyl23stfK9ml131te/Sx9a/DzxJPodzaKQGtlSOLIYB9pYFVblQVILdhjv2rwMRh9ZN7N3Wmj08np+X+JuSPscDX9nyLz89LdFrfa27at3PvTQPEdqba0u43YI6oyANuwR9/JzgH2weOcjha8mtCKla3f0/B6W32V7q97H0VCuqltVdeb/HRvvrd2VtHuSa9cwXRa4tjEsczM4BOSJB/dHOMnGecegHNKlTjrbVvpt/mnvuld21t8RUqyi9G91Z330u+mmt187+7q5czYXSyNJI24ShRGwJzvy3VOegJ9cH/AGc/NpKje19m7NJfp073T6dLHVQqPmT6aq8nrfTa3l3tpdrtLr9DzHcGR2OzBEm3JIVuFXqDxxnjgDIJxhuadNpXtZpp3Wrdr26rz6ap7vaXpwndSWuqSXd+8vJLa63fbSyJ/HOj/bdFuJo0zFGMx9d0K4O7b0PzDrywOOMYLO6d7R27Xv7t1Z6adbWs+Vprs7GFVXv6X2/PVOyfZN9rWPjK80+T7VeWbRmdCdyM52hUGflGOcg8g7vo2OK9COy02Sv+Gv420+5W5jyq1O8b+V728u/Vuy0aWnb7OFFGf3sG/bLCpXbyWdMn5VA4YqBxuzng8ZJrqpU/aafdp33s97NvopW5tbWtHlp4iVJ9tV1s+n2k2uvS2/yO18J3lrA8VrJFMjM+1pZiqJv6ptUY4OOpz7AYJrCtQtfZdXfrrs/Ndr6ba3PocDj5WjG+9mn6N+ivfd80d7a3sez6X4gvLa/VvKimVBtQj51VcgEocgjjOQWYdORkhuOS5IuyXyf3u3lp6/fKP2mW42PLeW3dNaP3vNW7bO/na0fQrSxjupl1dGZHZGzBuYHce69RkEnGCAD371yzquLWrav/AJ/9u3e1unoz6vLsfTulpe+91d9b/E9E/mr6JaM3tHljso5Wl3vJvIRZTvyxJ2gk8sAMHrx05JNXLFrltdPT/LX4l6a/e3ofa5djKfPpy202a08rcy0bs2vRK20d/TtFE1xPqE14sFyXj8q2iV1DlgGx0I2AHDEEHqdxwWp08Uutr2e3a/8Aibd9O3ZN7n031puGmzXd6Wtbrd62ejVr9E2e36f4Ku72G1u7We2t3WISTwrIW83jIwuM7ip5Hy88dRiuunWptrW1rdV6/dfTbXpax4lTN6lByTTaUmtE+l1a3P8Ak9E+t3y9dF4V1nTzpk6KFtruQiZDKPlAPLEnO3cGJwuMdCCQTXbGrBJfDdW2tt0VtbvR7Oz31TuRHPPbaPST1321ur332VtPLU9r0HTbl44bc2glXzsqqlMsgxubdg5AyRwQe5yRXtYKrSas9HG11daXvbZtvu1a/om+X5jG5nUpfWnJuMZSdt19mya2vZefbWS+Lc13S9d0PVNAtNNhcW100twwjxMkqHbkFuqMGbo3PUZAUBtUouq7K0b721eq3313St87as5MHWw9fA1qlSok3F3u43XxW0v212d720Zy/wBu1ZfG+uaFPDM01nPGfnBi2K0IcqVzhx2GCxPQ4yNvBUxUaeLqwS0jVa21srbt1F+MbdrbH0eFw2FxGTYdqpH38PG7vH0s/kr7Lfpb3fsT4W61eXPh63naR7ZLOeW0MSgpIkgJG5hjBXIyO5656GvqMBjYOKuo3vbs1/5Pq1bsvKx+G8UZHQqYqVsQo3bkmpRSt92nbRPR33Vo+h2nxY+yz3Wj26yXEthMpvXYSfvd3Qhhhh1/2fbGMN7UMZS2UFZ7/Dfpq/eTW23vJrVtbnydXgq1F4qOKbWuiqKzt/3CtbpvpstnzdPZN/b9yranbXcAvoHubRULPGyRH94r53MBt+bvgZxxzV1JQqRuoJtt9Onnr+cnr6uMfDjQqYKq4qu0o2Ws1a/lprtbR7LS+nLhXnhvS7+5mSPSbWW3tpPLeRN6oBIOJSS28kNkNyvQ5HSub2VKSb5ba2tpfyvsnv0f3WPbw+aYuilTjUk1fm0cuqs13aX/AG61vZ7S4iXwjo8t/eWEdpFG6RNJb4+U+Yv3k3Hrz04PHpj5uSpRp2eit1lprfTe1+t27b9GfQ4XPMVFJ87vpfd/qttNb39LcsfItU0q6064uoZpYjFLuQruVniG8ALnbnkHqcZ65HSvFx9ClpZ8ul7Lpbq07rZd16fCfSYHMMRirNyej03tf8b20629Tz3VLGK01Nix8m0aMRiRjxCyDLSNjB2MPQ8dBjAr47H+yhze8rK9u7fm9b9b3/DmSPt8vjVqx95u9ve+LW+q12762kuvZHkWsStLqLXFnP5SrJs3xM2yYIQu1T1+bryuPpwV+TxldQkuSXR81nfW97dEul/wvb3vbeG5Kc7xunqr36+d19/ut6aO7Mo2ZkuZJNrsVVZG3knzc43KMEr/ABE8fmcV5kq0qm7etlfTTtprrfu721TS9089VY0ubSzjv001V7e9011/GzR1mm6LG0kZCId+H8t8gx4OQDgng4OR8wz/AHTzRGKgk5J+9on9+107u3e2q0Z83meLdRSSvez63Xn31WyfvWt0S971GxK+XDbhWKINzMpyEkTpjjOCABz+agYbrhT5rO2nl0uu/rZ2tr97j8jGrerLXZ6P+ZdrXbWnVc3ey0O/0uOCWKOW8AQ8jIzgbejMTnGenqT6cCtFB07t628t/wAe2yS9XsjzsZJSfnffve+vRp6barr2ZU1iJrkqtswjKAgNnhlJ447ZHcY5OCBgFuaa5r+bTt57Xv7u/p8lf3sqcuW29ttOltLu67300bWl93LnLyN7W0+z3yRyqFL70J56kj+EDrhufbnJNcdSHuvre3TXotbXv7sb2W3V6WlvKq7Lltftq/z6pXtrp52MbTLe1muUkskUxgguvm7iMnqo569TzzngDiuOMEmmtbfk9/taWv0UrKN09WS69aEXe7Wt9FfW9+3bZdbb3ud59kgZZMuUKgbJJT6jgKQ24Dr2POeuK9KlNJb3/C1m7/zN22W3dWbtHzniW6lpWtbX0VtPK97s5W71AJcCzRmDJnc5yIjnqclSGJ5Iy3vk9G9Kl79k7aW7PdvW29lrdafO3u4Vqt17rTV+97f+A6+W+m+up5D8QNeeO3ksYLhEmlyF+ZT8ikZbpwp7e3HzYyvYvdjZb222cr/ft11ffRNKPl1bt6aLT/gXa+d/vTblKJyXhywmRPtVyiu6GESuhARWmYKmSerMMcc/oQuWz77/ANdP8/N3TLpe9dX1vZ9b2+a21sm3ptLRxPo+1mi0+3tIYVVFlRfkXDbXRclnBzlu4yevPHIprTe9t7d+3RW7aNvdaXMqycZbNLyvrbXpzWbfbW3fcvTXkCR/aWbyXk+VAwCvIB3xkcHtkfVRzXBOFm3ZLVvTpJ6Xv11s3e9tVaTs5FKctHdrXpd8q0922nomr+q2OC1qSdklkd41VuIjkMzE/dPooBPIwuPXgrXNNtac1vO+mvdd7a6vz0aZ7NCd0k7/AOf5+Wt/S97niPiW+Cl5JBma3iMYxtABYnJXOS2Qc+uGHIwDWlGi6k091K7u1/8AtJ2t/wAF3vHOpU1krpW63votd+j0avfVvpY+QvGWoy3V5NFJKUKuQWxj90T1cYyoAGM8gbeSCa+xyylyRTdm2ttLvlv1s+r68vb3tz5POMT7rvzLXW/k1otddPVN9Ej9G/8Aglh8Kf8AhK/jhceL9RhW807whYebCsnMcd5OiiGVGGF37WOBjOG4JxX6lw5hFOUKqWj0Xna6XR9F2drP4brm/CeMsxf7ylzaaO3XVQ395rSzW6b7n9L2O+Dk5469T/wEdMdB+WMN+iVFyQimtuXy+zt8rdr9XzXsfnNC8oSlbVtv/wAmv523frs7bAO/uf6Af09v0y2V7pen6t9l3/4a9o4R+15Sf6P9fP8AG0ZY+/4f5/WgokoAUckD3x/n0o/r+v6/JB/X9f1+SJwMcUAFABQAUAFABQAUAFAHR6R/x7P/ANd2/wDRcVZT3+RrDb5n/9f+4ivQPPCgAoAUHBz/AJ/r/L86A/r+t/y+8eX9Mj9f/ZV/z6fxADcs3HXv6f5/z6UATUAFABQRNN2t59bdv6/4cKCOSXb8QppXdv6/r7vVbgk4tNrT1vv9/wCX32EOccdf8+tIvnTaST36u/8A7Yuvn99hisSQM/pQVJXTQ9s4OOv+c/pQZckv6d/wuvz+8i2H6e5ND2Y+SXl91vx53+X3CYZSMds9QMe2MnA/FuM8biPluMkk0+t/y22/G/y6jnBuFr2aVk7aeeid9fLm/U/Ev/gtt+y9pvxZ/Z2/4W/pVhD/AMJt8LJoJJ71IEFxe+G7qYQ3NrPKF3zC2abzoi3MZyBnJWvIzDDOdKtNONktF136LRX+dl3V7H0eRYtUq1HDyc71Jct38KfW6u30um3JdebY/iHurZtK1FmYsSJnKo/dVbGVzjOPwwezda+NrWgpRcVt6fg9vx7+Uf0zDT9nNSu5NOzUflpbmWiav8r2dkz2Dwb4hT7XDbTvg/M4j6iSBhg7T3288YXI5HevnMTQlPnmmlpfa1326fPXR3VnZH1+FxClTUbOLto5PytpdaWu73bblomrc0vTnh2hpIBvMpyn3cDuAfu57g8YGCTjIDeU/df+Wn+X5+je56KXMnqm5K66pa76Na6NbryWjcvOPEeikzTPKpImYmQD7qyY7Y/h7AjGffGW9CnXUouPLZ6JarXy87pK/wCPU87EUebRvpfbvpdfCmu+m6a92y5vILrS7iw1BJLfeDI2dgHyqc9TjjoPQc+oPy9CacWtLLTVdei11/K92uzkqKjTktL66va68tHZ9dVuktLHs3gfUrOWSKO+UM6Hym3ZXjPyufvEFDjGM5G0dya8/Eq8JWWr937lfyWtr2ajp3tynsUal4pWSdvvv/nq7+7ZdNGz618NaxHBZfZXkYQSFXhfJOG3YdFGMDgA4565zzlfFqYbmavKzWu29/xW9raWVr3tY9bD4p01ZJNvrf7mrcrfVb3s7K9/e2dS165tbu0tLVRcQttZyG4jViN27gEsMnp07gVEaPI/ibV+3l5uL8ut9dHe0ul1+dc1tVuuiS0vfezu5Ppa19zoI5ZY83MD7hGA6Ic8q/DgcnBB98d+K0lf+W/e91eybs+/M7ra/a9kdmFxE5u3KtX028m99WtrdXa6vc9N8KarHeWvmKiCR2VJQ4+ZXVwhGGOcL97+I84HXNc0+blkrdNU9dOyWt7+6l3WzV7nvUXzRbV721102vvpu1o7u3/pfot5BJqNhc2xlSFJVKxkgDLqueA2ercYKt+AGawpdL9Fe26dr21TXTXTVfO8cq85xekFJba32tfyS263306I+TfEGgSLczAKEnieXDbcLIit147n05/H71elBqy126dra26ppX01VraLRnM+acJSnBW97vva9vw7ta6XumeIa3o1ymoPewzPCFXeNu5Dv7oBnG5j90dwASFJJbro1FT6Xffr93fpa+r6a+75FaC77Weq81fr8vifotpT6PPNIPtTO88trJ+8R13EFOjsvI2jHGOT2wMNV1LVbym+XouXRfO9+9tZS6PTY6qFb2a5Uk+zXXf7te6e++6j6f4d1yG/kWN5o1kAw2B5BD9QFVuXByMEEY68DNcFSlGcXq/y2Xy1vv7sWvN6nuYTHzXu2jtr7zfW76vVa2d1fZRd2esaH4gugfs7SRiOKQxHkdf73ynODnPGPYnB2+LXo8ja97V+vp9leejsraa3SPosLjORqXPq3qm9vJvnV77WTeml95T73aSqOblDKxWRAWwjNk/L3IznjJ47Zyd3FOjNJ6yS1snp2/u31eyfL22b5frcvzqVNr3odndvurv4lfvv1bsrLl9O0hEu7ZN6pDOoREwTuZsYYjI7nJOeccZ5BrHmrUruMb6WV1L10tt2tq9NL6xPqIcUNRUX7JPunK+11d86Wy2u1totzvdLu3t7yFUnmVkiwQjfxJxtIA5Bxx09ieKhYvEKWsY7/wB5vrtrG+i+XnZs6J43C4qCc6ijdK7i466+bTd0/XT4nuerWviC4uLCC3vpUKWu+SAKcTKx+bDlydwJAH4Y5JJb0aGLnO3M1a/dvrd633e9rPe3fl8xYqhTqxUJc9v8PfbRpXvp526Wbj1nh7xXeaXc2M0Uqs3mg7GbKY7KwBPynrj5foSDt745jLD+9BqV39pvrp0d9G109br4c8VKljYTpTajF3XNGyltbdu1/l27+77T4f8AF2p3evRXF8tqsCbPKON0aCRgWKhmIGVA6DqvcnNepgs4cppyUU/w79ZXvbv03lofJY+lLBYWph6Fao4yTu3LW1rv4dPta/FbZvVSKeu39nL8RtY1AGGXeYlR9ynzwkYyd/ysOTgY6YxxjFY18ZF4mrOy1m5bfO9rr7k7+t0ezgMZWoZNhKEas244eMW5N83rb1td673005vW/BXjD7Ar28EVvFFI6ylJY94Yk8ruVgM5+6ST+ua9XB5jd6qC1Wnp1+Pa3TTzSuuX4jM8JPE1XUqYivHmbfuz6d9Y9et1rvaLfvdL/aYg1zUriWCC0N79nmL7NySIACNjoUWPJx97PXtnFerHMYxn8UdV300031Tb16X9WL2FRYJYalVqzV3rN3lrv311b0VraK97Hqdp48uFj025hktYmsUeJJdxk3RuAsilFzzgnHTrn2r1KOc0YRSm4XXZ66vRed9tNr+Z8tV4crVaknOdda8zTei8leL877230vYgk8V6Ql9fXt1eCze/tgiZ+SEgcgJHlV3FvmBPOewyKKuc4NK7qJO+ycVH8db2t0+cb+9tHJ8RSkqcIupGy96acpPurpbdPw93Vnl2teLNAgvrS5tdQlmuI2y6jLby2egXoAMZBDfpXiYniCim+ScWtldq3pe93da9F6aOXsYbJ67j71NxXS0ba+T3uvTrbRHlvirxVa3F1IbVS8rnc0iIeR77sfMD7+nIJO35rHZ5OpP93KDsraN228nr06re+ybl9jk2X06EGqjcZc19bX26Xvbb0T6P3XLxbU9Snu7W5YtP9tlMsYl+aRFhPHK52gkeoPchTXyePxlas229drJvv016WT28lfc+4wdWhSSSs7adP+De3XXyV7M5Cy0ySCyAeRpZPM+QYKhBu+Z2/unvxyOncV48FKpJ88m7STTez0/DTRL8ZWbNswzOEIRgnGzXvarV9N97PzemivudvBpH2hYmUAMAGLK2A2B1J5B5Hp1AyTwrdiowUeZOXMrK/T/PZ99Nkpa8vyGKzGMeb3k791u3rb4uz1XzSW0tFLaeMSSIxTYmPqR6+uR0+XqScjJCqUXUummuRXXK9LWt/LFvXt6abS8Criozc9XzO/Muny+VrbLo76s7TwrbMyyrNwzL54lOcMpGNpPzcjB7knrjrXbgk5XTWi0utfdt0Vlve7v+baj405xjN8r1et27X/Oy269Las6h7sQRCAuqLI3CqudwH3sD+FvQjcO2ecVrWTvaXe6+9W79tV5XdtGTGnTrXcrvS8Wn01vq/wAO+/QiiuvtskkVvCxeEbQXYBSMZ5HJ4JxjuB1HWuGSXM0tLdXrv0v8rbb6u9jGapwdrNJta36PrvK/eyS+WvLy2tQX12Tp8wlSN2yJLcZjUE/MrPwRn5scjk9SM7uWtz8rtFXsumrffR/elf0Q6U6cJKWia92z10tttd93d6NWsrxUb+iaMlg4HlEqUC7s4PGefXOcdj1J55WuBRlf3ml8t9dXu1pdt7XWvWxVXEuV4pRS06Ly16Wt2vtHokbcsbWbPMgaYMMAM29UbHUA7ePwx34+63dTUVDS6frdPX0fe1rryPMqQhOXvRT9Lq6/RrXuna2ztHhdbvbiSZ7eSMRWbKwecMAd7D7oXGRyeD2x15Jr0KEnC15Jv05bK79beaSV++iOWtS5bWenrd7bvbppqnfvozwTxBYwXV0AS8hgcKZN2WMYbO3OF3Dpng9fY1tOpJtd0+i/XdP8t0c1lZ3vZp29Xp59U2tum9jtdK0n7bFpsCRyNGJ47loV4Z5UKmIyEAbghHQk4J+tZzqVF8Kj312/JW0ffXo43bMYVKVNu3Nv/wADf3k7aW189b2j7N9knlkihYCKcIFUcDkDgs2Dj3OfyJ+XWlJztzWXe3f53XXVav1CpUo1Y2lzO2uj0V1+NrXav6zSOb1GCbcTKolvrZn8tfMP2cjqMg8cHHQrnOD0zUx5JOaV3ZtK1na2ltbXavo7x2vprGVUqctWtmkrPW+vlbW2isumsnpGXJ6xdTvatDO/lyyJ87R7SEOMjDENjABGcY9c5Up5lSKc3FJ8t213a6afO+77O+rj28rUU02rb977a6u9l6Wu/h0Z82+PtUisLYq96HlRHJPAJQHPzfcJccjOSc8ck16eChLnjFRd09W7u2m+0d9P5b+d7x48RW5IybSTvpfvv5evRXSa5bWPkzVnOs3l0GvhDJe2bBAUwHIJ4WTO1RgHHBPT5jk191l+FjNJSc1s1bR9eln1W2m+58LnOMTi3JqOu+ielr31dlo9bu+q05Vy/wBKX/BJn4U3vgf4GXXirUyHuvGGotcwtPDi6js7UfZ4Du6tFIiF1GTkHkAGv2Hh3A06GApTvLm5p6S10U5aK1npoviWne1pfz/xTiPbZlXppp01GCTV9+VPe7vo+1mrbWsfq2p7gjGeDjrz1/H8PoM4r35JVJWl010/X/O7+W8vnqc/Zx5Yq/m3t/Xr91h1RKKg0k29E9f6/SPoZpWv5u/9f0/loiSPv+H+f0qRklABR/X9bfn9wf1/W35/cTI2Rz1H+emBjv3P4U/w8tf1v+b+V0P8PLX9b/m/ldDqQgoAKACgAoAKACgDo9I/49n/AOu7f+i4qynv8jWG3zP/0P7hUzjJzz0z/n/P416B5/8AX9enp9+o+gAoAKACgB6dfwoAloAKACgAoAKCZptad/T+t/6uFBk04v8AXb7tX+f3XIgCuGI4Hv8A/tevp+eflDWMr6dfv/SP9aaWvKTcMbucfX8Ou3/2X/GgoD8w+uPf3/2f6f0oATbyMgYHTn9D0znHbp3zwKA172810/r5/Lc5bxj4N0Hx54W1zwd4osYtU0HxBYT2Go2dwqvHLBP1G1sqNvDLnOGUHIxmoqw56c4fzL5fk/yfo9iqVaWHmq0W702mraP109eij6H8AX/BTH9k6b9mj9ofxT4YsLe4TwncXc2seHblrd44hp17NJKltFIR5cnkghPk3bdoyOMt8lmGE5FLR6dl/wADv5vy3ly/o+QZl7dJzau9Xd9Ha6vpZ2Wn66I/P/QJGt7yO5M/IzHGScNEm4ZAz2OOgxnGRnI2/M16V41Er2torNP5arqn0003uz76jWX7twel7u3VWvq1bts09XZ7cx9F6JqEstu8MxPmxqrJlsFw3IIJJz/F8wAyBzyTXzWIotPVP7tPO/w6pLbp1a0cvbw1Xm7W287/AHWt10Wtr6X929eWyajZOVYG6jzjODlR/eGSSRxjPbjccANFKTi05X0f4J77N767q979bQ6JQUtr3WzXzt238tL6LlvzR8t1OwljMUrx4Rsg8Y5B6g89D/u5z3zivRpzcknpZ238tt92/NR+HY4alP2bte/+f3fr8uo3ToPst8XGFEwG7jA3DAz0GOp44x79ExqK6td+98m79V289/V2udFGqly6N6pPW+/dW1110a072PffCutpJbS2sr7zARyx5UFcEpyvy5GTwMHr0G3ldLra/wArPW3+K/49O9j0KdSzvfZ/PdPX9delndtnaWeZb9GaVzHgOpY8PkZGDk56YwDjHXBrL2Vnr18t9O6a1vZaRdu/U74TUpfJafLy9Xu9Gtpa8vpekYS6RZ5JGilDIVbA2bgdp5zwWIXnpzycENEopK9lHVrTr2fl10t5aaHo4f3WrXto7OyXy9fnqtnsdl4cmFtfTQBivl3QkjA4LgHPAxtIIPcHjnJyRWEoxcX5qTt2TjZK11fV6WdtLJLSR71Cs/dWnvWu7q2ybT281q+6TT+H2p5HuQtzFtCgDcm7pgAOSB0Hfkd+Tx83nOLhqr2007fPqn5x9L7HoezU7rTVtWeq189Pyei+HoeLeLrCe61MvbI22MHkc7mPXnaAcY28g56nsKqOIV0tru3XXX5Kzv20stHaxNSlFU5q1tGl8u78/JabK+p5Jq9uJvMt7qJd0QLqAuCJFAwSRnP0yBjtmuxVFsnq9dfntp00b6vq9LnztWjJa2bvp566d7a7J363cl9rz6Cwls7957YkpcjZcxMCQ+DyVx3A5LY5GOFyytqqjtrrtoney+6PXp/ea0snLKEHtqnfts27Jbt32236X0kaI09y/mwh0XzSeRiSM9fldcHaemc89OOqulaaTVtNervq9HpHRefryvc6ZXoXlZtP1Xy2100WnW+l+WXT6NrEcM7JcTCJIj+8kkdcEY5Zye4wScFiepOaqWBlVaaTfW9tNfw0b7y89jN50qV4ykr321Vrcva/Vb762VrtHoWn+MNLikaVLtJYwAvmmXzI/XCnJUegPB74pSyxtL3LtaX3tbytdq/d/ff3dqPESTTVS1nZ6722sr3W+y5vwbPTdG+IOmuqH7ShAIYSK2Co9FHQntyRwM+y8lXK2rtqXlpbXT1sl0aT2tpa8e3/AFibWlX5c2/S2+2uqTV79OZnqeg+LLK4uYriO5ifad2WcA4OM5HzZ47Y9uSCF8qtl0opvlfldX0u9b938lbvax6FDiaoo29rbTVcztZWXRvr9/nduXpk3iGzNo1wskQYg8qwwR3wemcd+emeOFrmhhKkZbNX7a77PZPW736/9vKO+Gz+pUrNe0erd027LWys9V166elmjOsfFZu/9XNGqROAMMAcjv0GDnn+Lp/CCTU1cLVenvqztqvPvba77Lp5qX01HNWnq7t9XK+v/AS30tttZS9g8OeJ5WSIG6LDH394Iz0yePbrz16DB3c8VVoyteT3b1u7XT7XTtq1+NkmVi8bCpHW2ul/W333e1rdezcuwh1WC9laSWRGm2nEwO1wOoOVOMgAn+EnOCB/DqpVpO7u7vdfZb6bf8NvfVIwp5iqcYw5rRiuVat6bPyW9umzet3y9poXiCO2tjb/AGhNxc4d5BuZW75KsR065BH4bV7IValPu5P7tF02WiVl23be5FTFU8T7seV9Fqr29VvbXt+NpamqeLrg2jW6XW+RMbZRcDftHRWO3BBPTqewxyWqpi6yje7VuvT5e8/6it7WOjAOnCcYVOTR63bt923T+by0tcyPD/iXUphc2Uty0aEFxJJLJlyP4RtK4B9B9MjGW4Pr+JcrKUt3fV2du2r0v1S01VnopfRVfqLpK3Le3ze3m+/knezs7KW5uubyz/e3sriOZmjiE0jCMHliGOGx3GTwT2GdqqVsVVbak0mttXa33Wur+fre546rYenU5OWLtre+8ei/DtK97+RVt51gmeWL99OEKAsSxiGMHAyc/UgYwc5ANYOnXldOUtVbf8L3jb0s9dr3XN2PF4eELxVmu3Xzvpe/4JdbXFt4wVE7uWYlg25uD7HOcDnOAfpkgmpVCqle7fb520Xwr8N1pfTm4Z5leS5Wklv/AJaemu/fs40hFHtkj3xmOVi7AAAjns3X3HGDjuDUSoy1TV33trrvrbo3/wAHqdNPMJX916fde+n8z9NtF1aa5qx+zKiwpHGsKkjJGTIenJ69DSjR5b36b/PXy6776q3VM2dR1vjk7q9rv8e11pqpa9b3bJrHfLdRQxZRANgHUKvqeg5HXn64xmm9+S+m369lrfbe3f3jzMTSTbknrbb7/Ps+8fTVOO9EQ10LSOPzlOQ74Byq43dM5P48HnnB3aRioxlLTa2vXb9PPTVarSXjV48lrP4t/wArL087afdLubFUs0SIRqVYryME7HwpAG3ovBxtx+hrowU1zSv32WnXvZXei1vHV21seXUbcnve71XSzei1V9L7p7vZ3MzWZUt5oQg8zyixJ46dR6+3PHvnNLGzi7dNW99+naPpp3W1ry7MPTm+bfSKVrP10s+ztfo+13ENMnEdzH5a/vZx5ksgbgKckR4HHA9+n94kmuDe7vd3fS239O+/db2jx4i8Zau9nt2s9tnbfT9btS6KWdY0c+SX3cAAKMNzgk8kDPOSQflz6bHyXWvZ6bfg/NLbXXu0cj52nyt31af3dNl+Fk/O0o3nitY98hRgE3NKvBVjwyc8DHODke55+XknBcztv6bX26u97a6+b5bXEnNX5m32tpbTvo92t7/jYwNRuruZ4DZoPs8iM0j7s7U6o6nHLDDY9cc7cEttTpNK/Ra9dde1/vV9N09bgpWfZ6d9tFa2ra/4e/SXnWs6pHJfyaaqtJNFGHmkP3cH+I9iw3DjBxz/AMB0vy+Wn4W2tbt/wOW15KaUotu/f0eivtqmk1t5Wj8MuG1KBYkeTy2kDrztTDDn2zggeu7sRnBC9EXdK/a9vv206u/TXotkcNSyve66NLzW/ezvra343l3fg5bmKNbpThVhaSFGGZGdm2Kp9MEgcZyenQlZhUjN6vZ2ffT72uzV+nVq4fVYPW6V9fv1d9u/z31vLm7a61C63Ikjo07xZuGUfLEcZUDpjrjPGeeldKqRp9Fqr/p8n891tG/vP6pH+ayuuvb/AMB9UtO73uctqWILcw/aGuZZyWZ06pkZIB9ADkfTJ67V4Yyleck3ZuT37vvr5vytu78x0UopbK9tLed9H2v6LbS8fteYeJdUOl6dMyq0jopCDdlm3AkKM55GfXuOvWs6LUq199du2ru9nvvbS+muxpVqLS2j66/n7i/HpfbePxP8QtblmlmM0iAzKoCb8GNTyVOT8rY55Uc5ODjK/XZXg/a4l+kbLTs76Wafpp21upHxueY50bxTet9dFrZX677p2Wj11u2eVeC7O98e+NdE8L2FjcXdxfarp9ja/Z2L75bq6jjaORVUmRDGGKhTwVO4EH5vssuor67Ckr2vpp5aWtbza9xPyd7n55n+Im8DVq3dlFvRtLRpJ+V9Xo99Wtfd/t6+D3hC38C/DTwZ4XtoFtBpGgabayRogj/fpaxCdioA5d8k7snPev2TC0Pq+HpU7bJ2S2Sdn313tt563XL+FVsQ8TVnVlq23G71enzf/Dd37x6WBgAdf8/j/n06Vcfjl8/wZkLRV+Jf4Y/kBJH3/D+tZgSUAFACgkdP5Z/z/n0p/K/3/pKP9dteZ/K/3/pKP9dteZ6tk8njH0/z3/yKN9lr5X/WUvy+/TlN9lr5X/WUvy+/TlVmxjB/rTtZarqrXuu99nHy6/dd8ztZarqrXuu99nHy6/dd8whJzn27Y9f8/wD66Xyt9/6yl/XfTlXyt9/6yl/XfTlfSEFABQAUAdHpH/Hs/wD13b/0XFWU9/kaw2+Z/9H+4ivQPPCgAoAKAFAJ6f4f56/5zQA9FIPI7euf89P84oAkoAKACgAoAKACgmautN797f10/ph+HH+f89/5lXpbfW+3l936r8PezScWm1ot/e27fj6+j1REx52jp6Y79eP8n9cKi+ePn9/68jv9yt53HqegwenXtQPnXf8AAdQUGM8ZxnvjP6cfz/KqjbmV+5Mrcrurrsfkb/wV6/ZO0r9oD9m3X/FemWEEfjn4d203iCxvo7eM3d1p9um+8snkCmSRHiQmNA3BOCgwK4Myoc1OTS3XXbtbSyfTpF9env8Ar5TiHSqQUHo9tbJW8tEvx216RP4SdZ086XdNHOjxRtdGN2wVMTxnBXHykYIwc7T35JIX4fE0+SbT2v8Af6eW3VaXWlmj9VyvFRlSTm3flv1a8ur31va3a1j0Tw3rHmiMbmJjxFu/vKo45B9BkHP4ivFxkIT1ir3STuv+Drd722/vWtH6XBV1dbvm+fbm6aNpqy0s7JN3Z6Lb3SwTS3EZ3wzIueuY2HBA4xgnPXPuD1rx3Ts+W3ku22u2r830true5GpBrzTaWt791e101a9nHZ/Zs+bP8S2YnskkglITKkYwceZyx6A4BwQMdO5JxTi3StzJu76W0tt5a6Ld93a9iakPaRbTs15Xfl/L0b3j81rI5140EURXJMYPmN0JAAx17gemfcnGa0upwT6x1Wuj6ve1r2X83o3qccYuLWu/lu/vlb7+nW/u9R4TvbOWa4CSN+8gbap/hKZyD945JzyT06bsHbMtY3S+9vRde3SL6bvS12dUJ8rUdHez3v8ADbtt3dm+iaTZ7F4Zv7e/MMLvtWFdkZzhsg4+Y89GHpwcdckVyTr2biou/Ttr22Ssvyu7pNnp4e85QS0b0Xn67W0s9f8AybeXqLJcbVlQHaY9gwedyjgjHUkY79+c4Nc6jzJu+zvovw1b8+rd19m65vdjDlcVe9lZfN/g/VP5X97odLvS1zbXEJ/esqoysDnKkRt1yQ3GST3HbGKwmlF2e17aaNX7K8u913T0t8Ue6jO0lf7/APgW0V79e9l1Pc9FukkkEbuzQywNHIMY/eOpUBWzgYODwOT34xXNVjo4p7rr28+mltk9Lac12e1Qm9Fu7rW9r3/HXfV310cNeaDU7H7GSrReZGDgyDHCnscZ557e54xivOa5Xe+z187O9ra7apXfpezNZSv0strWWrWj1u7Weum/d2PG/Eehst409uFe1uFOS2flY9xwSRznGR6cgmulV43+FrZXTu79vx8/K1ve5qtJVPXzS27Xuu3Z/K5w15pCi6Bjwrrn5fugk9c9sk9+Bgc9AG3VdPRq3Rv1WjW1mt/h30drWOaODjGSfNrd673S2tpFLTp5N6XvKSKwnitiZkBUIT1AbAzznjOOvHHpnOK7MNJOW91J6LW9t9/du3fq/Rq3vZ4ym+VyTva6Xz2XTVdddHa7a1Pm74gajJDdzxpdC0tlJSdssSPU54BOO3PTjG419ThFCSTcbJbq93r911or216a3bPzTOJ1Kcp8jbk5W+Wz6rX1Wz0vZo840Tx3FDaT2EF1MY2nMQkWOaZmwAUaLZnYGxgkhgOhJxuX0o0Iya5VdPV7bevf827ptNqPzv1+tC6dR6aXd+j1S267afdY6fw34q8VanrSRPLBpWl2oYiKe8jaUxKN7Tz+U7hVUZb5sEp94AritXg4yVuVO/lp22aWtrvdbatkRzqcLtzd/XrvfZrTRq1tH9l6HsXhz4wWEOrajbW2rR38FjHFE7W8nmQLNJlfM8xCQcOoIC8DJznILc1bKYVLe6rWWyT19Pd8+l9l7v2t6fEM4KX7xtvze3RWae/W1mvxPb7b4wwwadbxX2p2weVZjHbxFmkZQuVJ6EbgeMnjGOM1wvJYQduW9+r6euqttda6t3tHc9TA8SyU+Zy27u3kmvXTv37KNKH40afY3drGt2oS4i8yUs5CgsGxuOcKwIHUdcYzk7cp5Qpacml+qte3Xot+llbre9j6enxhBL4rO21/h2vd2Xl1e+tmzstH/aS03TbyKx+273ZTJtLMuBu/hHQ+uATkcnAILebV4eVRt2t+itt3dm7uyja51vi2nyJc6d1vt1tq9babXu99m3GO/F+1HFDdyvDdpHAsojk819g3nOFUnnODgcduTydqpcORUtW7W3t9+mvpt8ndc3PiOLU6LjGVmtN09enZq/Wz+as+W8P2oracyoL9Ap/1bLISQ/8AEDjrjuVx+uW6KnDllp6/Dt3Wl7dOj9ZGGC4wdKalKSklpq7fdffXyV0uispdx4a/aMtpbN/tVwhnZ8xCUsVlHPIPBA9Pmx2GcEVwyyC0eRp73v5PvstV2ve17qyR7kuMVUbqU2k7aK99fu119baNXuoy9G0v9ofSjNCtxcxL5mI0WEnJbIH3stgAnueccZwdvnzyCVKTlZyS12/rT5/fY6qHF/tOVTnrZK6lvfTbbfrvf1Pe/D/xRtNXtVhikSKYHep3cOjfKGLep+jDt2NcdXCuF4uKjbvo9NbavfW29tLvlsj38Pjvb8tWM7prZS6LXd9/8X+Z21pr0KILyeZFZOGReRKDkdRnt3JY9j2rilDbou1tfvfLe3W1r/NSPXhinUSTSird9td9Lartaz6W97l2odVtr+DdbuV3HcUIPOcdPukdeMjrzxkhmoJx1eq0001tturX6tuV9tbI5q0nCpFJ3um+vr28nbrotIu5ZtstFKpjbcB8j+oPJ44xzjHTGMfMK5Kz5b2V7N2+T876Ps/vW56GFqOybSv5d/kmn80tnsvimtbRrmVIWjPTcCPYA49O35Z7EVzRm53XLpez+/fttrffyjsejUr+zUPPs+z9Y6X26+u50X2CG3jBhmxLINrHk7ccZ6dcj156Y4JqnSpXcufVW938la+i76u/nqcM69WT5bNpO19Nl5/k1v3je5a023e1c4Bclcqeu49W6diB/wDWP3qzqRk1aK0ad3tZd7aWfTfp1vYxqJNay16+Xn1e34aOTvc6G2c+TK6SFZozuG4ZUKR90dM46AZ59s1VKn7FOSfN66b9+rd+ullq7W5TkdKPM5rVJ7d3vfpvaKWm2uhz11LJeTNKSMlR0BwAvUEZHJx29M8Z3Vy16kqk7WX4rXbu7pW010W6fxG3tVRinBKTa1v0T2f2d2tdfuslK3p90kSB2O1pJWCDHzADgYHB29eo5OeQTtVU1f4tEmttdH569XZbadNOY86vV9o25JW2tb01a7/N6aa6uW/IsxUXQWVkYMPKT+EA/fPXAOeo3cevIXepFODaesbatb37drPX4X6uyOSlJ+05Ur2Tt6Nem93bd325Xcx9QubCW0kt7yV4vNjdFZHEZjBHG5z8ueoAI68cndXHyyupWTs29f8A0m++1tbL0XxGtTm1utVv02t6avy23Td7mBBqcGnRW+jpM3y2+9J5gXJAPA3ggMSD90dVOeOCu6rThBx9mlpa99d29ezv3UdUtLM42pOaTupaf53b5nrvtbvy7I5a7ijlvmw4jZyWMhHUnGBk7TtGc/e744AAbDm55K+yd977vZ3V99OrfdWNpLk0+Jpdb622b/4a1tbK/u4t5Bdbi9s3msT5YIwUyDwcArnnr264x0btpJWt/M9fLppr3tvypfczy8RK7e6V9k7819Pv87JX3tZ8vonhG1VLGQXB/wBJiQNIq8qWOfkGMnBPzAZBUj+LNcvJaUmnu+2j+6Vu2tvN7cpnGcpWSk1189n/AF1T263jPLeWLGePzQXiyt3tPzDPQLnHfAORxyRinJuVnrH0/wAt0/S3zsmdMKU56qcm3vp8t2+1+mu2n2vPdT1h4b37LZxgwgEvK5BXDE/KrHqQAOfw7iqc+WCST7Xvbb/wLVrff8mdio8iTc3ey2WzWne+nZ8r++54Z8RPEP2eVbNyxfG/5RwOB1wcHjAxkcdAM5owmGdSopKTWttLXV7+b89dvN2ODFVFC+t7PXXXporRW7v5d+8fgnx5qs97q2oW0fzOOYzvYMzNwBjjBx6ZwRjiv0PKaEcLT+s/xHL3fZvTZtOzTbs2/wDgvU/PM9qPE1KkF7vKla3vatLty9dbpvTTpeX2B+wN4S+3/tA/CeMW679P16HULlWUM8whR2HmcYIRnLLnOMZyMmvoskqfWsyhOS9nyuOi97pJW/Bap262lZcvzPF0FgOHfar35VIyi76bSitLX7vz7NWTP7GY8bRt6dPxAAOBgYHtz7Hmv2ao/httyReuj1iunTbu/la8vwSlT9nC1780pS/8Cfz/AD+8fWSik29bvy/+2f5L9DQKJRUrNt9tFfa3nHe/n+sgkj7/AIf1rOUUldN79rf+3S/L77+6ElQAUAFABQAUAKCR0o+V/v8A0cfz+7XmPlf7/wBHH8/u15nq2TyeMfT/AD3/AMin8kvv/WUvy+/Tle+y+67/ADlL8vvsuWTI6d/8/wCf/wBVIVnv0/r+v+HEJA5P+H9G/l+eflAEDgnGD+f/ANgP5/nQB0ukf8ez/wDXdv8A0XFWU9/kaw2+Z//S/uIr0DzwoAKADHf/AA//AF/59jQA5SAcn0+n9G/l+eflAJAwPAB/PP8A7Kv8/wAsfMAOoAKACgAoAKACgAP0z7UEz+F/11/rv+bi0rnnJyPb/wCyH8j/AEo/pGIwHB5LfQjH65P/AKD+XWgcd16j944HXP4f0OfzFBuOoGkm0ns3/Xf+u25Q1HTLDVrG703UrSC+0++gmtb2zuUDwXVtOhjlhkQ7soVY8EDPOMchislUg48rfT079vu120vq45SrSoTi4J/FurJetureqtzW03WnN/D9/wAFgf2Frz9m/wCMVx4w8P2aH4W/E+9utV0GS0tjHbaHqOBLeaJPIiGOIiTfNbD5S8fAyBivlcdgpONR2s4qTX3emm3XvZct05ff5DmXNGMajte0Vq76Pa2y0+FXej1bs1H8atNu7mzcRhGR1OzOflKq+A44AG5BnB55wc52V8pXp+7qn3sle+nk7rte3nfdH6Lg6sXblXwqO+t/NPS2t1qut9Emek6fraGIxscCVPL+8fvkfeB7HOOoYck+leXOnZxTSte92npr02t+eiV3a56kakt7WW103p8rLX5pro2bMV081oYCwdQCFycn5e/XnJHT8BgYWuWUXf8ACz19NfXyf8zeto+jRqXstlbd7O62fe3/AAOxTjWSXcjfIAOueD3Pvx3/ABxVQj7vL3i+nW1ttbel437rQ5qztotbN6d9bLvq9ba6eZj2V7c6Dqk00u1YZMoEVedrDr06nr8u7PX1FUoNxtdKy9PitfXVa2/vdtH7xjCpaW+l9Om11r6N2tvfeztGPsHhbUocLcQOxbzFLL3/AHhzx97p+HI5xjK8FbD2cuitfV3vbfZJ7bd09ld8vuYavGKT6pX1d7JW173XW297bSPp7QpGn05xnd+6LxkDJ3gcY5YjGB2A44xkbeZtwtrfVO/k9bdOyvdXXlY96hWVS+qutl12vdq+979emt7e9HbOIpoZlbZ5UrGR88FSfmBAwN3TP3fUAEZbOV2776dr6brvvra3ppudfO007LdWvvp8nf71195/Ee4+D5jqGmzBiv2iCXdEVPzFCRzj+8AucYPOeRzXFiLpKyvpbTyfXXu12bWyeh7GEqKSSV776em3fVWW67u7ScfVYdPt9Q08pIQzFNrsx+63vjHXjOenfJB3eNUqpStdXi+m677Lf52VtbW9711SvH5X267992lq7bXtfc8x17Qpra6jypEfygZXKKG6E8DHHJ45xxjBNTGulpe729XbRrddO+mi13M/Zt9G/Pfr/ilr5fO7tc5DUPDzOWnSAF4zltuD8q/xfdBwfwHc9Du3jX7em/5NrW176W8735Y17K9vcfnro7915a6denUx7zTlktn3wmJvKIACk5+90bjqeDx154BxXbhq7T33ezs/O1rL7u+jtZqOVejBwcWnbu/v6+mmutk9fdPif4uacI3khtrUygvIWDEqhbkGRm+YuFwDjAHQ7gCNv12X1nZcz8unXW/k9/v1tZc35lxBhkm+SNkm25Xv1vd6Lb56b73Ph/xHrWsJJcW2nXkgjt2aELbgRhJBnzGRxlhsJzkOeOOMfL9Xh/eS0XS/l0XS7vpvbo3bc/Mca7SaT2bitHb89e91bRra15XfBVr4otLe7vD58t1rqmyt57uaaWaNSm24kJYN8jRP8hDYO3r2X0IRT6bf1vvur9eve8fGqVGl+mv9P0urX6L4ew+FupaV4b8ff8Itd6vHfwSR/aL64lCLaSrDl3jaUKSH4MfLNtJ5xjNdKpLsv/Afutr+mttL6M8+eJkr2el3rr6q21+z1Xk39qh4v+Okeu+N9b0XQ7dtGtoHW2s704+zRQ2BZpAJV4V54/lkPfOCWzla+rqTu7NK3T8X+C3V76WT92oZhKmrJ2d9Xf8AO/nbS+zW20fMfG3xmk0Twhq2rPezJdXF19j0xPMILxw7ZBJCDuYREqw3AbT0+Yk7T6pHrHdX0SfmteXS7aSspdvds1Kv7WqJt8zd+z/4HfVabO6tbllWvfi9qOs+D/CXjNdUa3m3xWVzb28oW5LeYw8w7ApZNqDeOeT2wAyWCjq+Xfv5/wDbrva/dXWid0zVZxU2c27WVr23V+iV73XTW19LtlPVfj3dweI7SxudTU6PfxwPEpfa6XIRQZN5+ZSGydpVcnjJBBVrCQTvyxb2237q3Iuuu/bcf9sT35nrZLW+vn3ev3I9d0Xxlq0dpLrsc4u9N065ibU2ac/aBZTff/dA5IJ27ZBgAdSc/KToRtstNtN2u+2uvf7rItZjNtWk9H38tddL3suu21mpHsdv8VNRkNo8EitpSCNonV/3m2UDarHJDBARxjrwWGTXnVcPHV20S7flvqndPWPkpaHr4PH1GknLTffVX9OzV2rO9k3ayZ7Rovj2C807yo7+S21XGI5cbkmjYcgjnbIeQpUr05yBXnuinLlsrX7bfi0/PRPS2p7H1yUY+0UpX2dtrd290/NrzTjrE+0P2e9b1LVVggub6afP7t3ZyfLIOAvs2OAPfouSK+TzujCFRuKUW1rbW77p7dN7PrslaX6ZwhjJVsNyzm5Wlo3fZ7WfvX2tbReezP0s8L2McGnRxTHz3bHMuH7ZIAPP4c8njjlfkaso8z6aX1W2ujb1203f3n6HTW1lp37317t6J9bXS72R2ej2Sw3N2zbRCygp8uFBXk4HIHPGMj3GSay5la+977OyXp8N9OqfzWkZauMnKKeqS73/AK9NV/4ElHoIVnuBH5JBR3Kuw64B7ADOOOueeD8oO1uWsnJW28+7v5PTTb71zWtH06cVGCdmrdPlZ680evl06X97srazlsohcmIKuNqlhncT+JPvyOO+CKzhHkpzuleWt3Zu343Xayi9Ot2c1So5VI6qyfq127bJ3W1+id7HJ3cmpya1DaW9ufsz4aW4wwVTnO3hTn0/QZ5NeO41XVe9ua2i89Xq1f8ATurRPS9pQ9mtm7bbevdbL8tmmz0jTtPdAXIAIiI3E5yQCOAf6Zz13EAivdjpSir6rTXf573t1V/LXc8SrKSm92m/RO+tlvbo9fLbXlS8jhtYyN2WYBpQuOmO/OThuMDHTOTk7eadWMXyvVWfW17Xd92tdVvpfpoaqEpRTs9PV673tu77vbvskpZMEbSwl4I9wdsM7jaeO+3qCDzgA9c8gkLk3DSWj5tFr+V/+Bfq07M5KvMrpq1r6fq/ue9+3W8ac+mXXnRvc/6qXYN8ThfKjXrjjqeBzgjsDztltPSO/l029bvre+nW9onn1avvOP8Ae2X/AA71u9ldN6Xjob0SyrHFF9qZYZY3gA8394pboe/JUZGOucjGdtHLO2rurf8AB/F363XX+Q6aEW5J37X2+Wr5dG9Nm/SxyGpaJbptglZrm0VyHlMhaRWboJB/EQfmxwPlX0yyVOej66vdbK9313ta3Tm+J2SN6kotJtp2d35rR79fu3fUpTWVzYW0ron29WcNbs6KZIU27ViUfMSPlyenHck5WZwai3f9P/bpad9L9r6I45uN73T17289tdumnm0rtGSVkUql1Gj3D8sqkDyVbgAknp0zgggDIxXPT1k9tNH5vV/L56Xu021aPPUk1HTrpZa/LW/Zfhtb3cu+KxzWtjBMlu88wCspDMXD5cAgnnGRydvOTjK16FN6LyVnZ/d218tX+COOUE9bbWS3d+2qa9OvktJHe/a7W0t00+1ItmuSsUlySWd5ABuJ25wCw6k9DgEda5pPWXe7+/X5Nv5W3d7+7zxp2ls12631v3j3XT5K9pZ95Fa2qMy+W8hVhMU2l3PZ5PQH7+cHHB5ydq+Wvl1v1tp6fgr3aPVoWUdd0vmvndX30vfa3keD+JNYe381YwA8LO64O8EAnlsDqfrx0+bqunJdLW116/N3fbukvN6RJrTir8uu2uy+Ss+m/wAN+7v7vyF8SPGUkEM1xNOY2YnEnJ8oJ948njgZxkdiPVvoMswqnNRS0Vntrs9N+/8Ai3s+rPlMyxijezs7t+r669uistNLuWnL826Ef+En1qe5dWktQfMS7IOJWDEsR8wzjoRn5e2cCvqedUafsHvFfN3u103a1vZ7bvY+cpUZYyVWpe+sOt35669k02vOyvY/Xr/gmToR1L9pDwpIsO+O0sNXnaUEYjW3hXy3xjnezcKTkdi2a9bhyF8bTezvfvd2ku6Sdv8AFp2u0fOeJP7jIKNOXu/FdPW2sHpbqr/dslvL+o4LtAGS3fJwCc+uP/rY6e7fs+toX35I9b6W0/A/B6kVFxtazhG1v6/y/C8lpGYU/sr1f5L/ACAemR26kD9D/L8P6NE/h9P+G/Xz/G8Ql/l/n/63b86xAKACgAoAKACgAoAUHHNA799fXX8mvz++wu4nggH8x+g2/wDoX4DJLAX7Jem/5t/n91hVI3Dgfr6e7n+X5UBd9l9y/Q6jSP8Aj2f/AK7t/wCi4qynv8jSG3zP/9P+4ivQPPCgAoAP8/5/z/KgBck4HXHt/n/P1oAegIPIPT0x6f5//XQBJQAUAFABQAUAFABQTL4X/XUKDLll2f3DHTvzntx1/UZ/I/hxQNJpq+lnr5eva/S4wKQRx3+v/wCqg05o99vl/n+X3k1AnNWdt+mlvxs/y+4Pzx36fnzj+Z/3ehrSDVmm+und+i0f4Lyu7oqEYyX7zSz2s/v0a6/0rtx+Df8AgpB8J/Cvxb/ZN+KWmeJdIj1STQtDuvEGiTuoM+mX9jE7Jc2hCtIkgG4OVK7kyD1y3NiacZUaumvs5baO/K3onZ6tbt/aVmrWO/C1vZ16Kp7e0jHsn76S6J7W6eTtrKP+fH450ubw3ejYWe1mACyDnai4HHTnHUKTn/ZwSv57WpvWOjkulurvta+isnrzf4lY/WcvruNRRnzPXZa7W9NX811bVkjJ07VFwiA5VgSucEbux6HJGeenseWrysRTcWrrST39Xu9dXb/Dq/JM+ojVhGnrd6LbZ30+VtfRqzTunHrrO/8ANAXe0ciFWXnqueQOoB4PT3+UAVw1IWku7uraaaPX4tbPvZ+a0Rrh6iae9l/w2+qWu2muukb+7qvM6SR5bcxLsVzgsNpPQAZ4x09h7KoJSUu9m+/9arvH11RvOVne2yv89er7NdVvrpc5vXdbgLbjvM67Qx2fLnjbgH0IGc7cdfm4D3SWqvbaya+eunk9N2+vePLUnC94p3s9NVbm1fR9e/43tLV8LeILqCeEySkwzKgCghcMhyOcDk5wMHOf7vO0q01KMnFK+vRt+f2rdE9OXz2XK6WJcJWd97O7100tvqrrv62S93668D+JxP5kUkxjVodoZiwAbHHzZYZPOcAe2CDt8bE0ZJ7q172Svbfzj99+i0W8vqstrqaVk+ltvJNJ7t3/AFd1tL0rT7YXNtdpI2HdJJo+cBivAVeOTIuMcjqevNciVr/ftvbz0tZ73i/RXPalBtX5krX77db2XlpvrbRX97ofB2uNplxHIHIYOIpU3ghSGx8wwc5GPTjBIbBrmxEeaMpJ2021s/V3T69l5WuuX1cs1lZvrazTWj6vWOq9fuXxfSlrKpRGiYrDcbHkG7+JwMbSM8HntxxgEZ3fMYqDjO109Vf7++ujfZJru7cx9dTpe6m3o1a22q8rva90r9FazR09/p0N3aLbnYzzqhMpOCoTkD+IggZ4Bx25xhedL2bs3zaNXWmt1rrpqmt3ZrW8Le9nUjy9G9tdPv3Wre97+XYw7bw60cw2hWjdPL+Y5GOnIK/gcdfcj5tYT5tFp7271+/RXeq7W0et7malFq6T/wCGv2tdt/4e2lrypav4I8yKR4xghW2xkYTIB7YP0+9/Fkg4zXZRny9b7dtdPn/krW0vc494Sld67p9Xsvf1afV6ekVY+HPjX4TubTT9Sv54hG1vDN5Qjx1IOTjYOSOMjce5wBivpcurv2kIqMt9W38r3383dO+u1nzfF5zQ9pTqO3LZStbfS+2+jT8lbRXufl/qVldWs8zJCkl0sb3brIMRopkLkyfw+YR/CQ24Pg9RX6Fg6qcUldpWv8ktde706NvRaay/H8yw0oSb2eyVrtK923tfbTbRLe6kZ3ib4o6v4f8AA/2L7BGup6s7PBdW+A1lYkFDFAo/1bZw8eOQHYNkrtb2Ke/5LfX089t/vsfN1otLl6u/3b/ja6d9Oq25vJtNju7Tw9d+LnnlgbV45rKwtph+/EhP+kMJWXdvkkKvECcg8DGMt30kreiXnrba9lt5PVNaLQ8isrffp09fltqm7eWxFpn2LRbKDXdfa6ttK+yTNdI8amfW7/c+LGFM5MjLh2kGd0at1PK9cFe3V2V0vLbpq1vv3vey5fNqSautnrdev5f+BeTtZs8Y+IpfXvDNh4geyt9P0i/1X7JpUUN0sj2FsQWRJIv4gXBzKV2/MV5OXrRw72f/AA/a8r9Ov3/Zw599bb/P1dmrtc3p2le5l6Pd27pd+BdRiaxuvJW/0G+WYqgeOFdiwgMEkZ2fOACGPdaOW2t/n0eunbRa9++2oe0bfyXX8tN+u77Wcm0cnpVn/wAJ3rTeHLyW00/xNpn2lLee6GxdSkt2Ko8iAqA/ycYPLkDAPLS111Xfps/w87XtfXtG41JNWu7ddevTz6vW/kr3Po/wN418R+GfDUjrJY3t5oV39h1zw5qcZjuZLRm2Ce1LsovYmPMaLG+3qSRtC89Trf8ArstLbpbXv6WZ30G00738rWt2/ma0Vrfi7NHr0XiNNS0uO+0lZHtGYPNaqyxTaVMTueKRD8zxZyfMC7EVQMnkN51ZLV/n16eej10626LQ9mhKUbO2/S/57rpZJ28rnrPg3xBfvDDN9nUTRGPYZG3pOpYKCChVQcnAy3PTgCvJrWjLdXXyvv6uydm+mj1b94+gwspTg1PZ2t11uld26pej9bNn7ZfsieELW50OxlvIbiK+n33N0GxsWWT5lMLc7l6AZC5P8DZr4DiGvOU3OLTtovl0fTbz2XU/YeDsGoUVS5mnL3uZJ2TdtFddNt+t9dOX9I9F0dLZREUlbLAK4VmAHf0x9cn1IPG34j21WpUas0790vRLTW3/AG7a/W9o/p8cPGjBP2ilZJuNrbd371vRR9G7NR72LQI5FZI943qMk5HB5OBnAPA79ADnnNdsYOKlzPV6rS34u+jb73u+tkRKonJNJWX3fh/8j5WjZyl0NhpghAiREJGBgcsu38COcYPTjrzzWGrdrWV/uW/V7P8A4Za3NamKUYW5elr38t0vd73XvdL6WSl0C2ok2jDsEBX0UNnrjHGD2HPc7eC1Tg1Zxe+ru1s+11d6PXbtdnmLENSnZWv3s3pdK/R3vvZr1s0XodJiRhKYyZOx6rnrgrjjPHO5uOnSneNrON9tV10fmvVfC+6W0oWJnfff07vrfRv/AAvXot5T3UIW2d3fakKkhF+U5P8AtYz0C9sd8cAVx1ajjazu5O23Tf8AC71eq2s7tx3dRy5Fbms73vv66afh6O3u8Pq0jeUpyAZTGFO7khc8rwOgHPJOOledWap25pX5r6dlu3prfW/WLvra3vepGb9lZLV2vf5LfTrb56XT94u2yLELdluUaHy18xSRgE8EjPzdeD8/HUAnLLvTUakIvns77RabTW2rXytZrv0UfKqNzqT5lyqz89W77Ple12tfW1lzad3cW8cQjCB1RTJIQScgcjHqTzx+YblV7aWHju6l/WztbfpfTfe/a9vd8bES5al10t8m777b309Ou5XsrOC4thNC6kTFmXeH++OiLnJD/kB09DWkklF2fR+XTW99Vbe93fzteXVSxLjTa5EvVvWz839/3csbpyy9XtizRRKxiuYMExRoDG6qvLyElizbuAc9++Pl4p1bWsvzf/yPXey67xsnKPbubs1yt21Wt/ndb2ts7b9FI5bU9WlBKQxSYRBvIA/1nIIAHb34+o5DR7WU1JcqW8d/x2V7Lzj6u6ZLjZ8zktNUvTXuvxX32Zxts15PLOLhni+dmRTt8xh2Jfk4P93GPTNTGna1t/u7evn08/d15eeVRvorrTfTdv8Ak1+du3S8rmirBefbb27tkSS1kaG3d1IVSBn90NuN5B4bseMjGW6oe511sr9F/wC3Pvo77X7sqmubd23vonr2WsdbJy263Tfu82jbwyYLyLIiM5ZWPKgerMeRyTnA7545rB7tq7u/6stPN9X07IU6kIv4L2vq5Wv5q6fTe/3rY5/XtRs7ETLHL5s8ykTYf5mxkAKeOOoHQnkc4Csneysr/PT0vpf1809diYyUnbbW9rt776WT0unu1bXQ+dfF2tfYbe7mzlrkMRkAiFBzjnOevH3Dnkg4wvdhOaq1DktbS97rp0sur/vWXe7RhipxjTm+Ze7fVrfTV91202+Z8FeNdck8Ua2NLtZhLZIWW+ReqYYBgDnALHjGWxx/u19tgKEMOlUlLmtbeNr9baPRbacsrtpq1mo/n2MxU8TiXh4xsru0ubm6Ppy6tNXvdd1fRno2geHLHQ9OjtoYWhieNpFJBEipICBtYZIyec9OM8fMa4cViPa4+skrQhGm7p73WqXxPayu76JJXVlH6PLMA8Fhpzc/aaJv3eW+srfad90t4rSyvc/XL/gljpEUHxyt4rVpN1h4S1C8nkkO8ubmdEVs8AKuQmCOe2Odv2/Bi+tYlu3Lyb9b/Gt7XWsb2V7XvdNn5z4uUnLCYXC83LGpJ+81zW/d0p6rTdrRN7apq3u/0dKxJIOO544H8h+efzzmv16Uua2jXLGMdddor1/P0vY/Bb3S8ko+vL7t+u9u/wB4+pAKd9Led/6/4f7rAPTJ79CD+h/n+P8AVZaurf1+a/P7wJf5f5/+t3/KspK2n6W/WX5/ff3QKkAoAKACgAoAKACgB+wnByOfb/7Mfy/KgenVv7r/ANf12Aqy856egx+u8/y/KgNO7+46XRSTayZ/5+H9/wDlnF/n/wDVWU9/kaQ2+Z//1P7iK9A88KACgAwT0/x/z/n0oAenX8KAJaACgAoAKACgAoAKACgAoAcD367R/wDq5/H0b0xQRPSL83/X5eXfykxhuIPTBz6/1Xnj0/AYwwZDsH0P5UANIyCPUEUHQcX4/wBAtvFHgzxV4fvYVnt9Y0DVdOkiKBlcXFlLEuVI/vEEfIcn1xUVNac13jLy6ff52uuytf3dKD5a1OXRTg/x3+/pptur3P8AOV+MXhn+z/H3jjwHfp5c+g+L/FOnWPnLseJrLVbiKOBgcDZLGi+Wp6++Aa+ExUeSd7dVZbdlr8Xl00200Uf1bLZe1vOOiXvLrtra9tL2/vfLaXytqMU2kXDqIioidkETdVbPzDA5OOTyORjpmvOxUOaMXe6um+ibu7dO1+9n1W0voaVb2jcG1dWv2/N29El87GjZ6x5jxYIKsyqXBPy46579Rx0649S3DOldJq99Houidul3v0v9+p1wnyaxlr0T67O219dF0XN1dzeuNSaCSG5fl4nXZ8xIZSMDIz68dRnHGM1m6fLdbOV9V5q2umu1+nmn9nrdS8Wu63TfVXXReTVn5WejkniC5tLiCGZCiySgrPtI+V8Y4PzEnPI6cenJWYQ83r5ed9bX8nZRXXfY4qk9E5dLer8vxteyT1etmo8ZofiP7FczRzjekEqmFhyGAPIXqNwGM5/TAFdHs000t2uXXW/br9+nmtnzcjr2lvre2vn8o7Wf8197vY+nPBfiASSQzC4BWVklWJjyAFBIP3c546DHsTy3mYqk7Svdbq3k1b8tbO/Z9XH6jKcTaSW3rvd+jS3+zbfvytH15pWtQ3Ntb2yhHeKPdtUc/OoCjPGcNgn0wBzgGvGnDlT3V776vXWzdrPdrRLvpc+t9unG380dLtPfTt/w9r30sZejTtDrM0UiARO7vh85yGycZ4+g5467sfNyVX7r6Xd+9/LbVu7+enLKyUfSy+u4OC2+F7fC3pbo79730s+rkfUnh29E1tBG7HamGTcQMDA4Ynr16Z9+cCvmcc/eb2fktPVrXTTa++ivqz7fC1L04q920ttfl63W6fTaL+L0O0vY2JjZ1bepAOc7MZHHPGePXnjHOF8mpNu72XWzv2Wm60+V9L7NnTUo80d3ft+i7t3Xby7y6bR7hSfIdwWDZVeN35nnB69OOgLY+UpVbdlq7Xemun8tr9tnfve8ed0+RNb6PXa1r9NW2lZdF0s7pnV+RFcWzq5bzOuNw5z0xwPTHHII4znZXpRqNW0VtOuvyfLb77p9b2sctOm1CV1v8+m2ne73S+HZayPnn4x+BU1PQ9Qje2JV4H2s64JyG5yPb0249D0b2svqSjUjZPR93p3tprbfe/pseTisDCpTqJq+j+V972a9O+i2u3H8a/H3hXTtJ1XUItUMwtmgdUSF2jM88JZY0LcNsUkeYpODjO0kBm/QMvqrkSTd73etr33ut7XXXpr1Z+TZ5geSvUTjZcqSVtElp59V09OaSZ8sXq6ekF/e6hKjiGU28NrMPkhCs2ySMk/vHHAIAXPXbwK+ooTuku6u15Wun1t98fNPU/O8XQSc3ZLl0XW7btffVPf4lbqndKPA+Or02XhuxuZLvC2siz2NnFny3nkYKhMBOC4YAspC4wD82Pl9KlLp2fk777ab630bvtZ3SPAxULa73126b9H+DSut/wC95hF4u1WfxH4d0bXja3rQXMNwIBmT7LHdK4eNV2qsIG/94jLjIB3DALd8Ht6fc9lZaLo9n0vpc8aqrXfnr5v7r626r5K7Oa+JXhDVfBeuaFBdbvskWowST6arGazW1vSZ4DOjcKXilVlb5Rtzhe1bq+vfTrv66adrp67u9vd43fT52tbRfm2393ZJ3lleO/DdnL4nvxbapI17Z29leeH47Jpl8i5azjmSHzHwGjMhIZQ5H5UpX1vbTW/9LS/Tb4Wm2rgvL/gpNatd9d7372eiOc/s6TxN5WoxRNp/iJPKnIDlL6z1KzAE24EBpbS4ZTKxO1VZuCcVnKyV9e+/rdWtp6+9u1d2fNvSWq163t67a+fa/wB+h6cJNRuIbbWNWzNdxxJDqKc7/lXi5tZYgqzAYzICJNp+UniuSo7dOvk0rLrffTy9baHpUF52/wAtvPqtdu1nuez+A49IvjFPp14812pT7Rp8knlrdREjduXfHucjgA4Cnsc4rjq2cb+V7/kuyvr56WPWw9Rqaha60fVp33SXW/yfmldn2T8O/DkepeKNL022Er6ZdSIklsY8S2jttJQuqj93GcsrZ6+oFfP5hP2dOcru6T179Gt9NdrK7s9dbH22V4ZYipTglpJq66p97/PS1u3nL+i39mfwdJpXh7To5ER4obaNI5dvJjVRhXYjO4Dg5P8A3zja35Pm+NbnOCTV5Pe/4b92+l3quqP3Ph3K5UacG3ey0eu36306d7cuspfZ9r5ETxxiMfOvVQDtHc9Oef8A6wGSF8CniJKW3W9u79bXT3f2n9yR9bUw75Lc9/8Ahlvt6fFrove3l0FrH5nyneVJ+9078A5HTHPT3+XFenCq6yvazXRel+77bfK70PPlF0Xa++r3f3b9Lbr79EbNrCFkPlQ73UcDk5HTn5ep+vPfIyVv2ezt5p/j5W176euiOWrXWza07PfXfS+jve1tNWrmzDbTYB8tS7Elo8A+WCeTgYzgjjLdOBjOamaVvufr5abPX+WWvpKRzqa1SeqaejSvbpazs/nK+70aNhIUSEsSuQOR07A8YOM/j/31/DxVZqLd19z/AOA9Fbv81uXTV5ej2S/VbJa7N/O948jqUqSeaqMrBgwLEnb6Y6dgT9fXgiuCtU+H3l8Xr921/wCr3skexhqabs7uyv6v79Hpp99t0ec6tJFHKijLLAi7XP3Yi+c5JGOc+mMcEnADcONlKUYta21bvfXb7/K7362vLrqcsYtLa2lnbfR97dHo38tGVJr0pp2LZFeWNX2p/efJKg4xwQc4wee5+bbvgoTUE9X7v3bbd/PbpvuePiJRvKSs9HdrTo+++/pbrFNMIfMm06NrlzG8I3OqNh3LDhOCrHB9/pjPze1QhLlvZ9H2a7u13orWV7emp89ial5uzVrrr1bs+3R/LreyZb0u71ON5BeLHb28f76KIkrIEVchzknJfqeBnvk4pyg3JLd9ku/zt5d+qsvdHTqLkb5r6PXs1p87aLr+bjpWt5PcrO8qMxuCknnfxCNTyozjAbCg4Ix3zj5+WrQlHe7vr07PrffW+3z1aGqsejV7tW2u2767/jzJed7R8+vtXsrO+uI4g080rsTGMvHGOmGPPT1BPHZiBWlOCUdknba63t39XpeKvbS11IqUmrtX631tZ229Xu/d3ttqjnUku72/kkUxxx7VGYz0AxkAAtkkE9sDGDn7yk423Vt7XW1+nn0007dU5cU6rba21bS7eXWydtLrz1sdcJbW3ijTDiOMZUOAB5pHLMAoLMf9rIGOg6Vyyklu9+mn/DddtLtW8pduHm3Zt9d+21r6paeS9b2Zz2s6vdJhISqRsrq8p5dcggbV4GSTjqOnGcEN0wTmo2vql5fn8n93dEYh8qk7pau+3nvtvq7205uh8/eIddlguJRdysrqpWNi2GdVPLngAHBHbGeua7o4W+6eivp3v1eu/l30te5531lR00v3t/wd299NPO/u/GnxX+It3C89nDJ+6uT5EIDFmJfvjgjBPUHjvjNfS5dgYUoxnKFk117267b72s2ns9DwM0zCT5oRlrz2ttdu606at9H0e9+WPIfD3wXdz3A1LUJtgCiWMbcLIWbcwlyo3k8dT6YziqzfExhS5aco3s1p12u7Pa6ettraatCyTLalav7aak9t1ql5e8undaXvZaxj69dme71JY1dlV2VI4wuI1iTaoAHIwDznjvkZJavAy+c6kqs535nZba6N+b383qrbKx91Xoxp4ety7KMLfJ6727Pbvpe1j9dP+CVb3A+Ouu28iKVg8B3EQlC5Df6bBIpLdQclgRjvxiv0rw+lfFSSe+j805VFov8ANq++tk4/ini6rfUmu7a1/wCnNK3fRry6X1uj+hSLJG4459Pz68Z/75/LpX7H7PfXW/bpt/Ou3n66s/nyjfk135pX+TJaPZy7r7v/ALoahUtNaP8Ay/WX5/ff3Qkj7/h/WkBJWU9/kAVABQAUAFABQAUAFADw5HGOnv8A/YH+f50B6f5/1/XYefmX649/f/Z/p/SgfXW/6/idHooItZAf+fhvb/lnF7t/P88/LnUtdWvt19TWFraX362/T+vxP//V/uIr0DzwoAKAD/P+eD/T60ASqQT05x17n69ev1/OgB9ABQAUAFABQAUAFABQAUAOH3W/D+dBE1dL1/RjaDPll2f3f8N+f3C4znBHAz37fUJ/M/Q8UD5H2/G+/wB35/cIaDYjKGXdFj/WqYt3u4x9O/b+tJq6kv7svwWvVfrvtsNaNNbp3Xr+P5ffZH+e9/wUY8KT+Dv2uPjrYSyCO4Tx/ql0vlgxruuJmuYnUcfeV8dwWB9Sa+IzSHJUWvd36q7j06pNdHZ7aWP1LhuUJYSS+20nbzs937u+yen6nwZr9uuuWsN9aW8r3MKbdSReT/dS5UbecjG8HnGSWzXDKKlDX0S/Dyvffr2srtnrYfmo1puq2oy5km15fNK2r67Wd00eaymbTyyIhCLlvck55HbqST/jmsYwSWtl8/w6+t1a/mdaqXdoa9+na3n56uProzodPv0v7MwXQCy4+Rj1JHQ9jgcfUdjwK5q8bq8er7bfK/TbS2/S15elSlaL5nqlp3dlfz6XV123V+Q58XD2txIlzM0sCyEbCvILEgE5YnAJH9SOBWFOG1939+vpt12XrY5q0rpq+q679Plv0tLS/wBq95cpqdz9jmmwsgViJEMOCqbskk++eeh9s/w9MYa623Wn9N+j081a9jyqvNFt26tu76efVdXqt77JHovgnxczS2Z3u6wuFY/dC4IC5Htn/ZA9MBTXPjaV02ui73ur9dPPa6uo2TV2z3cprc0o76XS1s3pp9lp9louvSyPtrwd4sjnmgk+0AM0aRhSSApC8HPTH48Y/iwDXzlVOLle7vf8e+rvb5eh9fGt8OvVX1vp+C1tbe3XRI9FGq28V9aXTTDLXQUk9CBg5PUYyD6HnuDXm1oSjHXp+K38+t3d8tl1VrnuYOrecbO+qa1vZ230jr9nS68rXPpPwnqtvcQjB3klQNh7fp0zjGeehxzt+axtKU7tO6Sdt187dvm9NVza833+W39mtdru9tfPo07+qttreR6kTxA0IKFVye+eeeSPX29Oudq+DUi1u7ap6X2vqt3ey0VvPe7cvYjVjrdeatrdJ7bWejXq9Xy2Tl0tjeQo0UrNiU4UnHJ7ehA64HHXrnG5sqctFo9N3dt+f4PtL5aKOVSPOvd0TSte7tK+um9r6uyS9NIncWmpRwSRozbskeVnouOg9WOcjkj1JGDXo060dvvd+6+XT/L3rNycMNOKalJNu2qvb8Fp59t3zbjfFcTatpdxDIDhoWAcgYC7cHkAYJyM/KR2yuM162FrwjJPX8La66K6e33X+3e0uaph3FTUrO972vrfbflWz2vrbVu0T8av2nPClvpD3l4qvcMfOSIAnEeeWYtg4Gep+UnuTzt+2yvEqbSjdvTS+99u191bpvblb5Y/mHE+DjDnmtlzNN+ab7PTZa37aNWn+alt4K1DWbn7bfX8Nppdk0lzK7P8nlxsWKnkbnbARQw4bDcgvX2+Fqrtr11v+Hq1ez/JKX47joWvbRO/LZderab10vu/npc8y8Q3S67qAu/LF5Z6XeYtYBiNJWhdRAjKAoaVsAEFQhbuuc17NJre3n/k+l1/nqlblPmcVqra3u1/n38/vvpa5j6ZpWuLqviHWxozw3er3LLp7XEO/wAqMW4LCIckYIbkdM9uDXdB6r59ddd301TWur8o6Nnh1etl1320ej9ddPvWujjtfGK4utZ+HkfjYafAWs4dNtNat4ZXE5n0a2W1acb3JxMql3CkbWxgDHzdKfrrfXstu+tku8tbK2l5cbXXz23u7X3vo29Lauzdm72PmO7vWvDb6nb6ld2+mmK2nEt7sW53BIyYIGjaTfg5VCW4ReeeKL9dNrrrf/LZ2bTa62u1JRW1vTt+j0t6N7LZs73wt4Xi8a6hrMV7cyXd+tpLfaNHDK1vcO0SFmhVwcM7qoyp3dOQcfNlNpL5bX36ef4drabnTShd/n19eq337dLq50Pg+41HS9tlZ6vPNA1wbdtNuLK2uZo3DbZ7R3uIGkGOcMrICPTovBUle/4X8/l0te/u307WPVo03ZaW0t89dd9/tbu23dx+gbT4Yajay/21oLCNJ/IuWjG5LmF2w0q4XaPvcqoYqBxx92uWcrb7a7tfrfr5dd38MvTw9NTkrX5lLydl0a2312331skfq1+yV8OdU1PX7K+uYJL2GaC2S6+ZhJDNtUmZgYxnI6hfTbkAhl+QzjFQjSnG7jZN/wCf5t2su6vtH9N4ZwVapXpzglJPlUk01bb3tpdfv6t2P6JPhn4csrXQbO2hykMMKxkjjJAAJbIB49SPXhs/N+Y4p06tacpat6dHa2t/Le2l99b3Uj9ywanh6EVJJtLda2v31T0W9uXorv7XrsOiIkStbjMrOFDZB+nUg8j64zntiihhqVR2ikm7Xut9/N7adF1WppPFzb+F9fS3nrqne700v015p/Klt5vs8qlUK7iwA64PUjPueAfwxWtXDvDyhFLm59eaCdl2un+tvndcrcPb03UlOEOXRKekvlr3XX7tLGvpstvE0mx9zAbSTnAJ6Zz6np65J6GuhU06d20nvr5Pr/Ttf1cfn6spKtyKM5q71S6eWnd+b731ZfsrhbiZzv2bW+bnG9Qe38+qk4x2rjlyK6jJSezVtv8AyZ931lfdWtc6nhpxim5cnNqvxu+uifW++yViw25jMAcRHI3jnj34x+Q/DtXn1qUpN8u217J6d730srXvZeaeo4SUNG7vTZrp5e9/XfY43V4SttMls6FyMBiehJxxzngdfTnBGcL51bCyaj7yun1vb7tbd9X96bPXw+JSu0ndRvrs7+d9Nl0t3tb3vPvGEcljonkogN5eNaJ5wPLb2ZCi8cEE9SFGR1xVRwcq1lz26+i9f01+X2uLFY/luknbVryvf+93Se0brrqeD6hfeIfDqzzia6fTS7NG08WNzISskYbquCCRkDOMjPG32KWBVKipNp+8tFfqrpfk1u187R4aWI+sydNRlF8rabvbTS71f5SSVr315ez8DeJf7ZtjcLcGa5hJWaMgMoQnKEqCRx0DY+YjAHBDbKSi+XlbWuqX5/nvpv7x5WMpunJtvm181azs7e8mu27v33PQ7pRNCt9I0kx43EfL8oIwNnQKBnPA6fdORXTGnf8AePpfTTW/S9nfTbbRb3PNeKSjKHK79Hv203vdejXfry402srcyRW9qLmJoxIZSoAjMY4VN2cluc568c7eQ3JiJx1tFr5qys+m9ku9+6V/tdeF5qjTTVluur0TXbbS3e91e/vcJfXE0dxdB41jkmLJbFVBaUHOX344K/7wOfTGa4EpN8107a28k/krpK2qlbzuzunNRUoyi3dem6tf7L13emi3vrzUNG+22VyVWJmgCtK1w8h3eb18sqflOCc98Y6EkCtkvaxurK299Wlbpa2/Sz6Xutjxuf31F6tPfpvqnp+i01u7csd1rtryOYyycwqZSInDBWB4TI43dwMjB4ANcUqfPJxT6u91v+DUezVt97WPVoN043fSK8rNL5eXW77rRHmGveI5QZDFKMQE7mclQu0kMCOST75wT0yK7qFGa5fKy2d32tqlay3u33itTLEYiMo25bb69tO9tenTyadkfNPxD8X23m3d20+AkDxkucAKn3zjOSZCBtAPXGTkg19BhaN4r/h+WXfazS3vuv5ZJNR+arYlQlL1a9XfZa9n+l1zXj8r2mn3nifW/wC2bm1drbzVSyhmyN6ggCUR4yFIGQRnOeoBy3p4nFQpYZU0muWFtNE3bde9e2u3vbJP+948KFTE4p1OZKLm3Z3vv3u9U9L79VeycvqPQ9AltoLe22Hay+Y7AcRLjnO7kAHAHQHoOuG+Pq15TqPmbcb6Ld9P719fVv0tc/Usso0qeFUVFqbik5q1t726Prp8O9+ZsrBFn8QQQQlXWPcpwCNqAru3cf3gcHB/HiuqFSGEoKo03Go9Endpwd9dOt11XaztzBNTlDEUW9lF3stea7t3ula+m766H62f8EpbRz8afiDcO5Js/CVuyoOohe6UMy9ABlQMcZ4wSQTX6X4dwftPa3i4zTSTvzK0pqzu2tG/Jdo63PxLxhnGjLAQlHmam9Vb/nxDTfsrq3TX3dj9/l3FQVYYIBH0PP8Adb1/vH8OlftTVv6t/X9bXcY/z+oqN0trt/e/V/n56XFw/wDeH+f+2dIY4Z7nJ/z7L79vy/iiUW3dNbdr/wDt0fy+63vBJGc7vY4/z/k/rhZ9nLuvu/8AugEtZTpyvutu3/3QAqPZy7r7v/ugBScXHfr5W/8Abpf13v7oFSADnj1/z7fz/KgAoAP8/wCf8/yoD+v6/r82Lxjvn9P8/SgABwc/5/kf5flQA7ecg9vTP/2P9D/8SAdPoxzayH/p4f3/AOWcXsv8vyx82U9/kaw2+Z//1v7iK9A88KACgAoAkQHOe2P8/wD66AJKACgAoAKACgAoAMHr2/z/AJ//AF0B/X9f1+QUAFADh91vw/nQJ7r1/R/1/wAONwaB3Q9QcE+xH+fX/IoE9vmvzGlTjPt1z60D/X+v6/4IikrggnI79x7/AOcfUcmn1tu9t+/mmv19AvbXtr/W39bX2P4jf+C2/gZfDf7ZfjPVmEZh8Y6No2spGnymO4jgkgkzggiRyqOc4znJz0r47OoNV1va9np5rez83366r3ub9E4UrqdK10/dXXVb+uj3363uvhPxMj1G5sLxBCzRRjck6g8lSeVYHbkEAjHJ68HGW8pW5FFadr63v0X37200Svdn1VWPM766a23eqWn2dnbpra7tZ81fxXogvbNtf04bIE/diFCGw4zuDY555J4+hYldstd18vudtb3tfpr1dtjjVT2ctel/8tuq0fVdr6e95JBqc1rOfPjkWNmVQyg5jycHpnH3u+3OOM9a55Rt/T++1359Zf8Abt0ehTxl7LbdJ3vb8vwjLzbL89yhk8yV2IG3DH/lrGfunOGAwcHk/TP3VyjDXXp9z/H8Pe/Uuo/dd3rurv8Ar/gfNnNai/nvO6k7VO0AtliD0wvcAd8cdMLj5umMOr0fRLXa1r+r8l+D5vPm7prrJPTte/nG9vx3srjNFvjaT2zBiAkuyVV+VdpxlmGeSB0OfoeCaivByitOZdr9tdtNdL/jrojty6v7KSWurTVu1r6vaya8393LL6T0XxLLCLYKx8qNBIoRgWYq4Gc+30Xr0wK8SthdbtdO2umy0jezXn30jdn0scYnb3t7f8FPVdNNXpFW1ue82GvreWAlEpOJop1VmJYAAZXkcgnjrk+5A2+diMNeOif5PS9+jS+Se99FL3fey7FxVRXfW3a70t9pPffWz2srH0d8N/EvmRwGRxD+8AIzkYA9R3PXG047kgCvmcThuVSeuzv31b8lbz39I2P0/LcVTdBPnV+XbTe3q9L66P5O/vfUNhr8V5Eu1lYxfeOQOB2XsT09+xLZyvy+KpNa6rXRNOy66ddb9tOzuubtw9VvVrRO2jeqe3ezVr7W33uabXtwJoGWMmPIYnd2yDnvkgYOCPYZNefCNr2V13/pu3VXv56WPoMPTU7ya29L9VbfTW615lv3ueraF5F2YZ2PHHy/eC44xz1PXvz3zkUQlK+q22WqtfV/ZX4X80krHPKoldWWl7W9em3rdeutmzv7mATWMkRiVlcEZyM7T+WCQxI6joOMmu+lUl0vZOy3V9emllZrt/4Db3uepNSTTsrq+r206LstOvf3b2kfm1+1R8M5td02T7PI8aG6iV41+VfKZ/3jMf4htY4BA9OAQa+rybEunVV1rbd67a6arSyXbs7ttHwPE1B4ii+0ZK6Xa/q9tEtFrqr3Z+VfxP0zR/DOkSaLbxXUk8reULWJkj82Q/IZZtwz5Sk9FYZOCDzub9GwNbm5e7d3038lfdq2/wBq2rbPxzNaNpT7RjJJdL/zNX77fDv5tnzlrGh2HhLRp5LnZHKIo/sdtkTNLe3LYaZmY7gbf5XBG4Dk7eMV9DQqNt+Wm+llqvsdderVu58Liocl/V693f5f00ldfFlw+J7zUvGrtq002nabpOiQLaQwY8u7uJLOJCEBU/fLNISvIYZJGSK9SlL1Xr0V7/fu9tVproeLWirStv0e/wArd/PyOk+Hmu+Eb3wR4v8Ah94n0hdYitX1fUFkubh7eea3vE/051ki8qSQ2sYWSFBnBzgZyK6lJrRrXrv26a9l3d2tb+6cfJraz0svJ27X76q9rq11c+Ytf8M29j4w0HwxIsUmmvDHdabHECvk2EjrLAJdyZd/IddzONxPPOTQ357aLXf+75f1cajsv+D5K+3XfW/ozvH02fwl4vXWNPR7bT49k8AAwsjDG8Fuu3aSCRtDenOawqysrW/u3bt06b9LvW/lJXaOyjFXuttJfp5dvN636tB4hEMHihPFOiWrwWGqPHqMUQAMUdwuPOCbcA5cEkNnAbnqTXnuXvWe9/x/G35dFa1j0to3Wtrdf+H7dtOt7H2b8G117xXr+lwXEDLHq0UbCEBSGKFR5kTciIOeQq8L2AyBXJip8tOSvZL77/10V9O2x6uXR9rVp6WvuujS7e8ru3X8G02f0K/srfDdtLt9MupbF1kiURys2ZGaIdSWGNwwPTvxjNfm+fzqNTUXdPX+Xs03o/VaeWlj9p4X9nD2bWjj8W2tvXrfXa+17n6eWFnBawR/YSIgy/OCCE4HOQdvoeR1xnJyQ359KU48zlzXXa+z+7RJ7X8lZI/VqM4VKcLNLom7emq039eutrpmtZapNCJQ3VHJjAbOcAjI45B68bfdehp0sb7NxSb3+a9dVbXultbVLmN44WL193yXRPo1o+mvz8rS0Y9VQvE05RzNkSBiCykHAIB28kZPcEDkdBXcs2gnFVPeb2bd7aa935LWOr+J3bjhXwFWpKCpOTit7fLpbT5y62styj/acTSzWsYIRCzluEZhnkr8w3Y6cdenHBqa2M9tB8skn2d9tbLdavd7eb2UtqeAo0EpTtzWvqrv/h/y01V+Un06aAXgUS+Y8zDajSYA9QeeWJHpznoM4XmwSnCVTnd3N+7rb7t+uvR207s8vMqqqKmqSfucy8nfbayWi01+49CE4tl2AoIyMurcKCeo5IzjpkA56HGa9Rwi0rb9Ov8AlZu6e11a668vkRlJNaPd2e3za18+i8t2zgdanhRpJTtUAebHs5ORjcMcemPbrkferir046Lz6rS3p2frt01XN6VOV1daWjd39L6WVvl971sc3fRTaposz2zKk8ryRwyyqJDDIq7wwU8BudylcYPXPJpYeC5t+qb013Wum3Xo778ulo+TjHaV3prZXej0/wC3tnfS9m7Wtb3fj7xD49102muaJfxwvMJZ7WSC4j+e4VNyJcKn3oQ4+ZW43EDHYN7kKXPSS3V46+i3W+qflr15b+7nhMRClUcnLeLjbTforu21uvqk/eRnfAO+1K1n1qS6eJLVCIF3kfLzuIPLbgmR94+4Y4rKeGaafzVt9ttlbtdfctDlxuKhOTcWtL6PVt9t3v5pLS2tz6gW5nnj3m+hFs4b/YMkJUklGLYPXAwOozxkbcm5Qunt53W+1la/Tf3ns+6PFu5N+f6edl+X36nE2t4ReXNt5jCyZj+9Y/NhSdq7uDh+BwOnPBBrz8TJPW/y36XTWy8tE7230R7GCTitb6q/npayetm9XrbTTR6KWFqt7cXN5bRaeUjVZ9oLfPvIIDHJ3fN3574HIBZeGDl016evReeu2lr+jtLetNK+vz0utXv217bX+1ooxXupRwSpp5lYsCZJTEFwGbqG7kDcRjByO/IC9kITjBtrRaW2169308l965PLkv3remrul+t9e1+nRWe5z2s+KrDSbB7e1mjRMsXXHLOeBudtrYBJ7KO4ziuahGpKs01p33Sva3Xs/Pa2trHoVJ8lC63Sva9reXydtLx2u3ufPHijxQVtpGlcssxba0edrc5AHIZjjGdw2+m7nd9Bh6WqVtE7arVrv26767O9r3PDxGKvF2te62dpfJJy8tV1fS/NH5K8XXereJbqTT9PZ3tVmC306ruCfMMIrnPVuCAMDrzg17VNxpLZK3Vaba/Oy7r5xTjzeRUjUrt8sdNXf3n5XfxW+V+3Rs908A+GpLRbO/1VCiJBHZxF8OsiIowwUYUDA4YfPzg54FeRjcUnKST0u7N79dY3bVrenfoke9luWtOnLl1sm9L6u3z6rdLvra57JdQJa2dzdRrIgaERo5yY3GcuFLY6gDoB6ZXNfPqbnN95PRr5+S7WsmvXS8vvMPQ5IWS227u+mjS1fTaNvvZwnhWNZL291IqzhdwkyBhYt2CydSTgZzjjPfmtMbUccPCD3Tlon5xeu62//ZldjjQ5liJ2vpFbLa+3rrq2/ktYy/YP/gkzb20/xF+Ld/BncPD2n2YZuqp9ojkIHXAO7JPfphSCy/sPh2n7KDa110625ptLpqvVJ+d2z+efGtv61gNvi16b4eGqXna222ml2fuxGSFyVIyc4yMAHoB2AxjHI/D+H9ju3a/a33fd/Xfc/B1893v6vze3r9w8uB0/nx/6C39Pp0NAwyw5I47j+vf17A++OqgEqtjPHX3x/Rv5/nn5QCRW3dv1z/Rf5d+2PmynuvQB1QAVnU6fP+vwAKzABxz6f59/5fnQAUAH+f8AP+T/ACKgf1/X9fkFABQAUAdRon/HrJ/18P8A+i4qynv8jWG3zP/X/uIr0DzwoAKACgCVDxye+Bk/5/8ArUAPoAKACgAoAKACgB4+4fr/AIUCe69f0YygYUAKDg59P8+/8vzoD+v63/L7w45zwfYcfpn6dfzoEvvXnvv529dvuFAYjgkDPPfjvx/n9DTW/wDX/B/rtuDstXb+vP8Ar8GBJPGeB/Tp+f6UeWnrp0/D7lr56CutNr6aXX+fm9m/ncaQenQ+44/Eccfj+VC1a9f67/l94pSXLLVX5X18j+Un/g4U+GbaX48+EPxHsrYqnivRNV0XUL7GUkvNHeKQW4UBtrG3lLISx45AOSF+cz2m+bmUZW72vfZ662eiWuuuiStaX2XCFVKmouSUkktXrytSezat3s/RNH8v+reZHNKCCyAqMjqW6Me/3TwfvY75xhfmlKM2oqzktLb7Je7pa13fu18mj9JlDlSbjZfn0XRd+7s9DZ8PXwDyafMVa2uU+WJsBRKQeMH5eOeqgDp32to3Bq+m79dNn0tdK2ltra35peZjIJpW63b0vbybUtXrpts9tWcL4r0RrS9ndYSsDMskYThWdl+6CBg4IHPzc88gEtDi7PZeutr9N1bfr87WTjz0JWte90uvS76bv169NLJnAXJuGXyXBBZMA8goEGcE7fY85Ue1YqD5ldWV9u3l57eXbreXoTqRa+K7/B3W32VezVu/W2iMLzGRSTIzMxwx6lR7jjoB1x3BweBW2j62t217bdde3TXucbe73300/Ht0/GxmNL5TtLE5faP9XnO5v7x9sfTH45Zys1e3rbRP80umuqeu9hQqcmi0eiWrv5dL63f8tuvY9C8Oa1dS+XGkywFAo8sne0sbEgspJGzBHyjkdPTFYtRWjStbT7Vt99umvV7papI9LD1ak7K+t0um6e7Wur0WqdlfWVz37w34jMsUdmkzFwURmc4G4kcEc5GTk885wcYIryMVBcsuVa23tvbfS72SfVWW8ndn0GHq+znGV2tdr9mrXb62aezWjvdtM+gPBHiOZr6KAMsKQHEpWQKrFegCkE45IHJ47ivm8TRuprk2je/rHW+u7tp+avyx+3yzMX7kXJ8rcddb/N6q7+V9tbH1H4a8UQEoDIyLJ8u0fMSR1ccsC3Hr+eTt+QxuFqyT5baa9ktb6aO9le+q1uuh+h4arQTT51tez21801orv7L2snd3PWrHX0kmhh3l4igGeTz6Hr1znrntzmvAnSq0pK8fu1v1/u7WXTW9vdtzHvUMTTUdJK2zel9PVx06K2i0Vo2XN654cv5YmGHPltyinjBGeO/UHt0IxnkBtKdPnkl111v8V/Tz7vbTS7PPeIhJy5ebR9rfm5dPPbvf3fXbC+80RpKDsbrkknleON2OvPbPsDmvRVKMEr2S72vt1ve6bSb2e+z1UcJ1UtG3dv0eltL2d3brrdb2atPyz4peH7TWtNvFgj33DwExjkjduwGbjHq2MjPYjFduCxFONRON7xdm5Ky0S63fX+7onqne54mZUJVKVRdGrq2vZ2T02/w/ck0fid8fPADadqt0LmN5ZVmQu8YwwzuLFfvEcjOM/XOfl/RsqrpqLk7WV7Lrtp0s7aO7elrI/G8+w0oSlG3dedtdL6aNend8t7H54eM47/UNTWG8n/c2bStbAht8pQELC6H5eMBicqc/3s/N9hhJwlFvdt3T/X803fprfQ/NswpyjUUei3Vktdu+jtrvbdcruUtCv1v9egfWYvKgFk1tLIsf7pogFjQmXgCUYXaOT377a9WD91O1rW/Wy0/NLZbP7Xh1GuZp+t+9uiXXturb67xzNJli8PfEiKwmTzLGW2Om3Uj4dDDqLGG4lZiMl44ZFbqPu4PH3uiLTV79G9NNfK60ennutrXjzTjty/11v5X2eu+6lb3ei+LNhoMur+F9W0yWM3unabeWs8sSgNL9muo4LJpMBCSbUD+8MDq2CKcpWXk7X8rLbZ31809b6pjpwlzWet++qa6vrbTbXz1sP1LVvtWiRy2wilvdJthFKpRDFdW2zCrLH8zKXHPDbuMbjyV46suZ2v8Ae/u1tbZtLRK2rtdnoUocvqne3l2V/Pvb52541fAVininTINPnDxyteyxwouTFB5zYeNRncqkH5ccDJJ29W4alRwnd2fV/lb/ADf3Xk0o+lSpKpTSUbNvl9L9ej6ta3tvrZuP6zfsg/A/WrjXtJtbq3ljm0hibdpE85bi2c7oxHISSvGBgnrjg4+bjxM1JOzVpa6tOz7f5rr03PXy+k6ck5KSULW93eN9Or7effRux/Rj8HfBk/hzRY21OGS1eQiJI9gP7t/ukdhxzzjPHoQ3ymaUaUou9m7bevRenk/v5j9DyTGRpzUUpX3s0/z3d/lbzvc9t1TTJorJZLeYi2cBRuG1gQfmyFbAGeevPquBu+FxuCc7zp8sYbWa+0n0erf39k2tIn6Vgc2pR5ac3JSvfS1mn31avrtu+60ZxtzdPaYWJ8EADcxJB9W4Unn3/EjgV8tWpypyeye/V9+9n8ktO7PssPWp1IKSvZ2te33Pold7p/8AgPuix67D5yeZHuZ0wG2kgN0HVfl6e/OOhGGwcYy1k7Na9/Xdpeu97a6Jo6YVXrCLipPrr+jWiv1TvvoPnvY53AgbbPHn5wc/Kx+7gnpnOcnn7wPGacHLaL7rW716X2d7tfYdtupzVozg7zlFxve0XstNPWyvbW+i0v7y2d+q3gaR95j4GzqWHVsrwMc8e/IOMr10lXU05NPXo39/fr6/ccNeNBqDirt32strpvRJa9Ho0tdbtQ7JNWNzbSma5ZvlAXJ242g4PJ5J65x2zhs171GV4JX183/kkrrt53aVjzK2Ga96LXptf7lp0097/ErXly2qavbrZNPLcbGg3LHv5VsjgdwQT2wc+gwd+U6M5u91a773uvvvbT1v0buc2HxEadScaibTWmrve79LbLdyvtpoV9DvLj+xoDdFHufMllgOSqsOoZkHX5eBkYJGCRwaKMXCdrPXd7bdOvnre613uefj6saj93Rdn92q/De+9lHTm+dPij4ejv7i41ZDNDBqkTRSXNpD5kiXMZ4ZiMFRkkAg4+mcr9BQScIvT01XTVXak7J/ct7pXj83iasoK8X1Wyu9Xp1jbS9k+/S9pZPw30OLSfDl0uou0cbSSPcyvxJdKScHg5BKkdNxPfGctNavCHuuLvqvO7tvdd9OnfRK0nQweIxS51Vir9JXv3s+927fg94nbal4isYdHt1slZYoBsjErlgEZQNxyCQwznOBgdOpryK8ue7irK2l1e2/q0+297Xdrcse6OX1qUoc84v3lr5fnbotY2W70RzcPibT4bdrOW5WQgPKZNxMhLKTsBHr0GTx04NeRKnVld3fzu7K+lrtba7J3vbTQ9WChCOlnp0ev43006bdE3zOXM2HiFLu4nLM9rCm9IyDhlBBAfPQNk9MH8MA1vRXLZTi3bqtH+T39V53ucGIjUk24Oyevdr8fTSy3u0/hjh3109hci/t7meUyDyn3uDkHgMy787hnjI2/Nwow270ZyhyKKi21pf136X/ABW1uq5uOi3Kaeq31d3fpZbJ69e1vddzz3xVrlpBbztO4lBG+QMc4bg+nZvRQDjoRzVYPDv2ntLc2t0vK/XTS/T3r90rXLx2IjGm0r3euu1rO2m1rrXd9ezj8x+IvGE+r3CaLpYne7vJjCphViLaM8MejBcgEZz3xzgbfeWGdNc94q6UrLonr0tqu9tdEkvt/PXlUeib1snvfptpZa9tPi0Wh6Z4L8JQ2VsNHkQoRE9xd3c212uZt2cf3jz05HLc4Jry8dibJxhpbS/Ns7eVklby79Ph9zAYO3LzKLvrtdrRb3j033SXlpGXvkVnbwadp0cFoGe1ePO7nzt2AzbVAwBnP8OO3q/zlbFcz5Hzc17aO3S9/P5pJ2tp9n7TL8IrR5ba9+istNI9tUru2+t2ZXjCYtbW9hZ+ZGxkP7sMQNj8yMFOTwCQvOOuc5WsaM+WalJtpXdt+lu6733272PYaULQt2XMtVF9VfR366rV66NWMa3t20+yneMMpESwqRhWxjk4HDM27PIOT35wt4iXt5e5py6u++ttUltfbr1t3jcIcuHrxcbyajslZLm93met2vw62ep+tP8AwR/DTeJ/jPM6GJYrDRwjPkeZ5mAcEjO7K7jngdj3r9w8N17eHLHRxWt+nvzXRS28nt1e8f5i8bZp5hl8Fv7TXtf6tTWu19trrdpN/a/dYuTkds8c547fwr/P8v4v1unPnTdrWbT9V+R+HODp+67d9NrN+fmMxzn8P8//AF/zOcLYiZSTnPT/AD7DP5fnQA/15/D0oAkj7/h/n9KzqdPn/X4gSVmAVMo83X8L/rH8+vS3vAVPs/P8P/ugBUyjbW/4W/8Abpfl99/dAqQCgAoAKACgDqNE/wCPWT/r4f8A9FxVlPf5GsNvmf/Q/uIr0DzwoAKACgBew+p/pQBPkdO/+f8AP/66ACgAoAKAHkjYB3B/x/z/APqoFrf7/wD23/gjKBjwfkPuf8P8/wD66BdfRJ/mv6/4AygYvGDnr69f6j+Rz7YoF27fdb+vwEoGKOCD6H/Pr/L86AezHlwQRg8j1/8AsB/P8qCXe2yste+33f132GDqPqKa3XqjEHPJPbAP6fj/AC/OhaNeT/ra/wCC+8D8Q/8Aguh8PJvFv7K2k+K1tlmm8DeLLe8STbvMFpf7YJ2DDlA6hdx4DYzjgo3n5vDmoNrqnfS+21tV10svLVH0fD0o0sRHfV9dL2+/s1vbZatn8SOqxvaz3J3+YHd3CkAgBz8pH+epPTADfCUoctSbe/ZJK+n+K3TXz+1ZH7C6irUIOPSO/p+F7929NdGry5eK4ZLlEAIkQbhjg5+oIOD046DoRWl03fo7/wBbJX6/nbVR86qufZX0/J76Xu76+uul7nYQSSa5p80crIWhX5Q6gFHJIwrEAcd88gnsDhbTtu79u7v/AF2++zOKyTfmk9lpa9nvF6vfyvte0vL9c0027urE7pXIHP3cdR6HjA7Zz3xmo8v5vL9Oays13+cr+7XfXbW+22ulvLXptbdtS88ltmWSZ0yoBZWzg8HA6epxzhh64GRQ3eyT03a/Nb626fDtbzBqya691+lr23v16bnKs8tvcGLYRv8A4+xTuo7Z69uO4bAVdN+np+a7ry0f33OaTt53+XX0e9/L8bm9p86WF9bXBDAMQu4/dxneD0HBPGMe3GAank3t39enruk3q32tZN8vXQr8rXVP53306LVtaa7aa2R7D4e1uJdZhhidfLmCOzEZCtwDzkYwOvB5XnGRXBXw94vXbX7rfNXW63trdbS9uhilUktbO9rr5vbTXou90/e5Upe1eH9beLU2ZHAjDHJ/vYJ9vm+769iec/L4Nejfmio76Na2+eq231vfr2Pp8Fi+Xlb01Xy11+1rrql22tf3foDwn4ukE8MDNFGtzIY9gXEi7ujoW3YPTgHkc8Anb4dfBqz0v3vvf/wFK1736+Ttc+sw+Nqe7yy2VtX/APbK3ft/eatzfTPhy8ZSkDSEsCDknHHbJHGT3I44wQuQK8HEYFN/De6126W12+9/P3mrx96hjq2ut/7t+jdtrq7111Xazu2e6aFqLxNbEuGjXH4kew3enTn1HpXn/V3STUU73+b17+S/pX5Y+5RqLyvZPfdNej210vI980R7e9iWTzHSQoNgjyQML1yDgHgkDPHZiQdvJVlUbaV7aeXXb11Xff8AvWi6tSOzSbfZ3/8AbfS9m+3W8dyz06PUFaG54bc65b+Jcdx6n6n14xinRfJNPV6662fe3VavR2tf5JHPNuomt9PN67bW1V9f/krXj8Q/tBfByO+nvb9IPnSFwsQAIdixCuTgZ2Kc9OuOmQV+xyrHqNo8zabv89P8Td9tHor2v9n894gwEm5zUbu2i07uy23steV/N2bl+P3xP+Dcmm6s7SwTJIzfabmYDaluhO0sRjnKseAOeMjjFfo2XVlKC1Wvpre1l17bX/Fvm/IM0wslKejura77b62XS+l/K6+I+Q/iVapo96kGkGRtOspdhaFMCW4ZlDPIMZ/eMchDwDn7uCW+ipSTiv8AP8tF1u+vbzPkq8HGTvum09r21dre8n2s7d09LjfE/hy0Xwd/bcCXCam6wE3rTGZ53mZB5ZRWKxEA8ZCnjGDzWylbRP57/ha+1v15dGZKnf3u1nfTvv09Hp6JactGwa41zSLFZEiXVtGEdrdNINr3EEgLRuegcxBdpIznOfaoqVGo9dn5Jd7Wt0t6bap3NKNJupt029dL6J9tPeWultbGh4PsVm1jVLe5QsdQhKQqVxHFIFYYZcFto7fNtHYngVwTrLlTvZ3s+jfnouvpfy1setDDtTlGz1j8r6a3tHv210btZc32F+zV8BtV1jWLG7aDNuuowySKRxtabIxkchgR7gY+9wV8XHY+EZtX1s0td/l7vpvzetve97AZdNwTt7rav1V30Xb8PRby/pA+AHwhj8O6jZSy25ihS1SU+WP9QoRerhSDnGeCM/rXgzzF+05eZaapX/y3vr/m2rR+swmXR+r+0a1TfTdb9Vs+1tb9L+7+kOn3qLo/2cWXnwkhWuZEKfKBiHyQxOcZ5cbsdABxRXmqtF31ut9HbZ3Vmu213dr4kaYan7OtZJb9V+K0369L9E7e7l6o12bFIYpUnjaTc4IC7FDfKPvYJXHPTPtwG+ZxMG+aKTs90u780tbL/Dpr3R9XQi24VL6KKSunra23zffXy1PO9c37oiiMhwPMfouB12AD1GM4OeOuGr5zFYNybai29n0Vuu6e/wArb31PrsFipWjBy9LO972Sv9/Ru3no5cfM6xuSsskgU54JOCQSenPXOOuTz7L5k8NJO3K9bLvstrWjvtt5aXfN6sa81OLun0+fRdb262tbbXQLa6WUXLF2hymCR8pbB5ALfxeuCuDxmnRwspStZ6O787+alutelrdJfZMdXm0rzd+1r7bd/ut5q70lc0+/gRxBHlQ6hopnJ5ck7sk8A55/TrmvoKOB5acm73srXV/x2+STvsrWuckMR8PM9+l+y+S+5W16WRpJqU8okguAIyjFFcHG7I4IAPzDIHTd14bnFcLhOnUstnJab9Xa70Ss+jj91mjonXjKDbtorp/0nZ2T9Oid2Z2pRyS2EsbguFkRYu+ZSQQeMDAHP8Xc8YIr3MPCnKneVr+fTT8//Amuj1seBiKvvt6rR/C/PT7Mbv5/JXvLUtNWjt/s63C7yQsEi4wMKMEheOnfkd/vZBrR0IpqUb72Vv62Sa7dN7XPFxOK15Xe7dk+v33Wt2re72aS5WzC8T3aXErWUYRLcxHzG2ARBWXPJ3AFjwNwJPfNNtwWja/DbW2qe68tL9LHB/Fkk0+VPZa7NtXSS3Su/wAEnzHCpHm2tLaV49pZyjBtkOxWbYrcDdwfwHQLkGuCvNyeqvb5/O+mq7d3u7NS9nDVVTptbbX9bfhfrrvpZvQ5HxA1pErxTTpgZZliOFRUB+RcAg5PH8XB5AxmsVGT7/8ADu93t5Nu/lda8udbMIrTmi9Va/ffv1t0/wDJto+My30l1diCzQW8BkwLlmy0gz6c8jHOdo7DJ5qfY+T6dNr/ADatd7/ckrMxhjr763dt9+tkr+XRpvy1NG71KO1hktYZAWwRNMuN0hH8R5O3O0kkDp1wfunsbWd/v6elrefl0d7XNlioSum/y637817Xad0tXq1a0eC1fxLDpkLXkt15k6jasG7Iwf4mBwNw6nt6hsKa7sPhpVJWa3S8vu0etn2utW7XOerXhTi2tt7RfR630td6rpr5WkfOPi7xxc6rdm0tctJOSqRqxBYn73AZshc55HpjdjC+9h8NCilzdr6q9+y15dbJdOuz0PBxledX3U3e6t1Ut/PR+atZdm2j0v4Y+BJ7O2m1W5LSXE+xt7/OVMnzERMUBO3GONvLYyeTXj4vHKNSrBX5YycVZ20XZXe6T002u9rHtZfhXKlSm1rKMXtrr12fdvTtpf4T6N0Pwna/ZkuftZluGk2rG7ZY+Z1AP8Tg5HVsEdDzu+bxWIlLZ+7e97u7ts35drWv1S2PqsJhopWa10smlr36JWb7q+lrq/u9DcaTc6UqtK3lhsFCX5XoWDIQCvXjAbpj5cGvN3blqm9PTXpp311X335Y/QZfC02vwSez2WttbvRa2+aZ57d+dqOtM5kVktVA8wHGS3ABOTxjk8H0+XNGu69U76KzvtZ3u307t67S9KVK81a7s09Vbb5u+vrfa8bEt5uigEUmGzdIrOuSvz52hckcZAHOMDrnOU0w8rzmr/Zjtq77u766N2tbXXylu6FqOKlq/cTvp0vpsns/v6I/X/8A4JH2UX2j4t3LyASiWxgCg4bbGscoJ65XDdhweOeRX9AeF1JqnN33i9Ous5et/i110033P5J8bqiWaYBdPax73cvq8NPOztbtey3R+2ONvBzkYzu4Oe4P0ORX6jTVlLS3vy0Wy9P637W5Y/jVV3lful/XT8vuCtDMlTp+NADicdifpQA9HAzkHt7f+yt/n1z8udTp8/6/pfeBKGDdM8e+f/ZV/wA+mPmzAWgAoAKie3zAKyAKACgAoAKAOo0T/j1k/wCvh/8A0XFWU9/kaw2+Z//R/uIr0DzwoAKACgA/z/n/AD/KgP6/r+vzJE6n19ev+f6/hQBJQAUAH+fzoAXHGcj6d6A+8SgAoAKACgAoAKACgCUuMHnse1Oz7r74mPI+34iMMoBz2H6Ef5/+vQt11127kr+v60/P7j4s/wCChPgCb4jfse/Gvw9ZWZv9Qi8JXurafbKu9muNMBucBduciNDt5zyMFeN3PmEeahJNW9Fdrv3212/CzZ6mX1HTxUEnbVq21tE7Ws9G2766vTS9z/O/8V2dxDqt1FJF5KxyGLYV5DQsfMVhlcFWGGU9OmRnLfBSjyVG3fV9bLV7PVta7dr6Xdj9gwNR1MPC17ctnJ3stbed9r7ryR5xcSsur+UqbV2o7zAjCgAcdCCcc9ehOAaha26LT82/+BvJbXexqkru7tbdv7lva2z0t9x01hf26ySxJjyXuUiZwTn5sMZjwvRlPGOc9sHdppazdnZX21X/AAz877q+sTirrVcq1WumnTunrpbR20vZu/u43iO3LS3KOCYbebbbTKMl4j1Yn5gPmwc8e4GSVlq99Vvfp169Xpt1vdW5rJmV1ptqt/Trq97X0bVtdXfmPIb+3VJuGkbzSTycKTns3fOen09aFeze2t9Ffb8FZ/eru65UpU3e2mtv+G/rT52uYN1azTujbcAEh1HLHk9MDjtxyO2eSV0iruy36XWysvTt38tNTgqqTvZN/wBW0eq1/wCHtexCMs0kLEPIWVIgezpjeOMjKYyeAx9G5roik+tmr+d9dOzs9Xtbrpb3cozdL4rror9PyvZ2W+nWxtaVfiyuLd3clv4vYAezdCCRxtB65/hrOtRlZvkte+i+SVtteuz2t2Z62Dq2acpJLr526pfzavo09XdHsul+JY4Y4poiCjSRY3MMgH72VwCfvZ546jn7teDXw8r6Q3v+Wt3zdLNdXfru4/R08TCTjy1LO/rd/Pmt832ai7e79BeG9Tt7iW3kEkcUkZhkjkyAWB2k5JwM9eOCcFRt6V4tenJXvFvt6d7dF06+e94/SUsXOHLdNNK997ppW6ptbX0VnZ6WXL9R+EtfgkV43d52iZSGDBFwcYzKOOCPbHcjk15cqMp3Si3326ev+dnbW90e1hswc7fnezvfW2kb9U72s3e7Wh9F+EdfsbzfC/yHeQmTnaE+ViCB82MdBkkYIBxivNxeEqQV3C2vW3zfTVeXe+q5kfU4fGqatGabtpvv13tbv26W1i4/XHgVYG04hQNihTvGGkwy8Ehjkd/y/hJxXnwoRnKWmunTy1179dpX2tZI3qVZqzta9uuy8nyvR73vfVaOy5u5sGg+eSErcGPhs7eO3JXg9OnJB9fu141eLpylZae8r2vfXfrbR32/8Bt7vqUuTkvN2018tHrdd7q13ttLTmM7VfDdt4jt7hLpY5CQMqqAtHzkYJGWGPYepxxXVgp1FJWu9n21a7fJrV6+VnGXiZtToVKcrSTbV1dWdveslv8AgrK9t/i+H/jn+z3Dq80l/a20rRwQE3CxQHdNCR1TaMMy47jPt2r9DyzHS5Yxk7WskuvNtbp6K3LrpZby/K85y6mruN/tK3K9b7LRbrb7Tvrd2fN+VXxD/ZnvWGtyPbyo6XS3cUJjBJihO4B8ocErndk5PIyMEr9lhsW/c6q3S2nf7Vvy876OP5xjcDb2l9GpXuv+GV7vXXprZXPn3U/At1JocekiNrZWeWadGB5WLKooUlQSHVWXaGx2Jxiu/wCsU01ea5rpO973ez2tb1VutmedDDVdbQuknfa6S+93fVWV776lDQPhhq1j4a1XUUtHWSSQXEc7RbS6wghkHAJQgjjoOmSDisq9eKt717pJ67X/AOD310u1G1jowmGqOTlKLSTuvO11p6rrdeaTTmep/CT4Nah4j12K6l024jh2QMzeUQzsRl/LO3kZ44+uBjDfOYvH8kZKMrvmbWvn16JJvz3t2cfrcHgFVnBtOyUU2lq7eTt+W11pePL+2v7OXwZj0WwglW0RrgNE7RNEFMSg8BuxIwSeM59cEt8Vjswqyq3e17X8vK3dabSSfpY+7y7AYeNPlervdKzva2u6/W1+/u8v6geDnOmWcqQwRylEeOfzMFmBUKqLgbgNxwBngjjPyiooznXqKqk3F6dttH17fh3vynVieSjSdKKSWr8/u10/F+VrnuulPcf2NGrvE+y33rAdoEUiDcYSAN5YDI+XcfUckt78oVPYpKOqV07pb2t1e/473lZI8OjOkq15dXbrpr5b73enry2sUwq/ZYJZFLNKN5iCMGALYwo6nBOMkE9ueAvlqEnPlkrSbvy2vp/w223le9j1quKUIJUveilo722tpr96V30u22Ymq2qyz7JFWNFTciuQGOR0A5J/EZ47k1vLL5Sg2ouSenRa79u/lbut0Z0M3q0ppylZJvZq3eyumtd73T1t2PM7yxSBppEXKnIyACNxzjbyCT16A5z2wK8mvllbmuoL59Om12tvNNbuLdj36GfQlUpR57y6brr1aTT7/Zb221OUIE0KSSoIgs4j279rHPAfjbkHIBHH6ZqKOFjTleeiW/Rrvte/pb77e934vHzkla7va3pu936/y30TSvHlYJo4GltSUZVUtAwPzK/3jg4PT/6/Thu+qo8sY0tmmpX7dtk317u+qexz+0xEowm1Za21Wt7b9b/la3XmjTh1kvFKWkB25Ctu+YsD0A6HHGTyO/qF46uFhq7a79NO/wBnTrbV+VlZm6xUnFQbd9v0u3v5bXe6Sv7vXpqESaZAXdXc7Z26FhjoSM5H5n2zivObqxnaO1++1l91tlpb79Jc7U+bmblyqL89b/ktbaS89WzjNRvnk1KMiQrF5LMqIGLtI7Yb0H3ffqMc5DV6uG53Hmb7vyvbe2qV7LppsuX7Ph4ipGVRq6Wtr+j81q3011v9lJRljarqtxCyWt6qvHOpVEjk+dFwApYEE7iBls9OuDzums4xbT0V7XWuvmuut+i9b6S1p1KUUk7qTV1pd7eq+fe1ro4jxNqtsLe3tkuXjMJ3oiP1YD7shUgL24Pf+EbsLhCn7bVJ+bf5K0dfu11+FpqWNXFRiuVXu1ba9n0S1XZ7K66t2ipeEeIfEd4GC3UxhjdzsYMegORvOTkFccAn6kkGu6NBKL5kr9/idrdNY6+qV7+qPGq1Kk6ilayUk91sns991vZdOqsjk5fEkNsnnKxMrIBvWQCNFUnLKvZjnuc+hUkUvq99l16q3mu2+yVpdtLs7PawtZSdrad9td10u9373bW5ylz4vkt45TLcZM3mNyxJ2HoBwBx69BnPHIXWOAqStbZtL5dL669Vo4y6K6fvZyxNtm3872fouWza036dPteF+LvFlx+8eEz3jyyH7PAJMDcwPXDBiB25P14FetSwqw8Oaoop262fXR+q67PW3VuXJPE1K/uwblqv06+6r/Ppe61jLZ+GnhW41K/h1HU48XUpD+WM4h54HzK2MjA5xnJGRnK+LmeNUbxhJq2nk3Z631u9tXtq9LWPRwmDrTtKcVpe6vHo1fq3s76P7j7j8GaZc3U8OmPMsUa+W0rRqSsEYkB+Ujje6HndnG3HbC/K15t3qz0Tu73/AB+0u9lZpb3d/d+zwNGTUYQSvGNrWtZbb3ttfZ77Nan0BDomntd28FmiR2NjtFvtVll3RHe1xO4BGJGGM+/Oc4bzZVaUm482rfm77fnftK3bRn0dOhUp005Ru9La2drt6Ll1/D5aHL+KAt/qMlp5KxyBNyOZAyKFX5QcbQ7sMdO/JAIw2ip3im7PS0dteq6aNbPRuza1sejhLU5c0lo9b+Ts/usmtbJba3TPModOWxuZp2mWTzWffHt5IwcY74B7n2rCpCVNJP79NGt33u77Wd76W1UvXptVGnHXSzfbrfeO+z+G19L3ajkXXmXMrbmWO2jBTy8HLyEZ8xegOwDgjpnIz/FnQnCnXcp/DPlS02tfTT9ba2tf7PbXjGVCrTt79aKjCNrK6s2m7vp3Sv1/mP1W/wCCWk13o+nfEfVopfNYeILGPbu4lsxaRJKjDHUSfMCc4HIznNf0v4Z0GsLKo48sZJtNe8/4s9fstO+lvK+l1GX8UeNtZTzvDUINqdCcZTVrKzw8Erd93s93fSx+6VpdR3tvDdRNuWaNZB3ZcjlW/wBoEHOcH64zX6ElyXVnbmlqtdO79d7f5H5JCoq6Uou/2X6xdvLTtrrtoWKfPHz322/Hlf3W+b1LcWld97f17z/L5u3vTICBz6/X/PT/ADiqJTv8nYUkjoM/jj/P+fWgBFOc8Yx/n0H8z+FZz3T/AK0/4ft94E0ff8P61mBJQAUAFTNNrTv6f1v/AFcArPkl2/EApOLW6/G/9bf1YApAFABQB1Gif8esn/Xw/wD6LirKe/yNYbfM/9L+4ivQPPCgAoAKACgB6dfwoAloAKACgAoAUYzz0/z7j+f50AOOzHA59ef6n+h/ltBa9rLztf8ABy/P77PlZQMKACgAoAKAFHUfUUCez9GTZX1H51STutHa/YyipJp2e66f1/wDmvFWkf294b8R6JhGOsaJqmnKGIKk3lnLAq45HJOOnGR1yayxEeeDfW1rNXT8009bW/veT6y6Iq+KhO2nb7v8O6tva3R6Wj/nF/tSeBNR8AfF74l+FL+BYbzRfFmu2/lY2Kqfb53+VcfL+72jov8AI18LmCcJvmu1+XVei169F3ufsOR1/a0IQT15dr3SV5OyfkrpaOz6q58b6hZq7m7UyxykYZM/KefTIwM845+bqVAFcqel22tNel9PXR9NbK2utmpd042k4tX6Je8r3++6e2q9LhBiJ4SZGXy9szAD5ZMHOG7njPXJ+n8Rdde3z+S77L8Wc0oNXXb8n53V7XT+7a949BrcqSJEYkXyZ4tq5bexcjJ3Dtgn1PA+7yNuqXfySXZdttbpa6Lrtc4+T3r9L/1bXTp0srdbvl80v7GRSgmRch2OUO3Ab1J459iv4YG126Xv66/donfzf3u9i7WXyXntttbu9Fa+ztZGFcRvC/3BtZ/9YPpwv8PpkcHOcj0aFLTezVteq13/AKvtfraK5Vrpo/l219dPLe3nKhMYRMDHAvmQlsEDaWaQbWb3yfp7dy3SpKye7tbffb0v31080m5HnYiEnJ6WW/ddb6Xj18/PS65s2d9i4dGEyNtOEzt9Dj06A/e/3c53bTqXv06u9tkr7cvbs3prpdMqjUblrorrW35/PXd6ddfd6Xw9q1nc281ndssd7Fkxy4I5Ge3fjvgZxkZzhfOnBPzXTfRcqts15Xv07XvH26FWyvzXtrt2fzbVrK2mrXZI9f8AA3iWKC5j0q8dpXPMMoHKhu+fQHPHHOPlOQV8LE0d9bLX7tHrb/Pbskz3svxft5KM9k7Xdvle2u3ddb3jZ831h4B1qCG7jtpGMkZfhg2A+eB5iegOSCF5AwFGcLwqk79Gr9r2vb8VZfzaJa7OX0cqioxunqrNO9vN393tbrH02PsTwctlA+6EedC00U55/eI6j5wOpKscjAHRcnJNYYylzQ21Sa9enyWl99XfWSXNH1sDi3eN2r2SWyvfbrtZX7Lf3rWj9PaJ4g2Qx/ZjNskZY5oYjsJUdc4GAdo6k578gHb4XsUm77LVrVN9Lb6b6rXtdP4voViHKOmt/lZf+TX8unVX0jH2/Qr23jtzJbqsNpcKuVl2s6yK258k4O4nI4J9cc1w1qWHbd7c15dO91qnJ3vf9Nbtk+2r6pSvbTor22vo/J36dL3al19nc6a05nSWGB1j3+QZfmmCfKygEY3YJOPlwePQV04OhQjZ/fvbpq7Wtdfk99WePjalfqmtbp+717K2nV2u/lc2p9N0vUreWDEJjl2yROXWRdu3dIHDbT8px8pB7jgkCuyivZ1G1ezk2rdnu1qtdOjfqtWeZVj7aCTTvb1fpr29JdtmkeIeM/g3oWv2Uyf2VCr3QljW7t3TYVkGP3gGSMjPAGAfWvfw+Ptyq7slo/TTRvrrrdx7eZ8xj8rUub3dZO/Tfzs79tW9PK3u/J+vfsleHLdyZ7AXX2KRWbG3zHV1B2gjJYbuCOfxxXQ8c3K6e7vrps9LO8el39lW73tHio5XCSSaTa0duttd1a33bbN6mBc/sswPELEmzh06ZWnSAghzGrFvs44yucc7lxjI+bnbrXxr9g2m79/Nq1/i/RO2qvaxtQyuMatmrRutO6tdL7TW/pp12Oh8M/CyDw3f2i2tmltBG6xxyiNhGhHB3cAgAcc7uuBnBFfJ1a7nKTlJ35m21rq/8tPz6M+rpYSjCC0SSS6NbWWnurVa2+6zbufaHgyM6G8U0cSyAxqkmAdrEYywI9Ovzbc88cA1w16V7yabvr36dr2tpdKyb/mV2ejSUY2dtdLfdut+2rt63uj3nRNTEl1G0gGNyuW8sKpRcExtsbDMx5U4GODzyK1wbdJJPu3tda/emlfXXTbWxyY6MpztteMbWtrp5P5at36d4+qaTrUdyjSWokivI5yBKFAXy88qIpGILc7S3zMQeMYNe7HEqUOXrZdf8l89reS1UuClg7y5raK927eWl/L53+TUeweaSVTNDJArRIFdEZGaLH3mlUHKsxzxg4zwpxVUKcJ3qP8Amt3Sa2aVo36WvyrTre8YxsHCSivtRvomrXXbmur2va0d97JnFalqcc/mrhXnUkCfDbVx+HHrj5sepyd3re7Gm9Vez9fW2np9r5WueW6c3rq+r7fno+vNb70rnnuq6gLSyMUciTyPukM2TiNyTjGF98EkE9v93xsZUty8q3Wuttr6dfPonp3949TB0pKam+m2l730XTRre75t79kcIl2ptS146ZdmYAMQdw6vjORu/wCBfpmvBqVG5vsunfTo3a33vs9lz/SczqaLW2/a/wCS62tf8lHGfUbYLJ5W5pE3YJJ+bdwQDwD2PUHnqfu1XM42tp6dL69L3tbp6aXudkKsZRcG0+RXW910dmvK9vW3eUqFvJLMkkrrsEZCqABjB75GMk47fjnrWtueLV+W90/69OyfbW3vefWxHsn02vZa9Pwt5t/PU1JZJUtRP9pQHaVCt90pjoB05I9F9AK444e83zO2t9Ou+7002tddehnDGylzLfTz39NL6dL9Vff3ebOrIshvJpZQ2GjgUL8g2rg9ux9M8DPOSF9GEVGCS1Vtu787d731el7u1jyXOUq7vZvX/h9W991+bueW6/4uCXgDSubmRsLJkfKgPbqMgKc+nt0rnq0ZSlayaV3ez7LXVteW/q1e8dp1FFxW8veSXm9Lve3fy6p6RPK9d8YCRnsIJmd2keSSaX5c+qK/JPT2/EZrqw2Ga3i/8tuvu6q6tp5O/wBrz69S2mia2afT5qyv6+a297xPxX4zN4DYW/8ArLZhvfJYc8AFjnkgjjJP0r0fq2t3dPttZd1001flum78pzxqXWjv/wAP1vzWfn0tqne0eYl1WaGCANcoq/N58jEFEGCdu3sTz2zzgYya7KWDhbXVpW8l3e1r7X0Wu9rmdSrJdNO35a2j8/XbT3vPNU8Q3Dyuy3T3IDbYAygbl/ubQBn169M9cmtJKnS05krdd9rc217Xv27b6GUZzk7L7TaXTTv1tZvXXpa705u3+G3gi48S6oJp4nnaJVmkQbpI7fcx2wqO0hyCRkkZ6DNfO4zFz95Jt72vZWff4n5eSs7tXaPoMLgb8mlm9dvLyd31e2yuuvL93eCfhr9meKdreKERJuSMqvmSMOSJOOemQCOP7oP3vl8SqtaT7fLr1eyXbrvfRH0eFwjjFWu9tHv2aurW2v0W9735j17TtFt7W5k+zrFHO8XmSIjoCQPxLenybcj0PWvPxEnGMad9Y+6128top36a+bse/hafs3B2tfqvxVvTpbbrK/u9gLe7igQQqxleA+dHGjM+0/xsADlcZxgfUL/D5fLyyv22766dXJ6rvey3Wlz6Ck/aQSXp93/gPbXXXyveXOTaZ9pmluvMIitoN7q6hWCkZO4t3J6BhyM4zk1106vLZJ29NNn6PbX7tb3tLsp0bxjFp+6vNeXn5fJXVrJHnclvtu5j5YaO43RozruKJySwXk9cgYPPGM81FWSklrr1v028u63stG7aWUvQw9Hk1u1a2utt3rf1vpbbuYGuxQ2sM2U8sxQfuJCfv9NzLzksd3Cj0wNxJC8/L7tN6aTa17RaW99tOq07uzcuyylUpRW8W0tG/J+i0W7l26c0v1C/4Jmz2sXhnxpZZH2l9cdp85GUMMTRnBPPUcbvoFxiv6p8NZJ5fBdeR9eqnK9/k9HdfPRx/ifxmor/AFlqS2blSSdrv3aEG18S3TfT1afw/sR4M1N4rqXSJpMq2ZLck53L1Iz22HI6ZOO+SW+/r0/i6db7t3faLjay/m+Sj9r8WoS5LprRzlZJ95Na6avrrzW262PTT1Ppnj6f17/5zXA930127HouSaStb+u3LH8/u+1LuGCcHA9//sff0P6/LuZR0v8A4n+Ovn/XbYTdk8Akewxz/n/PNBQ//P8Anr/P86ynuvQCSPv+H9agCSgAoAKACgAqJ7ej/r+v8gCsgCgAoA6jRP8Aj1k/6+H/APRcVZT3+RrDb5n/0/7iK9A88KACgAoAenU/T/P86AHtnjDBfr3oD+rf13/QFzzlg307UAOoAKACgAoAKACgAoAKACgAoAUdR9aBPZ+jH7m/u/8AoX/1/wCX51V/8X/gX/D/AJfeY+72f3kYOHD/AJjHB749f0B9+oa7Xjyt2umr+X4dO69bG8NYczvbz9bb6badOnS/u/wt/wDBY/4ZReAv2wviFcWoeGz8Utb+IBuXary3tuklwifdynmgjIGOTwMhm+FzuPLPTRNp3av1vfTmXy2W13duP6PwdXdWXLLVJJa7Wd9rNq+t9eV+T+z+KmqMUmMYO8Eg8YzyTj15HP16AL1rzeiffT7v0bs1vbrJn2EtXrpu3f8AXzTa/PoigJnWTcyBYo8GNs5LtzlTwcAZx0xzjjIofff9fn5u/wDSZg1Z697W6ebd97aW66ehtWd3EVMEgTErMVkcg+WWXoM8ZJHHI/EDK7XWmu/Tb57p+qd+3dHPKmo2d9LO6fTTdXeltOjWnTQ4zW4ljuZBJOQGLMrDgjA6YycEj27fdBIqbr71fXVJPpbR6dG9ddlq44Nq66+Xpp/d0sr6P5to5B5pHBjlLSFxlS4+UY6HoR06Y/76O3LRs730vp20v2v93Z9LtjVtfNPya10bvZfc5fK5nEYmjZzholAX+6TnnkjH0Bz7A4xVqSd/Jt7apei382reivY5K0G9Em+mj1l6aba2drLrZ292HUPOmYSQjMzOGGDwB/ESeOMDofXv/E031vtZ9b26W07+eys1sR7NLa+myW/33dvXl089zi764ns7hXjV1ByJ3U/OWH3vl5POeh6dMjrW8UmrJrV25na2t9F3svvvpsZe0qxlypO35bb3+dm07W+HpHutB1dhHFcfaJBOsi4boQp65749SAV/9l86vS5k7LZ6W8um/m2ve6va6R71CtCilNTXNaLst15fOV7pq60snZ830B4P8deXqkENzOgdiNsqSkDyxgKe3zYHIyueh615qp6vSyV7Jr5eS111SfX4bpntUMcq9oyqLWyerdm/xtr3625vtH3B8OPiGt5LaeVcs8sEq28jxOWjVc/JI25RkAAhmQNnOcDFeVW5nzrle7V2t16dNP0T3PoMJWpKUV7SLa6bPXp1Sfdtyt0TV3H7a0LxCrXdtNG5bAVWWEK0bsVOHkxwHGRzgeowMhvBxDnF2Sv3e1rfe3d3fdPTWzU/rsHyyjZtrX72189npu9k9LXPaNM8ReSgkupQ0WciP5Qx2jgCMkfe4+YFiTzt5+XzoUOeTeqbk/XVtvvsunXZ20Z6jlpa1306fJ/fve+9rnfaHqmm30gQqlqZV+ZRJiVQ/OVSTbuYnG/DKCrcZA3V2qlCkrzlZWt1t2WvS/mt/dvG/veTiryvaN+rTte1vlbXRWt02ueg6ai2yRxXCm4gLlvPhyk9v1xtTLB0K/eBYZ6/L1rOrXhZKE01t6bra2nbs2rJ2bRw4aCc2ppp/wAqTvo7269NtNN9fdNn7dahDC8slnBk7RdIsccreqOMqM59euRgDNRSrVJPRNpvfTp+N72ei21tKzNsRhU09Lpbd+38rvp0V97d+XjdTjtzdP5Mkck5A2rnfxyRLjcFZQCOORjv3f1lUcqUVvPVNLda9XbqlZ2V/JaHzEqfssRPmXJDpfWzkrvVPo/v2tpc8puI867Lc3l5umK+RBEI2jT5yFZlUsFwQcZ9Wzx92t51V7Hlk7XXw3v9rq1b7lLVLpozOUk6icdr25lr837qv632Wy+zLqF9GPMsfNhicSLCYsBX+Tq4O0LhvZuh6nBrw3zOcrppJ6avXf59Xprd6O17nqxneCTtprrs/TdrZv57K1jptE1oWMawtH58Tna7CQHGBwT0H5E+pAxtp1aie8rWvZW+9dE973drdL2UZdNG9k7eiv27etrX189dY99oWs3cUvl7CIJQZUZZuV2tnbjnlgMHj16gmsYSe622t8t23a+qeyj87cp08kZauSTXTptrr897rfS1z2TR/Fls7CFEDSS8o0jKnlTAdRJ8o64+vX5eA3XSqu3bp93Xrq10/BbF+wtblje/zvftq9d3a3/byuXv+EmhjeSQzTPfSFo3SHaI1295wpbeuP4gOp74NejRxlKnHklJcz139OiTX4rzuYVMLKbvKHK7Jei6x+F31/yST1OX1TxK7MweQRIuf9TJseY5yWZWwe5B4z2GMUp4qT1jqtFtsn53evydt7u9jmjhoRl71kl0ttt2lG1td+nb7XnOr+KHKTKZVVcFYyWyQPXjqT3GD+IFc/tZVm+d7K9vy2tfXpeLbOiVOlCm+Rrm7Lztoumnlvp25ZcJdeIkXyo5W3s6EEhiAzHPy4G4D8SM/iduFoOdubTstdvOy0forX0vb3qwzlBNVFyL0/y7rz+TukYdxrzFRGjCMFvulgGxxjux7/8A1jXTKg2oOKbs9fJd+tv8tFZO5wzxSo16jT92SS9fLZ21t01v00NJvEqwrHbpOSzhfMIbcqn3PIyeOMDngHmuinSjHSrprd9emuzjp08/K1pctWo6jvHXqrPlsvz0SfV2vpa15R6j4mla0ZVlMkqL+42kbSwxw6kgg8e/0zms6saST5LvfS3pr129Zf8Abqdi8Mm53l0T5vK63furf1euzsjhda8TyvbRRyziOdfmOxlVVyCDx3IPUY5znmijTnL7LtvZ29V36vt6X2Ma84U5uV7NaPv8lpt/wLu9zwLUPEc39pXM0kqN5SyKbl/ljwenlg8FuCOPU+9d8aUXFxtecrcqs9797tL1tZ9U3aJ5dXEqVaDteMZe9d67W79FZ7vXdPVnlHiLx5EWktrRxluC+QMMeGxxxg9/xB4zXTQoOCSlG/p277JdLWsr7u7+Ka1aMk7N63drO/32u9dfwVrqR5hd61JAXZJBNNLh15+V+eQ3ckHnqPQZ4K9nIu13ve9r9lbZevNZb8urRhFu2ya+y/Trba17a363dzm31vUbgStcyhGaUiOBQdpAPV92OOeDjB746Jm/aU43lpFLpb9L26aW0vfW/vKT5nZXvfTre/zuvSzb6tWUTsvA3hXVte1BbnyJHRZP3Z8smNR6jPUe5POTgkH5vls0zOnTfLz27WV38/stvVeVlZu3KfR5Xl1Ssk1Tb66v1aV7rorW962l7tXP0j+E3hVbLTYo44orOd4ws07qodncgPju+QeG6ivla+NrybcFdN9H/wAN106/Kx9VRwk6bXPC2iWsr6JOz7PunZtPT+9H2u4aDw7Zy6ZZTvLf3GAoQFpiZMglGw3HPzEEY7Hus0K9XmXtE0r6bN+V7e9a/olu73sfSYajS5U52Ste9n06aN/JddrvU6nwf4WezaB9TlnkeWQXbpIN+z+IKZPvN15AyB365XgxVRurUbb5ZTbj9+r1T1S7p9UuW/vaVI6pU2mk7rTV/J2t1+/aV7m74lnJLyWFwysLgmVo1VPMOcYJGTsBOCFG3jngHdy88Hpez2Wj2/Fbf4u6ve0fTy+nN/GmlLZ3Wl/6W9n97cvMdRv72SZ7MoCJFxLIODIf4dwGQY1A6Dgj0wTWXvqb7J91/wAP18tV5pS+ip0rSfnrtf8A9uXfZbd3qjnm0SRz5lpKJrsYbyi2FCIcgDOAA5K8E8EAcZrSXNJNevTv0e2y1vzaq7921jqkko779lt/SXZbW680ua8SxMbeWKdV8wJviB5HmHgxDrkjbnOcEnjOfmyn7RxjGnrJO/Krac2yu/LXytaysnLGMlGpCpJ2jFvmau1F200s79Y7ab3VlI+0v+Cd3ihdK1nxXpQlDNd3cczqSGIfZGrEDIOAqkAjd9AT839JeGmMhSwsKVSdp2tbe75pW20T87W725T+RvGTB1K+c1cbSjzUf3bdS6W1KMX7rd91/ea72aP25hnmt47XU4fmkgaOTfwP3ZUF14ySDu3YxyR3Jr9jfNy6xs5Jta3t6fL7vkj+clL941HZyd3tqnotdXp1TXTdqx7hYXqX1nb3S/dmiRvbJHIDc5wTzg8E45ryq0XGTb6t7/npdbed156npU5Xiu9v8u1vy18rFzcOB6+3+PSiFSNRNx2Tts1+f9fejRprf87/ANf12JcEcKfr04P/AI8efx/CtEm9vzt/X9dxEgz36+3/ANes6kZJrR7eof1/X3kkff8AD+tZASUAFABQAUAFRPb1f9f1/mAVkAUAFAHUaJ/x6yf9fD/+i4qynv8AI1ht8z//1P7iK9A88KACgAoAeF3Dj1OeM+n+0vv/APWx8wApYMDx79c9x/sr/P8AL+IC34aCKwUcjqfp0x/st6//AK8/KAPDgnGD+f8A9gP5/nQA6gAoAKACgBxUjnH60Cuu6++42gYUAFADufT/AMdoJ07/APkwqdfwoHLZ+jJD0P0NNbr1RgQtnI/4D1/Dj8f/AK1OUW53T209bx/DZ9/1j2RV6D/wrdX6/wBX0+6x/Kv/AMHBvw0XTvE/w8+JkSCQa/pr6RKQn/La02n7wBBO1vrwOuSG+U4got7WjqtLbtNPfTfTTp53977Lg6qqVWzeq069G7et/XXm1tZH8s2rw/NJxtkTHQc7f4nz14Oc4HGAMtzt8FKytrt677dtWr79+trH6A7vW3d7267WW+m2q+bujnWQnYC3ynIz2J9c/L264456DJDFtfXa+rfS/Vfe/m7LmF+r8ra6/jr5/IIdj3EBhZXj8wxSZbOJF57cjBwMEc8dSKaV+j6f1tbVXe+ltbW97jnH7S3V73V0kk7Pv92uvoVdfhMoYRCJnOcsRghhweMHp0H16DOaT3fTyvf5X8v66HJOKtfdp9mrrddba69Ozbsmjz6eWRMxbg0kYODt4xx8o+8eg54/Pgqf8D/g/wBX++5Wlrfiv6T+9fd9mNnDrHvKjoeg5Pp6e4/Sn0+/S6uunk3vrp92ou39X8+i+5fdqUr2OdXDRMR91wAeCO4PJPIGcYGfU4ApqVt9mv66a3d92rb63IlC+q39fw3VrdNHddijPBBfIztGiTBdowRyf72Plzz0Oep5Ix820ZctlZ22Vvwvo7d9klr7rbOeUL6r5/8AD30+5/j7vDzX17pt09uW2lmG0lSFGTjB6dPf1yc/xZySfXW17b3/ABX36+hre6Stt82r26d/m+lkjd0HxLJb3RSeULcLIHi+bG5fQFjxu544xnocrXNOlf5dO7W+qvb0S+aOqnV9nrfR7pdLdU/xvra2m14/Ufw6+Jt1pd6jsyi1mKg848uQfwgk8hiTnrgevVfJrYd6tXtzPfz2s9LfK/S21z6PC4hR5ZJp3S10/H4U/wCkrWTPuz4efF65kMc6SqpidFkhkcGNsYA3FtwG7Ix1x0PUivGrYNt30tzaeX4O1vvdrbpKX1OFzRU1vtputumvKtmrbX10vax9Tw/EP+1ILWSUwxAhGmWJxu4AIKMCSPxwevY4rzVR5JzTTbu77/m+u3TTy0PQWZTqPR6NO1rd+vwra2lr9bpo9u8NeKbTVhAYEX7TDF5OWYNvUjAk3fKQV556cHGMk1GIi3Fpb77ddttFvbv+CR0QnKtZ69V1e2tmvPybT3ei5Y+x+GtangaVJ7xZdyYjQspK44Ixk/Xnd0z/AHQnlypSS1W+u2vk1q/xSvsr6nRTpqDbctV97Vu/WzVrbb33DxFrEzW7tFeFYujpMN8fPOI/lJDY/wBkc9Cc1pR92XZ39Lrouz18pea2NK1VOFtnrvqrrrbqvXv5HKvrMRsCy3Li8K7Y5N3QBc4Xg8Yzjr7bcMK7lOV00pOPzb+/S9v0trdo+fxEeab5t9NP6aWrv0a6aXRxEWsT307SvO5vbQ7ULgYdAck57jcpHrzjaBhaipVlJWSbfrpbtZ9vJqz+0/dZyxpRT06+nXfo7uzS1t0d9yHUvEy3E0auBFOilmkwCJSO3cjPQ9D174ainG8Lu7dnv37Xe1r3/NOyceiPxLr6efVf1tudx4U1DT9RtiZg0V9Gf3a78qQO5HP3v17gZArlqxWr16v+tfm9NNla65u6l0+d/L87d/8AJXR3ltrgRo4VeOOaAqHRhhZEbk4444z1Lc9O7Nz6x/HzWn/Ddul9DqUVLXRJaXtfZ31d9fx9FdG1cawfPESyxxxsu7ZGR1wPmVgcgg8EDHvjGK3hJpN9b9++u1l0dr9Lu9r2j0RqQjFK90l/NbS+nf73zW3s73jHF4rtrDeZC0crDaJhITuPIwRnoevqPbG1toyi3zT3XZ9O21r2v112dn8WGIqObXL1j31/KOq9Ha3W9pcZq/jDfKG+diznDq5ySf73TjHqPfAz8/X7Wm9NH2bd7L05XvppdW2vZnn1aVVJXuu2j177OO3r62t73n+peLWm3IkqoUYMCW+YuDnBB7cEYyx7HqDWlPlknFK7301087LTve7123fLzKrKnzJtuNvVN+jbdn93e9k5Ycfi0XFxukIxGvzkA7VccevGe+ARk4PQbc/ZWndJ+j/L7Nt301/u6c1PF3TV97p36fjK2y6X11TtaMEniG3DS3DEO54hXdgEj6ZGT77jn1z8vp0dUo/19ztt5u1trbnlVal27+dteluul32tdWtu780X22uoI3uJp4w7c+VuB2ZHHGeOSR3698EVsqPNrrfe3o9e3S3rorq6kR7Zx621vvfTp0j17rz0t73L6t41EIaPzljYk87+/UYznjA6g5/TdDwd3dO34Xt30dt+ifXXVqMVMeqdNy5rJfc/LfXXsvN30Z5Rr3jpE/eC4JwCGy2c9SSvzevPK8frXo4fCadduq632+Gy67X9NlHxq+ZOq97vVXWtkr9NGu3n1btc8X8R+OJr0/Y4pl2rkuQ20/MOjHGck4OM/wAhu6Pq6i1PWNttNdPm3s7bq3STSJpVak+l+/S1nvp53tbdWb2OAjuPtEshWcmQhlmDnK7mzgjk8gYPQd8dKU5RV3Z/f5dtfy+a1OyMXJ2tfTe179PS3/B8iZXKqPMQu0asIyuNpxnHc9COAcZIxjmuWVZJ7rvq1dejs9bK+0fO2p0woN7bu+j0ttp1dtntbW+t7Ha+CfBl5rl2r3EbmOZ1JDL8uw9gcdemD6djjLeHnGa+zpvll3s77Xs1ZaX279PL3fdy3K3VlHnva/VaPXfeC6pdL7u2x+hfw++HsWmafbvDD5ESuiSDy8s56YUlQSpGeox6ZGa+CrYl4upq3a/36f12el9bxZ9nSw/1OC5LXXTfzfW1v693Y+p7Lw6LDTo/skSzXs7KcKo8xGYAoAoACKByTk9M9TQp200tdLfe2l9tt+sfXRyCdSTlF6au+umrS8pLq/w0drRq23hy/j1qOa+kEtwiD51ziFDyY04YmQ8jpj1zj5Xz26W9Hbpbs1Zrs/8AwK65vVhVk6PNqrLS/dd+9tr2++x7BbWscFuh3E3VwfLTEhZliHGQuGCN3bI9uf4eKq7337enftbs2ntr/hKVWT5Y2ta3zv8AKLvsr300a5Umpcnrs1oqzWdoPMMEjRu+MCXBzJhsgncc92Oeuc1zqCi23ps/TR+bfe2is9dbI9zBTaaS26aq+l1277fD197ZnEm1R5CwbC7fmz8zIQPuhuOMcZ4xt753M07936ab/KS30763s72j79Gpdvq9O915ebtbzSfS155UcqRm7eCMrIm0CQ/dkUsM7eeoGOgHAzg4Cq1b89fh3W1v+H30b3OxxUl1/wCH0s+1+u/4NR8x8U3QndwoLIpaMyLy2RnHl+hOepPPXjNFOVqi2tp2drq3nrdX+dtL3MpU19XeuqfNfpd6NL3lsrvRvffQ9Q/ZQ1y40H4qeHY7VWjTW9YXS7lQSXZWQyl24G4hU5z02nGOFr9z4ClyzpXel1ZbdZb6XT1Wii79Wt5fzT4oUeaFb021d9I32b0aV/LRJu8j+mDS7K3k0mEREsqxKWZvmJGwADHHpznke/Ir9+cvact9HyxS+7r8Py118tHL+VZU1CpOOtnLf1bu+nn113VrH5aftnf8FIfEH7APxF8FQ+MvBkni/wCDnjgNaR3mn/u9W0TUYxvmiVnHlSoyhiI96segU4y0VcP7SN9L3votNn62d07eSfuu9jSM1G73fVLye+l7XXy3s17zPvf9l/8AbX+AP7WnhqDX/hb4v06TUVWM6h4V1G7s7XxBp8zIC8UtkZfMO0nAKKc7T1xtrzJUZUZOKVnJ63TXze6666ffex0xqRlq0tLeWm9946a27aW0eh9dDjOVKE46+/f0HucY+uKqN1q310/qyv6W6dbo2iou9k10etr/APk0u/8Aw9/dAwJwPXHscdcH2qnLms/xXX+vn+kZkrWs/l/wdb9Oq9NSaPv+H9a53u/VkElIAoAKACgAqZJtWXf+uq/rTS94gVHs5d193/3QApOLSv8Akv8A7aX5ff8AZAqQOo0T/j1k/wCvh/8A0XFWU9/kaw2+Z//V/uIr0DzwoAX8cfn/AEVv8+vO0ACSepz+n9F/l+WfmAFXOfl6/h7ev+f0oAeu3PBP0/yo/mf60C6K/wAx9AWXZabaf1YKBhQAUAFABQAUAFABQAUAL8vofzoF73dfcOP3/wARQDd4v0ZIxwD644/z/nFVFNteqMLFUkkD1IBz75X2Pr/9Y10ON5W7a9+nqvz+/Q6qUrYd3/ltvrv007N9fmt4/il/wXL+HkHir9lbTvFDQ77rwf4nhnSULnZBcxSpKSeSFbaCAB/CcZIrwM+pe5s2rarTsvy10e+2lm5e3w1XcKzvprHe1uqSWqu9nvbbc/h91qBoJrqQZYuzqoYj7h6nPXgcjnnpxkhfjuq0Ss79fuab2TdmuWTtr2P1eD/dxf8Advtve6TfV7a7PTXe0uHuZNlsVRgZdwATB+UZ5IOQQAO/P04peWurvutktd9n23vfyvG1rr8191vJ6p37dLLVxrW0sNmSEOUdvOLKDw74DYIGODjOF9+uApZ37NPr1tq3u/vbWu0WjGaund73T7+vS999+vQsypLcQTiZMbXkkjdOJGV8ADjP8PIwB0z3+QX6/wBemyvp92pxVFrpotba6O17ea0fV9etjznUILlGlQRbD/yzZ/vFc9Tz1PXjGPU/wtaa2k2vw+etur1Xl0fNHz0727Lb5aL/AIcyUy0iiZWKggAqwwSWPOOOxzyBwMDPSlbXtbr26fn/AJj37d9PTbXXp0b1et9jRAjaMsd2FPlgDk4HGf8A9ROcf722VO7a+/ps+3L3/vfnYbjonr318/PW/W+2va6Us2WIgAo2HUt+K9ifm/w79c4XWL2XzT00vq9Nflfm78qMZx6rfT59NPV+Xk+8c2+sIdTXZMfLmiXKT4G4k9Eb1yOnXp+C9CSaWiXe2yeuvezfe3TezRzU+ZyldO3V6/dfVK1+2nnc87uND1CGUS+SzPFIxWViSAgPGOPmwvHB7ZGeNp7JO6V9XrZfLpK689766rVRK03FWu99H/WqffV+nWPQaRr11aMkZWeZ4pcJkFUJL+hPROoyT7ZyK5qlFO9lpft08/XbfftY3pY2SSTdrNWV2tuq1389e735Y/QHhfx9d2allmKMFAmSUuIZ+nyJncRIvOPXpyfnXhqYVu/uvVt3tsvu06XsvNXt73rUcY7/AB69r2fr8Xd66x7tWPqTwJ8WVX7KLyZ0BWMAO5PcAA8kcduuR6AEV59XAtXfJ1t8LbXd7Nq+233No9ujmPKoq8Wk915badtdbuWuqZ9U+HPi5JZXHm2joyhQyuC53x4yVRQSTznkgAds7jXl1cFUab5JPX+W9lq+3m+jfr7p7WHzey3s3db6dNen/B0bvoj3rwj8SLW4uIL97uZQz/PbyOQyv1aXlhlenA+oB61hUwa9nqnF8t2npa/f3Vrt3tezitTtjmLmlJOO6s0/vXxfdovh13kpeo6h8RrUxOPOSW3bmRmVlx3UqT1yTyRjpnAzivP+rJS2e6ton01ei11aXTbVs1WL5tndO/pfTfXRv0vp11Zzi/EbTLK3ZfMErTb5dgTeI2PIAbuOgPQdM+jejSwylSv1ejurP5LV2ev2l5N3PLxGJ5a7V7uyfda9rSilffrpu3e8uH1j4k2+kxfaoGVWmZxICDuXP3ioBGR06Bh3JC4Vsfqd5ctut+nV/wCHulreVnujOWL937N+3m+9pPfySWtve1Miz8c2mpmKU3aiZpBtVDwVf1XO5cZx8w+ucjbFWhyPlSfwp6K/rsl+traPWR04aqpxUnpr5elt+3bm7JRuub0Lw/4tlsrkrA28qwfe0gKlT27E9emOpzxzXDUpy1tFvfo915/pbfT3tj0qVWny39pDfutPJXfezv16W+E7e+8cCXy/NaNJJDkuuVIIxgE9+nPII699rYwoTmn7krd7Nr0tbq721e2tjZ16fSrG19UpKztZ+Tv+fS9mjd03xR9rjGyZVlQExSF85AGCrc8n+eM/L0baNDl05f8AyWzT01V7/db7r8xxzxN7qLXfRpvTpvZX0WyttrYzLzxLJbtK0v8ApKliYxyMSjOf90Yz69x0OV1hhY1Fe6XLp2b9d9fVPSysvs4LHum1fq+t1bv1a37pdL6nH6j4yVY5ZGdYlVWIXPzb8cqOMnkfyA3dVccC3J79LdPyt/7dfyaaNquZJx+zdJpq9+q+el+kXZ922zzG58T+fN9sGdpZi43EcjlT3AJPH3vY4xivQpYf2Grkm3ote+ttle3z1+bPG+syrSlyxaUFfTXy83o9VZffdovQ+K1gtR8q+ZMBkEtwM856nPqPwOP4dPYtq9pNLTRWun29706v5XucUq9pWbUdb3b067Oz/wDJlr52bC61E3MUQNwltED5spD4k2YyNoycZz3HOByc1NKMudJRdk7X6WXVP1X4mzq3irSTv1vst7LuvP3dr20ucLf+M7eAyxxz/Km4Fmc4kXJxzzg8D+mMk17FChN2fJL5bv7+VJW0318rJy8+viIwdufVXVr9/wCls9lqpacvmuqfEKC4kkC7mWNchiSRkDnn0wP8K9OnhtfeWquna2t/Jqzs3q/dtfXZI8qtVcouz5r9n077Oyt+Out0pebzeJ5tYvIbeF23GKWUYBKbQxyrHgZHJxuDd+cb20qKlRi7yUbryto+mvp0aWtk7WM8NQqTkmoSttqv+Ht90u+nwkggN9bl3XynbIyv332EbSD82ckkDjnoduAy+TXxKd0nF2stNvweqdldq2+renL9NhsLyJXVtVo9HdrVNOKv9/nZJ+70djpwhhWWSEqzqN2SMsAAFPrnA9Tg8cj73j1sV919Fr119VZ6Le9vJOPpUaNO927t9N/N3Vrd95S2sd54S8HS6vdxb0ZId4xkccH8flz7Y/2gMCvHr41xvqlo+13+aT0933tV22PWw+FjNxerd0tNd35xt1XX5yv7v2P4F8Gw2ott0bCMFkikMe1XlXG1gwXBBJHTjPcdW+Wq13inyzuk9Px0suqun/4Fd7n1MaCo8vsVzPTbulomrRto3uvusub62+Hdvq89wgubKKWGNFtbSFerun3nZecN6HGeeOwbllRlTu6a5/ndde+lu22u1+Vo2jPn0qNxUXu7Wtt6+Tez5dVF3R7dZWN2PtF9JZNb3CsYkW6YeUgBADRhMtu7rkYGOgzurB1FfXTRaad9b3jbTVW7fa0iaTw05yi4ptaNNLTtdfF2vq7rdc2vL0VtY2lov2+5UzTlR5AUbkdu7N3CnsME+meiiqws9W9dtF/l6vR772R6UafLS5XF9mku/lr8n0+1a1jOmkjjkJtrSQ3FwfmfOI4AeWPOeoyflxnnHTbXO6kOeSbst3q1b7orbSP46XaCNK6Xutfivlt+u9lspHOajFBcFxDCSiO2XI2Fn6O3bIB6frnrWdWpBr41K3bS7Vr20tdryavrd3se3gqaik3eN+7vv/2756X9NftUpNKQW8iYWMfZ2JZTlhnoxAGck9hk5PQY+Yg7xT1136P8b2vaz7dndRPWptKo0l7t7Jq1muy7bXXpbXSUvPFQW5aKaOWUrvAATBK56n2wc5zwMDnmrs732/XXd3u91baK7pXR6HMt7+evra/9bb9TyrxQifaP3PyNvJkTHCYH8WeMkjdzjOeozhlCL51b5WXRfLS2vfe11YxrVYxpNyaVNr4uml9u1m/N9u0fT/2YtPaX4q+FLhsM8erSzWyEZLypG0bkD/YD5JBXHB5HK/tXArtUpW+VvWXzX3Sevmz+b/Euo5Ua8oq8eVrmXvJNKnr02e36vlif0w+F7Z49CiEjsWMUeSOpyvOD1xkkdM4HbFf0FRkrwUvd91Xu72vs9vne7XVaW5f5Xm4uc5J3XtJadnzW11fX01vpsfiz/wAFoPg/qPxO/Zu1jV9G0CTXtb+H98mv2UEK+ZPBbhJIbm7jUIWJijk3lV/HOMt7FCMZRSve/RLfVvRa6Lzb9Vb3+GtNX0lbV7X+y27Xuur/AMrN3j/GV8M/HPjvwLrjeO/C3jjWPCWq6Rexvd6hpmpy2GpTXaSBhb21rHIi3Oxl2zROvygk8crTr4WDs3Fx00XWz3a0k27d277eZMJ1NWleOjdne2nV2itEr910tZuX9Tn/AATl/wCC9GieIZtE+Dn7ULHTdTU22l6L8RvKla2vAHWCFtdDSuIJm+UyTY8sMTkjIDeNicLOF3GEtey2bvpf3d99F84rU3p4lLdq/L11u3r/AHXpbvfW3KrXP6jdB17R/E2lWHiDQNQtNV0fVIEurK/sZo7i2uoZUDJJFLGzKyuGBAByB1zgbfPSmpNNNWfvbau262316/dZnXTqxn1W9l0/Hr5Pt8zeRgM54zjt9aycld6rfv8A8P8An95tZpX6P+tiWnbZ9xX3XYKQBQAUAFABQAUpK6aAKy5JdvxA6jRP+PWT/r4f/wBFxVjUTUlfsn+L83+noaw2+Z//1v7iK9A88KACgCRBnOQMeuMnP+f88UAPwB0A/LH+f8+tADSMHcMYHbGOvvz/AOgn8OqgAnOT6n9f69fQfjnCgD6ACgAoAKACgAoAKACgAoAKALFBzkMwJUH0P+f88+nfKl2tv8v6/ruF2tv8v6/ruMPbjIHb+v4fh7dCG6qUtLt3fnrfddd7fP8AWO0l7tlp5LReml+//Dbnxx+3z8O4fif+yb8XvDcttLdzw+HLvV9OiiTzJWu9Ojkmi2qoLAn23exAFcGNjzp3V9Hvra6+5q3TVd5K1pdGFl7OcLScdVtp+Gu2tvvaSu4/52fjSyk07WdStbyMxy2l3PEbdxtceXKY2Vk5AYFSCCMjrzkV8BXSU6lr6N7J23butbq91orp91b3v2vCNOjRt/z7hrvuu+jerur/AHOzR5dqFsrF9sa7OXG3723qFOGXGB6+uOON2VNqydna70fT/Pqz0Fyw1stlvpfbXXm3fl932couvkqsSEuZV2DoME5Ibv6gjdz7YBq3u7/de9lq7bK2iVmvPbVR8/EK95Xa1bW7tb0avvfVW8ndotyTEh2QP/o4w6Ie5GTjjuPY+2eaTWm6V9PNeff7v1RyQV5W13u1b8rWXu27/dZs5vV3+02imJHMpfazAD92oycsc8Zz6f8AfPDM4y1afTdd+339L2S1XlKZxvLRK2ltN76t/EtbXT37pKzRy1vCJCTjDAbZF649GGQDnI6/oMCqk7K99Vs20r6+Wn431sr3kRyvs9deui6pPS2/nromtUPBKPJAWxtVSH55J79c5+bHbucnHy8qd5J7Xl+b+S69vuOiS92Levu2sr/rv93pe5SmRyWWPc+3O9s9B145yR35xz2OK6I7rvf+u2+3xaJ9btGM7b9LabW839z027rSzlm3IlC7hlGXgHcfnx1U8E8Z6kN06jGK1i+Rr526b63+1ttst9Uvd5edayb/AK7fPR2td6bWteTbe83xqJiGZGbfFKCFIxj5GJ9yR+Q39F6YySu9LaO/w/fv66xvfTS1zOuvdb1X3O+ltdbKz0e+97Kzcn+Rpk0wbytjrkkBhyDznoxyD7enJyAuiinrfVq701tt37f5pq7ceKMb63tfbTquzv5dUvnYj2lMQJN5kZbdv3bTH38s9fmBGBg/ng0ci11d7JbfPSzXS7s27L7SszZS5Xddb9WrX307W3vbXzdpdtpmuy2MKCP5jswYnclun3g394465464OcVzTpavTe3l3v30TSs7O+1lry7xxdRPljfR9PwV776WtpbybvLutP8AifqOnm2dGuYJEQAoJcx7RjHO/BLDBAwB34bNc86Vk/P/AD33SVl06baJ3jvHF1n/ADXTVrX16tPVrbvfvdL3Y+6+EPj+1i7TXCyT4RcF2XapyMcE4PIJx7n7ucNw1sA6l5Wet7eltXru7Lom9LO9rnqUMxcIRjK6kv8Ag6Lrpft16po9Jvv2if7Ss0jQvvbjauI4wBnqAR+OQSDgrXCsts1eK7Xtou3zXkreavc9KlmiUVG/La130v1672svLf3to0YfjhbNaPA2o20V6BiJJCxV1wcxqwJG8DJHT6HBFdMct06/ypaa7aa6tW06+bd0o8uIzNTqKSbfu9dr+evotdu8tDCT40WzSRwapcS3KmORFibGDn+45bOFHf5ffqoqv7M21dr3Wi66bvfXX89EjD6+la3V9b66W/m3bt1/Jc0umfG7S9OuXhS3Wa2ZCqMCVki3fdy5bJ+qls442j72c8rtd6v3Vo2t12+L8d10e0doZryL2fM0r7dH5tdG/wAez3juW3xgvxIbi11eKKEruETSMkkf1bo2Bgfe+mOtczy1r7Nnp87bfZflt2+0dlPMoy3ts032211lK97ve3m9Wjeg+NlwmyS6u5bxS6ZkMjYIJx+6+bnnA4HQdG521DAShFppf5+e0trPoui2sYYjM5xaUPht0va/Zq76O+rV/wCZs9g8M/F94rm3eaZY4XO/bPJkmMjjaBnBPvnPHI61zVcA5LZb62vtfvZ3s9PLdXfulUcfVm72kn3T1v8AfHqvxu2kry7XVPihHcc2V2qQyqZG3tyrHj+8MHHQZ99wxmojl+9u/p6W0V/vv3SudFTGTSipN3fe2u215vr999U9DyzUPGlzeXSRR3y7BISxdiOvU7QT8uR36dOc7q1eFlBfDrvfr+frt926I9vGa7P7V9n+Wtl0v20Hp4pSFGSa7BZmI2qwKvg5BA659T+PYVnHDym4pp6d/PTtLtvZa6bXKeJWHi5J/GrXX5+aWmnXZbnPz/EGTz3VpAscZCqwbOUHUkZBJx0wOPUAivXo4T93aTetrJrR6Wtsra379bM8itjJTlfpf8e7V3ffXbsnKxR1L4jJPETDcuJY/lOJCAUwMDbyCOMDOOnfNRDL4wm5OyV3bvfp5de3VWvZmtLFNpabLZeXza01fnv7l7HnV54wmvHeNpmyxJ2AgZQnt1OAcjtxz3Arup8sEtVdLV37aN62Wt9Ly6W03Oasp1aj0fbZ9bW11a6X+JrVrqQJcX0mYVDpHMvyHqMN/EXHfHUdTz3JZcKmMjBvXbTsv/Srv7vPpynVQwdoq7fXbXzsvdVundeStY7fwpYR2gBkhZpy0iK+MhxJ6ZwBkk9CB9cA14+LxKm782ya/wAn1t07vrpblj7mEw7jZfNX8ld+b00enX7SseladpvlhRNG0j5Zo5BGu1Ffop4P3c5zhuO3Brx54ha+d+m/lur2tb873Uj2YYZvll295par12vvp0t0bkjrNF8Oy6pcLbmEtGWwJCwCr0GADx169PfkZbzMTiVFdOul1Zd9L3Tu9b83k1f3vTw+Epzkr63bclZb3v2vfpo733trzfYvw/8Ahw7fY4o4V2oE8yYqNzrwNgPy5GfTn5egyTXz1XExnzJOz/XXvJ9PvT625ZfUYHB0oxu1G9r9Eu7+yrq2nTy2976n03w1fQolhHZWm23jDW2QufOH3XeJcyHtgMvynBO4c150+Wn72u7aXzu+97adF+Nzamm5SV1u11XXdLRX80uyVj2Dw5o76Pai9tra5l8QOAl27KYokBHzJbkhVGV/iA49s/NmsT/ddt+lnrrbVu6+V+qubTw/Mui12bel9eqd03v6K6djrEs9Tu5hPBeFAwBubabLDP8AEAx4J6jIB/DGG4as221Z2euvbdp2/l0XxLvp8MvUo0bU48trJWW7/wDkVrbfrvpexryXccKMskW8psBZQN0jr91AoOQg5LkcnGSy5y1043slbTo/x7Xe1tXu2k7e7niJygmrdF236aX/APbvXvKjc/bDFO8ceHKhRLwvkow+Xyx/y0OOMDPvzgqToRcnp+VrvXt2W6aenrzVSu4xfW636O3T4r/j106y52ITuWSS1aFM/M0jriOFODIV5+eVstyf4gcDIrP2Mei2dtlbTVrrpe+lru11e7R69D4V5cq0be23n5b306WKlyYSokiQKQWCrvB3Ecbnj9O/YAc4GMVTio6LZfLTt933nbT/AIid9E9Hva/pb8ru+rdzgNTlnjEl1HChZ5Ps6HaNjkZLsSTgLgYH97qdpKhm3vbt26dNE1drTrHtZpXPUUbxb0u18t/J/Ly0XvJNR8e12Frl5bqTAMjNIycD7vDRpjGSMAAg/wDARnFbUYtyj1u1rv6PX+v8W8ePHJfVnDdq8nr8krdN9tn8kfQf7Ieli9+LXhgCIeZDDf3is3BhYzbPlTGSSuCeny+mcN+38CUkpUdLO7tttqrNeSel5fEm+bVo/nDxGqqGGrU7XTuntZ35Hv01W1lqle6SUf6P9JtCmlwqxXCwoCwJ+Y7euMd+cjPtzn5f3ObXPFd4Q1+XXR9PNW8z+WeRxVXq5VJy87c1/JddNr9LWR4x410q01XUJ7C8t4LvTtRtp7O8tp0SS3uUlypimikUpJG67lcZwByQQPm9bDScLW+yrWaWy3ffdrRXuvmo8NX438red9/ufno9Fe7P4k/+Cw/7EGofsx/EmDxz8OdLli+DXxA1i91SztIkjjsPDHia8dW1DTJSkO+KG43K1mWCxsCQpODt9RSVWzvstU7XWi00eln5v53Ye05Y2V0rX+fprf7u6d7n5Zy64ltbab4W8O6bLb3Qtori5uVt0/ta9v71FkubQyIXeWyRhi1CbPkUMzDOaqphlON9VaN7Pd7rTR21fnfZ2tcyhJTkldLtfZr/AIbXV+WiSP2S/wCCf3/BVn4wfsOa7Y+APil4sk+JPwjl+yGbw5/aT6xqHhSC7C4bTtRaeSOMWoIE2mrh4SrKOoC+DjcHyvRNJ3ejt1e/uNvbe999/eOnn9la13fRtbfLbt318tD+2j9n79oT4X/tLfDzRfiP8K/Emna9ousWUF08Ntdwy32nyyoGktdQt1kaW3nhctGyuBgqeDg7fBr0JxbdnbXpt6bW+enTXc76VdSSUn2308m3dvz6fdoj3j/P+fT/AD7VnGTd0+n9Pt+HprudLjbXTXqvwv308l6K4VQgoAKACgAoAKACgDqNE/49ZP8Ar4f/ANFxVy1/jX+FfmzWG3zP/9f+4ivQPPCgAoAmX7o/z3oAdQAUAFACMCRwcc+/v6f5/WgAB7Z5+nt68fy/KgP6+4WgAoAKACgAoAKACgAoE9n6MKd5d395jeXd/eFF292/vv8A1/XYLt7t/ff+v67Af0pqTXn6v/7WX9d/s9UYqV7308r/APt0f67W97jPHUNhc+DfFUOp3a2elvoOpR3dzIwEcUDW0okd92MjtghvXiiSU4yb0svXpvrZdLK0fk/tRNuEk0npJba6PrffT5eWycv83X9qfTrLT/jR8RrbR5kudOi8T6qtnccfvIjdSMCmMAgknHO09RgDNfneK/i1v8c9dbNu7XfTTe19b6tn7PlcuahQ0u+SDv8AK19/Lt9y+L5YvRKI2Knlgd5xg4/Puc5x6Z+bovPTtbv73p089Pwd9rq6PUrScVfve/3X/pXXqrHOLM0RYhlLjHy7TwD147EjIwC3c55q3rdWW/l0skk9Hp8u+lmZ1I81OMtk4rS191fdSXX5PrcfavCjXEvmyEzyKJR/Cuc7duMgckj7v/fXJo8v+Bt572fordV7vvcsI212u7bdO7vtouzd9XJ3RBPCRPcREHM6EZ6DaQMHHTcMc5HsccVlF3k+luj/AK762vo3pe7JnB8za1s01537b7q/a3zucY8ywF7eYtGVlMabTncv9/I5IwT6AZ4yTitKjbTbu2tH1V2+3La6+d7aN7E8sru66X08vnLfdJu++9nyqZlDL5blxEMkFeuSc+h6nHTI68A/LhB3afn1/HdL8vvCSsl6a+Wr11t/SvrexG0wjcSjiNsZUjnPfj9Pb8a6bLTfX5en4O++uya15cZ77W81+K3tvvpf0+0SPHMHUOGk271AUbhgdCSMZPTj8+MU+Zp2Xp2tf/t27d/JdV197JL3u2999Vp5W09fl1OQvomlVSpkCo20lcjJDdWAycc56Y475rWMmrdU9bXVlputH1t39WtDGum4+V7912V+l1vtLtayYsELs6iOUo5A3EDOQOoO4Erxxx655B21aqu/6pvbor6X+62ltDBQaimtW+lrfm7pebjH8CW9+RvLYqkq8qM5345OCQ3XB+h9c5V+2l3t26W+WqvZ3t13drWIkmravXRW0vtrstm7bddL3Zkx3l8WYBmhOGwpbPyrjI+hPPA/A4+ava6au7fRvdpLyl20urvzT91xqcm6107pvfZX0+9697IuQXN7Kjq06yYH3MqpA6jrk8AnsenQYG3GdR7dNfO616WWvZa23vex0qrFJO2l/Pdd9Hda6aX233EtNevYHZEieQRMT5Q4BYHB+bgEccYHU54wK0jUXs1ptpq/Pr8Xo7p6K6lrYtyU9UnbRa6baptNa3fn0sr3fLpTeLtbYksVigKYwvDr7cHJHHXjPoRmsFL3tt/Lfz3007W06uy5U7rS606aW+7VN9d3bbS1o4//AAkjRSxxtdXERd9/mMjShWyOnyk5OP7xx75xWvtLa6PS776apdHZ6ea5t3ox6yd7L5277LRaaq+97L4eZOPTL4k+0GOVr+P5lwu9XVlKjDDqeSo6Y79iaXtHrt9+jt93Vq915XYNPy0e19rvqtiS28QIjiSW/V4QxJjEu0r/AHWXqSSR0I+gORuTldPRN/r2eqXZax9ErtmbhdqV7K9/61bst3bbrrdy6Ky8R2042maQc9TJukK+hHyr7cD64z80O70a10/Pom2nrd68vfyN4XXW9vv2+a26JW7XudfZ+J7ZvJtmkleFFVhvY7lK9xjbxyO3UckZqPv9Nu23azXe+y1uynP1TXr0v306O2rvtpa8u7tvGd59mfM6eXGm+MNkkhOArMCTxjsOcHOMCo5V2X3f1/Xqb08S47NtaLbXT8t+l0ttbKR1Np8SLu/T7M4aBVh2Mw3BTweVY/xDr1PoTgja+RLtba9nbpr8W3Szb76NNlzxEq1rpx5VfS/nda338kvPm05rCeMobeF3Ny0kiAoEc/OAeS2/5c59tuNvfJCtUo1NbKPTS1vTy+d7+VlzCqTg29ZWstVa3yWj0T7/AIXjQfxwzOZ4RMWVQigOTj1Iz16HjAx6klalUKcPe5ltbV33/wArLrLp8N/didarUXJyu3R7fg9V9/3WRQ/4SbULrzXSGRc4EWc5JyNxwRnk98Z4yc4G4nVUE+WX9PZ6J226XvvaNzSnh+b4lqn3/wA00+vRWWmunNvWsGpaxLGButI3hRCFxucg8knnk4Poe+SeK4cRipcrVr+euvyXTT7/AJndSwqTS1Vv62td+av1T967jH0W00q2gijle3cyRRiFlc7mkIwC2Tzjvn5vTP3S3DLFS5XzPW/pqr/3lZdN7+SXw+lSwcWkumm6Xa/ZWWuuq6btcp22i6dE7pAu1pZRuMDEYVTyNo68deOnGQwGK8bFYmWvK27dtn2/JavdHqUMKrqNr69f00Wmu+j7LROXrGjaSkB+zw27ysBvLqCVjI6qGIyvTnG71GMZXz/bXXvT003dr+q8k9O/3nqU8LK91CVttr/h521beu3unqeneHpLmGKO3hZpJCu8suMDI3EfL2B9OOMFcBW4K2Jalo+quui303010vr3srnvYXDRceVx1krXtovnt11XS2nNZOPs/g/wrEt3DZRW7NLCA8m1csc4wxwCQM98YxyMfLXi5hiG7qDUt37ruuvZ27LTW2iVtT08LlkE9ZWTeuq0XXSz79187s+t/DSz6PpjypbGSaJP3QijBwwH8YPIx9QR1BGK8BVJuXvXsne39W2f/BvsewsNGnH+JHX+9p112T1vpb1dto+g+GNPfVr221JLi7g1K3/0i6lMrw24DEbbdVUkMQD79zuXpV16knFcqd+60v8AK+t/+3uXq9U5OlRSs203fyd+1tuV3+9aq9mj3+Br+dFY3kUEUODIZNpMhHZTxuyfdic5OM0YeLqWumtX8V+vS34aW63Ss0TWqKMd7NPr6aa7vpbfoutosnu0cNbWsizYYebMmE8oYOeR1Pr09MDOK0qQjZ2abvt66NO+qd0+jV3rd6nTCcuWMmpJNaNaJ/0lfbVLVq1ywqwtiAB94AZJRtyT2LDnH3c9MdzjG6uVc8No6Le99bbLff0Xl25ipH2nnfRLd66aPTz79O1xdQkmjihhkk8yaYYhUFeQfvs6L0wOATtz7ZyuntL/AGo383f57au/k9uty6dOSUVZtrXrp3b2vbbbbRXtzHM3yM+ItoIhXMzZx5mRnyz0wOQScn2HymnzS3tp3V1f8+u11917nqUXZK767bbb6a2skumu7vY5zVLfFs72wMc8fzuPvI0XQhfrkDPBHU5J20nFrVrfZd9PyXpbonFNc3s4enTkoNuLf8umn59PNpd0l7vETS3DOd8SooBPkt0JbADY2465PbPQ45pXSb116Xevk/VbXvo3dXujpnLli7O+m61e2/S2/p11SueV6/byrvieQNtmDRqoB5f5SAc88Y9Mc8HFd2Dpzc4SatHmettNPvW/l6XvY8TFYhc8oSfK5aRvo27N2S95PSWy3fV3vH9Af+Cf3w8ub/x7qnie9iVLHTLKDTrAgby0z7ZJWwV9W2kgD2ziv3zgnDzShJU3y2u5ctlu72a1Vn1112t7yP5Y8UccoYmph/aL2krfu0/es0noubW/dRj3t1P3HmC2+n9CCI+3sMYPp8v+eK/XZfxabWqSjF22vu+2179PJPRH4E2rST01a6qzVr/c73vt3W0vE9Zjae78wbgC7DJ7HueuRwSchueny/xerGSUFa112euqdl3WyX2n5dTzarXNe6V+l9utunddPuPmr9rb9mzwn+1R8CPGHwv8SQxmLWLGT7Fe+XG9xo2rwqXsdRtyyM0bRzqvmbWz5eQc5rWhUcW07Jt77X7vzta3RPXVaKS5eaO67W1evnr2392S2V4pXl/n9fGz4KfEP9lv43678NfiNp15pOvaH9si8NayGe3g1zT4yU0/VtPnjAExaBkZ1VupK5AwK9qlVjKNrp7bvXXXRe9rra+nTbRR55QqQb91vRJSSVv0331T3aT0Oc0e10ZtFufEevi8u72SYpa6dEkbLqrqcTvNLndA6MxcyvH+8P8Ad4LKrRjUSukm767Ntpt2fvbXtu79rpmtOSndSdrapdbert+Oj0snsfZX7EX7evxl/Y3+Kem+KPh1olzd+EJriCLxL4I+13l1Y6ppskuXHlNKIIbwKW8qdAi+Y2DtyK8jG4Km48sdXrbvfrvTVm+l/O17e9rGUoWfbXXppt87Kzd0nfR2aP79/wBkz9q/4bfta/C/SPiH4G1GFLu4tohr3hqeRBqvhzUSMT2F7CGZ1CSZ8uQ8Mvr/AA/L1KE6Um3CSi9FJr4rbvVei+X2t4+jQrwqXipxbVtOZ6adU77Xtv5a7n1KCD07f5696yujq7Po9v6/r8RaLMLr5+oUAFABQAUAFAHUaJ/x6yf9fD/+i4q5a/xr/CvzZrDb5n//0P7iK9A88KACgB6E5x2x/n/P+NAEtABQAUAFABgde/0/rQAUAFABQAUAFCAceM45Hr6f5/rQRJ+7fVa6ef8AWvpuNoM7y7v7woC77v7xzbQBjBJP+fU//q7dabVtO3yvrv1/P77mjiu2iX3/AD7qzvprdbXG0gcFZ6dH1FYEge6kD8z/APW+n41VPW1/5b99dP6/4Yqk3yT73T/r8T8c/wDgrv8AtX/8KP8AgpceA/D2ox2/irxgGt7oxXAS5ttL8tt4KKwk/fFgoJOCuCQcha4sbWSjbVXvqpa+m358ut7dEejleGlWqXd5RWvvJu/33d1ve+79HL+Jr4g6jJr9wdanBM10XuZnVt3mSM7Z3MOctg5569lz83w1R3nN66yfp+Ova3/DH63lkOWnHXaCVrX6Jb36Xdt+u1rR8U1KM7JiCV3jaB0xuXAx1OVOMkdz2yDXLJ+8+np3/wCH+75HfyuVSzSavu7tLyt07dPnf3eJnV7UrGgV5XHzPnOMHPQZ6kcHv7YxU3d9G+r37WX36v8AU2srNW8l1Vvx7LZ/eVBdO9x5TRtGEAZn6K5PAyeBnAz09+MqKdn/AF5/5/8AA6mEt36s07uSMRCbILIV5U5LKfp+XfsO+V3itNNNvT8fvvfu3e5zzklJptLT8F1/P8rrRSxZdOt1BuT8wlG5FfH7qXJy2Twcj6fh92i2mq31t2XS61at5t36W3JcebvpfZPb7/K3Z76aRMBpRDeyw+Vud4w0bJgxvx86t1AbGDwfY5yCxotF/wAN2162X+L02ZzyXLJ26fdsu+i3bau7tb7ctSM+e7AybsnA/wBgZ5A55xwMDgdMrkbX/wAN/l29fPqnZoXldaJNx3+V9bfc7aW5dh5jwNgmVdjZV1IDZ4yG5HPAzyPx/ie3fWz31tt22s2t+l7apmb6vTe2i08/mvN+et2VLqDc8MkDp5YP7303A854wefUj2BySpfu+z/4CSenysmtXbRCtvftd9d/616rd7Ga8imcOFYYkRSythSD3HGD+fscY+a47arVOzd/m7/ftZ301X2cJfF69+n5v8PS5ZnubWSTyprc5UHY/RmwOucHIyMD+TYxQnd9fJ6W1/Vu26lba2gvz/Pz6dLbvz10iZ01qoKTb9qNu+XG4qGztzzz1/2c5x6mmtFfbr9yV7Ltay9TF025NpXTslol3t31vq1pfp3Et4U8xXMY5IUuFwSpPAPsD7c8j5c4p/n93k38t/uspWSLjGy/r7t3+l+xei06bfNJmNFXcQAPvcfLkHbz26d+M9Khtp9d9rdE7762ulfbpqmkubeMU0nbyert/ls1167x5fexJdMe7uFXfJHg5d1+6pBI243evXrnOeOjJSa6/PffXa2l7dErbO3ulOCt/wAC3nvdd100T0vaxZvLSC2jj8zEkgIVG8tRxjjnHXrnnB75JG2e2und7XXl130ulvZ2tcThe/yura20t9paPpo/JbmVPphubVdmTMXLIFyGwMjJxzjBPr7c8qLvdW/q6+Wz8w5N9X5/funzPayS+Lm30I4dJjjcK0MhLjAUNkF8ctuxx1Pr268BTmUetvxf59Omivt0958vLu73d2rWt2tv5dbK3W5pw6DclZCrTh8g8ErtB9DuJ9Rx+GcA0vaJad9LW6vq9raab+bu/dG+u61v/wADvpv3ezbTSjppb3toiiKV2bG1Rks+TgnPt7kj05yNqc4669tX16bfc93211kJq9tdF/W/kr9Hrt0lHVsp9YgKmaWYxglmRcj5SD657/n7YDUc8bLW2l776/PRaJX102Slf3dIwenS1vW1uvZ2t0030sjpbS6vJ5VImmW3kAJLFjtPbo2B6Zz35K4+bGrXcOVxe+6Vvv0t+dtLq93I6qVNp9bemqWnm77dVfspWsd3pWnTNEzyZm3keWWztPp14I/76+neuWeJq/Err8tO2z310fzWiOuFPX9WrdfVr5308jqNP0a/ljf7Oo8x36FMpHznHIPXA4x9C2MVkq06kkp3tZ6fro30/p25jR0tNr/K2y9Xb17d7Xl1Gk6NcPtjunZJBI0SqqksWB5bnH7s5OCW+mM5rOrXjC7v809Pmuj62bj+Fzajhr7f+A7W0suj17dut27S9o0bRYLOygcK0kobGQHYbuvzZycfr344FebWzBK69N9dvPrZecfWzR62GwMpz1Tv0em33emml+r0Tl6DYeFbnUDBLKRApG5SqthgDxlSOp+h56+i+ZXx3Nftp8v/ACby11u3rpse3Ry9x0s0r9ultr6a3d/TvsepaN4Ijt2S6a2R5VXHn7cHYc9cY4PBxxjn7ud1eZVxSd11/K+/4Lrv15bNS9Klg3Bp2t0+63rp81e17aHuPhvw3BM0MccSjPzPlQN5wPlJwRz0z6Z69G82rierXdel/JXWll1WttNT06NDmaXS2uvVvT+bpvFr77vl9a0nRlkmS2s7MNMpCZjTCJjgkkZBGMnnrntkGuCribprXbW7122Wq39Ftb3rnsUsNrF3srJ289bdPlpv0etj6I0DwEbSyS6s7ZWuZlzPKMITkfdEhbgAk5AJ6HpkGvKlVu392+65nfW2jsk+t9rK3vehD2cdLrbV6Pfr5u99mt76aI9R8G+F9Tjt5nuAiRI5/cxjc7hyf9YWOXA4JBC+mTuyuV+ZarXVqy5v0j2tdfhvJzVGV1pb/Fe2+2yb+ei2s2z1C28NWkbW0ypJujyxKrtjZvdFwSQOPm49DkYVX7pv11v879/LyVrPmWi100Ul6edlpd7r4ujtZ3N9ZbaR0t3tQl1CAY1cMqBTznDff3Y5IBAI75+boo1OTVrmTb1e/XdWla9lve199bHPXp82yv3a7LT7mnrdR897GvH4bt5UaQyxxo2JvkOwE9dig4JOe5PsMZWs2rzbStzO+3XXV9t7LRp9LWtLo9p+7jDt0v5aduzsvRa3THXFrsQNAw+Xh1k5YgHGd2Bgd8DOO3rRKL+Hq+/R+b3bSXVq991rEISad9lponrbdXXe3XT0V7GPLGN0k52DGAGwSMSY3BDzgA8Y/PBwaw9nronq7K6un+my3ukul1oejTcmlvrFXe7V93ZtPRvr3e28ZzaQybI58hI08wunAfd0DN2PONrbic9ySG6YaW6/1ov+D5XbjudMPiXppta3Zdtr7a7K+pyXiO+jgtTZ28H72UbS/H7tD90FhzhseoHcZz8rqvy2/X5taadV13XxejRk48trPXTmvZJu2u17aJdL90rHmRWR3XzSfMlby/oB3IJ4GO5288DoTXIrSk+ll3101tbyt5338o9VSaUbJ3vq/Ra2WnfX7StrvocJqFssuoSvLlY7Y+ZnPyMqAEqcjqQO+MnkYxhvcy1SrVKdFXfvN+ad39+qvZ26b2935rNnGnGGIlJ/u23ZvVe6ldO6636O97aH7A/8E6PA+tWXgK78V69G8Y8Q6ndXenWjo6tFZpN5ULEtz86pu4UKQcggcV/SXB+Hlh8NGMla8b63S3v2tZXta/nbS5/HfiRjY4nOpV4tOKcVo1paFu7tvZ2ctb6qyR+kuvuIbRlQkcAYyc89cfd/9mwOOc199Sjfd395NNL/AO2Xz17b7n5XVajza/E5T1dvi6X7a33130seTiM3LyE9RIWGcnn0HTBxwMH24zXqLRJJbaee9l231ev3vVnnyjd6d9PS/d2/H11tYstANOnSd499jer5VxE4OEfHyuOOASwHJxnnjGKSSbb6LS+90t1bR3d91fTTzCMpRltpfe+nrta+l/u1jpzfkd/wVX/4J66P+118F9Tv/DNpFa/FjwFaX2veBNdgtIm1C5aCFpp9CkmRVmkt7raEjTfkFcKpxtbro1uS1rO21+/bS901d7eqa+Lfm51ttpr0T7eb8nHtskfw86La6nY+JpPAfiuym8N+KfCeo3em+IdMvI5LK4d7Z2WcyJMA484xnawXv1AGa9jCTVfmv9jRdd+93fp3v1XK0c0qfs3zWsmv6kv0Wvy1idM934g17VZtJ0LzrHSy403MLvBHbW28JHLf3cWwmNXG8TSEbOowSS04iirOy0Wuj0fXX8OrtdpW3kKon7n3P8+nW+2lutrqJ9vfsN/tofEj9hv4zaB4n0rxhaa74ZmuDpnjfwkl9M8Opad9oUSTNM0rRzXSoxkinKFtox8wr5zG0HJcqVrNr7tHddb90klvo9Ja04ezk5q6b0strp76bbNb7t7WZ/oS/Ar4z+EPj38MfCfxO8FalaX+jeJtIs9RVLa5iuHs57mFZJbO6MbHbcQSFo2DqjEgnB52/P1aXLN3VnF2WnTf+7p3aW/Rfa9ejUbile2mivutPTZO233bHr4IPQg/Q5/z/n0olokua9ntb9bvb1+6xu4KPvdXo9Lfq9/X7ri1AgoAKACgAoA6jRP+PWT/AK+H/wDRcVctf41/hX5s1ht8z//R/uIr0DzwoAKADJHT/D/P+fWgBct6n86AHoSTyT09c+n+f/1UASUAFABQA0feb8P5UAOoAKACgAoAP8/5/wA/yoJn8L/rr/X9MKDEKAG8Nz1x+H6fhTu3udAp6H1xSAo6tqlpoulajrGoSiCw0iyuNQu5nIVYre2iM0rMxwP4SvXuDxT+FO2llbe3n+St0/FKTirQlrptor+WivutG1fe6vrc/gp/4Kl/tO3Xx0+OPjLVrW7d9Fsb2XTtGgDkxrZ2eYI2VR8qmTy94wWPPXpXzOZV2pTWz+56btevpr0tZn2XDeGVSWt9NX8r9NerfV9GuZ+6fljomtprGiXEAYyTWcrKwPUKegOdxHXI45zkg8bfnpN69U2/zTfr+H6S/QsFBLnSvons+qfZNq6t19E5WuYWoIVRnkIIwQqA8hiPQZ9P8MciuaT1en2u3637N+nRa2OqKXtdOt91o7vTt6a6rfX7XEXEXmSBgORweo6dt3P1/QE4DMm7en+fZWvr8vR292n1W+u/6dPy6aWMHVF2bZX8xxGwHlIvzNyAM7ecZ55Ix6/3nfby2/P8/wDIwnrLtb8fz/C3zuaMSIyCJvkZk3hTycdRkbzjIweeR6HNbR+G766/ja/3Lz1+bjyzp3k2r/JafmuvZ/dexTuzJLaTQSAoEZXDDn5F9MYOMj6Y6Z+YVWney9Evx13Wt3bz2uClbyv302vf7XTfe3nLTlx7q1ihFvcxOziTgkHJOBgjHQZGB+tLf/htrfPVeqe1+Z3ZzzalKTbsn93qnr6arfTVmCHNu6ugCorneOpw3Q9sj2x7cYIqvVvX8NXv57dJWT22JXT/AIfpolotPO2vLre5flhiuIxKmcEhmUMQTkdfxPPvn2pfL8drenL99rPsteY6rW2m1rX+++i7WTS66ohvLXagZC0alNq9PmJGQCOOOg5Xnk5JNGrfnp1+62u6v027WTQdNfPp8333X37qzdynHYytEqS4A6/KR1B4OQOc49vwIK0fr+F/x26+95X0codLm1S209bf522urd9fekmt2cx+bEXZF2iRcAAH1G4gnoeQSfbJ2u66XV+z/B7d2r36bS0cl7BtW16/LW2m/bq+vW7IVRUZYWQ7jjBJJBAPQZyOgxwBnPXpSv8APf59b9bWWu/3lKlyrZp9NH2v/W+2lrtRfJIBMuI2jK8cICGwOvHAz9F/MUabdd+unlt1+a89G4y1a/k+3e9ra+XW/a6t71mCNrtbp5SXQjCiNtmxh0LHjgjryOOuc1Em1a3rr179NddLWfzHCMbW1+57duie91r9xZt7CeCMNCoZzyeN3Hr6dMYyR09yrTzy6vr1Vtev6Xetulrvmvlj6X7dfldX27+etis9rcSyBHhMjGTlfL+UDqcnjH4Y6YGc7Wlyct/z/PRP77+u5cKV77pLRprZdlr5vp52Suo2oNMjWR0OYyyMH2qTsXHPPIPvjGPbgOr/APA1enmtuvf8bWL9k2lsu3u6J/8AgX3Xja/pcI9HNkvmyHzFL5hG4bnQ8g9fX0bj8y0Sk0vN7ddt3/Vlp5WlEo2tqnfb/gd/LSL79SsftCzYlDCJjlWDBQoznLdO4OMfTJ4NS5SfReV7Lpe97R1WnWPdXb5Yzoul/L+v19Da061jkl+0MvmbnIVwcxkDgD656/IM+4+9M52+J6eenbdeXm5W26IpRu7Wtp19NOuqu7b+eunNpx6ReahvEsQijWTKCLl3RTwT94kMBjnp7jmslNdZX9Ps3W19L6WWi037cu0Kd7/K/wB2vX9X87I9NtfDVoLaKWJBvkVAkKsAwyoBL9MY7YBJ/D5z2sIK8mteay7+Xk+97a36WUuujT1dt0rtdL99pebtzeeu8ehtvDV9BFDEsiiFAXZWIDKW5ADcZHzHB6YHI4ATCeJgumml/Jdu7a7Ju293dHZGCXm76afd1lr89PO/u9RpWg6mE8tZJQJGMjFFI3L6Kw9RgccdDzkBeWpiYxTcdH02ei0ttv1Ta2e2jRsqey38kt12fbz92Vvkke1eCPDkXmNPeW5PlhAElGZOhO5gQ3X27nljnFeVXxPMtG+t/wDhtdd1p0T2tY9fBYbbTXTXv36Pdafg4uycve9F0ayuJfKhtFYwgN5YQHG714wep/vduxxXi4is5JtNq3X89LefS/fW9o/U4fCQUYu6TW3q+u19H5q97WX2fUNP8HyXYjKxABSPlVfu/oADz7Z7Z61wSqNq+r6Jt3ei10/ru2tFL0IUlfRr8PPezfbokl5pHoth4Za2jzOAYYlzz99iO3bgE4PXPHTBrmnUbuk9+r1+74dO2vXS28uj2cVF7aK60/LV9b27arW95df4Z0vbLM2NyPmSJhwsY4XHY5wAQMZHbOc1x1bpPXZX7eb6aa31s9O46M1F7O9722Wmutm1q99baddYy948H+G57hY5ba3aJPmE80ibEb02scgnr1PHTmvPm3q7p72s9NP/AAK2+3lpdJo9WDTi11a0e/vbpdOu+3RaXPefDaxRQxafqREkVnuLFPlOXzgSHjKDIxz09ARWKje8nfsl1bWu/Xtqn121UuKpTqJtJu7fz320fpdXutVr9r1rTWt9iPaJErxgjiRfLlj7FlBPPfq2OSFPO3VUr76Lv+Wl99fwu1rYmlTqTuubXpfRXfZ6/ho9tLpmtbtqarNPDLbSWx/1kUUavLGQTnH91gORx2wCxJ270qClr0S+TS9Xf06P+6klJyr8rcW9VfrrfZdXo2ttN/Owl7Daxm1vZY7qVzLGHXbtmAZcKQmWygY5K44HY4wrqUVT2338ntrdvqn/AHtt+surD1VJtSenR737K/dWstbX10SNN7izhSNri4AMn+pjkJjcLzxtxgkDGeffHGaxpw11VmtVpp8n027etkb2TlzX0T/H716J8rv3urmCz3rrPulUW0rsYlUZllUj5VU8EAMOuf8A2bbpVVuz1366dLavrrrv3ujqo0bvdarVaLbVdd1fV8rTtsrXleswAkK3AKxbhu8xN249MdD06ZIHTvnbURimlr0XSy8/S1+7vt35e2MbS5baLR9d91a/fVLm/wDArvlq6nIrXHk2u425J2sBg/J82Tkj5d2VwWPfJwcU5R5Nd7advndOXRJq0d9Fa5tBWf4bWvZPXsrWtpftpb3uK1l7Q5jAfzWjyXfncy9I1zjBB9Sc4AxXNUcm22rfK6fbom1bbTzVrtnZTbXe239Pdu11bSy1urJnFXUDKFKfOzLu3jgxLjG088HoP4vrzSpxcknyta9m7/1pfpqtVZKWkpqy1Svdu9l21fb8unQj8M+Cr3xb4g0bw/DG00+v6va2EcUa5ZbaWVDc3Bxt4hj+92P94bju++4Oy9YnH0+aOnNFfDe/vNbc70t2s3t5n5/xlmEcLl+Mk5qLjR5o3nr0ej0eyfft/eP6Pfhh4NtPBnhHRtFgRETTrC3tsRqEVjHHhmwOMkj5s45Y+uW/pehhI4XD00rJ2S7dr7bdOrdtFa75v4lzrMJY54ipfmkqk0tW2/e9NLtdn8NtUiXxPd5ZYlP3eXGcDBPAOQe39DzwtexhV7j3+JpXW/RW7/jv8o+PjLR5Ip70o6dbqLv6Xb6t6aa3vHl9MtxLOQBkEsRzx16jr3OeR9M13S0i23vZdv8Ahur/AA7Hn/18u+6/X0N+6s1uIHtJFLRyLt3YGY3B4OeGB7Zx74GM1z+15W13eltfy+/fytG0ubo9leLkna22u6s33WnpvforyOWCXFsWhnj3LGHXLDI2Jnlhg5JUKNuOehznNa05Xe9/0u/Vdeut9kjC7g92t7tX6f8AgVu6bf8A4Ff3f5T/APgvN+wXpuk2iftq/BnR1tNe0uSOH4kaLptqI4dQtZJdg1YwQgL5h8394cZ3Lksc5r0cJWdLmsvievZdL7xs097u/TT7XSoOtTbe8VotLPbur62v8raXUpfzpeGrm78T6BZv4efZcazame5xJ9mQkLumtrtmwgEZz1PykYwM7l9yFRVIO9r+uvmurVvV7621Z49Wbp1bNWu7K+i39Ho7PZ76aPUyPEnh3wlp8AmuvEvm3EM0ZWbT7SV4hKY900ck52+Y8MxMRKghsbhwcV5eJop9d9NrWvvbe17LreN9W3bm9ij+9ppvRq70u7276Re2u+uj0sfvZ/wQ5/4KHv8AAv4hx/Bn4g+K1vfhd45urez0m+vbhzB4f1pneO3QrKx+zQ3PmAcEASLz0r5vG0J3b9m32aWqXprZK9+n4JDpycHu021rtZPq79bN/wAvfS9o/wBw+n3tpqFtBfWU8Vza3cMc8M0Th4pIpEDxyI4wGDhgRtz74ya8mz2s010tqv8Ah9+uj9VH04VeaKi3drVK+3R+v9WvtHQyOvb6/wBaLPs/u/r+vQr+v6/r8gpAFABQAUAdRon/AB6yf9fD/wDouKuWv8a/wr82aw2+Z//S/uIr0DzwoAKAFChurbce+M/hn/D6nPygDkGSc4IH+f6GgLX/AKa/L+vvYqjDEfX+Ypvp5r+u3VP/AIN7gvx/r0/L7iSkAUAFABQH9f1/X5sKACgAoAKACgmfwv5fmFBiIeh+hprdeqGt16oXp+H+fb+f5U5xf2evZbbX7+fT7/tbnMeLPF/h3wTomoeI/FWsafoOhaZbvdXmo6jdRWlvFGilmDTSsq7sKcKBnjoM1tSp3teN1rdtdb6W0T6WWnXW4Pb9O/p39L/efzU/tff8FY7n436142+EP7Pcstn8OPD9tf6d4w8cCRg3iCVlaD7BpBXYDbk/6ycM2/tgcVNen7ON7uLtd6W3t5vS9vsq3fRMujTnKVum9tLXfq1sul7NPW5/Lj8dNRmGo6jO8j/vZXLO8mWOS3zZxzjOc9TnPGN1fn+aVG5yXM7p3800uui37LZPppE/Scgo+zjFpcra3SVt/uvy3/m9NLS+d/hN4jjk8Qa1okjr/pcbTR/MMloyrcc4wMEcgcc7QTXme9ZdNL7/AIdNr+rfeyZ9ZRnFScb6tvRde7fr5O3vX1PSdatyXZlKr5h24Hr64yM9MYAOQe2K5pXurvfVWvZfmuuln633OuS0926lo/Javrtbs76pdDjbiNkO75V2nDKDjdnkN6nPrhvfrSu31/r9d/6saJLlSaSbWtknqr3ej0v0+G2n8zZntaFJC5YMLj7oc5VCOcAEgZ564P6Cjmf8zf8A5L87a9/+G2MLJvVa2ta29/P0t0+64y7RIZHkWNjKiphgOCMgcdO3HQA4zg/wbxbaWrXz/rve7tp90uaWlR6u3az7dFbpbyv0b1Ecwzp5ko2COPMsfQNj+ef/AK/rW8Wmr/f1d+2y/JfOy5ueukl7qV9trfNb+u1tHu3YxbuRINPuXRAyj5oFXqBng9eg9fTucAtXV9E/R227K/8A6V5bNGMZJRta/m+t38r630fltpOPOQwRyRr5jf607j0+TOMZB79hn0wORWUnZ2187P52T0va/bbV7pR05VNLl0tutm1beyV97bctr+ViWGMxzNCMFcDaVchgCcZGNwx3PA9DnPyzd9Xp2bvtt+P9aGfspR6N+dnr5t9PnsvlKVm6immlVShZFTgsCVbP94DJBBxyeeM8ZxRzN9Xppa//AAy1vf8Az3Eoyts/u9e1lr+Hna4scDRQyMU3FBnaueQD05GensenPoqc0t5Wfrq9e3W3qtdNNXK4Rk5W1XXZ626fOxWFwZhwhGPlZE+8P95eSQCOueOSAcMrLnX83nv5b363T+XzOiUPddna3pdeV77/AJ9ndctgWLyAMFywG4ZXt254wQfUHHr1pOpZrVt3ta/3rr22Wr8vs8jT5vik9fl6ff8A1qay6JcT26XEbRuc/Nsxkj+4AOTx1BwAfqA0ura+7T0evlr08rbO97Lb3rjHXVPRrT8fltp9/aMrEmhOsLyqojUJuMWMl2GPvqMcDj+E9eOpNY1ZOUlZyVk929f8ra7q3robKlzpNRenRppPW6f2t+1tPJv3WWV6bWMb40dVO3av3j2AI+p9cY9MGq9nLlXvS37NNb7+/a3VX89ehahyr3kn1typNXfTqtPvte8bXltSXFtIYnMMkZbaCEG1cnpkjJ/DLY/Oue0uZ2lK+7u3v2enS+3Tq9LkupdJKKWl72jfs1svnpbz091LpBDHtijCGQ43khmye33Rw3uFxwcsCafM4Xu2r+d79PLW11p667C5XPulquvyX2rf5K2rlcqvo919k86aCSXBBVSVDKCOXGM5wCWH5Y7tp7eM+112vprs76dLPVfFfT7MTw0mr+80+rb181uv6tpe5nwaFJcTLJHG5Vf4ZWHlyJ1JPAxg9Mf98gkFRyW11d/PfrfTbX16J6oSpuOr/L7+vZ/fpbqdtommQXEotUtMCMEFI18tNwxkLnk8jgrn07YXOdRJbx/9KulsvW/r5b3jcfela2q28/uV72vvv0dnY9Ks/C1wbZmijhiKR5w7YdgOgJ9T6ck9upK8zqp3asrvp8vJPT1fZnTChJ+nXp8762ett/J30Nmy8MBoUnKHceC8W8qj/wB0g7iDxkY54yM4BrF1Yu93p2vdei07NvrronfWO8IODv8ALXftde9r23669JHaN4buI7K3luCGXIETHJc56Drk5Bzz+ZOC3PUrRV9F+V15aJ7JrRLvq373oUFr6vdX9O1++luu2yPSvDHhi78j7TN5jw7VECsPLAye+fm4OP4enY5G3zq+ISi3bRa/ytar17XunJX00+z6lCi3JafC19m9+nbTfbTbdnvnhPwZqbus0tj5MZQEOY929SOCz46nqDg4Gfovj1cXGe3rv+Vr/wDpP/gV7n0mFo8tm46abJeuu702+W72l7t4R8Hxxm5kJRHHP7yMKzfiwyV4zwD684FedVk2pO/TTV6ddNV5ry9XePoqL0VrdtP+Cvz89T0SygkUrZQQqJWBxOsWIo+uNz4IyeO+M+ow1cKnPe99fx7dd/VdkjVU53u2/uav2V+bz3a0WmuvNuRWcl2os7rbA4JV3OCZQvVo069s88flRzyWt7W1/wCHat0fbXsr3Now03d3+F+lr6+nu/jc9K8LaPpsUNnbTWF3ewLPs89UMbXErFdsZJAGxeMnoBycZwudSSxd1DS2llpo901pq7/g9XdM0pUvZ3bt+L897We38q7Wd2z6Y0/TLbTreKRbeKSGNUCWYnjTyWdQfnA3bypznv6qSPl4p0/Ytrvu1qrf+S/l1vZfaKlRpuy8tG+j0/ytdtdW1csbY7y4jmkkhS1kysrQ2zTiULw0OYsjzF79dvbIFX7GW9/P+lfz01d+vRxhVra6+et9fuWt3dbX6LVuXd6P4ZsLxYb7TpJ7dLbP7mb/AEZpF6nbAxywOCc7Rx2IJKt0Z6a/j92mt3/2981dxNliEtt2rfd2/L/gmoumixuVube9u7aOclJbS3RJY5pv4TIp+ZMHnntxkEYbpirRSb19P+H/AD+8wdLmk5dZersm7a7rdv11eivy9Bp1v4hb5by1triONji4d4lcRZOMpjkqO49hnBzQ/wDhv+Bturvb7Wy15d4p6We3na+t9fv1t+vNJ2vfZrmz8mKGJJ4sf6VIIxsbnOxtnTIH97HOT0qm7xt9zvsvXW9/n0s46o66VO+tuz3d/mrt3d+r1200OZVJI44VuSJJQAI5EG7jkAqAGzgHIyR6dt1cVRNtNfglu91102X5Wvc9OlBr/gp6rTTd9dbr8bXk/UDJHHGjFyVw7kYDuW6IAMkgnHXp7dKcdIq2v/D+dldfj3aVz0qcLpStbTXS+n/A217Xu72jXEgk2mVDFhMomNu3OT8zd93GRwfXg4av6/4N9PP/ACdrG0oXV92nvbVdXro/lZ90zkb+L7Rf/MsQ8o55wVb0UHnkjJ5B554waicnUapq91p2u/V/5/fc3StQivJ3svx38/V+VuU5qUtPNc2axTQncAJcZQpk5UYBzkgDG734ztruw9KUElbXbpe+uujWi+Lb0auzlrUVGm60pWS+dn538+1720snJR+0P2MvhtL4i8bnxPLF/ovhxTbWsrR/I1zMcO4yMbkC4JBJHQ8D5f2Pw+yypyxxrTSVWybt0bdl5JX6a3TV2z+cfFPO6MpzwSs37LTW6u0k7pR01tu9WtbX939lSBbWqr/cTBxwMeo6ZB/4D746N+w1JutKEUr7Jy66aJtWX4emmij/ADfSp+ylUntdtrv/ADemy6X/AAtHyvVphd3jFVwM7DznoT34zyMHr36YFe5SgqUIR7Jy83p89076L5Oz5vLxMva1W2u97N9Omtno5cu6ta+pqaPa7ADjnk4x6+nHYepH0GflyqzTtf727bdbJK19e/z3iqcXLTrpr27u2l77ffe+x0QtgZCEHLkHIH5nvjj8c+nWudVFd30Witv69I7b2126bnYlpZvuv6/4d+T/AJcrUdJZGaQAPkk844ABzjlvXkduTzyF2hK2nR9f6+Wuj9V8OE4tXvqnpdLbTTrL5Lv0Z8z/ALRXwn0/4pfCrxr4L1PT4NR07X9EvLSazuYw8UjGJmUlcg5DYbt8wyM5JTvw7tGabWutvlbytra1ua/W1kyIS9jJJN++9ktP10Vu6S6I/wA3/wAU+GNZ+Dn7R/xY+AF1EUso9e1SLQLO6UwxW0DXs7rFFNI37iLaygs3yheSuMV6mXtve9m/J/he17b/ABXejfvXlnj8PzQVR2b3aXTa9ldaaN6b66qxr+JdA8BaXp/2HWrnV9R1OMbbzT9EEBgs5y+CkVzny7rMP/LWIAiT5fdurEw1Xa7dt/lfpfTW69HY5sJWabpt/D6/ha1rrbRbrfU8ftLvwxo3iBLnwjruueH7qKaKWC31dFgCSwtugKzxFQJY2GRIOjYPGMNy1It07Wukuva/ytbdK2q00Vju5+fS7dm2m+/3v0s7vZrls2f2u/8ABFr/AIKdw/FXw5o/7Ovxl16I+MNDsxa+FvEGq3qBtat4OIrTznZRLPHHwmX3EDHJFfKYvDypuU0rXey1te772Wrs21sr9Xy70ZJScrqzWivv3Tdla1r6Jro7a8v9KKMCu4YYNjB4CleoKgcEf7QwDjI64bzpSa3e+/k3pb/gaeezcu6E76Xun5/n/wAF6eZKoxyepzxjH9T/ACH41Nnv0/r+v+HNvO1l/Xe/rv8AePoEFABQB1Gif8esn/Xw/wD6Lirlr/Gv8K/NmsNvmf/T/uIr0DzwoAKADGf8kfy/z+Zo/r+rgKCR0/ln/P8An0oAehyxPt/hR+n9f1/wAJKACgAoAKACgAoAKACgAoJn8L+X5hQYkTsQSAcenHTintb0v+P9f0x7W9L/AI/gfOX7SH7U/wAIP2WvA2peOvit4ps9Js7K2kktNNSaE6lqdyiZS2tbZnVmklbCjtz1XHzdNGPPyrrtt2XXp+P3Xco0nLv5932/S+nNttrc/ho/4KOf8FhfjF+19rOs+CvCl1d+C/hDBfTJpeh2T/Z77U4I98cNzqlxH5bSGdcyeR5hjG/BBwTXpQoqEV16t2vfp3TtF26ttaKKug5tVd+WnVb20S0T3113V7nPfAbwtceEP2f7LUbtXk1fxhJPql1JJnzFhOViHzZ68kc89cn+LycxrJwafRWd+ttu97WXTW9/d15fYwdpSg7J3av6X1e60Vr9nbdXZ8O/tGK6W15IG2upY7hxnrzjGAD+P0GPm+BxlP2lSW3R/PZWd9duq20105fv8uqckVba/TV/D8rWttfyVrXPzx+Hfjd9K+K2jQSyErfXT2LnPIEoOD7EnH1JIAGCW5HT5Iu+tlp20bXddOr20u0menQrOVS9rNy838u+3RPbl3tE+/dSiyzgKWIOQT2zjLL97kjnr19cnb51Wyk0ltf7k9FfT/0n7tj6ClZxTfW97r7tunX5+pwd9GTLtJxJ1Bz8pXjH8tvIJz6/w5mj0v5avrb9evfy0IPKMqDPzjOQQcFHHUg47/QemOfmNPu/r+v+AYO+nTprp1erVmt9/wAmEh8ogPmQBcMc849jxjHf0/2ujbx+Ff1/XT8u5zVVa8tO97Lp3/S/6IpXIMqqYvLaMnDj+IKegJzz6D1/2ejbw+Ffj95w8zlLVJ6/LfW1l2+/rb4jnb2zk8wxW8hwFyU/gIbt6cHIxtwOvHVb9PW29revRrXd+d7Jmk6a9nz2S6dr9Vaze+9/T3Xa0suCFoG2FAxZtzMcFAeOpOeR04AGMY6/JjP4ut7Jf8C33+d3Z7GFColJq6STtvrbe19dOn52tce4e4lCwDywPvuq4OAOeQv8yAPcnNYzk4ysrPvr93SWn5+e8e+XLJXi9/w66ary63ej02LNlPNHM8G1niR8F2Gdx/2S3Pbnk89ucrCqy7LXv0011962+mmu/VqK5I7/AH9Pn/SW3S9jpJLfcgnVTiQbQo+YgAdCdq8n9eTuHSsp1HdOyWnXz6baW3666X6xcKV5K2977flZpb/3fkveY+HR4EQzLEFeQ4fj5z3GSCD0Ofy4XnbHtH8l1vt30s+veXnrZc3TKmnDZO1raW9Fd+a+7te8tIaLcCMvHH5i7eUQDJB5ySP4gMdQRj0ODUSnZ632vp5bbv1+0tV1vc5JUlzP1X4bNffe2j6XV2xdOV41ECIYxvKkEco3PJOM8555/DgGo9qtb3tpf3tL6f3bdbX92/Xf3dIU1pppfe2/p+F93re7bubVxZXMSiOfDI4wzIcFuf7y4PfOec9/WhVrSXlpq772Wm17X8umyZt7sO68nZ6/lr3tHppqjAuNBMTGWGDcjHLAkuxY9wMHv649e5NdMq9420tZa9b+b679UnddfdUZlDn1Wl1ezvt9/by876pGxY6FdTRoLhGjiJypZOcA/mMDHdfTtuXl9v7zae7v/wABXut0931trclYXTV21vo++99Ndba+7vbrY3ofD8BkDSI7RIw/eEhgTnHTnpgnBIx09NidRzskrOWuut77dur1t2td3TNlSjT1W3Tr8/spvXV215bPlu+a/J4dE8siW96Nr9YpBt2E/wAOcHA7DGMdQvJFT71NXuldNLy8tHK6s+y26X91TnFWT0V+6ej/ABfXRX8+ijesfBV3bt5k2HQg7Y41ypPUEEKDyOuPyOc0/a+a+a3/AC6ro766NW92HBVEuVPz0066/j1XTrY7bS/DdxEElksVD5AiK8Mf4VLDAPucH65zXNiarVN2aWt3Z699tN0tL3790XSoJTV9El1Wm2/dvbdrl76Pm9AtPBuoXgj2o05EiyFYiYwvcJ0AkwOoIwffFec8TK17tdFe1vv36X267L7PtUMKnBSstvT/ANtl16eWvaPpEHgm8uIIFvITa4KjZEoUS8/xbFGGx1PHJz82cVz+2bvq/wCte7er13t6GU6C50ktF/w73S6PTS/e56NpHgiGOO3aUuoDbUikVJEQj1LqTzkcjnnthq56ldu/6dv1te1mrLzselhcLql3+evrbRt36NLrex6j4Z+HZm1BbmVC0UTBkQEGNiMclchVH/Afrgn5eCpVdRuN/K736/PyWnpayPoMNg0nFu119z19ItbW02s9ndy9/sNLijXZG0SeVjegw4THZTt64BzkL24Gfl4akHFdb+j1t2fn6ryv9n2qFCyTtbey6W79fT06rVm1ZeHp7zUVYq75VfKjQlIiD1L4YAnPXIPPUcVxVKjSeu+uu3pbzf8AWiOh0rzj0u1bTt397p6bbKOvN6XpehHzTb3EccCoRx1XJ7NyMj6g+oxk1y+0l5d/P5e7d28requkbuly63u10XXvf8r313stUdcvhSW7uYRbLaxhRma5liGRFz/qPvbmYe/oOcEqnOTTV99Nenp7vTptfyTMXFxd7aXXX/g7+jXdWPTdI0K3tLWFFuHkdHYxybdsKucAgLjhmH3vvEZ5yBlsKdR4e923rqnre+y0emr/AL2q+HoaTlfZfZSv5fh18npty3fL6DpPhXzmS6nksriYlAYI5iiRdlLDI+fHJ/HtyvYo/W1zu11qtPw+a6d9h06PPF72tbvdddLq/wA03s9Lo6iLT10jEaBIdPVy00EESyuJXyTIhOMNnkk7c9cDGWj2lul1tvfyv8Pz3duztymUqHLduLfa2ievlr08rarW75b8P2C/1WM2l1ef2naw4hjaHy42R8DLMpKZUY5ZeDng5Jo9potPx23v9l9bff1s3LF09ddGtt/xelrvol/4FZc2/ZaFpuny3N1cX7x6rebjOkrSSRMxHVNx2REAj5lI9Dir0aTfXv0v221XR2vd6W0Nac27q2vS2vy2j2b/AM9EZxvFtbp7SN72ePaGNwkuYmXj5Ad+CTyBz16Zp6b6f1r/AJ63e++r5fUpYZTSbVm/zfnu9u6v0vvG3PMlyu2aQW1kDuSOU7pJPfk9c56nI5wTmsJSeq/D0v8Af8ra28lLtjRjG1nt02X4euyttd3tYqrvcNJaoyKqbTcSjaFXoBEDna5HGRk8jqAKVurVrL+tV238+qd7x6owSS1unstv1avvtbv1aICkiS73kSRiu9pG5RVxwOc/MR6j2AJPzF+1k/N2Wr3fzXl+bl0QnZ27Wt5W26X8t/Tb3ctoOPtMxfZ8yiPpnJOHXsBnkAgYGOgNL9f6Svfz0tdeav72s56fi1fe1v7q29H000OduRKZWztSLd+7f+Lk49sYB9/YDANTTp/vZVHoktLtpbX1fV306+SdmjSq7YWnPZta67Lftvp/dW/kinYaJf6pe2elaXFJc6lqV4sNmi5O8yMAWIHPyZ55IxwcZBb3MjhLHZjTo8jacorRXT6XbUYpXs+3a9lePzXE2ZywWT1ayaVoO112Se70duyV352P3X/Z4+Fdt8M/A+l6Z5Q+3NBHc6jcH/WS3c6h5c8ZJBzjJ42gYyM1/TmVZfDK8DToQ+2lUt/iX63S6W1WzvL+Jc/zernGY1sRN35ZTh00jGVnb3I3/HpZvXl9d8Q3fkoViJyV2nJ7njP3uR1PIHIxzjFfR4ShzpVL2knpp0/LV27bLVaqXyleteXs1s9L62dtLP5LpfTXraPnEVu7yjce/p69c5HPODyB3HFeg6l7t7rTffe1vVabP52ucNWnyNLq9dNdXt+fl+su2sbfy0VwcHGAf8jt9F9ef4eSo79NXqtdvw+7btZ293alF26+rT29Lbdb22srJmqilAHUfIT1Hrx6jrnB68/j8uEXfda7K+nZvTo/K8tDr5FbfXvbvo7Ln100/wDkd5R3KLKg/iLA7vbOewz6/wBcDpW0JWai2vLbz+dn5fozGUemuj0+XX9ba27vc5vVNNEkMisoKbWDgLnIII57gYOOgzznGDt7aEo2mrpXtppe/dO8uvk9ra8y5clRvJPs9Hot9la8m+t9bPbXXl/gO/4LGfBM+D/+Cgej+JNEthZnxPPMZGI8tLiWRIyA7cKAzMcsSdp+h3+7lbTlbre3lr5+m2+tn1tHjzCtKMFBLy02d+r3V720S1/u68vwrqXhrwF4fN4njXV9WvNeVZy2jaJFHt027E6mJnv3mjS4gmt3JdlAKt8vy4+b1MRB31jeLulrfu726W0667pRb97hScYqcdXJ2aSXNZ73SjdLz2b0115vCvEGn/CHXJ3/ALM1fxJoepo8+19Ws7eaxJQqI182Gdy2cZkdkIHUEnLVz8l0tHbyTfzS37vZLZaRty7U6jul1bWj/PTfbXa72atc1fh/4v8AHHwg8Q6V4o8K61LJHp13DdWeq6NO6XFrNG2YpY2U+ZGpwPMjxtIYqcgjby4jBwqU+V2T1e60tvpok7af5297rUmrbX0s97Lfpvbyenna0v7r/wDgkt/wVU8PftUeFtK+E/xQ1W0sPi1otjHBbXc8sUMfiK3t41RHX5g5vQiEyIRkk5GCcr8jjcI6MvdjdX2W3rp6L7Wr6q3vd1GXNbW2uq6Ppvq+3bTVp2TP3bDYOcjcTyA24FexDFcjI7Yb68CuBW5X37bden66/ddHpXTi9drdf0stNd7u/loO3+36/wD2H+H6ZaP6/r+vyJs1v/l/X9dxN5yPT/PfaP5fiP4Qelnp8+39en3ktAjp9EI+yycj/j4fv/0zirmrJuSsn8K6X6v+v+GNYbfM/9T+4ivQPPCgAoAKACgBQcc0fr/X9f8ABAerEkDP6VSWkn2sBJUgFABQAUAFABUybUW1utv61/L7wulq9v67J/l9w35ucEe3sPy6/wDfX9Kqnsufe2vk/l/wfzcZc4/8Bf5uP6L/AOSU57Y/H8Pr2/8ArY60nJJ27/l93lr3/u2vLJybsm9L66W08t19/wCGjCQFRlTxgku2ABt68ZHHuenXuSukIqTs/wBf0tt6/m3HTkV9tF573876bPp91rn5cft6f8FOvgt+xz4T1W2j13SfFfxRNtImleFLO7SZ7a5f5UfUhE/7tYgGLLvBOApAJrvp0E1fkv10W676TdulntZ303K5V/hu9fKz6LX16b+Vz+D/APbK/bv+Kv7Uvj3V/FfjfW5vKubmZ9O0eGeY6fp9uWcxwwwPIYxsQ43nIz0yN1dNONOGsY2a66rbpvJ6P3dOZ33tZKU1IpPRafO19Nd1bZ9He/TQ+Ofh9Yav498d+HdBSaSUavq1pajYN77TMA/HzfKAWx8rc856bunmi438tdfR36Xdmt9knotYjpRTlrqrvfp2e6d9/usmj+hrxD4cXRvC+ieH4IwINF0e0sUUDCloIQJCR0yWGSD64JbGa+dxMIz5+Zc2srf1eK35rbJ226nq4dJSjyq227v0s+mtt7We1tT8lf2nP9HW8glj2by2MjknaeRzj16gdsZxXymPUIPRW0SsrdLbfC9/KNnpd/Z+ywM5csU5avWy0s9E7/3teq01te7PxO1XxR/YfxT0WWE4NrrFuWJOOspB6YHQnv1GOMGuGnSlOE5NXtG6fn8ursjepiXCtFQlZOSvZ/hunrb563te8f2OgmGoadYX+7JvLK2lO3oTJGrH0weffnnnkL8/XUvauLVlfbey38ttNn5aaH3eCfNhIz05rXvu/XW3Rdm3e19DnNQtgHdSTyQo9j1x35x7sOeegpWtp20HdtJvdq/6fp289bmOwaKNwqhvLOBx1HPJ+YdwOwzk4z/EDaWje6XTzjp01b6/+26OU77DAssnAYbSOMq57E44H5+5BxWsHo12f5/8N3+45qyS5ktvPs+23e+3lpcx7qE2qo6vtUMHdcZ3DPQdO3Jxxg5x1K9FPr5a/wDD63/LfRv7PnNbWS3tslpvf+n9yK90+dtykWXlwiqOQY+mTjvxnAPPfGBWnp06+dvwV1a9lur3ekSrzbJt2SXL321Wrt1e/rYjTS8Qv1+clu3U+o/EevrxkmsG7vrbda3smvlfTpb7rkUopy1j1e9nfr8r6brpbSyM0pLbkkx7YVIBYjJPqCB29Pk4A6thq53LV6atvfdW2ts/venZ6nfGKcNLK17aJL9Hbfbm2to2mWzZG42FsiPIJZPlwpI5OB1Ht19FrKT7Pf5WWuu2nlr56pWMFCTlv6denm9dX+eqvePVW9hNDbKkT5QDKggEkdc888e4565UE7sXO29ns9b6+d+WV15X27v4e6nTsldvmvZ2W/R7Nb69HvZW1NG1jlRolb5kJy7bSSpI9AOnA6jvxgn5c5TtZdbbJ7eWl3o9NHFN3vZGnKrWu/6uvRXT6c3rd8x1trbKobG9kdckoDzwOMYGOvOeh7nq3PKV+r12Te+rba18tFdb3VmPkS3ipWfVLT5/Lz8raKM1polq5knKurAnCshwxPORxzz9PfGM0r+euny+56Pq3a78nfmpQ6JL8rXv+eu669LnYadottceWCshf5eHC4BHGTkZGTz09M5BCrE5JRet9W77NX379u3o0CpOo9tVpr579H2t5XtZto7y08JWckQBijkkIbaMIMdenHGB/vevcCvOdSfP/Ela663V/TmS+71u7JHXCioQvyq6t2XntbV7X6tq19bnA6x4b1H+0zawwTJEerRg4XnrksAe3GfwBPy+jCpHku2ndeV721e1ktNuv921zCVlpbXql27Ltrv3V/I7XQPAb+RsnO4EFg8gTcDkDGQMk4z2HPIBI21jVxKXw3u1rqtLaX3W71/yVnGX71koq/l6fLq33/HlGal4SstPmjljkedUciaMJyGzgtuA6AcDg8cjODWCxMp6Xe109dtd3zSt229b2XK40dXzK/qvPpqtrba6aLex2thoVxDFGYVLWsiKYyFy6ZA4O4cDjjkYwACOTUTqvu2+13p32bu/kttbtlOjZaJLTotHZP59LdF96cvVPD3hS2mhiubyEyFT94gKFP8Aurkdh/8AWxiuec295X9Xe17bJ3Wz+fS17jhSfOr3tre8d/lvpdrd6aq9meoafoNmrRrawkGMq2/aACTnIG7HPPQdOgzkGuSpPRapX08uyXXTvr63u2ezQi0lvZq1k9Nread9raeTdmjvrXw/Zvts1ilimuFDCd03LG45GOPy6/UYNccqrW8nbfR7LV3W9/RW73exvChzzTWvqtX+Er7f8D+XcfwtIjRoUeRCEUBEChmGAZB7nqAR6/exUe1W2t93dva3p5W176vod1Oi4ST1tfXr+Pu+eq22s7pnoWkeEpktSnmXEUciFCeFZyy8hSOmOnHfk1DqQtdaPvp37et9vXXRR9qnFzhZb/O6+XvXa09E93ZOPc+HPC32KMwzW8kNqFZo5n3PJJIejOfmx6gEsOuAP4uOdeLv/n23XTV3Wjd3bpY76GGqaNylbpq/wd/K97dLa3XL3/h/RY7eezSOTzVlkczTNnegLdMc4Hfp7kHJ3cFSsuys36a+vvb27abJu/u9botNJXfm+lunR2v2u+iS3PS57CyiZI3QPAxDyND/AKxmHAAOCR/kkD7tcVSXvXbs/LW3Xtr2duW17dLGsabW9/V319b73/F/I1dG09p7kxPbT29rJ8sEwYsSf4AOCFOAOo6dMcUU5fF5a73Xnb/OzatpbaQ6ihpZdOi7+qs/z30s5HquleH9QsoEQxRMiymVGuACFBH+sbtx1xjB2gcVktXd3s7b6t/J6a66J33d43RnVlfVJW/4O3S7X9X3N+dLFIZcW07TlQ8/kEKsrKfl8kjdtyB7/hyG7ITUb+mnRWt+Wva+9r2ClX5E72s2vN3aVl029F5c2xbtlg8qK5eK4Ee0HyTlpVJ4w5xhsdfQf7WQa5YptvV67Jr7tN+/2o3Wu75TrjJS/wCDZ+q2Xn1fnax0NvZabqKwqtwbGWYjyrg/u3LLg7d2PXsAAOvGDXbTenLazX9fL/hk+V6S48RT9E7Wsuq++7XTbTbW/u99D4Ys5bNIhIZpiCHZn3SMqcZZgcrk9gRnOOMitHT0TS6J37d9Gui0+10ezSDC6yS7dbfpZ2aSte8r7qzZwF7bxx3hVjEEtmMSRIRgFeNx75wo+vbqKwlS17+Wz809ZLV9bL5a8vvUqKlHd3S7Ndrr4n5q2mnV3TJo9Ntd/nzo0hdG2kn5FJ6KASeBk/TGORy1wi4vVW09N9fO/rf1vczjHlk4326+ei7u19r31v0Mm5xAVwTJEHJaAHKkeowPQY59c/LgFs6zvG0Vfonpv5Xa28r37HdS0+6+nRPvq73+W3m0MlKXMGDi2i3eYxLYJ25OOARyMj7oz3HOazhGPKla/wCvonfa+9/L7N5bKmnLm/rX7r6vsu7k7vmzm2xo5YbjJhYc5IHHUdcA4PfHft81OC9W/wCu/X0Vuz+GPXKNlrrd+mjel3rrf/DfpfVmXNYxxLLPPKfLiUM5f/VjIy3XPOcd+/f5a6IU3ilDCxjqn6vV9LNvr38rSabOKdT2l6NRpUYJub9NdtHvppb0adj7f/Y1+Bd3q2tn4oeILfZpyRtF4es5F77sG8O5eVcAbcE+nGQa/b+BcheGhTqzhJOyeq+dnsvXT1sfy/4oceSrY2pwzh2pYWD95xfRqz+z5W3Vut7Jn6tHbaQBQABjAGM4wPX5QSPp+eBu/WUtEl0fptpr+VtLfK0vwycOSMob3k3vv6vTpbS/3WZ53q7me6I/h56Dv/316Y/i4zx1xXfRtaPT5/8AA+V7K/kePXV5PXZ/KyW61W+/W1/h6jLG0LMjMDgHAHoBxngH3J479qdZ+8u1r+b+V32XRfOyFSgra6/K2vztfbblW/zl10UI8oArgDkfT6fTr1/DpWK8/wCn8+l/wOqK97ukuutvy6379/MfCQj+W/zRE89sHscc55wfp6dKzn0/q1/u3s+/otGbK61Xp/X3iXdicGSM5By3UDjr149u2fc8VmVvraz27ry0d91dbuzWtrmPcSEQNG3DFeeMnHftjpz9ehxkVvh1ea66pW23/wA/J6eV0cWKTlKFt+3nfd/PT4r23toz+P8A/wCC6/hOz134p+BbvTIo38QwXcggVSqTTMI49qB2PBI4ByuPf7q/aZbTfKtN7a22XTtfz11tdW1MMc7UrW2tfy07a9r9LtbbyP5+9a8J6Xb2bTeKtdNpfu7M9par9ourdllKTQXPDByFyw5II/OvVrp+zSS6pPy03v8A0n13R4eGlyzk9EmuVa7WtdJ+e+ivfvc8W1/wj8PdQEw07xbc2N1Gz/ZpNQtPKjnG7GwBUGM+/AzjIOduKdk9uba//DfPW8fJm053lftf52fya6vvppfTm85XSvFvhTUDdaZcnU7CMA/aNP3XMMkZGcSQ8HrwcpwGxzhTXNWad9++3d+rT0t2u1dLU3jUckl5Xt2/DR/5XTVlze1fBj446/4F8e6N4x8LXsnhXxXod7FeW11bPJBBI8DBmWSJWBXzCGDj3xzzXlYqleDsr76Pp2trq/O8fTVuPbSna19Et7vpu9Fr6avzs7I/v7/4Jef8FMfCP7XXgPT/AAj40v8ATdC+LHh6ygtb61nuVj/4SFIwIo7uyWSQl5ZBtaRFLHP8J/h+UxOHlCpzWb6LfS61d7L79PmkmerSq3sk2r+f4X1v1XS3d3SP2EJ3En0A/I5wfx/H1HovJKUo2TSt69ettH27P5HSoxfV9ujvbts//SfnsN7j/P8A+rrTsnaSTv8Afe6+VrK+tvusuWuRLW70a3Vv/b32fp2dybevr+lMzs+6++J0ei/8e0v/AF8v/wCi4qynv8jSG3zP/9X+4ivQPPCgAoAKAFH+c0AOC89QfYUd/wAP69PX9YhIFA5x+tO+67gLSAKACgBhJBwG69gAcfifX/Paj+v60f6eof1/X/DfeKwcEKAc+4+8fTgHH4H67cCnb7+2/wA/uf4C7699dNtde23r6vcq3F7bWqtJc3drbRxjLvPcQwKnuzTMoAB7k49cdGdkmr7dfu7aPr/le1xSi5xcVu7fn5W/L5PY+fviB+1p+zn8LfMXxv8AGHwHossJ2y283iHTWmjOM4dI5yVYYPBX1GRg1TT2V7O/d2tr5/lrvrZAsNUjvdvz1W+6+HfpZ381b3vibxv/AMFrP+Cf/hC6n063+Llv4q1OFD/oXhuIX+XXrmVJBGqjqCWI456gVrDBzm00nrq7pt6dr6Kz6NxfTW947eyUU9rrrotPJvuuttOif2vxe/bn/wCDhyTXNH1TwH+zBo11pL3lvdW194x1ZkW4hgkTys6bFHI22YIzYYspBIOSVGzpp4WUbNxa1W63eq00T81p6p3aln3srLvpr+b17ab6bXP5XfiT8ZfEvj3W9S8TeJ72/wBc17V5ZbjUdS1O8mu7h3mdpHLGVmIUs5wgYKo4Gc5X0FZKy+XRbpJ7xslZdd3ra3vONrp9n37dVvt26vRW1Z4Xda+b6cI9pbMik7m3MGK9xna3Udh1xyx5NZSpy+b1279FrHXp8Pnpe0pqJOTd/XTfS19X0vv72/lc+1v2ANFtPFH7RHheFLRPJ0hJ9SKAGTY8WCjOfm+XccgkAH2yGWHdWumr33fotkrr01SslfSTiqTd9n9+6Xb8OvlaNve/ffxVoDXUFzK6MXfzCpCttGT0HUcjpgckjrXBVw7cZNNa7q19PwtZaPyXW7R10avvcr6Sstbpvy+FK7dtZfda0vxn/bZ8PSWllLfxqFFu7CTGOV2vlj3IGB6cAcn7y/K4/Cvm1vq/Pu9NIvXTv30dnzfX5fUajFr3nZXb3V7avbqkt3v/AHUj+bzx/qgk8cz3SHm1vFYMCMhkkBbpjnA6cZzyxyBWdOmvZON7K1rW6Lbq9H+HS+rlx18TfFcrv8ffzv5b2Wy1T6LQ/br4U6xF4m+GfhPVLZi5Oj26uSMEyQptIPXkbfQZ/HNfK4yChiH0fNr0679PL7Onlex+n5VU58DFa6Rje+3u+f66J2tZbGxrAe5hdrUEXQIOw8HKnDYHsAff6ZCrzS3et/08uv8AXbY7o6x9PhVu/Tzv27bdTGOEjiyQJZRgDuJBwyt1H3uRnk9MdC0g/LbXT08t1pbv+Fo1khZkaGYhssRtBztI5z1HT6D2I6VpT6/1/Wz6/ec9W6T7fdo9LPfzfr21ZBcArbuksbMVZYww5XYTjIyOSOPp0z0NdNPr+P8AXlrc8+W79f62t+WvW1yc2KpZJ5MgJjfG4j5kU4ON248dMnAPb2rR300t+t9U/LsleTe/cqSXLfrZevkrLy9Xpu7tkazGaOMxlARuRg3UMvVsZIIOQOcfkcVzu131169dv8Lv32/Uqmk2l3t23k77tbbPfrfX7N1tPSeENIil8fOQMr2+YDK+uP4ccgnJ+XlnK0nprd/drt7r6r/hju5Vy3e3bXVXv3Td3ZpNdlorQjFYWqtDNsUsC5jwMnlevp025yBzznGMVzSl82t1tbttq/k9O6v7rpxXNa2t+lldd+vS/WyvfU9B0TR1McXnSAswChG5K9PXGOSB93npxkCuSpOSem3/AAG9Hy7Jbefayid6opJN3Tatft0urO17fdv720evtvDDRu8jlFQjhtuQV9/ugHn6YHGCQrctSu11s192uu+z206/cwdGPRv5rz7rX/g+TZv22jDaQiwjC/I/GCw5G77uM+mOfbHzZOs5aPV39E32vrrb8+m4eyWmutt7fh8Suu17bdb3NOy06W5gIhhR5Fk2tIoDJkZBA4GAMDoe3frU+18lb1b/ACjbV7deml3yv2Xe6evTTZX05vnq7/d72jpeiam1zKs0BtogAwnKllOD83HYkHg5x6ZBFZVa3u9m+z77K9l9zSvffS0t6MEm+b8VZPXbTm6/d3TTR6rY6BItpHPHbyTKq/MRlGJB5YZ68+w69uAvOpX7/nfR7bW2v1v02bn3KkpR2Xb0Xm7/AKa736EGvmy0myjuL6PyDLwgYb3Jx3wASCPwG3PHIXWnUv7u+/ltpbbo/uTsua7ceSeC5pO1r67a/f7u9tlfXZ6pSLng63i12ydba3eOV32q7K4Uqejpu524x9PU5AWZppvzd1r3++/zcd9pWLhg+WVtF623XfprZ6N+Wp3dt4UtvtRhla1ZrTBu1aInzV7gE4DnP9DyRisINxlrs10vrvb0vftb0TNvYfNvt0t33WnTe3TmsmaGqeHygRNNkhhZseWj/Ih9EHTHsBn0PrTlNry02Tt8/tf1Zq90y1Qi/is/O2+mtttW7WWvyud14W8PXywxJfxeTL/CcHyGz0JzgEEEdvXOMCsHN2d/J6XffXRvX7mu2sjaGGu9knv933q9tNPwb930TTPDN3LdfZZ497REXCSW+BGV6lScYJ6DGfUdhu46s3ttfR669PJbvz+80VPll1skvLb5t/fr0V78x3tvZ31yQiWRUL8qM0WydmU7chcA7cZP8wARt4ZybVlp2V+1tNbP7182enh6MVaerW2nRaO97dtdnd730O3ttJiEMM9wtwzx4LxLgHd3UgbsDJ64GfQ5+XK80ur+T/X7tXpbS6Z2KEXKyjdaLXp0vfW69de1rWOz0VJLjc0sAiiUYiiZdxUDHO75cZ+909MY/iiV+WWrv2ba+f39rWtbdpS9jCYZXjK11fyf/D9Ho9flJS9E06zaOJH8qSa3kYK7Oo2ryBxnDBe4689QMg157benTt/Xr+nQ9pU0otpJpW238lpzLV3WiXV3W0e2i0O3hg8yGBFln2lShG5M8ghcE8g9c8+xqJR3erta3b08vN6/Lc5aj5ZLXqlr013636u1/wDt5aHUxeH7eyhVbkiaWSMScMDIC4ztC84I69PzINctR+a3v277/PppbbW/u1J3X+Wt/wArWWrdnutdE57WkJY2MObi7kcu22K1wN0RJ4YkkEAdABwc9QDTg9Omnb/JO99/n/Nqo8U46re3fvs/LXbb11d+bqV1+0lJ0tLO9nu4jGDKVb7O8cnQFx/dJyR83GOOzVZ6WTS9LLu+99rbK19HqzZUm1/wNG+ltWtPN99tTYQXaymztrWEiSLCzSI2RIcYCMQPlA7H0yMn5a0jPl3XNfT+tHdaparZdFc4q1Pks/5dt9dr387rztfzvGS6l1HSbeO4u7Z7nBEUgsUWRzkkbth6bQMNnvn1qlFLXW/9a9Pu5dt7NtHRh6vM0t3fTW1nbbu9dXbbXWV+WOrAltdwQS6m0qxkh7dUTypYiQCdwAU7scdc/Tad2myT7f169+mnndHZKEZ76/jp5a/j/wClbR7G1ntLeFY9Okn3Mv755dxKqcc55x7j368kN0OqnFR0Ssuqu3ZPR+7+O9tluGGw9p9dXq9LW7JWf3b211u1LjtRtbE33miWd1U+ZOyj/WPnO1euec9Ce5wvK1hOrZ6fd/SXyWvS71PoKceWKva/9a/k7XaW2tm5aD2U1xAs8rNa2rH9zvOJCnO0eXwTkAn8s56Vc9aal0dn59reutr6Wv5Jy4HpVnre8n0svzb0ton0fxOzUsWcwRrtSCV1J2mQDDHPBxycZ9sbe27k1zKTb2ur+Wv4JX69fwuddK99u/fbou/lqradLxIdQtYLuOG3jHlLtDy7sBm6HZncTu+g6YBU4xXTGmuVXb0tfTXttdfou3NozdVIptaK1lq0ru78m/K/z6WkSWUTRx4BBVBHHGTkptGM5Hryfu8jnkHFPkj2b2629e+9n102V9OYrV+Vbrtv00Wzur9dF1s72tPp/hL8Or34v+PLTwpbwzt4e06WK51+7jVvLKRuCtv5vK7nOQVB6DoF3V9twfkqxeLp1eVtOVru6Xr9pdNb6XfWyPy3j7jCOR5fiKUZJYivHlp/Cne1rbrXW2z7NRv7v7m+EfDlj4Y0Ww0fTreO3s9PtIreGJFACrEAATjjJxnPHXvnDf0fhcJTwWGpwgkrJJ+Xe97dvO+qeyZ/IWKxMcRWrYrEu+KrTlKLb6N6ct9bNbWXS7vcv6jPtAUcEZHB7+/Hrx0OPeumNNvW+j128vVapefm7XSOKpV549mlZ2tq1ra+u3o/NL7PHtbtLO7sOSDjt+mDn64/LFbwfKndO10lr/wJdN9Pvt7vmvWVttXfz3/Tv8tzRtIipVQOOvAzzj8PboPyqK0neOuj6763/wCGt+GzOmEVbpZaff8ANefR99Dbh3B8E5XGCOOufoQP1+pzmseeXf8AD/hr+n52ubwgrpJaX/Pa7/q/QkeBVbaMLnoT354+vTjp79MMm77+mxctErfL9df6uTRrIMo+GX7vqQOnXj1//XjNIyMPVIEjVmC/wkHnHynIPOPX2+gxxXThvjT7NP8ApGVZXcZWv71rer0vvfbo+t223Y/kF/4Lo201v8UvDN9p0iyT26XLJFGZPPEpgjwyMmW3KRkYBPpgnK/oGWwvTi238k9Nnprbr/nezieZmMn7NpPdNNLovRJ6tPra9n3bP5+h8MfGev2cmoXZgtVuYkvFn1G5S3luI5pvIZojK24vG5zJn5goJJHJbulHmk4WurX26t/Lrvt3fLseXSStFd+/Ty263tut+uh5R4v+A/iV22L4k8MXktoJ1+yQatA8qyQuFEYCk+Y8mQcZO5e561wVLxlLur76a+drp9Fe176a3Z2Kiremu/ddX8/v12PEb7Q/iR8PpjcNbXdvFllMsW6eydM8qVwyMrDj0xycYArGzemr1/V732e712v5mL9x7/hqvzs/xfS2w0eLfD+tvC2t2H9j6oTtfUtPTZA78Lia3wGG48lgMZJ5GCtOVOL3aejW1rO3W7l5vZ231+zvTne+ui8r233209Fd+Vj6M+D/AMUPiN8E/EGg+PPAmt3Rn0m/gurLV9JuZQitGwkSO4RHVuUGHicbSM5IyQ3l18FGcpLprdeT3vpp873763j0060lK7W7dk76eWqXTS93br/Kf3Tf8Exf+Ctngj9rvQ9N+HvxDubDwr8WdMsYLZ1nubeC08StDEqma03vvFydrGSMqTnoTwW+Xx2D9lJtaq9tU21bzum+r3Xf3r+76FPE8zSvZp6Wf6eW97rTa1ny/tuGHttIBQg53KwyGB5+UjBBBII9ODXDH3U18uq/D0t2+adjsVaT06Oy3/4Hy116a35h/wDn/P8An+dIo6jRP+PWT/r4f/0XFWU9/kaw2+Z//9b+4ivQPPCgAoAKACj5X+/9HH8/u15mrdXZf15S8+n3/ZUHHNN/1/Tb/rva8pnJR2+V+v4O33fdccHPr+n5dj39vyqXe2m/9ea/P7yYzbetlpfe/wD7bHp5/d9pBIzfdXP59+Pc/ofwojd72T6ef/pf5r5WL/r+v6/Up6hqmn6PbS3usahZaZYx7i93f3UFnDGAMtueZ1ACj+Jj7nGQG2hSlLTbfp2+ev3X16XXNUVdq91dXXX9f/bl3u9j4c+Ov/BS39i/9n62ul8c/HDwpdavbK5Gg+Grk69qjyKjMI3jsQ8ULEjYd8y4ZvmxgVp9Wnonbztfbv12XvaJX2T3NPZx7v56f+3PR9/wW5+I/wAc/wDg5o8D6RLd6b8AfgzeeLLiB2SPWPF14NP018ZCsIIpY5XDkA7NisAcEHBqlhmtZ6x12vrtr029Wr+jQnGKTdm7a2Wmm7tq/S1vNW2PyT+OX/BwT/wUF+Jwu7bwyfB/wu02RXMUPhqwdrqOHGBvu7m6lLNgg529uM9Kp0qbSUea+q3+S7fls3ezbIvDqpf1s99+u336cv5f/EX9tL9tv4vAnxV+0H40nkvHYT2tt4lu7O22sx+QW1o8Y2gHGPmGBx3ZlHDNSu3dX73dvPTr+emt+YTmoLmgryWzlra66pb77d9U5WufNl8tzdTSXvjz4ia5rWoh/MntP7RvLp5XB3fvJrh35OTn5iOpOc4rrhh6ct1Ky9db72aXX/gPmtcmOKxL0agla+2ttb6+7ftdNX1ulpza0vj3TxYrpmk2d3YWiKqmWKWPz7gLj/WyEb2GMccdzzjLdtO8IpJJr0Wqel/J6PXTZWtdRKdWpJXk4rR3Vnta62v1816aM5e41GxnicyyXysXI+d0ZpFJOPmxnBP8Q5B5+YZK1ZXau9Vr6r0tZ2fkmuw6fLKHM3dpXtstvlfZ7d+trGBczWT5RzfLHgLvaSNwSOcDGDj6j3O7G11yJtay10+XpdXf/gPo7GdOXM3F7rVJPrv/ACtL102vZ7FGKx0uNJLg3s6sB8gkiOF7ZOOuOh544O04O5VW4+Xrro1tdW8nt5dbR5qtWp7S2lrtfLW/pdeUui6M/Wb/AIJKeCzqPj7x74sWWG8j0rSo7KOZYyGWS7mjO0DsQqEHAHHPOflxT5r819rd/R/Zt3XxbWur3l6CjCNNTjo3HrbR7v0vtu76J2t737xanpE66fLvhDKYiWDc8EcgdxwT71nUi7P3dNUna22z6326vd21uY0Z0+ffmu72XSz+7fyk121Pxk/b40wW3hDXrtYsBbaaUg/w7UcZ4C5xnB5HQdua+fxsYtPRaS/HturaX76621R9LhatSMYqEuqu3rZ+rT6va3S2iSP5IPErGbWtRmySr3kzqeoP7xvcdvr9K4KcI8su6Ta9enV3/D01MqmtdSejcldvrqtNnZej8tLM/ZH9kHV21D4SaTGknmPaPPEF3ZxsO4pzk5IIH3eO2cYr5DMoqNd6J+96eva3z9XfY/T8inzYeMb3jZdLapN2avrtfTvto0fSlxZEz+ecbxk7RgAqcZHAPIPHY8cL2rzZfE/X8f61/Oz92PuWSdk2t7abXvpr69bbva3MY9xpSu3miNmVm+Vk6I/oR2BOOcdzyMbmkd3/AIXdptdddXpdq3y8tHYoPBJCpkVNzcoynBBHTGcHvz1Hp04TSnu/T+v1v8jmrKyej3Vn3v1t0vout99LPmhljnWNP3GUfAzx8ue/ORx2zx3G3OV6adtd7/5f1q2ee17z66vbz131/Po/ht7ufc2Ujh9lyYEKbGPADHGQ/cZByMBeenOMNp2V9L+bWumt1fTe/m78tryHLTff021SW2v4eSd/dm0+z8hw1wqyJt27s9GA4fgKM9DgjIz2Gd3NLXy11/y3utfXskrnRQjHV/8AB8kl3d/JX62S97oYUGzcMNGqnac/eBHQj0AGe4Pb72F4qukuvlpbrpfTz/u9+jR2tbLVLy0+Xf7l84/ataZHGszxohbo2cAY69MDGT7gk987Vrll8Tv3/r8ErfM1ikrdNLv80/w7aX0cbR5u/wBE09DcLIA5YAZVzx3J4Ocg4xxnP+zgVxV9G3t7v6fPa99/m9Obqg3JO7vrord7fP8AHXbSx7Notpb3dtsO2UKD5iMBuU46Yx90Dp0Jx1ORXkTnJNq/XW1mn3vone9vy0s1Hrp072ur6d36fPezV497l+z8PWyyyywKLjzQVjiX7oc9F5OBk8HjjHfJNJNrd9bta6eq8ulrXbtrsdHsoKz5Xr20Xklrf776Xel7R29C8JgSiSeBLa5SZkktDOVZkz8rqi8MeRjjvk4wawqVWtpNbtr5vS6tfZ+nZJNx09lB2XLd/d+Ca/F/fqeow+FL2UwSWRgtIE/1/wBpCgshBJIB3ZxgHOOfQ5G3llXn9qb0eys/XVLW23RefxOWkaEZfYWnn08uvXot7Pmdve7G08JwLZFpDc3ZY/u5LXHlkEYxtDDAH+6pOOvSrhXb66dtejtrdPe107r56HbToxStZX9Grd7Pmb/4eztdGRfeBLy7lgkjtI3hhYOPtkYkIUE5XaSckj1UZ/u9a1WIlrySs3e78/Rx167Ppq1ZGsacIa8urWmmm+32lv56Pvdcvb2fhyWKzX7BBbWs6LhlihRMkddoOwDvtG4Dd6ZUVyTr4hPWb6r7P6Qd3a/VvzerGqcJXXLp6f4rNdbtrq9teto9bp+i6lrEMO22tIfLXyrmWSKJJnYDG8jqeR3zyc8/epTxj5F71nfXq7+dnrfX16N2ipOOETekd3fR6rorXj1fa2zbS3NFPBUkUZjkEV/IrGRFeMIE56q6njbk9umBg9G53jG3rN/8P8/6try2Sl1RwdPW8E5K2tvmr6eS6Oy7ncaF4K1W4khlaFHsIwCfnLuGH8O47VUDp06A5yQoZPE7+83bv1+XVL103V7mdWg4LSNrfp/wPXu+qj291oeo28AjtDFazK4MCLAGMhHRZJDuADZ9OhyM4+XJ1U+r66/57X/8l+W8s6dGLd5RT82tPlaV+11723nY049A8QK9vqN1bo92FUGCF8Iq5zvK5ycjJznjg7Oprn9tG6bVrfjp6P1b19NGo98YqKUWl20XRbdXdLbW3psdQn+ihrmHS2fK4nn+/EkpHzIikkZ4/unHqeGp+3Xbrv6dno7vzXTWxvShG6Vle/z+fbeyTV9OtzSsrOO4mgmE0lvkF5ITgSSHrsBxjAGegU4PXgBVOsnHltZWfX830b0tddNbXvH0qUpL3Yyer6bdO9l117JdVqew+HbcTWCySIdkcrjyFZGYqncsTjnH90+uRwa8updSbja3l5el31d2lZbanbarFfG3e2/W7/rpZ7+7axo7UUmWyju7meacNLBBylrGpwFJLDKnkkAE44ApwlpLmbV16ffbTV6XT013TJfK78yUmmt+ttF0W2r/ADS0O6sdEvb94L60EtyqgCWEqFETd1YnaeCMA/Xpkq3NUoye2172tdefX8LdLX0SM1VhHeyt0v8A/sq1r269XJac2u/hyOQMNQsPskYcSefGxaQsD14YkKPxB6f7pTozj18mns+z6Pfqn20YOrTl0X9dbab3tq79NLmxZ6RbWX2me2lmaWWONvLfHl7V4jk3YyCTww6j1GDu6JwkravRbJdbdEnra/SV/N3SjrTqqd0umn9b9utu63aNFdR1aSGW2nitLWLeuyZW2ysAM8M244P457EDcKKUopax9Pl6p7L0s9EpWZFal7TWy06Pq/lrslo100vcTSongv2khZ7yZslYfmljXsSRkDB/2e/Qj+G9d/w9X6+T3vfur+9jVoOPwJpvdpdkvTd7Xl9250V5Ne3WYmsbaGUKR50bcQjg52nqR6Ae390qaff/AE9Pw6/k47YWlUe8m1vZ336X9LLr22uUrT7QICJLieSNW2O8Y2tcMhb5EHORxzx90nOean2beq5t9l1snp0fW29vS1p+hySjsmrdfzWmvTV6726NR0y88kUTDThCT/x7xMpZ5CuPnbtjoc88Fh1IKnsm+s1+HSy626+ul9EuUpSq95f+BNb6W33Tvs9Ojdyhcidn87U5YzJHhVtYyB5fQANzg4PbHfPb5q1sk9lok9dNN9ttt/vskehhVFxu4973Xldtve72+101V041QZpHaSXbDbbcj5eePuepBJGOjHjt0Ut206X16d931v39NEaWtVdtXfTTz/7dXd6NfjymHKZZpSQPLhRw/nMSdwGO+eeg/hXng9K2puNL95N3vy2j0XyaWtuzdt1bQ7J1FgYqu4RqKumkpRjNq1tublS3Xz10TsaulWOoeKdX0zwxoH+k6/rV2tnbIoGLe2J/f30wBIVYYstkkA7Vwpy9e1kWVyzbHQjC/LKSslqlv05O60V7325bI+M4szzD5Fl9bHVpxU5puMG0ktdLJuPKlezXyurWl+yvwK+DmifCzwtZaTYQo17JGkuqajIpNxfXbjdLIWCqQN7NsX+EHjGMN/SeR5NSyrB06LpU1UXvOXJFS96z1fLdtXfXpbT7P8Z8SZ/Wz/Ma+KlVqSpOXLGm5OUIcul4wvKKul5P3b6X5Y+9ykoNu3YemARn8cfX8zmvc3ST27PX89fvPl6usrv1V9bb+n5fdqcjqBYngcB2yQee2O/HT0/76xuWrvzt6/1bX+thdtLt23176bJeur7PZiW8O88jvj0PI/z29jjAou+7++39fd99ybJWdlfppt/ne3f1vc0mtCoBUcdeCM5+vHsen5Ug/r+vx7filKYoyKGbjGOvf/JHbn8jQNXWvz+X9f1qTyqWVZRyOvp379fT0/PNANPS/wDw3l9z/H1HKwZlHAyMDPf/ANBx9OfTPegF/X9a/wBb23M/V42Fs7YK4VjkYI9SfTGBnjP48vW2H1rQXn03/pvTW3qmkyJ/C+6/P0P4sP8Ags148lHxrvY7Iq97pytBZPkO1vclVAdFOYy3y9GABxjqAa/TMFD/AGaDjZO3o7d9PkldddXG8ebx8TJNSu2rOyXXyt1Wqta0lrsmnzfgxNp/iDXibm4vNWub5pzhUhmlCvNljEsafusnBcRRoNwG5e+7rnONOlru2lrHXXfrHs76/d9ry4NKUnvvvo7dGrK3klr6OzR5nq/gHxxaSTXeneHdUvcbp0aK1mSQrK5X7TkhGKmQbQwOVkGBj7q8k5KeytzbqKWt/wBNelvnvLXnttJ/N93+STvb5e7y3l51NqPxS0LdDcnV4YWZ5hbajbST2JVd2FKTxsOG3Lw4G4Y4ztXkqL2ac1102tv1er6rS73110jKXK63tfazbfo9Gtb38u0rWOZuPFula3cbPEnhVIp5BgX+kf6MYpEH35ISzKcnJIH12nJFcc5Ob209WtOvbqr/ABNeaO6hNWSvZ6aNK9rttX9X57/E0jY0y0tgEufDXiWOPY2JdPkuWt7hm7K8L4hkfjBYbie+M4V7U3Lsku+if/Avpf1bSZ0JKrJQjdXt2a67aK7s290umt+U9f8AA3xK1vwXr+l69pV5qXhfxVp91FNYa7pzS2gSWBt6O2zjbkYkw3zK2D0zXl4qmqt9LX6b9Frv19bdbu6Oj2Cg/ivZdU9/Lb/0ro9HdH9o3/BLf/gstofxS0vQPgt+0lqWmaN4ys7S30zw/wCOjcFdM8RrBGIkF/K0ki295tCBjIYwztkEkV8/WwDTc4+9rfTe979tdNru+j2t73TSqKMo+8nb11t1fy23utdk1H+ju1uLa/tre+srmK8tbmNZLa5t5EmgmiddySRvGQroy/dIJB4PGN1cFSlOOltdLpdt/wBd7rqunvdntE1vv8kttXZO/wDwN1ex2Oif8ekn/Xw//ouKsJdP8KNYbfM//9f+4MMx4B/TH9G/l+efl9A88kG7uc/5/wB1f8+n8QAtAB36cdz6fhkD06n8+KP6/r5id+n3d/6+X5qR8xyVXKAfM3RR7s5JVfz49s1cIOV7dF/XVfk/kJ3eidnv9/yW1n1e/TQ8P+Jv7SfwH+DVjc6h8TPiz4G8KQWiF5o7/X9PF4NucoLNblp2c7ThQmT7VapS++9tH/mrfO/4JB7KT3fbXfR/N+r7Lq7n5S/HH/gv5+xJ8L7e+i8EX2vfFTWLUukUOkwrpumTSodoxe3KSkxkjO9VA2nIJ5NL2bT1T1f9dU3fbRab67G1Ojytt9tNVp1v91+i36L4vxZ+O3/BzX+0BrF5fWPwU+H3gzwJpciyRwalrEj61q0K4OXjkCRQRyYBKthuegBHzaQpbu1tbaq/y6PZq/Xa102jXRO9tdOzv6vS3p0630Z+Knx3/wCCm/7XP7RNxct47+Nfi/ULS7kkkl0zT9ZvNJ0iLedxjjt7SeASRLyAjZ465ywrfkdN80VJPbXXR731aW+9uvRLlFZeS32X4L1f9aHwbrPjjU9TuZZL3UrjUJXJMjmd5mZz182d2LNz94s3OcEjil7at0ir83VLReXS3a1t9ejkf0vT9TlX8VyborW3ka5n8zEUFuz/AOsPA3MpcBvdsHuc4UVUHVnKMXaKldv3ddfJX0+a7KV22KS9yVt9uq366J7f0ndm3Pc31paifW728hN0m7yowzJF3ETSqW6jtwBjB3Yw3XGhya3emmia07rtrpbV7J2u2cjg73b+5a3Xnz/o/mZkfjpbKAwWtpBMn3HeXiVhnk7wVdCR3Xke3IbZKOulna/e+ujautr313t0u3GlCz1d9dVayd9nr9+tvLZuVWTW9HulEjWc8DyndKY5zMOfQMMkc56gkD2+alHyV97X301s+/4K9+w20tG0r3029f8Ag2v09I69mdMlgaVdUMIAARZrYKRnjht/Pft9B0FaJN9LWXfb9H6u21/OUSqJJ3vdtrXz67X+XfRvVMS4tIXHy6zaMrjCtMrrtGOO3GARznPtzmj+v6/r8kOnNOlprZJrW2tnr8K0dtreV1f3cePT5WZoYL21virdIbhR09A7qT36j8RnDHVa/wCXz0+en36WM6FROeurbs9d2125ddLaLf8Au7GJq/8Aa9pDIZobiBI84ITzI2A9WUMG4B7DjB552519t7p3s/yv26eXfSxVenaaad1e7avddVd7+q6t37H9DP8AwRY0F5vhh4112SE+bquvRQGcIQXjgMmQeBkD72Bjpjc2M1z03vp216/Ld627q3RahWq8tFx2b030fZbSs7rl899W24/uxqXhlpLAtGikGJs8dNw7849D1687hgbuh8rTV+m1+y6deyf/AAWceHqPm1389NFbVaJru9br+9tL8LP+CmumHRPhr4quJMxkWsyqFB5EkUmBx6n6kdtwJ3eHjMK2no2rvT+ubbVW11fSx9NhcQo2TWltL9fl1a1XS+jsrpH8bOsO32+74I/fzHB/2nOeMdgemTjvg5rx6aaU030fdW0W+r1+fpbUuc+erGW15Xu9uy0Xpb4tfK9z9Pv2G9Xm/wCEXu9PEmI4btmaMnPzOQMjP3c8E8N6Efer5DNE/rFr9U/lorP0s/u2Vry/TOHp3oJdGun81tu26e/L1dtbn6CyoJtwGVI6uOhOQx59zkcnJHY8CvIl8T6a/wBet9/mfTNt62t+v4J7eVl53Y0W7iIywnexXZIg4JwPTnHrkDP+9wWkFqlo9+u29tFdXu9NdN7Wu3Gg1rKpYmM5UBipH8PfoOoPv+Y+7pTdm/6+Xz/TUipG8btaX27K29+tunbf3ldRqPECJVRgQ4y0eM7VPVVO7Ixg84U+/FdNPq9dPL+utvT5nC171ul0ttfLtv12vvoZF3bRTxiMKfLKYkIBBBLcDI7qcYPUjrwa0fT8PL+nfuu1ryRFVJWtpprbr3fXrra/3lY2c8vljzGiMAKtGBkTjoSQe4x24wMYXkVzvV9NX93W/Vb6LV/JXlHXDrstLrX8tEtLr8r3s2y/bQzIqiL5k3fPGc7gT144OPr9OSCa4ausnfTqlvbvbfXz18rfDHtfSza+V7/pv5bdrM6GxthuWZQVZDjD8LJ229iD16kn1HNcst3v8/y2tt2vo90arWOyXRLp01+0+tt9XdO7b5fRdFgMjwys7O+4COMEAqGIyh29R7475yvKtxVtLrfR9U9k1a2lvLWNvkjqo2d3vqnbda+fdb69Nk7tx9V0mBlvFja3lgcAJIoVl8wEDDgkYbgAZ4yTjB42+NK3NvfX8O/p9r8XuenTj0tZp3fXW+mt1ZW+7qnZs9MsPCsEJa8iu5GRk8w2rcNuU5G3acZzxkDngnoN0N2/L+vxuuutt0dLVld92u3p2/FO6f2bWPT9D0jSdSt4Z7mCMOQbdptwN9ZsOBnhW2k9yc9DwPlbkqz316u6suvytsrf/JXvHejTT96zaei8vNrW6teztG22tz0/TNHtrWD7OzW97bxYUfaAN7A4OCWY4GOODz1JONzcjvO/VX228r9r203vbujvjSlpom+vkl9q7tv2bVul7WlehVIpfKitUgtH432syhE+gC4GDx3444xhk4uO+3fRfq0vvfy15dY0lp1vry7et3zPouqlq7q1rGzDpihtssu2Vx5lrNJOOVzxGFHykgdM57ZwTioVV03d7W6a3vbX4ltd7N790mXKnzRSTfTpdWWu/Mlrta/V72NK2jktriCGSymukkJMk4hUjp93IVcgnjtgdOz0pVOdP3tdfPrfezS/Horu1ghTUPitfbvvre/Z6vm06PonLrLXR7NJWuU0yaBnTeFQkrKTzlkwcHpx8uccY5FefVbu07q9+9/vvpo+nN+Nzq00i1u9rWtroraW0d9HZb2dyFbC7u7p2+yXlqkJwvlIxWQN1BChST17fkD82f4ef9aaaPdb9d49kElHTS+t3039eum2u6vc9S0Kwv7e2SPz5LeB8HZcApxnJbnAJ9c5HTr1Vr4rbP77eX/Dq+nSxz1IpvlVrrbXZ9fPbqvPsdJGlp9sS1u992W2+XPGzokSnneABhmBzzvx3OBTcZbt3evT+vlon0s9XHFUuj00v62tvqvxuvI6waVBHLHI93HJEY8IFnVpRGcZEmDxj0Jz7jFc/K7t3dtLadPT3fO65dettHKnGyd/169dHpbX9YxvaWyNOgZILGDLW0xzI0aq7Rt6lF3EknjJbnrzgBaUbaczv/SXf8/J3snK6W6a0Tf9fzX3dtLd+ZP3ZU8OWFpueRJruTd8kSIRIc5wAPmKcHkknGM9wtNp66trTz6ddloul9Xo7WO+nLlabbaWrXl56rVt9nfpa7Oq03T0nnVAkllbRRh/sxODI3RkLhlxj+Iduemfmjl91767rpa19e616X+WqOx4mMrNatr7vxd++j+651UFkqXcMtiZ7VFwJ5I03RAA9FYDMjt1z2PPzYJXhqS5JarRPTy6X/G+t+yb1ZlKTk9Nbuz3v1+S/GyXm1H0LR9e0uzn+drwxOwimiVMSMx4MoXsO5449eRu66Uk/LTv321tG2nZfd9rixEXG728novPqv6s21Zm3dXWlXlyGs2km3OsbHfnZuP/AC0AyF2+nPryQaVSaTulvr2vpv17+S9NXJ0ISev+evyulb5a36/CLqdtDDp0tqoaaVsFmTjZH94LuQE9s9gc8kgEVUantWtNFrta9r+vmnq7b2lc68MmpO7du3Taz6PayWjV3vfQx7eWO5gtjDBIyn90yPGwMDRcFmduvC5zx6jgEtFWnbVK1uz0+TXkm7a9E9W3Hucklt6v1f8AXTyTjd80dvZai+pFHYJaRHzUMYeORevyl0IJB4ODxjg45K0nZLZ3/wAunXz318tSZSt/wX/W76WlvsbM0U1qUvGmaeG4kCR2obeysPlwwDFgCOCDz3BHSjT8F/W/k9fl7t7S7sGotq13+Pr35u+jjordWzU024DmSQwyRQQ/fLZADHPCA9wTk+voeqntOiaVtO/z3v6aJK1tTepB80tHbm/4Plbvv16JhqGo3xkWKweXeuAkzLykROMqcYVeeo6jj5flLP2vml362Xkt29fLvraSI5Wuj6JfntfXrrv35dpUbnThDGZLm6FxM5DLtGXMpH3T1Jwcc4bOQB0FK93fe/p9/wA9vyS3l14Zct/X5O2nfZb6823Z3GRxTfZ5TdRs6/eKuxRQo6Dj6A9WH+6Cdp/X9bf132K19re3VfLfRfD32vune2vNxuq61HbgP5ZZGfyLe0iOXubh/ligjjX53Z3xkAMW6AnJ3b4fB1MbVhShezlFK17u+tnZaPXsrX6NsWOx1LC0Z1MQ4ulQjdc1vdvq+/W34PS7Z+jH7IX7Pl14djf4leLoAPEuvQgWdlJHt/sfTsboYY92WSaVWHmlShx8pwOa/oPgvhL+zsPTxs4tytzLmVr2b/urTtzW+bbR/IviXxfU4jxk8HhJ2w9KVpRhLSySV/ck4vbqopPo7H6OW0XkxqFBQADj0PsR1Axwcc8jtlv0SNT2q5tNHy6W+y7JW6Wt+v8Adj+TNQjpT2Wj82vi6Lrp57u20YLuZs8dT0J/n/Tr9cYqv1/r+v8AgmM907/8BL9dW9V95gzxtuUt3OTkdcd89zz6d+/FBHTd27f1t+P6xspEcgL6dhj687j277fwFAjSMirGYnGCVG1s4+Ye/rx6c9BnJoHdu/bf8du9r9PmSRoLiEKT82Mds8ZH4cDP8yvWgdrWfz1WltPN9Xbp+hTuEltkMYzIh5DDPy888jI9ug9cc7aPUXz013/rqvOPZO6RWWQuEwcFOvPPJ65GPT0/LOKA20tre+vl5NeevyXvbxdrUwXSL13KApazMC7bcbYyc7mxyOcDJz6cVth3atD12XXy/X/hxVLJO13pv1b7dP0eu7smfwZf8FLvFeiRftCeNb++hh1u/fVLu3s7G9k8zT7fDspkniQmTeDjy+VUHPJ4C/rGApp4SD68id1tZLtZbW1b5r6Xvax8xjJpSlbztrpfst1v/ifTR25vzB1P4m+KPsO6HXX0m4WS0aG30KztrQwy6eWSzlSTyiXlRHKM/wApcN8+MYrT2Kq3hq0ndddl9z+be/Wz5eOLTjeTS6bf/sp6bW720vzS8a1f4j+Mo5pD/wAJZ4jSXaYvNl1KUqwWZpyMfu0CfaG80BV2q7EqvQ1m8Lyve1rabduu2j8ntbW9ynOK6pdN9PeV7de9uytu78xzU/xQ+IcdlIB4he8iZhG0Wo2lrfQtEjF9h81c5LMWblN2ME8fLzVaPtI+zutdfL0622v6pN22DmTej1Wv3+Wm197vo2k1ynH3nj+PUljTV/CuhakZcR3F1Z266bPtDZcgRqVLScjf6ZByBlsJYNxjdpO2mqvb5Xj87fNraQqrUuW++7WtvVd2+z1fexgXVr8Nr6bNrNrPhSYxgrDMgurR7g5LOsylCioBheQTweK8+s+VNb627fJWv1vpb5o9XDVbe+38Lv5u6WuyvrqlbTrfQ6y1s/FGm2UcVtNp/jPRFJaJVkD3ipIF3gdZVIGOgY9MdDXBK1tfRL8fVXevZ/I6pYjmet0n02+F2311fley10vym14V146RqJuNMvdT8O3scokFldPKscEi84gmzGyfNkgqAemNoA3crtL3bbu35taN3a7t81r38zOM5JqSeq0326dWv/bu+trn9W3/AASh/wCCzN94Xu/DHwB/aR1Lf4VnEWm+GvHl5eed/ZjuFW3hv7mbINtwEDvIuzdzgGvKxdBK8o6O70Sd9Fr31Vu3pokpddOq+rbe19rtaWe7W/VP1lY/sN8D63pfiLw/a63oOp2OsaPqZW807UtPuIrm0vLWaCB4poZoyyMrKc8E479a8Gvyc6ve/Lre99320PVofA/8T/Jev5/ef//Q/t/zz04/mfQc9frt/rXof1/X9fmjhjFNNt/16t+fZ/j7r1brt6EgZP8ACf8AaHXH0z79MK0m7Jdf6t019L9/Ii/R2vr17f8AAff0vdnBeOviv8OfhlpdzrXj/wAa+HPCumWiNJNc6tqdtb/Kg3MEhaXz3cgHCqpOccDJFbQpX+JP1WnqndSv8mvlf3bnGyTT10vfS/prLT5Lptf3fxI/al/4L/8A7NHwYOqaR8MLCT4pa/aKyW91DcNDpJnywDEiOOR4wRkkOARjGK09jDzXlv8ALb5/rpYSi5bdP67q/p+KP5zf2nP+C937Xfxtkv8AT9D1+0+Hvh6aV1ttI8IiWzlhhG4Is94JmkeTadrsCM9eMBV2o04xbtv5/wBdPNfdqbRglrK+2mm702+K1+mvzf2fxp+IX7R3jnxvfXF/4t8Uax4j1S6maSQ3+o3V4+9+uPNkYAH0xkHnnI276O10u233v+k7+f2o9rOMto263d9ntsl5fa63tozwXWvG99OrC/uHXd8yWqSsGf8Au+bhugyBtHXHIGQGioko30Wu9tLxdnZ9Xp2tqrOVvd39pzRTsubddtV0b26bt23uziL3Xbm5+e7laGMf6u3jbZ5uAAFbBPv1I4/hORU07Xbv3s+jtpdbtXtZdHre24lKS0dnZ/rfqnr+XytLIk1i8ugoLva2aZCnOxgOcIPmyxPAzznqccht1e6SSer1e3T8tH56X6CnN20Ud1v013+Hz7O/kXtOtL3U2W3huEsbN+POuCUaVsHqevzds7fXbkDbvGF9Go3btdK9/S9tFpd3Xa705uZ1mtkn57rt3X3r8LXjqTWU/hoRjJ8ySQYmQeZHICeqzDJDHI4+XscjGa6PYwppSsr73te3/AutL33uru8DJ16t7Wjrrtdeid+i3uvu+1JB4n1OOVFnlF5CeDbTgvGVY9SDg5xwPn9uelTLXd2/rotbO929H8t46e0qNrmUb6apfLWy1tfsn1drlia/0a9kAn0ySBpOfMtXVNo6MTG2Q3P8PoQcnGGi0Ur30f8ASt593y+XLrc0bk1rFdLtX8t9V+P3R+zcttHsrgL9l1RI1GCqXSkMo7hivGR09OehzuqlddE1q/v7eu/l0MJ2utNf6+X4eWhqy6ReqgCNDdQrwphlXr6ctnHfhc9vZahKXRRd35rpp379XHy3ucs46pLW9793+v4q9v8At2WNeC+RXhkgnj2Zw2zKkcZw65yDx2A9PWrnFJXXRr7uut+l/u1fLtLdLljyrVbWejX5r8emtr8pzyM0cgaMyKxbOVdlO31AJHI+v1zgVF+lr/pfrfTz0V/RXuTTgoy5o3v/AFZ7u1n6/LYzvE/i2bTbVhBNN5ipt2M7Onp9xmIJJ6Ejr/CcYbCvK1m/8+n/AG989FbTVc3u9n8XWWm22+q67dOmvqtj+qv/AIIsWhu/2YtP1FwFn1HxFfyuUwocLJIFH1+Y5yV5/Gigoy66devr2v2Vnpfo2efjLqLSSsr/AIbW6+SV3a7SvZc37qXGkrJZIGBj3RYPYfd4wMcdc9B+GKvlSuuqcrP5pO9nK+ltLdVZO1o40HZxulzL11T7+d+6XyufhP8A8Fb9Ca3+DHim4jjy0duWRz0+RHOD6kgf3jxxuGMN52JqSje1vn53tZWe716d+7PXot6a6d97X012d7d7XXve7dI/iK19jLqF27AITK5OOOQfbA5OeAfxPWvn6slFzcU23pra2tk2t726adNGrHote9T1fRv7ld/jd/jq2fev7GF0tgk6lx/ptz0JzzH+J7HuB7/3q+MzZx5+ZuzVtf1+z1drX32to5fqPD6prCRerl36fLvdq2yt0ve5+pNth7Zf4mYFlOSc8+vfgZBOPTvlvBdWTb2T9PL1d9d7WS7y0Pold3Xnp/Xza/4Zkse9RvK7cdcHgn1x6cewPT0LDnJ+Xp1/8lVvvfrozSMdrrVenrrp1va2/bls3KRAWO/B83lSh/iQ9v4eeM9O/Y4DbQk7X7/pfyW+++m2uhMk/NJOy+/r5W9L2V+qlnvAm5nC+UEZlcMfmGegA7Z5A5J+mQK6IzdtHvo77vr3f/Dau9rywlTXRba+i6eer227a392hPHCMLs2qd2QBkA9RjB5zjPJGM9sUvaTUlG6t3a7+WvptbyS0OepFNXerv3t0/rp/nKjaq0kxWXCyAs0ZU9VHTIwfY8EZ6c4py2ffX8dtuq67LTybk6XuvyXS/8AXn3809EaMNsxmSdT/HiSMYAGG6n1xg9l9OR93jq6q+7fy6W0fS67J3622l2dE112/r/h/wAGo9fHo7TIjhiySHOBgAdO/wApBGR0x+pNcU203ZddLdu3TfpZ/cdFNJ2utFb791pvp89tZO7O/wBF02K1az8tXJRhuB6AH+IHq3T1GO+MfNx4jWP5u92+lrq3TXTfW17XOuEbSglZKXxab67avRW08+nLe0vd9NiivIflRWuYVXyC+VLj+6x5OeMDnJ6kDmvGata/fVfLpt/wPhTdrnuUqcHFu2ut/Xp1177pa20szrl2wratMpgKgNM+C0W0Y3rz3I9h34GKhqLVnrtbpd9NnbXfS97bpN8yau7PVdPK1vv663freXu+t6PZaFei1ltblYZbxAYpIuUdgANkseMq5OCCT7EdTXHV5XfZX01/DT/N9rXOnDyaltdL5Xu387WuvS1raTO9m8MSfYhcXUMk6wDDJaSFJWQ/xsMgHA6DJ47chKwhJpyt8l2XTW+7/SzlHRy9X4oqyt9rTfVXXZrVv+bqla1x+l+GLvyTdWcgexzkwylWniGOQ+B1DDB7n1wCaidR7K1m7a6aeWn43031v7qXMuj9du+2+nz9L8zPQbHQLa7itzbq8t1aMJDG4yu4H7oypzk849Ow61xVZX0eqv2Sv/w2vW270sNzcEm+qe/3bWd99dV87EevaH4pvJopbSWLToYyoeFI8EhfvFTgjOM9Mc8k8GrhZRStrrt/w8fvs101XxawqRe8b+61vr69d11su19Ub/h2x1uwkiN1ewSRPjcj4Mit1JbLOfyHXjjOK5qrTl38/LXpptf8r817y2fs3FWXLLunu/yT8vTsz2C0ty0SbJofOI8wBI15/wB4tnPIJ4PfGBisfy/r+t+nSxpTvrHXlWn9PTo7aJ23bd/dmu7qK5ijivWijd8wrkBA5/2NuSGI+nPrgVcdJej6a+q66PzenndlThHlbtr0fls+6/Dve9yta6Vc+XHFHJKsYdkcsNwER9GbBDZI57/7PAXo93l038+j7taXVntfftZmMVdrXfr00vpa60369tXduW/B4Vi+ypAZZkILSSXBcbmDdAfmBx+WP/QvMqympaPR/Z6f5W6avvvqbqEOsb/h8+rWvS0r7vY6rRLOfSoJrVb2FIrlkSOeVFeWMjsr/eXIA5z74bPy9+HipRvNJ3+X6v8AL7WtjjnL2cvdVk30u7L18t9u+uj5e2SAW8aiKYSzlNr3JXzFbjLFQNuDjpycHjgZNFVRTSXVWS007a6ffbXsrLl3pzk43b3T89r793fre2iSvZFuK2a4O+IFUtxulLttklc8MeCML14+XtycZrlqc0b8rta626+mv4uVvma03daLr6vpqnpe+lra/wB5Xaj1umL5kiQ5Wxg2AeZIR5ZbHJGTgsRzkjryAejc8YKeslzN26dttPX/AAru2ruXdB8qlK22tvS7fn/w2hp3unwxwT3cCtKYcIZRj95x1GAvUe44GOOd3SoRWytbs/x7+nbZdDGNenW9104387uyun/TvrrtZRld0y9tktTHDB5TGMu8ki4Z2xyARuIPHfPPAHGWTpwejimrNdv1v+O2jelzupYZNqUXyabLT1V9N79r+ST910+pXcNmpSSK1tpz5cs82Nw3EDCkkkDrjg9f4a82pGVNvkbjq723e7t1Xb81KR1wVJNrljdeW79dNtNHe+lmk0jQsrd9MUsZkuYLmPJVAxALc5GehweSO3I6V14Z7e0fN2u7t/fZJXfXvbXYwqx5rpWV+nbT+u/ezskXpL2W3t2j+zIAxG2VSGfZ/d3dQAOMZ6nOFBO7VxfS3l181ppvZtb2Wj25Qp8raTje383pfZp6P5+myi/TNHltVmvEG77Rl0MjFxE5ycorNgHnttJ/9BPZtO99fT/gyta3prs3odPOoW9muSyu7aPTotO21n5e9ryb9tbKFE+o3CpAimXyFZUM0w7EdSH645AwD6Bc4QvJ3W0no+uvp2ffXz05alUco6t82jbve1rWvp5NdL6tNpEU4N4peJRawDhMdWweM9CwJ9+fUZ+XSooxi9En008rWvt/VvtIdKcm7tt9rPTz01tbZN3utrKUYxoYtYuGZnuhhtz/ADIvB6Dj06ADHXqQrc0eaq24trlupLp93u916+SaRso1MRUTU3SVPfkk4p276PW11rpZO1/hOW8R6ktrZzSyXcax7MyMTtxjoo9yDkn04HUsvRTxEasvqsaadRvlTS1v6817q3VfKN/e7pSUuWSXu0tJO2j9el938T2ur6I9P/ZM+Ct/8WfG1t8QfEVrJD4O8K3YbQLaRNyaxqat/wAfcisoWSCAD5RjGTnnBr9f4E4XnSqU8TiIe0W6VRcyS1abvB79Wl92kj8I8VeP6VBV8qwtlKMbTnTtG94pttxnfy2W9tLNn7c6bYR20UUaLtVFwEAG0DoAFAAwBj+fHIX9qrLlcKVO9OKVuSHuprtZPS+t0kl/7d/MWHrSrSqVG5e+3Jy1vq23r7z6Lq7X0/lNljhBnjb9OgHPQn+n05NVGHJFpWu9dO79d++vcjlSbS7t/q/us/W1+qMeU72OenGBn/6wx+X581ZhLfe/f1/r1/SNKSMylepxjv6gf56H8OjBKbs/Nv8ABvyf5r52LqRlQnsPTJ68dx39u3fiom2rWe/9b+Xr16gTyRAqcDJx14z9ec4+mfxOBucHdfO39d/X/MCOBmiBIGSCeP8AOemeemf0qir+7bTt56u/o9ulrfO0p4pUuBtf5Tnpjg/+PN047cdef4Ynf3bN6XejtfT/AIPn+N4y7W3a/rpo+t9/ueplXNu0E+7+FycEHoB+eevTH54FdMEuVXtff+u33dOgO/3W2VtL/wCTv0/SXk3x68ZQ+Bfhb4o8QyHK2ml3Mi84O/ZgKOMZ3Edz69jt68tg5YhWSlZ6qylps+9uydnq9LajkoqMuZ2T6vTTfT3dX0em3R35o/59f7Ul1Y+Nvip4q8ceMvFMFiNY1vVjZ6HYj7XqkPlTsbcXPWOGO5RvlbqpPI4Bb9QoVJ08LFctrR0a/Hov8l7rTaTR85jY01J2aTTdrWta9r+uveT6dLnzFqmt/DHR0MGleF9X1VhLIn2rVNQiQmCaBdsgEI+WS3uAzDAbdHxxn5eWm6k5t+9FNPRNu+2qtZLTa63tZto4KtOM6a5Wl72lt3ZWet9na6Xu226XOd1T4jeEU2x2/wAO/D2xUtiUlkuLi4aaKHyZ3VpXA2XTt5rKPlVxhSqg7e1wbju3otdU3bW26str6PV9NDi9jyyupPXXdtd9r6WW1+9lGWjjxN18TPCKpmf4ZaHdrHLEbiBJp4CqIhVlBDYBkO3LAtyM8gndxzoTvq373bS3kvetvf8A+R+E6/ZRjT5k29fnZ32Xl6ffc5u48U/B/Unna+8A32kQtGnlpY324xys53uA4YlduAo7YyWIBVcZ0altG3a+91u7XvezSvd3s33d1y6U0mtbSa2k9baq2ltb6+afXRI5seF/hDrsP7nxrqekzzyxJ9lvLZZktzLK6u3miL7sMQVn7sW4yAGrmlRtFyd9P0XZrV3V/s/O6Udo39oldpa7LTRXWmnlv263sUofhnq1lc/afDPii21qASFbUwXItXf5C2SjMoBAUscnjGCBkBuKVP8A4F1fr6t6el79k7HTvv1W+3r9rTW3V2vu27xZf33jKxgji1rQG1CJD5a3DW6O7k44E8W4n5cHJOD14wdvPOl1SWvl1+Vte9332uy1utdtdrLVJKW6T123fV72Og8O+INPt5LZIb2fTJ94Jhud7wiXsAWCsmDj5gykdADgBeOrhbp/1bVeUrW2t6WtsdEZprq9d9np0fXRvrf/AAs/u8/4IKfGLxr40/Yn1+DX9ebWB4L+OfirwZolxJcSTmDQrTwB8L9atbQO7OwSG616+ZFzgLICM5zXy2ZU/Z4hK7SdOMrKyXxTWzjK23d9fI9TCSfs5K70qNaO20Y/r+B//9H+iT9oz/gsb+xh+z9BfwHx/ZfEHxLZsYo/D/hK5gvJJZsZKG6Vmhj2kAeY2c/3RXsQoyl0a3V0t1btrf5273dkjz76NW0vf7vvfl0aelnufgH+05/wcd/FPxmuoaT8D/CWm/D/AERC0cWqajci71Q53Ak7YogHIIb5TjPp/D2UsO4vqrK99X8uiXnr53V/dxcrO+l3pvs1o1677qTt0Vnzfz9fHT9t342fHLW7nVPHfj3xFrjXMsrOs+qXq6THuySkVqJTb8biFwpPYg/wdSpQ0Wis+y1T72el9utt9btGzlaKX3NvX1asuu+r+Wso/HWqeMb3U7uQWzMRgma5mkyoAySc9CPRT1zx1o9ku2r30V29tVfS1r9e900+bWM0kltbp+tvP8O7+E4mfX5GZ7ayLvcTEo82SM/N80iIckRjj5zt9sgkVEoqPn39Omqa632f3fbudT3YtJXvb5PbppfzTs11ucrf67Hptw9rbMt3qMiHzZcF1iLD7qMMnzAfcHPA3cmpt1/VdH2/4be70VpZ8ikrttX10V9/WSv/AOArtpuZ11dvZRxXOqSJLfTIZoYWOHhQjiScEllYddjAHA9DWVVOULW66aetno+9+qvtoVCaUrPaOl72791b8fnLQoWMUupK2o3RkSIcxW5JV7jDbdsSnP7snqw7cjGM0UqUtFd663av12jqtrdm0t9hVKsUtLaO2mv366302e/e/NHpNO0mbUroO1zawvhVjtJ3C28GPuiR2YI0nQcdDjBPAr0FQd+bWy6f8D8d23vq2+XnqV4tcut7626W79NX0t6vX3di7try0LQ3UMilThZghW3K44aGUZjIA4G1uh5zgmt40+V3fTV21b12T08m/m0nojNbp33frf5fe+t18nGKw1q+tB5Y8m6tDkGC6AnjwT2JJMZHYjBP44rVq6aSvv3108/PXZfLRFJa3s3bVt6tS8vv67d1opb00miajHA8tq2m3LHmW3P7k/7ybR8ucE9T6bc4rD2Mr7Nr8F/nbbRtW0d7JxtzS+5bO33rb8V532KQ8ONM8j2WpWl0IlDCLzRFMR2ARzljjsv/AI9nCipPmV3ZLWyVuuq+fp5O4KqrWve7tbttZ+fRb+lwjtr+3UxT2U0aDrKUYA5/2x8uCMngk9ueq7WXZfcTO19N7JWtv6eff7jPkuJopSYmmQxEeZEN4DDPX7+B2PQAj0xTUV2WtvK1tfVv77bJNyTjzT+KPlrrtbqtrpuyabbfb+7pNr+qwqDBdE72P7mePz8LkZ+917544zxnBqZu0Wt7b6rT8t/W2nQ2+Wmmvd/8M/noyG71+FwG1Cwt2bao823TyX9iF2kfqPfsa5paJv5Ja6+r013t03Wt7At1rbXp/wADXVf1ueNeNLjTL8E2V4Y7hmw1rNw3fHOQDncCMkfTJy3lV63M7X0T06a+WrWqVult+lj0qUNFfp93fysrdbPz0Vz+yj/gjNoUuifsteAVuoyn9oXN/fjOTuV7p1QjHUEdDnPP8WM12YKV+tpPRLdeu1+ltrbbW5ZeXmCa6fzWS9L99NO/Lol6n74xaHDe2C4O1vKyoZcZ4xxkdDjj26EDlulfFJLZ3/Ht2aWq32d9248NKTTtsr2T06Ppe/bsr7X1R+N//BUXwGuq/Afx9bXccnlQ2M9wJYo/MdBFC+cYGQDjJwD365NcuIg30VrL176PS/8ALteyTVre76lKbST08+1+1/eWlrWd799Gpf5+njO1Wx8QalbxMXgjup0jZhglVkOCfQ+owPqcfN8ziKTTnZbPa3Tv5631St63Z69L95yvtptfpfX3o9Hp+n2vpf8AZe102uqCyWQLiYPgvg5JU8dCOOOM/jjC/F5xSbm3K7UtVpe2va+1721V1rpZH3PD2JtUjTeuvfa6b8lu7baPXRXP2H0W88+1tUzkugLMDnb9D3/L86+cjHlXn1/rW36+VrH6A4csrt63Xo3bffro9Ffz6HVwPsDqF8xSPlOM85xxxz6kfltySz+a0/p+mnpb5tS6IU7Wbau23ZrayVrvn/8AktfWxpRxxzou1cSEYXoMMo6d/vcde/pgCq5nG7Wvr19d7X9fvuRUunfolrpu9db9Lba39HojKvLF5XkErFN6hHTOGDqeOSeck9+fTdghd4TdvK/5eVut/l/etePO49PTze972V9tFur7pWbMt4lQGCTIlTCqXA5HTg5IJ5I4ZicDpkGr5k5p2td/jbf10vfvr1OaurW17fr8+q3t6LVGfb6ZLa72LmRmYsHPVVbogPHTnpj3xxWktI/L7m9PP/htNL3Mqe79Py6/LtbXpbU14ICvzo4ZsfMucnr+GTn+L69c4rlqbad9+39b/I618Ks/Lb8m1+a07aWOz0iOTCxpIWid1OOfkf025O1WHpjjj5s5rhqdbrTm+T3s+mz7O+nTU6aSu4u/TbtvvdPfTto/8LPQra8MdxaptjbYyhtgy4PTBXPO488Djjr/AA8Nd6dH66X/AFfW1156nbBX5W/6tpvZWei3flqke2aVaxXmyOGOSB2AcnoxYAH5cEYUk5x+ORXky9fvvf3unayW727t2UT3cN70VH5K1u2++uu693v1TPc/D/hpLmCKK5t3uF2gsWHJxwSM53HGew+vIrlrz5Ir7l666fe+q69TulhVJX309fS+mru0vwsmuaPp9l4KtdPjjItmgs7hwUuQoBgmA9FUYXA6/L16DJDedUqX7/g9W/JPXrrbt1uTToNSWj32a7WbXlvbeV+r0OquPstlJbRajd3BhLxp5tpGJCYuASwGcnb/AHsYxk9QKypzvzJdU9deq66N+fT11ah6dGlJqzs7rTl6p9H7zWm/2tdNDWh0jyJPO0h2yWEkTTD93LG3JMkRGNxBHy/iDyRSqSVutnp1Wu+vmtPNa9UjVUrNWT+d10/H1vdWVrtnWRXSQRJMklslyCBOkC7XLjr2PGfUcdsVxVJdOqW9/O+unZvVP1XU0hQU3yzVkrvVb9fXr3lda33Jnkj1KPbc3csIBDrnIdmU7sYOBjgAMflO7BHOVwdbl929lr1tvv3b9dPR7nSsLS0XNorq92t+u2q7aLz2SlDPp8Ek8OoWtvdzSWw+ZcOkT9iT94NkfN154xnIK3zc1t769ddfT8uuwSoU0r3TW1k7vz6R6aeVnuvdl6jpWjTTwWt5cbI4LpP3MMcy71k252uA2QQSM/Kuc5xwdrvvff0tfXa13Z9732unq1GPhjfpZ9lfS2unk+nyWh0Vn4WhmBNwEE0bmWFHAbbtyQF6/NxwQR2+XnNOGsv838v1trb8Lyy5nUdtk+t73XazUW7ttWuur7M07UyBrjNqAqAQrHP0ZzgeYAdo47Hp6EAAU5y5ettL+fy23+bW66I0jFR2Vm9L3vp8k3re718mmUriH/S3gYsLi5CBYwX8qMD72F6gc56tjGT0FQqXtNdUtNrddF3XTvv3bZo1ZN9PO1nvtrpZdfw2RdKQ2Kskkct2IlDKefL81RkK2c4HHDKMfXIroi+SPRWt5bb6fP1V9E73jhUpuTVo3+f69b7aKN+6uuXrdE1HUr2O2Q20FrCW3PsG8lB91WI5U49e/pwq5t88tV9q1/7v4Pz0fo0m+Vxhyxa3dn01+/1t6vdLRy9EtdIs45ftjTSP5gXESgrHkc/N8pJXg4yBj6cVNeG7jfR9r9NPtadtn87mFOT+d3669db2Wvlf5JnQiwhniQzx5SOTJVWVWIP3cDOSBjn1xn5SCGyhB/NrZffr71l20Xn2id8ZWSW11bV733v8tVol33UpV5r69N9Fp0Nn5dgItzzOPlwM8HnBPI6Hn23fLT06f8Hz1t116b/Z0RKjSg3ySTe689r9dd12Xm9eXoLSzs3UXdxLEIEGNqMBuA64OBggE/0x0U2X57er8+2t+++psq1eNlG/nr06aO6Vld3bflzJ2K2pWljqdq0CxCa1+XYgb92GRt4yQBk9PTHIAP3m5Zcs2099dbb2e9tLb6+Tu76xOyleOr30d+/Tzv36b/MbYwXEeElYQxFAsdqflP7vPQFskYC9ACO2SSqtUWmpJtpdL/jondd0rp2bVtx1Kiha+ib++73e21/O1/KxaS7tNPh3rGbj5mDJJlhGcnHYkfN6YHy5zyBW/NFf1vtrbzvfpbX1l14fDttP+bXTd31/G/m++7cbVnrj3UDs8LRw5/dLH/ER04xnHT0xnkHjae0j317eXlo935LVX6nTLDStorO62/HT06fJHQ2n2GdTcXrK1ygRxbEgbY+NjEN0PHOAQenAwGcV1W710+T3f+S72VjGNJuXJa6T2t5a62/Vv73y0LzUlmuBa25VTkBERhtHo2fulcEDOBx1xzWGIenltd9+6V97ea3tZ6Sj2rCtLm15tWuj/XXRNq+9nZ6SlhanrDaJGY77yJpJXYpIqhmAGchiGPygYOecZ7EZrPByVKU7689ne+yemu/pfS1tU1qbVaDdGEcM/wB7JXmoq35O66JXX32XLxXg3w7qH7RHxI0/4e+G45k0q1ZLvxNrEKt9msbGJsvC0g+Q3E5RkClweeVPG37XhbhSpjcwhirJwUlNxsrO99Pv22+Hs7y+H4s4pocL5RiKWJko4mpFxjd2le62s29LrS3TTltI/fL4Z+ANI8AeGNJ8O6PbJBZaZaQwRqsaqXMa4MrYAyzkbifcnJ6V/TeCw9DA4SlTUU5KNtVvotN9dO/yvblP4zzLHyzjGV8TiJtzqTk1dtvlvpq7aNecum12erIuwA9gOP0x349MAfQ84q7cz59+idtvn6vTb8LS8+XJTThTtzWsuXTfd32/K/ZWsVZpCVOMnr0OeoPHC/geR6cYp8yk3bpo/Xy+aff8bRzSlFWldPXutPn5fh6oz9rHnB/E4/nQZS+J/wBdBI1wxz0wpH5fU8/y98ZYIXX1f5lzHy8Hn1H1/wA/z7VnPprp2/q+/T9Nxvpr6/jp+v8Aw4uSg3HJwOQeh/n9On504bP1D+v62/rvsU3chlde+cp2Oe5+h9ufYGrAdGnlqZOCQQRxjqRwDzjt/D+IzRZPf8r/ANf12D+v6/r8y1JsuEAbAwoI74+6OM4xn8c+gxmpUru1tl+Pbbpr1f4+6X6f1+qf3/fofmN/wVC+J9v8Nv2a/FKSTxrdajbvb2yvLsfe7DAVRuZiMghFHbPOcL9Zw7Tg8RNytbl0uvPV7rTT1XdXRxY5zVNcja111tdaba69mrdbu1lzfwQa9oPi/wAX69q+tw6bfXqTzvcSzXUbwQRw3VyyRzLPcbA0RJC7gWCYyfWv0CpVoxpqOitFNvRa22a9Gnr300PkcR9Ycmnd3a31SStrazezXWyv8KuMX4X6nJAtxqmseGNHaOJ5BbXmp25z5E3ksj4kyWwxcIAxZFJA4qHKl7Dmja7mnftp069Nurd0VGFVxTTdt03fR90nzaPTXW2umzllaj8LfA9ulzLqfxR8PXFxDJdxKmmB5YjKirLF5cgbDxOW8sMoI3Lg4+62kJK1tNOz0v8AKz7aXbf92yZzTVa9l6dbvfS/Tbu73slu484nw2+HVzdPBH8StHgia33veTxSsvmmMO0DKOdyuPLyxbvUScbt7at62vrZ3+b6W0a6s0puppzN8vXe3ltotb7Wt16uXLS/CjwxqF1Etv8AEPw1J5jiNhLJ9nK43fO4lddqL68fex2JrF7t9Ov9X/J/PVM76L02+a/4dvXTt1aWhz+o/s/TCdrnTvGng+7tcW5Krq9qp8y5kdIcL52cqVPmH5vlwcrxu5KqUlJWsttPLr5PR9vO+rKvaWj5Xa9m729LLZX0uvO26ORvPg/4/wBPLRaYwvQwimik0q/WZpGkZ9ixiKU8ssbZ+X7nPIxu4pU+2u3Tfy300vrbrtGxqr97J21emuq11e/ovis+8MyW0+K3h2GIGz14QQSM0qXdtPcW+4/Ko5yoDr9zHYYBHJrCUVFN32V7dX+Lt1/m9FcE2n+VvndJ9bO+unV2Vmiq3jVzIY/EPhqCdPvPMsTWMysw27slMbgecc88noCvI7O+mj6f1f8ArXS1jaFR36ffu130/wDkrvfax/bR/wAG3upaJf8A7DvxTm0qK+hgH7VnjeOaO5m8wi5X4Q/Asv5TbWzD5bRbefvb+v8AD8hniSxcEtvq8fxqVX/X39T3cA70ZP8A6eP/ANJhvovXr2voj//S/l11nxffyo+q6xcyedO7SW9pNMfNuN3IkmfduSNxzljk9On3vs4wUN9U+r1fpbvt3t03tHzZfh1a6du3l0+Sv7vEXetX+oW7XOpsLWz5kREGzei42ojHDHdjG4kjn73ANL9X6/8AAb7ab3vazMHT95Tu1d7LW9++6fpvfazTZzMct74hklCN9g0ay/eT3LtsghC/8s3J3F55VzsAIU8HI/htW1ur6b+f97aztdX7p77mtnJKN7JLfr5aX0td7Ja9zn9Rv5tRvF0vREkS0BUyO332Xbn7TOVLbRgFtgBAUZ6ij3Vrpv0fnb5LT0/Az1vo3+i+fT5Pr10KepX6WKJpukubm6kHlXF795p2xhktCDuEQbruVTnr3pTimnvo+mvbfa21ktfLpEdWcoKMo3k20rPRa636Lv8AaenqkULi2/sGBbiTE+puA6wMyuYA4zumJOd3p1OeT/cXjd4uy1ae+ulu/f5312bvc3pV5cjTpxvbRptt/fa1rr9FJ6mdpOk6jrMr6reMTGsvmsZMP58m77mOhQDCjGAFwMAZFdmHw3tpWm3DR3a1eq2V1e72vpbs38PPWrON+rk2u1l5dW1pu19y970yHSrW+tI0trlbHUlBRYrvC286jolo4/1JA4ZPutn2r0aeChB83M5NbJpb36a3fXq/mYOo5JXS8152vddm7d03u2tYmNc2OoaZKIbyzlhy33W+aOTP8Ucv3WGM4IJI/hwDlt5QXK1fRbW/K3NHy15vLlVkpcvtPfs92vPXzfk9rWsuW6crvl2tO1zUbJRCjC6tRkNbXaLNAF7qoblQc9RgjtnI24ci7v7v/tl28/w5p9Mako9Lt7K+no77u3ne11oi3JP4cvJGSezudLlYcz2QE9uS38RhJXAOOAo+gBGGOXl95atdHonvpfndtPLTyN1W6Ws3d276dG93s+nd9FJ7aLPIhOjXtrqkKoWKKWjuE4yd0UmWyByApz9cg0/atbwj31d+uy+F6Pord/MiUo2Wsuq01V+vra+yb7q6+HDK3DsEuIrm0n385GxgBxgjqehx9cEN95TnVT3eVRvo2nt0ur6X/J7bErkTUlKel+nKk7KXyu9H8XrsjcttX1OEi3tbx5FQDiba6L0yAJQR14I4znnHBZOglvUld9LLX00Vn56NW2lc1U1Nu/u/NvT7t9bfly2vK/LrIkk8q90uyu2K/vpIF+zzscZ2lk3Dgd9ufqBlc+RR/wCXjd9Vonb56Pz/ACvdMlwlOV7aRaSber7a73dnbR220u1LJuRol2x8ue50u5DkFJlMlsoJ42yjcxAHU44zyTkNWVRrRdHrprt6K3ddL93dlzdlpZpa66PVd7fO1n0W7tHndc0q+gtZLi3urfUoFX5prSRJCvsY/lft6ceoz82E7NNN62b+5PZ3/HS2ujsEHdq6bWltfXy1W91aPd9z5r1BZ73V47Zy6vNdRouchhufZgjjHzdAWXHAzivm6vNz+7fdrTXzvfTvvbS+t7XPXp6wi3pdfirXvv8Alp52aP78f+CY/h86D8Afgzo6BfNg8J2csit1aS5YzF2DYAbD9ugPAbOa9fARvHd7a+Wv5K/o3unvHycwm4vSz2t01Wl27N/itr6XTl+4On+G7u60pRDIizCIHPynqowP05PGMk8gAV3bScl1ba06rfrolqkmte+6PLptXeny/wCDp3017WtY/Nz9t7wbfat8M/HekanbB1l0PUU39EKm2kAIx0we+Op6tj5c5e/e+l7+tlt93e9lbySl6FGb0Xz/ACa15d27pW1W6TbtH/Nr+MuiTaH8QPFOlz4Btda1CNGDZUp9ofvtHOOOe/TbmvmcbKUKlSKjpsktWlzdfS/l+Fpe1gpdOi6310X6L/PXaNv4H6g1h42tZFLKjHBUk4Yq4x69h7+gzXzeb017Je6rq+r9Vdb7ddFp5ac303D9RrHRTel7767W26v71bXZ3j+2/gXUvtmn2zArkRoNp4PzLk9m79McYIHOcr8Zy3u2tX0vb7vX187Ru+b9dg4zbct5Wej026Oyeui1va6a3bPZtOhLBlYDYRvXjkE8gZ75OeAD6cE5rHztp9333/r7je2tlve3r6LW33/fY2vs4tznbguucjOUbrnHTsMY+mDyVFtpqraDknNONrrTbTyuuvfbrrsY2q2091EBExhuyUdZGJAfaTuU+rN90YXnoR0C607a669t9O/z0v8A8A56sVBbvpqle3W/W3d6+l/dHfYBJDE90EMmFLBsh1I4G044yRnocds4Fap2d+39ef5feedNX0lv5W+bWy9bOz8tCGa3jfbGo2kYOSSN2B90c46dM/Xj7rNzk01pr/W3Lb8u6vtFKKjZ91b/AIOj7rtLR21t7yR20UTY4RjxtyRuJ4xu6ZyM9APrjNS4px1v8X6f4l/Xc6YWlG7srWWi21/HS3TrvFL3uh0+KW3dMSKgmxtY5xG/8O7jJUjHOBjpxmuStTSV0m/O9nvstVbV/wDBfxG9F69PJNbpdfyW+3fU9M0/fdJBdzW8aXULCOVU+USYI2SIy43DH3uDjjJ5rzMSrWttb+r731u7X06dXL1KUIystbp6dOlu+l9Wnf56tnvXhb+z7zy1fzbW9VR824sjcZK4C8MQByA3tt6N5FX3E9e2t9Hd9d7K2q3v1s7yj7uGpRSi1zd/uurvV77Wa8tLI910iG9tYoXF9uCsqoqkAqM5IfOSTg98dhk5Ary8TKbS7J39UtO2l2+z3vqkexSinH/gX8v5l27/ACVmeyWR1KHTXuIkivIZGBdfNZjnbkjZzs6clQevbIrjtf49NLX/AKvvzdv/AAGz5emNCFru6ur7/h8LbXRXtqtZOxv22vWCW37nQbK6uHjMNzaTwu8i7vvSw5+46+ucAcDG01GlO8o6t6Wb37bN+e29tW7xO2lSj1vpqmnu7qz8+9tOyaSubWnvpV6qrHvtp15CNEy7GxzEo6Mq8DOcn34rFycrq/3b6rfbvfR3vbS92o8tVyhL3VZba636rWz281Z26XZdImT93b6YtwQ22d2gIDDONwOCQ2QCCM++M5rKcOqT/Bp+fRK/z2d7XKpylJpO1tXfy7+a1vbW9+l+YuwvHCsjNpc108abmVIS7RqAOB0yFGMfdJHGOCa5/ZU1dzurdebr2W2t1a6tsly3tzaO/Ru2q3une+2i13vdtaXW51lrL9utIHZP7NtZFCqZEVOQMfvlPK4z/Ftwe/OKqPsl7sW77+b8n2S2Vn12jpzRySUrye+99F+qt10tv6o0/wCxbXYbaG9USuPMW4iuWZCW5Hlsu4K2cdhz1z0rqjSUk3fVfjby1drdnol1uYzm2+iWmu+u3TlW/wB++lmjpLdUsrOOze8kaZVBaR23SZzjIbkkHtkEgHI67VzcbT02vft5Pv5aNfdub4eEZShzX1v5NLsuuu+2m7vdFlryC1lhkuroukoRI9o3kvkct0xz3x6EAH7uc46+879er+WjX4ddOVWaj1zo0435b7b7+ej17vp5O+xPeyxXFvHe2ixPKkvlEyAgxjOGLLuyQR0wRn1JU7uunGMYp7dLP/O6Xrp6NXOWTd+Vu/8AXy/4fTXRm1b75FEaqk4dFAAA8vOOcd8dSATk+oyNpLkk1u/JPdPve6XzWnnqR7yv+q39HzaWt0j/AJm5oF2LW/mt7i3FjHGARcS/LFIxI+4DkccY6/8AAuqZWine+u9n59NfN+afSzdotu6a8vv6Lq7fcvnZnQ6jqEul3sHlPJqH2wqUCqRCkbEHPA2gj6gY9eaicm20+6fy/B/JPTysc9KK5ves9bq2jurrXfS6/wAubeWvCl9BPJqk8mQYsRxM5Ma/3VCYwTnHPP44IXDnkm7O1tNevdXsra+v3pM9SnTpyXV6W07tK73utNbpXSe+yNmz1SW8iSG6g8t3DCQx8FQfu5Jx1OOnXoM4BqP3iestNei69NO3o/nry5xwKi/cuvVt/o7317W3u7tFhLvT7YR2E9pLNEZRkxvhlUnlsgjdz2BGT61andWe6287/Ja997d9EdkMPXjH3HdJdYq33adf6dmjppFS2gaSyhjgtUG8PKMlRjP+rYN5hPZQvODySdyqWEqJqUXa/vX+7a92tNdle9+W10RRxEbyjUSdtNdNVo9lp305el90iu+nXs6w6gLmGcqjTQ8bC8fctH8vPbHr/CMHdVLD17+9O6XktFe2q0f4XW2hvL2M/sJvS2r91/Po3o7perXxYMZu3vbi42jYxCvGEBXA+8cEbRnGckHI+mFbgru9ntfp5f5Ld/K/venRpV4qPv2UkrbNW6W2d0n/ADKzfWzib9vaQzRMdvkDqpD7W5HUID+W0j2xg0nCPbpqr2V+2uvltbuo6RlvU9otp7pJbN3bevXre7aXk9RqQPMrW8MZRRy11LuLuD/Dk7gQueme3U5XbVGjNuUpzfLtFJduiXNr3/8AbroijJUm5VNU310XT+VtrRO+3R20ZnX9ibQmOLUI2O3e0g6qT/DnsB65GOpzgiuapTnOpyKV43t5XS2tpo9OnrF6HoUcfQcknS5o+fNbRrpt169rJKycvnrx/wCJL2+1HTPBnhhZdW8ZeI7wafYW1uDI6K7YeYxq7YjjXJdtuO+SeK9nJcnqZjjVRjG/s5JNXupWt6f19lW5jizfPcDkdCripWpSnFyg1d8t4vSzfdX1a2t0bl+4f7If7O9h8F/h7p1ncW6TeJ9ViTUPEGosoFxPeXCB/JDMDIY4nJAViFHIGea/prh3K8LluChB0YRqqCV7t9NfS2q7P+6k1L+I/ETiTF8R5pOU8VOth41JNRfLypX292KfSK7fzX0PtWG3EYHABxgjn39hg8/0wK9eV7tSfNq3qu/9L+mfEuMObmjFRbSu+r0Xpsl/nfRkzkAY/PnoBj2P8x+NbQb5Utba9fPsFldPquv9b/13KUh444Gcf5+v/wBbsKEkr2Vr/wBfIqUpSer5raXfb8O3+d73ICCQcduf8/h9f6qyLJ7pfdf+v67EqRFV3E5JGD2wB+Y/znjOKiUmn2XRqz/B38u1uie5nOKja3X+v17ffcft28dO+P8AP51m23v/AJf1v/VyOu+nb+v8/vGScoRnk4/n6cfz/Krp9X/Wn/D9vvAqooL44LDOPz69e319s960AnjUshTHOfwI9e+Oh7n8MUnuvW34f8ABjqVVyOqLu4z0GOMZGfxPvxkip5W5pLq7pdX+Prfb0djOV0733ez/AC2272cfN7M/l+/4LoftEDRn8N+C9HMV5qtrKbn7NNHHLbLMGZc3MEjFZAqZ4YYUjOCflb9ByTDwp0+eUFzSirPW6fk7tXu9dNE93ZHnY+tywir25m7rzd9b+i76a+6tOX+VvxR4l1vVC9xqOozOssThYIZ3jjWOT55baztrconkxMTsVgQhXhmydv0bVOaXPFS67aeSaT1v3XLvrsmfP1qkp3jd3XXVvRNW69l1jfpe3KeZx2mpXg3rZ6rdTLMpRRFJIu3YVRgXVg5ljO0YO4kY5J+XaLopa042ttr+m7ST6b2vYwpzrKb/AHklFpqzd7fet9flfV9R83g/xjdp9os/DuuGyRQ8TPZTf6lm2RyI7xgOpm/dFgPvnbxkbdHOm0+WEVe219L6arWze/ls2tWXe7Wruk2ul79+unm/vKH/AAr/AMeWsJM/hfWPs8rSGSb7HL5quhHmKVVcoI8gFTj7wLEAhayaXa9tdN9WtbbXv99m+5ErpdddNNteutntp10S7pGbqHw48VtmSTwjrAR2A3m1mabLLvCMAig7hyFGcL3HJrGcJNpJ2tfbrbS7106/aXbXcqDkkuWTSfndW1bW0bPfVN+d1bm5GbwD4ll2wQeGdXVy5QbLK4EjrtJUEqFjJLAlMZOFOCc5bWEVFpyimvvu272t1f8AhtfzuuXOdWUbvmk7aWu9fRa/Jb9fd2jhXuj+NdGucRx+I9MmVEQN/pUIUElY5VxgBdu5cjGOTzksxU9luoa6/gtN9Or3Vv72nKEcVO2iad9b72vo+2j2089LsfF4q+IGm2slvDr+rSZbdILwvcgiLcqbVkjKhQCwByCPVsmuGt7Nxkoxinbbut/7r9F91tGdFPEvmSastvu7btLRP7XTfeJH8T/EEZVdX0rRNch2BHF9p0aNswwGXCoxfJySSSeMkYFea4La1vJ6+f8Ad5t9/dtZbndCtB9Fvt27O3Lv81a3W9z+17/g281ix1n9h74q3lvodlpC/wDDVvjeKS2s2fynlT4P/AotOQWba7qyqQDjCA85Jr4viFuGNpKyV8LB9v8Al7X7Qfa2/wBx9Bls/aUJy/6fSW1vsU359+/3n//T/kelEsnneINe8za7brS0O0rebfuIsZwFtlGc7fwzgmvsVK/nbu9vR7XVt7+trI8ptN91b0+7z9b3203MtbjV/GF9JNeEWVhZW259qlLO0tIxwPRyQOFz15DHIFPZLe269V/w+/8AkhX+7e3b07ev+RU1K7m1gWXh7w/C66dEypDbg/vL6ZT+8muJAdr7pCWhMmAiHbkgfKX6N37PXr5b7K3lvyyvcuD31v8A5aPS+q6LfpfW6M/V9StvDNq2gaUftF1cOg1zUlwWZg4b7FbSDLRvCQIyV4cnGApxRe0k7xu+3T1/JvW2+rSkR9p/P+vu+fzAPB4egTVJgkmuXagadp5jGLCBwP8AS5pM7GkI+UxkE72zg4NXGPO7RtdJXat98Uube2j0+Wrjq+VpSltbS+vy6ff07PVHPW0TzXX23V3yjSNIUaQM8pPaQcgxsSQqcbcc5rqpYS+rvq91u7f9ut6a6/dJfZ5quIUb27rTW66Nva7fqvJRuj0O2bTtRUR6Mv2O6WNlbTpnPk3ORgG0k7O4yNmWycAV3RpKna101/Wvw2d2/s+lt5cMqid3d76+fy1sr9fedumqUKs9tNbKBNayxTxfehlyjuSeibjtGAeNp5HJPGa06PX7trL/ADstld26XEm+Xtpdq+7X3/10T0NjSfEc8Svb3TxT20eALe/+Ydv3cLEbwRgdN2Mc9SKiXwv+upgp/vVzLa93d9V/29r3bvLVPpcsPPoOo3DjMmjy7TsbJntnbtndhgpJyMDjGOBWP9enl+p1c6mtLLv699rrTvdvm2T+LJ1HRLu2QTLbyXkSfvFnsmaQKAeGdVywHOTntxg9WuCTau/Veny+f2tvNoEm9ujfo/NP5W1em9pfZxV+1H9/bnyACMyRlo5Btx94DBznGRgf8B+Y0VYx5Vb0Xz2bd1fftfpdWQ3zemvRu+17d2l+b8jbtPFWtDy1u0ttShzsKXkAbKDurq0ci4x1+b6Y4Xi5J8ysm9k3po9UrK9vnddrvWQ7ys+iVtt/JLa2677brY0DdeH7x/ngl0edmBd4SZLcPxzsbcxUHBIUtxnGSBWrUkve1t36X+5a3vonbtEqndWct7r8Omtrb9/usyJtDukmWXTdTsdV8z5gkMnk3LD3il2jI9M5PQZyN2MlNN9uz7W1Xfe+zXlfVx9BNWclo1o99fL5+jto9be9nX0c8GRfWk0BZcDdGw5Oc45K/XHbnJ4rOCvFt3i/v01vfVPZ6aPzsYv3r30vrbfrvpbuusfiWm6PJvFetz6fI0NnK9q2wYMb7WYHuWPDZPqo9CRk1w4iqoc2/bv22+Hou/XyTl00Kd9Vo9emmuvdP5abrfRHHeCppvEHjfwxYXse973XtMh3xj96/mXcK7TgfMDnkgd+hxXjqSlJ22Td+7u/+3bO70evL56uXoP3E/mnq0vLv326aJxR/oVfsc6eug6J4F0gL5cdl4a0a2MX3dn+g2jYxuGDyRj+Lrxwa9jCe4rLq7ydtFuuvNdO/fpbW/u+Hi37S/S17Ja6dOsbW6rXfd/Z/bLw9bxf2TEU+VjEG+XLBiBwO/YDkFfxya692/nbrr1afTfbystmcEU7vXsrdrJbbaO7e3pazPlj44aAnijS/E3h7U4gzXGnXYhdlH76F4HDAbupOQPlPXPTNZ/K2mvbr7vT16dI6uKlLso7t66RV3e979Oj133Vk+raUv8AMW/bZ8Ow+FP2jPitodvEUt7DxPqUUYIzjMxcKBxzk/hnnOPm+dzCNpN66N6bLW3Xme2urS8lZntYFXvut/W1trW0tdreLem32fnb4fXhsvEtjOCFxIvOMYG4Z6kc4POQfwzXzeOXNRSb6u2/r0/4H4NS+hyeShjNXZ372e29tdEu1/8At7c/Zf4Z6usmnWLQuGLxQBhngsVUcDPUbV7t157rXxtS0ZStsv8ALXp38n8z9boz5qcJN7xb9bN33u7NP1916K14/WuiXHnQRsO6IeuST0bHTOCOwz9M1yPpfpp2TaVrfdpbm6633PVpJSvbvtvZeqf6q/kdnFCHiO4kOrAAjGCMdO+COOc+3JyWxlfm7r8uvo10tbTfW50Ro8zfN8mlt5bv8+ulrSK15A00aSogJTCkN65OCBwcgjrnjocda1jK+uzvp8lr0V9+332Ma1K0XZLTS7jr1tK97O90tEunvKyKDCWNNpAlkGNw4LEZ69z0I6n6E/xdEW2nfv0/p/n99jyakLSafbsvv0dk+mkrW/m+zlGIySmWUGIZOOgUMe3I6nHoSe/otE8i8+/XTz6+l03trbQr3Ea7lWdsYOS54AzyB16nPJ54HQZq7+5bpfX+rv8AFLfS9y0tHbtt+F9VbTXVPTra9jpbVSUWKXbLHswJE4IB4VT97dgZ6Z9AAcmuSvsvy3e+/S3RXb+7U1pL3tGvRavrtdPe1uj23spHoXh5gkawy5eOMZyTh4wT8qqDliD1yOgPTu3mVl8OmnR2Wjt5bNWs97ta9o+xhnr2fRuy6X1e3dbadea565o4WynhkeecRuVeG5hwfLk64kzke2ccehz83lV4rW76W0V/v+HbT566WtL3sNb3bWt6apdbfc+luvvWPcdElhuLiDz7giKYf67cME+jYwBk9gOc84AAry8RBtJX0TvrfX5KW6/xX6rqj1aP3726aJ639fTRdY/a978ONDYxbIdSCOzMxgZgfMAPBGe3GPUhsYPJXgnovNO34P8Ar7ju+ytNrL7++tnoultejbO9XVQjQ3EVpbTgc3CKBGzhQAy7l5BPYZ68kLgbuacubTW6b69vuXnfX82dVJ7LvZLpa3f16a/fdl2DU7W7mY6ZZSafcSHMbXGfKUg8gMy4OSM554yQDnNRZfK9vnp/w99PNK9jV0IzT1d+miS9V5dtFtZ23NE6h4ztbiJkW0u7YnFyvCKYwp4QqV+bHGcnnk9qHZXXT7u3X8m15q12c06D+G9mtbLTS762/KLvpqrpHSW0j3MjXkN2bKRgqPDk4UjjndgHOO+7/gPSuStG7dtelr6O9tmr9bq9vk1qJQ5dZJp9n6/L4b6u2vZW93dt9JDsxnlklgcZmRyCuD3TOFKN6Kw9MnJauenTmqicrtWau/R731e7VrJa76RUtZuPJZWTunZbq6vbTVu6eunfpeXUaTc6VYxpassEc24iBMKXZAcjaNufT3PocYX16Dukra9Xrs/81pv53il73nT+J62/penp/nsXb6Kylkj8u2ZJ325kZSFbrx1wNwwOoHrjNaygt0nu2rbata9dtXotbX1vY2pScLS6p6W1trt6vf8APoZes3H9nItwLWFVDKu4rvAYcDCdTk87wQRx0PFc0oq6u/hfRJaPv70nfyt56p2PSpPnjrpo9kvnvd7rTVf4tYs29EjS9CTXSxw+YOdo2qRjIZ12kZwQO3p8xGa6OX3G4vRq2qXfV7//ACK681nY5K0VGT1ej2tZJa/3nbVP7uljqdLjtrF5o7y5t4MuXt1ODP5X8DKu5sjng/hznK884uy6XTv2bvtfXp2d9ev2sl+Cfrfy6q/ry/O1jWaTSp1jkup/tCLKojWT93k54AHyk/THTpg/ewcG3u1r2++9mlZ/9u69N+RNX7r9e/WN/v372tLooHlupSph/cBAIkUDCAAgYYk4zjBX8QTj5iS1du721876rT7vK2lhU4ct797vzV793d28ttLu5oTs/wBlUQpmSMqoEisU4IztXaF6eueeAB1XmfxP1/z+b1/rU6oSa+duuzXpzXs79fRvXl1rO3uJYmKKu6U/dOAylVGSv3Tt6+2ehHVqnJP3U0/PtbtpbS++vbXVl06tVSSs3zd+1++vZact+mqdgaymljiEcO+7tXLjJHz4J4xzkdzj6cZxWTpuT5k3o16X0sr3Xdb37vmtc7YYiaSurfo13d7q176p3vZWLi3Mj26xasJml3bE8rnbnpvAwOD7dOTjFd9KpNq1tIrR209E99NVdPTTWV7xxVKnGTlonu16t7vre/8AVy9El9ZNHceS8tlwmwklkhIwTyBjjHGee5HytROrVjbR22srd3r8OtnfS6ts73bOyiqU0ldXs2tPN/5edtvOOtbwx3KzNajaknzl2PyxqfvLyBkscHOffAONud77/f8ALrtt6K3W6SRrPEVEuVXsnay+12S2V0769FvfRkglNvER5Vu8cXO5iPlA6n34PQH8zwy7dfnt2+75/drHJSrTd9dVa+7XktPT+by2SMTVNUcIksEjKrBlkMSF4gTkE9iuOQM49mbpQ3WjGTirp3tfR7X00ejv59NrtnXzwkqUZ76Jp9NdvhSbWknZ7aXV+aPzP8UvHsHhDT57i31J3vZspb2UX7ye6kbgQxxje5kdmARVHfIHWry7B1cTiE+V6t31vqmui8rdfLRnr4nEZXluC9vWcU+VPVWv1u7Sila3n5t2vL9Af+Ce37Jep6ZBD8fPipbzTeOfFVv52g6ReR4/4RzRp2WS3IhkUyJdzR7WkbII3EerJ/QfCPDsMshSx1WmoqtBSu9rtLbXul36K7tyn8jeJnG39rYjFYLAVE6dKrKmuV/ZV+jW+t/O6TezP2WsrZYo1jRsLgf3Qen+7wff2yAcYX9BrctS1SGi7paed2ua6vr6aqTv7v4nh41oKUqzbk9bvv8Ahfe1ntvra5fbKAAc44yeOn4N/nuc1hzc+vy08lbrft/w2xpvr1/rXpb7uvSxExyGPsf5fh/L8q2h8K/r+v6uBV/vbgcAcdPTnrnp/wDW44NPW67a/wBf1+gCIWBKjOzaD09Tn9Pr36L/ABCtv5v8NPLt/wAPuBZyI0U5Ht2Ax6n5s9fbPHIzhc59Nb7/AKf163Mqnxee3r6f1+RDnPPrUEEG4+ZjPt0/2se/8vfmtYbfMS2T7pP+u39eZCARNuHYfr1/2vX0/POFsZYXPmcMSCOg/Hn6np0HpznCltn2/X+vL8WpNK7sur/ru/x+8i1W4is7C8u5GWNILeWSRiARhVLYbkYzg/NnjrzgU6EXOvTXnHy36ffe+3braV1ado3tZLe/XVeaa0v3b7an8HH/AAVF+J/hfxd+0b4xvdY+0639murmw0zSbS6VYoGhlfy7maUb9yNhlkjQgjP8OQW/WcDQSwdKVrXW/wAunw9Xa6etntb3vlcxlzNRTatK+mt10WlrWf39G73PzAb4p3elvJceHPC/h7RPLdZokbTEvriCSNCkhS4vGdvLkB3NH5YBbBBXq3Sqdk9Ldrbvs9fv1jK+3nLzNt73t+jtbZPvtr1tY4y7+MPxAhdd2ui0jMitE1vZW0CxEFp7eRNsIMW1iVBweGwc9FlU3N8qctNUnbe9n9n8r9raJRfMmrW2erWj+d9FdWtdy5bWbObuviT44vVBuPGOrPKschMazyJbpEX+0EBDgKom2yAK2C2CNpAFbKnKKV1fo1bt6Wvda9LLZvclrRb9tbLe2r7JdmltrZL3syP4g+PbpJDJ4q1stMW+WK/ddzyjMhdScfOq4Y9+D8vRrhv/AF+Hnf8AMUk2lru9fN9+nXW1+utiD/hZ3xHsZYnfxZqEELSDBNw08kTFfKDMGPzZU7Rxng4xn5olGzt1vpbTfXfp1+1bXW+jCN0kna2rb/4N1qn1s7dbaF66+KHxBeJAnirU1RWgcSLLEkbGLKpIqbSwkXceQOe4IGGuEPddktt3rbq+sb72Tb9LX96JfE76dbO7/wA9XvvbX4kFv8VvHySefJq8OpJGn2cG7tIZmjitwxjZvMHIkMhBGAT6jAFROm7O/m7Wvt2tKzsr6367Su+XROimpLdpt7WTW1+y1VnZ9NkpKT7L42eMbIqNQ0nwlqkEcqrFFPo1urFACEV2QgsCG+fOTkZ7AVwzpddW2rWts97pXfbuvO9+Y2cqco6LWz1815Lv03ffe0cbVPiVp2rMza18LfDV2n3JvswktC/zFwVEZOz+6Dgbeg7NWUqa3tzN9dra383fv69NiYavbRWvZ6dNL/j1793H+yT/AIN09Q8O3/7E3xRuNH8Jx+GYG/am8arcadBcSTwm7Hwk+CG+4jdskB4TBHszgGInndXwXE0VHH0ldr/ZKbtf/p9X/wAv8tz6nKP92qf9f5fjTpH/1P5D7YXfi/XlhknW301I2W6ucE2+nWSNjzmUccLgcAMxPORwv1jbpyS5W79drdPP5aeievN497PXT89N2vO2v5bIo+I9RDSDw3oTs9mri3SSEbGvWLbN7D72yRudpPvgD5W6VGNrtpdfvt1va3qvL3dZS25I2vd90rXVt9dV+vpuVJmfwdZXNg8Zj8QMRHeuXy9jFKoZY0UZG+VCjK6lWUcAjIrKrFJqK1Td/Ra+fTRbrXTzljzqKbWtlfXv2vrpe/Zd7pIraBZR2Ua6/qlq97NcSP8A2TaOcmWVPvXU4YcCIkONwIkxjnJprDu6TbS06XtfVdk9bq1737XZj7dNN8unXXvr636Xv11uie3keLVDrF3FHeTTO5kWWNTAOeVWPhVI7DbgYzxjFe3hcvVK1bn5nJW5bWtp0/ryWzPNrZq3P2fs0uTVNN99fufb16o6O+0fT9bshqelGM3USlp9NIXzARkloRwXUdNv5ZyBXXdRslBO9vtP0d9rb/jfWyZl7R1ry57NapK3To5Kzs9uq7JXko8Qrz25ZTFLbSpyqlSjxkcgkdU56YJPHH+yOjf3ubTa3dPrq+y1unbV2Xwyl1nGy5X01v233s/TSW97q6O307xJcvBFa6tbwalYbQC1wqi7gKjhorgAyYJ/56FuOARjNS6V9pbu222v+Lre61l103NIV+ZWcbdNfX01Tdm9G/UJ9E0XWPMuNEvRb3SuWNhfPxwOBDJ8/JOfmYDtkDrWcoPl12++2unVXv8ALvrawVKak3KM232tfor3TtfTXeKW65mjCutLvbFyb6C4h2r/ABLmAj1SVSUbPPcYHUcBKyVPu7u3a3z3S1+/prfnNaNNxavJ/wDD9Wrvtu0tNdR2mapPbOxtrmaEpk7hI5QkdmDMVIwAMEMD0IwKr2fw62bfZdetuu/a2l7RbO9OMISdr2TfLsre7p1S1XR/edIdetNQAj1SxhkkAObm2QQSN0GSE2qz+5HPfAPzE4KOnNe3l2vtrr30t6PRRqm41GrxUVp9pu6vrfo7baLo7OV/dZNotneP5uj6jGVwNtpd/u5CcAkKykjfnP0754ZsHU5dVDXz/NWat92z0v7oS5U7cqfndb2t0bS7f57yyrnTLi0fM0cqE/LkjcmQM/K+SDnseMdAO9L2t1rBJ9XfVbdff9Pu9DSEFun2Vrb36rZ/5a3fSNELcIWk3BXjOI2j4cjjBLDgZbtlTyCT1ospJX/4b8r6enyJm5RbSei3fls+ulr7vmd9PMvXXi7UbLTRHcPDeBAT5F3GswfA6K5y4PUAnPPOFwDXIl7KLd7rf0u7fctNrba33KhLmv019dN2/lZdb6a30PCNcu9L16e4kiB068brAzb4GP8AsbuUPTG0EDoep2+JjtZW2au79vO3MtOtu+ui0PQovlTSj879uuz6afjZ3R6R+yd4Pn8UftFfDLRJIBOr+KtMmkCgspjhuY5WOMfd2p3JwM8L1XhoR953u7u1mvO/d66p6JatNXbRvXlaOnbvfXfbq27bfNr4T+/39nu3Ftq2nIekUVtAgxtwIo4kXrngBQAOSBxxwy+5SioqyvZpLb8V8Vmtd1063tHwa0rTa6OVm9vLpF3d/T0d7H7V+A44n0mBWjVg0a4OM9iM4/I9e/O7FdG1u12vujFrTRLve1trW1Oa1ne99v683ZK+2v3y8o+NPhGRkh1e3xiKTbMiqebd0PmDtwSeFzwD3wBSUUr7t73ttvbq9X301XwqyctoVHHom7W381vp3ff77+7/AJoX/BXnwBH4G/bH+KUccbJFqeqf2mqkEIGulDEgDAHIA785JxkV5Wa4eMacZXeqTflfdefd6reytduXq4GtJPTXe708l67X77dL2PzC8OyCDVbVwCcSr+HzAE/eJHTse/Q/xfI4iF42fTp8vVbLXZ38j38BU/2pT2d9Oy069Xbpe6+9OP6qfBzXM2mn4/5Y+Sdp5yPutn7vQ4PbsfUV8ricNCDk7t6/jdWS2+y+v43ufq2BxLnSpK32bb3el7adb3b0vv0vY++PDFxuETcYGSMdPLPzDGM8g59M/ma8SonFytZ6XSfdJK+8lrdddNL3+z9JQdoprdrou3V6u71T27q6vaPrdrbAxeapDo+1ivYHAHB6Acj0P1wBXPzNz1vqv6+56dLde0vRpfCm7Xl+VunmtekvJaCX9jIsYljyF3kMozjHByeOCScD72Op4JFaRlZppXvZX8v101/4dCqJNcr2tro9u3TXqldX87JSzo9KVH+0sxw4wVYnGeuAcHB6dBkjjavNdEZtLSzV/T7naX5Lv1R5GJpqM9G37t9tdVazXnbb3rXvfSxnXVsHjkQfL82QRwV54JJyR6c/gTjDaQlzb9v62XX5276tx5b/AIbaaW66X67ta9rrTmyriyYod21gF3ZOfmC56EjPHTjPI5AJ+bS7s0tb/prf+rfO1h6tO/qmrbbWfXd/jZpayL3h/wAxP3c4JKt5kJ6hlHROTgtxxgfTH8XPPVtO66K1767dX+llq1ZI0w6vN/8AB1T62029enQ9MtYmcwuv7knAWccRsWx8sg9VAwRzyPfC+ZjG4cqW7T12u10+0rXfVP105pe3h4Pmu93svl6x63X+XLY9S8N3M6zJA/2ae3OFyx+UtyvToB7j0yecV5VWV+a/f+uiu1bt99ke3SSha347ttd+V9NftXurWsz2vR9Ktpg7W90LKQbWMDNujH+1HkHC5wTg9R0Ofm4a6ut3dN/Pvo7b2fmvPRHbh6sm7NJW662110ulf58vXVpHr/hyyZ/9GvLpZLlcNbT7dqkA5wSMZ6AFd3HQY+6vjVpNffr8767u/lf11unL0oSclZ9l+C2t19b9eh6pbac0Ki4uFM1tN8siwMQY2Axu9gc8885zwCtYyilFPq+1ra/N6LyXld2kdSbiouOuvffr202/u22fY6mxkWaJIpYY/KUHyfNXD4GMAMMc8dxz14yKyk7L563/AM9X30SfytePfTnzRW1+uzf6P8N9dLI6GPfJhlX7OqJ8qt88bYBIwCScdf8AvrqcCsnNtWla35P10vfSOqjpqr6xMKknFuyTT6vfytvZW12t2SvYrzTQrtnuYlMasBMIDhgOm4qNuM8YJ/EDgNpBKy/PfyfRW+S++40nKL5/lom1p1VrPRL7S3bTeqjoW+sX5861FlIbY7DazuxDmLjCjr8uPc9gc4w2vJCyb+9JfLbXS3T8kYKm+e0nZWk762ffyTs7evqbWlXMN7qiIbOWOWCNWEzjcFz1wfUnAPI554qouMFpd/lfyXk3faPluoxxnQXM7Pq+v/A19Glt0aO6t79YWmM4ed0I8ssPlGTggfLgAjrwfU46VpGpzNLq9LfrdWu/kttnf3tY4ZuGjenW7W9+nurdWtd69XrzaTWUWpREzIm8jKHkiPI4AXGCM8c9eR8pANZT0l3t/V9La/5LWV2jSEpUlypJ225rv59LX9Nd2nqi5pyxrBJYvLG8sfEpjX5hnoC23A+XoM4znBb+HenK66JLu/1tH8V22v73PUnLVvv02fnfe+q+bu7aRjqW3h6H7SlyHW4JQBw/LRIeg64OPZhxxg8BYqOz0dvldPS9v7ut76N310s1LKHM973fTb+ttreetzfbR7G5t1RBF9ohl3JuOAMd+h5ycAfN15PA3pxjyXtrZ+nyXbTe2+17yBtqSVm7219e1rrTrez9bMsaJpmqW7o0s7zxrOzHbn5R2Q9crx3HsM4NcMpdba26f0vyV9dHd82/s5/fq9Lr838no97rY71oU2glmKsMiLbgq3U89cD3DEDr1Fc0vevfd36afp+nfQajUT8lq1bffX5762V38K3Kk9zHbwSXSq4ESFcLxk9woJ6nGAQeenOd1EKbUtb7dv8Agy9bWstb3PQVKc7SptPVbLXbWyvZ37dNdLXZXsdQW7SO4jcwZBY7pPnJxjBz1J49uK7IxppK+931t+Nm9dVd6q/W3KbrDTsvaaaaeb8112ez++46C9cW1zdRgsbeVzJ5nzBo0G7eAdzcnjr9ARnalUdO/Jrrp7t93d97+t+21uUzhhYSmk7v0b1v3srt3fXVdJSulF9v4k1+J/JktUl0u7ZW8zbiRY/RCM847D8QeC2Mq1SV03q9Vpd3flpdO3f7rnoRwlOmkoppO1nffTrpHpb18rJnU2lxJdA2tpA1vCy78McNxzz0BB9OD3GeFauSo1e+r8lZemr2b3v02aXMS4p6Wuun9e9q/WV79bmRO8dpM4vfOwWwiHPlsQeOuFOe4AwOi5BJoUJtb+b2st7ddXf/AA21v0ZcJOG3/Bf4Pr10f+K7R5X468f3mi6Re3KiC2t7dHVUAUPK6BsDkAAYwW4IxwRk5repDEVI0qeHbhO6UrWfrZO9l63e6u73hNKmsROrWmnGNLWW6T5VzO//AA0bX30ch37DHwF1D9pH4nSfFrxjavP4D8JaiI9LtLiJjbavq0B3mSMfLFJb2rYUklwW67sDd+vcF8MKpRp1sRSvU0bdrXvyt97bdm+yV3y/h3ifxxhY0qmU4KpCGIScLpu6kpTjbXTtZ3a9b+9/SRoumRWNtFFDGkSRxLFHGqgLGkYCqiqNoVVUAAAqAOxOdv7AqdqFPCuyp0Uoxg0vdik101173+UteX+aVGfPKrUlevJuVSbvrJvX3du3Zvb7KculRdv1Xoe39Mnr279sirilGCpx0ila2/4u35fdYudRy369f6jvfpdW87phIx46fkPz/wAj65qY04RVoqy109fm+/yte7uyOl++n3W/rbz1K7E469yOn1/wpx0SXlf+vv76edwfTzX6v+v+HISM8H/D/P8An1FTOTT0fTtf+tv6sIeo7f3h6fj7Z/Mfj0aVJrTydvz+el+36SaW662/LV9V09fQikY4A7c/0/z1/PNJtvf+vl0+7p0Mqn2fK/8AX9foA3FVwcev+cH+Yo7ef+bXz28v1ll+X663/q/3C7FznHPXOT9fp1oUmttPx/z/AD++wyrnbKRgn9P8f/QuP9rpTU3/AErfjZ/l9wLVJ9/68vy+4nx5bbuuT7n+vYn1HA7VrF+7Uvq47P8A4Hy7/dYE2npo1rfffb8u/wB1j5r/AGt/iOPhn8E/HHiFZhFNFoF8bYbtu6U28mwDuWyMYGThuPVfYyTCxr1lKpFyalonpu2rb9mt7+iveSxNZ+zdnbRp7NO667Xsnvbpqlf3f89r4mWd54w8d6/4z8Za1a6LFqmtT3sL3k3nSNZ308jedHEmWBiJ+6R0xwuK/T4VVQpQiorl0stdNEtd3+N0973PkKkqk6s/fbcdvXpZ7Nu3mltr8J5Vq+kfC+y824n8S6zqskhuYVi0u2S3tpnjGbSRZ5WDMkrcSAbcY4UHlplKVV3ho76W112tbTVrpfrpZGPsr3997+lr6u293fvuu1rnNalr/wAIZZ5zB4V8TXTkQRBLnU4k2j7MsUpQqzbgt3+9BA4T5DjJKqOGxKfMqsk91t2fTTptZa7aEuChZ3t02tfz+fXTzvG3vZcvi/wHpjrFB8NoZLWaW2lH2rVri4uF8qDybyFpmYAQ3ku2cLj92RsRgMirdDEp3lVk3o7X0t2vyrb9dOXQjmi9pa237LfTRW6pPXb7WxmyeN/CUksc6fDu0tVhECgNqVxsuHhYmfGMf66M7BxwVJOCflapTjrzvRWdtl0uvn2fys1yy5q3TV6Lz66tau/ZR7J6Wil58Q/AJtRH/wAK0tt5FyrMuoTs4eVl+zOm5uPs53ZB++p2nG0tUyUnpd6/a7NbaX67eu3LopClFLTyejelt/tW7X3Wys7Nlb/hN/h7OiIPh8iyj7UyzPqE7I0ctsiwRmISbRJbXCNNvI+dW2Et/DMfa81lJ23t0fl5W0Ttf5WbCU42b8tOv4vdvyXzlb3Xw+LPhheXUjT+CNQhti3zxWl+6Bmis9m0ktnYLxPPJ7q2znHzTUjOcnZySu2tndaN222ultr0Sv7ufuvZLz6/5P8ADXfSzK8M/wAGL6dWvtN8Q6dEZwzOLkOFJiG4INx3DzhheeEIAxinGMre8na+vq9dFa+vkl20JtJy3dr6W6a+lndf4muu9iyNF+DeqXzRL4t1TRbZVgzJLAsh3sCJFCnO4IMd+c9yQEidK/w3Tve+19Xp9qze+rS6Pa510qkY2vZJWvd9UuyV3t39OvN/Yx/wbz6N4V0v9i/4nweG9dudXsJP2ofGs8lzcwrHJHdN8KfgokkAXcvyLHHDIp54lxngCvz3iuHLmFBNu/1KnfV7+3xPb0669OjPqcmlzYWo1ovrE7f+C6XbT7r/AI2j/9X+RLxBqVto8LeGvD5V4kYDUr75fMv7pQQRblcFoOcbGBBI5OQa+1cHLZczV/RdVr0fXtp9rRR8lU1N2k1pt8ra32t8vSxThj/4Q62Gtao0Da/dQ4stPcZkttw4u50+YH5TmMKflPUN0pe8tLbXt/Sbtfd376NnT7GLSlzKyt+Hz7d29vnHB0PTn1zUzd6ldrJB5sl1cPIztLdhz88EcjcGTYdqgk7MfKBitqFGdSok07W7dPX3vT7227px4MSo0ozafxJrbbq976rTrf1v73pSX8dhPe3t1bQXFpLCmnizkAV1s4wqQtbkZVJ0GS7DbvYZOetexPBuMYNrRJdH0Xo3+K/SHjU8ReUl+KTvvu7vrvt5K1rnM6roaTRm50GZ7y1PzC3Yr9qt8gswnT5d208b1DKQMZJPzd9OL9kr2Tjr+Gq3Tv33t2PNr39o5q2/fffa+yt0tJ9eljn7Geazl84s8E8bY2Dcrow6Fe+emchq55QXN18km03/AMM1fp3W6UumhUs9WlfTVpaell321uuu51y6/Z6u6xa1aMh2eUt5bRbbkFhiORx8xlxxkAZHcn+HWSbp6LVcq2vp12a1WnRvXWyR3ShGVNW0atd2bT+Wj89L9FZJXJ9Q8LTm3M2j3UWpW8ce+ZISovQG6LLA+1g65A2qrA44yTipUXbs9Urbvvr002atvfmVzlcJQTaTWtnLTW2nnp/esvudzkI4EtgRLI8c24l4pFZJFH+1uCsMZ7jBwQMfxOol7N3dnpZdl92+jSs/vt7s0nOVaMWn2ba6Lbont6dPeerhs2mu3NtF5KSm5twTm2n/AHsO09irfMB+X8y3Ht+D/wCB079+nQ9OKUfP1Vnp6t+n+d7y17eLw5qWDIsuizsfmYDzbGRieS2FaSLPXnAUdD2pt6aXvtr3XbZ29E+jvqjRu8JLydrt6+Xa+vf/ACjm6hoF7bMJrZ7e9tmy6SWj+aNnX51Hzqo6dCR79KxfM7Xv5+Vtb7b6v+a/3IyUpQfK1bTS99dtt7P1W1tHb3s1wXxGhEciDG1GIYH0bPpkjb2IA54Clo8vnbT1tf7/AF9DdXa1WkdVbq99fe0utb8vn5k9nrN/YfIki3UZ4eC4XzY1zgdM5GMdicdwcDbjPbft/wAN8tf6bKjOUVZtp31Tt999LJqyt021tY0v7S0e63C7tm06SVR/pFqd0Bf1eJgSM9TtA7Eqea5586ScU2ldvsumy1fy3+Rumpx+5bt/kl919FpzOxwXi7TL4WpmspE1G22mQy2ZEjRIPviVOWTaODlepzzjFYym3vqr69NemvK9nq9Votd7mkFdpb67vbyvZR6/4dra3vH5/wBRkQu4jbe4O3aAc789DwCDgnt19a8PFyvN9Iv87aL5tJbfP+b0IRXLbz16/wDtyte76v8ABn6Pf8Ep/C9z4o/al8PtcQF4vD1ne6lvxuaKSKBzEScnkMBj0zwWHFc9G2jve70e17Nadd7pbLu3qi62kWl236arfdtrXmsrbbbH9r/waneLXbFHxtXZk9Dk7e2cA/X8d2cr7dLaLW/32T26d27K77XXxS8Gtq+2vbprbXW2+123vdJcp+2Hwvi83SrEYb/VRqWOONqc+vt/CcfXld9N/N3Xf4Vbtvfte+ujtLF/5afr36+j36HYeNtCTUtGubV03FopFBwNw3A4bJByR2AX67ckq326brotHrr06a2087B2Xf537aLXy6vftaP+bb/wcIfDDWfh3+1td3l4Gk07xbpdvfWFwyfLmMSq8QfgbgI2Pt1IOFFeXmsv3aWl7eXdv5X137Luenl7u3+FvS1ra7adevU/APSxsu43DY2sD+bZH8PfHYqfUV8jUi5Qemiav6X1PpcHFe2Urv5re0X876fyxt12SP0C+DWsxv8AYLZpVjJ+UljgOpX5T3PH+7wT34avnMb9pdb376OzldXte6Wik72butj9HyqadOld6uz+d9ttrK1/d2btK65P0r8BXp2W8ExLiBEBfH316cfN2U9efxzXzVf4tFqr+W+vfurW0+Wrl9thY3imteybve97/J21f39JR+kNMYIBA/8AqnTejEAEggEEc9c8YI49+tccmr269t9+my2b87rV7XPQirJ7rXzdr+8l52Wmlu103c0nhkYcDMZBYr6qB94Zx1AzjA6Z+XGaqMtr3tsvXTstfTT16yiW999Oq0vfa6fTum+zvcWfTvP01XjGPNZvKJHIZMEDtkEgqe/UAkBTXTB6P5vSys9Lp3v0s1d2167nFWhebekm4rze7WmvRr5/3b2lyqwpMWWRGV0GyUdM7T0HUZz35zg9cNW9O1+l7a29V/n0f3XOWVLe29+u3e1tLX1t+N2+YzXiVJJIiSY24jGQWQ9Bn5cfXO3pgdRt29OvT7unql2vv5yylTktVqnq7K/Lro27x63vo7J6393mzzHJaXIMRZRndCz/AChJR/A3T72444HflcVzz+K9utt+yWytolu9bXta7ceXXDwcW5O6e1mrfd6d7q/TW8ZeueGri5u7UvJbIbc4WS3CkssgGGkU4xtOfTj/AGsLt8zGtc1PV6J6+rWq11vp1VvLU9yk1KS121vv5b2jut352st5ehaVFYwXkStDNCJGHEg2qu7nI4B56/0GDXk1dL/Jfeummn3LTRW0PUjqk3ttZ9bvfy1tZb2/lekveNB06zklgjlu1g8xAYCW+UggcBueo4AIzxnnNcdX4U+19O+ne77eXbRK0uuh8TT3stW9lffp06W02Vj2rRLa4too7VrWG6QOfIuEky5U9F68Ec4zk8YxxhfDr766a2a0vppdWt08ne++jPUpXbv/AHbv8PLVJ+S+Vz0q0GpQeUFtH8ryybiNmxkMNoI6DIJU9/wzU1NYx7f1v21fl+Tl1JaReuit/k29Ha13r07axnu6VcGxJhvIHkUZZHZNwKNjaqkf3TkY9R1J4Xnq3tt1e3fXR6769eXZd0yoVbaLd6pXen97Szas+29n3UdxJbe4uEUSyLHIpypGNhIPHYjGe49elYfj/W3yf3HVFqVm1d3v031er8rabaa62kpYc+hGxuLiaC+dxctgksSsYXlBtI5A5yeATyQTjb0ws4rv9/V9uvVLRdOjUumKj1316X9LLdt272vvbQ6rT4rmQW8Mt9DNOPk3quMEDjCblyMdcEHPp1boUeaKjpe1vu1be+ttmlbS+tmc1azjo3f7vv8Ai+T6763UY9fHZX0MYa3EUk2ArFRgEZPBOf6gE5PHNNUGru1m7b30/F210uteiva8uONRRd5Wt/muu+/pps+XTlsWz3jLIZDCrBSsiO2OQfvJyCWHT+RPWk6Tj7zvbR3t2XpZprrpotUm1y+jGrCcOVLXottN77X8r+7br0Ra0y6uA64v45ZUkZvs4IVgvQAg/ezk8Z5wc9wz+K9kmn9rorfcreWltk3ozKcFLTZ33+V9LbJLXRve2trx7GyhZHkmkRY4LoqXfIB3A9SflBGeOnoTjGGiUlBNdvJd/R66d0vW5y1IO1muvXb8m9N912adrnaW7xQIIt6M0oG4r82cgYBK8jHPbv3zUq9TW6SWtvLvqrXe1mn8zSnSvrslvZateW69E0tt9WSrFayXcNtJceRJMuUYfd9QS+MA5wcHH4cGpnP2cWt73Stq38umqs7N9b3u+aJU1Ga6WlpdaXb/AB2s7Ly1OhtJtTsHKRxC5iXkShflYcc4BPPX1/3WGTXFzdPle+3fye99Ff01cfQS225fl93R69/z2NiFheOk1y72ZD7nJ4UDqF9+g3ct6etUoJeff+rv5aJ99yZW5ZW35XZenS6Wlnb+Xv2Ql35F4zW0VxF9n6BuAzsOcYwCen4+hximn/evd2ttt5+jtttrrcnAzqUtakWtdnv/AMHfo1t1veOMsFnbXccRt5BAf9c7naMjgmP1GeOB/PKnK3fTdb/f6eu+t+l0d2Ixc6itFaJNX2a8/wA+j873fLdvrWFIBPZeY6ufLcryGUnoVxg5HXhuPqGrRwstFd2Xo3s+rta/+TdpHRQcVaT7X8/y6N7telkvdtW+oWdqYk1IOqrbf6NEi7VMhx3APc+oHOD0asZQ1vazWnlp/V3ZS0srbG1SrFLrbZrpd7bLpputH01aI5PEL7A9lB+9QsuecmM4yT0Ax0z1Oec4ArHmrXuk2npo+m2m9+2sfkviMGvX9V2XW+mu332OJ1/xBcJbPNfXEXkwM0qqpzIjjsTkkepGPyxiuiCrvaL6Jvdd9O+y+5BZ9/y+/s9vv0Z8/wDhD4f+PP2q/iXbfDvww08Xh6K4STxTrWH8jTNOLjehk+RTdXEfyxAbyM89Aa+64U4fxOLxEa0qU3CTUlpaOnL5W1urPZpaxjZqX57xxxrhuH8DUo0ZwdapBwnHmtJSnGad19ze99PSP9M/wX+EXhv4Q+B/D/gjwvZLaaToWnwWkWEVZJ5EVTLczsqRl5ZpAXkcrknuORX9AYCisDTp01FJpa6L02s2+ln089VL+Qs0qTzbH1MznNtucpqN9LtuWuur7fDe9tm2e5xxbVAXgYHUZ/D7wPHuT+ld7d233bf3nO6ntPe/ms2+7SS89NPnvpsTsxC8ev8ATr0P5cfWkJaa9mv181tbz/Qhz0HpQL+v6+4ifjA9yfz/AD9+4+lJb+it/Wr6W6dd3YO3l/w/6+f42iirnr0/r6dR+fP0rOe69P6/Ma0189P68tOvyl9lxxuBJI4GPwJ7YP8AT61K016qzX+XX8vvuC016qzX+XX8vvuQS8nI6Z/njtz1P5e3SkZVPs+dxYiRjPC889e/Tqe/+yPrxmn017aeevz8+3zMyR+v4D+v+FICsq/vGbtz2/ru9v7v+NNd+359Pn1/4YS2XoiRs/e7d/fP4H8uM+vFXB7ruNJ3b6WV/wAf6289bH4Xf8FsPj1H8O/ghH4f0+7jTWdZma2t4N4U7mBRXZT1VQxYg5I4xnO2vuuHMMruS8td7O99UtO+zVtbq2svOxdXRryTeuj06aWbskrPl69mj+JnVodb1uUSSJdajLPLPNPJF5lyHyS0gjKq6xrExwV4IUZOBivtIqmpONSySWl+r7pe9bTv972PmMRz3coeetrt9dNndX67Xuua95ZkHgD4gazHHZ2eianJaRzwrBIbQQW6SXL7bZjcymNSlw3yo69SMkjIqZSUX7mu9mvPa+6uvK1/vic/73ezb0SfVdFokt1/km7Wlfvvgn41D2bpZ2yXVxYz3aQzanp8QFva3iWV2WD3ChGhumG4NtyuZMEDdShiKqaum4vr6dEnqr+V7ddrRTVSWj2Vmn5eXV6re8dVo9RIvgX4nkaU6vqnhu1mjt9TuGgk1uwZUXSpIo541Mdwyh5GdWt13kSrkpuw22nVqO/bfR+d+nVXadr7bPYXspa2W+3Te929/RWsnvpa0tK4+CN26izfxF4WRpJXt1X+3bJQskNql0ZEdpSoWRG2ocld+6Mbjmoi5qWqbTvd6K/R93rrbva/u3Tieyf67X2S+9e91cb7WulIxbD4EyXdwLZ/F3he3kL2gbztYtfl+2s6xMZHbYY42U+ZsI25yQM7aqU7rVW622V3s32fS+q7dVE9nJrSzX5d7673SaTey0bVyPSvgXq0sd5O/inwhHa2kkavPLrNpuBudSfT4gIllLECZDLKQpCW/wC8OVIds1US0vs1Zt7/AH7Pbq90+nLEdN67/dd3110a/BebaZRl+DuqQlp9P17w9fExTSeQmpWqKTb6kumyAM0gI3TESIOd1viT7pzXQuWSu+2r9evXV77eWppGm0tbrs+V6rf+Z7X/AL29lFWfNDrHwP8AGyut/wCXppjzckC31SxuExZyJbz7UScgASsoj/iYeoBespzUUttE22+vfdO1tbaPZfDzR5rVn7t9Xbomrp+m27aXLvuteXHv/gt4+eUXS+GXuGg82HEM0JQtbwiWZuJT/q4mEjHr14BwFlNNOz+y38/R2vo+6TVrN297OUXHdf1+Hl1+4/sh/wCDeTwt4g8MfsY/FTS9e0mbTL4ftR+MbkW0zqzm3uPhD8D2hlyjMuHGcfMenOCSK/POLv8AkZUf+wKlfrr7fFbPS/bb7j6zIf8Ac6n/AGEz/wDTVH+v+HR//9b+RDQ9MtPDulf8JjrTRzXMgD6Bplx/rbm47ajPbyfLLYo25HjUZ3lSM5NffSko2SV29dHtps1bXZ7N+fTl+dxCqzkvZyUVDR72d9tl0/vWb3u7Wjgw+GPEvivVF1PVY5lF5KJYozmNGhzkLbq5CpD2Ea5GOi8g13YfCOesla+tmmt++/Rr7T7q17R46uIrUV709F63u/v22vp2adrnoWhXVrpZv9G1WwjfSoJQj26qv2qKYf8ALe2kA3BwAS2Cd4yCBw1evSwihyu8dLX0Wvlsra20fNtZWvzHE8ZKXtOb3o8nutN29bPXy/FN2UTK1zT7i0eK4if7dpM0jlbsjKoD80S3WM+S6jEY4UFiM5zXbUSnFRWlr6u3X0XfV/F3S0alw0aj9o3Z+9rv/wDtuyv5WXfYyormTS2W7gkME7HGyQAh884APDRkDv2P8PRufk9nHVpq/Rd9l/S9L6lOtGFRpxbumr3Ts+/rbvy+u0jVS50rV3E9/btpt30+12q+bayP2M0W3I3d2Xdg4wpwQ2M4by3s9H+CT3bV+qtbqnubxg5e+tL9Gtd9916f5aONG60O+sJXvGUXWngb0vbTdOuDk7pFGWiwoJG7gdsciqUk7KyXfa3Xulb736K6Z1wqWtza9LLTXvbS2+i3Wm92yI3tyQk9jIYXjBbzA5EsmOh3ptYAYHyktxx3AVtQezV3816dNb6Wv6WszRVYPaL7K79baO9nfv13t9nQg1q2vsR+IdPS7Z/lFym2C7XHRxJjbIRnOGIB755rCpF8r96Ku0lb9N9bPpy6d3you8Y3kov+Vba9dfPezb6tK10TJ4Z0m9MkuiawJpRn/iXalEIrkZ6iO4H7thnAUhT1xjkFeS3LffS2qWnfbm1WjvrpprH7Wimm7berWl9vnqt99+hz13HquhzeXqFlNaxyYUF1Yqc55BAaNsjphs85weixzcj5rNpX0Xb70+vZ/LU1gryjfZtL+tb/ADuuysZw1q4spN1rJJC5JIKlsHONvACg/wC6f0Iy0SqKXS11tfr3216ddPNtoVWXs5P3XLW1trb69eqv9+qu2dHbeIY54xFrmkWt3I6kre2sa2V9H0x5mwOs2AM/NtJLc4wTXNLmtJp7apK6277/AIK/rodFGUeS9raN9tOu92nfa6+8ni0eyvyV0e8X7SwaT7HebYJOeqpM2FdzngBck8cciphGTjq/lbbTRfEu/l/29ozOp7zurff9zfk31vu9LuxxniIy6Mht9QhngmRi2JkKmRucJGQCjEsMAqSv1z8xOcYRs7N7W0VvP8e8um9/eKal7sW1Zyu9LWvpfXWydukX3Wp5tPdaiNOu9Xgu7qwDXP2UJASnmiXdv3SZ2sNo5+Vjg9iPm8uVZRjs7L5/P7P/AKTutb6qXo+7Tsn7z68tl5pPR9PS/R7nnaLuvY3jVTulLkdzJz8xPzZyf/rsf4fGrP2nO9UnrG6urNbWWqd3tr5X1kehRXtoK1463Teuie1vd7edul1rL91P+CJngC71T4l/ELxs8a/Y9J037F5pGf39w/l7AxPU7gSBnjnA6sYROok9Va/nttf3dndr79Hoo54mXLFWV7q19tlq9pXXRvvtfeP9Vnwrts+LLKPOFeRFZRxhkdQG4wOnT+9/eU17dGztG2z1/O3o+2/bdHz9WqpSaUWrPv0ejtbf0tHpo7+7+4fwmt92lWY4AEYHI5GVA65PTr0HoM5rd25ravVfcm30trZW+74rWlPT9P1+f6HuN/p0c1mwZQ3yEYA5OewICkegyPfIxhpcldq2my126Xfur7ru+3W4LX3Ulv1srad9H2f4a3aP40f+Dnr9lxfEHwp8O/G3SrMm+8F6nBa3sqQhgLC6aWE72HzKN84GDx3BXJLeVmUXONtUkvn1b+0mvx73Wij24Gp7Oo7K75uvbvqrvtb/AMlloo/wqQQeVOnPJdRzxjHPT6D1GM4wcV8pOfLzRtrK1+/Tpp3/AOH2PrcPNc0ZW1XTazn7u9ne177fcfUnwqu2F9pkedpRo1yD0+bg9gSBng568cZWvDx9F3qO+i5tk/7vnHr0u0rW13l9tlWI9yk+VaP+Zp3lJ/4tr3269dOX9Xvhvdy3Eds8m2TywsbLkZZdq4b6jPbI+mM18nX0nbre7829LN2W1m938rH6Hgal1Cy6Jvur3S2ts3fra9unMfV2gr/aBFsfluBFiHOAQQBgAcHGDnrjt6beKUeaTd23ey0Wy0/mSfmvO93Zo9WK5rr5rs9dNV1W22m7tY661jd0KTAI6N9nZwDyyj5s5zjd3446nPAZ2srK/XTytfe/bzV9tLEVIWXMnfRu3krd7d1fbX+W9iW6jaG3iRfuIfMCLnI3Z+7noO5OcjocZrWnK2lrrX8bXvttp3utknqcrXNO1tuvVrtb5p2u+/Tljw98A7F1Ty2MrBsNgZx975eCTkY6dD1ydvRTn5arp211s+Xt672Vkk5VPDq2k276JPS7urpaba33/Tlz0tvPZwdokOFDjjacjDN/Dngc55PJzWvtL2vu+nZW7+Wm9+1naxyvmg+VJPfd2a06JKV9U+q8rNx5ZIraaa4MF1CHcDy+cAOR0dTjuRnjPXqDWcpNXdldtaX3u9umrtvbXZWsXGlKT00SS013vy+WqW7/AJtbPVHV+Ho7+KYRQS7Nshj2jJG9Tlo3JZQdoGB69OON3BiY8yi27cl9FrdO2+3Xz89bOJ1U1KjOKtfmtZ6pq3b1v1UvTWJ7Np2ppOEttZ09PNYeXBdxAAjH3RIMDqc8l+Mc9Rt8qtFR2b+7Z23WrvbRbK17rY+hoQVSKbbi+iTvdd3p6O1lZ63d3GPqWjwW00MdrHuW4jwI4n3Pkj7rxyemTyucduSK86s7JLe91duzu7Xv/T+V2zrpUoxekm3Kz2tpv08rLWze62vL1/w/DfQxQ4mkidHUMrlmBIHBwfurjuueOpPWvJrU03u7ptvRX1erW191vL7vgPWoUVL3nJrTtr0t1ev6K6S3Pe9D1F/3UGo2rsjf8vK/MgXnAkPUKT93B4JxzxWE76L087u1trPXW+61vvZGzg0kujVlb/Pm1b3+z/8AI9mQ0EZxZpPbZLpISSUQnjZkEHt1we4NZSXN19Lq7fbt99/LQmNBXUuZwdrJaJW7O+i2fyeuzGSx6fclZ7aN4Zkx5y7enbOeBjPUAcD0/hhU0urtp0020+1vbbSPe+pu5ckFyvmfMvJf5tWe2i1trvKle2twTE0DJk537uVCDqu3ONzAd84PQg53Wo2Vl067b76e8tHbr11vf3dqbco3/J3fonZLTfbR73uZiRTWyG6txKbmPcVDsSS5zymM4Uj2yB06Ybop1LSVktF08vl1v3t62sZVFvzS0/Nb66LXfv1d9zr9Hvbyaxj+2zSrdSDaBC+NjE5Gc4Jx05Htxk7ej20v5U/ntb7t7X289EcNWEdLSemuqWzs+61+T/FHW2tsZIRCwe4lYEsxbDHPT5uckjvxk/lUTquUGmuVXXV/1pp008tCqUnCSk37q3et9vK2vTders+alovh7UY9UvJpjGsKsrwxEAtGFPOG/iyPX/2aoh7sfLp89f8AgbN663s+XrWJpSe7Vrfj68y31+1frayZ6lFaT34S3SeD7NgK4xhlJ5LN2wDxnk9/deepq1H+ayvpp+b6eWj3d7FzUHFtNt6WVr2e1m+unXz0Ubc0u1skhsojaC3glZgMXCrvb7uOrDj6qBk+mTS5lST5U277t21+W2nS9/WzJpznfRLRLvfsre7p8rrta15R/Yo4HN4VWbYeEkfhDnqBjGMjOABnHPQBuKrVcuaXLtey3vbXr+Tv5bXjpy+0l177Oztt27XtfS2vN9rbtdZaYxRCIKm0iVl+6oxyQMLzn168Y2/ebjjVk2rx0b0/yd1pZW9He/NqwqQau1rbSz8tO+3RbedrJy1b26s7qzUIGSZSAUBG2RQR8xPG0ng9Oe+Oi+jBKW7smumv+XTtt2exMHNtPlVlZ2fS/dfi9FbraxhtZWLGO7huJWnjbaIF4CuP4uDjB5z156ZJJVOlTj8MnL11Wv3W+7z0v7vdOrKqrckY2/lWuvdW+W3n7tmbdpZXOosrMEYwptKOVUqP+ejA4BA6g4xx2zXZSVOVra915fm79NOvVszi0t/SzX4a2SfX/wBui0JdRXOjXRtVkEwuIxNEkXzqJOmf4gVHcDH4YAUqWirrrdXb6X6Ll6dLcvnuuXqoTi29f1Xd2vZ6NaXWvSxAf7QlkWS/hiuEWMnywoBTjHyjgjjqOTnAyM4rmiuZ9r6vuuz3ivLT15VuRiJJfDo/N3etuz3ve2qWzsrPm5TX9Xi0TTZrr7OqWbsWkJkCyR+uD1TIHTHPXjBroXLFJRSV72bWu6be2ur0Semtr8zRz1MRUVSFKklryptq7V0tN49fJ72105vjjxB4q8S/E/xZpnw3+GNtc3fiHxFqC2EXk75FhilfY93MUVhHDAGLyszLwM8YxX1OU5TLG8q9nKXNqrR1V+68ul7p7aW97zOJ87hw7lrxdSdPnUHP3tOjet7Lp0vq77NRP6QP2Rf2ZtG+Afw30jQI44rzxJdxx3nibXTAn2i91CUK0ytNnzHhifckSs3ygYG053fvWQYCjluCw6hTSqqmufnV0nbfXtpfa2/dy/jjibPK3EWPxOIq1L0a1VzgoSajFa267a6tLe1k3pL7UhhVF2ryAO+D+X3ev0/PgV7cnzvmla7d9Fbfy8tF+L2Pn6cVSh7OLk00l70vL5+u8fwuWVHGcnnt29upPb/JxlkJKySWyGuT07dR/n8fb8edoW3okkrd+t133791vtuR1i3JN6vfv+hJGBv5PB6cc/1T1Pb8TnCim12d/l/7bL8/v+y3081+rX6eX4XlIOOn0/z/AJ96Tbbu/wCvy/Lz0uZym07Lpb5emj+/m63d2vehmBIHoOff/P556HoCq/r+v6/Mh1JaaK3r932VbXTZ736DAdw5GP1z+gzz7fnTf3eX9Xe/d+l/eYpPm37W0/PZWevn6jgBgjHAGeOD6Yz+PXDew5NLf+v+H/P1uIG3eXx26dc+mfU9fb9MtpGKktVrfp8t9r3/AA312D+v6239PuGr90dM8cg/0/nz7cUTjomumnfT/gd7fdYP6/rt+PfqlGC+lFvZTSsQAiGQnONqp8xbOOoxkLznkZHNOjBzrU4rZytL7nbo+1vns9Sk7KWttPw6v+n562P4pP8Agsf8cbDxh8Z7nRLpbbXT4ZeeGw0m5vpILG3vFZfJvroKpW4KFW22beWH6FsAmv1XKqMcNh6cqatLVu/R9L3iu/W7fdbnzeMxCU2pPyd/P3Vrq7Oyd3HVy15tz8Urn4geNJI4rGw1Wx0NZria7kh0bT7WBYvtUOyaOE7CyRSIuGjyfXgtXozjCrb2ik3fTllyeVnvqr9F99rHBVrUoxTgrtqzba3t5q/XffVtOzsedXGt+IbyWW0vfFPiK8t41VYYk1a6jiTyGPlp5aMqp5THMQwdh+4cj5tadKjTa3fVpybs3bvv6Xj36KUeR4u2jUXfRuy2WvdXd+rdr9nZHNXEVjdgzNqd48sfmrI17e3jFMHfLj99nLMcsAP3hOTlsbuiq48miWkkt1o/uSt2un00V2hQxUZytOzjtZWVmt7brf5PayvYxWjspxuBup4Q5EojFxEuTg7ELvuYEAHvuI5AH3sITXMnpo+ut9/LTvZWvtd2biqlWNm4Rdr7N6vfXTe60WtvVpkltYWzypFDDcef/rY/OLlAmflRSc5ZVxxgDHC9zW3NTl8fvLrbv0vtvr0d9m9jmjiKspNbRd7aLte+uvfrJaPXYm1Szime2aKC4Rozud0QnIj4K844HOB6+vSnbCtWaaTs/if320u12Tetve6mqqzXxbfc39ySdtOna17MyZI5p08lYWkFvLKHEPnIbiHP3pI0XaXjJAYsc7uv96hU8K2oqHvPo5X3WuvmtrevRD+sRS7Tu/NevTVba66J62SK89hfxRSItvdxeWrJ8/nIFjJDgs2AMnO44JPQjpWlqMLrkS67ve1u619X992Q8TJ/F01s99Nl1V729d3a9zJl1DUUAhN3q8cVuSv7m4uApZ8M+EDgFWbazkj5tueDhlwn7B35qe3ytb5LV/O9/VhGtZp2d79r69mtdb93820+ac+J/ESSf6P4g11UYPGFa/vFZDKmyR8CUglk+VgRgrwSTtrJulF2glqt7vT/ACtay1b9btG7nKTXN72v3/dy/h32W0v7Sf8Ag3NvdSvP2JPilNf6nf305/ao8bKJ725e5lEa/CP4HBI1kkLN5a87FzhckDOfl/N+LXfMqLtvgqfn/wAv8R6em3TWzTPrMj/3Sf8A2ET8/wDl3S/Lb5aH/9f+SDxNpuqR6x9t8Q2N1byxt5On6ZMpNlaW2AUjhRi26Jlw5IOCzd/4f13K8EqiqKqnzRas3bqt+u706ed7I/PcdnDw84qMbud77aNde2j9Laesu40DxbayWB0PxFHG2nu5SyurdAlzYOQAuxupjB5ZRwq5PWvYeDhTVopvp3218vvvHezu25GdHE/XHZu1/la+mjT1vr29Gcjr+iS6fdGdJDdWkzBrfU4CWjl7qsr5Plvjh9+3JBxngVzQ5lKUWtFs/R621/Nffub1cKqEJSUubm9229tL3Wj28nrpo7nPWGt3WmS3BDNySstpJH51rOMfceNsoM9d/wArDGRnrWvlbqreq/O6e19H3uctCOrT6Ntadbv8dV07XSv7txjpuseXJZ/8S2+cZaxuWD2Zc5P+jzMQyFiflVjgDgYxiomtFqtHrtv3t1X3eXVyU4P2j066/fta93e2+i20dmZ81nqOnzIt5bywK7ACVceU3HDJJuKHOOANzYOMnJK809vn/X9firpS7YXSXlZW/qy121a763Qi63f2V4osppE2sAyFt8cgGM+ajDbKCM/KVxjJ9lxd7aa+X9a/c/vsirpSUNFp67/Lbzu7vTq+XrLh9G1KNTqEDadczoWkvdLj8tFbnJmtvmj2nAztzjqOwqby7Wflr+r8um/a1i1p1v8An062SVrdEt9eb7Oa/he5jTfZ3P8AbdvGDJG9rh51XbnDxY3ZA5JC5GM/NgbSPM2k0krpbaK3376eXa1rHTFXfL327aXtbs+mqla+2hhSPJFJtaOaF+QEuFZWVlPTadjdjyQ3HHYFiSXXTt+fbrf8Lrlu3JuNnre2ivayT0u95Pr/AJX2juWniK/tY9t0yX1tIMNY3iJdWmB8vyo53xnHTD44AyONuUkpJxUd727+uj69dNNbWvLmunNqUdL8vnuvw108/Jx96RKbfw3fTFo1/sm4dPMKAeZYeYQf9WrkmDkkjBIA4ycANi6HKnfXt1v5J6K+uultOlgqSUm07P1vZ/LTb1bvouxz19o2tWoMltbfbbcNk3lky3MWzPcISyDbjIdU69BnNZOnrvt0e711628vxV7OJrSne6e8t7302t26LdOW9vM5PU9TZA29mWRRtBA2yiTGAn3lZev3u2M5HBrGq4002nv+f3u/4d7HS6btb3eyTX/B1t5/etVHD13VdTj0Oyiub151vyziOeQTCCKBsxLFI26SNi7ZILHPQBeQ3k1pSk7dL29L9Omiad9r+SHGnaUXo7PV2T95aq7vZa32Wyu3d2Of1BgfCFrKybJ5NZmbIA2sscSrzhieGYc7OBwe5bkm/ce2m333S6vW/pd9LXOuVpSd3ZN26N9Oum61WnqlZM4O1P8ApkSrlW3EjpgEjAU565OOoH49F8+d3GW3bXS779Vp2tv3uehh26cemvN+G3V9fPXyP69/+CSXwjg8Afs12PiCeLy9W8a6jc6rczFF8xrdtohjzhSY/wCIE5OeehBroy+m0m7Pbbvd+V07ateVlpZs5Mbdwlaz0bsuj3/C191fa2l5fsp8JYdnjO1d3+RWUY75GMfXPBGMY79SG9GlpU1TTvdf+Ba3+V+1/wAJeDJKXvK/NdeS0er31f8AXvXtH9tfhQ5/syy55Makd8/KpGePzzuHc+ldF9b9NOXXs3bXZN3v5302IjP3lG99dbvpZ79Vqu7+W8vpS2heSFc4OVDcD1GcE8+o9MexBLZO15dVe3Z76tddbP7zqjDmte+l+m2q13169PJ2sub8uf8AgrJ+z5H8d/2Nfjb4UtLFr3VJfCN9d6dbpGHkN9Zp9piKDbkuGTIxtJP/AI7yYmm6lN9+vonfv1t1tbRaXsOi3CrZ3vzO/TXvd8y32tdL5Jn+Tfrnh++8P61e6RqcEttqWlXtxZX0Ew2yRXdnM0FwjKcEFZIyCCB+OMt8xXouDdldXu7q2ml9Ov53fqfUYKo5WT8lffmTfy1S8vuPSPA13JZ6jYsrlQdjYzgjHuBzgYGMA/7uTu8bG024tpX/AFlprfp10t99z7DLq1nCPRXXktfW2ql2VrdbH6qfCTWDNaWk8eJJI1jMwycnAHPO7k5P9Aei/H4uklO6T1b17J221s79vdt/NqkfpWWT93mb7a726JLXZKzvy6+Wqj97eF5rO4W01KCZEliCmVP7xYdCOTgZH1xjjIavMmrSa8rLy7ffb5bn0NHVabWtr1fV2163228tjuxp7/bvMMgFteS71cHckcjKR8xHI3cAct65qNLX/Dq35a/PfvZJKTi6t+XrotE93r0189U3H0+JxrXMFz5UpJVXtpjE7Ab9itwC2R0dduz73JJP8Iou07rR/wDBvok1e+z6LTR3ucsY+9zJddbet+738krWW9zBvbVZLeSBCFmzv2spDK5+mc59AcfNjnIrWEna3Xa+91/XR76ro4x6XFcuq00V007aaNK8bdL33V3dXtLirqW5tJWaRCAyeXORyGUfdde4PfGPT73ArVSsu7Ssu338rs1tt11b1MY0ou7aWjX32em777W6Nu2hs6beI6LJfNvgOIvNAAfB+4MrvZMHA8zA/DIrOUr3b0XbXW+29rXad9O90lZnVSguzTemuz7v0dtrPu3ZtR9K07w7BPFHdWck8YkKCZAS4idekgPBJZWxn26HpXLWls9X+G/b3XfR3+9a2udkaUXbvs9Oj1Vrvr3bdvNHeafY6lbyxaff7LixmZfs14kSieEPn5ZGyM4IHIBweOM15WIm7tPS2/f7K0W268rdb/EdVN2ailre+/8AwLK731V7Xez5vbfDGnNOWsLoy2k8C77K/hQmGUqPlSbg7WI9D14DBq8yrfS+qv3tay769X0tfVeZ0xTTV7vf4d+is2unyt6p3l6ToUFy+TcytvJ8uRlVtxAO0OAV5B69AemevzcVX9NflqvnZLZdW9LXj62GfLHVW8ul0lpfpp711zaaa3aPWNEg1mBfL+2xSQQAPHujBMidg4OMnHGD7dSM1zSSc7Xa3tor3XS9116Jdd1Y61Xg5WWqV9b21/l3v5rRa9ruJ1sOp3jsjCdVwR5kTxkKB325AAyQOMnGfX5aXs1Z/wDAfy+Jb7/Z20vqRUnfbVXVkvTu7Pby21stOXs7e4YRAm3jeQgeY38JB4zjpkD647YxuqXFJbvz0srffLr5/dpzc/M29bpWv93bX1Tfu/OzccTUIrze0kKhbSRTuKgblx3A45yT1Dd+mTU6enl309fRaNX3VrHoUrcq3eq/4Cfa1rra69LSs2cbiSOIfdnXIMuASCB2/hyR7+nzfxOOjT3t/WvfS/W+mtrIyxEZSi1G97rbXXXfbzS1e2x01noh2mVigVOHAkUMSejL6YJ7N09c4bTnWmrfyaT20+dvw7nJClO9pX/L/PXbtq/O5tWmzTd0uWliGMIME7s9GPUA+xbPrwamc04Nau/6W/F7W0tbzTlu8OpRt1af9K2u3SyfXS7N2HW7N5kBjNvI4VipAYuvbaTnnvyMccbf4ajLRadNe/b17Xtf1V3KTo4BX1bXz7X9O73f3ppHT2cruVuMQw2yk7m3Yd19SORnj157ZzXDUnyzTXfp66+f4R/A7Y4Lli5X+FfL7rL3ndrff+Y3V1RGQLbxEbQQRjO71OcrjIwSc9+CvO6J1L9bp9Nv0f3dP5ne8hQS+dlqt7/fp89el7MjiiN25eV9qj5thLduoAXjOcemRwemWwk7qS1276tPz13t9+qt8RtGDurp6a6badd2/wA7Pruo37WST7tttAjfDBxt9sklWOT6dvf+GIUtuvl3XqnZP5a231sOpyPbR7f8B2bVkvOL83eRm397qC6hD5L/ALkOY50jUEuTnqM84Pf5ffgE12x9z4ei66eunvdf8Vt1ayZdOMdltayWv9W33lrfre509vJ/ZywzxMG34DLKMgOcgg/dBAJ9Op5Az80VFLS1/Nbb99l+dumzRcKd/LXoun/B1tdLe+hvSWl7qYMyyRwtKgVxbtgsjdvl5598epAyRW9FS2vrv+NutvRq2vlY5sRam+rfXuvz21eiXdpWSlNHJb2n7tXke7sV2oWXccYyQ24EBc8cY64HQGumonaMWvXrrZduV6eau3dqSv73NTU4ty1Sk+/T/wAms7We/krHn3jLxMLSZGNwsVw8ZMiqwVE7gnHrjuDjtnANFKmrNrXR6W8nrvLqvu3vtHobvq+/r28kr/JPo72XN8Z+M/EviTxX4jg8E+HzPq+r67eRWenafZsZDNM5AeZgrkJFGCWaQgKu3Gcg172U5NPHVo2je721XXfq1fyvfdXPHznO8Jk+Dq16koe2jH3LyV310/q/va391R/dP9iX9jXw58EdDtvE2q2MeofEPWbaOfVdSnRJHsfNVZBZ2rtGpi2E7XKbi23uCK/deG+H4YGFOdWOlk9V5r/Pa+mu5/JXFfHGYcS4+rgKkpQwjly87crWu1dWk1tLe9tFo7S5v08sLYRIoIKgADg//WH16cdcHOG+omoqbUPgvddOy+Seu33pNqXynsY0L0oO8aVlGS1vt167vW2/RX93YHcgkg884/oB2x6fTglkT/X3CMxXnHA75/8A1/59OtDdv67/ANeXqtx6dm9r6/8AA76dPVkDueCBwff/AOxPX6e2Tj5lfW3le3X9V+OvS9gfTSytddfn8/8AgdEBzjjGfx/Tr+o/OspfE/6/y/rvuGzt23/Xv8tfW4YCjC89+fX8+n/fP8jUh0Xl/X37/wBJhnABbj9f6n+f5Yo/T+v6/wCAY1Pi06pf107W/wA9WVpGDNgHPqPy6jjv2z+Wae/Kv6u38uluv3WI/r+v6/MeOe4GPXv/AJ96Hq2+7/rt+X3AOztPy859wP5K3+fXJ2oBNxxt7evf8tp/n7nPSqUmtEl99v8A22X5/ff3QiChATkn8v6Z9+351snfUP6/r+vyPDf2g/iRYfDb4a+JfEF7KsYtdOujGMkOZDC+zb0HPHb67sfN6eU4dVcQ2ulm9Nu1t3v1W38rvaUVJuEG116d9Vf7rp69rLdn+et+0Lqp+JPxa8dePPGvjbSPD0Wq+Jr2a00WNLrWNZuNLup7hYp7NLVXt4JrbyoTLHdSxsUmyIiQRX6dRp8lGMbpr7tdH0v6N6dO7Z8Zj5uVR2Wn3tNWvstXfXfd7aNnhKt8NobSaSxXxTrV59ns7jCLa2Vst9FOUvoPMbLJazwKrR5+ZZWy27o2s17kZLT3mn/272dtr3t5X3tzHPRp87kpN2ts366X26dmnbruZepeLPAk4MNj8PL6O9238ch1HXTNPPHcRj7A2y1RY/MsJQ0kbBsPnDYxUx35rr1fR/fd+WqutHbmNZYem5J8yT66NX63V9LLbs3p0RmxeOLJ7YtH8M/DEZh1C1unS+e9mSWG3sGsriC42SEbLu4P20MSGWdQuMGr5ZSWl297a6a6Lqlrs/ytYh0KcNU1rbte22q6W232dvd1ZYs/ixqUcMCv4L8DWUcNxp00US2Mmbp9IEsXJeWRs3iSL54I2v5avxk7ajTk7qzu7PS+vlve9763V7p6XRShRW8lotPK/b8rXlZbsoP8VddZZLW00fwVBItvb28cg0jfel4b03gcSPLtRlMhgkbaDJCoBx0q5UpOL3v0tdb9uuj16eeqTlSjho6t2897rTRLXV/K3TZMtX/xa8YSRwWI0fwp9oR7+WaSHSo/ljvIlVkVQwDGEpuhYZIYnAGSKz9jU7P5Jd7u6fTXa679FGQ40JXakrNaafdpfWz849+0TFufjN41kZHSHw5BJcSySPBY6DbWxwLH+ziSwJKq6L5skecGYeacE1UKM1LmknaLffV6q+99bL+VdtLM56kKUfeurR1+7S/W2rV/vVtjQ0/43ePbKSSWa30C5uEksrkJfaNBLB5trZNYQJLuwGEsDHK8Bn2tuyBuqafdtLe+q0W+rtpvq9bfC7+7MHRavdbtdNLfLW/TR2WllZTlTb41a/siFx4f8NTSxi1iDR6JDtb7K8jNkL97c0pWTjkKoOMVi4uWitrZP01XW7d/z1Vvs9PJS5W4tX5Vb/gu/byXbVaSlj+MeqW9vcRnwJ4LuJZLT7MlxLooLKBcCfz8CRsT8GI+sXXJOazdGSavrs7X6b6u3e9tFulokjDt/X/D/wBdj+wv/g318V3HiT9jj4p6gdK0nTUH7UXjWGG10y1W1tVQ/Cr4K3LER85YTXEqbic+Wkac7K/PeLP+RjRffBU7/wDhRif09f0j9hkn+61P+wifz/d0v1P/0P5U7fxDZeKiNO8WXEttPH5qabq27f8AZn6RRXIk/wBbbkDnkEe2MV+9Qg6X8NaL4na1+u6vtfX8bXufkijTq3dbW/w2tdJ6O979bdLevunJ6to91psiWc+JWlYy219EpMEy5yGQjgKyg5UYI69yW0VaPwyTb3vfbTo7P8V91mX7OVJc1CVlb7V0/VWte2lrv7rofomuTWEk8F0ourWQ7ZrW4AazlXoQIySVcclWByDng/erOrC6Uo29Nmvu31fS97ebUdsLXxEpVIVm5Lk93V78y2u30T+/WS0Ze1TwxZ61FJe+HL2HzUUmTRZ2HnueubduNwHAC7chRgZxmsHHl189Fb/OT/FK/wCB3UY8j5m99b279Hu72/pXueetavaNi7je2ljk2S2jxsCGUnn5tu4AjgqAQehrBvn91aWfNrt+HLq++r7rWw5xSnzt9rJJbuzbfrZbW/Ny37XX7yzWS3jb7fZMoBtLtfMhUHGQAxPlkZ4KnI7KAd1TKlJqyf4W/wDbpde8X8tzWM4yTajZrTa3pb3vxtHsnoaf9naNqoSS0lTRr7YreTM5e2LPklY2xlATgYzxkdcjblKlKEVKWqb6PXztsvLs7dbXKjSlzc11aKt2ab0uruXnt0WqdzPv9N1TTV8q+jniiYbormNS9tOvUFZVJXDdCGxnpio93vJ/+Ar/AD/P77kury2vFv5rS2uuiXy96+2mrM24uJrKaC6065ninbbI7W8ph5XG7pnLnORgc988ik0pKybT730X/DL+tjupVOeSSUk38lotO97NJaertex0LeKYb2BP7ftxqhOE86RBFfRIFxkT7cvt5wCBnOfMIJFZThNXXMnp62e7tsr9PK2l22jdq8Xpf5vfp2216+idih/YdrqjSz+H9ShkXG7+y74iG5VRyTCzOFlI5wOM5wdp2msI80JQk/eSldpXvovO/VL9Iu1zGp7sZT/kTk0t5Wvt8PystbX91L3ueuzd2nmQ3kEtqIwyAyqyhm6fLlcOp67h8p7ZB+bWrWgt4uz7W/rW346tWtJUpe1Wi3TfM9ddHZWXXrq/8TsZkOv3WlHbYXVwkkrDJVnZckBsSICFMZ7r35GV61wVa0Yp2unul59ttOvR26XKhLkqwWt3K11ptfTr2897a6mP44vke9tHkij+2XGnpNcPEgQeY6/KxUdzjJz+HU15VWpKb3dn66vbbXX563u0rnr2vbpftr693+b9dDA8WlYLTw5b+UcnRY7hwTtJMk8q7hlcrkL1G4kDPHAaU1q5ap3tb7/zkt1p56h807eXzt2T1TteW+r0Zk63IYPCPh2EKDvutTkYkR73KiLac43dG77eeMtxt4arUItbvTy10/xaX9fVbS2ptNq+vrqtfvvZ6b+l/eMPwdosniLxb4b0O3QyT6tqtlaIFBZ2M8uwKMYJII+bj34wK89q90tLfdfR/wBb99b8p3watbt1+/Tp89H5PRn93/7N3hSHwX8IvAHhK2QQjSvDOmRyDZtbzHto2lIHyYO5vUn1zXp4ZKkrPXmXfz/Hff3b9tmefiKjmpJXsn6brqvevZL56rX4o/Znwp05z4ggfG5hMoPBzwwGc4PXtyPX0rqjF87l3/Jvfyf5L+a9o+VJcrba0u5aW1/P12vp1P2P+FjBLayRv4Y4+M9Bt6Ed+E6evTtV9bNaLbr/AC27fzd+nXY54QtUlK/3ba30v89+trWVm5fV+lIr26tzgoqgdccDk8Dv6D8xWFWXJq9bv03b83fby81oejT6dbxb9Otnd727vXunYwPGGg22q6XfWF3Cs1re2slvcROodHjlUq+VIwSUYjBGPUGp+OL6fj59o6O1np932p9m5OU0+vVL/NW19VrbZ2P8qT/gtX+ys/7L/wC3r8VvD9raPB4Y8ZanH438NOYDDbvZ6y7zXUcGAY2ENxuVyhGO+OreJmFNxT1vfTa277+qd/XyPWyyunUjC1uW6u7q9ubpe7t8m9NNUpfl5orvbXtnuJykqnJPRc5PBHTPoeB26Gvma7c4tJPTrfT5aR16eve1pfaYJOnVte9mr626P+6+99nbRXV3z/ph8D9QVZ7eMPxcWqFMn5XODkDI5PGe3oQSBt+VxsXD3uS7ur62tdL1XdXt96aP0fKqyUFqtErST3/Btaa2to5a3umffvhNxaRKu/cZFbt8oOfmB5XJAPHPHoOreDUn7SfNsmrf8P5J9Nd79LR+roTvHmXW6Sb7P/t7p5a76X933DwxNLdwahpTuHZ4PPtg5+b5fnRlYk8jB5B4HpxWDk1o1tvrr0Ssnsr92uzta8d5XqKyVtXrvp03UdtG7J6+qLD2185NyvzLJbyRzxrna7xDCsRwd3GVX1x1yDQrN3bs9NnbTR7210309Fo0KNG2l7r9NPS1kt9e7toZtzavf2Ed1ZjbfW55TPzlkGCrHaC4IB4OMDGWHFbp6/ht36W0vborrqk5F1bwTv8AdbRbffaz0srvZJq8cq5tE1bThMsKpeQN5VyijncOWZk465PXP6kO20mrW/Jdt1bsu6XW1jgdVqdlG1mtuz02t37+t5bR5G0Vy0unyIluQxTzOfLYg/Kp7ZOAeh78jJq5QvFSvrqkv1Xnf7u70Ue+lNb3s113sl2221eqWnex7n4M1Dz7SPywtvqNqphvbeT/AFUtvHwJogeCSOWwODyOOW83Eyty6X0lu+un+LqrrTbe+sY98JKy2abtfTTytr172fXsj23Q72OaN9Lu7FZo3CyW93Gy7oicnG7BJGT0+XHfbyreXVd9LX2X32t6W8vS7+E66FO7Um3ZNtJLtfTrf/yXorO6kemeG9Wn08PYX1gxgSTbDdLndyRs3kr83oV+Ynntg1wVVyrmWqtb9fJeqX4WUI+pCPO+W11H3r+fZ6Le/VtvfS7PXNFae6KTxwxO6HLRFBvdecMcKMjb6A84I64rjnK93tey9Lrrp+aj/wC3G8otRsltrpfTZee3Tvyu6V7x9U0tNMk2PeIIpGfbjO0Dr1GFGM4HT3KgjdXM3y+9bXaz6eWivp67vraxiqdr++73fTZ9t3brpbZP3k2jtTp+j3YRre08idYioUgOkvI+dSQM8D1OfbFTz+Wl+9/0W19NOr1193WPu9b2/rTS6210bV+pParFCjWk9mVHOxwcEgDoBgH14z3xzkmnzc65bWb63vruuivotfeWu7lojWNqj5Grdea+unT4VZP1fZ9yU6W8XkOGVoS2WhfkbOuCefmPuo9cnb8xKCS0bdvLvbX1vbv262j1XcItRfMl/V07dPVq1rN2uX1s7C8Ty5YViljbahX5SE/gP8OB2JH5EEBYfmut9NLeV97rTvbrq2owqsua/JprfV/8Drp6K6bumKmhyW0mHmaSEsCrZwiqefm+bOO/O76jOFPO+3Rvr5WV323j5PSTjsqjkr8qXXf5du6ezjva+l47S6fpkcfmz3BcEEBY2Hl9OBjPX6qTnnAJBaZ3Sdn92lmt/wBe67dVHSEVKUei7q2/V7K1teslpdRY+JNDEkccUZe5kG0S5JK57/XORngduxDZ+02VtF53/wDbP1ffWxp7NxvaTe1tN/xdr2vtvrdXtHoLDT4R/o9y8giHKsxwDnkcccY2/h68isZR5m3ffXb7/tRX4K/Qt1KijZxurWfpbfSN9O6vZpKztc0USQCa3gRmw2EkH93PXOD+fPGcYPNJ0/P8NOmnxR29Pkiqa5vL8XbbX4O3/D2925a6XdTNG8M7qRhnj5A+Xrnn8Tw2cYwQPlPZru9PLy066Xb7vrt9mp1GvdUfLr12a2W3S/bbVmq2piykaxe2VlmGJbrHIZuvzdiDyMn/AL5zmmo2217ad/vd/wDt6Xla9iFS53u09Pnpb8/89dHFsU9tp43RpvkR97Sv8xYPxxwxJxgZHT3yTW6inFS1vq9rar5rX5L03UtOTktZtrZ9LX07W7v8Hy3TlpxPDqFwsVyQIZV3RhPlAJ5y2T+PJA78ZFJNyk1JJLa61aW1unS3XXZtX93SrVjQVoNTt32/C7a+z9nVW1bbNWRI9P2pZXTLMSo/1hbAHIyMtngjg9+uei99KMYpenTt5K7d+l9NLeh5NatUqtpwSXS21t97LW6ezS6J6XlzPiPUrnS4nvPtEcl3ICjqh6qwADMN2SR6Hkc9QQ1OrGCau91dbdfzfa6strq6lIq1q/PS9nTjKhZKc0ryul72quuy6K+12mfFPxT8beQZ4pbuSW9mMscUETHzZZHZRDCkS73MjEjCLyc4HPNenl+AlibcvNd9te63u7tb7q/8zMMfjaWDpqtNxVLRy5mum9ntpK+6s/M/Tv8A4Jz/ALHzeHoIfjd4/tJJvGXia1/4kunX0DAeHtKdg8PlpMu5bidRvaQbTg4ORkL+0cO5FRwTpVEpSlyqT57Pu3bRW11f3Rs3aP8ALnHPFeJzapWhCSjBVJRiqcn70I6Lms9dFul1unq0ft/ounraxrhOAQOmM4/McfQZ4+Tmv0CrO9HliuX3UtO9vKz1+Wu6drH5pQqusnTqwpw3bqRXvvzvfe7v62evwx6uNRgHOfTj3+v07D/4rmgrRWt/6+f/AA99tjaUVB8qlKSjs5O7/XdWe/3knPpj/P8A9aqE7K6V9H/Wmv5/eRMSSR2zjGeOPbj/AD69azc3dqy0fft/25+r+YPR6dl+S/UrPEzMCpOBzgD9ev06Y9xxhlzu2yvs9f8AgL/0l+sb3Du/6+X/AABwV1OSMnvn/Ddx27t9Klu/9f8AD/n63D12bTb+/wAnff8A4DJAMHP14xgfX3PvSC/l1/pddPn94xwcdT1/Ljr0/nn6Dncfr/X9f8EhxTd2391//bo+fT7re9njKy8jjjrwfXA+9nHv6jryqi017f15/l94vZx7v0t/9uv66I0wq4HTken8/wDI/kWb0/rvr5/122JnHldum6/r+refxSgJHfA/T/P+fWkQAwenb3z1z/h/nFHVLpr+Fv8APv8AeBDJuAyG24zgeoOMHryRjjkdcEDOa0s4ySWqbXR/hrK7+aIk3F33Tt5W/B/l81sfgZ/wWr/aEb4efCVPDGl33lanr8zWSCK4EcqEr88hQNuOyMYyAME4Gc/N97w5gKb9vOSd4whytaX9/o2vu36tpfa4MfXdOEUrXvK979orf3dL631STs72bl/F3qlreatJdXEFvdz3Exku2uLa2mla63OHlmeRUY4ikkRZS5QxsfmkBzu+vbStFX5Vrb7Vnvu9d9Lt9lfU+Ur1HKeltXpbTTfztvffTbVNs09M8CeL7u4h0yz0DVZLi+d4LiJ4ntw91bwfaZoyg2AHySJRyCykE561tLk5FrfXTpZb7tbrTrfa+/uxJ1VGPLayb1s01pv566Je71V7tIup8KfEn26JRa2OnOz2amS/1K3heNr2Xy7adcuW8gyKyTDgpwSFODWTcY66776a+v4Ne7f3dWrpRj96/iat66/l53W99btXRYk+GOrTW1+114n8LWS20F3fmM6hGPPa1vU0+WzKrJ88xdjPEp4eJWcZ25VuomvcST6r7Ou/du36pPl1Q+RyVk3frq/n1S1emnV20u3HnNU+Fum2iG8n+IfhzzrY3zG1jYzLKtoIz5cLCQ/69X/dtzyrA7sZoVWpayav3avp6vfe2/n9pqKVCSuuZ9db3autv8tOu8ftXrb4c+A7iIPN8UNChuPPkBhit5G3gW6ywEuJOkpcwE5GHQjkEIuka9Zu3MtNe7fror66LS9tdWiPqqf2n973Sv00vfS1m79rNmdN4I8C2ryyS/E+yFxOLKABbVw1slxIyXBT96WP2VcSbvlyOCVz80yxFe+iilf+XTo22u9vNtX67xX1ezvdqz11b/yeu2/3Bb+DfhZYiW4ufiQ+oSxJKHt7WxKlJPtYtgxkd2+Sa1DXXXn5Rk/w17etKL2WnbS++2rVk1d3s+7s+anQ5ouDu4vfR3117+n8r/Mnm0X4T3kW+PxvcIwlvvN822Xg22I7Ag7sf6bGCcHBR+inGazUqkt9b37N2Vr7Wvv2210syI4WMdY3Tas9W9+i01evle+qdvdjbw18JxP9ksvHt6w3ExmS0TzCpgWXaRkc+eTHkcYUFgc5rnlKtz+60npa+ut/TyVu+1o2NoU+TfprbXW+mm977bLuuW7Rf/4Q34Pxq0l58RtQiWVLTbHHZYw8xZZwGJGPJwGYkDuMEGnzYiUvfeiWqt2fX5tbPXe8NObX3Vpa7080vxjezt0+avY/rz/4N87HwnY/sYfEi38O6lfahaJ+0342+0XF0E3Ndj4Y/BxW8sDpE1uttKB2eRx61+ecWJrMaN9/qVPy/wCX+J/rz3e59ZkbTwlRrb6xL5fuqP6W9d+rP//R/kh17TptL1CfTbyJxOkm0xoMFmBGHXpujdTlTnkc8Yr+hlGPItry3vbfppe707OP4+7+M1+aE1bVLr08u6evb8Ps9PpOsW9vCbHWopLrT9mF2EfaLdW4LQu2MEdMZP05rkqQ5W2lr6fc9P6+5noYefMlGWu3lv8A8H0+d/dy9X8MKLKfUPD14NTsHbf5ZJ+3WOTn9/CcvtBO3euRkcL83yxCpzc0WraX063dtLcuvrf56qXe6cYRU1vLt/hu9dNfnp1tc4u2lvo7iZ42ZTaruaZH2MjDnCkYYt7FeehzkGorJqPlrun27e79/wA2la0qhLo+u3+Wzv0tqt9nZs6WDxLY6jEbbxBCbtQgIvdoivIkxgYIK+ZjPJY7ucjGfm5ae/y/Xv0KqytFX7/nu76/1ppe5G/hdpoHvdCu49RtANz22Sl6q9z5Z5lK8Z2nnqA38OyTf9b/ANfLzatc0pR2trs7W79tX5d77Wje5zbNcWs7faPNSQOqJDNHho8Y+8jAHHQdunRiTWVdWg/Wy8tfLd20Z1U7OfK72ab6W079L276deiNSDxNfabvjkna6gcAta3SebBtAztVJNwibacjy27jrgqvH9/Xz/4e3T7luzOpFc7Wiu72337ar899Ve5oRv4Y1yOKQNJol8GXiZg9g5J6lwQ0Q5GDsIHfoFqZu0ZP732X67arV6+aUdo8saXMlZrTa2+/fz2bvt7t7mTreh6lZsZ9iXdmV+S7tW+0W5AXOSyDAOARztx9cisIzcuu3nv+V/6ve1xqre2rvtZPbXvtre/ez9DCgmjiffGTuQBzIrkNF/s7sqTzjpk+xyobW8VG+1r+vNolZ9L6bK3e1jT44uL15l87Pe99tO1/NPVGld+N5d0dhfWsOp2rhIo1lwtxGZPkUrKFMhbB6Ek9tygZrz8RNWb27WfrbXb0tb535jpw9GMYuKfndLr7u1+ifre2vePEa6kFtros7cGExzRROnmFh5siBsH3UMAD3/GvInNvRXad319dNLaJWe611as1LR0PfjLl63WiTbt92/Xpu7WtPN8YSGLWlRcO0VpDE3GRhlHy/wAWDkntwcEdcLHVf9u/pZ7bN/NrRqNzr6/h59Nem77Xe+i3M3xrNJLe2iSEgWul2tqMsSVjyz7UyvGN+QSD3PGAKNfuV1fXorrVddOyWybuHR9lZ667JX6dbrtbZN3ZT8YeXHo3hS0Q/PDYSXhCjBIuGQg7vvPlYyMN369RXHila713faz/ACt0tp6WaNILdd3+Gydr6ddnr3dz3T9hXwS/j39qX4V6IYvNjg1wanOuMqILFGuMuORgN1zgdh82DXBG2m9u6trZWfbou3X7Vnzd8Nnbfz0Wi8m9r+V/wP7dPDULWzwQLlRDHHAoXosaRKgXt/dA46e/Br0oLWK8vy7P1X6dzyqn/Lzpdv5e8v0utn6b8v2L8ENMeTUnmcZ2FQp7F8jv25A6lvUcZrrjt63Xy77rZvTXVuzvZHBPro/nrdLt8u9/PtH9U/htCVjt8gEhV5BOOFJz0A6EZ685z0Jqmnv5r84+b7f1a8s4Kzf5fNrX7vL8Ly+r9BGbdAecY6c5yOAOn93Hf9Pn5sVsvVf+3HdTVt/5V+KT79P6t8Js6ha+fbyDAACnPHP5AH19RxzzisqM1zKL9Hqu3nFWez6+qsmaRV+aN7JvV28k/PZ9fvtsfxQ/8HUH7Kl1rvhj4VftFaLYPLceGdVl8J69NHCW/wCJbqSGS0aZlVuI548IW4G4gBs4rHG0udO/ftpv+d+9r3v5yeDm6WIadk+bR+bT6efa/mrWP4g5Ymgvo0yfkYKePvY9PUA9evA6nJC/N1qEYuaaW11fXXTTp17dNNbJn22Hq39+9uZXWvb5a2t2bv3aPuT4NahstdNljmLT2sqMFPGEyPl9cEcds/hlvlcwpx1XRy1urflfRLrfysrn6BlNbmsr9NbdbXfZK6XSyvd3vb3v0i8F366nBEkrKkc5DllPzRSbeQT0AI44Uk9DjANfJVqdpu2ibv33urfF3t06va3u/bUGlCNtbataq17273vpva17+9flPafC14ba7WZ51WS0mW1xkgvFIdu7JxkbTk9ME53YHzYShZvo9k+600S95ebfVaO9mz0KUW3fvorpd/8AFrbb8pHqs9pc2M0jW58+3lxNEyEOv70Aspzg4Jz3PfIrklLlqWba2tr+L202+atrex2wpaav7Wy9Laaq9010t11tYwLyyuba5+0QAoXBl2E/KSPvADgHAG3BY5wRkCtY1b6N+mt/v01et7Xb+/3Zr03y28mtV+va93ZW8tryzhGsd59ttWKfaYmMsLH5fOUZYFcdWx+f93q2qd1ftp3t5dP672ueW6dtmrX00+S6/LZeq3MmSzS/eW6t4lYMEW7t15lhmjY7pY1GSQVGT8vB5OcYqvaW+0tdvK/9aeT01NFCcdr63ei9Ldb3fbRabt25e18ONbwukDMp84lIpzkSIcfNHIfTIwcjPGAWx8vLiI35U13/AEfdb976edzuw0JxcuaLjfzunb000vp6tNvaPr2lwSGAvaSSwzxHa6D94Gx914/u8EevtwOA3m1Y2bTW17u1raL1s7aXvLe2lvd9bD30Vrrftffyez0V7J73PXdAvNRvbVLdSsz8ZSWPDxSIcgnAXdkg9fxx8prgxEbR/q+3TV9Eu2jaS3PXwbipy59rWv8A52S+/v2vaPtXhnVL2QwQXNoLe8h+VpFjIWUJ/s/KTnAAzg9MA8mvPls/ltvb+r/JPub1nGztvtdat7rRW0bS0ffS9kmeuWep6U+yO+tmVpXA37cBM/KxPPuCDj8e1c1TZdr/AHfL7+/fS/vcqleXdq9/vTfSL0ta6e2t1e8vRYdOgC21xpd5DOsafIHf5guBuUj5s7ScDj6E5NZ2/T8f+B/WhX9dP67PXcGkM8m1xGt1FubliFbHZR0PGf5noKuFrq+j226dXs9dP+AxXcdVf8Otk9/u03vpqwa6ezkBnjWS2cAMAfmRj/F1IIz/AC4wAHq5bN+rfz72s+nR2V9f7vbh/eSvu9/1Wll5X69lq4xPdxTzO8TKFZcIe+c5I24BJxxkE+vFZX+dvx07aaJ3eq162PRlQ/d8ytf079lpprfV63a0szWRGuTFKLnhRh7fOVOOOSTzk84J/wCBHPynTXR9H+unpb1bZzJdHv3t6bW2t311e795mitpaSx/OrEK3IjbA9dwz39eMdstn5Yn8L+Wlr2/y621v1drFN8tvw+X3fddPtfaWpBPp8MDsLZQ8B8sMUwW+v6+nIAyM5rD+v8AM2pzTtrbXpr8tlb8X/durGhBq1lIPNjjZ5SpAgI9OAQd3fp+HQ9FelvPT9b/AInW4xlG17t2Xm9/vve+jWmitrzacEtxMEMcIRmG0jdn5cdDgZ78jPoPXchKPL0d+vT8Lv8Ap21+I11uI7RoxLcqswyXBGAMg8YHJ9Pvcdec5o+X9fenr5fetBOldaaed9V59e9+2nRO5Eb2yl2i4ztuJWHmNwmVyRyQMA44ODj8dlPz/r9Gvv8ASxpTi++2m3f0d11/m9dG5alqdOWPPmwzNnHB3sq54XHzAAdyfqc/dXaPwre3f0v3t5208tLiqRuvldaWSf3LTfTX9TYmsbPZ5skyRQlFCMGIbnnHbkHA/wAQc1UWm9N+66X3uvmeclKV7tuzur9vvd/wenojgdX8Q/2bJOtrF5iKpUXEpBbjOWHqQeRgA564zmt43sl+V+um78v1sVaEPi76fl/Ne7Xe1o9tT5N+I3xEvdPN1KLo7zltpYcRqTlxnpjPfAOOCMYbalgquLqKMYt320b9Yu+ulr7eT5rRRksZhsLTnh6rSjK8nJva75rXdkk7K2q6vW6UvoD/AIJ7/s133xz8aT/Gj4g6bJP4M0icQeGrS+ibytYvopsNforqUeCLy/lcltwxjGM1+x8J8POME6ietr3V++uije17K2ne9mpfzv4h8aL208rwtRyhJ25o7axi9u99N2u9rJy/pL8O6Hb2cENpBEsMMMaRxJEuxURPuKAq/KFAACgAAYzmv1ClRhTjaK291aK/Z69d3q15Wl8MfwinWqVqkvatyblK71aeun3ekVr2SPRoY9iKvYEHJ4PT+XT8jwc5VzldNLT563/8BX5v9TrlDli5QtdLe2+1rPXf/t75XuXhgAYxgfl+HXv78e+KhaJJ9P68/wA/vFG7Wusmur26vtttt9w0vjI7/X/7E/iM+3FMttJvS7u/Rf5+en33Iqwe79WQ3fUmUfL6E55/z1pAVbq7tbJBJdSBByckMxOPRV5OO/BwOTjowBkN4l0Tki8H08mb6f3B9ev5UD3+5/hr5f132L9rf2V9GZLS4inRSVYxsG2leGDDkggggg8jocYxQIyLzW9JtzsluwsgIHEcjDvnBVWU46Zz9MYwoH9f1/X5jofEujyFY1u9znp+7lH5krgDvk4+nBDN9PT/AD/S39WIqX0un8/6/T0vZmlJLEITO0irEq7y5PyhcZyT0x749+MUjHz/AA9Pn5vt6v7NOx1Oyu5XhhuFZ8MQvzLnbjkblXcBnnbu68kZAZxjd+a6eT39Nt/8lGR1Xn9/3fdv6dTP8UazZ+H9Lub++m2LDDJKNqM7bU54RQST+PHcjANdtCPNUje1r63fr9/9dyal+W9tb/Lb8dXt/mfxH/8ABVX40N8UPjTe6fb6NrniZdElmSxtEstQTTbKeO6V1uppFhZZtwhETRKuSu4kncDX6dllOlQoRtOK5l1t0vvd30vf8rX5T5vMJzkoJRk/elo7vt6Wu7va3XS1o/kXqvxO8Qyrd2mmXek6Os41oXOk6TYxW7xrqZhjvrRLiWJZvKSSBGEeFeBwQp4YV66pykuZWsvv3V+tn5rTys1eXjJpSbejW7a13euu+tuv3mOPEnjWeGK7lg8W3E7bZIb60g1No2kEIt/Pjnto9rs8KiMyIxBQbDn5hRTdJycKtSMbLq/v0d7Ppa/33R0VpSVGLpwlL3uz7bvvqrb6Pa9zgdXur15VbUoNVt5GX5ft3261mcmTKyhbry2kiEqlUeMMofceDnZ0Knh5p2qxfo09fl5O1tL/ACvLzZ1qqd3TlF72eia11W99m7Wiu117xSt4GmlLWdncXc81vI0dlCtzeXMix5MsjRQiWT75yWx8vyuxGaVSlRpQc+ZP1dlbf77+fyld8uVKpiPae5TlJO9kk2tVpZXWzjrr630MKJdW1O9j00aXPLqiSvZw6dbWdxNdfug7SxNbJG0pnhjjmM6mPfH5biTG1yuXNBLmvFQ3v0s/O63VmtdU+p0qrWbsqTb0drO6su3W3a8utnojSl8G6+8Zi/4RvxGnkygL5Og6kHfAyCv+igBM5A3Nnf0JJK1Ma1BaucLWeievru3fbdLV9WkPnxGzpSt5xfR97tK17N/grXM6Twf4yuZndfB/idn2KcyeH9TDbc7Vdk+y7sZU7227GwRuBBNZTr0n9uOj3uutvNJfc36aC5sRo/Zy07Lp+du2+9l2jXtfCvia8aZbfRdWVt0cToLOVkbzFy6tlAQxPzIDt2j5QCRW6nF03azVt9L2126Pb4rxvu3oT7Wr8PLr06b7Lbb4dNGtddG5bSfD3xUNNjkXwxrkluZVaW+j0q6e1jImEUWblI2iDM58oBmBLkIcsQFUK1NXi5Lm5VaPMr7drdbXT38mknJqVdq/K2t72vt07Prpp+koj4O8Tyahut9A1XzvmiWd7N4wkcJAZymwfNG/yycbh7g/Nm5x9pHZWa8tFdWd+mz02vZ32iKdWUtVo3a3z201Vrt6N7efu7Fz8MviVcwOkfhjUbxBmKWRLb5YXcb1BOVwXQZXHPrjkNrKtTlokv5r7aarX1vbaV+1mjTknfW7ta+j73tu2u+7Xe1ly/2Lf8G8ng/xB4c/Yo+I9rrNobW4vP2mvGOoQRMyMxtJvhR8FYYmYAkq3mW8q7Www25IGQW/NOL2nmdFr/oCpb66+3xPZJetl99j67IadsHV5lr9Zn/d/wCXVHpr/XbY/9L+VxdW0jVrQabrUbibH+i6vGR9vspujBmcf6RCRz5Jww9e7f0HWhVTi7e50d0vJ6au113++yPyaU6Ekldtvo4uy63Xddtl16WlzPiDw/e6PYCeB/7Ssy6tHe2mXKDP3Z0BZon6sY2CjnIIPFYucXo2/wDwG6fns1o7b29dGKNOa96KTi/le3f4l8/wd7RyY5rrR5ra+0+5keSZVknU4RQxUfK4I9ezD8OgohSldtaLbo9b3vuumj2762sdE6jgkqiaWiWt9fl39enS0jcN54X1qKf+1g2g6izBX1G1j327M2PnubXh9zDOZIyWAP3duTWNWMuVrd6q17W32W1nbzX3WjtTlzWtve2vbtsr6/cu20ee1bw1dQWxktmi1S0VSF1Gwf7Qrx5+QyovzxtjqjhSOh5rlimnZ9vv29dvP10u0aVI1JcsV73L00S5bW632fS/3mHDNf2/lG3v5bURDI8oeWVcdiwIKtnAwd2ePu9K1VnfWyvu/XrutOu1tdXqjroVadNcs201ZX1lb5f5uXqdkPFcerQQWusaJDqBjjVJNQi22t7uQ480yldsrKBkF9qt0PX5ca2sHZb8qeuuj0t72v5q32nqa+9KblFW0ve9k7pWv922ve7tci1HQLTWXik0jU4b/LCR9OvI1s7+N0UDyo34huwvBypzznluK5PZy002/K3lfZPp26XsYVXOMm5LX1Wnbbm39JX301OS1PSP7NmEN1GYZQPNaBiyshDYI7g5PQDAPvzUTj9nS7ezV72/4HX0FKo3TaT0Tt66+itb9VouUitNV1LTLkHTpxHG6nfb7GmjlzgtG8HMbZwck7CB0x/DyVJRhrs4rXrsvO3pp01d9iqSqXStve1rX8lbTe3R2aWtiWLWtF1zUbOzl0h7G9kvbaKRrXdJbPCJP3pkhxvEjckFCxXOOcfNx1sUuWUb3bT7ea2dumvTXpLRR9GlSnypuLfTddN392nKla3ZnBXLed4qkiiD+UNaKQBWkVkjgu3RdyFSynCr8vJPtjFeb7WT0e11e70t321avv8Agrc0eqm5qUdFfa97btarfbZfZ9L3DVJfP8ZTqfnWbVgTuDO6mMogxuCkYC559ycj5WXuvb+uZ2dlbt6rXZW97rin12vo762em1m31/S6dpR69brP4jIiyQ15bwsB1ba8Zxx8xwo6Aj/eJqftPo9fPW2u3fyvrpZ7FX1d73t2bd7dtXr0/TY5vxlMZNdv0XlYJUiVPnLCOCOMEASkEZOV7jjPzAg0Wumr9dbed9rNLotN77NambqRSd3vto9VbV9lttt2LXj+R5ZNCt8wOsXhjS3hMbJviMqzMyz7ePNBU9TyOcNk7eHGWgm5aL8Hqlpp+FnZ97I3pK70v3vZ9Hq0+1revTY/Tj/gjH8O38R/tD654wljL2nhPw3OqSbNwF3euqRjeQRnZu4BHGOeqVxRtKy217bX+78/uuehFOMX0dm1vpbzV9X6fd8R/V3pVs6Xsbpk8jKbcbi3b369snn2AX1Kabtrsl1+6z6bJ7dOlzx6lSNp+W9tdpX8raWe8r7u1z9BPgDobzQI8kRGW83dtGQc5ABBzwDyPQ/w9G64pyTS0fVPt3d93fVPv5HHNp3d7q2+3z0v63t99j9GvA1vtEKRqcDjOCoxs2g9OMZ/H/ZySybt9ye+zUrtare3bm/JGUXZ6tu66vr+Cu738r633PpjRAyxIMDICYGRg7QenTrnsD9eKwxD9oko7p31179fc/H523O2nNeetv62037a26fZ7AQ70I29VOfUjP6dfTjPOa5IQ9m3KTvre1rWv83f0t6SR1U4WTb6u6v+urve60aVz89v+CjP7NelftI/su/Fj4b6hZRXE+q+FdVu9IkeASPa61YWc1xp00I2lhKJowFK8ktkMMfL0OUasXFLW3V9tevdafo73jyVL0qvO7aP9Ld1Zteend3aP8k34geF77wr4t1zw7qFrPbX2h6xqWj3VvLH5Usd1Y3s1rIrh8MjZjJIKn2AOa+Yx6lSqTjJ3Se69Ffu3q+8tdO7h9hllRYilScGtm/evZ7qyS9F1+657H8Hbl4bmO1uJvK4LxFiQDjI29TjofQHPIzivmMwoTnDmTVnta/Nd7X7W0drvZXS15fvcnk6U4qT5rW69tLPvfe+uy0ad4/o54G1qNbKGaEkywKguIQeqbhukHzct3B+Xue2K+Tr0ZqUptrrfT5W6paWb/Dms1L73DVYzlGKbS0eva26t303Uemm59c6Jp9lqlna3UPKXKKWlUfMrbA2Hx0ZT+I6ZYZNebVrKDV+9lb56ed7W7NPufS0cO3FS5lbdddPwvZ2737rY9R0uXUNAitnuI21CyiZZS/zMWtHOxkfg4KdQQemScfw+biJ803JO3uq/V3TvvpZ+v4/a7qMLK/Vv1t5/O137tvs6WaL+t6Uuq21tJZT+XFMZpLS4V/uMwz5Z4GM4xjnJyPelSk52W21mnfRbp6L536PZ3cRV4Xi7vp0Xm9veX5R+ex5teWepwwtO7IPscywXO3IkZgflkMedwD4xnJGPWu+N6cbSvJt33sl2Xwy2/q9/d8eWk7Wurt6936W7dtHpoXdNUTyPc2Ti2uoZvKuF2gCRXxhm+6Nr/dLE88fdIFZq/M23e/b5Wd776f8Cyud9BRekldaa2s/1vZ9rXvrfU6W38N3N60t1p7rFdRPtmtVJzJJgMxCHBHJO2RVCnOR0JZ1ZJqzv10tfbvdK/nH8XsdNVR5otWitb327L7T9F37LRnoHhnUNZ0+aNLmzKSxjypFOSJYv4WGV5cEEn5upA9RXFVgrvV+V9fL7k79VfZXTvHejNWS6rz7L0WnzbtpbRyPfdCv5JGt7oWy20o2F9o2hzuHJAwc4xycE9SDnFcOIpuUXraz/wCAtNtL2drrWy7R7acpXbi+Vrq9dNL6XtvZ9UrtJKx7rp199rUKYUjvI9jQsRsMvPODtBZSOegz14+7XlSi05R07bf8F7a7Ps9DVxm7Scr6J31/LS9nprs9rv3Tv9Pjt9UzZzIi3irgxk7CSvUjOM+oABJGSNvSolh5SStJfc/u38vPWz1tYVuSz0e3S3e9n73p/wDJWvHuLC1SCJIixg3HbndgAqcHb3xnH1HrkM2Tw7Ttzrzsv66ecvUtPm2XV76/kku3TrdvT3erNpbZhEzwyvGq4lT5XCt/z0J3A8Hn0wOuNqns3Hqmlbpd+aWzv2VtL6Xvcrazf4NavfS+6V1fur25k241dR0+CaVoWmVYNi8BtzEdv4hk8HGM898gtQ/eT6dPn1Vtvxjp1+E66E42Vou76pq3/AV35ed78piz6DJBIJUlVwka4jj4MaHoW5wzEdcDI6c8ms3Dr0vbbu+/Mu/z/u3PTdZciVnr1v57dfldaXW+psWOku7LJFI5JGXDHaufT6n0weMjceahfO/4W8+1t/u7HPOaSvytveyduvo9unw+ruuXfg02eJSzTRswO7yxKPmA9z1P4N9f4aUlzKy799vJrTS/mkt3e6OV4i+nLJa6622681mrafLe0r3Lyvb3YWJlhj2EeZtPJYce28nn+fPLVm6bSevZ66JdP5n/AMBuzavY3gm7NPR/PT77d9NPV/Z6BLDS0iWeOdI3UY5I3McAcLjtn72PqDis36b9O9+nRa+v3HTTly1IaOSUtlu91vp+WnlYqRX72syw23kFt2Hk43d+cliAeoP06jAFH9f1/X5nfUbdnGD7/f8Af+nmne5fudPM6/bCwmkcZf5h8vuPQg889O9K+uz7eTXfrtbTVeXXkUaklaPs3d6dGl5v3k79V93u6i6esGoQPFdiOMjKREFcgDvzwO/PGMfQNS1aXe34fd+evkVJuhq4c/Ta34t/pfW3bl0IdMjsYyykoGOFYEfNwOd/cYOSOOnGTg1uk1HSztGT23X+aa0ej162bOWeJ5nK1K2r3d7LbXT79e17293j9cu72zARbuSbJJRFJMa55APLAAZ9CepPBxSwtP2q5pT5FdvZ9PJW27XdnpzaNmEsTBPkVNdbe8rfPq9eu+l+jPH/ABj4s+w2by3V0pmRTiESYGQOc89+O/txxt9GnG75Yxc2/VPfTou9lpa/e55uOk4rn5uX9Pnonfz9bO9jwX4R/DDxH+1f8ZbLwDo0dzb+HbS4t9Q8Y6rCrPBZaNFcK01kLhcRpdXiiREj3BtrZwerfpvCGSzxFSM6tPkTaaur/do7d7fna0vybj/iqnleDlh6MlWr1FpVU1HlbcXZr4nZX/NXvaP9Y/wr+HOhfD/wj4f8H+G7C303RtBsLbTrC1t4EiVYbdAisyqo3SHaXkfJZ3YljytfsVKmsHCNOnS5ntvya/c+222vXaX83V5vFOpiq9ZzqSldN6Nel3393SStbVu1j3ywtHQZK4OAAdvIx19DyR6flSvJt30TfvLdW316XfZJd7JEqC5VZpW+0l+CSbe76N9L2+zvIoUD1A/z349Pf/Z6VS0W/wDX9f1oaRbi9XzWel9F92v9O11uI7HJXt/n2/qf1+XNzadraJ9//tH+f3jk+qVubXe73el+2nl6LYbsPpx9aXtH0S+//wC5kEqjAAqW7u/9fkvy+8BaQGFLI48T6ImcKbbUyQDgNiFMZ6/3s9G59MjbE/h9X/wf08vwtKktbdJL+u3VW3Xe8jkZfFmrltb365bW0lnrGtWlrZtoryt5FlqFxBZqW3K0xaKOMGRQPNOXQgMNooRsn5Xv/wAC/wDW9ugfC7W1XX1+bXXaz6LR+8a800kzeGr+a1isdb1HT5JNWtYvkk+zmzWRzNHxIRBdMiw+fueDzZYdxYyGiH2rO6urf1t93+Q5Wsn1dn/XzKc+s6jpPhbwrNZXNvbte6qtld3N3aTXyR2r22r3DMEhliMb+dbW4Erl0Vd0fllnUrKScmn5+fX1j+f3W94a9xPtf8X/AF0+6xF/wkOpXD/Zm17S54Z0eOVU0i6ibY42viQ3GEO0nDMMDOTnHy2oRXfdPa3/ALe/v6dncxm2tOjX9dH+nqaN3AJ5dE8PROSk8kc10wbn+zdPCzThsLnbcMsVpnjJuBgofmpy91P1svX8fu/FbmcVd2/rv5f1rrsU73XP7atbrWbeIwyeFPEU9s4G9BdaKxWCW7+dTuhlRhdhgQB9jYEgbtyheElfZ6P8f8V//Jb+VjRpT95Npxdlpv8Alb017q9rx8W+N3xJt/CU2m/6Rma60vXHggSTLyeXZb0wg5YAnOe3UZzlfZw2Ec6ftW2lzR0to77a9XpppJeWiMqk7NQsrJWv1v2trul31XdXP4xvjR+2P+0Hb/Fv4sxan8SvhV4U0fw98WfH3hzT7PWNFh1LV00TRdV1aPQTPHbXbTy/aobS2sbmdSji5kd2SJQ237ihgaDw2HfspOUoRnP9443bjGWi5Wu636fC9z5nF4ur7WcIqMUm1dq7te1rX7LfS3ROzMX9sE/Cbx3+zf8AAz47eOlfSfiJ4j1Hw1HcL4a8PnT7/XLDVNK1uTXtJ8y/f+0ZtHtWsbHW9InvXvI7GOdYIrof2oz3GuVYmvQxdbDQpupRUZXTneKkpQ1WnKm+bl0s3u0+V8uGMoxq0IVW1Co3HaOtuq6trTmT100969jtPEfx8n+AX7DH7PXij4faVNcarrGqeHPDc0muxW11CLG70vxtrFyGgfakc0jaLaqJ1DMm5wF2udvLTw317NMTSmnFXnUXLLXSVNb27Pz72X2t5VHQwlKUZXdkrtb3Tem+r23+9nJfB79sfw/+0b4ps/gZ8cPg34N13w948j1qDw5rTvIb7T9Vh0ua+gguYAphtpylrcjR9a0j+z9Q0/UUsgxmaZbi36cZldXAQeKw1SpH2bjzLm3XNa/wq6v8SkrbtJWcY5UcXSxElRqxg3LZ20bWv8z2XW6/G5yf7MUUnwx/bt8TfDeDwr4VSPwfpfiq3tb25s5p7+80r+x9OvNHnuY/MWFDqej6jYXN+kfy/bdxQlNoox9SpWyylWk7Kc4KS395XUrejj8lpd3tEwvJDGTpcukYy5dfsq1vvVrauzdm/wCXhfgZ8SNek/4KO39jDpfh62W1+MX7Q5hmj0aGKQLb2PxReLfKC7yH+F8nLIMc5rqxUEsjpS5270cLo7W0dPpu9dtOnW7JjXise4qEX79VX81Gd31s/wDwHzvuemfHb/goD+1j4G+LPxF8FeFNA8DSeGvDniSfSNKu7j4ca3e3U9qsNtdieXUbfW7e3ucSySx+bBBGny+WApQlscBlOAxOGp1Z4mUKjXM4KcF8rNTeqt0V/LQdTMa0K0qaoxcE002mnb9e2m/dWal88Wf/AAUk+P6/GTwL4+8fRaXZafottP4c8V+H9A8O3mj/ANp+E9dubeS/uJrO/vr+R7/TpI4tW0coYN1xaraPKLe7mLdNbIaCwtSFCrKTb54NuMlzx6XTVrrS65t9b2uRHML1YucIxto0rq6b6X00evTZJ9HL0b9pz4YfFXxD8ZvA2qfBXxHNf/D/APaIvNNvdKvtKsYTovh7WVsW1XVNQdraJJ10afQxeeMIjLtLLHrdpAESzghXhwuOdDCVada6qYdcvJu5RTtFPVaqVoO1946JtM2r0oSq05U4xcarTfZXWtt903LZtrZLlXLzf7avx11LwdoXhH9lf4SeItQtfC/w4ttOk8ealDJE11rniO32X+n6fczpueW9tbqaXxLraxbIJNa1C1gCRNpRgirKKDrTqY2s/enf2d1e0W2m+llZKMUlpFPV3M8Xi6dNLDRUZcvxeb31s3fXVqy1t2vD8+LHxb481QmX/hJ9Yju7f7QkivclJJ5Ll9824H7pYAPKO+R6ivWrUo30k2t12XRX95dm9HJ+cbHGq0GtYLVaW019b3T6q17dtEo1v+E08XusiXPj3xLaGSXdJBDfTKkxj+XfIqvgLgbAzYyRj2bJUlFpuUr2XW//AAV33tr01M3Uj0vqurv5O2jvrbor62Wtz+xb/g3Y1C6vf2KfilNd3t5dz/8ADU/jhGlvJZZpQB8KPgkwUNIykJhtwUDaGdsYzivgeLYx/tKjZvTBU76y39vifN/133l9VkUk8JVd1/vM+v8A06o/117dLR//0/5R9W8K6hpEKyyymdZHWe1vLYCSzu0OcFJgQscmMAoxyPfNfv8A7WVSMVJaq6Xaz/yfRxvbVxtdn5IqN5XvdR6bbrrq3deX46OUOj6zfWE7lJQFY+XLbyKsls3/AF1jkwhL8A5IBz1OBujk1699rfc9vy/wJWZ1U5NLu1prpb8Jfl6305dK60zR/EUm9LiHRL+RWMls6ltLlKH+LJV7SSQ4Kqi+UQSQ4IAZVJuKVt72dn9/R/10ZFeKqKFtLSs77LS199vl56X97z2+0a/sjML6BYrcTboZTJvjZFOB5cjYX5vvBsltowfSpU01u7uOsd2vWWv/AAfK1zpw8Etbt8ul/RWt+e99NtrRr2mv6rptwzadOYFjTAHDRSAcbXjIKuDjJ7HHUZArGtFcl1vfTRvp11+W3o9kdEZNyd7LS3ezT3+y/lf5q3vb66roXiAFdWtJdOv59qPqWn7WiL9mltn2Ll+ASgZh1wcCuT+v62/P7rGkYRk7tfPva2lr9r/n71rRL/w3cWtmb2yuUv7GJZVa5t2fejIOtxbqCyYPBYnHD/eC/MLe3fb73pfS2mvXotLs2c/Zwl5aLe/bXe19OunS97nJGSONPtsUs7eQV82WPAVJM4Xyn3KyYYckDIweDnbXR7sU3sktdbtbJuy1d100+dm5efOcpSV9e3a/W3wvbzs9tLWlux+JbrVdPlj1qOPWrayiOXaRYby0hBwpjvAokyOytknkZHJrx8VV5YyknZpuy8nrfz/DvZbHZh6MptJp2l3t0vr8T3SlpdLvsmc74UaK91nVXt4yLe1028uIfNmE00SRoMeY7FVLD+8o3dOAeG8epiJSurb38rv7pbd/uWvu+vSwqTUn80uuqvrp2s7N2v8AaOc8Iln8W6bOivcKLmSUo27bIoV2HAO77w7MCOpJyCvE3d3vZ973f2t9mummno2mjv8AZ8sHbR2atbXRW1d1e9+zfTTQpaTB/aHjuHZtVZdYuZipVyqMszsACsskvUgkKwIHpg0l166Wt+PbfTTTfq9pc0HrHTS6Wjv/APJO/TVdetnyzaZJLP4wDtGskq3d1IElkfyz5QlJ4Ysei5ww5HHONymiv/iW2j6+mqt/wHax1xXvJafFZ31t287vZedr2+KMVnG154zgYZczag83lrtMZZDyqiQovGPoM44zhTS2npq+l1vbV3+X3pOW8oK13r07eivd6f5dbty4vxK0c2s3rRBV8y7k8zPBDCbY2ArMgwp4Kt25B5KtbpvdvZW07PVO+t+su71sYzpxet3t/wAP53vfe9/LRG18TZFi1LT4iyXBi8O6XCXi2ERqLcsijEal5QZSZHbGeM9Ca5cak4627d93HV9Vpa2vRu8brmihzRd79Xy2W7+59NddL3tu1L+ij/gij8Njonwb8Q+PbiARXXi7W7qKCUoBI1pZbYlKkc7SyZGOp6cE1zUKMXK9/uWluvo7y/8AJfgVkpdNSrJ7JxtZdtN9HZ7r9dJJWP3j0O3L6jZRFt0ksiKDjgDIxngdPb65XPy9sFutXr99r+V++687XVjy6n2raa3fTfdbv/Lzd0fqD8E9L+yadBlRudVJwOoweTxjHQcHPTjlTXbT9Onz3X5fdrp1MZWt87v0V3ZbXbtrfZd9UfcPha08oRFSFAAU/kO2COpz1/4Ec1m9U+lm38tdL97e71tbzTjkktH2a6Xv19b79OmjVrnuOkllCZILYXGMeo46Y65PT8+N3LPdW3283/V++t7a2Oqjql56vp9n8Nf60R3Vrl15PJB5/LtwPX2785IrlqT1vayWiX/B97t29L3vH0IJ+95f8N8+hla/pkV/YXFvKodJIpYnUjhlkQrz1BA56gdSNvJqqM7uydtr6bP7lp5tW9SK0G4tpa+avpbdarbR+fdJM/zB/wDgvX+x5H+zP+2j4t1HQ7CSz8LfE0zeN9OYRutsLy9lZ79ISMICLgyMVGdpbJ6AVwZnQi3Kpo+a23y2ut7a30WktEmuX0MoxKpzVLb2en36u6TVnqrK+vnc/HbwHftBPC7bhJCwLng5GR8pz04xngZ74z8vzOJp3pNWa20fV99+/k+2tlI/QsBXfPHXs+bqnrv6Wb9Nup+gvw71eG5lsJgSttPGttKoICmRvlBZc8/iTxnGcCvj8VT5XLe2+q0fdX0vZu69bWs24/eYKtZwlvZq2sktEtL6X03SerV+r5fu/wCHt7d6bbtpcRWWGV0khLHeQwXJjX5eOMdM5zgYwS3zleF277X8k+u/n1tZtd7WUftsDXcoqN0lZO291orbp3d7rfp2SPoXQ3eYRzSlvstx/o88JUNGJAdjICcBM4B2/Nxz8uTu86vBRdu0Va+uy0slf5ysk2+yuevCK0atfbTbW3+F67vv1tsQa1oktn5kenXBjt2nMsMG4lVkBLbRg/LwARt3D5vm+XmsqUuVrZdb/NW00v1W++2usaqUnKLWj+Vr+mr1vbRvXyOLvIru2kk1Q7pfPj8m7hkAKmSP7pKcKOQPmGeMZ6A13+0TS0/Hpp15Hf52023seXUw9pXk7O78v8073tt562XNc0exttYgW50t/Iv8NDfWYwRKoOflUkkHgYbCsO2BhaPaeX4//c/X+kQk47O1rrstdPk1bZLvqtWdpZ215CYprRnjv7dFSdTjdIsZxubu4YEgsdpx25AXOdSL1ad+17Pts1Lyvu3unpYUqk+ZaN9G1pdfdLsn3vq7WcY+l2OojUo4be9g+zX0ce6MiNfn9cMMfeweGHrkDjbzTle26Sd1b11vou+3Xyuom8JSTVl73R76dW9VfRJp69u6PRdG1B45beG4gWSKVPIkITA5HysDkFSD6c8gcZJXnqO8dtl87+t3ol3STab1PVwzblLXW3rb56u2zv71rWa1Uj17QlaaP7LFcv8AabQs1uJh8wjJyMScFlBIGCWPsuK8qp8T0t8/w8rfPv5R7100u7b93s/LXfS+9ut4+k2/2u8jikMccWoWIV/MifZ5qjnJAGWHUfMPUHAzttXt3sttte1tl09d3siZRT016W+75Xt0/W1zvtM1KC+ijWSEx3BASZmBdV2rywC8YyQcnb67iRhc576dddf+D/wO3S8rjHZLbTX5vpprZd3bX4rtnQQlISyrIbkyE89FypyAM/MCMDgZ6cdyuUtt7LTXVp+qt389etmvetx0t072+ST18+72S849Fb/YLpQkyLHdqmF3fIrYwQQGJJ7n9ecgtmm1qv8Ah9003bfbVJ7WfwpRumlFpaW2V93923bfz02jSNjMksisSiMCVBYuW2/7QyMADgdO2BkvTeu/bpfr2XzXTz6Ny63Uta7Vr209N2tk/m9N7NWJ4bPVo4yVgZYWwUwSzfio5A6nOf8AaAOSqw4R/Nbfc91f0suza0REpx1d9dU11026XvfT4X302L1ppVzJ80szRyZyR827aTyQMHOfQjrxls4qZQSu+tn5r9fy801Y5ZSvJy21emjXTreNtL79N9rytCyhgZ5YZpHEfIMqDJbqcDgknsSeeOmaylrH1X/AV15W7X6u+h10HdryaW/a3y06dV57Rvo5vLUCW2WLAI3KCpIHGMjO0k+n445NYf1f177669rrz0Ov4ZKaV0u2lrb9fLsredzQh021ktGhtVXz2GXcnc5PXGck556gA889RQtWlfe1tb36dE+lv81ext9atZ63Tvsvu311Wy+7RIbDYapbloI1yhUjLFuMjt83UY6dsdyfm2jS06vp2XrZcza6fF9+qif2jBJtxV1qr20+/TRLbXaz6KMz6Y8sUWwuJYmKyD7uS3cEHsSD1boMYx8uvsrW1Vmr7f5tPp5f4paI56mZRqLTW/p/9r8777XW8pJRcwFUncpbxR4EjEsd3oRyB7fkMZ+Wdn9yduu+uzT9LdLaO559XHJXS0/XSz69v7ytv1UZeO+NPG9lpkbjKyygsoZiAox2IGDwBn+WQMVt7GXLaCs3ry9Ld92k27faW3qclOrLmU279fv7f127s+H/ABv4k8R+PvENh4S8H2zal4g1y9j0/T7O33M7T3DrGvCA4RQQzvjgckDOF+74UyOeMqRlOLet9Vvr6tJp3fS/RPRHynFHEdLA0ZKUldKXVL7Pn566uyWqtY/pC/YO/ZUg/Zy+Flhp+pRwXfjbX5I9a8WamF3ym+ukixYiVgHMNkihAn3QxY4BJr96wODo4OivZxSlGKWlldpa9Fa71+XwreP8nZ1meKzbF1uebcPaztdtrlcnbySaXT00unL9MdKstgTAAK85A6AHkduT7Z+g4Na0sUvaS579Oy32fnZd4q+11dnJ9X5qXInrZrfVvzXZPbWy3V+ZnZW4wuD6jnGPr/nJ+pzUvdvu7/1ov67WSjulaMVv/Xr3T67WSk7e7PQNatLu/wCu35/cQkMxzg8+39ePzx+VYPd+v9d/67bA/wAOnp+Pfv8AfYlHAA9B/n1/n+dIQtABQBgTg/8ACT6GSettqn/olPf0/wBkfU4zUT2+ZcdZLyX/AA/Xu79fRHKR+JrqV9ZM3jCxsWs9c1yxitmtLAm3gsNSubaCOQvGXd0iiVXZvmcjcSCSaFBWWnRdQc3d69e1/wDL+u9rlgN9r0vRfFU1rBb65eTf2fd3NvAtu2p2KyX0FvJKpLu0csMMV/ah2kaCOVo0IjZ1oTtJx6fl/Xr99wlrFPq3/Xbt/wAPa42fW59E8K+EZIdStNKW/wBXXT57q8iSaPyHtNaujGgdlVZGktIiH5wiuMfNmpSTlJPz/P1X5/fYd2oK3f17/wCX9WGP4ghvQ1nc+MdIuYLlDFJDDBbxyOrcFUdWJVsdCDx1wcHdagk7q9/u/wDbpf13+zhUk3bzXb+tv62LNtf2UFtrfiK6u7iK1nMfhvSp7OB7u4TD+RJcWkMMUskkj30oD5MiKNOEjqqq5pSu2opXtrb+tv67kwslKTdrvt5L1v8Ad99veo+HY/D+k3S6edS8QXMetWUehx2+qaU9rZSC3hnePdNFY2yRTPC1xEhlba5lWNAHKBi0207Ws73/AKm/LqvmXG3LZN2v+O38q/J3+Vj8W/2wvi5Ppvx98K/DOO/mOp6VpPiuyulEn71oItNjls7o7RGf9ItJYJwQoBWXhcbGb7zBUVLLYVLWfNBddXd82uttezXmtzy6lV+3dPdLmt9ytd26p6ppdFpZH803xP8A2wvivofxb+JXh6z+DPwM1618M/Ebxpo9jf6h8P8AXb7WdU0zQvFWo6Yt7qGrxeKxBLrFzFbCTUL1NP8AK+3SvObREZbevo4ZZRdChUeIxClUpQlyxqLli5QTSUeVO19tdtr2Z4OIxsoVZRVKlLlnJNuLbsm+vNG70vtf3vhbT5t39tPwT4h+NXwl+Av7Qun6P4q0/VfEX23w3qvgafU7u68PaVerpV5f6mNMt7zZDYTW95oFzbyXVjFZHV7JbG4ubVbhHLZ5XVeHr4nC2T5btTUUp/Eoq7VrtqSaT5uVt2btYnGXqUaNZJpytGSb2TV3JLbRp/ZV9G9uWXQ/HPwP4ki/YF/Zlsbu3tLOaLxl4QErXt7bQW0HmeDviU0Rlkc7cuGUc87jzuxhcMBiPZ5xiZPS8Jp37e0pN9u1rty7O1kXWpyqYKkrveN7dXaW97WXXpfs7WPBP2LP2f8Axr4j+PvgjxpHeaOfCvg7VNS17W9Ygv8A7dZ2gstOvIrXTJZ4Yns4tSvb+6sljsvNS4Nk1zdovlwu9ejm2Yr6pOlf36qUVHmV7XWtuW+iTd9noly3scuEwb9tGeq5W3J728k/d1b6e7pqr2Tj9KfCweEfFv8AwUg+IfizTvHfhqe3vbHxJoUIsZpruZ/+EQ8JeGfDEs2+PzYpLW6uNHuDBLE2yU/Ou2NlWvMxM5LJ8PTkn8cZ+aUpzkt/J67NPTW95dFKEZZhUmnf3XHTTRRjF9ZKzt+PRtOPkvwa0v4fQf8ABSG9MHjSe7v0+Mn7Qbi0tdMKQyNNoXxNe5jeVipb7FLvibjDsCcDIDdGOjL+xKLTuvY4e2nS9K9turff53vFUMPF4+U73tOs+9r+0Vul9+lvn8Z6T8cv25NU+Hnxi8eeBdK8U3f9keHfEK6dYWq+BNNujBCltC91Hc6hc3yNcGNpSY5CgLAhSBtrjweXwlhIV5Kact2pNWu3tp5fyybv/wBunTWnKNSUISj7suVaeV+7TfV+truyPz3+Lnxa+H3xf8Uah458UXniW98SX9mljf3VnpVjptjt0q1istGItY7h0UeTConKNyfnAbJFezhpuhTVOkpKPM9Xq7t3b+zrfy662t73l16XtJOrNpN6X02Vvv066b2ezcv0n/Yz+NOjaP8AsmfG7UtMtta1dfgppHi7WfCA1me3la3gh8F6l4oXSiY3k32NvrkFxPawSHdHa3T2gItkgji8HMqaljaS5XFYhxU+l7zUXLSO7jbpur/4u/B/wJrmv7NNwvb+W9ntopect7NKx+SbfE7wbLqMt/dfDi51jWLy/Os63fanrUrNqOp3ss11rV3csuWln1GW4e4L5T99vPGcN7lOLgowilGNoqK0VvdVl59FdWXzVpebLDqTlKTu5Sblfdu93vtfdtPa17ooXfxP8PRW00Vl8PtNDz2ksDTvdz+akrz+bBciTIJeKJvJyu4umN2fvV1JOXvau++mmjvru0nZLVP5JJF/VYqK1+y7NWt210vZ/h30SKUXxda3SBrL4deDopYZnkeS5glupbhJYPJ+zyiT5ZI1P75FAyrkfMvRiUbJtaK2qe6+a0utP5Vp9p6xlUIr4pJ26dd3p1asr9L7b2sf2L/8G9XjHWPE37FnxIvNTsLCzmtP2mvGGmwxWVlHbRG2tvhR8FXidljVRJJmZ0aVtzsEUMflCr+bcUp/2jSd2ubCU30/5/YjvD/LS3k5fV5KoxwtRQd19Yn56+zpLX7vL9Zf/9T+VrSvEs+lr9lk8meyhkw1tcrvglEn8ARidhU8Bkxg9N2c1/Rdehyqm4aqSbdl5pap731v2+cT8qouLjdzSbtfy38tf/Je/kP1HSbLWsy6FcxwXPmK8+lO3DoTuYQyEZ7/AC7iMFew+aly2i299Fr1/pd7+rvaJKXvNpu3f/gar8fPW5xlza32kXkkN3DNE2/959o3Fm4BQLn5SoX5QVLfTB3Vx1IJp3vo7rS3q94q22/fdWalqpRaSum79rfPrvr0vstbomtfEz2ltdRPAl1Dcrta1uh5sIUsOME5QgDI2sCMdTnFcc3FS5U9tNe93qt+q2v13f2u2npC/Rfdtv39L/ox8Wi6Lqduv9mz/Yrll3fZZn3wM5HKQMysyDJ4QluO4wN0wjU3qRcI93bXttfpe2lvVtqXLUn/AC3b5trpW9dG2r2XXvd7nL6rYXelyrBdW72zEhopsZR/Qq4ymWx8uevXAyorTli9pdbXte3rotPv8paWN4VJNe8mvNv9Er697+trWMuHWtQ0q7aazups790qBwEYBssXj5R1bkY4VhkA87U5sTKFGk583VLVbK6W3TZdV6aJyqDnVm4KLs336peaj1u/zSvaWv4t1fT9T0Cx1U6XbWWqXc5jE9sjQJdJF8sjzRKwiZgP4lUnPOec15ssZBxtzL8fNpbLqr21V99kzohhpp3lFy+77+nbut+tkctayyx+B9fvflSO9vLOxOANyrE29ip5bBLjO0jO3kV42IqznzPVx07fjfu1rtot1opetThCCSvdpJr7tui2b66bLl1kHw/V5T4j2pl4tDuiNvGEYAZf5hkYPTBJ/HFc0UtNeurfe9n/AFp89WdMJbLdPbv67ff8PbpYqeConfxPZZXy/skF7KwMYK/u7d2BZCRuBJ47HHVcKy6yUOR+9aST6XT/AKv/AFZmzclTk7abvyXXr2/xejuuan4KjD+KJLkyEtarqlxgYXOC5Vw38OOQAAOeeRwvJdNaJ9G/6962r/L3Xd8vLGUbrqly7PdfNab9G/nblJvBsZj1rUr9o/MWCy1BkyQ58yRWG4lsjKlj0GeOQSwNVpaz3Vm7Leztvdbp3876aK8eqMlpZNrd67Wen8z1T6/jrGMPgqTyPFcd80azG1F9cKhRW3Ao/OZMxgruyMIDnpg53T2V7L/Pq+trrvp5aFuo9+71V77ddY9bu7W2+ukTzy5ZL3WfMjXb517LmM8rl7noRj09DjnHGcU0tu+r03026rqn3f4Ixk6spJ2stb7bbrbppbpa+6u2a/xIMs3icWakF2i0qxXZnGXjiiEeGCnhmwFHToCOK87FqtCSUrxvfta61tdNt6pPrts27no0aaavFX637Lp29NE3u/M/sl/YK8EJ4C/Zv+FHh1IvLmHh22v58IFZ5r9BduzABeSHAORxjnBI3GH9pBXkny30Te2/q23001vs7LmyrOCklza289bq2m667W+/U/RXwPam+8T2EW0sPMBIA7j9TnPsOegBxXdCEuvZNa/je1tLX1100cfteVOSV132813/AKUfLY/WH4WaaI7K1yCCqqMdPukZH4bR6YJz2w3VGVua73SXo/ub6/pZmGkk7au2y00abv8AZ9d/S2ql9baHF8seOdxBUDvnHfPr7H9fliTSck33u+/p067ed02k1GYxldd+bXXt3311a2820ew6Lb8BzkEAEe5yOBwMD3yfwwa5JzinZ6u3yV/k7/erWOulCSUXbZ6+VkvO722srf8ApXbW6kNyOOef89en6/WvPqS5np57+f8AXf7j0KasnfrZ/K6/rp+sr7Qh4ix5yCNvbGce2D9M/jjClOXK9eu7XT0Vnf5ted7mk7Sjo9b/AIdbqz6eVu9tD+W//g5i/ZT/AOFofsuWHxg0PSJ77xB8LNUW4nntLfzZ20G+VkvYpCE3CKBik2c4XnAPSu+rCOIw0VB3klqmtN9L73t6aPs1c4KEpYfGyqTdoSa5ftOyWi26N2bv81duP+etoqtp9/J5gYAMPMGBy2SCR6dM8Z6++F+OxdqcnQldzTaur26b7bX+/eSunH9Hy6Xtqca0G+VLW7d3qraK2qu9GuvTVQ+u/hbq6280VpKSYLkJNbyF8bJlwdo5A2sVOe449Mr8rmNJxm48sXZKVvJrq+VW37u7er0Pt8sqqrGKi3pfvvor9fL13VrtH6KeDNTaSwhmhcsUEM0O0lmWWM/OvQZQgdyTzx0If5TE03GUr27p2317NrV9bqyt1bPustqKDipPV2tb1jo7u3ld79LW5T6a8I+Ihb3P7wC50vVCsjwsvNvcCPa5QkcZkAHf5ehHRvHr/EtbXX3Jfhtqt316Xj9fShzxUk0lpbpfS7ttvddet9D0Oz1CzvtSFrKIxBeRZHmDmG4i4GM9d2B1PXjmub3rrTTT10un1Sd9PNxWtt49fs7ray2dun/A6W0sne6slLJ1XTY4r6SBtvk3GVRcZDP03Dv1HUnJ9gDW0JpWi09bK91Zfi1rdaq333R5eMw1XnjblS5euvfbt9++1rI4mw0Z7We/a2le21SzkM1uwzskjB5G0gBuMA8d+Ad2G3/r+uv4/dZnL7GS31vbv06fJ79Fy2d9JS9C0K9n1yJfM22Ot2waKSdR+6uIeMZUjhick4BJz3IrCc0++m+u9+27+9eaSVkYOSVlaW+m3p+XnGz2ejO206O9s0jj1SNJCzkQXcY4XuAXKnGT15Ue54rCU790l5/8CL6dE9/M6aUoP7LfbVNddmkrXVr6O3VLY7+2tWikhFzvVJRG0c8ZxGCcHJYKewz2A9TkmsJz91pX109PN6euydvO56NCaje+jta73SXTfXf+7fdJX9317RLaKcwTJOweJB8ykElQOrEDLAjjvyR12k1wzptu6vbs122vrukr2stNrX5jshJSdrbPm31tu7bK3XfVt2/u+n2r6XcPDPBciJ1iEJGTyy8EPwO/scjqBkChuyjfte9+3TZ77emyaaKezk7b3t176WVuvbTsrs7PT7bMQeGYCQ7vkzjqe5HPfoOo5O3BDTb2mqstrp3ejvr8Stf0fWy2Eq0dFy+XbR9/uvtLs0dPDp8yQx5lywIYR4G4scYJ/PA6juGHIYqUnGN+ZWW9r+em36dPhT+LqjUjZXjfTtfy/lXe/V9bLY1441kWPerQO5IaVhu2lMYz1IBPsOPodnNte/TT7+y1t3637rc1UeaLtZa30WvXbVXelu27TVzV897HaHUXBUh1kAIAHbCsPTnII642gmk2ld77flt122S1vbVrc55QnOXs03F73d0rrT12atdq1rWdzof+EjgMEZhQpOABKqjO4Hr16Ee30y2c1KqRlrytdWu1vKy09W9Ownh6sbtzhbbr+l9+zt89C9H5l1CJ441SVl+QEHL59uO/PBP0OPlJWcW1e7vo1a35bervbTf3+eUaivZ9bbaJ/e/LdPe3MrsikeeSIwS2qhwNjTIv8bdgBxnJ4I/GueTstn/L2d9ddpP8PS+nL6GFlZJPR99vzWqezvJXXbcz44prRVSUSOJGIkDH5VweM+mRjt16Yw1YNOV0rJv7lf8ATX/Lc9OLjdSe3Vf5Nxbvrty9NErk8t0+luLiyiEokA3ANnHtx1wc+3fritowcbN6tLWy8+t5PXpql+gqipWdoO++62/K2t2rSt8rG3FrdxPbmUxBX2ZZDgNgDvkrjPXPA9sHNdKnHTTpq73V979fO2sm+q0scE6HtPdi7czspeut+vWy/HS9jJvfESNbqIQkEy5yd3J4/i5Azngk59umKuctL2dlu+/pe7S62v8AJWRjUoKg+SV5eUbO/k2+q6aLl11aaPIvFPje7soLiN7hfmUrsLZAHqG7EY5xn04x800IfWJK1oW7q97Ly9La79NUc1XDprmS6X+bd7bau65bpR81K6jH4U+LHxL/ALPSZmnR0KyPI7P/ABDnCgFhknjH1xnJFfSZPl0sTiIU7N6pOVrpX66razdm7287cp5uOx1HAYWdebs4p+42lJ/PRN30WnnpY/Rb/glJ+zRf+Itek/aD8bWcoNyrp4S065iykUJbaL8LJn5mU/Iwbv3xlv3nIsmjldCNaU41G18KVpet7NPs/S3RqX8scbcVSznE1sLQhOlabXM5adum1120W61Z/Shoem+WkWFAJ+U4xwSADjIbOR3Izg8Z52+/QmoObkrqTbSs/dTvp8r2vre+m94/GRjywSuua2vrZXd9fXZa6WlY9Dt7ZY8AE9OcfrnpnJ9/yqJcrlzctlfZu/y2V9PmvK9o6Uac4T53UUlbW66fnfW2z8+nLpqGCjaOp6//AFu3XtycVm52dmvWz/8AtH08977HQ3e/W7VtOnlfb5foh9L2nl+P/wBzEtGn2f8AXf8AL7xBwAPQf59f5/nUPVt93/Xb8vuELSAKACgDLvrO5kuLa9sZLaO9tFmSJryKWe32Trtk3Rwz20hbAG0iYD1HHzJpPR/5/rH8/ut7zi7Xfl6fpL8vvv7uS0PiYsWZvCTbiWZjol/uJY5ZizawSSSSSTuJOelLlt1l/Xzf5/cW5tPp1V/T/t3/AIbd82iLEen3dzLHc6tfC9lhDCCKGAW9pbs6sryRRFnkMpVtnmSvKyp8qsMtupKK7/df/O3pf7zKdR7PXr2/9tl/Xf7MMUfiHToo7LTbnQ0s4AVhF3p9/NOFZi+Hkh1a3jYgseREn0OCal0473euu3n/AI12/wCG2ilWaVuVff8A8Bfl95I8vi11Mct54dMUqMriPS9TV8MuDtZtZYKQGOCQ/wBDgUvZx7v7v/uhLqtu9l9//wBo/wA/uM2x0S4t7TSNOmltG07QjG9jBbRXMcskscUkKzXks93OJ5MSyynYkQ86R3w2FFUlZ8278+n469Oi+dyHJtJW0X9X2X5vfpYr+Ob2PT/D9xfzSrbmxMd/FcPkCCazkWaFuGUnMigOM/PHlSQCd3XgaP1mryXai2k3ZPffdK2l3bXZa7D09nJuXLZprr/Xr/kfxSft/wD7b3iPw9+1ZrHxJ8PaL4H1rxnoWnX3hKzttRsvEEvhuayaWRRqF3Z23iWK7l1WOEpbxvDfWtqbeGISW7uHev1fLckoQy9Up4io1Jqd04Jxdtl7lrNa6311TSa5vl8bjXTr80eVtJr7Wvyvo7Po0u9mmfkf4t+NvxE8da5r+v31zpmlah4m1rxd4mvLTQrMWGmWl54xv5tV1m109Zpbq6SxF1OwtY57q7uI0RN9xLMHeX1Y4KFOFOEarlGEY01fVuMEkm2lG+iv97Vk7y8epXvOc0lKU5OTS2XXrrZu6XXS7tfmjs67+0N8T/G3wc8N/AfXYtCv/D3hfVIte0bxJjXR4sivIptXcyz6hFrg0iaOO116/wBNOdCjmlsfJ86We6Rrl8qOW0KeJnifaT55R5ZRvH2dmkno1zL4E3Z2ve1kveqWPqOjGl7KLUdYu75lq9O2qk/yO58F/tz/ABm8A+DdD+GVronwm1zw94Xso7HS5vEXh7xXquq3EULzGJ7+WHxrY2Ml2nnyp5sGn2ihGKrGMszYVcgwVapKs8RVg6krvlcEteivTbt1tzPX1tGv7VrU4QgsPBpaXfNLpu/eW70Xlqm7tFLx/wDtz/tA+MPDFx4SW78G+AdCvrSazvl+H2g6lpOoXFreGT7Rbw6hquua5c6Z54lbzZtHOn3bbiFuV3ytWcMly+hPnc6lZxkre0d439EoqVrJXklHqYzzTETvHljTWz5FZ6tafa3Wm68zwz4K/ErxN8CfE1t488AaFpur69Yadq+mW1vr+m6je6L9g1MxpO7waVqej3v2hGQCOQ3ypGW/eRyg5XoxOFw2Nh7GUpU1dSvCzk+W9l711Z7em3La0cKeJq0ZKpTtKT91qV2ve6v3oy020lK++rujX8IfET4meF/i/L+0LpXhbSZ/HU/i3xt4oGn3+l6xJ4Y/tPx7a67B4ggSxh1e01X7NaReIL5tNhOtvNGY7V7i5u0SYT3Ww1CeCjgpOShCMI83N7/7twabvBq7cPe0a7JO3L1Ua9dVHXUUpSvJxs1Hmkpa7p6X933lr9qWpxvj2L4k/Fj4geK/Guu+G47TXPGOqx6tfWul2N5Z2EdzdW0SQx6fHf31/cQ28kUIKLNeXEhIYmU5C1dBUKGGjhVrGOilL4t3ukorZ+mt9NzGpVxEq86kk9d1H4de13e1mr8zlrvq7FC1+EPipow0mlzQ2yRPcSyO8KuiKwimIBOG2OQDnH4DArSPsIPSztZ9temzWvVK/be5Ep1ZbRa66Pby/wCGctOup778PdU+MHwn+GXxW+FeiWHga28NfFey1/Q/EFz4mGoXOu2f2zwvdaTcto8+m6/YWdrNLpN/LcWkt5pupwrdrGXjeIG3bhxVHDYqrTq2nGpSa5FBx5G4y5lzJxbaurWi0kt1o5GuHr16anSSUlUv70k20uW148sk/NXUveWyR4zB8JrS3mSWbxn4YSP7Fp6/aJbh5PKXUbWWSMvGFyzxPEYZyAcM6H021JPTdK+3zuukrWura+69LOzUdVCbdrtWV/8At3tuvvv56LQp3ngDwiLCK7u/HmmyTw6FbagLC0jcZuTdNDLpzsyAiWNMXAOeVIUYOaI1ZJOPKmm7XW6va7008t9d/es2aSjUUHzPbR+XddelunazWokHhr4O2sk32zxzqL3O6dIIrS0V4lgFqJYbndIh+dpwLd/QciM5y0ynJXsk9Nt76O/fd6WTW2stTDk5/inJXflf77rr0uu91dM/sS/4N9bzwhc/sXfEE+GYtVjtIf2kfFcF6b11Z5tUj+E/wW+2TQ7Y/lt3LR+Wp5BDDtX5xxVOTzGjdJNYOmt1/wA/8S1vKLej0dtt7fa+tySkqeEmlOUr15Sb83TpaeWiWn+R/9X+WCXwS99bHUdJvre9hiVHmsTmO9FxksSImLEx/McY6cZznC/0fz+6k/sK2+uuv/DbvyeiPyCg7ucUndNX6202ei/HfsrHOFWie7EebO4YCLzNpVoJUwSwb7wJzgY9/WsZSu79F3/4Nr216Wd9LHTyvz7f18V1fXbW3X7OxH4l+0wjSteSLVrMlENwSv29CF4eKZ9xxGB0I+bHb+HCU01bq9+qavb5X07+faNxj7yeqV7fps9u+t+y2bjk6r4Olkt/P8PyjVbMQCZzHhr61w5O24tRiSQKCBvG0EdRgEPyezXPzK9r6u3b52Xn7q72bu49/PHl5U7KySt1/Lz3u+qsefCSSK4MJaSGSMHzEKlVLr91ivytH09Mg8DOG3a4qUYUFJO8ufTW32b62v5f5pu5yUqTdaT6ctrWv99tHbvp89Walp4xuEt00+8MWq27PtltJh5h2s21PKd87Dv4QcDOcdc14lTE2s7ra2lnr98beq5e1nf3fTo4fmak+1n0f4p21t11W9jk/G0UdprAsbOFrN/7OgkkjkPzGS5HmLGdo5KDpjHHGDzt8qvivaqULvWV7em2l997vX0V0elDBqmnUTs07fJW3sr6rTb/AMC15dLx5D9i0H4e2qSKWn0G5vpdgdm+0G6aMhg6RqG24P7szLzlmXO1uPstf616r5frqmNrpe2mzv1s3vfVX06dbJNIrNEU+FM9woDmXxGU+Z4lDBUQswjHzsVwPurtzgbs81Mvhf8Aw+q/pry1XUpK9272slu+i6e7o/xtu3ZuMHw8u5E07xnPFbxSBPDsweSVQGQAjmIsTk54GDg9OM1jeyvbv8vw6pf3t/VG9LZaXtd/j6+n8vRvZszvh/K1zrd9ciTy2TQtUb9+gk3S/ZHwqruUIP4R8zA8euVTW67/AIfir/LXXpvHs5eam0rpvTXbXr0ejv101tYr+B40N5rt2+5VttD1OTcBnDnbgopYBMszAHJwefQ1mk7XXfbR6LXeyb16X8nfcx9kkk9npr5Wvvpva/w6N6Xa5TQ8PSw2enaxc7Ski2CrtGSpeWYDBLDbvOTkDc3Tr8po5Xr33Xbrq9NF62vtZ68uqikt1dLReVv+3r/+BffdqMHhMpGviXUZUdZLPRbqVCdhIeTKgYbGOCOEywHPXih+lr9NGt4/ctH19LJsn5Wduu2rSV79HbvZvRWPO9At/tPiDSo35E2o2+SOckzKzdeMjvnpgnuaFa9+z2vpqnpp5+Tv0vsPXV22+atJS2ttbR7a3srWO2+wf8JT8e/DmgoJJf7S8f6FpATcsrEHU7eHgxjaQ+PTnpjtXBmEr1VZp72+9dlHRJO9m+2qS5vQwkk6Tfklbe17+S30vp99j+5f4RaDHo3hXSNNRfLj0jR9OsI8LgRmG3iiKZ46BT/dz7/eqor3Fr28721e1mne3pezvb3vLr1P3srWVrWTd9lr220vpva7Z9e/BPRBe+IkuDlhBz0z36gkZGORgHp3JJLeglpHu0vRWvZP5/Nt9kcNW7fZX06W09b7aJ66rdW979WfAunC3tLbYuC6nBIwC3Q9uvPqcZJCnmjfl03aS/Ppp08ul+0op/Ft69ba2Ssr3XVdWrLSzR9G+H4hm3UAAgLu46FUyc8jrjHb1OcgVNRJt+f5SfKtd9NL72Wito42t3rf3nr8/nsvP77Hr2lKzEDcMJ8nHIbGB22jHHY9u2cN59X43/XX9dztp/D6Pa1uz8ut+v3XOti/h/H+tcj3fqdcfhf+Ffmi/H908E5yPp+h7+479cmkPt37LW+vppp/i79bHkvxo+Gvhz4sfD3xZ8P/ABXp8F/oHi3Q7/RdRtLiKOVTFewNCJQsiuhljZgynbkYz82SF66FSMIu929ttlr0079/uaObEU3Jp3ejtd6PV7W01vrd3/Cx/k4ft6/szat+yr+1R8Wfg/qMMsNl4e8U6j/YlxJEY47nRLm6lk0+WNiqqUEOFJVcLtxxghvJx2Bcpe1srJ3va3yvd9Uumndto+lybMFCKpczta1r9Vp5a3fdb7RR5D8Nb8Ca3huN2xZSqyEH92pO3dzz1PHzcgk8Hmvj8xg3Wm7O1kn58qvdtW5Vp/d06rVS/RMnqJKL2u9Ip73d1f7ulrfhL9EfhnqVxbxx2ivvRiHhfOfMRsbgvCk7lyAQPoRjDfJ42nyt3s0+/S/Tfp8ut7XaPvMJXi5Qdr2auu2nRP1T2s/VJy+vPDxU29q8KMjbWIjK8eYGyMdDzye3HTGa+cxFvaWW1rfn8Sd7adLfefZ0MRaMdbbNa2TT6dbvVXst9r2PRtS01r3T4bm2kEdwoWeFocqySpgMjgcg5AyCe+SGONvLLe+qtrps7Xsno/XZ9PhSfN69GopbvV/l6266Sunu7W6hp+pNqNm8OpMBdWG11l+6SQcdSc8HGTznPUfxNLVNP011t9y3tfbSzStrKO9SMZ2utfTfVatXfX0S7ayOsbTJUa0vhbLcW8iqTLEu4kEZcMwyD79PXtir9pdcq81zb/0tfm0rbs4KlC13porP5+j2V13u+isY76ddQ3N0sUfErfarW6t+NqnP7uQDnKYIYYHPc80KPNe7sl3s/P11dtLP0ehxTw0W101tfS2j7Xe+z103ala52Og6lfRRDTdTgkuLK5ct5jgmVHI5KEn5UB56eg5zmokl6WsvVd3p1fnK1t9Ly1jQjFq1lqnp6drJ7XfxW7NWSPb9C0xry2j01Z45bafmESkiRcj7m8hslQeFwvXAz/Dg5wp6yW+2nXu11XfVdXrvFVVyqKXV2b1Vul9pP/0nyk95aw0HVtAkaaB5hHEH3IQ7bkUZcfTHPQ8cAHOW4K2LglK0U/7y176+WqTT1/FOPXh3td9ttuj300Tb6Pd6nR+A/EVjr0d41nG9z9knaKZVX5o5QcODxlT1weTwTt6FeWnWVebiltFtrXre9ult+lraa2Z6FdJUE9Fr83ePf162V/K9pfQmkxW0tqHs7nEkIUyxSHD7sgYAPPBwMgngcZq5XhbSyv3etr7vXdX6JrmbctWjz1v8+v8AXy6fL4jrLK/aRwk0G1mAVH5Cgpk7t3QDgcndkduAa5vbSbcbtX5tG99umuz6XvfV3uzuim0kn03/AKtt8td7/DLVSy1CWNZoZEuVYlgqkfKU6grg9/Ud8Yb51a2t2vzv899NuvN3urrm2jNJcrteN018/Lm322803b3d61tZb941vwsGxVRMDAIwOGBxzjHB4zxk4zQ1fqlfvrpqvO97b79eWVmZTbgnUTdrq0k+nR30fZfDr0a3NiPSrK0kdFYeaykhmXg5HBAIB54xjv7cKKKbeqvb+tdNNLvdJbNaoyVWUr63v3ukr6+n4/ftKM3N7HHhEZZI22oRGQp9Mcrz0PU9ccAfNUo3j59+vr13/wCDd25jSMuaSTSs/wAttbJX/BpdJalOTVdRgkjedSy5w4Cthif48kHnjAOQc9Olc0oWXdPZ2vb1V2vPfprbmNko09U+iWtu73te+uu0b78r1UduZbbUoodjGOXaRIC+S2epC55HHce3GAaxhFqce1/8/X8X1trvLSnXfMo7pvu7rW+uj3/w331d7nPrcR6ddmOeTdb7woLgfKPf6n165yNuGDdiS7b67b/r377XadrHU5dbWbWuvVrp8kndJednblydZ1REuXlgkfyXUrhThVG0dCNqnv0H12/xKaShK2jaurd9Xqne3Te97XTW4W0/HVLzsttL+d09rq1pedavqaRW0s/2gODuwqth1x3Jzx/9bAzjbW2Djz0lzJNyXTe+/VK/5avayUeGvJupG70bd2/6ezdt499bs+UfiX8R44YZrYhi0JYZJCswxwC3oOpyBjrkfcrow+CqyqqNNS1kkra9bbWv17rsrpk4nEUaUPekkt73sl67dFo9X33ch/7Fvwi0r9qP4valoniXRr3VfDOlQwz3V1EM6dbvHNv8qaR0kRpmwFKZUkZyvHzfvXBfDkYUPaYiKVTlUryVtXG/VL8OX8VI/mvxS4udPEPD4Wb9ndxfLLS2mrs/yS+VuU/rV+Enw40jwToGkaHolnBYadpdnBZWVvBEkaRQwKEQbUXacqASSByfunov2vK41FTt7q8uy+75WiuqWiPyKL9tReIl8Urzd+713117adb2V7H0hplp5cYJxkZ98dOR8q9c9jj6Dms3u/X+u39d9xX/AB8r6PW97p38mn8rROljGcd+B2z/AIfy/LFJf1f+n/XbY6LvRbKy0vtpppr/AFrpexbAYYGeh/T9ff8AiP8ARecRHJnn5cHHT+o/+t/PNA1a+o0dB9BQIWgAoAKACgCFkYDqMDrkHp7fMfX0P4fwg92+3vPv5+Xl/k7WIwAoOPr6f1b/AD2NO23n/nbvrt/d/Uxn8Xov+D+vn+Nows4zk8Z4Hf8AoM/l+eaO3l/nf9fP8bRgkwWA7Y/HPTn7y4/z0/iGrR5n3f4eevb+Xz1vYCPnPXjn/P6ev55qYPmbX3Lr6v4fy8r6+6a627afjv8A8P8AcfBn7evxgi+FfwQ8Uao8jLMbGSOEI2GZ3PlhUAIJbLjgA8cjkV9Lk+GTqc90kpJO9/Vb3utPLVW6qRlVi5QaUktOre2u/npfrdXvteP+ff8AFnxFBrXxg1m48U+I7HT4Nc1CW4vNYv3mkt9LS9cusc6hTKskAZS6KCMHquGr9DVdwoxhd3aStr83be97q+nn0cvk8ZhZczd17zb13/Kz699NrpXOOGkeDophNJ44N9FGkRSTTNKuZrKedL/7PcRWsm5ldJLAtcRcDdJheMELvTqzas3fXrrb8WndpW23uloeWqTp/G9G7L7731v6PRpr3vd2Ou0k/Cyxk1G0tT4x1e7ZNVaSbZZ6bayRxup0eSBHaWUZTzEvYdu7IUjIINbS57XjrpZWbd7Wu+l77q/Lbzb92mo+Wi2Vtbd9r/f91xkXiHwBbSvfR+AftEXnRyeXqWpxRy5ktjG0TBYCxBlAdDjHUcEZrlj7acnB3SS13tZeXTvt6WB8vW+uvpvdb2062u/V2cc6b4oaVBZSPpfgfwx5k8YtZ0mjN21u8Eu5LjLIuyTHySHAyM4JAxXVHD1ZNNt93fW1tl33W63t5IiXL1s1vp0/S35K7fQzYvjx4uWS4S1sPDej2kq3dqyafoKO7RXGxpESRpFyQY1eJ1XgknAxhtfqk9JX3Xn33elrpu27+63LjCUYz/u+fbTZpO+3V36ppu5ia18WPGd7PJ9r1ucNB5dxuto1iVWFt5AmWNPlDeR+6kAzhg2cH5azeGla3M+bp5O97PW33X2SsrI7IYuCts1t63avfV3b06fdc56Tx14o1FY2uNZ13zRbxtDP9udS0duSkZSPKsGiVtq5PA6Y43Z+wak/e1W+ur6abNW1slJ336NG3toTVkr9tvnf532/UzbPXdfMjW19q+tTQyecI2a+uBFskG+WOXqPmxyCG5P0rOpRdk1LayWn56r/AC0u2jP2kFsr79rbeXN0Vul+93JlK7vZ3uWuri4vptqJNCsl3LKGUjysYLHJZRtD9o+pGcVl7NwtK62ae621utXvp2floS6qjdqyaTe3/Dba7P5L4Y5kVpqN3JcbbFgo3TogglaQorbzCFxn5UO5F2k7QWAA5rZVIyfrorejV9rXvbRPz0s0UsRL9dbfd2TfbT8Ly0tP8Oazq0kkkelXsQDxBiLOULKZwRBt+Ublkwxjb5Q59aScfd09H9y9H6+XoXKu5U5Llbut77X7W6rRdOy7y6eL4S+LZ/st1D4Y1N7RpJo45TAYIpZrQeZcQs8mzDRocsmST7qDTlbrp/XzS+70u7GEea93+vlqun4L0Wp/ZZ/wb+eE9S8Mfsb/ABM03UYoba5b9pnxdeeRDMkyxxXPwm+CrRKzJ8okCAb04KtwfVvzri5JZlRS/wCgKlf19vif0t/Vj7DIm3hKl/8AoJn/AOmqJ//W/k81fU9S0iWxntFkRHiAuZYnOVuAcSpjcMMp25Uj3BGDt/pOvCFoTpyUlO93Gz16N2a8uy9btH47hZQp1a/tJey1jbnbitrWd1Z332Vr7O9zpdK8QaTrEL2XiRGt3Zfl1G3RfORWGA80ZADhc5IySRzXDONR3tB2Xk9W7Wvr6u+u2i6R7VXot2VWD6aST+7r+PXrY5PxDoc2iQC/hcXWjfaALXW7MebbTb8gRXEb7WtZ92A0bjGefl43Yrlbal7vrpqujfXq7adtbXCq5cq5Fdt207euum99PS5zianqVoDqFlNdw/Zj5hkikaBVHTLtFyVf7uGDLnjFceJxFKmm+eCa319bvpe/y+R2YanWq6ezm0nbRa/qtL6/JWWjjpaXq9x431dFvLWymex0+61KS7t49ksyW6cJOVUCTBP7yR/m75OcV4eIxrqxUI6Wd1/VtV6u2y0u+b16eDcEpSjyva9u/wCbXrr1tY8u06cXHjLTIroRw2suqKzhFHEYlYDg5BRcA/e4bsM1wVZSkt9n0bf5fpp9x0xUYp8tnbfZ6XSura+nfp1NP4h3Cv4316eF5J7dXSKEmOMNIsK+WqYGNvXkgE+o/hrm5bNzkn3fNou2+vTz+9s6oVU3yysv7z0Vrb7a326bPV2Oi+JkV6lv4GLyPsi8MxmBWW5OIrg+Z8vnqqbA4x/o5e37liyjac0d+ZaX7elv16efeXBUcubRaSdvJeWz1u7pe7d6LVNRoFHj+FcLbUih/wCEimzme2aZpdq5ynlm6KkkEgsIl3cE5FS5RcNGrrpfW135avtrsruz0OuF/ZNyW6Vnt5+d2nG3TyttJPAjWz6D45jm8lBJorp5j+TjcXXA+YrJjn+EcnH3etZdNPPtv+W/4+pdO115Lr8/11208zj/AAs4gGuSROiyQ6PcKQRHIfLkxGTH5pTYdp4KDI69jR2d9NevbySbb6W0X3NnVGcUrNqLv1119PK2tm10ut4u0GZLbRtfljlCu2nC3z8hYpO/U+aARkgcxtng4x/Cb7+lrX/r7tb3921jOU3rZ3/FfLR6rTr5aXQqSTw+EtSkkYK93dQoCCA/lx+WxBXnHK5OdoIPOcA0mt9XtZeburNbdb22emsf5svaSbtbS618ra9FotL66be9cNNAHg/XL5mDSyCCztyzxh3BYGQfOd7AqTwoYcdOcNnytd2k9Vbr0WnNuut9Nd9FHdSjbSaeuq6d/JO/V3XRq7uYXhqRItd0uV1RjFeRSMjnEY+THLjA7nt7YH8JZxTbul32a16q77dPxvzDbSWmt7a3/vK17badL22bve0vo/8AYx8If8LC/bN8DRyoWi07xVceIpVXDxoNOuGuoQAQQcOg+ZicEgnHK15WLlGdXmhqrpu3RWu+t3volfZ7tWOzC3hTd04cyW+73Wiba6evro5f2v8Ag6BjpAQgB5WU4GM5BHH14LdAPoBiu2lyyppLq3frtJ9NNLJetrpraPlV+aNVu1le+t7X0T+zp20btbrc+8f2e/CMqSJdSIdjbWL4xwSDyevHU5x0IAGcV1tabPa1v19fNtrva95c9VptavyW+urtZrXV2106Llvc/RrR4Ps1vZw7AI4gfLYd2PPJz755HHscmmt9Fo3q9kumi7K39XRnTaUtdtHe+unW17K9nfp/htaXuHh+BYbSJzl5ZCTkdsfex8o5znpjjp0+bKdrt9HZ9/Tt67b20X2dOrtrdtrzv5a6a7XffS9o+r6PCyw5IOSA3Y5J78f4n6nmuGq1zN66L+u9vLTbvY7aadrefp2slffTtfy3aj0MXBA7jPGc+v8An/8AVXI93+n/AAbf133OyKai/RLbTdev5/fY0reQAdsjg9jyen8XQ/X6dCyD/h2/6tb7t97MW8gWeIgjLKpyOhC56KRnnndnJxjjbjNSnL2iiknquuvR9rJWd7t/LqFlKM+667brb5avS/breP8AGV/wcq/sJnWLbQP2nvCdsGuv+QP4siEcWRJBt+y3W/G+QSCQxyBhgEAjbkO3v1IU6uFcVZ1GlZct/K3bRa6XvvZ3SPKwNepTxyg9IXSun5adb7/o0tWj+NfwlN/ZWo/ZbuFmjAkSVTw0UmeoJB4BwflHQg5GC1fnmY4eVGU3Vjyq0nrdrlfWyu/8+lrNH7FlOIi3Fpq2mvTpqt/XrrFpyVrH298Lr+4ubC3RJGD2c6S20i8sseVJik7/AHTxnqeneviMdGM7uPRytbV6Xs+jeq+V9G7XPusHVXPCzu7rbrZOy+FWtotn37o+7/A2smS1S2v40VpJFkinxh4TgDDjqQeuRxgng4JX5TFxtUb1Sdtdru7TaVv0S2el0fe4L3qMZXu76XtZWSejf37W9fdPZLPUo4YZbfaYryGRZYxIMRXKOCGCHn5yoBGMZx9BXG730ttZu+6vv5a76tdLKzPUhzt+7o+l9L2e+t93a6vKyWu4yCDSr+5MyW8kcspdL2zRuTnOJI8ZBA9A358mk7xjba2y3366dNNmpHoUnLkbnZSW2qu+q72fTRdWrP7XQ6LrX/CNsdLvlkuNGmnAXaxN3Z+YSCcHOVCtkgn6ZzWac222tltddOuz10S0jt0laTlMoVJ2tHfW14667/Z7X6ffqehCx037fC0Uks+lXcbCCaLAl3SbSGOSUGCDuBOTjjGa0Tta2vT1euq91N/Fa3/DxzlRqwtzRtzX5FzJ7LdvS6u1332V0zZOkQyWs8bkzXFm2Y9o8tpI1PfgBWxg55yRkn7tS3LS3vP1tr2enfTXmWturRk41Em3FJLpzJ7+j7tdPJJ2tLe0r7RZ2VubpWS189PKut3ly2zFhw/+wDxnByeQDiuerD2iSltfbf1/l1trvou17SxVpuzd7Ld/K/WO63tr3s7KXq0H28LGY7tLyKRd+GbzMoQBsY4OAQcdvrwa454elJP3t+0Zfq3bbrbfbU7KcXDWz1T1TWt+vxdPK9/Jq8un8M+G9H0V31XR4DbreT+ZqVtDygnJ+ZygyQpPUgY6Hk5ohh6VB8+3MnG9ntvb7T0fl2Wv2dKlVTha+z2t0+fLeyW+z293Tm9UsYrNHW7SPMTkEtGCFYehBweuMDngkkjIFKbg762d97NPS6eivra//gOjTUWcqnHmSb1ulZdH11tfv323Wh2STxtAwMa4ba0ZIwVXIye/O3POeTwAMVhKnCEXNaX3bT336uVk2lstmr3uenh7Nrtbqut9e9k+1lpq3qjbs5bWK3WOCZY7jO4A7wuMcqcYGSeg79eQAKx51p5332169Xe6+fl7zKqU6l3ZLl89NrLRbu3TSz7x+1cSeUtCQUZY2PA3ZbPXOc8Ln/a9s8BZnK6dtZaNaW19dOnXr3e5ooRceWV7+mnV62d9uq9WtUjZZL2VUeDbJIg3BiOAo/h7dPoMZ5zRH2m7V/mrK/Vu2vy5X9yRyVfYwdm3dPXfR+Wtnv5rta9o2Zb+6uIRbxqklyF27Y4yMsOhyM54HUE+vGCa2tL4bde97fj933OUr3jyqsnJWu1d3Xpvun27a9bJoz/IvLyKNJI0ikRiGXJ3HnOQMjnA/wBn0IOKmStv27XtZddr/h3u73OiFVN2aadlrfz9H38u/u3sS3UGEMsReKaBFEpP3eR1IA7+vA9cfdrm5kpK2/S6t+V7eSv5K9ry6qcdU7t2e3XR9/8APp31ceP1GWOcqZZWR0/5Z4CpJz1yQSeePXvyMBtE5O+uum7v8uu++nppZs7Ypu233b6bdWu/y0a3OH1nxB9jRwLVCqZXLTZX16Dnnt9PY1cYTlJR03S9b97vTTyl/wBvNouVSEH7zsr9Ff5W01suj0v0aTPnjxx8Qks4LhYIkQ+W+4DOwN2xntx2zznucr3wp+yqQox1nNpR6LXTWVt3f/LlsnLgx04crqRfu3vbrfzSTdktdlo7czsz4w8Qab8SPjFd6to3w40Jtcv7CGCfUTattFnBdSiFZ3c/KSpbdjP8POcCv1rgrhXE4+uueFO0LVHKclyckbSa66yS/m1d733Px/jji3D5Jhn7ac3KopU6apxu1KV1G8ddFfdvTzP6g/8Agmv+y7D8Dfg3oenX1pGviPVooNT1+8Maiee9mQPIrvyxWHdtHO35cjOc1+wV3SoyUcGrRjaEr3jstdrrX1v192z5f5pxdaWZ13VxPvczlJX10e2mv52Wl27+9+uGlWKxrEMEbQPTqPw59/buQflwqzpyhZJ+00b0sr9vXpukvO94ji1TVOklZaK2lr9979fLRfDvHsYIiCBjg9R36jPoOnbb+RyK5OZfdvpa3y9fN289XHWMJWT0skkn8nqt+ur3+dkbCoFx7dsYA/8AHj/IevtSc+y/H/7R/m/V7mi/r+nr94+sgIHLH0BHHsPp15/P0+bGaBq3W9vL+l+f3CD9f8/T+X5UC/r+t/z+8D24z7+n8v8APTPG4H31+XcKBBQAwvg4x+v/ANgf5/lQNq1n3/q3y+X6yazgjAH6/wD2A/n+dALT8fxVvP8ArtuRnkEeo/z6fz/KqTWl76fjrftp2+1+hm4OTbTVvP8A4fX/AMl9Xf3a8kfA3DIz245/76br/nPO2TOUXFXbX3f/AG0u3/D/AGXQEsSv+fywP/Qufb+Ft3jy9ej8rNbWX/pX3X90Sv8Ael9/3du/3XFZSoJ4OAx9sKOvLAEfjz6Dipoq1ZRtf8um+r9N/uHKMoK7tbrbs0/N26dHvu9Efzqf8Fpfi7a6D4Xi0OW4xFH/AKRPbhJHilZSDFHKIpEKqWBw2G2kfhX6JkuFk6blzR1lf8Fpa19b6Wk9m9b2PPxM5Oyj0TWuz6X87pvW/M7X1SR/Ex4z1W68W+ItXurxlBvJ5PIhaQkyeZIFjgDyZD5BXAKhj0PTNe/Kk5bNNXTS2v6fFr22vtpe8fBxE5z93mjfRq12nq3q79Gnv16dC34v8Jan8IbTQPtOpy3aapp8er6p4YjhmE+ieYylcpMoMbOiCUqp8tgMnGQK7YOPKklqrOTtp/wL9n6LZnk1qVWGvNCXNJ9Nm033klZP/O+0es8IaB4j8cwnV/CmiazfWEhguPt9vaS/ZreC4fyDJ5/C+WbglHUsyxsrAMoUhvRhiaChy+zk3Zv7Ou613bXquq+G75eduaeiWq31sr7N6N7NaaPrfRnodr8B/Hl19rvZDDarCLlLj+0b63t3jlscGYKZ9sZYJkx7T83OcAYaJShH34Rvd9NX32t5v+a/XWVhONSVkpRTWvVX8ttfw66O0eXLk+FtslzHLf8AjXwhYRpLapchNTjuXkS9G3dOtnEyrJbMo+0Rj5l64ONq5/WWpWUJJdn+Wl++/wCD1iL2U37rnF7p7/ls+iu9tE03rHRbwv8ADHQ4pnm+JVtNKdiG1sNGvr1bm5jukhmgtJngjijle1JuIHLqhK7Xxja0zxFRq1mrSTaXlts1012d73VrM3p0Y/DKUVu2/X5p3a+/ujJuY/g7YzTxy6n4svUiOoW1lKmnW0LTtIN+nSTRlzsLSFhdL8w2/dyCAufNWlG6vpv3d18rdPtbb3s5C+pq7ftY2vpfR3bV/wCbsr2e27d1ypHqnw4gKz2vhLXtUgtVVMXesWsSJFLbhZEMdupf5bzM0LeZlY/3bg8lsX7Xm5dmlq7Pp/S117K17nVSpU4O0pRlbTey+T1/FeeuxA3jbwbArG38FWwujp0Fulte6pM1u2pWk6zHUGEUbMwuY1MEsJxlclT3o9liJPdb6uzsr9n3s2unqto72oaap2V97a/dvb/Fr00H3PxStJpJlsvh74I0Qu+oNutUub9re21W2hhezR7t3LLbNG09rmJXjdyuSCDUTw1aUXzSWi7NXu7+WzW+trvokyZKi1Zat/ZUlra/Xlvoraq3ortlC5+NfjqbU5bmwXSrWV7m1vBDYeH7SNy2mWB0xinmRuF8yyc/aYx8kjnfyyg0o4SSs1NWtt58t7Pay1tv5u1zP2lGCS9m357dHp23W7+5XvLnLr4meNtRgnil1q8sLK3gsoY0gt4YZWS2laSzjUpGCfJZ2Kleik5YYxSknBxTd0tnZ6WVrp/ctot9tTR1aLjJKk07Kz08r3Wlvv8ALS8mZ+o+LfE+rL9nuNd1UJG7XNxNJqNyFFxKmDIlujKiyyr8kjLncOG4ANaxUZfaV+9vxS1Sstv01ZzXXZ/o/Jfhvof2O/8ABu3cXc37FPxPe7lE0w/aj8aJ5wLP5ip8JfgiFYsxLZ6qd2Pu8DGK/O+LklmVBJ83+w07vz+sYr06W/4OrPrcg1wdTS3+0z0vf/l1R9P677n/2Q=="/>
</p:tagLst>
</file>

<file path=ppt/tags/tag4.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DD.MM.YYYY;Datum"/>
  <p:tag name="MIO_USER_INPUT_TEXT" val=" "/>
</p:tagLst>
</file>

<file path=ppt/tags/tag5.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6.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8.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9.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1.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heme/theme1.xml><?xml version="1.0" encoding="utf-8"?>
<a:theme xmlns:a="http://schemas.openxmlformats.org/drawingml/2006/main" name="Charts">
  <a:themeElements>
    <a:clrScheme name="THWS_Robert">
      <a:dk1>
        <a:srgbClr val="404040"/>
      </a:dk1>
      <a:lt1>
        <a:sysClr val="window" lastClr="FFFFFF"/>
      </a:lt1>
      <a:dk2>
        <a:srgbClr val="455F51"/>
      </a:dk2>
      <a:lt2>
        <a:srgbClr val="E3DED1"/>
      </a:lt2>
      <a:accent1>
        <a:srgbClr val="FFB414"/>
      </a:accent1>
      <a:accent2>
        <a:srgbClr val="8AB833"/>
      </a:accent2>
      <a:accent3>
        <a:srgbClr val="ED7004"/>
      </a:accent3>
      <a:accent4>
        <a:srgbClr val="BE2344"/>
      </a:accent4>
      <a:accent5>
        <a:srgbClr val="4AB5C4"/>
      </a:accent5>
      <a:accent6>
        <a:srgbClr val="003E6E"/>
      </a:accent6>
      <a:hlink>
        <a:srgbClr val="FF6A00"/>
      </a:hlink>
      <a:folHlink>
        <a:srgbClr val="BA6906"/>
      </a:folHlink>
    </a:clrScheme>
    <a:fontScheme name="THWS">
      <a:majorFont>
        <a:latin typeface="GT Planar Medium"/>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alpha val="55000"/>
          </a:schemeClr>
        </a:solidFill>
        <a:ln>
          <a:solidFill>
            <a:schemeClr val="accent3"/>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a:defPPr>
      </a:lstStyle>
    </a:txDef>
  </a:objectDefaults>
  <a:extraClrSchemeLst/>
  <a:extLst>
    <a:ext uri="{05A4C25C-085E-4340-85A3-A5531E510DB2}">
      <thm15:themeFamily xmlns:thm15="http://schemas.microsoft.com/office/thememl/2012/main" name="THWS_Vorlage.potx" id="{A3DB7AD6-54D2-4446-A629-F621CF4FE8DD}" vid="{8A5D8870-80C7-4772-8757-C480C49F957F}"/>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 dockstate="right" visibility="0" width="525" row="3">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40F945CA-5F3F-4F2D-8F8A-AC4E8EC4265A}">
  <we:reference id="wa104051163" version="1.2.0.3" store="de-DE" storeType="OMEX"/>
  <we:alternateReferences>
    <we:reference id="wa104051163" version="1.2.0.3" store="wa1040511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4A26C66-5577-42C0-984F-B88F4F1787B1}">
  <we:reference id="wa104038830" version="1.0.0.3" store="de-DE" storeType="OMEX"/>
  <we:alternateReferences>
    <we:reference id="wa104038830" version="1.0.0.3" store="wa1040388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353962C-16AA-44B9-98FE-A1068EBA46DF}">
  <we:reference id="wa200010001" version="1.0.0.1" store="de-DE" storeType="OMEX"/>
  <we:alternateReferences>
    <we:reference id="wa200010001" version="1.0.0.1" store="wa200010001" storeType="OMEX"/>
  </we:alternateReferences>
  <we:properties>
    <we:property name="claude.fileId" value="&quot;04ab09b1-2e34-4b1e-9a68-470d0e37db6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item1.xml><?xml version="1.0" encoding="utf-8"?>
<Control xmlns="http://schemas.microsoft.com/VisualStudio/2011/storyboarding/control">
  <Id Name="System.Storyboarding.Common.Text" Revision="1" Stencil="System.Storyboarding.Common" StencilVersion="0.1"/>
</Control>
</file>

<file path=customXml/item2.xml><?xml version="1.0" encoding="utf-8"?>
<Control xmlns="http://schemas.microsoft.com/VisualStudio/2011/storyboarding/control">
  <Id Name="System.Storyboarding.Common.Text" Revision="1" Stencil="System.Storyboarding.Common" StencilVersion="0.1"/>
</Control>
</file>

<file path=customXml/item3.xml><?xml version="1.0" encoding="utf-8"?>
<Control xmlns="http://schemas.microsoft.com/VisualStudio/2011/storyboarding/control">
  <Id Name="System.Storyboarding.Common.Button" Revision="1" Stencil="System.Storyboarding.Common" StencilVersion="0.1"/>
</Control>
</file>

<file path=customXml/item4.xml><?xml version="1.0" encoding="utf-8"?>
<Control xmlns="http://schemas.microsoft.com/VisualStudio/2011/storyboarding/control">
  <Id Name="System.Storyboarding.Common.TextInput" Revision="1" Stencil="System.Storyboarding.Common" StencilVersion="0.1"/>
</Control>
</file>

<file path=customXml/item5.xml><?xml version="1.0" encoding="utf-8"?>
<Control xmlns="http://schemas.microsoft.com/VisualStudio/2011/storyboarding/control">
  <Id Name="System.Storyboarding.WindowsPhoneIcons.Play" Revision="1" Stencil="System.Storyboarding.WindowsPhoneIcons" StencilVersion="0.1"/>
</Control>
</file>

<file path=customXml/item6.xml><?xml version="1.0" encoding="utf-8"?>
<Control xmlns="http://schemas.microsoft.com/VisualStudio/2011/storyboarding/control">
  <Id Name="System.Storyboarding.Common.Text" Revision="1" Stencil="System.Storyboarding.Common" StencilVersion="0.1"/>
</Control>
</file>

<file path=customXml/item7.xml><?xml version="1.0" encoding="utf-8"?>
<Control xmlns="http://schemas.microsoft.com/VisualStudio/2011/storyboarding/control">
  <Id Name="System.Storyboarding.Common.Text" Revision="1" Stencil="System.Storyboarding.Common" StencilVersion="0.1"/>
</Control>
</file>

<file path=customXml/item8.xml><?xml version="1.0" encoding="utf-8"?>
<Control xmlns="http://schemas.microsoft.com/VisualStudio/2011/storyboarding/control">
  <Id Name="System.Storyboarding.WindowsPhoneIcons.Play" Revision="1" Stencil="System.Storyboarding.WindowsPhoneIcons" StencilVersion="0.1"/>
</Control>
</file>

<file path=customXml/item9.xml><?xml version="1.0" encoding="utf-8"?>
<Control xmlns="http://schemas.microsoft.com/VisualStudio/2011/storyboarding/control">
  <Id Name="System.Storyboarding.Common.TextInput" Revision="1" Stencil="System.Storyboarding.Common" StencilVersion="0.1"/>
</Control>
</file>

<file path=customXml/item10.xml><?xml version="1.0" encoding="utf-8"?>
<Control xmlns="http://schemas.microsoft.com/VisualStudio/2011/storyboarding/control">
  <Id Name="System.Storyboarding.Backgrounds.Window" Revision="1" Stencil="System.Storyboarding.Backgrounds" StencilVersion="0.1"/>
</Control>
</file>

<file path=customXml/item11.xml><?xml version="1.0" encoding="utf-8"?>
<Control xmlns="http://schemas.microsoft.com/VisualStudio/2011/storyboarding/control">
  <Id Name="System.Storyboarding.Common.Text" Revision="1" Stencil="System.Storyboarding.Common" StencilVersion="0.1"/>
</Control>
</file>

<file path=customXml/item12.xml><?xml version="1.0" encoding="utf-8"?>
<?mso-contentType ?>
<FormTemplates xmlns="http://schemas.microsoft.com/sharepoint/v3/contenttype/forms">
  <Display>DocumentLibraryForm</Display>
  <Edit>DocumentLibraryForm</Edit>
  <New>DocumentLibraryForm</New>
</FormTemplates>
</file>

<file path=customXml/item13.xml><?xml version="1.0" encoding="utf-8"?>
<Control xmlns="http://schemas.microsoft.com/VisualStudio/2011/storyboarding/control">
  <Id Name="System.Storyboarding.Common.TextInput" Revision="1" Stencil="System.Storyboarding.Common" StencilVersion="0.1"/>
</Control>
</file>

<file path=customXml/item14.xml><?xml version="1.0" encoding="utf-8"?>
<Control xmlns="http://schemas.microsoft.com/VisualStudio/2011/storyboarding/control">
  <Id Name="System.Storyboarding.Common.Text" Revision="1" Stencil="System.Storyboarding.Common" StencilVersion="0.1"/>
</Control>
</file>

<file path=customXml/item15.xml><?xml version="1.0" encoding="utf-8"?>
<Control xmlns="http://schemas.microsoft.com/VisualStudio/2011/storyboarding/control">
  <Id Name="System.Storyboarding.Common.Button" Revision="1" Stencil="System.Storyboarding.Common" StencilVersion="0.1"/>
</Control>
</file>

<file path=customXml/item16.xml><?xml version="1.0" encoding="utf-8"?>
<Control xmlns="http://schemas.microsoft.com/VisualStudio/2011/storyboarding/control">
  <Id Name="System.Storyboarding.Common.Text" Revision="1" Stencil="System.Storyboarding.Common" StencilVersion="0.1"/>
</Control>
</file>

<file path=customXml/item17.xml><?xml version="1.0" encoding="utf-8"?>
<Control xmlns="http://schemas.microsoft.com/VisualStudio/2011/storyboarding/control">
  <Id Name="System.Storyboarding.Common.Text" Revision="1" Stencil="System.Storyboarding.Common" StencilVersion="0.1"/>
</Control>
</file>

<file path=customXml/item18.xml><?xml version="1.0" encoding="utf-8"?>
<Control xmlns="http://schemas.microsoft.com/VisualStudio/2011/storyboarding/control">
  <Id Name="System.Storyboarding.Common.TextInput" Revision="1" Stencil="System.Storyboarding.Common" StencilVersion="0.1"/>
</Control>
</file>

<file path=customXml/item19.xml><?xml version="1.0" encoding="utf-8"?>
<Control xmlns="http://schemas.microsoft.com/VisualStudio/2011/storyboarding/control">
  <Id Name="System.Storyboarding.Common.TextInput" Revision="1" Stencil="System.Storyboarding.Common" StencilVersion="0.1"/>
</Control>
</file>

<file path=customXml/item20.xml><?xml version="1.0" encoding="utf-8"?>
<Control xmlns="http://schemas.microsoft.com/VisualStudio/2011/storyboarding/control">
  <Id Name="System.Storyboarding.Common.TextInput" Revision="1" Stencil="System.Storyboarding.Common" StencilVersion="0.1"/>
</Control>
</file>

<file path=customXml/item21.xml><?xml version="1.0" encoding="utf-8"?>
<Control xmlns="http://schemas.microsoft.com/VisualStudio/2011/storyboarding/control">
  <Id Name="System.Storyboarding.Common.TextInput" Revision="1" Stencil="System.Storyboarding.Common" StencilVersion="0.1"/>
</Control>
</file>

<file path=customXml/item22.xml><?xml version="1.0" encoding="utf-8"?>
<Control xmlns="http://schemas.microsoft.com/VisualStudio/2011/storyboarding/control">
  <Id Name="System.Storyboarding.Common.Button" Revision="1" Stencil="System.Storyboarding.Common" StencilVersion="0.1"/>
</Control>
</file>

<file path=customXml/item23.xml><?xml version="1.0" encoding="utf-8"?>
<Control xmlns="http://schemas.microsoft.com/VisualStudio/2011/storyboarding/control">
  <Id Name="System.Storyboarding.Common.TextInput" Revision="1" Stencil="System.Storyboarding.Common" StencilVersion="0.1"/>
</Control>
</file>

<file path=customXml/item24.xml><?xml version="1.0" encoding="utf-8"?>
<Control xmlns="http://schemas.microsoft.com/VisualStudio/2011/storyboarding/control">
  <Id Name="System.Storyboarding.Common.Text" Revision="1" Stencil="System.Storyboarding.Common" StencilVersion="0.1"/>
</Control>
</file>

<file path=customXml/item25.xml><?xml version="1.0" encoding="utf-8"?>
<ct:contentTypeSchema xmlns:ct="http://schemas.microsoft.com/office/2006/metadata/contentType" xmlns:ma="http://schemas.microsoft.com/office/2006/metadata/properties/metaAttributes" ct:_="" ma:_="" ma:contentTypeName="Document" ma:contentTypeID="0x010100AFF9B7A738928449ADDD596720060256" ma:contentTypeVersion="11" ma:contentTypeDescription="Create a new document." ma:contentTypeScope="" ma:versionID="d56da9ed4d24ce294d29dbbaaf0a1d3d">
  <xsd:schema xmlns:xsd="http://www.w3.org/2001/XMLSchema" xmlns:xs="http://www.w3.org/2001/XMLSchema" xmlns:p="http://schemas.microsoft.com/office/2006/metadata/properties" xmlns:ns2="6f016a47-d9d6-430c-863f-c309e8140729" targetNamespace="http://schemas.microsoft.com/office/2006/metadata/properties" ma:root="true" ma:fieldsID="27f7e92e771dc01bee42f7f39ed5885f" ns2:_="">
    <xsd:import namespace="6f016a47-d9d6-430c-863f-c309e81407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16a47-d9d6-430c-863f-c309e81407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6.xml><?xml version="1.0" encoding="utf-8"?>
<Control xmlns="http://schemas.microsoft.com/VisualStudio/2011/storyboarding/control">
  <Id Name="System.Storyboarding.Common.Text" Revision="1" Stencil="System.Storyboarding.Common" StencilVersion="0.1"/>
</Control>
</file>

<file path=customXml/item27.xml><?xml version="1.0" encoding="utf-8"?>
<p:properties xmlns:p="http://schemas.microsoft.com/office/2006/metadata/properties" xmlns:xsi="http://www.w3.org/2001/XMLSchema-instance" xmlns:pc="http://schemas.microsoft.com/office/infopath/2007/PartnerControls">
  <documentManagement/>
</p:properties>
</file>

<file path=customXml/item28.xml><?xml version="1.0" encoding="utf-8"?>
<Control xmlns="http://schemas.microsoft.com/VisualStudio/2011/storyboarding/control">
  <Id Name="System.Storyboarding.Common.TextInput" Revision="1" Stencil="System.Storyboarding.Common" StencilVersion="0.1"/>
</Control>
</file>

<file path=customXml/item29.xml><?xml version="1.0" encoding="utf-8"?>
<Control xmlns="http://schemas.microsoft.com/VisualStudio/2011/storyboarding/control">
  <Id Name="System.Storyboarding.Common.Text" Revision="1" Stencil="System.Storyboarding.Common" StencilVersion="0.1"/>
</Control>
</file>

<file path=customXml/item30.xml><?xml version="1.0" encoding="utf-8"?>
<Control xmlns="http://schemas.microsoft.com/VisualStudio/2011/storyboarding/control">
  <Id Name="System.Storyboarding.Backgrounds.Window" Revision="1" Stencil="System.Storyboarding.Backgrounds" StencilVersion="0.1"/>
</Control>
</file>

<file path=customXml/item31.xml><?xml version="1.0" encoding="utf-8"?>
<Control xmlns="http://schemas.microsoft.com/VisualStudio/2011/storyboarding/control">
  <Id Name="System.Storyboarding.Common.TextInput" Revision="1" Stencil="System.Storyboarding.Common" StencilVersion="0.1"/>
</Control>
</file>

<file path=customXml/item32.xml><?xml version="1.0" encoding="utf-8"?>
<Control xmlns="http://schemas.microsoft.com/VisualStudio/2011/storyboarding/control">
  <Id Name="System.Storyboarding.Common.Button" Revision="1" Stencil="System.Storyboarding.Common" StencilVersion="0.1"/>
</Control>
</file>

<file path=customXml/item33.xml><?xml version="1.0" encoding="utf-8"?>
<Control xmlns="http://schemas.microsoft.com/VisualStudio/2011/storyboarding/control">
  <Id Name="System.Storyboarding.Common.Text" Revision="1" Stencil="System.Storyboarding.Common" StencilVersion="0.1"/>
</Control>
</file>

<file path=customXml/item34.xml><?xml version="1.0" encoding="utf-8"?>
<Control xmlns="http://schemas.microsoft.com/VisualStudio/2011/storyboarding/control">
  <Id Name="System.Storyboarding.Common.TextInput" Revision="1" Stencil="System.Storyboarding.Common" StencilVersion="0.1"/>
</Control>
</file>

<file path=customXml/item35.xml><?xml version="1.0" encoding="utf-8"?>
<Control xmlns="http://schemas.microsoft.com/VisualStudio/2011/storyboarding/control">
  <Id Name="System.Storyboarding.WindowsPhoneIcons.Play" Revision="1" Stencil="System.Storyboarding.WindowsPhoneIcons" StencilVersion="0.1"/>
</Control>
</file>

<file path=customXml/item36.xml><?xml version="1.0" encoding="utf-8"?>
<Control xmlns="http://schemas.microsoft.com/VisualStudio/2011/storyboarding/control">
  <Id Name="System.Storyboarding.Common.TextInput" Revision="1" Stencil="System.Storyboarding.Common" StencilVersion="0.1"/>
</Control>
</file>

<file path=customXml/item37.xml><?xml version="1.0" encoding="utf-8"?>
<Control xmlns="http://schemas.microsoft.com/VisualStudio/2011/storyboarding/control">
  <Id Name="System.Storyboarding.Common.Text" Revision="1" Stencil="System.Storyboarding.Common" StencilVersion="0.1"/>
</Control>
</file>

<file path=customXml/item38.xml><?xml version="1.0" encoding="utf-8"?>
<Control xmlns="http://schemas.microsoft.com/VisualStudio/2011/storyboarding/control">
  <Id Name="System.Storyboarding.Common.Button" Revision="1" Stencil="System.Storyboarding.Common" StencilVersion="0.1"/>
</Control>
</file>

<file path=customXml/item39.xml><?xml version="1.0" encoding="utf-8"?>
<Control xmlns="http://schemas.microsoft.com/VisualStudio/2011/storyboarding/control">
  <Id Name="System.Storyboarding.Common.Text" Revision="1" Stencil="System.Storyboarding.Common" StencilVersion="0.1"/>
</Control>
</file>

<file path=customXml/item40.xml><?xml version="1.0" encoding="utf-8"?>
<Control xmlns="http://schemas.microsoft.com/VisualStudio/2011/storyboarding/control">
  <Id Name="System.Storyboarding.Common.Text" Revision="1" Stencil="System.Storyboarding.Common" StencilVersion="0.1"/>
</Control>
</file>

<file path=customXml/item41.xml><?xml version="1.0" encoding="utf-8"?>
<Control xmlns="http://schemas.microsoft.com/VisualStudio/2011/storyboarding/control">
  <Id Name="System.Storyboarding.Icons.Play" Revision="1" Stencil="System.Storyboarding.Icons" StencilVersion="0.1"/>
</Control>
</file>

<file path=customXml/item42.xml><?xml version="1.0" encoding="utf-8"?>
<Control xmlns="http://schemas.microsoft.com/VisualStudio/2011/storyboarding/control">
  <Id Name="System.Storyboarding.Common.Breadcrumb" Revision="1" Stencil="System.Storyboarding.Common" StencilVersion="0.1"/>
</Control>
</file>

<file path=customXml/item43.xml><?xml version="1.0" encoding="utf-8"?>
<Control xmlns="http://schemas.microsoft.com/VisualStudio/2011/storyboarding/control">
  <Id Name="System.Storyboarding.Common.Text" Revision="1" Stencil="System.Storyboarding.Common" StencilVersion="0.1"/>
</Control>
</file>

<file path=customXml/item44.xml><?xml version="1.0" encoding="utf-8"?>
<Control xmlns="http://schemas.microsoft.com/VisualStudio/2011/storyboarding/control">
  <Id Name="System.Storyboarding.WindowsPhoneIcons.Play" Revision="1" Stencil="System.Storyboarding.WindowsPhoneIcons" StencilVersion="0.1"/>
</Control>
</file>

<file path=customXml/item45.xml><?xml version="1.0" encoding="utf-8"?>
<Control xmlns="http://schemas.microsoft.com/VisualStudio/2011/storyboarding/control">
  <Id Name="System.Storyboarding.Common.Text" Revision="1" Stencil="System.Storyboarding.Common" StencilVersion="0.1"/>
</Control>
</file>

<file path=customXml/item46.xml><?xml version="1.0" encoding="utf-8"?>
<Control xmlns="http://schemas.microsoft.com/VisualStudio/2011/storyboarding/control">
  <Id Name="System.Storyboarding.WindowsPhoneIcons.Play" Revision="1" Stencil="System.Storyboarding.WindowsPhoneIcons" StencilVersion="0.1"/>
</Control>
</file>

<file path=customXml/item47.xml><?xml version="1.0" encoding="utf-8"?>
<Control xmlns="http://schemas.microsoft.com/VisualStudio/2011/storyboarding/control">
  <Id Name="System.Storyboarding.Common.Text" Revision="1" Stencil="System.Storyboarding.Common" StencilVersion="0.1"/>
</Control>
</file>

<file path=customXml/item48.xml><?xml version="1.0" encoding="utf-8"?>
<Control xmlns="http://schemas.microsoft.com/VisualStudio/2011/storyboarding/control">
  <Id Name="System.Storyboarding.Backgrounds.WebBrowser" Revision="1" Stencil="System.Storyboarding.Backgrounds" StencilVersion="0.1"/>
</Control>
</file>

<file path=customXml/item49.xml><?xml version="1.0" encoding="utf-8"?>
<Control xmlns="http://schemas.microsoft.com/VisualStudio/2011/storyboarding/control">
  <Id Name="System.Storyboarding.Common.Button" Revision="1" Stencil="System.Storyboarding.Common" StencilVersion="0.1"/>
</Control>
</file>

<file path=customXml/item50.xml><?xml version="1.0" encoding="utf-8"?>
<Control xmlns="http://schemas.microsoft.com/VisualStudio/2011/storyboarding/control">
  <Id Name="System.Storyboarding.Common.Text" Revision="1" Stencil="System.Storyboarding.Common" StencilVersion="0.1"/>
</Control>
</file>

<file path=customXml/item51.xml><?xml version="1.0" encoding="utf-8"?>
<Control xmlns="http://schemas.microsoft.com/VisualStudio/2011/storyboarding/control">
  <Id Name="System.Storyboarding.Common.Text" Revision="1" Stencil="System.Storyboarding.Common" StencilVersion="0.1"/>
</Control>
</file>

<file path=customXml/item52.xml><?xml version="1.0" encoding="utf-8"?>
<Control xmlns="http://schemas.microsoft.com/VisualStudio/2011/storyboarding/control">
  <Id Name="System.Storyboarding.Common.CheckBoxChecked" Revision="1" Stencil="System.Storyboarding.Common" StencilVersion="0.1"/>
</Control>
</file>

<file path=customXml/item53.xml><?xml version="1.0" encoding="utf-8"?>
<Control xmlns="http://schemas.microsoft.com/VisualStudio/2011/storyboarding/control">
  <Id Name="System.Storyboarding.Icons.Play" Revision="1" Stencil="System.Storyboarding.Icons" StencilVersion="0.1"/>
</Control>
</file>

<file path=customXml/item54.xml><?xml version="1.0" encoding="utf-8"?>
<Control xmlns="http://schemas.microsoft.com/VisualStudio/2011/storyboarding/control">
  <Id Name="System.Storyboarding.Common.Text" Revision="1" Stencil="System.Storyboarding.Common" StencilVersion="0.1"/>
</Control>
</file>

<file path=customXml/item55.xml><?xml version="1.0" encoding="utf-8"?>
<Control xmlns="http://schemas.microsoft.com/VisualStudio/2011/storyboarding/control">
  <Id Name="System.Storyboarding.Common.Text" Revision="1" Stencil="System.Storyboarding.Common" StencilVersion="0.1"/>
</Control>
</file>

<file path=customXml/item56.xml><?xml version="1.0" encoding="utf-8"?>
<Control xmlns="http://schemas.microsoft.com/VisualStudio/2011/storyboarding/control">
  <Id Name="System.Storyboarding.WindowsAppIcons.Filter" Revision="1" Stencil="System.Storyboarding.WindowsAppIcons" StencilVersion="0.1"/>
</Control>
</file>

<file path=customXml/item57.xml><?xml version="1.0" encoding="utf-8"?>
<Control xmlns="http://schemas.microsoft.com/VisualStudio/2011/storyboarding/control">
  <Id Name="System.Storyboarding.Common.Button" Revision="1" Stencil="System.Storyboarding.Common" StencilVersion="0.1"/>
</Control>
</file>

<file path=customXml/item58.xml><?xml version="1.0" encoding="utf-8"?>
<Control xmlns="http://schemas.microsoft.com/VisualStudio/2011/storyboarding/control">
  <Id Name="System.Storyboarding.Common.Button" Revision="1" Stencil="System.Storyboarding.Common" StencilVersion="0.1"/>
</Control>
</file>

<file path=customXml/item59.xml><?xml version="1.0" encoding="utf-8"?>
<Control xmlns="http://schemas.microsoft.com/VisualStudio/2011/storyboarding/control">
  <Id Name="System.Storyboarding.WindowsPhoneIcons.Play" Revision="1" Stencil="System.Storyboarding.WindowsPhoneIcons" StencilVersion="0.1"/>
</Control>
</file>

<file path=customXml/item60.xml><?xml version="1.0" encoding="utf-8"?>
<Control xmlns="http://schemas.microsoft.com/VisualStudio/2011/storyboarding/control">
  <Id Name="System.Storyboarding.Common.Text" Revision="1" Stencil="System.Storyboarding.Common" StencilVersion="0.1"/>
</Control>
</file>

<file path=customXml/item61.xml><?xml version="1.0" encoding="utf-8"?>
<Control xmlns="http://schemas.microsoft.com/VisualStudio/2011/storyboarding/control">
  <Id Name="System.Storyboarding.Common.TextInput" Revision="1" Stencil="System.Storyboarding.Common" StencilVersion="0.1"/>
</Control>
</file>

<file path=customXml/item62.xml><?xml version="1.0" encoding="utf-8"?>
<Control xmlns="http://schemas.microsoft.com/VisualStudio/2011/storyboarding/control">
  <Id Name="System.Storyboarding.Common.TextInput" Revision="1" Stencil="System.Storyboarding.Common" StencilVersion="0.1"/>
</Control>
</file>

<file path=customXml/item63.xml><?xml version="1.0" encoding="utf-8"?>
<Control xmlns="http://schemas.microsoft.com/VisualStudio/2011/storyboarding/control">
  <Id Name="System.Storyboarding.Common.Button" Revision="1" Stencil="System.Storyboarding.Common" StencilVersion="0.1"/>
</Control>
</file>

<file path=customXml/item64.xml><?xml version="1.0" encoding="utf-8"?>
<Control xmlns="http://schemas.microsoft.com/VisualStudio/2011/storyboarding/control">
  <Id Name="System.Storyboarding.Common.TextInput" Revision="1" Stencil="System.Storyboarding.Common" StencilVersion="0.1"/>
</Control>
</file>

<file path=customXml/item65.xml><?xml version="1.0" encoding="utf-8"?>
<Control xmlns="http://schemas.microsoft.com/VisualStudio/2011/storyboarding/control">
  <Id Name="System.Storyboarding.Common.Button" Revision="1" Stencil="System.Storyboarding.Common" StencilVersion="0.1"/>
</Control>
</file>

<file path=customXml/item66.xml><?xml version="1.0" encoding="utf-8"?>
<Control xmlns="http://schemas.microsoft.com/VisualStudio/2011/storyboarding/control">
  <Id Name="System.Storyboarding.Icons.Play" Revision="1" Stencil="System.Storyboarding.Icons" StencilVersion="0.1"/>
</Control>
</file>

<file path=customXml/item67.xml><?xml version="1.0" encoding="utf-8"?>
<Control xmlns="http://schemas.microsoft.com/VisualStudio/2011/storyboarding/control">
  <Id Name="System.Storyboarding.WindowsPhoneIcons.Play" Revision="1" Stencil="System.Storyboarding.WindowsPhoneIcons" StencilVersion="0.1"/>
</Control>
</file>

<file path=customXml/item68.xml><?xml version="1.0" encoding="utf-8"?>
<Control xmlns="http://schemas.microsoft.com/VisualStudio/2011/storyboarding/control">
  <Id Name="System.Storyboarding.Common.Button" Revision="1" Stencil="System.Storyboarding.Common" StencilVersion="0.1"/>
</Control>
</file>

<file path=customXml/item69.xml><?xml version="1.0" encoding="utf-8"?>
<Control xmlns="http://schemas.microsoft.com/VisualStudio/2011/storyboarding/control">
  <Id Name="System.Storyboarding.Common.Text" Revision="1" Stencil="System.Storyboarding.Common" StencilVersion="0.1"/>
</Control>
</file>

<file path=customXml/item70.xml><?xml version="1.0" encoding="utf-8"?>
<Control xmlns="http://schemas.microsoft.com/VisualStudio/2011/storyboarding/control">
  <Id Name="System.Storyboarding.Common.Text" Revision="1" Stencil="System.Storyboarding.Common" StencilVersion="0.1"/>
</Control>
</file>

<file path=customXml/item71.xml><?xml version="1.0" encoding="utf-8"?>
<Control xmlns="http://schemas.microsoft.com/VisualStudio/2011/storyboarding/control">
  <Id Name="System.Storyboarding.WindowsPhoneIcons.Play" Revision="1" Stencil="System.Storyboarding.WindowsPhoneIcons" StencilVersion="0.1"/>
</Control>
</file>

<file path=customXml/item72.xml><?xml version="1.0" encoding="utf-8"?>
<Control xmlns="http://schemas.microsoft.com/VisualStudio/2011/storyboarding/control">
  <Id Name="System.Storyboarding.Icons.Play" Revision="1" Stencil="System.Storyboarding.Icons" StencilVersion="0.1"/>
</Control>
</file>

<file path=customXml/item73.xml><?xml version="1.0" encoding="utf-8"?>
<Control xmlns="http://schemas.microsoft.com/VisualStudio/2011/storyboarding/control">
  <Id Name="System.Storyboarding.Common.Text" Revision="1" Stencil="System.Storyboarding.Common" StencilVersion="0.1"/>
</Control>
</file>

<file path=customXml/item74.xml><?xml version="1.0" encoding="utf-8"?>
<Control xmlns="http://schemas.microsoft.com/VisualStudio/2011/storyboarding/control">
  <Id Name="System.Storyboarding.Common.Text" Revision="1" Stencil="System.Storyboarding.Common" StencilVersion="0.1"/>
</Control>
</file>

<file path=customXml/item75.xml><?xml version="1.0" encoding="utf-8"?>
<Control xmlns="http://schemas.microsoft.com/VisualStudio/2011/storyboarding/control">
  <Id Name="System.Storyboarding.Common.Text" Revision="1" Stencil="System.Storyboarding.Common" StencilVersion="0.1"/>
</Control>
</file>

<file path=customXml/itemProps1.xml><?xml version="1.0" encoding="utf-8"?>
<ds:datastoreItem xmlns:ds="http://schemas.openxmlformats.org/officeDocument/2006/customXml" ds:itemID="{DEB5D155-F655-43F8-AC8D-72BCDFE38062}">
  <ds:schemaRefs>
    <ds:schemaRef ds:uri="http://schemas.microsoft.com/VisualStudio/2011/storyboarding/control"/>
  </ds:schemaRefs>
</ds:datastoreItem>
</file>

<file path=customXml/itemProps2.xml><?xml version="1.0" encoding="utf-8"?>
<ds:datastoreItem xmlns:ds="http://schemas.openxmlformats.org/officeDocument/2006/customXml" ds:itemID="{6A07236A-4672-47F3-ACF8-5140768F61D6}">
  <ds:schemaRefs>
    <ds:schemaRef ds:uri="http://schemas.microsoft.com/VisualStudio/2011/storyboarding/control"/>
  </ds:schemaRefs>
</ds:datastoreItem>
</file>

<file path=customXml/itemProps3.xml><?xml version="1.0" encoding="utf-8"?>
<ds:datastoreItem xmlns:ds="http://schemas.openxmlformats.org/officeDocument/2006/customXml" ds:itemID="{FD545A65-6FC0-4627-BFF9-29E9473A535A}">
  <ds:schemaRefs>
    <ds:schemaRef ds:uri="http://schemas.microsoft.com/VisualStudio/2011/storyboarding/control"/>
  </ds:schemaRefs>
</ds:datastoreItem>
</file>

<file path=customXml/itemProps4.xml><?xml version="1.0" encoding="utf-8"?>
<ds:datastoreItem xmlns:ds="http://schemas.openxmlformats.org/officeDocument/2006/customXml" ds:itemID="{1046D953-DC5C-4023-AB06-1DDFCF553743}">
  <ds:schemaRefs>
    <ds:schemaRef ds:uri="http://schemas.microsoft.com/VisualStudio/2011/storyboarding/control"/>
  </ds:schemaRefs>
</ds:datastoreItem>
</file>

<file path=customXml/itemProps5.xml><?xml version="1.0" encoding="utf-8"?>
<ds:datastoreItem xmlns:ds="http://schemas.openxmlformats.org/officeDocument/2006/customXml" ds:itemID="{94DCA863-E04B-43BD-B967-CD02AB4C1C79}">
  <ds:schemaRefs>
    <ds:schemaRef ds:uri="http://schemas.microsoft.com/VisualStudio/2011/storyboarding/control"/>
  </ds:schemaRefs>
</ds:datastoreItem>
</file>

<file path=customXml/itemProps6.xml><?xml version="1.0" encoding="utf-8"?>
<ds:datastoreItem xmlns:ds="http://schemas.openxmlformats.org/officeDocument/2006/customXml" ds:itemID="{2796424E-72E7-42A4-9316-D42BEAE6B35F}">
  <ds:schemaRefs>
    <ds:schemaRef ds:uri="http://schemas.microsoft.com/VisualStudio/2011/storyboarding/control"/>
  </ds:schemaRefs>
</ds:datastoreItem>
</file>

<file path=customXml/itemProps7.xml><?xml version="1.0" encoding="utf-8"?>
<ds:datastoreItem xmlns:ds="http://schemas.openxmlformats.org/officeDocument/2006/customXml" ds:itemID="{B5E7F792-63C8-4C10-9C45-A49F79A85572}">
  <ds:schemaRefs>
    <ds:schemaRef ds:uri="http://schemas.microsoft.com/VisualStudio/2011/storyboarding/control"/>
  </ds:schemaRefs>
</ds:datastoreItem>
</file>

<file path=customXml/itemProps8.xml><?xml version="1.0" encoding="utf-8"?>
<ds:datastoreItem xmlns:ds="http://schemas.openxmlformats.org/officeDocument/2006/customXml" ds:itemID="{49129C78-7D9E-4BB3-9C5E-31A114CDDDAF}">
  <ds:schemaRefs>
    <ds:schemaRef ds:uri="http://schemas.microsoft.com/VisualStudio/2011/storyboarding/control"/>
  </ds:schemaRefs>
</ds:datastoreItem>
</file>

<file path=customXml/itemProps9.xml><?xml version="1.0" encoding="utf-8"?>
<ds:datastoreItem xmlns:ds="http://schemas.openxmlformats.org/officeDocument/2006/customXml" ds:itemID="{E1CAACFB-D5E1-4401-9CD9-5C9A1A725766}">
  <ds:schemaRefs>
    <ds:schemaRef ds:uri="http://schemas.microsoft.com/VisualStudio/2011/storyboarding/control"/>
  </ds:schemaRefs>
</ds:datastoreItem>
</file>

<file path=customXml/itemProps10.xml><?xml version="1.0" encoding="utf-8"?>
<ds:datastoreItem xmlns:ds="http://schemas.openxmlformats.org/officeDocument/2006/customXml" ds:itemID="{6C65F9E1-4BF0-46D0-AB15-E504BEFB8584}">
  <ds:schemaRefs>
    <ds:schemaRef ds:uri="http://schemas.microsoft.com/VisualStudio/2011/storyboarding/control"/>
  </ds:schemaRefs>
</ds:datastoreItem>
</file>

<file path=customXml/itemProps11.xml><?xml version="1.0" encoding="utf-8"?>
<ds:datastoreItem xmlns:ds="http://schemas.openxmlformats.org/officeDocument/2006/customXml" ds:itemID="{12609BE9-FE9E-4E35-AB66-DD12A3E6CD12}">
  <ds:schemaRefs>
    <ds:schemaRef ds:uri="http://schemas.microsoft.com/VisualStudio/2011/storyboarding/control"/>
  </ds:schemaRefs>
</ds:datastoreItem>
</file>

<file path=customXml/itemProps12.xml><?xml version="1.0" encoding="utf-8"?>
<ds:datastoreItem xmlns:ds="http://schemas.openxmlformats.org/officeDocument/2006/customXml" ds:itemID="{99EE0DBF-192C-4168-9810-14CF34ACD112}">
  <ds:schemaRefs>
    <ds:schemaRef ds:uri="http://schemas.microsoft.com/sharepoint/v3/contenttype/forms"/>
  </ds:schemaRefs>
</ds:datastoreItem>
</file>

<file path=customXml/itemProps13.xml><?xml version="1.0" encoding="utf-8"?>
<ds:datastoreItem xmlns:ds="http://schemas.openxmlformats.org/officeDocument/2006/customXml" ds:itemID="{33320F56-4461-4996-892B-51EBD308C30F}">
  <ds:schemaRefs>
    <ds:schemaRef ds:uri="http://schemas.microsoft.com/VisualStudio/2011/storyboarding/control"/>
  </ds:schemaRefs>
</ds:datastoreItem>
</file>

<file path=customXml/itemProps14.xml><?xml version="1.0" encoding="utf-8"?>
<ds:datastoreItem xmlns:ds="http://schemas.openxmlformats.org/officeDocument/2006/customXml" ds:itemID="{BBA7073B-40EE-4DE2-AF4A-129BF84E59DE}">
  <ds:schemaRefs>
    <ds:schemaRef ds:uri="http://schemas.microsoft.com/VisualStudio/2011/storyboarding/control"/>
  </ds:schemaRefs>
</ds:datastoreItem>
</file>

<file path=customXml/itemProps15.xml><?xml version="1.0" encoding="utf-8"?>
<ds:datastoreItem xmlns:ds="http://schemas.openxmlformats.org/officeDocument/2006/customXml" ds:itemID="{509C4AEB-3B1B-43C2-B2D7-59294E07518C}">
  <ds:schemaRefs>
    <ds:schemaRef ds:uri="http://schemas.microsoft.com/VisualStudio/2011/storyboarding/control"/>
  </ds:schemaRefs>
</ds:datastoreItem>
</file>

<file path=customXml/itemProps16.xml><?xml version="1.0" encoding="utf-8"?>
<ds:datastoreItem xmlns:ds="http://schemas.openxmlformats.org/officeDocument/2006/customXml" ds:itemID="{E42CC7C6-C2F1-4FC8-973F-EDE0774A42AA}">
  <ds:schemaRefs>
    <ds:schemaRef ds:uri="http://schemas.microsoft.com/VisualStudio/2011/storyboarding/control"/>
  </ds:schemaRefs>
</ds:datastoreItem>
</file>

<file path=customXml/itemProps17.xml><?xml version="1.0" encoding="utf-8"?>
<ds:datastoreItem xmlns:ds="http://schemas.openxmlformats.org/officeDocument/2006/customXml" ds:itemID="{7134E778-AB11-4F1C-98AC-CA66F45B0E70}">
  <ds:schemaRefs>
    <ds:schemaRef ds:uri="http://schemas.microsoft.com/VisualStudio/2011/storyboarding/control"/>
  </ds:schemaRefs>
</ds:datastoreItem>
</file>

<file path=customXml/itemProps18.xml><?xml version="1.0" encoding="utf-8"?>
<ds:datastoreItem xmlns:ds="http://schemas.openxmlformats.org/officeDocument/2006/customXml" ds:itemID="{1ED050AC-C345-4E2D-8BBB-8637ED4B5EE8}">
  <ds:schemaRefs>
    <ds:schemaRef ds:uri="http://schemas.microsoft.com/VisualStudio/2011/storyboarding/control"/>
  </ds:schemaRefs>
</ds:datastoreItem>
</file>

<file path=customXml/itemProps19.xml><?xml version="1.0" encoding="utf-8"?>
<ds:datastoreItem xmlns:ds="http://schemas.openxmlformats.org/officeDocument/2006/customXml" ds:itemID="{9D273B2C-E716-445F-B738-AD56CC36D8E4}">
  <ds:schemaRefs>
    <ds:schemaRef ds:uri="http://schemas.microsoft.com/VisualStudio/2011/storyboarding/control"/>
  </ds:schemaRefs>
</ds:datastoreItem>
</file>

<file path=customXml/itemProps20.xml><?xml version="1.0" encoding="utf-8"?>
<ds:datastoreItem xmlns:ds="http://schemas.openxmlformats.org/officeDocument/2006/customXml" ds:itemID="{344A9171-09E1-4B80-B13F-3EDCE2A7647B}">
  <ds:schemaRefs>
    <ds:schemaRef ds:uri="http://schemas.microsoft.com/VisualStudio/2011/storyboarding/control"/>
  </ds:schemaRefs>
</ds:datastoreItem>
</file>

<file path=customXml/itemProps21.xml><?xml version="1.0" encoding="utf-8"?>
<ds:datastoreItem xmlns:ds="http://schemas.openxmlformats.org/officeDocument/2006/customXml" ds:itemID="{CD1A15A8-7FC4-4E6C-BD2D-EECC5E279C84}">
  <ds:schemaRefs>
    <ds:schemaRef ds:uri="http://schemas.microsoft.com/VisualStudio/2011/storyboarding/control"/>
  </ds:schemaRefs>
</ds:datastoreItem>
</file>

<file path=customXml/itemProps22.xml><?xml version="1.0" encoding="utf-8"?>
<ds:datastoreItem xmlns:ds="http://schemas.openxmlformats.org/officeDocument/2006/customXml" ds:itemID="{5496224B-1F49-4B4A-BE67-2D8ED9D89F56}">
  <ds:schemaRefs>
    <ds:schemaRef ds:uri="http://schemas.microsoft.com/VisualStudio/2011/storyboarding/control"/>
  </ds:schemaRefs>
</ds:datastoreItem>
</file>

<file path=customXml/itemProps23.xml><?xml version="1.0" encoding="utf-8"?>
<ds:datastoreItem xmlns:ds="http://schemas.openxmlformats.org/officeDocument/2006/customXml" ds:itemID="{E7161252-7B94-4BB6-9DD4-702AF93C9B6E}">
  <ds:schemaRefs>
    <ds:schemaRef ds:uri="http://schemas.microsoft.com/VisualStudio/2011/storyboarding/control"/>
  </ds:schemaRefs>
</ds:datastoreItem>
</file>

<file path=customXml/itemProps24.xml><?xml version="1.0" encoding="utf-8"?>
<ds:datastoreItem xmlns:ds="http://schemas.openxmlformats.org/officeDocument/2006/customXml" ds:itemID="{7E11F26B-07FB-4E9A-8707-5C69DC7BE6B6}">
  <ds:schemaRefs>
    <ds:schemaRef ds:uri="http://schemas.microsoft.com/VisualStudio/2011/storyboarding/control"/>
  </ds:schemaRefs>
</ds:datastoreItem>
</file>

<file path=customXml/itemProps25.xml><?xml version="1.0" encoding="utf-8"?>
<ds:datastoreItem xmlns:ds="http://schemas.openxmlformats.org/officeDocument/2006/customXml" ds:itemID="{AC21BE75-D02F-49E5-8E67-AB5E7A7DBE0C}">
  <ds:schemaRefs>
    <ds:schemaRef ds:uri="6f016a47-d9d6-430c-863f-c309e81407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6.xml><?xml version="1.0" encoding="utf-8"?>
<ds:datastoreItem xmlns:ds="http://schemas.openxmlformats.org/officeDocument/2006/customXml" ds:itemID="{D857E79C-A5BA-473D-8E92-E6A3784B1498}">
  <ds:schemaRefs>
    <ds:schemaRef ds:uri="http://schemas.microsoft.com/VisualStudio/2011/storyboarding/control"/>
  </ds:schemaRefs>
</ds:datastoreItem>
</file>

<file path=customXml/itemProps27.xml><?xml version="1.0" encoding="utf-8"?>
<ds:datastoreItem xmlns:ds="http://schemas.openxmlformats.org/officeDocument/2006/customXml" ds:itemID="{3DEE0A11-E6D2-41FC-97AA-9B3DF2B935E6}">
  <ds:schemaRefs>
    <ds:schemaRef ds:uri="6f016a47-d9d6-430c-863f-c309e81407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8.xml><?xml version="1.0" encoding="utf-8"?>
<ds:datastoreItem xmlns:ds="http://schemas.openxmlformats.org/officeDocument/2006/customXml" ds:itemID="{F4393A6E-3787-46C7-9D4F-AD8DAA787D46}">
  <ds:schemaRefs>
    <ds:schemaRef ds:uri="http://schemas.microsoft.com/VisualStudio/2011/storyboarding/control"/>
  </ds:schemaRefs>
</ds:datastoreItem>
</file>

<file path=customXml/itemProps29.xml><?xml version="1.0" encoding="utf-8"?>
<ds:datastoreItem xmlns:ds="http://schemas.openxmlformats.org/officeDocument/2006/customXml" ds:itemID="{09A58ED5-93CE-44C7-9C9C-BC48E97AF6F2}">
  <ds:schemaRefs>
    <ds:schemaRef ds:uri="http://schemas.microsoft.com/VisualStudio/2011/storyboarding/control"/>
  </ds:schemaRefs>
</ds:datastoreItem>
</file>

<file path=customXml/itemProps30.xml><?xml version="1.0" encoding="utf-8"?>
<ds:datastoreItem xmlns:ds="http://schemas.openxmlformats.org/officeDocument/2006/customXml" ds:itemID="{5716F942-5505-4EEA-8AE2-74FB82B83993}">
  <ds:schemaRefs>
    <ds:schemaRef ds:uri="http://schemas.microsoft.com/VisualStudio/2011/storyboarding/control"/>
  </ds:schemaRefs>
</ds:datastoreItem>
</file>

<file path=customXml/itemProps31.xml><?xml version="1.0" encoding="utf-8"?>
<ds:datastoreItem xmlns:ds="http://schemas.openxmlformats.org/officeDocument/2006/customXml" ds:itemID="{87099F71-81CC-45B3-921F-A28E3CD2F64A}">
  <ds:schemaRefs>
    <ds:schemaRef ds:uri="http://schemas.microsoft.com/VisualStudio/2011/storyboarding/control"/>
  </ds:schemaRefs>
</ds:datastoreItem>
</file>

<file path=customXml/itemProps32.xml><?xml version="1.0" encoding="utf-8"?>
<ds:datastoreItem xmlns:ds="http://schemas.openxmlformats.org/officeDocument/2006/customXml" ds:itemID="{DB72B598-9379-449C-B7AF-0A3CB8DF5D98}">
  <ds:schemaRefs>
    <ds:schemaRef ds:uri="http://schemas.microsoft.com/VisualStudio/2011/storyboarding/control"/>
  </ds:schemaRefs>
</ds:datastoreItem>
</file>

<file path=customXml/itemProps33.xml><?xml version="1.0" encoding="utf-8"?>
<ds:datastoreItem xmlns:ds="http://schemas.openxmlformats.org/officeDocument/2006/customXml" ds:itemID="{3E5CDADF-720D-4BEA-A79B-DFABD097C731}">
  <ds:schemaRefs>
    <ds:schemaRef ds:uri="http://schemas.microsoft.com/VisualStudio/2011/storyboarding/control"/>
  </ds:schemaRefs>
</ds:datastoreItem>
</file>

<file path=customXml/itemProps34.xml><?xml version="1.0" encoding="utf-8"?>
<ds:datastoreItem xmlns:ds="http://schemas.openxmlformats.org/officeDocument/2006/customXml" ds:itemID="{57396FAC-B72D-46FF-BD97-86693956E4F3}">
  <ds:schemaRefs>
    <ds:schemaRef ds:uri="http://schemas.microsoft.com/VisualStudio/2011/storyboarding/control"/>
  </ds:schemaRefs>
</ds:datastoreItem>
</file>

<file path=customXml/itemProps35.xml><?xml version="1.0" encoding="utf-8"?>
<ds:datastoreItem xmlns:ds="http://schemas.openxmlformats.org/officeDocument/2006/customXml" ds:itemID="{B0962647-4FBE-4B15-B327-5B1484CC045B}">
  <ds:schemaRefs>
    <ds:schemaRef ds:uri="http://schemas.microsoft.com/VisualStudio/2011/storyboarding/control"/>
  </ds:schemaRefs>
</ds:datastoreItem>
</file>

<file path=customXml/itemProps36.xml><?xml version="1.0" encoding="utf-8"?>
<ds:datastoreItem xmlns:ds="http://schemas.openxmlformats.org/officeDocument/2006/customXml" ds:itemID="{FB4534D5-F871-4293-ACDC-44BE0EEC328D}">
  <ds:schemaRefs>
    <ds:schemaRef ds:uri="http://schemas.microsoft.com/VisualStudio/2011/storyboarding/control"/>
  </ds:schemaRefs>
</ds:datastoreItem>
</file>

<file path=customXml/itemProps37.xml><?xml version="1.0" encoding="utf-8"?>
<ds:datastoreItem xmlns:ds="http://schemas.openxmlformats.org/officeDocument/2006/customXml" ds:itemID="{0DC98725-EE79-4992-BCDD-A52278B4A4F0}">
  <ds:schemaRefs>
    <ds:schemaRef ds:uri="http://schemas.microsoft.com/VisualStudio/2011/storyboarding/control"/>
  </ds:schemaRefs>
</ds:datastoreItem>
</file>

<file path=customXml/itemProps38.xml><?xml version="1.0" encoding="utf-8"?>
<ds:datastoreItem xmlns:ds="http://schemas.openxmlformats.org/officeDocument/2006/customXml" ds:itemID="{40F54283-FDE1-4CE7-A32C-089477C9A7E5}">
  <ds:schemaRefs>
    <ds:schemaRef ds:uri="http://schemas.microsoft.com/VisualStudio/2011/storyboarding/control"/>
  </ds:schemaRefs>
</ds:datastoreItem>
</file>

<file path=customXml/itemProps39.xml><?xml version="1.0" encoding="utf-8"?>
<ds:datastoreItem xmlns:ds="http://schemas.openxmlformats.org/officeDocument/2006/customXml" ds:itemID="{8BB1DF83-F2B7-4A18-A842-6DAEF88AA20E}">
  <ds:schemaRefs>
    <ds:schemaRef ds:uri="http://schemas.microsoft.com/VisualStudio/2011/storyboarding/control"/>
  </ds:schemaRefs>
</ds:datastoreItem>
</file>

<file path=customXml/itemProps40.xml><?xml version="1.0" encoding="utf-8"?>
<ds:datastoreItem xmlns:ds="http://schemas.openxmlformats.org/officeDocument/2006/customXml" ds:itemID="{DCE9DBC7-0220-434B-8AE6-ECD4E5C757D4}">
  <ds:schemaRefs>
    <ds:schemaRef ds:uri="http://schemas.microsoft.com/VisualStudio/2011/storyboarding/control"/>
  </ds:schemaRefs>
</ds:datastoreItem>
</file>

<file path=customXml/itemProps41.xml><?xml version="1.0" encoding="utf-8"?>
<ds:datastoreItem xmlns:ds="http://schemas.openxmlformats.org/officeDocument/2006/customXml" ds:itemID="{244ECF80-80F4-4A1C-82BD-E5A69E3010FC}">
  <ds:schemaRefs>
    <ds:schemaRef ds:uri="http://schemas.microsoft.com/VisualStudio/2011/storyboarding/control"/>
  </ds:schemaRefs>
</ds:datastoreItem>
</file>

<file path=customXml/itemProps42.xml><?xml version="1.0" encoding="utf-8"?>
<ds:datastoreItem xmlns:ds="http://schemas.openxmlformats.org/officeDocument/2006/customXml" ds:itemID="{607D7AF5-55BA-43E6-8606-3CD0B7994F6A}">
  <ds:schemaRefs>
    <ds:schemaRef ds:uri="http://schemas.microsoft.com/VisualStudio/2011/storyboarding/control"/>
  </ds:schemaRefs>
</ds:datastoreItem>
</file>

<file path=customXml/itemProps43.xml><?xml version="1.0" encoding="utf-8"?>
<ds:datastoreItem xmlns:ds="http://schemas.openxmlformats.org/officeDocument/2006/customXml" ds:itemID="{B0E9E212-85E8-4EFF-80BF-968C057CA1A3}">
  <ds:schemaRefs>
    <ds:schemaRef ds:uri="http://schemas.microsoft.com/VisualStudio/2011/storyboarding/control"/>
  </ds:schemaRefs>
</ds:datastoreItem>
</file>

<file path=customXml/itemProps44.xml><?xml version="1.0" encoding="utf-8"?>
<ds:datastoreItem xmlns:ds="http://schemas.openxmlformats.org/officeDocument/2006/customXml" ds:itemID="{FBB7965A-AE82-47A9-84EC-44BF847826FE}">
  <ds:schemaRefs>
    <ds:schemaRef ds:uri="http://schemas.microsoft.com/VisualStudio/2011/storyboarding/control"/>
  </ds:schemaRefs>
</ds:datastoreItem>
</file>

<file path=customXml/itemProps45.xml><?xml version="1.0" encoding="utf-8"?>
<ds:datastoreItem xmlns:ds="http://schemas.openxmlformats.org/officeDocument/2006/customXml" ds:itemID="{0E90198D-2B25-4C02-A2CC-85C8BD5833BE}">
  <ds:schemaRefs>
    <ds:schemaRef ds:uri="http://schemas.microsoft.com/VisualStudio/2011/storyboarding/control"/>
  </ds:schemaRefs>
</ds:datastoreItem>
</file>

<file path=customXml/itemProps46.xml><?xml version="1.0" encoding="utf-8"?>
<ds:datastoreItem xmlns:ds="http://schemas.openxmlformats.org/officeDocument/2006/customXml" ds:itemID="{909C8082-D0E9-4075-955B-2693A4EE8D7C}">
  <ds:schemaRefs>
    <ds:schemaRef ds:uri="http://schemas.microsoft.com/VisualStudio/2011/storyboarding/control"/>
  </ds:schemaRefs>
</ds:datastoreItem>
</file>

<file path=customXml/itemProps47.xml><?xml version="1.0" encoding="utf-8"?>
<ds:datastoreItem xmlns:ds="http://schemas.openxmlformats.org/officeDocument/2006/customXml" ds:itemID="{2459FCEE-0582-46A3-AB3C-484C9457EAC5}">
  <ds:schemaRefs>
    <ds:schemaRef ds:uri="http://schemas.microsoft.com/VisualStudio/2011/storyboarding/control"/>
  </ds:schemaRefs>
</ds:datastoreItem>
</file>

<file path=customXml/itemProps48.xml><?xml version="1.0" encoding="utf-8"?>
<ds:datastoreItem xmlns:ds="http://schemas.openxmlformats.org/officeDocument/2006/customXml" ds:itemID="{B4A1EEB7-6F75-40FC-B3F5-0A6877DDD5B4}">
  <ds:schemaRefs>
    <ds:schemaRef ds:uri="http://schemas.microsoft.com/VisualStudio/2011/storyboarding/control"/>
  </ds:schemaRefs>
</ds:datastoreItem>
</file>

<file path=customXml/itemProps49.xml><?xml version="1.0" encoding="utf-8"?>
<ds:datastoreItem xmlns:ds="http://schemas.openxmlformats.org/officeDocument/2006/customXml" ds:itemID="{46524666-DA33-41EE-87DC-6FBD530A4B9D}">
  <ds:schemaRefs>
    <ds:schemaRef ds:uri="http://schemas.microsoft.com/VisualStudio/2011/storyboarding/control"/>
  </ds:schemaRefs>
</ds:datastoreItem>
</file>

<file path=customXml/itemProps50.xml><?xml version="1.0" encoding="utf-8"?>
<ds:datastoreItem xmlns:ds="http://schemas.openxmlformats.org/officeDocument/2006/customXml" ds:itemID="{DF020F62-798C-4178-8287-7EF9BC95C167}">
  <ds:schemaRefs>
    <ds:schemaRef ds:uri="http://schemas.microsoft.com/VisualStudio/2011/storyboarding/control"/>
  </ds:schemaRefs>
</ds:datastoreItem>
</file>

<file path=customXml/itemProps51.xml><?xml version="1.0" encoding="utf-8"?>
<ds:datastoreItem xmlns:ds="http://schemas.openxmlformats.org/officeDocument/2006/customXml" ds:itemID="{6C4EF73C-4A90-44F1-AFC0-5FE7C094FBD4}">
  <ds:schemaRefs>
    <ds:schemaRef ds:uri="http://schemas.microsoft.com/VisualStudio/2011/storyboarding/control"/>
  </ds:schemaRefs>
</ds:datastoreItem>
</file>

<file path=customXml/itemProps52.xml><?xml version="1.0" encoding="utf-8"?>
<ds:datastoreItem xmlns:ds="http://schemas.openxmlformats.org/officeDocument/2006/customXml" ds:itemID="{FF048387-CAAA-4562-9180-B0A214DCAB43}">
  <ds:schemaRefs>
    <ds:schemaRef ds:uri="http://schemas.microsoft.com/VisualStudio/2011/storyboarding/control"/>
  </ds:schemaRefs>
</ds:datastoreItem>
</file>

<file path=customXml/itemProps53.xml><?xml version="1.0" encoding="utf-8"?>
<ds:datastoreItem xmlns:ds="http://schemas.openxmlformats.org/officeDocument/2006/customXml" ds:itemID="{11AF8DAF-1363-4C2E-A99A-4231819E26BF}">
  <ds:schemaRefs>
    <ds:schemaRef ds:uri="http://schemas.microsoft.com/VisualStudio/2011/storyboarding/control"/>
  </ds:schemaRefs>
</ds:datastoreItem>
</file>

<file path=customXml/itemProps54.xml><?xml version="1.0" encoding="utf-8"?>
<ds:datastoreItem xmlns:ds="http://schemas.openxmlformats.org/officeDocument/2006/customXml" ds:itemID="{96284B36-0954-4788-A56A-438BF4D6BF08}">
  <ds:schemaRefs>
    <ds:schemaRef ds:uri="http://schemas.microsoft.com/VisualStudio/2011/storyboarding/control"/>
  </ds:schemaRefs>
</ds:datastoreItem>
</file>

<file path=customXml/itemProps55.xml><?xml version="1.0" encoding="utf-8"?>
<ds:datastoreItem xmlns:ds="http://schemas.openxmlformats.org/officeDocument/2006/customXml" ds:itemID="{2CA6A7E6-785D-42AC-8696-C7BE9DC33B47}">
  <ds:schemaRefs>
    <ds:schemaRef ds:uri="http://schemas.microsoft.com/VisualStudio/2011/storyboarding/control"/>
  </ds:schemaRefs>
</ds:datastoreItem>
</file>

<file path=customXml/itemProps56.xml><?xml version="1.0" encoding="utf-8"?>
<ds:datastoreItem xmlns:ds="http://schemas.openxmlformats.org/officeDocument/2006/customXml" ds:itemID="{B67B59AB-BC59-4212-A635-5829D5F2FCB5}">
  <ds:schemaRefs>
    <ds:schemaRef ds:uri="http://schemas.microsoft.com/VisualStudio/2011/storyboarding/control"/>
  </ds:schemaRefs>
</ds:datastoreItem>
</file>

<file path=customXml/itemProps57.xml><?xml version="1.0" encoding="utf-8"?>
<ds:datastoreItem xmlns:ds="http://schemas.openxmlformats.org/officeDocument/2006/customXml" ds:itemID="{504BCB94-6C8F-4EB8-9079-1D0C95D326C3}">
  <ds:schemaRefs>
    <ds:schemaRef ds:uri="http://schemas.microsoft.com/VisualStudio/2011/storyboarding/control"/>
  </ds:schemaRefs>
</ds:datastoreItem>
</file>

<file path=customXml/itemProps58.xml><?xml version="1.0" encoding="utf-8"?>
<ds:datastoreItem xmlns:ds="http://schemas.openxmlformats.org/officeDocument/2006/customXml" ds:itemID="{E2123A65-6719-4C7E-AB6C-6DD38D2AEF8B}">
  <ds:schemaRefs>
    <ds:schemaRef ds:uri="http://schemas.microsoft.com/VisualStudio/2011/storyboarding/control"/>
  </ds:schemaRefs>
</ds:datastoreItem>
</file>

<file path=customXml/itemProps59.xml><?xml version="1.0" encoding="utf-8"?>
<ds:datastoreItem xmlns:ds="http://schemas.openxmlformats.org/officeDocument/2006/customXml" ds:itemID="{6FE56C30-9ECD-41A4-A97A-B01FFAC87C9F}">
  <ds:schemaRefs>
    <ds:schemaRef ds:uri="http://schemas.microsoft.com/VisualStudio/2011/storyboarding/control"/>
  </ds:schemaRefs>
</ds:datastoreItem>
</file>

<file path=customXml/itemProps60.xml><?xml version="1.0" encoding="utf-8"?>
<ds:datastoreItem xmlns:ds="http://schemas.openxmlformats.org/officeDocument/2006/customXml" ds:itemID="{17D3811C-E238-4D64-8EC7-A7E1E3FD6CA4}">
  <ds:schemaRefs>
    <ds:schemaRef ds:uri="http://schemas.microsoft.com/VisualStudio/2011/storyboarding/control"/>
  </ds:schemaRefs>
</ds:datastoreItem>
</file>

<file path=customXml/itemProps61.xml><?xml version="1.0" encoding="utf-8"?>
<ds:datastoreItem xmlns:ds="http://schemas.openxmlformats.org/officeDocument/2006/customXml" ds:itemID="{9AC080E7-A490-4D15-8A59-78747D9734D8}">
  <ds:schemaRefs>
    <ds:schemaRef ds:uri="http://schemas.microsoft.com/VisualStudio/2011/storyboarding/control"/>
  </ds:schemaRefs>
</ds:datastoreItem>
</file>

<file path=customXml/itemProps62.xml><?xml version="1.0" encoding="utf-8"?>
<ds:datastoreItem xmlns:ds="http://schemas.openxmlformats.org/officeDocument/2006/customXml" ds:itemID="{33D1F489-E85A-443A-9868-BAB25E617022}">
  <ds:schemaRefs>
    <ds:schemaRef ds:uri="http://schemas.microsoft.com/VisualStudio/2011/storyboarding/control"/>
  </ds:schemaRefs>
</ds:datastoreItem>
</file>

<file path=customXml/itemProps63.xml><?xml version="1.0" encoding="utf-8"?>
<ds:datastoreItem xmlns:ds="http://schemas.openxmlformats.org/officeDocument/2006/customXml" ds:itemID="{C1E54212-4DF8-42EE-B29E-782CAAEC7C43}">
  <ds:schemaRefs>
    <ds:schemaRef ds:uri="http://schemas.microsoft.com/VisualStudio/2011/storyboarding/control"/>
  </ds:schemaRefs>
</ds:datastoreItem>
</file>

<file path=customXml/itemProps64.xml><?xml version="1.0" encoding="utf-8"?>
<ds:datastoreItem xmlns:ds="http://schemas.openxmlformats.org/officeDocument/2006/customXml" ds:itemID="{5319C72E-B35A-499E-B9B7-2EC354FEC450}">
  <ds:schemaRefs>
    <ds:schemaRef ds:uri="http://schemas.microsoft.com/VisualStudio/2011/storyboarding/control"/>
  </ds:schemaRefs>
</ds:datastoreItem>
</file>

<file path=customXml/itemProps65.xml><?xml version="1.0" encoding="utf-8"?>
<ds:datastoreItem xmlns:ds="http://schemas.openxmlformats.org/officeDocument/2006/customXml" ds:itemID="{E58431A6-17CC-41CE-B366-9931530F5602}">
  <ds:schemaRefs>
    <ds:schemaRef ds:uri="http://schemas.microsoft.com/VisualStudio/2011/storyboarding/control"/>
  </ds:schemaRefs>
</ds:datastoreItem>
</file>

<file path=customXml/itemProps66.xml><?xml version="1.0" encoding="utf-8"?>
<ds:datastoreItem xmlns:ds="http://schemas.openxmlformats.org/officeDocument/2006/customXml" ds:itemID="{77241B1E-2EE9-4917-B1B7-7BF8EA14655E}">
  <ds:schemaRefs>
    <ds:schemaRef ds:uri="http://schemas.microsoft.com/VisualStudio/2011/storyboarding/control"/>
  </ds:schemaRefs>
</ds:datastoreItem>
</file>

<file path=customXml/itemProps67.xml><?xml version="1.0" encoding="utf-8"?>
<ds:datastoreItem xmlns:ds="http://schemas.openxmlformats.org/officeDocument/2006/customXml" ds:itemID="{9FE7E716-7B55-4E8D-A19F-C43305F62A8B}">
  <ds:schemaRefs>
    <ds:schemaRef ds:uri="http://schemas.microsoft.com/VisualStudio/2011/storyboarding/control"/>
  </ds:schemaRefs>
</ds:datastoreItem>
</file>

<file path=customXml/itemProps68.xml><?xml version="1.0" encoding="utf-8"?>
<ds:datastoreItem xmlns:ds="http://schemas.openxmlformats.org/officeDocument/2006/customXml" ds:itemID="{3A92A681-A565-47A4-961F-1259C0FC2554}">
  <ds:schemaRefs>
    <ds:schemaRef ds:uri="http://schemas.microsoft.com/VisualStudio/2011/storyboarding/control"/>
  </ds:schemaRefs>
</ds:datastoreItem>
</file>

<file path=customXml/itemProps69.xml><?xml version="1.0" encoding="utf-8"?>
<ds:datastoreItem xmlns:ds="http://schemas.openxmlformats.org/officeDocument/2006/customXml" ds:itemID="{D47481D6-1007-4B74-92B7-87A83401B5EE}">
  <ds:schemaRefs>
    <ds:schemaRef ds:uri="http://schemas.microsoft.com/VisualStudio/2011/storyboarding/control"/>
  </ds:schemaRefs>
</ds:datastoreItem>
</file>

<file path=customXml/itemProps70.xml><?xml version="1.0" encoding="utf-8"?>
<ds:datastoreItem xmlns:ds="http://schemas.openxmlformats.org/officeDocument/2006/customXml" ds:itemID="{E79A9E42-D342-489C-BA4D-D36C27F9C239}">
  <ds:schemaRefs>
    <ds:schemaRef ds:uri="http://schemas.microsoft.com/VisualStudio/2011/storyboarding/control"/>
  </ds:schemaRefs>
</ds:datastoreItem>
</file>

<file path=customXml/itemProps71.xml><?xml version="1.0" encoding="utf-8"?>
<ds:datastoreItem xmlns:ds="http://schemas.openxmlformats.org/officeDocument/2006/customXml" ds:itemID="{0864A348-E675-48FD-BBAA-906E2139042F}">
  <ds:schemaRefs>
    <ds:schemaRef ds:uri="http://schemas.microsoft.com/VisualStudio/2011/storyboarding/control"/>
  </ds:schemaRefs>
</ds:datastoreItem>
</file>

<file path=customXml/itemProps72.xml><?xml version="1.0" encoding="utf-8"?>
<ds:datastoreItem xmlns:ds="http://schemas.openxmlformats.org/officeDocument/2006/customXml" ds:itemID="{54E25969-48A8-4C73-B6CB-7A9B186EEC79}">
  <ds:schemaRefs>
    <ds:schemaRef ds:uri="http://schemas.microsoft.com/VisualStudio/2011/storyboarding/control"/>
  </ds:schemaRefs>
</ds:datastoreItem>
</file>

<file path=customXml/itemProps73.xml><?xml version="1.0" encoding="utf-8"?>
<ds:datastoreItem xmlns:ds="http://schemas.openxmlformats.org/officeDocument/2006/customXml" ds:itemID="{83E1BE44-9699-48DD-9D30-B721FE4DDEB5}">
  <ds:schemaRefs>
    <ds:schemaRef ds:uri="http://schemas.microsoft.com/VisualStudio/2011/storyboarding/control"/>
  </ds:schemaRefs>
</ds:datastoreItem>
</file>

<file path=customXml/itemProps74.xml><?xml version="1.0" encoding="utf-8"?>
<ds:datastoreItem xmlns:ds="http://schemas.openxmlformats.org/officeDocument/2006/customXml" ds:itemID="{AD1B6086-5D3A-42BB-9AAC-87BCF1181E23}">
  <ds:schemaRefs>
    <ds:schemaRef ds:uri="http://schemas.microsoft.com/VisualStudio/2011/storyboarding/control"/>
  </ds:schemaRefs>
</ds:datastoreItem>
</file>

<file path=customXml/itemProps75.xml><?xml version="1.0" encoding="utf-8"?>
<ds:datastoreItem xmlns:ds="http://schemas.openxmlformats.org/officeDocument/2006/customXml" ds:itemID="{457E664B-36C5-4A05-8D85-2DD5AEFD09BF}">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332</Slides>
  <Notes>247</Notes>
  <HiddenSlides>0</HiddenSlides>
  <ScaleCrop>false</ScaleCrop>
  <HeadingPairs>
    <vt:vector size="4" baseType="variant">
      <vt:variant>
        <vt:lpstr>Theme</vt:lpstr>
      </vt:variant>
      <vt:variant>
        <vt:i4>1</vt:i4>
      </vt:variant>
      <vt:variant>
        <vt:lpstr>Slide Titles</vt:lpstr>
      </vt:variant>
      <vt:variant>
        <vt:i4>332</vt:i4>
      </vt:variant>
    </vt:vector>
  </HeadingPairs>
  <TitlesOfParts>
    <vt:vector size="333" baseType="lpstr">
      <vt:lpstr>Charts</vt:lpstr>
      <vt:lpstr>PowerPoint Presentation</vt:lpstr>
      <vt:lpstr>PowerPoint Presentation</vt:lpstr>
      <vt:lpstr>Vorwort</vt:lpstr>
      <vt:lpstr>Über mich</vt:lpstr>
      <vt:lpstr>Literaturempfehlungen</vt:lpstr>
      <vt:lpstr>Literaturempfehlungen</vt:lpstr>
      <vt:lpstr>Literaturempfehlungen</vt:lpstr>
      <vt:lpstr>Literaturempfehlungen</vt:lpstr>
      <vt:lpstr>Von einer generativen KI erzeugte Inhaltsvorschläge für DABA</vt:lpstr>
      <vt:lpstr>Inhalte (Auswahl)</vt:lpstr>
      <vt:lpstr>Lernziele (Auswahl)</vt:lpstr>
      <vt:lpstr>Inhaltsübersicht </vt:lpstr>
      <vt:lpstr>Einstieg und Motivation</vt:lpstr>
      <vt:lpstr>Orientierung | Was dieses Kapitel erarbeitet</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Diskussion</vt:lpstr>
      <vt:lpstr>"Begriffswirrwarr"</vt:lpstr>
      <vt:lpstr>Daten entstehen entlang der betrieblichen Wertschöpfungskette | Ikonische Darstellung</vt:lpstr>
      <vt:lpstr>Exkurs | Arten von Anwendungssystemen im Verständnis der Wirtschaftsinformatik</vt:lpstr>
      <vt:lpstr>Generische Prozesse in Unternehmen oder Wertschöpfungsnetzwerken</vt:lpstr>
      <vt:lpstr>Daten sind ein Rückgrat unternehmerischer Existenz</vt:lpstr>
      <vt:lpstr>Daten | Erste Arbeitsdefinition</vt:lpstr>
      <vt:lpstr>Auswahl an Datenquellen: Wo finden sich bzw. fallen Daten an? (Auswahl)</vt:lpstr>
      <vt:lpstr>Auswahl an Datenquellen | Wo fallen Daten an? | Kategorisierung</vt:lpstr>
      <vt:lpstr>Studie zur Nutzung von Daten nach Datenarten und -kategorien (2016) | Bitkom und KPMG</vt:lpstr>
      <vt:lpstr>Auswahl an Datenquellen | Wo fallen Daten an? | Kategorisierung</vt:lpstr>
      <vt:lpstr>Treiber für das (massenhafte) Aufkommen bzw. für "Datafication" im Generellen (Auswahl)</vt:lpstr>
      <vt:lpstr>Die operative und analytische Dimension von Daten</vt:lpstr>
      <vt:lpstr>Die operative und analytische Dimension von Daten</vt:lpstr>
      <vt:lpstr>Dimensionen von Daten | Erstes Fazit</vt:lpstr>
      <vt:lpstr>Abgrenzung zwischen operativen und entscheidungsorientierten/ analytischen Daten</vt:lpstr>
      <vt:lpstr>Zur operativen und analytischen Dimension gesellt sich noch die strategische hinzu</vt:lpstr>
      <vt:lpstr>Wirkung der Digitalisierung | Daten-Sicht</vt:lpstr>
      <vt:lpstr>Praxisbeispiele | Datengetriebene Wertangebote und Geschäftsmodelle </vt:lpstr>
      <vt:lpstr>Digitalisierung | Begriffsbestimmung</vt:lpstr>
      <vt:lpstr>Merkmale der Digitalisierung am Beispiel von Kaeser Kompressoren (Coburg)</vt:lpstr>
      <vt:lpstr>Erfolgsfaktoren digitaler Geschäftsmodelle | Diskussion</vt:lpstr>
      <vt:lpstr>Datenprodukte und dazugehörige Geschäftsmodelle</vt:lpstr>
      <vt:lpstr>Datenstrategie als Voraussetzung für datengetriebene Geschäftsmodelle</vt:lpstr>
      <vt:lpstr>Datenstrategie als Voraussetzung für datengetriebene Geschäftsmodelle</vt:lpstr>
      <vt:lpstr>Datenstrategie als Voraussetzung für datengetriebene Geschäftsmodelle</vt:lpstr>
      <vt:lpstr>Daten-Ökosystem im Unternehmen mit Ebenen und Handlungsfeldern</vt:lpstr>
      <vt:lpstr>Änderungen der Wettbewerbsbedingungen und Unternehmensstrukturen</vt:lpstr>
      <vt:lpstr>Praxisbeispiel | Meier Tobler AG (Schweiz)</vt:lpstr>
      <vt:lpstr>Meier Tobler AG (Schweiz) | Ausgangslage und Markttrends</vt:lpstr>
      <vt:lpstr>Exkurs | Mögliche Arten von Geschäftsmodellinnovationen nach Giesen </vt:lpstr>
      <vt:lpstr>Exkurs | Der Innovationsprozess nach Desouza am Bsp. "Fernwartung von Wärmepumpen"</vt:lpstr>
      <vt:lpstr>Meier Tobler AG (Schweiz) | Technische Umsetzung (Illustration)</vt:lpstr>
      <vt:lpstr>Meier Tobler AG (Schweiz) | Voraussetzungen für den Erfolg datengetriebener Geschäftsmodelle</vt:lpstr>
      <vt:lpstr>Meier Tobler AG (Schweiz) | Weitere Erfolgsfaktoren (Auswahl)</vt:lpstr>
      <vt:lpstr>Meier Tobler AG (Schweiz) | Gemeinsame Rekapitulation </vt:lpstr>
      <vt:lpstr>Digitale Transformation in Einzelschritten</vt:lpstr>
      <vt:lpstr>Praxisbeispiel | Apple Fitness+™</vt:lpstr>
      <vt:lpstr>Apple Fitness+™ | Datengetriebene Wertangebote</vt:lpstr>
      <vt:lpstr>Apple Fitness+™ | Datengetriebene Wertangebote</vt:lpstr>
      <vt:lpstr>Apple Fitness+™ | Datengetriebene Wertangebote</vt:lpstr>
      <vt:lpstr>Apple Fitness+™ | Datengetriebene Wertangebote</vt:lpstr>
      <vt:lpstr>Datengetriebene Wertangebote: Generalisierung als "Zwiebelmodell"</vt:lpstr>
      <vt:lpstr>Datengetriebene Wertangebote: Generalisierung als "Zwiebelmodell"</vt:lpstr>
      <vt:lpstr>Praxisbeispiel | Kaeser Kompressoren (Coburg)</vt:lpstr>
      <vt:lpstr>Kaeser Kompressoren (Coburg) | Ausgangslage</vt:lpstr>
      <vt:lpstr>Exkurs | Virtuos cycle of data, AI and digital transformation</vt:lpstr>
      <vt:lpstr>Praxisbeispiel | Skywise™ von Airbus™</vt:lpstr>
      <vt:lpstr>Skywise™ als datengetriebene Dienstleistung von Airbus™</vt:lpstr>
      <vt:lpstr>Skywise™ als datengetriebene Dienstleistung von Airbus™</vt:lpstr>
      <vt:lpstr>Skywise™ als datengetriebene Dienstleistung von Airbus™ | Gemeinsame Diskussion </vt:lpstr>
      <vt:lpstr>Praxisbeispiel | DATEV eG | Datengestützte Dienstleistungen</vt:lpstr>
      <vt:lpstr>DATEV eG | Datengestützte Dienstleistungen | Gründung der Genossenschaft</vt:lpstr>
      <vt:lpstr>DATEV eG | Datengestützte Dienstleistungen | Leistungsspektrum der DATEV eG</vt:lpstr>
      <vt:lpstr>Digitalisierung betriebswirtschaftlicher Prozesse | Beispiel "DATEV Unternehmen online"</vt:lpstr>
      <vt:lpstr>DATEV eG | Datengestützte Dienstleistungen | Hypothese </vt:lpstr>
      <vt:lpstr>Exkurs | Ausgewählte Erfolgsfaktoren bekannter Plattformen (z.B. Google, Amazon, Airbnb,…)</vt:lpstr>
      <vt:lpstr>DATEV eG | Mögliche Wettbewerbsvorteile für Kanzleien durch Business Analytics</vt:lpstr>
      <vt:lpstr>DATEV eG | Erfolgsfaktoren und Eintrittsbarrieren (Auswahl)</vt:lpstr>
      <vt:lpstr>Exkurs | Stufen und Aspekte hin zu einer datengetriebenen Unternehmenskultur</vt:lpstr>
      <vt:lpstr>DATEV eG | Evolutionsstufen bei analytischen Dienstleistungen</vt:lpstr>
      <vt:lpstr>DATEV eG | Potenziale durch Pooling von Daten in einem (genossenschaftlichen) Rechenzentrum </vt:lpstr>
      <vt:lpstr>DATEV eG | Potenziale durch Pooling von Daten in einem (genossenschaftlichen) Rechenzentrum </vt:lpstr>
      <vt:lpstr>DATEV eG | Ausgangslage für Kanzleien, wenn sie Business Analytics als Dienstleistungsangebot aufbauen wollen</vt:lpstr>
      <vt:lpstr>DATEV eG | Folgen für die Anbieter von Vorsystemen</vt:lpstr>
      <vt:lpstr>Fallbeispiel | Dienstleistung | DATEV eG | Diskussion</vt:lpstr>
      <vt:lpstr>Hinführung zu Datenbankmanagementsystemen (DBMS)</vt:lpstr>
      <vt:lpstr>Orientierung | Was dieses Kapitel erarbeitet</vt:lpstr>
      <vt:lpstr>Dateien zur Speicherung und Verwaltung von Daten | Arbeitsdefinition "Datei"</vt:lpstr>
      <vt:lpstr>Einführungsbeispiel | Dateien zur Verwaltung von Daten | Umfrage</vt:lpstr>
      <vt:lpstr>Einführungsbeispiel | Dateien zur Verwaltung von Daten | Ausgangslage</vt:lpstr>
      <vt:lpstr>Einführungsbeispiel | Ansatz: Dateien zur Verwaltung von Daten | Anwendungsfälle</vt:lpstr>
      <vt:lpstr>Einführungsbeispiel | Ansatz: Dateien zur Verwaltung von Daten | Anwendungsfälle</vt:lpstr>
      <vt:lpstr>Einführungsbeispiel | Ansatz: Dateien zur Verwaltung von Daten | Anwendungsfälle</vt:lpstr>
      <vt:lpstr>Einführungsbeispiel | Ansatz: Dateien zur Verwaltung von Daten | Bedeutung von Metadaten</vt:lpstr>
      <vt:lpstr>Einführungsbeispiel | Ansatz: Dateien zur Verwaltung von Daten | Diskussion</vt:lpstr>
      <vt:lpstr>Einführungsbeispiel | Ansatz: Dateien zur Verwaltung von Daten | Probleme (Auswahl)</vt:lpstr>
      <vt:lpstr>Einführungsbeispiel | Lösungsansatz: Trennung in unterschiedliche Schichten</vt:lpstr>
      <vt:lpstr>Einführungsbeispiel | Trennung in unterschiedliche Schichten | Anforderungen</vt:lpstr>
      <vt:lpstr>ANSI-SPARC-Dreischichtenmodell "Standards Planning and Requirements Committee (SPARC)" des "American National Standards Institute (ANSI)"</vt:lpstr>
      <vt:lpstr>Beispiel | Unterschiedliche logische Sichten auf eine (gemeinsame) Datenbank</vt:lpstr>
      <vt:lpstr>Exkurs | Datenbankmanagementsystem (DBMS) Microsoft™ SQL SERVER™</vt:lpstr>
      <vt:lpstr>Exkurs | Datenbankmanagementsystem (DBMS) Microsoft™ SQL SERVER™</vt:lpstr>
      <vt:lpstr>Trennung in Anwendungs- und Datenschicht | Vorteile und "Nachteile"</vt:lpstr>
      <vt:lpstr>Exkurs | Dateneingabe | Mitarbeiter:in gibt in ein Warenwirtschaftssystem Kundendaten ein</vt:lpstr>
      <vt:lpstr>Exkurs | Dateneingabe | Kundin gibt im Browser über ein Web-Formular Daten ein</vt:lpstr>
      <vt:lpstr>Exkurs | Dateneingabe | Import aus Dateien in eine Datenbank | Anwendungsfall: Migration</vt:lpstr>
      <vt:lpstr>Trennung in Anwendungs- und Datenschicht | Anforderungen an ein DMBS | Fazit</vt:lpstr>
      <vt:lpstr>Trennung in Anwendungs- und Datenschicht | Anforderungen an ein DMBS | Fazit</vt:lpstr>
      <vt:lpstr>Eigenschaften von Datenbank-Transaktionen bei relationalen Datenbanken</vt:lpstr>
      <vt:lpstr>Eigenschaften von Datenbank-Transaktionen bei relationalen Datenbanken</vt:lpstr>
      <vt:lpstr>Zusammenfassung</vt:lpstr>
      <vt:lpstr>Exkurs | Codierung von Information (Achtung Wortwitz!)</vt:lpstr>
      <vt:lpstr>Datenstrukturen | Hierarchischer Zusammenhang der Modellierung von Daten</vt:lpstr>
      <vt:lpstr>Datenstrukturen | Datensatz</vt:lpstr>
      <vt:lpstr>Speichereinheiten zur Bezeichnung von Speicherkapazitäten und Datenbeständen</vt:lpstr>
      <vt:lpstr>Relationale Datenbankmanagementsysteme (DBMS)</vt:lpstr>
      <vt:lpstr>Orientierung | Was dieses Kapitel erarbeitet</vt:lpstr>
      <vt:lpstr>Datenbank | Definitionsansatz</vt:lpstr>
      <vt:lpstr>Datenbank | Erste Arbeitsdefinition</vt:lpstr>
      <vt:lpstr>Arbeitsdefinition für den Begriff "Datenbank" | nach Laudon</vt:lpstr>
      <vt:lpstr>Arbeitsdefinition für den Begriff "Datenbank" | nach Geisler</vt:lpstr>
      <vt:lpstr>Arbeitsdefinition | "Datenbank"</vt:lpstr>
      <vt:lpstr>Abgrenzung | "Datenbanksystem", "Datenbankmanagementsystem" und "Datenbank"</vt:lpstr>
      <vt:lpstr>Abgrenzung | "Datenbanksystem", "Datenbankmanagementsystem" und "Datenbank"</vt:lpstr>
      <vt:lpstr>Architektur eines relationalen DBMS (RDBMS) – Modulperspektive </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Ranking der Top-10-Datenbankmanagementsysteme (Stand Juli 2026)</vt:lpstr>
      <vt:lpstr>Popularität ausgewählter relationaler Datenbankmanagementsysteme (2005..2022)</vt:lpstr>
      <vt:lpstr>Kommerzielle vs. lizenzfreie ("Open Source") Datenbankmanagementsysteme | 2013…2022</vt:lpstr>
      <vt:lpstr>Kategorisierung von Datenbank-Anwender:innen und deren Aufgaben (Auswahl)</vt:lpstr>
      <vt:lpstr>Zusammenfassung: Aufgaben und Funktionen eines DBMS (Auswahl)</vt:lpstr>
      <vt:lpstr>Zugriff auf Datenbanken über ein herstellerspezifisches Client-Tool | SSMS</vt:lpstr>
      <vt:lpstr>Zugriff auf Datenbanken über den Browser | MS Azure Portal</vt:lpstr>
      <vt:lpstr>Zugriff auf Datenbanken über ein herstellerspezifisches Client-Tool | Azure Data Studio</vt:lpstr>
      <vt:lpstr>Zugriff auf Datenbanken über ein herstellerspezifisches Client-Tool | Azure Data Studio</vt:lpstr>
      <vt:lpstr>Zugriff auf Datenbanken über ein herstellerspezifisches Client-Tool | MySQL Workbench</vt:lpstr>
      <vt:lpstr>Zugriff auf Datenbanken über ein herstellerneutrales Client-Tool | DBeaver</vt:lpstr>
      <vt:lpstr>Zugriff auf Datenbanken über ein herstellerneutrales Client-Tool | DBeaver</vt:lpstr>
      <vt:lpstr>Zugriff auf Datenbanken über ein herstellerneutrales Client-Tool | Navicat</vt:lpstr>
      <vt:lpstr>Zugriff auf Datenbanken über ein herstellerneutrales Client-Tool | Navicat</vt:lpstr>
      <vt:lpstr>Client-Server-Prinzip bei (professionellen) DBMS</vt:lpstr>
      <vt:lpstr>Datenbank | Logische Sichten</vt:lpstr>
      <vt:lpstr>Gegenüberstellung Server- vs. Desktop-orientierter Datenbanksysteme</vt:lpstr>
      <vt:lpstr>Vorteile und Nutzen von Datenbanksystemen (Auswahl)</vt:lpstr>
      <vt:lpstr>Qualitätsmerkmale einer (relationalen) Datenbank (Auswahl)</vt:lpstr>
      <vt:lpstr>Anforderungsanalyse und konzeptionelles Datenmodell</vt:lpstr>
      <vt:lpstr>Orientierung | Was dieses Kapitel erarbeitet</vt:lpstr>
      <vt:lpstr>Vom Real-World-Anwendungsszenario bis hin zur Datenbank-Lösung  </vt:lpstr>
      <vt:lpstr>Datenbankentwurf | Phasen</vt:lpstr>
      <vt:lpstr>Metapher | Hausbau</vt:lpstr>
      <vt:lpstr>Datenbankentwurf | Phasen</vt:lpstr>
      <vt:lpstr>Datenbankentwurf | Phasen</vt:lpstr>
      <vt:lpstr>Datenbankentwurf | Phasen</vt:lpstr>
      <vt:lpstr>Vereinfachte Vorgehensweise</vt:lpstr>
      <vt:lpstr>Datenbankentwurf | Phasen</vt:lpstr>
      <vt:lpstr>Konzeptionelles bzw. semantisches Modell | Gründe (Auswahl)</vt:lpstr>
      <vt:lpstr>Ebenen der Modellierung gemappt auf Entity-Relationship-Model (ERM)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Kardinalität (Zusammenfassung) </vt:lpstr>
      <vt:lpstr>Semantische Ebene | Kardinalität (Zusammenfassung) </vt:lpstr>
      <vt:lpstr>Vorteile und Nachteile des Entity-Relationship-Model (ERM) </vt:lpstr>
      <vt:lpstr>Chen und Crow's Foot – dieselbe Beziehung in zwei Notationen</vt:lpstr>
      <vt:lpstr>Entity-Relationship-Model | Beispiel | "Ingenieurbüro Müller"</vt:lpstr>
      <vt:lpstr>Entity-Relationship-Model | Beispiel | "Ingenieurbüro Müller"</vt:lpstr>
      <vt:lpstr>Entity-Relationship-Model | Beispiel | "Ingenieurbüro Müller"</vt:lpstr>
      <vt:lpstr>Entity-Relationship-Model | Beispiel | "Ingenieurbüro Müller"</vt:lpstr>
      <vt:lpstr>Entity-Relationship-Model | Beispiel</vt:lpstr>
      <vt:lpstr>Entity-Relationship-Model | Beispiel</vt:lpstr>
      <vt:lpstr>Entity-Relationship-Model | Beispiel</vt:lpstr>
      <vt:lpstr>Überleitung zum relationalen Datenbankmodell | Modellierung mit "MySQL Workbench"</vt:lpstr>
      <vt:lpstr>Überleitung zum relationalen Datenbankmodell | Modellierung mit "MySQL Workbench"</vt:lpstr>
      <vt:lpstr>Überleitung zum relationalen Datenbankmodell | Modellierung mit "MySQL Workbench"</vt:lpstr>
      <vt:lpstr>Überleitung zum relationalen Datenbankmodell | Konventionen zur Bezeichnung</vt:lpstr>
      <vt:lpstr>Überleitung zum relationalen Datenbankmodell | Modellierung mit "MySQL Workbench"</vt:lpstr>
      <vt:lpstr>Logisches Datenmodell</vt:lpstr>
      <vt:lpstr>Orientierung | Was dieses Kapitel erarbeitet</vt:lpstr>
      <vt:lpstr>Vom Real-World-Anwendungsszenario bis hin zur Datenbank-Lösung  </vt:lpstr>
      <vt:lpstr>Vereinfachte Vorgehensweise </vt:lpstr>
      <vt:lpstr>Logisches Datenmodell </vt:lpstr>
      <vt:lpstr>Relational vs. Aggregate Data Model</vt:lpstr>
      <vt:lpstr>Relational vs. Aggregate Data Model</vt:lpstr>
      <vt:lpstr>Unterschiede zwischen einer relationalen und dokumentorientierten Datenbank (Auswahl)</vt:lpstr>
      <vt:lpstr>Klassifizierung von Datenbanken (Auswahl)</vt:lpstr>
      <vt:lpstr>Vektor-Datenbanken – Ähnlichkeitssuche über Embeddings</vt:lpstr>
      <vt:lpstr>Generelle Eigenschaften von NoSQL-Datenbanken ("not only SQL") (Auswahl)</vt:lpstr>
      <vt:lpstr>Exkurs | Key-Value-Datenbanken</vt:lpstr>
      <vt:lpstr>Exkurs | Key-Value-Datenbanken | Beispiel</vt:lpstr>
      <vt:lpstr>Exkurs | Key-Value-Datenbanken | Beispiel</vt:lpstr>
      <vt:lpstr>Exkurs | Dokumentenorientierte-Datenbanken</vt:lpstr>
      <vt:lpstr>Exkurs | Dokumentenorientierte-Datenbanken</vt:lpstr>
      <vt:lpstr>Exkurs | Beispiel | Schema eines JSON-Dokuments (Screenshot JSON Buddy)</vt:lpstr>
      <vt:lpstr>Exkurs | Dokumentenorientierte-Datenbank | Datenbank MongoDB</vt:lpstr>
      <vt:lpstr>Exkurs | Dokumentenorientierte-Datenbank | Datenbank MongoDB</vt:lpstr>
      <vt:lpstr>Exkurs | Namhafte und bekannte NoSQL-Datenbanken (Beispiele) </vt:lpstr>
      <vt:lpstr>Exkurs | Es gibt noch mehr zu erkunden</vt:lpstr>
      <vt:lpstr>Anwendungsbeispiel | Grundsätzliche Möglichkeiten zur Speicherung semi-strukturierter Daten</vt:lpstr>
      <vt:lpstr>Anwendungsbeispiel</vt:lpstr>
      <vt:lpstr>Anwendungsbeispiel | Überführung in ein normalisiertes, relationales Datenmodell</vt:lpstr>
      <vt:lpstr>Anwendungsbeispiel | Überführung in ein normalisiertes, relationales Datenmodell</vt:lpstr>
      <vt:lpstr>Anwendungsbeispiel | Verschachtelte, per JSON ausgezeichnete Daten</vt:lpstr>
      <vt:lpstr>Anwendungsbeispiel | Grundsätzliche Möglichkeiten zur Speicherung semi-strukturierter Daten</vt:lpstr>
      <vt:lpstr>Anwendungsbeispiel | Überführung in ein denormalisiertes, relationales Datenmodell</vt:lpstr>
      <vt:lpstr>Anwendungsbeispiel | Überführung in ein denormalisiertes, relationales Datenmodell</vt:lpstr>
      <vt:lpstr>Anwendungsbeispiel | Überführung in ein denormalisiertes, relationales Datenmodell</vt:lpstr>
      <vt:lpstr>Anwendungsbeispiel | Grundsätzliche Möglichkeiten zur Speicherung semi-strukturierter Daten</vt:lpstr>
      <vt:lpstr>Anwendungsbeispiel | Speichern der JSON-Datei in einer NoSQL-Datenbank (MongoDB)</vt:lpstr>
      <vt:lpstr>Anwendungsbeispiel | Speichern der JSON-Datei in einer NoSQL-Datenbank (MongoDB)</vt:lpstr>
      <vt:lpstr>Anwendungsbeispiel | Grundsätzliche Möglichkeiten zur Speicherung semi-strukturierter Daten</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Microsoft Fabric – ADLS Gen 2 als Speicherbasis einer SaaS-Plattform</vt:lpstr>
      <vt:lpstr>Data Lakehouse – Data Warehouse und Data Lake wachsen zusammen</vt:lpstr>
      <vt:lpstr>Grundzüge relationaler Datenmodellierung</vt:lpstr>
      <vt:lpstr>Orientierung | Was dieses Kapitel erarbeitet</vt:lpstr>
      <vt:lpstr>Logische Ebene | Relationales DB-Modell nach Codd (1970)  </vt:lpstr>
      <vt:lpstr>Begriffserläuterung "Relation"  </vt:lpstr>
      <vt:lpstr>Logische Ebene | Relationales DB-Modell nach Codd (1970)  </vt:lpstr>
      <vt:lpstr>Logische Ebene | Relationales DB-Modell nach Codd (1970)  </vt:lpstr>
      <vt:lpstr>Zentrale Begrifflichkeiten (Auswahl) </vt:lpstr>
      <vt:lpstr>Beispiel II | Ausgangslage ERM für eine Personalverwaltung  </vt:lpstr>
      <vt:lpstr>Beispiel II | Ausgangslage ERM für eine Personalverwaltung | Überführung in eine Relation</vt:lpstr>
      <vt:lpstr>Beispiel | Ausgangslage ERM für eine Personalverwaltung | Beziehungen</vt:lpstr>
      <vt:lpstr>Beispiel | Ausgangslage ERM für eine Personalverwaltung | Zusammenfassung</vt:lpstr>
      <vt:lpstr>Überführung ins relationale Datenmodell | Best Practices</vt:lpstr>
      <vt:lpstr>Mapping der Begriffe | Entity-Relationship-Model -&gt; Relationales Datenmodell</vt:lpstr>
      <vt:lpstr>Das relationale Modell | zentrale Begriffe</vt:lpstr>
      <vt:lpstr>Eigenschaften relationaler Datenmodelle (Zusammenfassung)</vt:lpstr>
      <vt:lpstr>Relationales Datenbankmodell nach Codd (1970) | Struktur und Grundbegriffe</vt:lpstr>
      <vt:lpstr>Eigenschaften von DB-Transaktionen bei relationalen Datenbanken</vt:lpstr>
      <vt:lpstr>Exkurs | Integritätsarten</vt:lpstr>
      <vt:lpstr>Relationales Datenbankmodell nach Codd (1970) | Begriff Normalisierung</vt:lpstr>
      <vt:lpstr>Relationales Datenbankmodell nach Codd (1970) | Prinzipien der Normalisierung | 1NF</vt:lpstr>
      <vt:lpstr>Normalisierung und Normalformen | Beispiel für nullte Normalform</vt:lpstr>
      <vt:lpstr>Normalisierung und Normalformen | Beispiel für erste Normalform</vt:lpstr>
      <vt:lpstr>Relationales Datenbankmodell nach Codd (1970) | Prinzipien der Normalisierung | 2NF</vt:lpstr>
      <vt:lpstr>Normalisierung und Normalformen | Beispiel für zweite Normalform</vt:lpstr>
      <vt:lpstr>Relationales Datenbankmodell nach Codd (1970) | Prinzipien der Normalisierung | 3NF</vt:lpstr>
      <vt:lpstr>Normalisierung und Normalformen | Beispiel für 3NF</vt:lpstr>
      <vt:lpstr>Normalisierung und Normalformen | Zusammenfassung "invoices"</vt:lpstr>
      <vt:lpstr>Vom Real-World-Anwendungsszenario bis hin zur Datenbank-Lösung  </vt:lpstr>
      <vt:lpstr>(Technisch bedingte) Trennung zwischen "OLTP" und "OLAP"</vt:lpstr>
      <vt:lpstr>Gegenüberstellung von OLTP und OLAP</vt:lpstr>
      <vt:lpstr>Unterschiede zwischen normalisierten und analytischen Datenmodellen</vt:lpstr>
      <vt:lpstr>HTAP – die Trennung von OLTP und OLAP weicht auf</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vt:lpstr>
      <vt:lpstr>Normalisieren im Quellsystem, denormalisieren in der Auswertungsschicht</vt:lpstr>
      <vt:lpstr>Physical Data Model</vt:lpstr>
      <vt:lpstr>Orientierung | Was dieses Kapitel erarbeitet</vt:lpstr>
      <vt:lpstr>Vom Real-World-Anwendungsszenario bis hin zur Datenbank-Lösung  </vt:lpstr>
      <vt:lpstr>ANSI-SPARC-Dreischichtenmodell</vt:lpstr>
      <vt:lpstr>Datenmodellierung – von der "Realität" bis hin zur Datenbank</vt:lpstr>
      <vt:lpstr>Fallstudie VeloCity</vt:lpstr>
      <vt:lpstr>Die Fallstudie | VeloCity</vt:lpstr>
      <vt:lpstr>Anwendungsbeispiel | VeloCity</vt:lpstr>
      <vt:lpstr>Beschreibung</vt:lpstr>
      <vt:lpstr>Anna fährt 61 Minuten. Das ist alles, was wir wissen.</vt:lpstr>
      <vt:lpstr>Neun Kapitel, neun Fragen an Annas Fahrt</vt:lpstr>
      <vt:lpstr>VeloCity vermietet Räder minutengenau</vt:lpstr>
      <vt:lpstr>Zehn Geschäftsregeln — die ersten sechs betreffen Belegung, Tarif und Preis</vt:lpstr>
      <vt:lpstr>Die vier verbleibenden Regeln betreffen Mengen, Personen und Zeiträume</vt:lpstr>
      <vt:lpstr>Konzeptioneller Entwurf</vt:lpstr>
      <vt:lpstr>Substantive werden Entitäten, Verben werden Beziehungen</vt:lpstr>
      <vt:lpstr>Kardinalitäten lesen und prüfen</vt:lpstr>
      <vt:lpstr>Geschäftspartner: Adresse als eigene Entität</vt:lpstr>
      <vt:lpstr>Netz und Flotte: Stammdaten und Bewegungsdaten getrennt</vt:lpstr>
      <vt:lpstr>Tarif und Preis: alles ist zeitabhängig</vt:lpstr>
      <vt:lpstr>Nutzung: die Ausleihe und ihre Abrechnung</vt:lpstr>
      <vt:lpstr>Abrechnung: Beleg, Positionen, Zahlung</vt:lpstr>
      <vt:lpstr>Redaktionsinhalte: warum drei Tabellen und nicht eine</vt:lpstr>
      <vt:lpstr>Normalisierung</vt:lpstr>
      <vt:lpstr>Der naive Versuch: alles in eine Tabelle</vt:lpstr>
      <vt:lpstr>1NF und 2NF: atomar, und alles hängt am ganzen Schlüssel</vt:lpstr>
      <vt:lpstr>3NF — und warum sie hier nicht genügt</vt:lpstr>
      <vt:lpstr>Das Ergebnis der Zerlegung</vt:lpstr>
      <vt:lpstr>Exkurs: aus der Postleitzahl folgt nicht der Ort</vt:lpstr>
      <vt:lpstr>Logischer Entwurf</vt:lpstr>
      <vt:lpstr>Die Abbildung folgt festen Regeln</vt:lpstr>
      <vt:lpstr>Jede Relation trägt zwei Schlüssel</vt:lpstr>
      <vt:lpstr>Physischer Entwurf</vt:lpstr>
      <vt:lpstr>Datentypen sind fachliche Entscheidungen</vt:lpstr>
      <vt:lpstr>Sieben von zehn Regeln erzwingt die Datenbank</vt:lpstr>
      <vt:lpstr>So sieht eine fertige Tabelle aus: Typ, Schlüssel, Zusicherung, Herkunft</vt:lpstr>
      <vt:lpstr>EXCLUDE verhindert, was UNIQUE nicht kann</vt:lpstr>
      <vt:lpstr>Eine Regel ist erst dann erzwungen, wenn der Verstoß eine Fehlermeldung erzeugt</vt:lpstr>
      <vt:lpstr>Warum das Mindestalter nicht gegen current_date prüfen darf</vt:lpstr>
      <vt:lpstr>Implementierung</vt:lpstr>
      <vt:lpstr>Zwölf Aufbauschritte, jeder für sich lauffähig</vt:lpstr>
      <vt:lpstr>Exkurs | Fake Data Generators</vt:lpstr>
      <vt:lpstr>Exkurs | Fake Data Generators</vt:lpstr>
      <vt:lpstr>Annas Rechnung: 4,96 Euro, Zeile für Zeile</vt:lpstr>
      <vt:lpstr>Dokumentation, die nicht veralten kann</vt:lpstr>
      <vt:lpstr>Zugriffsschutz</vt:lpstr>
      <vt:lpstr>Der Schlüssel im Browser ist kein Geheimnis</vt:lpstr>
      <vt:lpstr>Was der Browser erreicht — und was nicht</vt:lpstr>
      <vt:lpstr>Die Falle, die fast jeder übersieht</vt:lpstr>
      <vt:lpstr>Nachweis statt Behauptung — auf drei Wegen</vt:lpstr>
      <vt:lpstr>Anwendung anbinden</vt:lpstr>
      <vt:lpstr>Nur Sichten lesen, nur Funktionen schreiben</vt:lpstr>
      <vt:lpstr>Ein Tippen auf „Fahrt beenden“ durchläuft fünf Stationen</vt:lpstr>
      <vt:lpstr>Zusammenfassung und Ausblick</vt:lpstr>
      <vt:lpstr>Sechs Sätze, die diese Einheit tragen</vt:lpstr>
      <vt:lpstr>Die Warenwirtschaft hängt an denselben Entitäten</vt:lpstr>
      <vt:lpstr>Datenbank-Begriffe von A bis K</vt:lpstr>
      <vt:lpstr>Datenbank-Begriffe von L bis Z</vt:lpstr>
    </vt:vector>
  </TitlesOfParts>
  <Manager/>
  <Company>FHWS | FH Würzburg-Schweinfurt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Dr. Robert Butscher</dc:creator>
  <cp:keywords/>
  <dc:description/>
  <cp:revision>1</cp:revision>
  <dcterms:created xsi:type="dcterms:W3CDTF">2022-01-10T08:21:41Z</dcterms:created>
  <dcterms:modified xsi:type="dcterms:W3CDTF">2026-08-25T08:36:13Z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0x010100AFF9B7A738928449ADDD596720060256</vt:lpwstr>
  </property>
  <property fmtid="{D5CDD505-2E9C-101B-9397-08002B2CF9AE}" pid="3" name="Tfs.IsStoryboard">
    <vt:bool>true</vt:bool>
  </property>
  <property fmtid="{D5CDD505-2E9C-101B-9397-08002B2CF9AE}" pid="4" name="Tfs.LastKnownPath">
    <vt:lpwstr>https://d.docs.live.net/61bc653898ddc2e0/Vorlesungen/Wintersemester/Wintersemester_2022/BBA/Datenbanken/Datenbanken_WS2022.pptx</vt:lpwstr>
  </property>
</Properties>
</file>