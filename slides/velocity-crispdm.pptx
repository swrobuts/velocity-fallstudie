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 id="346" r:id="rId216"/>
    <p:sldId id="347" r:id="rId217"/>
    <p:sldId id="348" r:id="rId218"/>
    <p:sldId id="349" r:id="rId219"/>
    <p:sldId id="350" r:id="rId220"/>
    <p:sldId id="351" r:id="rId221"/>
    <p:sldId id="352" r:id="rId222"/>
    <p:sldId id="353" r:id="rId223"/>
    <p:sldId id="354" r:id="rId224"/>
    <p:sldId id="355" r:id="rId225"/>
    <p:sldId id="356" r:id="rId226"/>
    <p:sldId id="357" r:id="rId227"/>
    <p:sldId id="358" r:id="rId228"/>
    <p:sldId id="359" r:id="rId229"/>
    <p:sldId id="360" r:id="rId230"/>
    <p:sldId id="361" r:id="rId231"/>
    <p:sldId id="362" r:id="rId232"/>
    <p:sldId id="363" r:id="rId233"/>
    <p:sldId id="364" r:id="rId234"/>
    <p:sldId id="365" r:id="rId235"/>
    <p:sldId id="366" r:id="rId236"/>
    <p:sldId id="367" r:id="rId237"/>
    <p:sldId id="368" r:id="rId238"/>
    <p:sldId id="369" r:id="rId239"/>
    <p:sldId id="370" r:id="rId240"/>
    <p:sldId id="371" r:id="rId241"/>
    <p:sldId id="372" r:id="rId242"/>
    <p:sldId id="373" r:id="rId243"/>
    <p:sldId id="374" r:id="rId244"/>
    <p:sldId id="375" r:id="rId245"/>
    <p:sldId id="376" r:id="rId246"/>
    <p:sldId id="377" r:id="rId24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216" Type="http://schemas.openxmlformats.org/officeDocument/2006/relationships/slide" Target="slides/slide91.xml"/><Relationship Id="rId217" Type="http://schemas.openxmlformats.org/officeDocument/2006/relationships/slide" Target="slides/slide92.xml"/><Relationship Id="rId218" Type="http://schemas.openxmlformats.org/officeDocument/2006/relationships/slide" Target="slides/slide93.xml"/><Relationship Id="rId219" Type="http://schemas.openxmlformats.org/officeDocument/2006/relationships/slide" Target="slides/slide94.xml"/><Relationship Id="rId220" Type="http://schemas.openxmlformats.org/officeDocument/2006/relationships/slide" Target="slides/slide95.xml"/><Relationship Id="rId221" Type="http://schemas.openxmlformats.org/officeDocument/2006/relationships/slide" Target="slides/slide96.xml"/><Relationship Id="rId222" Type="http://schemas.openxmlformats.org/officeDocument/2006/relationships/slide" Target="slides/slide97.xml"/><Relationship Id="rId223" Type="http://schemas.openxmlformats.org/officeDocument/2006/relationships/slide" Target="slides/slide98.xml"/><Relationship Id="rId224" Type="http://schemas.openxmlformats.org/officeDocument/2006/relationships/slide" Target="slides/slide99.xml"/><Relationship Id="rId225" Type="http://schemas.openxmlformats.org/officeDocument/2006/relationships/slide" Target="slides/slide100.xml"/><Relationship Id="rId226" Type="http://schemas.openxmlformats.org/officeDocument/2006/relationships/slide" Target="slides/slide101.xml"/><Relationship Id="rId227" Type="http://schemas.openxmlformats.org/officeDocument/2006/relationships/slide" Target="slides/slide102.xml"/><Relationship Id="rId228" Type="http://schemas.openxmlformats.org/officeDocument/2006/relationships/slide" Target="slides/slide103.xml"/><Relationship Id="rId229" Type="http://schemas.openxmlformats.org/officeDocument/2006/relationships/slide" Target="slides/slide104.xml"/><Relationship Id="rId230" Type="http://schemas.openxmlformats.org/officeDocument/2006/relationships/slide" Target="slides/slide105.xml"/><Relationship Id="rId231" Type="http://schemas.openxmlformats.org/officeDocument/2006/relationships/slide" Target="slides/slide106.xml"/><Relationship Id="rId232" Type="http://schemas.openxmlformats.org/officeDocument/2006/relationships/slide" Target="slides/slide107.xml"/><Relationship Id="rId233" Type="http://schemas.openxmlformats.org/officeDocument/2006/relationships/slide" Target="slides/slide108.xml"/><Relationship Id="rId234" Type="http://schemas.openxmlformats.org/officeDocument/2006/relationships/slide" Target="slides/slide109.xml"/><Relationship Id="rId235" Type="http://schemas.openxmlformats.org/officeDocument/2006/relationships/slide" Target="slides/slide110.xml"/><Relationship Id="rId236" Type="http://schemas.openxmlformats.org/officeDocument/2006/relationships/slide" Target="slides/slide111.xml"/><Relationship Id="rId237" Type="http://schemas.openxmlformats.org/officeDocument/2006/relationships/slide" Target="slides/slide112.xml"/><Relationship Id="rId238" Type="http://schemas.openxmlformats.org/officeDocument/2006/relationships/slide" Target="slides/slide113.xml"/><Relationship Id="rId239" Type="http://schemas.openxmlformats.org/officeDocument/2006/relationships/slide" Target="slides/slide114.xml"/><Relationship Id="rId240" Type="http://schemas.openxmlformats.org/officeDocument/2006/relationships/slide" Target="slides/slide115.xml"/><Relationship Id="rId241" Type="http://schemas.openxmlformats.org/officeDocument/2006/relationships/slide" Target="slides/slide116.xml"/><Relationship Id="rId242" Type="http://schemas.openxmlformats.org/officeDocument/2006/relationships/slide" Target="slides/slide117.xml"/><Relationship Id="rId243" Type="http://schemas.openxmlformats.org/officeDocument/2006/relationships/slide" Target="slides/slide118.xml"/><Relationship Id="rId244" Type="http://schemas.openxmlformats.org/officeDocument/2006/relationships/slide" Target="slides/slide119.xml"/><Relationship Id="rId245" Type="http://schemas.openxmlformats.org/officeDocument/2006/relationships/slide" Target="slides/slide120.xml"/><Relationship Id="rId246" Type="http://schemas.openxmlformats.org/officeDocument/2006/relationships/slide" Target="slides/slide121.xml"/><Relationship Id="rId247" Type="http://schemas.openxmlformats.org/officeDocument/2006/relationships/slide" Target="slides/slide12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 Bitten Sie die Studierenden, das Notebook parallel offen zu haben — jede Folie nennt in der Fußzeile ihren Abschnitt.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Einstieg in den ganzen Fall, und sie ist unbequem: Der Einwand kommt nicht aus der Statistik, sondern aus dem Produkt. Ein Modell, das eine Zahl liefert, die der Nutzer selbst besser kennt, ist technisch einwandfrei und trotzdem nutzlos. Lassen Sie die Studierenden zuerst selbst überlegen, was man dagegen tun kann — die meisten schlagen ein besseres Verfahren vor. Die Antwort auf der nächsten Folie ist eine andere.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Satz, den die Studierenden aus Notebook 1 mitnehmen sollen. Leakage wird meistens als Liste verbotener Spaltennamen gelehrt. Hier sieht man, dass dieselbe Spalte je nach Prozess verboten oder erlaubt ist. Wer nur die Liste gelernt hat, hätte die Zielstation weiterhin gesperrt — und damit das bessere Produkt verhindert.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Grund, warum das Notebook glaubwürdig ist. Es wäre leicht gewesen, den Unterschied zwischen geplantem und tatsächlichem Ziel zu übergehen — niemand hätte es gemerkt. Fragen Sie die Studierenden, welche Zahl auf den folgenden Folien dadurch kleiner würde. Antwort: alle.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der ungewöhnliche Teil. In den meisten Lehrbeispielen kommt der Rücksprung, weil etwas schiefgeht. Hier kommt er, obwohl das Kriterium hält. Warum, sehen wir in Phase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Wer den Preis direkt schätzt, schätzt zwei Dinge auf einmal: die Dauer und die Tariflogik. Die zweite kennt er aber genau.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Geltungsbereich entscheidet mit darüber, wie gut ein Modell aussieht. Wer ihn eng zieht, bekommt bessere Zahlen für ein kleineres Produkt. Deshalb gehört er in Phase 1 und nicht in die Datenaufbereitung — sonst gerät er zur nachträglichen Ausrede.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preis_pro_minute_eur: 0,10 gegen 0,25 gegen 0,50 Euro. Dieselbe 50-Cent-Grenze bedeutet damit für das City-Rad fünf Minuten Spielraum und für das Lastenrad eine einzige. Diese Spreizung entscheidet in Phase 5 über das Urteil — und sie steht schon hier, in Phase 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steht bewusst vor allen Kennzahlen. Studierende beginnen Phase 2 meistens mit einer Verteilung der Zielgröße. Sinnvoller ist die Frage, ob jede Zeile überhaupt den Sachverhalt beschreibt, um den es geht — hier tut das jede fünfte Zeile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20 Prozent der Fahrten enden frei im Geschäftsgebiet und haben deshalb kein Ziel. Das sieht aus wie ein Datenqualitätsproblem und ist in Wahrheit ein beworbenes Produktmerkmal. Wer es wegbereinigt, verliert ein Fünftel der Daten für nichts — wer es als Fehler meldet, blamiert sich vor dem Fachbereich.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Prozent klingt nach einer Randgruppe. Es sind aber genau die Fahrten, bei denen das neue Verfahren nichts gewinnt — der Kunde wählt als Ziel den Start und bekommt trotzdem keine belastbare Auskunft. Die App sagt das später offen.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Vorwarnung an die Studierenden: Das ganze Notebook ist um die Zielinformation herum gebaut, und schon in Phase 2 zeigt sich, dass sie wenig beiträgt. Ein Projekt, das diese Zahl verschweigt, verkauft seinen eigenen Umbau schöner, als er 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Grün, was beim Antippen von „Preis schätzen“ bekannt ist. Rot, was erst beim Abstellen entsteht. Die Zielstation steht auf der grünen Seite — im alten Entwurf stand sie auf der roten. Nichts an den Daten hat sich geändert, nur der Prozess. Der sandfarbene Kasten rechts hält den Vorbehalt fest, damit das Bild nicht mehr verspricht, als das Notebook belegen kann.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letzte Zeile lesen. end_station_id ist erlaubt, weil der Kunde sie gewählt hat — mit dem Vorbehalt aus dem Kasten. Auch temp_mittel_c ist gesperrt: Das Tagesmittel der Temperatur kennt man erst am Abend. Wer Wetter verwenden will, braucht archivierte Prognosen, keine Messwerte.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übliche Fehler ist ein zweigeteilter Datensatz. Dann prüft man nach dem Rücksprung auf demselben Testzeitraum, auf dem man schon einmal geprüft hat — und weiß nicht mehr, ob das Ergebnis hält oder ob man sich an den Testdaten entlanggehangelt hat. Vier Abschnitte kosten nichts außer Vorausdenken.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2 der Ausgabe ist der wichtigere: Test 2 trägt in Phase 6 die Auswahl des Artefakts UND die Freigabe. Damit ist er eine Kalibrierung, keine unabhängige Endprüfung mehr. Das steht so im Notebook — und es ist die Sorte Satz, die man in Projektberichten selten liest.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B gegen C ist lehrreich: Der Radtyp — also die Eigenschaft, an der das Preisblatt hängt — sagt über die Dauer fast nichts. Die Startstation sagt viel. Studierende erwarten das umgekehrt, weil E-Bikes schneller sind. Sie sind schneller, aber die Leute fahren mit ihnen weiter.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an dieser Stelle: Rechtfertigen 0,27 Minuten einen Umbau der App? Die ehrliche Antwort ist, dass die Zahl allein es nicht tut. Was sie rechtfertigt, ist das ANDERE Produkt, das dadurch möglich wird — eine Auskunft zum gewählten Ziel statt einer Zahl, die der Kunde ohnehin besser kennt.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Pipeline ist keine Stilfrage. Wer den Kodierer getrennt vom Modell speichert, hat zwei Dateien, die zusammenpassen müssen — und irgendwann tun sie es nicht mehr. handle_unknown='ignore' ist die zweite Vorsorge: Eine Station, die es beim Training noch nicht gab, führt zu einer Vorhersage aus lauter Nullen statt zu einem Absturz. Ob diese Vorhersage etwas taugt, ist eine andere Frage — in Phase 6 wird sie deshalb gar nicht erst angeboten.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in der dritten Spalte ist der ehrliche: nicht gegen das Nullmodell, sondern gegen die beste Baseline. Gegen das Nullmodell wären es 51 Prozent — eine Zahl, die gut klingt und nichts bedeutet, weil niemand das Nullmodell ausliefern würde.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Ablation ist die billigste Selbstkontrolle, die es gibt: einmal ohne das Merkmal rechnen, an dem das Projekt hängt. Wer sie weglässt, kann nicht ausschließen, dass sein Umbau nichts bringt. Hier bringt er etwas — nur weniger, als die Erzählung nahelegt.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Spalte ganz rechts ist die eigentliche Nachricht dieser Folie: Bei CITY liegt die Anzeige in 74 Prozent der Fälle innerhalb der Toleranz — also bei rund jeder vierten Fahrt außerhalb. Der Mittelwert von 0,41 Euro sagt darüber nichts. Merken Sie sich diese 26 Prozent; sie sind gleich der Grund für den Rücksprung.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Kern von Phase 5. Das Modell ist für alle drei Radtypen gleich gut; das fachliche Urteil fällt trotzdem verschieden aus. Wer nur MAE und R² berichtet, sieht das nie.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schützt vor einer bequemen Fehldiagnose. Man könnte aus der vorigen Tabelle schließen, das Modell tauge für teure Räder nicht — und dann Monate mit besseren Verfahren verbringen. Es liegt aber nicht am Modell, sondern daran, dass 50 Cent von 1,67 Euro etwas anderes sind als 50 Cent von 11,97 Euro.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beiden schlechteren Fenster sind Sommer. Das Modell wird im Sommer schlechter, weil dann mehr aus Vergnügen gefahren wird. Diese Beobachtung erklärt später, warum die Tabelle quartalsweise neu gerechnet werden muss — und sie ist ein Beispiel dafür, dass eine einzelne Testzahl eine Jahreszeit sein kann.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zweiter Befund derselben Zelle: Rundtouren haben 6,05 Minuten MAE gegen 3,49 bei echten Wegen. Beides sagt dasselbe — was eine Fahrt lang macht, ist der Zweck, und der steht in keiner Spalte. Ob überhaupt kein Merkmal das könnte, wissen wir nicht: Nutzerabsicht, Höhenprofil und Stationsauslastung sind ungeprüfte Kandidaten.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ungewöhnlichste Moment des Falls. Der Rücksprung kommt nicht aus einem Fehlschlag, sondern aus zwei Beobachtungen, die das Erfolgskriterium selbst nicht abbildet. Genau deshalb reicht es nicht, Kriterien abzuhaken — man muss sie auch daraufhin ansehen, was sie NICHT messen.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Zeilen zusammen sind ein gutes Beispiel dafür, wie ein Kriterium aussehen muss: Eine Bedingung allein lässt sich immer erfüllen, indem man die andere verletzt. Erst das Paar beschreibt ein Produkt.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„verworfen, weil zu breit“ ist die interessanteste: Über die Hälfte der Spannen des Modells wäre für den Kunden wertlos. Was das Modell gut macht, ist gerade das Weglassen — es antwortet nur dort, wo es eine schmale Spanne bilden kann.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darauf hin, dass die Bewertung nur zählt, was die App tatsächlich ANZEIGEN würde. Eine Spanne über einem Euro wird nicht angezeigt, also darf sie auch nicht in die Abdeckung eingehen. Über den Median gerechnet hätte ein Kandidat mit wenigen sehr breiten Spannen deutlich besser ausgesehen, als er 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Weg wäre, die Vorhersagen des Modells für jede Kombination vorab auszurechnen und zu tabellieren: bessere Treffsicherheit, gleiche Betriebsform. Der Preis wäre, dass die Zeilen nicht mehr für sich sprechen — eine Modellvorhersage kann man nicht nachrechnen, indem man in die Historie sieht. Diese Abwägung gehört dem Auftraggeber, nicht der Analyse.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den Weg einmal von rechts nach links: Jede Zeile, die es in das grüne Feld geschafft hat, hat drei Prüfungen bestanden. Und jede Zeile, die im roten Feld gelandet ist, führt in der App nicht zu einer schlechteren Anzeige, sondern zu gar keiner. Das ist der Unterschied zwischen einem Produkt mit Geltungsbereich und einem, das auf jede Frage irgendetwas antwortet.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Punkt der Sandkarte ist eine ehrliche Einschränkung, die man leicht übergeht: Die 80 Prozent sind insgesamt und je Radtyp geprüft, nicht je Verbindung. Ausgeschlossen wird nur, was messbar durchfällt — nicht alles, was ungeprüft ist. Das steht so auch in der Liste der offenen Punkte am Ende des Notebooks.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Achten Sie auf die letzte Spalte: fahrten_grundlage. Jede Zeile sagt, auf wie vielen vergleichbaren Fahrten sie beruht. Damit kann jeder im Betrieb nachsehen, wie belastbar eine einzelne Auskunft ist — bei 192 Fahrten anders als bei 42. Genau das kann eine Modellvorhersage nicht.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 Prozent klingen nach einem mageren Ergebnis, und in einer Projektpräsentation würde diese Zahl gern fehlen. Sie ist aber die einzige, die beschreibt, was der Kunde erlebt. Fragen Sie die Studierenden, welche Zahl sie stattdessen berichtet hätten — die meisten nennen die 84,5 Prozent Abdeckung, und die gilt nur für die Fahrten, bei denen überhaupt etwas angezeigt wird.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Antwort deckt zwei sehr verschiedene Fälle ab: eine bekannte Verbindung ohne genügend Fahrten und eine Station, die es gar nicht gibt. Beide führen zur selben Auskunft, und das ist richtig so — der Kunde soll nicht erfahren, wie die Tabelle gebaut ist, sondern nur, ob er eine Zahl bekommt.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ist die Brücke zwischen Notebook und Produkt. Die Tabelle wird nach velocity.preisschaetzung geladen, die Website liest sie über eine Sicht und zeigt beim Radtyp einen kleinen Preisschätzer an — ein- und ausschaltbar über eine Option im Kundenkonto. Damit ist Phase 6 hier keine Übung, sondern eine ausgelieferte Funktion.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Maßgeblich ist das Wilson-Intervall zum Niveau 95 Prozent, nicht der Schätzwert. Damit entscheidet nicht eine gesetzte Ersatzschwelle, sondern die Frage, ob die Daten überhaupt für eine Aussage reichen. Wer schneller abschalten will, braucht mehr Fahrten je Fenster — keine andere Zahl. Die letzte Zeile ist die feinste: Die Tabelle enthält Euro, nicht nur Minuten. Eine Tarifänderung macht sie in einer Nacht falsch.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schließt sich der Kreis zur dritten Folie dieses Kapitels. Die Annahme wurde am Anfang benannt, hat das ganze Notebook getragen — und am Ende steht, wie man sie prüfen würde und dass es noch nicht geschehen ist. Das ist der Unterschied zwischen einer offenen Frage und einer verschwiegenen.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Folie und Notebook sollen dieselbe Sprache sprechen, damit die Nacharbeit nicht bei null anfängt.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diese Liste langsam durch. Sie ist der beste Teil des Notebooks: Jeder Punkt ist eine Einschränkung, die niemand bemerkt hätte. Ein Bericht, der so etwas aufschreibt, ist mehr wert als einer mit besseren Zahlen — weil man auf ihm aufbauen kann.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und endet mit einem Ergebnis, das in Lehrbüchern selten vorkommt: Das Modell wird gebaut, geprüft — und nicht ausgeliefert, weil eine einzeilige Faustregel genauso gut ist. Zwei Dinge machen den Fall lehrreich: Der Maßstab entsteht VOR dem Modell, und er wird über mehrere Quartale geprüft statt über eines.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woher solche Zahlen kommen. Antwort: aus dem Betrieb, nicht aus den Daten. Ein Datenprojekt, das sie nicht erfragt, erfindet sie implizit — meist als 1 : 1, und das ist fast immer falsch.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Zeilenzahlen stehen mit Absicht in der Ausgabe. Wer sie nicht ausgibt, merkt nicht, wenn ein Stichtag leer bleibt oder ein Filter mehr wegnimmt als gedacht.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letzten beiden Zeilen wirken. Studierende erwarten hier, dass der Wald gewinnt — er ist ja das stärkere Verfahren. Dass er es nicht tut, heißt: Der Verschleiß hängt fast ausschließlich an den Kilometern seit der Reparatur. Mehr Information steckt in diesen Merkmalen nicht. Und beachten Sie die beiden schwächeren Regeln: 45 und 52 Prozent. Der Gewinn steckt nicht darin, eine bessere Kennzahl zu suchen, sondern die richtige Frage zu stellen.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jedes Quartal wird neu trainiert, mit allem, was zu diesem Zeitpunkt bekannt war. Das letzte Quartal bleibt unangetastet — es ist der Test, nicht die Entscheidungsgrundlage. Genau daran war eine frühere Fassung dieses Falls gescheitert: Sie hat auf dem einen günstigen Quartal entschieden.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gehört zu den wichtigsten des Decks. Studierende lesen 71,7 Prozent als eine Tatsache. Sie ist eine Schätzung aus 60 Beobachtungen, und die Unsicherheit ist größer als jeder Unterschied, über den hier gestritten wird.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Kriterium ist erst nach dem Review dazugekommen, und es ist das wichtigste: Ein Verfahren muss über mehrere Perioden vorn liegen, nicht über eine. Ohne dieses Kriterium hätte das Notebook das Modell ausgeliefert — auf Grundlage eines einzigen günstigen Quartals.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Hier verdient es ihn nicht — und der Bericht muss das so schreiben, statt das Modell auszuliefern, weil man es nun einmal gebaut hat. Zum zweiten Mal in dieser Fallstudie hält ein durchschaubares Verfahren mit einem Modell mit; in Notebook 1 war es eine Nachschlagetabelle.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mittlere Kachel ist der eigentliche Ertrag. „Mehr Modell hilft nicht, mehr Information vielleicht schon“ ist eine belastbare Aussage über die Daten — und sie sagt dem Auftraggeber, wo er als Nächstes investieren muss: nicht in Rechenleistung, sondern in Erfassung.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Silhouette: Der Unterschied zwischen k=3 und k=4 ist klein. Wer allein danach ginge, könnte würfeln. Erst die Frage, ob die Disposition den Gruppen einen Namen geben kann,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handwerklich vorbildlich und gehört betont: Eine Rechnung, die auf einer Annahme beruht, kennzeichnet sich selbst — im Code, nicht nur im Fließtext daneben. Wer nur die Ausgabe kopiert, kopiert die Warnung mit.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schärfste Zelle des Notebooks. Die rohe Zahl legt nahe, Ferien wirkten schwach dämpfend. Kontrolliert man die Temperatur, ist der Effekt deutlich stärker — er war vorher vom Sommer überdeckt. Lassen Sie die beiden Faktoren nebeneinander stehen.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 Rechnung wäre der Aufschlag reine Bauchentscheidung. Mit ihr ist er eine belegte Optimierung — und genau das ist der Unterschied zwischen Erfahrung und Willkür.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sagt es selbst: „unrealistisch“ und „realistisch“. Wer in einem Bericht nur die erste Zahl zeigt, hat nicht gelogen und trotzdem getäuscht. Das Notebook nimmt einem die Entscheidung ab, indem es beide nebeneinander stellt.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32 gefundenen Regeln übersteht keine einzige beide Hürden — und die stärkste verfehlt sie um ein Hundertstel Prozentpunkt. Genau das ist der Moment, in dem die Versuchung am größten ist, das Kriterium nachträglich zu senken.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diese drei Divisionen einmal selbst gesehen hat, verwechselt Konfidenz und Lift nicht mehr. Deshalb steht die Rechnung im Notebook ausgeschrieben und nicht als Bibliotheksaufruf.</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 Hier kommt beides zusammen — und das Ergebnis ist eine leere Liste.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 ist die vielleicht wichtigste Folie des ganzen Decks. Der Fall ist so knapp, dass jede Ausrede greifbar wäre — und genau daran zeigt sich, ob ein Erfolgskriterium ernst gemeint war. Fragen Sie die Studierenden ehrlich, was sie täten. Die meisten würden senken. Genau deshalb steht diese Folie hier.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Ausgabe ist der beste Beleg des ganzen Decks dafür, wozu vorab gesetzte Kriterien gut sind. Beachten Sie die letzten Zeilen: Das Notebook rechnet aus, wie weit die beste Regel danebenliegt, statt das Scheitern nur zu behaupten. Wer den Abstand kennt, kann in Phase 1 begründet darüber reden — wer ihn nicht kennt, senkt die Hürde aus dem Bauch heraus.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Hinweis rechts unten ist kein Beiwerk. Aus Start-Ziel-Paaren mit Zeitstempel lassen sich Bewegungsprofile bilden. Wer damit arbeitet, braucht eine Rechtsgrundlage.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Keine Kennzahl hätte das gemeldet. Der Isolation Forest hat sauber gearbeitet und stabile Ausreißer gefunden. Erst die Tabelle zeigt, dass es die falschen sind. Das ist die Begründung für die Regel: Sehen Sie sich immer die Extremfälle an.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2 auf 36 Prozent durch eine Normierung — von einem Treffer unter fünfzig auf achtzehn. Studierende sollen mitnehmen: Der größte Hebel lag nicht im Verfahren, sondern in der Datenaufbereitung, wie so oft. Und beachten Sie den Maßstab: 20 Prozent sind das Erfolgskriterium, nicht die Rentabilitätsschwelle. Rechnen würde sich die Liste schon ab 5 Prozent — aber eine Liste, bei der neunzehn von zwanzig Einträgen unnötig sind, öffnet nach zwei Wochen niemand mehr.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Vergleichen Sie mit der Folie davor. Dieselbe Auswertung, dieselben Daten, ein normiertes Merkmal — und ein völlig anderes Bild. Der Hebel lag in Phase 3, nicht im Verfahren.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der bleiben soll: Kein Verfahren kann Information erzeugen, die in den Daten nicht steckt. Ein negatives Ergebnis, sauber begründet, ist ein vollwertiges Projektergebnis —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negatives Ergebnis, das ausgerechnet und dokumentiert ist, hat einen echten Wert: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genaueste Prognose ist nicht die günstigste</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Regel nimmt beide Hürden — und die Hürde bleibt trotzdem stehen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262831"/>
            <a:ext cx="11677650" cy="296733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364431"/>
            <a:ext cx="11474450" cy="27641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die Fahrt zu diesem Ziel — und wann sagt die App besser gar nichts?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Einwand, mit dem dieses Notebook anfängt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naheliegende Idee: Beim Entsperren schätzt ein Modell die Fahrtdauer, das Tarifblatt macht daraus einen Preis. Diese Idee hat einen Fehler — und zwar keinen technischen.</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naheliegende Idee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Schätzen beim Entsperren</a:t>
            </a:r>
          </a:p>
          <a:p>
            <a:pPr algn="l">
              <a:lnSpc>
                <a:spcPct val="95000"/>
              </a:lnSpc>
              <a:spcBef>
                <a:spcPts val="300"/>
              </a:spcBef>
            </a:pPr>
            <a:r>
              <a:rPr sz="1300" b="0">
                <a:solidFill>
                  <a:srgbClr val="404040"/>
                </a:solidFill>
              </a:rPr>
              <a:t>Das Modell kennt Startstation,</a:t>
            </a:r>
          </a:p>
          <a:p>
            <a:pPr algn="l">
              <a:lnSpc>
                <a:spcPct val="95000"/>
              </a:lnSpc>
              <a:spcBef>
                <a:spcPts val="300"/>
              </a:spcBef>
            </a:pPr>
            <a:r>
              <a:rPr sz="1300" b="0">
                <a:solidFill>
                  <a:srgbClr val="404040"/>
                </a:solidFill>
              </a:rPr>
              <a:t>Uhrzeit und Wochentag.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Damit kann es zwei Fahrten nicht</a:t>
            </a:r>
          </a:p>
          <a:p>
            <a:pPr algn="l">
              <a:lnSpc>
                <a:spcPct val="95000"/>
              </a:lnSpc>
              <a:spcBef>
                <a:spcPts val="300"/>
              </a:spcBef>
            </a:pPr>
            <a:r>
              <a:rPr sz="1300" b="0">
                <a:solidFill>
                  <a:srgbClr val="404040"/>
                </a:solidFill>
              </a:rPr>
              <a:t>unterscheiden, die gleich beginnen:</a:t>
            </a:r>
          </a:p>
          <a:p>
            <a:pPr algn="l">
              <a:lnSpc>
                <a:spcPct val="95000"/>
              </a:lnSpc>
              <a:spcBef>
                <a:spcPts val="300"/>
              </a:spcBef>
            </a:pPr>
            <a:r>
              <a:rPr sz="1300" b="0">
                <a:solidFill>
                  <a:srgbClr val="404040"/>
                </a:solidFill>
              </a:rPr>
              <a:t>acht Minuten zum Bahnhof gegen</a:t>
            </a:r>
          </a:p>
          <a:p>
            <a:pPr algn="l">
              <a:lnSpc>
                <a:spcPct val="95000"/>
              </a:lnSpc>
              <a:spcBef>
                <a:spcPts val="300"/>
              </a:spcBef>
            </a:pPr>
            <a:r>
              <a:rPr sz="1300" b="0">
                <a:solidFill>
                  <a:srgbClr val="404040"/>
                </a:solidFill>
              </a:rPr>
              <a:t>neunzig Minuten am Main entlang.</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Einwand</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Der Nutzer weiß es besser</a:t>
            </a:r>
          </a:p>
          <a:p>
            <a:pPr algn="l">
              <a:lnSpc>
                <a:spcPct val="95000"/>
              </a:lnSpc>
              <a:spcBef>
                <a:spcPts val="300"/>
              </a:spcBef>
            </a:pPr>
            <a:r>
              <a:rPr sz="1300" b="0">
                <a:solidFill>
                  <a:srgbClr val="404040"/>
                </a:solidFill>
              </a:rPr>
              <a:t>Er kennt sein Ziel.</a:t>
            </a:r>
          </a:p>
          <a:p>
            <a:pPr algn="l">
              <a:lnSpc>
                <a:spcPct val="95000"/>
              </a:lnSpc>
              <a:spcBef>
                <a:spcPts val="300"/>
              </a:spcBef>
            </a:pPr>
            <a:r>
              <a:rPr sz="1300" b="0">
                <a:solidFill>
                  <a:srgbClr val="404040"/>
                </a:solidFill>
              </a:rPr>
              <a:t>Er weiß, ob er es eilig hat.</a:t>
            </a:r>
          </a:p>
          <a:p>
            <a:pPr algn="l">
              <a:lnSpc>
                <a:spcPct val="95000"/>
              </a:lnSpc>
              <a:spcBef>
                <a:spcPts val="300"/>
              </a:spcBef>
            </a:pPr>
            <a:r>
              <a:rPr sz="1300" b="0">
                <a:solidFill>
                  <a:srgbClr val="404040"/>
                </a:solidFill>
              </a:rPr>
              <a:t>Er weiß, ob er unterwegs anhält.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Wozu soll ein Modell etwas</a:t>
            </a:r>
          </a:p>
          <a:p>
            <a:pPr algn="l">
              <a:lnSpc>
                <a:spcPct val="95000"/>
              </a:lnSpc>
              <a:spcBef>
                <a:spcPts val="300"/>
              </a:spcBef>
            </a:pPr>
            <a:r>
              <a:rPr sz="1300" b="0">
                <a:solidFill>
                  <a:srgbClr val="404040"/>
                </a:solidFill>
              </a:rPr>
              <a:t>vorhersagen, das der Mensch</a:t>
            </a:r>
          </a:p>
          <a:p>
            <a:pPr algn="l">
              <a:lnSpc>
                <a:spcPct val="95000"/>
              </a:lnSpc>
              <a:spcBef>
                <a:spcPts val="300"/>
              </a:spcBef>
            </a:pPr>
            <a:r>
              <a:rPr sz="1300" b="0">
                <a:solidFill>
                  <a:srgbClr val="404040"/>
                </a:solidFill>
              </a:rPr>
              <a:t>davor längst weiß?</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das Verfahren ändern — den Prozess</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Problem ist keins des Verfahrens, sondern eines der Information. Fehlende Information holt man nicht durch mehr Rechenleistung herein, sondern indem man fragt.</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App an der
Station</a:t>
            </a:r>
          </a:p>
        </p:txBody>
      </p:sp>
      <p:sp>
        <p:nvSpPr>
          <p:cNvPr id="7" name="Pentagon 6"/>
          <p:cNvSpPr/>
          <p:nvPr/>
        </p:nvSpPr>
        <p:spPr>
          <a:xfrm>
            <a:off x="288036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Ziel auf der
Karte wählen</a:t>
            </a:r>
          </a:p>
        </p:txBody>
      </p:sp>
      <p:sp>
        <p:nvSpPr>
          <p:cNvPr id="8" name="Pentagon 7"/>
          <p:cNvSpPr/>
          <p:nvPr/>
        </p:nvSpPr>
        <p:spPr>
          <a:xfrm>
            <a:off x="557911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„Preis
schätzen“</a:t>
            </a:r>
          </a:p>
        </p:txBody>
      </p:sp>
      <p:sp>
        <p:nvSpPr>
          <p:cNvPr id="9" name="Pentagon 8"/>
          <p:cNvSpPr/>
          <p:nvPr/>
        </p:nvSpPr>
        <p:spPr>
          <a:xfrm>
            <a:off x="8277859"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Spanne wird
angezeigt</a:t>
            </a:r>
          </a:p>
        </p:txBody>
      </p:sp>
      <p:sp>
        <p:nvSpPr>
          <p:cNvPr id="10" name="Rounded Rectangle 9"/>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Kunde
entscheidet</a:t>
            </a:r>
          </a:p>
        </p:txBody>
      </p:sp>
      <p:sp>
        <p:nvSpPr>
          <p:cNvPr id="11" name="Rectangle 10"/>
          <p:cNvSpPr/>
          <p:nvPr/>
        </p:nvSpPr>
        <p:spPr>
          <a:xfrm>
            <a:off x="1153160" y="3225800"/>
            <a:ext cx="11474450" cy="15875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15875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3352800"/>
            <a:ext cx="11093450" cy="1333500"/>
          </a:xfrm>
          <a:prstGeom prst="rect">
            <a:avLst/>
          </a:prstGeom>
          <a:noFill/>
        </p:spPr>
        <p:txBody>
          <a:bodyPr wrap="square" lIns="0" tIns="0" rIns="0" bIns="0">
            <a:spAutoFit/>
          </a:bodyPr>
          <a:lstStyle/>
          <a:p>
            <a:pPr algn="l">
              <a:lnSpc>
                <a:spcPct val="95000"/>
              </a:lnSpc>
            </a:pPr>
            <a:r>
              <a:rPr sz="1500" b="1">
                <a:solidFill>
                  <a:srgbClr val="003E6E"/>
                </a:solidFill>
              </a:rPr>
              <a:t>Und daraus folgt die Einsicht, die das ganze Notebook trägt</a:t>
            </a:r>
          </a:p>
          <a:p>
            <a:pPr algn="l">
              <a:lnSpc>
                <a:spcPct val="95000"/>
              </a:lnSpc>
              <a:spcBef>
                <a:spcPts val="500"/>
              </a:spcBef>
            </a:pPr>
            <a:r>
              <a:rPr sz="1300" b="0">
                <a:solidFill>
                  <a:srgbClr val="404040"/>
                </a:solidFill>
              </a:rPr>
              <a:t>Ob ein Merkmal verwendet werden darf, entscheidet nicht sein Spaltenname, sondern der Zeitpunkt, zu dem es im Prozess entsteht.</a:t>
            </a:r>
          </a:p>
          <a:p>
            <a:pPr algn="l">
              <a:lnSpc>
                <a:spcPct val="95000"/>
              </a:lnSpc>
              <a:spcBef>
                <a:spcPts val="500"/>
              </a:spcBef>
            </a:pPr>
            <a:r>
              <a:rPr sz="1300" b="0">
                <a:solidFill>
                  <a:srgbClr val="404040"/>
                </a:solidFill>
              </a:rPr>
              <a:t>Die Zielstation war im alten Entwurf verboten. Im neuen ist sie erlaubt — nicht, weil sich die Daten geändert hätten, sondern weil der Kunde sie jetzt vorher eingibt.</a:t>
            </a:r>
          </a:p>
          <a:p>
            <a:pPr algn="l">
              <a:lnSpc>
                <a:spcPct val="95000"/>
              </a:lnSpc>
              <a:spcBef>
                <a:spcPts val="500"/>
              </a:spcBef>
            </a:pPr>
            <a:r>
              <a:rPr sz="1300" b="0">
                <a:solidFill>
                  <a:srgbClr val="404040"/>
                </a:solidFill>
              </a:rPr>
              <a:t>Ändert man den Prozess, ändert sich die Antwort auf die Frage, was Leakage ist.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Annahme, auf der alles Weitere ruht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Prozess, den wir künftig ändern, macht eine historische Ergebnisspalte nicht rückwirkend zu einer Eingabe. Das muss auf den Tisch, bevor irgendeine Zahl fällt.</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Worauf trainiert wird</a:t>
            </a:r>
          </a:p>
          <a:p>
            <a:pPr algn="l">
              <a:lnSpc>
                <a:spcPct val="95000"/>
              </a:lnSpc>
              <a:spcBef>
                <a:spcPts val="500"/>
              </a:spcBef>
            </a:pPr>
            <a:r>
              <a:rPr sz="1300" b="0">
                <a:solidFill>
                  <a:srgbClr val="404040"/>
                </a:solidFill>
              </a:rPr>
              <a:t>end_station_id — die Station,</a:t>
            </a:r>
          </a:p>
          <a:p>
            <a:pPr algn="l">
              <a:lnSpc>
                <a:spcPct val="95000"/>
              </a:lnSpc>
              <a:spcBef>
                <a:spcPts val="500"/>
              </a:spcBef>
            </a:pPr>
            <a:r>
              <a:rPr sz="1300" b="0">
                <a:solidFill>
                  <a:srgbClr val="404040"/>
                </a:solidFill>
              </a:rPr>
              <a:t>an der die Fahrt tatsächlich</a:t>
            </a:r>
          </a:p>
          <a:p>
            <a:pPr algn="l">
              <a:lnSpc>
                <a:spcPct val="95000"/>
              </a:lnSpc>
              <a:spcBef>
                <a:spcPts val="500"/>
              </a:spcBef>
            </a:pPr>
            <a:r>
              <a:rPr sz="1300" b="0">
                <a:solidFill>
                  <a:srgbClr val="404040"/>
                </a:solidFill>
              </a:rPr>
              <a:t>geendet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steht so in den</a:t>
            </a:r>
          </a:p>
          <a:p>
            <a:pPr algn="l">
              <a:lnSpc>
                <a:spcPct val="95000"/>
              </a:lnSpc>
              <a:spcBef>
                <a:spcPts val="500"/>
              </a:spcBef>
            </a:pPr>
            <a:r>
              <a:rPr sz="1300" b="0">
                <a:solidFill>
                  <a:srgbClr val="404040"/>
                </a:solidFill>
              </a:rPr>
              <a:t>historischen Daten.</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im Betrieb ankommt</a:t>
            </a:r>
          </a:p>
          <a:p>
            <a:pPr algn="l">
              <a:lnSpc>
                <a:spcPct val="95000"/>
              </a:lnSpc>
              <a:spcBef>
                <a:spcPts val="500"/>
              </a:spcBef>
            </a:pPr>
            <a:r>
              <a:rPr sz="1300" b="0">
                <a:solidFill>
                  <a:srgbClr val="404040"/>
                </a:solidFill>
              </a:rPr>
              <a:t>Die Station, die der Kunde</a:t>
            </a:r>
          </a:p>
          <a:p>
            <a:pPr algn="l">
              <a:lnSpc>
                <a:spcPct val="95000"/>
              </a:lnSpc>
              <a:spcBef>
                <a:spcPts val="500"/>
              </a:spcBef>
            </a:pPr>
            <a:r>
              <a:rPr sz="1300" b="0">
                <a:solidFill>
                  <a:srgbClr val="404040"/>
                </a:solidFill>
              </a:rPr>
              <a:t>vorher gewählt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 fallen auseinander,</a:t>
            </a:r>
          </a:p>
          <a:p>
            <a:pPr algn="l">
              <a:lnSpc>
                <a:spcPct val="95000"/>
              </a:lnSpc>
              <a:spcBef>
                <a:spcPts val="500"/>
              </a:spcBef>
            </a:pPr>
            <a:r>
              <a:rPr sz="1300" b="0">
                <a:solidFill>
                  <a:srgbClr val="404040"/>
                </a:solidFill>
              </a:rPr>
              <a:t>wenn jemand umplant oder</a:t>
            </a:r>
          </a:p>
          <a:p>
            <a:pPr algn="l">
              <a:lnSpc>
                <a:spcPct val="95000"/>
              </a:lnSpc>
              <a:spcBef>
                <a:spcPts val="500"/>
              </a:spcBef>
            </a:pPr>
            <a:r>
              <a:rPr sz="1300" b="0">
                <a:solidFill>
                  <a:srgbClr val="404040"/>
                </a:solidFill>
              </a:rPr>
              <a:t>die Zielstation voll ist.</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Das tatsächliche Ziel ist ein</a:t>
            </a:r>
          </a:p>
          <a:p>
            <a:pPr algn="l">
              <a:lnSpc>
                <a:spcPct val="95000"/>
              </a:lnSpc>
              <a:spcBef>
                <a:spcPts val="500"/>
              </a:spcBef>
            </a:pPr>
            <a:r>
              <a:rPr sz="1300" b="0">
                <a:solidFill>
                  <a:srgbClr val="404040"/>
                </a:solidFill>
              </a:rPr>
              <a:t>unvalidierter Stellvertreter</a:t>
            </a:r>
          </a:p>
          <a:p>
            <a:pPr algn="l">
              <a:lnSpc>
                <a:spcPct val="95000"/>
              </a:lnSpc>
              <a:spcBef>
                <a:spcPts val="500"/>
              </a:spcBef>
            </a:pPr>
            <a:r>
              <a:rPr sz="1300" b="0">
                <a:solidFill>
                  <a:srgbClr val="404040"/>
                </a:solidFill>
              </a:rPr>
              <a:t>für das geplante.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Jede Zahl in diesem Notebook</a:t>
            </a:r>
          </a:p>
          <a:p>
            <a:pPr algn="l">
              <a:lnSpc>
                <a:spcPct val="95000"/>
              </a:lnSpc>
              <a:spcBef>
                <a:spcPts val="500"/>
              </a:spcBef>
            </a:pPr>
            <a:r>
              <a:rPr sz="1300" b="0">
                <a:solidFill>
                  <a:srgbClr val="404040"/>
                </a:solidFill>
              </a:rPr>
              <a:t>ist deshalb eine Obergrenze.</a:t>
            </a:r>
          </a:p>
        </p:txBody>
      </p:sp>
      <p:sp>
        <p:nvSpPr>
          <p:cNvPr id="15" name="Rectangle 14"/>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lässt sich diese Annahme erst, wenn die App das geplante Ziel speichert. Bis dahin steht sie als Vorbehalt im Notebook — nicht in einer Fußnote am Ende.</a:t>
            </a:r>
          </a:p>
        </p:txBody>
      </p:sp>
      <p:sp>
        <p:nvSpPr>
          <p:cNvPr id="17" name="Rectangle 16"/>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interessant ist der Weg dorthin.</a:t>
            </a:r>
          </a:p>
        </p:txBody>
      </p:sp>
      <p:sp>
        <p:nvSpPr>
          <p:cNvPr id="6" name="Rectangle 5"/>
          <p:cNvSpPr/>
          <p:nvPr/>
        </p:nvSpPr>
        <p:spPr>
          <a:xfrm>
            <a:off x="1153160" y="16510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752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752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die App den Preis nennen, nachdem der Kunde sein Ziel gewählt hat?</a:t>
            </a:r>
          </a:p>
        </p:txBody>
      </p:sp>
      <p:sp>
        <p:nvSpPr>
          <p:cNvPr id="10" name="TextBox 9"/>
          <p:cNvSpPr txBox="1"/>
          <p:nvPr/>
        </p:nvSpPr>
        <p:spPr>
          <a:xfrm>
            <a:off x="1407160" y="2184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184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Dauer in Minuten schätzen — der Preis folgt daraus über das Tarifblatt</a:t>
            </a:r>
          </a:p>
        </p:txBody>
      </p:sp>
      <p:sp>
        <p:nvSpPr>
          <p:cNvPr id="12" name="TextBox 11"/>
          <p:cNvSpPr txBox="1"/>
          <p:nvPr/>
        </p:nvSpPr>
        <p:spPr>
          <a:xfrm>
            <a:off x="1407160" y="2616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616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Preisfehler unter 50 Cent, festgelegt vor dem ersten Blick in die Daten</a:t>
            </a:r>
          </a:p>
        </p:txBody>
      </p:sp>
      <p:sp>
        <p:nvSpPr>
          <p:cNvPr id="14" name="TextBox 13"/>
          <p:cNvSpPr txBox="1"/>
          <p:nvPr/>
        </p:nvSpPr>
        <p:spPr>
          <a:xfrm>
            <a:off x="1407160" y="3048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048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60.425 Vorgänge aus drei Jahren, davon 47.054 im Geltungsbereich</a:t>
            </a:r>
          </a:p>
        </p:txBody>
      </p:sp>
      <p:sp>
        <p:nvSpPr>
          <p:cNvPr id="16" name="TextBox 15"/>
          <p:cNvSpPr txBox="1"/>
          <p:nvPr/>
        </p:nvSpPr>
        <p:spPr>
          <a:xfrm>
            <a:off x="1407160" y="3479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479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Baselines, dann lineare Regression, Baum, Random Forest</a:t>
            </a:r>
          </a:p>
        </p:txBody>
      </p:sp>
      <p:sp>
        <p:nvSpPr>
          <p:cNvPr id="18" name="TextBox 17"/>
          <p:cNvSpPr txBox="1"/>
          <p:nvPr/>
        </p:nvSpPr>
        <p:spPr>
          <a:xfrm>
            <a:off x="1407160" y="3911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3911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CITY hält die Grenze — und wir springen trotzdem zurück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wissen, was es kostet.“ Das ist ein Wunsch, kein Auftrag. Aus ihm wird in drei Schritten etwas Messbares.</a:t>
            </a:r>
          </a:p>
        </p:txBody>
      </p:sp>
      <p:sp>
        <p:nvSpPr>
          <p:cNvPr id="6" name="Rectangle 5"/>
          <p:cNvSpPr/>
          <p:nvPr/>
        </p:nvSpPr>
        <p:spPr>
          <a:xfrm>
            <a:off x="1153160" y="1879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1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Nach der Zielwahl steht eine Preisangabe auf dem Bildschirm</a:t>
            </a:r>
          </a:p>
        </p:txBody>
      </p:sp>
      <p:sp>
        <p:nvSpPr>
          <p:cNvPr id="10" name="Rectangle 9"/>
          <p:cNvSpPr/>
          <p:nvPr/>
        </p:nvSpPr>
        <p:spPr>
          <a:xfrm>
            <a:off x="1153160" y="26035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6035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43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797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Geschätzt wird die DAUER, nicht der Preis</a:t>
            </a:r>
          </a:p>
        </p:txBody>
      </p:sp>
      <p:sp>
        <p:nvSpPr>
          <p:cNvPr id="14" name="Rectangle 13"/>
          <p:cNvSpPr/>
          <p:nvPr/>
        </p:nvSpPr>
        <p:spPr>
          <a:xfrm>
            <a:off x="1153160" y="3327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327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4036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Die Angabe liegt im Mittel unter 50 Cent daneben — die Grenze kommt aus dem Produktmanagement</a:t>
            </a:r>
          </a:p>
        </p:txBody>
      </p:sp>
      <p:sp>
        <p:nvSpPr>
          <p:cNvPr id="18" name="Rectangle 17"/>
          <p:cNvSpPr/>
          <p:nvPr/>
        </p:nvSpPr>
        <p:spPr>
          <a:xfrm>
            <a:off x="1153160" y="40513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513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275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Gemessen auf  </a:t>
            </a:r>
            <a:r>
              <a:rPr sz="1300">
                <a:solidFill>
                  <a:srgbClr val="404040"/>
                </a:solidFill>
              </a:rPr>
              <a:t>einem Zeitraum, den das Modell beim Training nie gesehen hat</a:t>
            </a:r>
          </a:p>
        </p:txBody>
      </p:sp>
      <p:sp>
        <p:nvSpPr>
          <p:cNvPr id="22" name="Rectangle 21"/>
          <p:cNvSpPr/>
          <p:nvPr/>
        </p:nvSpPr>
        <p:spPr>
          <a:xfrm>
            <a:off x="1153160" y="48387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9149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Man schätzt nie, was man ausrechnen kann. Das Tarifblatt ist exakt bekannt — es zu schätzen wäre ein zusätzlicher Fehler ohne jeden Gegenwert.</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Geltungsbereich — was ausdrücklich nicht dazugehört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Einschränkungen, und die dritte ist eine Setzung. Der Unterschied gehört benannt, nicht versteckt.</a:t>
            </a:r>
          </a:p>
        </p:txBody>
      </p:sp>
      <p:sp>
        <p:nvSpPr>
          <p:cNvPr id="6" name="Rectangle 5"/>
          <p:cNvSpPr/>
          <p:nvPr/>
        </p:nvSpPr>
        <p:spPr>
          <a:xfrm>
            <a:off x="1153160" y="1651000"/>
            <a:ext cx="2794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Einschränkung</a:t>
            </a:r>
          </a:p>
        </p:txBody>
      </p:sp>
      <p:sp>
        <p:nvSpPr>
          <p:cNvPr id="7" name="Rectangle 6"/>
          <p:cNvSpPr/>
          <p:nvPr/>
        </p:nvSpPr>
        <p:spPr>
          <a:xfrm>
            <a:off x="3947160" y="1651000"/>
            <a:ext cx="4445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8" name="Rectangle 7"/>
          <p:cNvSpPr/>
          <p:nvPr/>
        </p:nvSpPr>
        <p:spPr>
          <a:xfrm>
            <a:off x="8392160" y="1651000"/>
            <a:ext cx="4235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Belegt oder gesetzt?</a:t>
            </a:r>
          </a:p>
        </p:txBody>
      </p:sp>
      <p:sp>
        <p:nvSpPr>
          <p:cNvPr id="9" name="Rectangle 8"/>
          <p:cNvSpPr/>
          <p:nvPr/>
        </p:nvSpPr>
        <p:spPr>
          <a:xfrm>
            <a:off x="1153160" y="23876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abgeschlossene Fahrten</a:t>
            </a:r>
          </a:p>
        </p:txBody>
      </p:sp>
      <p:sp>
        <p:nvSpPr>
          <p:cNvPr id="10" name="Rectangle 9"/>
          <p:cNvSpPr/>
          <p:nvPr/>
        </p:nvSpPr>
        <p:spPr>
          <a:xfrm>
            <a:off x="3947160" y="23876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Abbrüche und Stornierungen sind keine Fahrten</a:t>
            </a:r>
          </a:p>
        </p:txBody>
      </p:sp>
      <p:sp>
        <p:nvSpPr>
          <p:cNvPr id="11" name="Rectangle 10"/>
          <p:cNvSpPr/>
          <p:nvPr/>
        </p:nvSpPr>
        <p:spPr>
          <a:xfrm>
            <a:off x="8392160" y="23876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sie dauern zwei Minuten</a:t>
            </a:r>
          </a:p>
        </p:txBody>
      </p:sp>
      <p:sp>
        <p:nvSpPr>
          <p:cNvPr id="12" name="Rectangle 11"/>
          <p:cNvSpPr/>
          <p:nvPr/>
        </p:nvSpPr>
        <p:spPr>
          <a:xfrm>
            <a:off x="1153160" y="3124200"/>
            <a:ext cx="2794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Station zu Station</a:t>
            </a:r>
          </a:p>
        </p:txBody>
      </p:sp>
      <p:sp>
        <p:nvSpPr>
          <p:cNvPr id="13" name="Rectangle 12"/>
          <p:cNvSpPr/>
          <p:nvPr/>
        </p:nvSpPr>
        <p:spPr>
          <a:xfrm>
            <a:off x="3947160" y="3124200"/>
            <a:ext cx="4445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frei im Gebiet abstellt, hat kein Ziel gewählt</a:t>
            </a:r>
          </a:p>
        </p:txBody>
      </p:sp>
      <p:sp>
        <p:nvSpPr>
          <p:cNvPr id="14" name="Rectangle 13"/>
          <p:cNvSpPr/>
          <p:nvPr/>
        </p:nvSpPr>
        <p:spPr>
          <a:xfrm>
            <a:off x="8392160" y="3124200"/>
            <a:ext cx="4235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betrifft ein Fünftel</a:t>
            </a:r>
          </a:p>
        </p:txBody>
      </p:sp>
      <p:sp>
        <p:nvSpPr>
          <p:cNvPr id="15" name="Rectangle 14"/>
          <p:cNvSpPr/>
          <p:nvPr/>
        </p:nvSpPr>
        <p:spPr>
          <a:xfrm>
            <a:off x="1153160" y="38608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Fahrten bis acht Stunden</a:t>
            </a:r>
          </a:p>
        </p:txBody>
      </p:sp>
      <p:sp>
        <p:nvSpPr>
          <p:cNvPr id="16" name="Rectangle 15"/>
          <p:cNvSpPr/>
          <p:nvPr/>
        </p:nvSpPr>
        <p:spPr>
          <a:xfrm>
            <a:off x="3947160" y="38608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Darüber liegt eine vergessene Rückgabe, ein eigener Geschäftsfall</a:t>
            </a:r>
          </a:p>
        </p:txBody>
      </p:sp>
      <p:sp>
        <p:nvSpPr>
          <p:cNvPr id="17" name="Rectangle 16"/>
          <p:cNvSpPr/>
          <p:nvPr/>
        </p:nvSpPr>
        <p:spPr>
          <a:xfrm>
            <a:off x="8392160" y="38608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gesetzt — es gibt keine Statusangabe, die das trennt</a:t>
            </a:r>
          </a:p>
        </p:txBody>
      </p:sp>
      <p:sp>
        <p:nvSpPr>
          <p:cNvPr id="18" name="Rectangle 17"/>
          <p:cNvSpPr/>
          <p:nvPr/>
        </p:nvSpPr>
        <p:spPr>
          <a:xfrm>
            <a:off x="1153160" y="4775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851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dritte Zeile ist die ehrlichste der Folie: Acht Stunden sind eine Verabredung, keine Messung. Sie gehört fachlich abgesichert — und bis dahin steht sie als offener Punkt im Notebook.</a:t>
            </a:r>
          </a:p>
        </p:txBody>
      </p:sp>
      <p:sp>
        <p:nvSpPr>
          <p:cNvPr id="20" name="Rectangle 19"/>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2" name="Rectangle 21"/>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4" name="Rectangle 23"/>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6" name="Rectangle 25"/>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8" name="Rectangle 27"/>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0" name="Rectangle 29"/>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Tarifblatt: drei Räder, drei Minutenpreise</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analytics/notebooks/01_Regression_Fahrtdauer.ipynb · Abschnitt 1 — Das Tarifblatt</a:t>
            </a:r>
          </a:p>
        </p:txBody>
      </p:sp>
      <p:sp>
        <p:nvSpPr>
          <p:cNvPr id="5" name="Rectangle 4"/>
          <p:cNvSpPr/>
          <p:nvPr/>
        </p:nvSpPr>
        <p:spPr>
          <a:xfrm>
            <a:off x="1825706" y="1168400"/>
            <a:ext cx="1012935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rif.png"/>
          <p:cNvPicPr>
            <a:picLocks noChangeAspect="1"/>
          </p:cNvPicPr>
          <p:nvPr/>
        </p:nvPicPr>
        <p:blipFill>
          <a:blip r:embed="rId2"/>
          <a:stretch>
            <a:fillRect/>
          </a:stretch>
        </p:blipFill>
        <p:spPr>
          <a:xfrm>
            <a:off x="1927306" y="1270000"/>
            <a:ext cx="992615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Startgebühr, Minutenpreis, Tageshöchstpreis — daraus wird später der Preis gerechnet, nicht geschätzt.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jeder Vorgang ist eine Fahrt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irgendetwas gerechnet wird: Was steht überhaupt in der Tabelle? Die Antwort ändert die Datenmenge um ein Fünftel.</a:t>
            </a:r>
          </a:p>
        </p:txBody>
      </p:sp>
      <p:sp>
        <p:nvSpPr>
          <p:cNvPr id="6" name="Rectangle 5"/>
          <p:cNvSpPr/>
          <p:nvPr/>
        </p:nvSpPr>
        <p:spPr>
          <a:xfrm>
            <a:off x="1153160" y="1879600"/>
            <a:ext cx="2413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7" name="Rectangle 6"/>
          <p:cNvSpPr/>
          <p:nvPr/>
        </p:nvSpPr>
        <p:spPr>
          <a:xfrm>
            <a:off x="3566160" y="1879600"/>
            <a:ext cx="1524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5090160" y="1879600"/>
            <a:ext cx="190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6995159" y="1879600"/>
            <a:ext cx="5632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638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abgeschlossen</a:t>
            </a:r>
          </a:p>
        </p:txBody>
      </p:sp>
      <p:sp>
        <p:nvSpPr>
          <p:cNvPr id="11" name="Rectangle 10"/>
          <p:cNvSpPr/>
          <p:nvPr/>
        </p:nvSpPr>
        <p:spPr>
          <a:xfrm>
            <a:off x="3566160" y="24638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58.737</a:t>
            </a:r>
          </a:p>
        </p:txBody>
      </p:sp>
      <p:sp>
        <p:nvSpPr>
          <p:cNvPr id="12" name="Rectangle 11"/>
          <p:cNvSpPr/>
          <p:nvPr/>
        </p:nvSpPr>
        <p:spPr>
          <a:xfrm>
            <a:off x="5090160" y="24638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Minuten</a:t>
            </a:r>
          </a:p>
        </p:txBody>
      </p:sp>
      <p:sp>
        <p:nvSpPr>
          <p:cNvPr id="13" name="Rectangle 12"/>
          <p:cNvSpPr/>
          <p:nvPr/>
        </p:nvSpPr>
        <p:spPr>
          <a:xfrm>
            <a:off x="6995159" y="24638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sind Fahrten</a:t>
            </a:r>
          </a:p>
        </p:txBody>
      </p:sp>
      <p:sp>
        <p:nvSpPr>
          <p:cNvPr id="14" name="Rectangle 13"/>
          <p:cNvSpPr/>
          <p:nvPr/>
        </p:nvSpPr>
        <p:spPr>
          <a:xfrm>
            <a:off x="1153160" y="3048000"/>
            <a:ext cx="2413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abgebrochen</a:t>
            </a:r>
          </a:p>
        </p:txBody>
      </p:sp>
      <p:sp>
        <p:nvSpPr>
          <p:cNvPr id="15" name="Rectangle 14"/>
          <p:cNvSpPr/>
          <p:nvPr/>
        </p:nvSpPr>
        <p:spPr>
          <a:xfrm>
            <a:off x="3566160" y="3048000"/>
            <a:ext cx="1524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1.364</a:t>
            </a:r>
          </a:p>
        </p:txBody>
      </p:sp>
      <p:sp>
        <p:nvSpPr>
          <p:cNvPr id="16" name="Rectangle 15"/>
          <p:cNvSpPr/>
          <p:nvPr/>
        </p:nvSpPr>
        <p:spPr>
          <a:xfrm>
            <a:off x="5090160" y="3048000"/>
            <a:ext cx="190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Minuten</a:t>
            </a:r>
          </a:p>
        </p:txBody>
      </p:sp>
      <p:sp>
        <p:nvSpPr>
          <p:cNvPr id="17" name="Rectangle 16"/>
          <p:cNvSpPr/>
          <p:nvPr/>
        </p:nvSpPr>
        <p:spPr>
          <a:xfrm>
            <a:off x="6995159" y="3048000"/>
            <a:ext cx="5632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Vorgänge, die nie eine wurden</a:t>
            </a:r>
          </a:p>
        </p:txBody>
      </p:sp>
      <p:sp>
        <p:nvSpPr>
          <p:cNvPr id="18" name="Rectangle 17"/>
          <p:cNvSpPr/>
          <p:nvPr/>
        </p:nvSpPr>
        <p:spPr>
          <a:xfrm>
            <a:off x="1153160" y="36322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storniert</a:t>
            </a:r>
          </a:p>
        </p:txBody>
      </p:sp>
      <p:sp>
        <p:nvSpPr>
          <p:cNvPr id="19" name="Rectangle 18"/>
          <p:cNvSpPr/>
          <p:nvPr/>
        </p:nvSpPr>
        <p:spPr>
          <a:xfrm>
            <a:off x="3566160" y="36322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324</a:t>
            </a:r>
          </a:p>
        </p:txBody>
      </p:sp>
      <p:sp>
        <p:nvSpPr>
          <p:cNvPr id="20" name="Rectangle 19"/>
          <p:cNvSpPr/>
          <p:nvPr/>
        </p:nvSpPr>
        <p:spPr>
          <a:xfrm>
            <a:off x="5090160" y="36322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Minute</a:t>
            </a:r>
          </a:p>
        </p:txBody>
      </p:sp>
      <p:sp>
        <p:nvSpPr>
          <p:cNvPr id="21" name="Rectangle 20"/>
          <p:cNvSpPr/>
          <p:nvPr/>
        </p:nvSpPr>
        <p:spPr>
          <a:xfrm>
            <a:off x="6995159" y="36322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dito — und beide verzerren die kurzen Wege</a:t>
            </a:r>
          </a:p>
        </p:txBody>
      </p:sp>
      <p:sp>
        <p:nvSpPr>
          <p:cNvPr id="22" name="Rectangle 21"/>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Zwei Minuten sind keine Fahrt, sondern ein Fehlgriff am Schloss. Wer sie mitzählt, drückt genau die kurzen Strecken nach unten, um die es hier geht.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Trichter: von 60.425 auf 47.054 Fahrten</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analytics/notebooks/01_Regression_Fahrtdauer.ipynb · Abschnitt 2.2</a:t>
            </a:r>
          </a:p>
        </p:txBody>
      </p:sp>
      <p:sp>
        <p:nvSpPr>
          <p:cNvPr id="5" name="Rectangle 4"/>
          <p:cNvSpPr/>
          <p:nvPr/>
        </p:nvSpPr>
        <p:spPr>
          <a:xfrm>
            <a:off x="1051560" y="1440036"/>
            <a:ext cx="11677650" cy="382552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richter.png"/>
          <p:cNvPicPr>
            <a:picLocks noChangeAspect="1"/>
          </p:cNvPicPr>
          <p:nvPr/>
        </p:nvPicPr>
        <p:blipFill>
          <a:blip r:embed="rId2"/>
          <a:stretch>
            <a:fillRect/>
          </a:stretch>
        </p:blipFill>
        <p:spPr>
          <a:xfrm>
            <a:off x="1153160" y="1541636"/>
            <a:ext cx="11474450" cy="3622326"/>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Jeder Schritt mit Zeilenzahl. 77,9 Prozent bleiben übrig — und ein Fünftel fehlt aus einem Grund, der kein Fehler 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Rundtouren: dieselbe Verbindung, jede beliebige Dauer</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jeder sechsten Fahrt mit Ziel ist das Ziel der Start. Für ein Modell, das aus der Verbindung lernt, ist das ein Problem.</a:t>
            </a:r>
          </a:p>
        </p:txBody>
      </p:sp>
      <p:sp>
        <p:nvSpPr>
          <p:cNvPr id="6" name="Rectangle 5"/>
          <p:cNvSpPr/>
          <p:nvPr/>
        </p:nvSpPr>
        <p:spPr>
          <a:xfrm>
            <a:off x="1153160" y="18796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Art der Fahrt</a:t>
            </a:r>
          </a:p>
        </p:txBody>
      </p:sp>
      <p:sp>
        <p:nvSpPr>
          <p:cNvPr id="7" name="Rectangle 6"/>
          <p:cNvSpPr/>
          <p:nvPr/>
        </p:nvSpPr>
        <p:spPr>
          <a:xfrm>
            <a:off x="5344160" y="1879600"/>
            <a:ext cx="152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6868159" y="1879600"/>
            <a:ext cx="2032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8900160" y="1879600"/>
            <a:ext cx="3727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 Hälfte</a:t>
            </a:r>
          </a:p>
        </p:txBody>
      </p:sp>
      <p:sp>
        <p:nvSpPr>
          <p:cNvPr id="10" name="Rectangle 9"/>
          <p:cNvSpPr/>
          <p:nvPr/>
        </p:nvSpPr>
        <p:spPr>
          <a:xfrm>
            <a:off x="1153160" y="24892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Rundtour — Start ist gleich Ziel</a:t>
            </a:r>
          </a:p>
        </p:txBody>
      </p:sp>
      <p:sp>
        <p:nvSpPr>
          <p:cNvPr id="11" name="Rectangle 10"/>
          <p:cNvSpPr/>
          <p:nvPr/>
        </p:nvSpPr>
        <p:spPr>
          <a:xfrm>
            <a:off x="5344160" y="2489200"/>
            <a:ext cx="152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7.749</a:t>
            </a:r>
          </a:p>
        </p:txBody>
      </p:sp>
      <p:sp>
        <p:nvSpPr>
          <p:cNvPr id="12" name="Rectangle 11"/>
          <p:cNvSpPr/>
          <p:nvPr/>
        </p:nvSpPr>
        <p:spPr>
          <a:xfrm>
            <a:off x="6868159" y="2489200"/>
            <a:ext cx="2032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 Minuten</a:t>
            </a:r>
          </a:p>
        </p:txBody>
      </p:sp>
      <p:sp>
        <p:nvSpPr>
          <p:cNvPr id="13" name="Rectangle 12"/>
          <p:cNvSpPr/>
          <p:nvPr/>
        </p:nvSpPr>
        <p:spPr>
          <a:xfrm>
            <a:off x="8900160" y="2489200"/>
            <a:ext cx="3727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bis 33 Minuten</a:t>
            </a:r>
          </a:p>
        </p:txBody>
      </p:sp>
      <p:sp>
        <p:nvSpPr>
          <p:cNvPr id="14" name="Rectangle 13"/>
          <p:cNvSpPr/>
          <p:nvPr/>
        </p:nvSpPr>
        <p:spPr>
          <a:xfrm>
            <a:off x="1153160" y="30988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echter Weg</a:t>
            </a:r>
          </a:p>
        </p:txBody>
      </p:sp>
      <p:sp>
        <p:nvSpPr>
          <p:cNvPr id="15" name="Rectangle 14"/>
          <p:cNvSpPr/>
          <p:nvPr/>
        </p:nvSpPr>
        <p:spPr>
          <a:xfrm>
            <a:off x="5344160" y="3098800"/>
            <a:ext cx="152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39.305</a:t>
            </a:r>
          </a:p>
        </p:txBody>
      </p:sp>
      <p:sp>
        <p:nvSpPr>
          <p:cNvPr id="16" name="Rectangle 15"/>
          <p:cNvSpPr/>
          <p:nvPr/>
        </p:nvSpPr>
        <p:spPr>
          <a:xfrm>
            <a:off x="6868159" y="3098800"/>
            <a:ext cx="2032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17" name="Rectangle 16"/>
          <p:cNvSpPr/>
          <p:nvPr/>
        </p:nvSpPr>
        <p:spPr>
          <a:xfrm>
            <a:off x="8900160" y="3098800"/>
            <a:ext cx="3727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 bis 16 Minuten</a:t>
            </a:r>
          </a:p>
        </p:txBody>
      </p:sp>
      <p:sp>
        <p:nvSpPr>
          <p:cNvPr id="18" name="Rectangle 17"/>
          <p:cNvSpPr/>
          <p:nvPr/>
        </p:nvSpPr>
        <p:spPr>
          <a:xfrm>
            <a:off x="1153160" y="38862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8862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0132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Bei einer Rundtour trägt das Ziel per Definition nichts zur Dauer bei — es ist ja der Start.</a:t>
            </a:r>
          </a:p>
          <a:p>
            <a:pPr algn="l">
              <a:lnSpc>
                <a:spcPct val="95000"/>
              </a:lnSpc>
              <a:spcBef>
                <a:spcPts val="500"/>
              </a:spcBef>
            </a:pPr>
            <a:r>
              <a:rPr sz="1300" b="0">
                <a:solidFill>
                  <a:srgbClr val="404040"/>
                </a:solidFill>
              </a:rPr>
              <a:t>Und sie streuen doppelt so stark: 22 Minuten Spannweite gegen 9.</a:t>
            </a:r>
          </a:p>
          <a:p>
            <a:pPr algn="l">
              <a:lnSpc>
                <a:spcPct val="95000"/>
              </a:lnSpc>
              <a:spcBef>
                <a:spcPts val="500"/>
              </a:spcBef>
            </a:pPr>
            <a:r>
              <a:rPr sz="1300" b="0">
                <a:solidFill>
                  <a:srgbClr val="404040"/>
                </a:solidFill>
              </a:rPr>
              <a:t>Das ausgelieferte Produkt wird Rundtouren deshalb gar nicht beantworten. Diese Entscheidung fällt hier, nicht in Phase 6.</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Verbindung erklärt — ein erster Blick ohne Modell</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Man kann den Nutzen der Zielinformation schätzen, bevor man ein Verfahren wählt: Wie weit kommt man mit dem bloßen Median?</a:t>
            </a:r>
          </a:p>
        </p:txBody>
      </p:sp>
      <p:sp>
        <p:nvSpPr>
          <p:cNvPr id="6" name="Rectangle 5"/>
          <p:cNvSpPr/>
          <p:nvPr/>
        </p:nvSpPr>
        <p:spPr>
          <a:xfrm>
            <a:off x="1153160" y="1879600"/>
            <a:ext cx="571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man weiß</a:t>
            </a:r>
          </a:p>
        </p:txBody>
      </p:sp>
      <p:sp>
        <p:nvSpPr>
          <p:cNvPr id="7" name="Rectangle 6"/>
          <p:cNvSpPr/>
          <p:nvPr/>
        </p:nvSpPr>
        <p:spPr>
          <a:xfrm>
            <a:off x="6868159" y="1879600"/>
            <a:ext cx="5759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Mittlerer absoluter Fehler</a:t>
            </a:r>
          </a:p>
        </p:txBody>
      </p:sp>
      <p:sp>
        <p:nvSpPr>
          <p:cNvPr id="8" name="Rectangle 7"/>
          <p:cNvSpPr/>
          <p:nvPr/>
        </p:nvSpPr>
        <p:spPr>
          <a:xfrm>
            <a:off x="1153160" y="24638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nichts — der Median aller Fahrten</a:t>
            </a:r>
          </a:p>
        </p:txBody>
      </p:sp>
      <p:sp>
        <p:nvSpPr>
          <p:cNvPr id="9" name="Rectangle 8"/>
          <p:cNvSpPr/>
          <p:nvPr/>
        </p:nvSpPr>
        <p:spPr>
          <a:xfrm>
            <a:off x="6868159" y="24638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8,04 Minuten</a:t>
            </a:r>
          </a:p>
        </p:txBody>
      </p:sp>
      <p:sp>
        <p:nvSpPr>
          <p:cNvPr id="10" name="Rectangle 9"/>
          <p:cNvSpPr/>
          <p:nvPr/>
        </p:nvSpPr>
        <p:spPr>
          <a:xfrm>
            <a:off x="1153160" y="3048000"/>
            <a:ext cx="571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Startstation</a:t>
            </a:r>
          </a:p>
        </p:txBody>
      </p:sp>
      <p:sp>
        <p:nvSpPr>
          <p:cNvPr id="11" name="Rectangle 10"/>
          <p:cNvSpPr/>
          <p:nvPr/>
        </p:nvSpPr>
        <p:spPr>
          <a:xfrm>
            <a:off x="6868159" y="3048000"/>
            <a:ext cx="5759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 Minuten</a:t>
            </a:r>
          </a:p>
        </p:txBody>
      </p:sp>
      <p:sp>
        <p:nvSpPr>
          <p:cNvPr id="12" name="Rectangle 11"/>
          <p:cNvSpPr/>
          <p:nvPr/>
        </p:nvSpPr>
        <p:spPr>
          <a:xfrm>
            <a:off x="1153160" y="36322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UND Ziel — die Verbindung</a:t>
            </a:r>
          </a:p>
        </p:txBody>
      </p:sp>
      <p:sp>
        <p:nvSpPr>
          <p:cNvPr id="13" name="Rectangle 12"/>
          <p:cNvSpPr/>
          <p:nvPr/>
        </p:nvSpPr>
        <p:spPr>
          <a:xfrm>
            <a:off x="6868159" y="36322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5,03 Minuten</a:t>
            </a:r>
          </a:p>
        </p:txBody>
      </p:sp>
      <p:sp>
        <p:nvSpPr>
          <p:cNvPr id="14" name="Rectangle 13"/>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große Sprung kommt von der Startstation, nicht vom Ziel. Diese Zahl steht in Phase 2 — und sie wird in Phase 4 mit einem Modell noch einmal überprüft.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 nicht welche Spalte, sondern wann sie entsteht</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Rectangle 5"/>
          <p:cNvSpPr/>
          <p:nvPr/>
        </p:nvSpPr>
        <p:spPr>
          <a:xfrm>
            <a:off x="1051560" y="1952122"/>
            <a:ext cx="11677650" cy="381735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leakage.png"/>
          <p:cNvPicPr>
            <a:picLocks noChangeAspect="1"/>
          </p:cNvPicPr>
          <p:nvPr/>
        </p:nvPicPr>
        <p:blipFill>
          <a:blip r:embed="rId2"/>
          <a:stretch>
            <a:fillRect/>
          </a:stretch>
        </p:blipFill>
        <p:spPr>
          <a:xfrm>
            <a:off x="1153160" y="2053722"/>
            <a:ext cx="11474450" cy="3614155"/>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Gesperrt und erlaubt, jeweils mit Begründung</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Rectangle 4"/>
          <p:cNvSpPr/>
          <p:nvPr/>
        </p:nvSpPr>
        <p:spPr>
          <a:xfrm>
            <a:off x="1051560" y="1179506"/>
            <a:ext cx="11677650" cy="416878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gesperrt.png"/>
          <p:cNvPicPr>
            <a:picLocks noChangeAspect="1"/>
          </p:cNvPicPr>
          <p:nvPr/>
        </p:nvPicPr>
        <p:blipFill>
          <a:blip r:embed="rId2"/>
          <a:stretch>
            <a:fillRect/>
          </a:stretch>
        </p:blipFill>
        <p:spPr>
          <a:xfrm>
            <a:off x="1153160" y="1281106"/>
            <a:ext cx="11474450" cy="3965586"/>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Fünf Spalten sind gesperrt, weil sie zum Anfragezeitpunkt nicht existieren. Eine ist erlaubt, obwohl sie nach „Ende“ klingt.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vier Abschnitte entlang der Zeit, nicht zwei</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Rücksprung ist eine neue Runde — und eine neue Runde braucht einen Zeitraum, den die alte nicht schon aufgebraucht hat.</a:t>
            </a:r>
          </a:p>
        </p:txBody>
      </p:sp>
      <p:sp>
        <p:nvSpPr>
          <p:cNvPr id="6" name="Rectangle 5"/>
          <p:cNvSpPr/>
          <p:nvPr/>
        </p:nvSpPr>
        <p:spPr>
          <a:xfrm>
            <a:off x="1153160" y="1879600"/>
            <a:ext cx="190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Abschnitt</a:t>
            </a:r>
          </a:p>
        </p:txBody>
      </p:sp>
      <p:sp>
        <p:nvSpPr>
          <p:cNvPr id="7" name="Rectangle 6"/>
          <p:cNvSpPr/>
          <p:nvPr/>
        </p:nvSpPr>
        <p:spPr>
          <a:xfrm>
            <a:off x="3058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4455160" y="1879600"/>
            <a:ext cx="304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Zeitraum</a:t>
            </a:r>
          </a:p>
        </p:txBody>
      </p:sp>
      <p:sp>
        <p:nvSpPr>
          <p:cNvPr id="9" name="Rectangle 8"/>
          <p:cNvSpPr/>
          <p:nvPr/>
        </p:nvSpPr>
        <p:spPr>
          <a:xfrm>
            <a:off x="7503159" y="1879600"/>
            <a:ext cx="5124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Wofür</a:t>
            </a:r>
          </a:p>
        </p:txBody>
      </p:sp>
      <p:sp>
        <p:nvSpPr>
          <p:cNvPr id="10" name="Rectangle 9"/>
          <p:cNvSpPr/>
          <p:nvPr/>
        </p:nvSpPr>
        <p:spPr>
          <a:xfrm>
            <a:off x="1153160" y="24130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Training</a:t>
            </a:r>
          </a:p>
        </p:txBody>
      </p:sp>
      <p:sp>
        <p:nvSpPr>
          <p:cNvPr id="11" name="Rectangle 10"/>
          <p:cNvSpPr/>
          <p:nvPr/>
        </p:nvSpPr>
        <p:spPr>
          <a:xfrm>
            <a:off x="3058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28.232</a:t>
            </a:r>
          </a:p>
        </p:txBody>
      </p:sp>
      <p:sp>
        <p:nvSpPr>
          <p:cNvPr id="12" name="Rectangle 11"/>
          <p:cNvSpPr/>
          <p:nvPr/>
        </p:nvSpPr>
        <p:spPr>
          <a:xfrm>
            <a:off x="4455160" y="24130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09/2023 bis 07/2025</a:t>
            </a:r>
          </a:p>
        </p:txBody>
      </p:sp>
      <p:sp>
        <p:nvSpPr>
          <p:cNvPr id="13" name="Rectangle 12"/>
          <p:cNvSpPr/>
          <p:nvPr/>
        </p:nvSpPr>
        <p:spPr>
          <a:xfrm>
            <a:off x="7503159" y="24130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lernt</a:t>
            </a:r>
          </a:p>
        </p:txBody>
      </p:sp>
      <p:sp>
        <p:nvSpPr>
          <p:cNvPr id="14" name="Rectangle 13"/>
          <p:cNvSpPr/>
          <p:nvPr/>
        </p:nvSpPr>
        <p:spPr>
          <a:xfrm>
            <a:off x="1153160" y="29464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Validierung</a:t>
            </a:r>
          </a:p>
        </p:txBody>
      </p:sp>
      <p:sp>
        <p:nvSpPr>
          <p:cNvPr id="15" name="Rectangle 14"/>
          <p:cNvSpPr/>
          <p:nvPr/>
        </p:nvSpPr>
        <p:spPr>
          <a:xfrm>
            <a:off x="3058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7.058</a:t>
            </a:r>
          </a:p>
        </p:txBody>
      </p:sp>
      <p:sp>
        <p:nvSpPr>
          <p:cNvPr id="16" name="Rectangle 15"/>
          <p:cNvSpPr/>
          <p:nvPr/>
        </p:nvSpPr>
        <p:spPr>
          <a:xfrm>
            <a:off x="4455160" y="29464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07/2025 bis 12/2025</a:t>
            </a:r>
          </a:p>
        </p:txBody>
      </p:sp>
      <p:sp>
        <p:nvSpPr>
          <p:cNvPr id="17" name="Rectangle 16"/>
          <p:cNvSpPr/>
          <p:nvPr/>
        </p:nvSpPr>
        <p:spPr>
          <a:xfrm>
            <a:off x="7503159" y="29464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Modellwahl</a:t>
            </a:r>
          </a:p>
        </p:txBody>
      </p:sp>
      <p:sp>
        <p:nvSpPr>
          <p:cNvPr id="18" name="Rectangle 17"/>
          <p:cNvSpPr/>
          <p:nvPr/>
        </p:nvSpPr>
        <p:spPr>
          <a:xfrm>
            <a:off x="1153160" y="34798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1</a:t>
            </a:r>
          </a:p>
        </p:txBody>
      </p:sp>
      <p:sp>
        <p:nvSpPr>
          <p:cNvPr id="19" name="Rectangle 18"/>
          <p:cNvSpPr/>
          <p:nvPr/>
        </p:nvSpPr>
        <p:spPr>
          <a:xfrm>
            <a:off x="3058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0" name="Rectangle 19"/>
          <p:cNvSpPr/>
          <p:nvPr/>
        </p:nvSpPr>
        <p:spPr>
          <a:xfrm>
            <a:off x="4455160" y="34798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12/2025 bis 06/2026</a:t>
            </a:r>
          </a:p>
        </p:txBody>
      </p:sp>
      <p:sp>
        <p:nvSpPr>
          <p:cNvPr id="21" name="Rectangle 20"/>
          <p:cNvSpPr/>
          <p:nvPr/>
        </p:nvSpPr>
        <p:spPr>
          <a:xfrm>
            <a:off x="7503159" y="34798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Punktschätzung</a:t>
            </a:r>
          </a:p>
        </p:txBody>
      </p:sp>
      <p:sp>
        <p:nvSpPr>
          <p:cNvPr id="22" name="Rectangle 21"/>
          <p:cNvSpPr/>
          <p:nvPr/>
        </p:nvSpPr>
        <p:spPr>
          <a:xfrm>
            <a:off x="1153160" y="40132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2</a:t>
            </a:r>
          </a:p>
        </p:txBody>
      </p:sp>
      <p:sp>
        <p:nvSpPr>
          <p:cNvPr id="23" name="Rectangle 22"/>
          <p:cNvSpPr/>
          <p:nvPr/>
        </p:nvSpPr>
        <p:spPr>
          <a:xfrm>
            <a:off x="3058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4" name="Rectangle 23"/>
          <p:cNvSpPr/>
          <p:nvPr/>
        </p:nvSpPr>
        <p:spPr>
          <a:xfrm>
            <a:off x="4455160" y="40132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06/2026 bis 08/2026</a:t>
            </a:r>
          </a:p>
        </p:txBody>
      </p:sp>
      <p:sp>
        <p:nvSpPr>
          <p:cNvPr id="25" name="Rectangle 24"/>
          <p:cNvSpPr/>
          <p:nvPr/>
        </p:nvSpPr>
        <p:spPr>
          <a:xfrm>
            <a:off x="7503159" y="40132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Spanne nach dem Rücksprung</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Test 1 ist Winter und Frühjahr, Test 2 ist Sommer. Das ist kein Zufall der Aufteilung, sondern eine Eigenschaft der Daten — und es wird uns in Phase 5 beschäftigen.</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Aufteilung — samt zweier unbequemer Hinweise</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3.3</a:t>
            </a:r>
          </a:p>
        </p:txBody>
      </p:sp>
      <p:sp>
        <p:nvSpPr>
          <p:cNvPr id="5" name="Rectangle 4"/>
          <p:cNvSpPr/>
          <p:nvPr/>
        </p:nvSpPr>
        <p:spPr>
          <a:xfrm>
            <a:off x="2666780" y="1168400"/>
            <a:ext cx="844720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bschnitte.png"/>
          <p:cNvPicPr>
            <a:picLocks noChangeAspect="1"/>
          </p:cNvPicPr>
          <p:nvPr/>
        </p:nvPicPr>
        <p:blipFill>
          <a:blip r:embed="rId2"/>
          <a:stretch>
            <a:fillRect/>
          </a:stretch>
        </p:blipFill>
        <p:spPr>
          <a:xfrm>
            <a:off x="2768380" y="1270000"/>
            <a:ext cx="824400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sagt selbst, wo seine Aufteilung nicht sauber ist: Die Erkundung in Phase 2 lief über den gesamten Datensatz.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Baselines, bevor ein Modell gerechnet wird</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Maßstab ist jede Zahl gut. Diese vier Zeilen kosten zusammen zehn Minuten und entscheiden, was später als Erfolg gelten darf.</a:t>
            </a:r>
          </a:p>
        </p:txBody>
      </p:sp>
      <p:sp>
        <p:nvSpPr>
          <p:cNvPr id="6" name="Rectangle 5"/>
          <p:cNvSpPr/>
          <p:nvPr/>
        </p:nvSpPr>
        <p:spPr>
          <a:xfrm>
            <a:off x="1153160" y="1879600"/>
            <a:ext cx="3683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Baseline</a:t>
            </a:r>
          </a:p>
        </p:txBody>
      </p:sp>
      <p:sp>
        <p:nvSpPr>
          <p:cNvPr id="7" name="Rectangle 6"/>
          <p:cNvSpPr/>
          <p:nvPr/>
        </p:nvSpPr>
        <p:spPr>
          <a:xfrm>
            <a:off x="4836160" y="1879600"/>
            <a:ext cx="2032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8" name="Rectangle 7"/>
          <p:cNvSpPr/>
          <p:nvPr/>
        </p:nvSpPr>
        <p:spPr>
          <a:xfrm>
            <a:off x="6868159" y="1879600"/>
            <a:ext cx="575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beweist</a:t>
            </a:r>
          </a:p>
        </p:txBody>
      </p:sp>
      <p:sp>
        <p:nvSpPr>
          <p:cNvPr id="9" name="Rectangle 8"/>
          <p:cNvSpPr/>
          <p:nvPr/>
        </p:nvSpPr>
        <p:spPr>
          <a:xfrm>
            <a:off x="1153160" y="24130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  Median aller Fahrten</a:t>
            </a:r>
          </a:p>
        </p:txBody>
      </p:sp>
      <p:sp>
        <p:nvSpPr>
          <p:cNvPr id="10" name="Rectangle 9"/>
          <p:cNvSpPr/>
          <p:nvPr/>
        </p:nvSpPr>
        <p:spPr>
          <a:xfrm>
            <a:off x="4836160" y="24130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a:t>
            </a:r>
          </a:p>
        </p:txBody>
      </p:sp>
      <p:sp>
        <p:nvSpPr>
          <p:cNvPr id="11" name="Rectangle 10"/>
          <p:cNvSpPr/>
          <p:nvPr/>
        </p:nvSpPr>
        <p:spPr>
          <a:xfrm>
            <a:off x="6868159" y="24130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Untergrenze des Nichtwissens</a:t>
            </a:r>
          </a:p>
        </p:txBody>
      </p:sp>
      <p:sp>
        <p:nvSpPr>
          <p:cNvPr id="12" name="Rectangle 11"/>
          <p:cNvSpPr/>
          <p:nvPr/>
        </p:nvSpPr>
        <p:spPr>
          <a:xfrm>
            <a:off x="1153160" y="29464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Median je Radtyp</a:t>
            </a:r>
          </a:p>
        </p:txBody>
      </p:sp>
      <p:sp>
        <p:nvSpPr>
          <p:cNvPr id="13" name="Rectangle 12"/>
          <p:cNvSpPr/>
          <p:nvPr/>
        </p:nvSpPr>
        <p:spPr>
          <a:xfrm>
            <a:off x="4836160" y="29464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8,01</a:t>
            </a:r>
          </a:p>
        </p:txBody>
      </p:sp>
      <p:sp>
        <p:nvSpPr>
          <p:cNvPr id="14" name="Rectangle 13"/>
          <p:cNvSpPr/>
          <p:nvPr/>
        </p:nvSpPr>
        <p:spPr>
          <a:xfrm>
            <a:off x="6868159" y="29464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Radtyp allein bringt fast nichts</a:t>
            </a:r>
          </a:p>
        </p:txBody>
      </p:sp>
      <p:sp>
        <p:nvSpPr>
          <p:cNvPr id="15" name="Rectangle 14"/>
          <p:cNvSpPr/>
          <p:nvPr/>
        </p:nvSpPr>
        <p:spPr>
          <a:xfrm>
            <a:off x="1153160" y="34798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  Median je Startstation</a:t>
            </a:r>
          </a:p>
        </p:txBody>
      </p:sp>
      <p:sp>
        <p:nvSpPr>
          <p:cNvPr id="16" name="Rectangle 15"/>
          <p:cNvSpPr/>
          <p:nvPr/>
        </p:nvSpPr>
        <p:spPr>
          <a:xfrm>
            <a:off x="4836160" y="34798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a:t>
            </a:r>
          </a:p>
        </p:txBody>
      </p:sp>
      <p:sp>
        <p:nvSpPr>
          <p:cNvPr id="17" name="Rectangle 16"/>
          <p:cNvSpPr/>
          <p:nvPr/>
        </p:nvSpPr>
        <p:spPr>
          <a:xfrm>
            <a:off x="6868159" y="34798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große Sprung — 2,81 Minuten</a:t>
            </a:r>
          </a:p>
        </p:txBody>
      </p:sp>
      <p:sp>
        <p:nvSpPr>
          <p:cNvPr id="18" name="Rectangle 17"/>
          <p:cNvSpPr/>
          <p:nvPr/>
        </p:nvSpPr>
        <p:spPr>
          <a:xfrm>
            <a:off x="1153160" y="40132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  Median je Verbindung</a:t>
            </a:r>
          </a:p>
        </p:txBody>
      </p:sp>
      <p:sp>
        <p:nvSpPr>
          <p:cNvPr id="19" name="Rectangle 18"/>
          <p:cNvSpPr/>
          <p:nvPr/>
        </p:nvSpPr>
        <p:spPr>
          <a:xfrm>
            <a:off x="4836160" y="40132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5,02</a:t>
            </a:r>
          </a:p>
        </p:txBody>
      </p:sp>
      <p:sp>
        <p:nvSpPr>
          <p:cNvPr id="20" name="Rectangle 19"/>
          <p:cNvSpPr/>
          <p:nvPr/>
        </p:nvSpPr>
        <p:spPr>
          <a:xfrm>
            <a:off x="6868159" y="40132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Ziel bringt 0,27 Minuten dazu</a:t>
            </a:r>
          </a:p>
        </p:txBody>
      </p:sp>
      <p:sp>
        <p:nvSpPr>
          <p:cNvPr id="21" name="Rectangle 20"/>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Baseline D ist der eigentliche Gegner: Sie ist eine Nachschlagetabelle aus Medianen und kostet keine Zeile Modellcode. Alles, was ein Verfahren später beiträgt, muss über diesen 5,02 Minuten liegen.</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vier Baselines, wie sie im Notebook stehen</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analytics/notebooks/01_Regression_Fahrtdauer.ipynb · Abschnitt 4.1</a:t>
            </a:r>
          </a:p>
        </p:txBody>
      </p:sp>
      <p:sp>
        <p:nvSpPr>
          <p:cNvPr id="5" name="Rectangle 4"/>
          <p:cNvSpPr/>
          <p:nvPr/>
        </p:nvSpPr>
        <p:spPr>
          <a:xfrm>
            <a:off x="1051560" y="1403895"/>
            <a:ext cx="11677650" cy="372000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baselines.png"/>
          <p:cNvPicPr>
            <a:picLocks noChangeAspect="1"/>
          </p:cNvPicPr>
          <p:nvPr/>
        </p:nvPicPr>
        <p:blipFill>
          <a:blip r:embed="rId2"/>
          <a:stretch>
            <a:fillRect/>
          </a:stretch>
        </p:blipFill>
        <p:spPr>
          <a:xfrm>
            <a:off x="1153160" y="1505495"/>
            <a:ext cx="11474450" cy="3516808"/>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2,81 Minuten kommen von der Startstation, 0,27 vom Ziel. Diese beiden Zahlen tragen die ganze Diskussion um den Prozessumbau.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Pipeline, damit im Betrieb nichts auseinanderfällt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Kodierung und Modell gehören in ein Objekt. Getrennt gespeichert überleben sie den ersten Betriebsmonat nicht.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311400"/>
          </a:xfrm>
          <a:prstGeom prst="rect">
            <a:avLst/>
          </a:prstGeom>
          <a:noFill/>
        </p:spPr>
        <p:txBody>
          <a:bodyPr wrap="square" lIns="0" tIns="0" rIns="0" bIns="0">
            <a:spAutoFit/>
          </a:bodyPr>
          <a:lstStyle/>
          <a:p>
            <a:pPr algn="l">
              <a:lnSpc>
                <a:spcPct val="95000"/>
              </a:lnSpc>
            </a:pPr>
            <a:r>
              <a:rPr sz="1400" b="1">
                <a:solidFill>
                  <a:srgbClr val="003E6E"/>
                </a:solidFill>
              </a:rPr>
              <a:t>Was zusammengehört</a:t>
            </a:r>
          </a:p>
          <a:p>
            <a:pPr algn="l">
              <a:lnSpc>
                <a:spcPct val="95000"/>
              </a:lnSpc>
              <a:spcBef>
                <a:spcPts val="200"/>
              </a:spcBef>
            </a:pPr>
            <a:r>
              <a:rPr sz="1300" b="0">
                <a:solidFill>
                  <a:srgbClr val="404040"/>
                </a:solidFill>
                <a:latin typeface="Consolas"/>
              </a:rPr>
              <a:t>ColumnTransformer</a:t>
            </a:r>
          </a:p>
          <a:p>
            <a:pPr algn="l">
              <a:lnSpc>
                <a:spcPct val="95000"/>
              </a:lnSpc>
              <a:spcBef>
                <a:spcPts val="200"/>
              </a:spcBef>
            </a:pPr>
            <a:r>
              <a:rPr sz="1300" b="0">
                <a:solidFill>
                  <a:srgbClr val="404040"/>
                </a:solidFill>
                <a:latin typeface="Consolas"/>
              </a:rPr>
              <a:t>  OneHotEncoder(</a:t>
            </a:r>
          </a:p>
          <a:p>
            <a:pPr algn="l">
              <a:lnSpc>
                <a:spcPct val="95000"/>
              </a:lnSpc>
              <a:spcBef>
                <a:spcPts val="200"/>
              </a:spcBef>
            </a:pPr>
            <a:r>
              <a:rPr sz="1300" b="0">
                <a:solidFill>
                  <a:srgbClr val="404040"/>
                </a:solidFill>
                <a:latin typeface="Consolas"/>
              </a:rPr>
              <a:t>    handle_unknown='ignore')</a:t>
            </a:r>
          </a:p>
          <a:p>
            <a:pPr algn="l">
              <a:lnSpc>
                <a:spcPct val="95000"/>
              </a:lnSpc>
              <a:spcBef>
                <a:spcPts val="200"/>
              </a:spcBef>
            </a:pPr>
            <a:r>
              <a:rPr sz="1300" b="0">
                <a:solidFill>
                  <a:srgbClr val="404040"/>
                </a:solidFill>
                <a:latin typeface="Consolas"/>
              </a:rPr>
              <a:t>  numerische Spalten</a:t>
            </a:r>
          </a:p>
          <a:p>
            <a:pPr algn="l">
              <a:lnSpc>
                <a:spcPct val="95000"/>
              </a:lnSpc>
              <a:spcBef>
                <a:spcPts val="200"/>
              </a:spcBef>
            </a:pPr>
            <a:r>
              <a:rPr sz="1300" b="0">
                <a:solidFill>
                  <a:srgbClr val="404040"/>
                </a:solidFill>
                <a:latin typeface="Consolas"/>
              </a:rPr>
              <a:t>+ RandomForestRegressor</a:t>
            </a:r>
          </a:p>
          <a:p>
            <a:pPr algn="l">
              <a:lnSpc>
                <a:spcPct val="95000"/>
              </a:lnSpc>
              <a:spcBef>
                <a:spcPts val="200"/>
              </a:spcBef>
            </a:pPr>
            <a:r>
              <a:rPr sz="1300" b="0">
                <a:solidFill>
                  <a:srgbClr val="404040"/>
                </a:solidFill>
                <a:latin typeface="Consolas"/>
              </a:rPr>
              <a:t>= eine Pipeline</a:t>
            </a:r>
          </a:p>
        </p:txBody>
      </p:sp>
      <p:sp>
        <p:nvSpPr>
          <p:cNvPr id="9" name="Rectangle 8"/>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540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311400"/>
          </a:xfrm>
          <a:prstGeom prst="rect">
            <a:avLst/>
          </a:prstGeom>
          <a:noFill/>
        </p:spPr>
        <p:txBody>
          <a:bodyPr wrap="square" lIns="0" tIns="0" rIns="0" bIns="0">
            <a:spAutoFit/>
          </a:bodyPr>
          <a:lstStyle/>
          <a:p>
            <a:pPr algn="l">
              <a:lnSpc>
                <a:spcPct val="95000"/>
              </a:lnSpc>
            </a:pPr>
            <a:r>
              <a:rPr sz="1400" b="1">
                <a:solidFill>
                  <a:srgbClr val="4AB5C4"/>
                </a:solidFill>
              </a:rPr>
              <a:t>Warum zusammen</a:t>
            </a:r>
          </a:p>
          <a:p>
            <a:pPr algn="l">
              <a:lnSpc>
                <a:spcPct val="95000"/>
              </a:lnSpc>
              <a:spcBef>
                <a:spcPts val="200"/>
              </a:spcBef>
            </a:pPr>
            <a:r>
              <a:rPr sz="1300" b="0">
                <a:solidFill>
                  <a:srgbClr val="404040"/>
                </a:solidFill>
                <a:latin typeface="Consolas"/>
              </a:rPr>
              <a:t>Die Spaltenreihenfolge steckt</a:t>
            </a:r>
          </a:p>
          <a:p>
            <a:pPr algn="l">
              <a:lnSpc>
                <a:spcPct val="95000"/>
              </a:lnSpc>
              <a:spcBef>
                <a:spcPts val="200"/>
              </a:spcBef>
            </a:pPr>
            <a:r>
              <a:rPr sz="1300" b="0">
                <a:solidFill>
                  <a:srgbClr val="404040"/>
                </a:solidFill>
                <a:latin typeface="Consolas"/>
              </a:rPr>
              <a:t>im selben Objekt wie das</a:t>
            </a:r>
          </a:p>
          <a:p>
            <a:pPr algn="l">
              <a:lnSpc>
                <a:spcPct val="95000"/>
              </a:lnSpc>
              <a:spcBef>
                <a:spcPts val="200"/>
              </a:spcBef>
            </a:pPr>
            <a:r>
              <a:rPr sz="1300" b="0">
                <a:solidFill>
                  <a:srgbClr val="404040"/>
                </a:solidFill>
                <a:latin typeface="Consolas"/>
              </a:rPr>
              <a:t>Modell — sie kann nicht mehr</a:t>
            </a:r>
          </a:p>
          <a:p>
            <a:pPr algn="l">
              <a:lnSpc>
                <a:spcPct val="95000"/>
              </a:lnSpc>
              <a:spcBef>
                <a:spcPts val="200"/>
              </a:spcBef>
            </a:pPr>
            <a:r>
              <a:rPr sz="1300" b="0">
                <a:solidFill>
                  <a:srgbClr val="404040"/>
                </a:solidFill>
                <a:latin typeface="Consolas"/>
              </a:rPr>
              <a:t>verrutschen.</a:t>
            </a:r>
          </a:p>
          <a:p>
            <a:pPr algn="l">
              <a:lnSpc>
                <a:spcPct val="95000"/>
              </a:lnSpc>
              <a:spcBef>
                <a:spcPts val="200"/>
              </a:spcBef>
            </a:pPr>
            <a:r>
              <a:rPr sz="1300" b="0">
                <a:solidFill>
                  <a:srgbClr val="404040"/>
                </a:solidFill>
                <a:latin typeface="Consolas"/>
              </a:rPr>
              <a:t>handle_unknown: eine neue</a:t>
            </a:r>
          </a:p>
          <a:p>
            <a:pPr algn="l">
              <a:lnSpc>
                <a:spcPct val="95000"/>
              </a:lnSpc>
              <a:spcBef>
                <a:spcPts val="200"/>
              </a:spcBef>
            </a:pPr>
            <a:r>
              <a:rPr sz="1300" b="0">
                <a:solidFill>
                  <a:srgbClr val="404040"/>
                </a:solidFill>
                <a:latin typeface="Consolas"/>
              </a:rPr>
              <a:t>Station wirft keinen Fehler.</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Modelle, gewählt wird auf der Validierung</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auf dem Test. Der Unterschied trennt eine Modellwahl von einer nachträglichen Begründung.</a:t>
            </a:r>
          </a:p>
        </p:txBody>
      </p:sp>
      <p:sp>
        <p:nvSpPr>
          <p:cNvPr id="6" name="Rectangle 5"/>
          <p:cNvSpPr/>
          <p:nvPr/>
        </p:nvSpPr>
        <p:spPr>
          <a:xfrm>
            <a:off x="1153160" y="1651000"/>
            <a:ext cx="444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5598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auf der Validierung</a:t>
            </a:r>
          </a:p>
        </p:txBody>
      </p:sp>
      <p:sp>
        <p:nvSpPr>
          <p:cNvPr id="8" name="Rectangle 7"/>
          <p:cNvSpPr/>
          <p:nvPr/>
        </p:nvSpPr>
        <p:spPr>
          <a:xfrm>
            <a:off x="8519160" y="1651000"/>
            <a:ext cx="410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beisteuert</a:t>
            </a:r>
          </a:p>
        </p:txBody>
      </p:sp>
      <p:sp>
        <p:nvSpPr>
          <p:cNvPr id="9" name="Rectangle 8"/>
          <p:cNvSpPr/>
          <p:nvPr/>
        </p:nvSpPr>
        <p:spPr>
          <a:xfrm>
            <a:off x="1153160" y="2159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(Median)</a:t>
            </a:r>
          </a:p>
        </p:txBody>
      </p:sp>
      <p:sp>
        <p:nvSpPr>
          <p:cNvPr id="10" name="Rectangle 9"/>
          <p:cNvSpPr/>
          <p:nvPr/>
        </p:nvSpPr>
        <p:spPr>
          <a:xfrm>
            <a:off x="5598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 Minuten</a:t>
            </a:r>
          </a:p>
        </p:txBody>
      </p:sp>
      <p:sp>
        <p:nvSpPr>
          <p:cNvPr id="11" name="Rectangle 10"/>
          <p:cNvSpPr/>
          <p:nvPr/>
        </p:nvSpPr>
        <p:spPr>
          <a:xfrm>
            <a:off x="8519160" y="2159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Median, ohne jedes Merkmal</a:t>
            </a:r>
          </a:p>
        </p:txBody>
      </p:sp>
      <p:sp>
        <p:nvSpPr>
          <p:cNvPr id="12" name="Rectangle 11"/>
          <p:cNvSpPr/>
          <p:nvPr/>
        </p:nvSpPr>
        <p:spPr>
          <a:xfrm>
            <a:off x="1153160" y="2667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3" name="Rectangle 12"/>
          <p:cNvSpPr/>
          <p:nvPr/>
        </p:nvSpPr>
        <p:spPr>
          <a:xfrm>
            <a:off x="5598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4,61 Minuten</a:t>
            </a:r>
          </a:p>
        </p:txBody>
      </p:sp>
      <p:sp>
        <p:nvSpPr>
          <p:cNvPr id="14" name="Rectangle 13"/>
          <p:cNvSpPr/>
          <p:nvPr/>
        </p:nvSpPr>
        <p:spPr>
          <a:xfrm>
            <a:off x="8519160" y="2667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schon besser als Baseline D</a:t>
            </a:r>
          </a:p>
        </p:txBody>
      </p:sp>
      <p:sp>
        <p:nvSpPr>
          <p:cNvPr id="15" name="Rectangle 14"/>
          <p:cNvSpPr/>
          <p:nvPr/>
        </p:nvSpPr>
        <p:spPr>
          <a:xfrm>
            <a:off x="1153160" y="3175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10)</a:t>
            </a:r>
          </a:p>
        </p:txBody>
      </p:sp>
      <p:sp>
        <p:nvSpPr>
          <p:cNvPr id="16" name="Rectangle 15"/>
          <p:cNvSpPr/>
          <p:nvPr/>
        </p:nvSpPr>
        <p:spPr>
          <a:xfrm>
            <a:off x="5598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4,23 Minuten</a:t>
            </a:r>
          </a:p>
        </p:txBody>
      </p:sp>
      <p:sp>
        <p:nvSpPr>
          <p:cNvPr id="17" name="Rectangle 16"/>
          <p:cNvSpPr/>
          <p:nvPr/>
        </p:nvSpPr>
        <p:spPr>
          <a:xfrm>
            <a:off x="8519160" y="3175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18" name="Rectangle 17"/>
          <p:cNvSpPr/>
          <p:nvPr/>
        </p:nvSpPr>
        <p:spPr>
          <a:xfrm>
            <a:off x="1153160" y="3683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 — gewählt</a:t>
            </a:r>
          </a:p>
        </p:txBody>
      </p:sp>
      <p:sp>
        <p:nvSpPr>
          <p:cNvPr id="19" name="Rectangle 18"/>
          <p:cNvSpPr/>
          <p:nvPr/>
        </p:nvSpPr>
        <p:spPr>
          <a:xfrm>
            <a:off x="5598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3,96 Minuten</a:t>
            </a:r>
          </a:p>
        </p:txBody>
      </p:sp>
      <p:sp>
        <p:nvSpPr>
          <p:cNvPr id="20" name="Rectangle 19"/>
          <p:cNvSpPr/>
          <p:nvPr/>
        </p:nvSpPr>
        <p:spPr>
          <a:xfrm>
            <a:off x="8519160" y="3683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21 % besser als Baseline D</a:t>
            </a:r>
          </a:p>
        </p:txBody>
      </p:sp>
      <p:sp>
        <p:nvSpPr>
          <p:cNvPr id="21" name="Rectangle 20"/>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21 Prozent gegenüber einer Nachschlagetabelle aus Medianen: ein realer Gewinn, aber kein spektakulärer. Ob er den Betrieb eines Modells rechtfertigt, entscheidet Phase 6.</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Bringt das Ziel wirklich etwas? Eine Ablation</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ganze Projekt ruht auf der Annahme, dass die Zielwahl hilft. Also wird sie geprüft — indem man sie wegnimmt.</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Ohne Zielmerkmale</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Nur Start, Zeit, Radtyp</a:t>
            </a:r>
          </a:p>
          <a:p>
            <a:pPr algn="l">
              <a:lnSpc>
                <a:spcPct val="95000"/>
              </a:lnSpc>
              <a:spcBef>
                <a:spcPts val="300"/>
              </a:spcBef>
            </a:pPr>
            <a:r>
              <a:rPr sz="1300" b="0">
                <a:solidFill>
                  <a:srgbClr val="404040"/>
                </a:solidFill>
              </a:rPr>
              <a:t>MAE  4,35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Modell weiß nicht, wohin</a:t>
            </a:r>
          </a:p>
          <a:p>
            <a:pPr algn="l">
              <a:lnSpc>
                <a:spcPct val="95000"/>
              </a:lnSpc>
              <a:spcBef>
                <a:spcPts val="300"/>
              </a:spcBef>
            </a:pPr>
            <a:r>
              <a:rPr sz="1300" b="0">
                <a:solidFill>
                  <a:srgbClr val="404040"/>
                </a:solidFill>
              </a:rPr>
              <a:t>die Fahrt geht — und ist</a:t>
            </a:r>
          </a:p>
          <a:p>
            <a:pPr algn="l">
              <a:lnSpc>
                <a:spcPct val="95000"/>
              </a:lnSpc>
              <a:spcBef>
                <a:spcPts val="300"/>
              </a:spcBef>
            </a:pPr>
            <a:r>
              <a:rPr sz="1300" b="0">
                <a:solidFill>
                  <a:srgbClr val="404040"/>
                </a:solidFill>
              </a:rPr>
              <a:t>trotzdem deutlich besser als</a:t>
            </a:r>
          </a:p>
          <a:p>
            <a:pPr algn="l">
              <a:lnSpc>
                <a:spcPct val="95000"/>
              </a:lnSpc>
              <a:spcBef>
                <a:spcPts val="300"/>
              </a:spcBef>
            </a:pPr>
            <a:r>
              <a:rPr sz="1300" b="0">
                <a:solidFill>
                  <a:srgbClr val="404040"/>
                </a:solidFill>
              </a:rPr>
              <a:t>jede Baseline.</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Mit Zielmerkmalen</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Ziel und Luftlinie dazu</a:t>
            </a:r>
          </a:p>
          <a:p>
            <a:pPr algn="l">
              <a:lnSpc>
                <a:spcPct val="95000"/>
              </a:lnSpc>
              <a:spcBef>
                <a:spcPts val="300"/>
              </a:spcBef>
            </a:pPr>
            <a:r>
              <a:rPr sz="1300" b="0">
                <a:solidFill>
                  <a:srgbClr val="404040"/>
                </a:solidFill>
              </a:rPr>
              <a:t>MAE  3,96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Beitrag des Ziels:</a:t>
            </a:r>
          </a:p>
          <a:p>
            <a:pPr algn="l">
              <a:lnSpc>
                <a:spcPct val="95000"/>
              </a:lnSpc>
              <a:spcBef>
                <a:spcPts val="300"/>
              </a:spcBef>
            </a:pPr>
            <a:r>
              <a:rPr sz="1300" b="0">
                <a:solidFill>
                  <a:srgbClr val="404040"/>
                </a:solidFill>
              </a:rPr>
              <a:t>0,39 Minuten — neun Prozent.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Real, aber bescheiden.</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gehört in den Bericht, nicht in eine Fußnote: Die neue Geschäftslogik ist richtig, ihr messbarer Zusatznutzen in diesem Datensatz ist klein.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Minuten zu Euro — mit der vollen Tariflogik</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3,93 Minuten auf Test 1. Diese Zahl beantwortet die Frage aus Phase 1 nicht. Erst die Umrechnung in Euro tut das.</a:t>
            </a:r>
          </a:p>
        </p:txBody>
      </p:sp>
      <p:sp>
        <p:nvSpPr>
          <p:cNvPr id="6" name="Rectangle 5"/>
          <p:cNvSpPr/>
          <p:nvPr/>
        </p:nvSpPr>
        <p:spPr>
          <a:xfrm>
            <a:off x="1153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550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3947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 kostet</a:t>
            </a:r>
          </a:p>
        </p:txBody>
      </p:sp>
      <p:sp>
        <p:nvSpPr>
          <p:cNvPr id="9" name="Rectangle 8"/>
          <p:cNvSpPr/>
          <p:nvPr/>
        </p:nvSpPr>
        <p:spPr>
          <a:xfrm>
            <a:off x="5979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Abweichung</a:t>
            </a:r>
          </a:p>
        </p:txBody>
      </p:sp>
      <p:sp>
        <p:nvSpPr>
          <p:cNvPr id="10" name="Rectangle 9"/>
          <p:cNvSpPr/>
          <p:nvPr/>
        </p:nvSpPr>
        <p:spPr>
          <a:xfrm>
            <a:off x="8011159"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0,50 €</a:t>
            </a:r>
          </a:p>
        </p:txBody>
      </p:sp>
      <p:sp>
        <p:nvSpPr>
          <p:cNvPr id="11" name="Rectangle 10"/>
          <p:cNvSpPr/>
          <p:nvPr/>
        </p:nvSpPr>
        <p:spPr>
          <a:xfrm>
            <a:off x="10043160" y="1651000"/>
            <a:ext cx="2584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12" name="Rectangle 11"/>
          <p:cNvSpPr/>
          <p:nvPr/>
        </p:nvSpPr>
        <p:spPr>
          <a:xfrm>
            <a:off x="1153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3" name="Rectangle 12"/>
          <p:cNvSpPr/>
          <p:nvPr/>
        </p:nvSpPr>
        <p:spPr>
          <a:xfrm>
            <a:off x="2550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3.325</a:t>
            </a:r>
          </a:p>
        </p:txBody>
      </p:sp>
      <p:sp>
        <p:nvSpPr>
          <p:cNvPr id="14" name="Rectangle 13"/>
          <p:cNvSpPr/>
          <p:nvPr/>
        </p:nvSpPr>
        <p:spPr>
          <a:xfrm>
            <a:off x="3947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1,67 €</a:t>
            </a:r>
          </a:p>
        </p:txBody>
      </p:sp>
      <p:sp>
        <p:nvSpPr>
          <p:cNvPr id="15" name="Rectangle 14"/>
          <p:cNvSpPr/>
          <p:nvPr/>
        </p:nvSpPr>
        <p:spPr>
          <a:xfrm>
            <a:off x="5979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0,41 €</a:t>
            </a:r>
          </a:p>
        </p:txBody>
      </p:sp>
      <p:sp>
        <p:nvSpPr>
          <p:cNvPr id="16" name="Rectangle 15"/>
          <p:cNvSpPr/>
          <p:nvPr/>
        </p:nvSpPr>
        <p:spPr>
          <a:xfrm>
            <a:off x="8011159"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74 %</a:t>
            </a:r>
          </a:p>
        </p:txBody>
      </p:sp>
      <p:sp>
        <p:nvSpPr>
          <p:cNvPr id="17" name="Rectangle 16"/>
          <p:cNvSpPr/>
          <p:nvPr/>
        </p:nvSpPr>
        <p:spPr>
          <a:xfrm>
            <a:off x="10043160" y="22352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8" name="Rectangle 17"/>
          <p:cNvSpPr/>
          <p:nvPr/>
        </p:nvSpPr>
        <p:spPr>
          <a:xfrm>
            <a:off x="1153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9" name="Rectangle 18"/>
          <p:cNvSpPr/>
          <p:nvPr/>
        </p:nvSpPr>
        <p:spPr>
          <a:xfrm>
            <a:off x="2550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2.049</a:t>
            </a:r>
          </a:p>
        </p:txBody>
      </p:sp>
      <p:sp>
        <p:nvSpPr>
          <p:cNvPr id="20" name="Rectangle 19"/>
          <p:cNvSpPr/>
          <p:nvPr/>
        </p:nvSpPr>
        <p:spPr>
          <a:xfrm>
            <a:off x="3947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4,34 €</a:t>
            </a:r>
          </a:p>
        </p:txBody>
      </p:sp>
      <p:sp>
        <p:nvSpPr>
          <p:cNvPr id="21" name="Rectangle 20"/>
          <p:cNvSpPr/>
          <p:nvPr/>
        </p:nvSpPr>
        <p:spPr>
          <a:xfrm>
            <a:off x="5979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0,85 €</a:t>
            </a:r>
          </a:p>
        </p:txBody>
      </p:sp>
      <p:sp>
        <p:nvSpPr>
          <p:cNvPr id="22" name="Rectangle 21"/>
          <p:cNvSpPr/>
          <p:nvPr/>
        </p:nvSpPr>
        <p:spPr>
          <a:xfrm>
            <a:off x="8011159"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51 %</a:t>
            </a:r>
          </a:p>
        </p:txBody>
      </p:sp>
      <p:sp>
        <p:nvSpPr>
          <p:cNvPr id="23" name="Rectangle 22"/>
          <p:cNvSpPr/>
          <p:nvPr/>
        </p:nvSpPr>
        <p:spPr>
          <a:xfrm>
            <a:off x="10043160" y="2819400"/>
            <a:ext cx="2584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24" name="Rectangle 23"/>
          <p:cNvSpPr/>
          <p:nvPr/>
        </p:nvSpPr>
        <p:spPr>
          <a:xfrm>
            <a:off x="1153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25" name="Rectangle 24"/>
          <p:cNvSpPr/>
          <p:nvPr/>
        </p:nvSpPr>
        <p:spPr>
          <a:xfrm>
            <a:off x="2550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508</a:t>
            </a:r>
          </a:p>
        </p:txBody>
      </p:sp>
      <p:sp>
        <p:nvSpPr>
          <p:cNvPr id="26" name="Rectangle 25"/>
          <p:cNvSpPr/>
          <p:nvPr/>
        </p:nvSpPr>
        <p:spPr>
          <a:xfrm>
            <a:off x="3947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11,97 €</a:t>
            </a:r>
          </a:p>
        </p:txBody>
      </p:sp>
      <p:sp>
        <p:nvSpPr>
          <p:cNvPr id="27" name="Rectangle 26"/>
          <p:cNvSpPr/>
          <p:nvPr/>
        </p:nvSpPr>
        <p:spPr>
          <a:xfrm>
            <a:off x="5979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2,48 €</a:t>
            </a:r>
          </a:p>
        </p:txBody>
      </p:sp>
      <p:sp>
        <p:nvSpPr>
          <p:cNvPr id="28" name="Rectangle 27"/>
          <p:cNvSpPr/>
          <p:nvPr/>
        </p:nvSpPr>
        <p:spPr>
          <a:xfrm>
            <a:off x="8011159"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19 %</a:t>
            </a:r>
          </a:p>
        </p:txBody>
      </p:sp>
      <p:sp>
        <p:nvSpPr>
          <p:cNvPr id="29" name="Rectangle 28"/>
          <p:cNvSpPr/>
          <p:nvPr/>
        </p:nvSpPr>
        <p:spPr>
          <a:xfrm>
            <a:off x="10043160" y="34036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30" name="Rectangle 29"/>
          <p:cNvSpPr/>
          <p:nvPr/>
        </p:nvSpPr>
        <p:spPr>
          <a:xfrm>
            <a:off x="1153160" y="4165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4165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356360" y="4292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Gerechnet wird der volle Tarif, nicht Minuten mal Minutenpreis</a:t>
            </a:r>
          </a:p>
          <a:p>
            <a:pPr algn="l">
              <a:lnSpc>
                <a:spcPct val="95000"/>
              </a:lnSpc>
              <a:spcBef>
                <a:spcPts val="500"/>
              </a:spcBef>
            </a:pPr>
            <a:r>
              <a:rPr sz="1300" b="0">
                <a:solidFill>
                  <a:srgbClr val="404040"/>
                </a:solidFill>
              </a:rPr>
              <a:t>Startgebühr plus Minuten mal Minutenpreis, gedeckelt auf den Tageshöchstpreis — für den tatsächlichen und den geschätzten Wert getrennt.</a:t>
            </a:r>
          </a:p>
          <a:p>
            <a:pPr algn="l">
              <a:lnSpc>
                <a:spcPct val="95000"/>
              </a:lnSpc>
              <a:spcBef>
                <a:spcPts val="500"/>
              </a:spcBef>
            </a:pPr>
            <a:r>
              <a:rPr sz="1300" b="0">
                <a:solidFill>
                  <a:srgbClr val="404040"/>
                </a:solidFill>
              </a:rPr>
              <a:t>Nur so entspricht die Zahl dem, was auf der Rechnung des Kunden steht.</a:t>
            </a:r>
          </a:p>
        </p:txBody>
      </p:sp>
      <p:sp>
        <p:nvSpPr>
          <p:cNvPr id="33" name="Rectangle 3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5" name="Rectangle 3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7" name="Rectangle 3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9" name="Rectangle 3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1" name="Rectangle 40"/>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3" name="Rectangle 4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entscheidende Rechnung,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5.2</a:t>
            </a:r>
          </a:p>
        </p:txBody>
      </p:sp>
      <p:sp>
        <p:nvSpPr>
          <p:cNvPr id="5" name="Rectangle 4"/>
          <p:cNvSpPr/>
          <p:nvPr/>
        </p:nvSpPr>
        <p:spPr>
          <a:xfrm>
            <a:off x="1051560" y="2376449"/>
            <a:ext cx="11677649" cy="17749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preisfehler.png"/>
          <p:cNvPicPr>
            <a:picLocks noChangeAspect="1"/>
          </p:cNvPicPr>
          <p:nvPr/>
        </p:nvPicPr>
        <p:blipFill>
          <a:blip r:embed="rId2"/>
          <a:stretch>
            <a:fillRect/>
          </a:stretch>
        </p:blipFill>
        <p:spPr>
          <a:xfrm>
            <a:off x="1153160" y="2478049"/>
            <a:ext cx="11474449" cy="15717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Drei Zeilen, drei Urteile — und die Statistik ist bei allen dreien dieselbe. Was sich unterscheidet, ist der Minutenpreis.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Gegenproben — und beide fallen negativ aus</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man ein Ergebnis erklärt, prüft man die zwei naheliegenden Erklärungen. Hier trägt keine von beiden.</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1</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Schätzen wir systematisch zu hoch?</a:t>
            </a:r>
          </a:p>
          <a:p>
            <a:pPr algn="l">
              <a:lnSpc>
                <a:spcPct val="95000"/>
              </a:lnSpc>
              <a:spcBef>
                <a:spcPts val="300"/>
              </a:spcBef>
            </a:pPr>
            <a:r>
              <a:rPr sz="1300" b="0">
                <a:solidFill>
                  <a:srgbClr val="404040"/>
                </a:solidFill>
              </a:rPr>
              <a:t>CARGO   − 0,25 €</a:t>
            </a:r>
          </a:p>
          <a:p>
            <a:pPr algn="l">
              <a:lnSpc>
                <a:spcPct val="95000"/>
              </a:lnSpc>
              <a:spcBef>
                <a:spcPts val="300"/>
              </a:spcBef>
            </a:pPr>
            <a:r>
              <a:rPr sz="1300" b="0">
                <a:solidFill>
                  <a:srgbClr val="404040"/>
                </a:solidFill>
              </a:rPr>
              <a:t>CITY    + 0,04 €</a:t>
            </a:r>
          </a:p>
          <a:p>
            <a:pPr algn="l">
              <a:lnSpc>
                <a:spcPct val="95000"/>
              </a:lnSpc>
              <a:spcBef>
                <a:spcPts val="300"/>
              </a:spcBef>
            </a:pPr>
            <a:r>
              <a:rPr sz="1300" b="0">
                <a:solidFill>
                  <a:srgbClr val="404040"/>
                </a:solidFill>
              </a:rPr>
              <a:t>EBIKE   + 0,11 €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Über- und Unterschätzung</a:t>
            </a:r>
          </a:p>
          <a:p>
            <a:pPr algn="l">
              <a:lnSpc>
                <a:spcPct val="95000"/>
              </a:lnSpc>
              <a:spcBef>
                <a:spcPts val="300"/>
              </a:spcBef>
            </a:pPr>
            <a:r>
              <a:rPr sz="1300" b="0">
                <a:solidFill>
                  <a:srgbClr val="404040"/>
                </a:solidFill>
              </a:rPr>
              <a:t>heben sich weitgehend auf.</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2</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Ist das Modell bei teuren Rädern schlechter?</a:t>
            </a:r>
          </a:p>
          <a:p>
            <a:pPr algn="l">
              <a:lnSpc>
                <a:spcPct val="95000"/>
              </a:lnSpc>
              <a:spcBef>
                <a:spcPts val="300"/>
              </a:spcBef>
            </a:pPr>
            <a:r>
              <a:rPr sz="1300" b="0">
                <a:solidFill>
                  <a:srgbClr val="404040"/>
                </a:solidFill>
              </a:rPr>
              <a:t>CARGO   2,48 € von 11,97 €  = 21 %</a:t>
            </a:r>
          </a:p>
          <a:p>
            <a:pPr algn="l">
              <a:lnSpc>
                <a:spcPct val="95000"/>
              </a:lnSpc>
              <a:spcBef>
                <a:spcPts val="300"/>
              </a:spcBef>
            </a:pPr>
            <a:r>
              <a:rPr sz="1300" b="0">
                <a:solidFill>
                  <a:srgbClr val="404040"/>
                </a:solidFill>
              </a:rPr>
              <a:t>CITY    0,41 € von  1,67 €  = 24 %</a:t>
            </a:r>
          </a:p>
          <a:p>
            <a:pPr algn="l">
              <a:lnSpc>
                <a:spcPct val="95000"/>
              </a:lnSpc>
              <a:spcBef>
                <a:spcPts val="300"/>
              </a:spcBef>
            </a:pPr>
            <a:r>
              <a:rPr sz="1300" b="0">
                <a:solidFill>
                  <a:srgbClr val="404040"/>
                </a:solidFill>
              </a:rPr>
              <a:t>EBIKE   0,85 € von  4,34 €  = 20 %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Relativ zum Fahrpreis ist</a:t>
            </a:r>
          </a:p>
          <a:p>
            <a:pPr algn="l">
              <a:lnSpc>
                <a:spcPct val="95000"/>
              </a:lnSpc>
              <a:spcBef>
                <a:spcPts val="300"/>
              </a:spcBef>
            </a:pPr>
            <a:r>
              <a:rPr sz="1300" b="0">
                <a:solidFill>
                  <a:srgbClr val="404040"/>
                </a:solidFill>
              </a:rPr>
              <a:t>die Abweichung überall ähnlich.</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Was sich unterscheidet, ist nicht das Modell, sondern die Strenge einer festen 50-Cent-Grenze bei drei sehr verschiedenen Fahrpreisen.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belastbar ist das? Vier Fenster statt einer Zahl</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einzelner Testzeitraum kann günstig liegen. Rollierend geprüft sieht man, wie stark das Ergebnis schwankt.</a:t>
            </a:r>
          </a:p>
        </p:txBody>
      </p:sp>
      <p:sp>
        <p:nvSpPr>
          <p:cNvPr id="6" name="Rectangle 5"/>
          <p:cNvSpPr/>
          <p:nvPr/>
        </p:nvSpPr>
        <p:spPr>
          <a:xfrm>
            <a:off x="1153160" y="16510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Fenster</a:t>
            </a:r>
          </a:p>
        </p:txBody>
      </p:sp>
      <p:sp>
        <p:nvSpPr>
          <p:cNvPr id="7" name="Rectangle 6"/>
          <p:cNvSpPr/>
          <p:nvPr/>
        </p:nvSpPr>
        <p:spPr>
          <a:xfrm>
            <a:off x="4963160" y="1651000"/>
            <a:ext cx="165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6614159" y="1651000"/>
            <a:ext cx="254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9" name="Rectangle 8"/>
          <p:cNvSpPr/>
          <p:nvPr/>
        </p:nvSpPr>
        <p:spPr>
          <a:xfrm>
            <a:off x="9154160" y="1651000"/>
            <a:ext cx="347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CITY-Preisfehler</a:t>
            </a:r>
          </a:p>
        </p:txBody>
      </p:sp>
      <p:sp>
        <p:nvSpPr>
          <p:cNvPr id="10" name="Rectangle 9"/>
          <p:cNvSpPr/>
          <p:nvPr/>
        </p:nvSpPr>
        <p:spPr>
          <a:xfrm>
            <a:off x="1153160" y="2159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10/2024 bis 02/2025</a:t>
            </a:r>
          </a:p>
        </p:txBody>
      </p:sp>
      <p:sp>
        <p:nvSpPr>
          <p:cNvPr id="11" name="Rectangle 10"/>
          <p:cNvSpPr/>
          <p:nvPr/>
        </p:nvSpPr>
        <p:spPr>
          <a:xfrm>
            <a:off x="4963160" y="2159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2" name="Rectangle 11"/>
          <p:cNvSpPr/>
          <p:nvPr/>
        </p:nvSpPr>
        <p:spPr>
          <a:xfrm>
            <a:off x="6614159" y="2159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a:t>
            </a:r>
          </a:p>
        </p:txBody>
      </p:sp>
      <p:sp>
        <p:nvSpPr>
          <p:cNvPr id="13" name="Rectangle 12"/>
          <p:cNvSpPr/>
          <p:nvPr/>
        </p:nvSpPr>
        <p:spPr>
          <a:xfrm>
            <a:off x="9154160" y="2159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0,37 €</a:t>
            </a:r>
          </a:p>
        </p:txBody>
      </p:sp>
      <p:sp>
        <p:nvSpPr>
          <p:cNvPr id="14" name="Rectangle 13"/>
          <p:cNvSpPr/>
          <p:nvPr/>
        </p:nvSpPr>
        <p:spPr>
          <a:xfrm>
            <a:off x="1153160" y="2667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02/2025 bis 05/2025</a:t>
            </a:r>
          </a:p>
        </p:txBody>
      </p:sp>
      <p:sp>
        <p:nvSpPr>
          <p:cNvPr id="15" name="Rectangle 14"/>
          <p:cNvSpPr/>
          <p:nvPr/>
        </p:nvSpPr>
        <p:spPr>
          <a:xfrm>
            <a:off x="4963160" y="2667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6" name="Rectangle 15"/>
          <p:cNvSpPr/>
          <p:nvPr/>
        </p:nvSpPr>
        <p:spPr>
          <a:xfrm>
            <a:off x="6614159" y="2667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3,73</a:t>
            </a:r>
          </a:p>
        </p:txBody>
      </p:sp>
      <p:sp>
        <p:nvSpPr>
          <p:cNvPr id="17" name="Rectangle 16"/>
          <p:cNvSpPr/>
          <p:nvPr/>
        </p:nvSpPr>
        <p:spPr>
          <a:xfrm>
            <a:off x="9154160" y="2667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0,38 €</a:t>
            </a:r>
          </a:p>
        </p:txBody>
      </p:sp>
      <p:sp>
        <p:nvSpPr>
          <p:cNvPr id="18" name="Rectangle 17"/>
          <p:cNvSpPr/>
          <p:nvPr/>
        </p:nvSpPr>
        <p:spPr>
          <a:xfrm>
            <a:off x="1153160" y="3175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 bis 07/2025</a:t>
            </a:r>
          </a:p>
        </p:txBody>
      </p:sp>
      <p:sp>
        <p:nvSpPr>
          <p:cNvPr id="19" name="Rectangle 18"/>
          <p:cNvSpPr/>
          <p:nvPr/>
        </p:nvSpPr>
        <p:spPr>
          <a:xfrm>
            <a:off x="4963160" y="3175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0" name="Rectangle 19"/>
          <p:cNvSpPr/>
          <p:nvPr/>
        </p:nvSpPr>
        <p:spPr>
          <a:xfrm>
            <a:off x="6614159" y="3175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4,39</a:t>
            </a:r>
          </a:p>
        </p:txBody>
      </p:sp>
      <p:sp>
        <p:nvSpPr>
          <p:cNvPr id="21" name="Rectangle 20"/>
          <p:cNvSpPr/>
          <p:nvPr/>
        </p:nvSpPr>
        <p:spPr>
          <a:xfrm>
            <a:off x="9154160" y="3175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2" name="Rectangle 21"/>
          <p:cNvSpPr/>
          <p:nvPr/>
        </p:nvSpPr>
        <p:spPr>
          <a:xfrm>
            <a:off x="1153160" y="3683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07/2025 bis 09/2025</a:t>
            </a:r>
          </a:p>
        </p:txBody>
      </p:sp>
      <p:sp>
        <p:nvSpPr>
          <p:cNvPr id="23" name="Rectangle 22"/>
          <p:cNvSpPr/>
          <p:nvPr/>
        </p:nvSpPr>
        <p:spPr>
          <a:xfrm>
            <a:off x="4963160" y="3683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4" name="Rectangle 23"/>
          <p:cNvSpPr/>
          <p:nvPr/>
        </p:nvSpPr>
        <p:spPr>
          <a:xfrm>
            <a:off x="6614159" y="3683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4,33</a:t>
            </a:r>
          </a:p>
        </p:txBody>
      </p:sp>
      <p:sp>
        <p:nvSpPr>
          <p:cNvPr id="25" name="Rectangle 24"/>
          <p:cNvSpPr/>
          <p:nvPr/>
        </p:nvSpPr>
        <p:spPr>
          <a:xfrm>
            <a:off x="9154160" y="3683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6" name="Rectangle 25"/>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CITY-Preisfehler schwankt zwischen 0,37 € und 0,45 €. Die Grenze von 0,50 € liegt oberhalb der gesamten Schwankung — im schlechtesten Fenster mit fünf Cent Abstand. Für CITY ist die Punktschätzung damit belastbar.</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Woran es liegt — und woran nicht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wie gut, sondern woran es scheitert. Das Muster ist kein statistisches, sondern ein menschliches.</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Schwierig</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Gefahren, um zu fahren</a:t>
            </a:r>
          </a:p>
          <a:p>
            <a:pPr algn="l">
              <a:lnSpc>
                <a:spcPct val="95000"/>
              </a:lnSpc>
              <a:spcBef>
                <a:spcPts val="300"/>
              </a:spcBef>
            </a:pPr>
            <a:r>
              <a:rPr sz="1300" b="0">
                <a:solidFill>
                  <a:srgbClr val="404040"/>
                </a:solidFill>
              </a:rPr>
              <a:t>Dom → Residenz</a:t>
            </a:r>
          </a:p>
          <a:p>
            <a:pPr algn="l">
              <a:lnSpc>
                <a:spcPct val="95000"/>
              </a:lnSpc>
              <a:spcBef>
                <a:spcPts val="300"/>
              </a:spcBef>
            </a:pPr>
            <a:r>
              <a:rPr sz="1300" b="0">
                <a:solidFill>
                  <a:srgbClr val="404040"/>
                </a:solidFill>
              </a:rPr>
              <a:t>  32 Min · Abweichung 0,77 €</a:t>
            </a:r>
          </a:p>
          <a:p>
            <a:pPr algn="l">
              <a:lnSpc>
                <a:spcPct val="95000"/>
              </a:lnSpc>
              <a:spcBef>
                <a:spcPts val="300"/>
              </a:spcBef>
            </a:pPr>
            <a:r>
              <a:rPr sz="1300" b="0">
                <a:solidFill>
                  <a:srgbClr val="404040"/>
                </a:solidFill>
              </a:rPr>
              <a:t>Residenz → Juliuspromenade</a:t>
            </a:r>
          </a:p>
          <a:p>
            <a:pPr algn="l">
              <a:lnSpc>
                <a:spcPct val="95000"/>
              </a:lnSpc>
              <a:spcBef>
                <a:spcPts val="300"/>
              </a:spcBef>
            </a:pPr>
            <a:r>
              <a:rPr sz="1300" b="0">
                <a:solidFill>
                  <a:srgbClr val="404040"/>
                </a:solidFill>
              </a:rPr>
              <a:t>  28 Min · Abweichung 0,78 €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 nach Anlass zwanzig oder</a:t>
            </a:r>
          </a:p>
          <a:p>
            <a:pPr algn="l">
              <a:lnSpc>
                <a:spcPct val="95000"/>
              </a:lnSpc>
              <a:spcBef>
                <a:spcPts val="300"/>
              </a:spcBef>
            </a:pPr>
            <a:r>
              <a:rPr sz="1300" b="0">
                <a:solidFill>
                  <a:srgbClr val="404040"/>
                </a:solidFill>
              </a:rPr>
              <a:t>vierzig Minuten unterwegs.</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Treffsicher</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Gefahren, um anzukommen</a:t>
            </a:r>
          </a:p>
          <a:p>
            <a:pPr algn="l">
              <a:lnSpc>
                <a:spcPct val="95000"/>
              </a:lnSpc>
              <a:spcBef>
                <a:spcPts val="300"/>
              </a:spcBef>
            </a:pPr>
            <a:r>
              <a:rPr sz="1300" b="0">
                <a:solidFill>
                  <a:srgbClr val="404040"/>
                </a:solidFill>
              </a:rPr>
              <a:t>Grombühl Klinikum → Sanderau</a:t>
            </a:r>
          </a:p>
          <a:p>
            <a:pPr algn="l">
              <a:lnSpc>
                <a:spcPct val="95000"/>
              </a:lnSpc>
              <a:spcBef>
                <a:spcPts val="300"/>
              </a:spcBef>
            </a:pPr>
            <a:r>
              <a:rPr sz="1300" b="0">
                <a:solidFill>
                  <a:srgbClr val="404040"/>
                </a:solidFill>
              </a:rPr>
              <a:t>  7 Min · Abweichung 0,09 €</a:t>
            </a:r>
          </a:p>
          <a:p>
            <a:pPr algn="l">
              <a:lnSpc>
                <a:spcPct val="95000"/>
              </a:lnSpc>
              <a:spcBef>
                <a:spcPts val="300"/>
              </a:spcBef>
            </a:pPr>
            <a:r>
              <a:rPr sz="1300" b="0">
                <a:solidFill>
                  <a:srgbClr val="404040"/>
                </a:solidFill>
              </a:rPr>
              <a:t>Sanderau → Uni Sanderring</a:t>
            </a:r>
          </a:p>
          <a:p>
            <a:pPr algn="l">
              <a:lnSpc>
                <a:spcPct val="95000"/>
              </a:lnSpc>
              <a:spcBef>
                <a:spcPts val="300"/>
              </a:spcBef>
            </a:pPr>
            <a:r>
              <a:rPr sz="1300" b="0">
                <a:solidFill>
                  <a:srgbClr val="404040"/>
                </a:solidFill>
              </a:rPr>
              <a:t>  7 Min · Abweichung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Pendelwege, jeden Tag</a:t>
            </a:r>
          </a:p>
          <a:p>
            <a:pPr algn="l">
              <a:lnSpc>
                <a:spcPct val="95000"/>
              </a:lnSpc>
              <a:spcBef>
                <a:spcPts val="300"/>
              </a:spcBef>
            </a:pPr>
            <a:r>
              <a:rPr sz="1300" b="0">
                <a:solidFill>
                  <a:srgbClr val="404040"/>
                </a:solidFill>
              </a:rPr>
              <a:t>ungefähr gleich.</a:t>
            </a:r>
          </a:p>
        </p:txBody>
      </p:sp>
      <p:sp>
        <p:nvSpPr>
          <p:cNvPr id="14" name="Rectangle 13"/>
          <p:cNvSpPr/>
          <p:nvPr/>
        </p:nvSpPr>
        <p:spPr>
          <a:xfrm>
            <a:off x="1153160" y="4267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Das Modell ist genau, wo gefahren wird, um anzukommen — und ungenau, wo gefahren wird, um zu fahren.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hält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CITY könnten wir jetzt ausliefern. Wir tun es nicht, und zwar aus zwei Gründen, die nichts mit einem gerissenen Kriterium zu tun haben.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Ein Mittelwert ist
keine Erfahrung</a:t>
            </a:r>
          </a:p>
          <a:p>
            <a:pPr algn="l">
              <a:lnSpc>
                <a:spcPct val="95000"/>
              </a:lnSpc>
              <a:spcBef>
                <a:spcPts val="500"/>
              </a:spcBef>
            </a:pPr>
            <a:r>
              <a:rPr sz="1300" b="0">
                <a:solidFill>
                  <a:srgbClr val="404040"/>
                </a:solidFill>
              </a:rPr>
              <a:t>0,41 € im Mittel klingt gut.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rund jeder vierten</a:t>
            </a:r>
          </a:p>
          <a:p>
            <a:pPr algn="l">
              <a:lnSpc>
                <a:spcPct val="95000"/>
              </a:lnSpc>
              <a:spcBef>
                <a:spcPts val="500"/>
              </a:spcBef>
            </a:pPr>
            <a:r>
              <a:rPr sz="1300" b="0">
                <a:solidFill>
                  <a:srgbClr val="404040"/>
                </a:solidFill>
              </a:rPr>
              <a:t>CITY-Fahrt liegt die Anzeige</a:t>
            </a:r>
          </a:p>
          <a:p>
            <a:pPr algn="l">
              <a:lnSpc>
                <a:spcPct val="95000"/>
              </a:lnSpc>
              <a:spcBef>
                <a:spcPts val="500"/>
              </a:spcBef>
            </a:pPr>
            <a:r>
              <a:rPr sz="1300" b="0">
                <a:solidFill>
                  <a:srgbClr val="404040"/>
                </a:solidFill>
              </a:rPr>
              <a:t>aber um mehr als 50 Cent</a:t>
            </a:r>
          </a:p>
          <a:p>
            <a:pPr algn="l">
              <a:lnSpc>
                <a:spcPct val="95000"/>
              </a:lnSpc>
              <a:spcBef>
                <a:spcPts val="500"/>
              </a:spcBef>
            </a:pPr>
            <a:r>
              <a:rPr sz="1300" b="0">
                <a:solidFill>
                  <a:srgbClr val="404040"/>
                </a:solidFill>
              </a:rPr>
              <a:t>daneben. Ein Kunde erlebt</a:t>
            </a:r>
          </a:p>
          <a:p>
            <a:pPr algn="l">
              <a:lnSpc>
                <a:spcPct val="95000"/>
              </a:lnSpc>
              <a:spcBef>
                <a:spcPts val="500"/>
              </a:spcBef>
            </a:pPr>
            <a:r>
              <a:rPr sz="1300" b="0">
                <a:solidFill>
                  <a:srgbClr val="404040"/>
                </a:solidFill>
              </a:rPr>
              <a:t>keinen Mittelwert.</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Zwei von drei Radtypen
haben kein Produkt</a:t>
            </a:r>
          </a:p>
          <a:p>
            <a:pPr algn="l">
              <a:lnSpc>
                <a:spcPct val="95000"/>
              </a:lnSpc>
              <a:spcBef>
                <a:spcPts val="500"/>
              </a:spcBef>
            </a:pPr>
            <a:r>
              <a:rPr sz="1300" b="0">
                <a:solidFill>
                  <a:srgbClr val="404040"/>
                </a:solidFill>
              </a:rPr>
              <a:t>EBIKE und CARGO reißen die</a:t>
            </a:r>
          </a:p>
          <a:p>
            <a:pPr algn="l">
              <a:lnSpc>
                <a:spcPct val="95000"/>
              </a:lnSpc>
              <a:spcBef>
                <a:spcPts val="500"/>
              </a:spcBef>
            </a:pPr>
            <a:r>
              <a:rPr sz="1300" b="0">
                <a:solidFill>
                  <a:srgbClr val="404040"/>
                </a:solidFill>
              </a:rPr>
              <a:t>Grenze deutlich.</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Lösung nur für das</a:t>
            </a:r>
          </a:p>
          <a:p>
            <a:pPr algn="l">
              <a:lnSpc>
                <a:spcPct val="95000"/>
              </a:lnSpc>
              <a:spcBef>
                <a:spcPts val="500"/>
              </a:spcBef>
            </a:pPr>
            <a:r>
              <a:rPr sz="1300" b="0">
                <a:solidFill>
                  <a:srgbClr val="404040"/>
                </a:solidFill>
              </a:rPr>
              <a:t>billigste Rad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Also: die Zusage ändern</a:t>
            </a:r>
          </a:p>
          <a:p>
            <a:pPr algn="l">
              <a:lnSpc>
                <a:spcPct val="95000"/>
              </a:lnSpc>
              <a:spcBef>
                <a:spcPts val="500"/>
              </a:spcBef>
            </a:pPr>
            <a:r>
              <a:rPr sz="1300" b="0">
                <a:solidFill>
                  <a:srgbClr val="404040"/>
                </a:solidFill>
              </a:rPr>
              <a:t>Nicht die Grenze lockern —</a:t>
            </a:r>
          </a:p>
          <a:p>
            <a:pPr algn="l">
              <a:lnSpc>
                <a:spcPct val="95000"/>
              </a:lnSpc>
              <a:spcBef>
                <a:spcPts val="500"/>
              </a:spcBef>
            </a:pPr>
            <a:r>
              <a:rPr sz="1300" b="0">
                <a:solidFill>
                  <a:srgbClr val="404040"/>
                </a:solidFill>
              </a:rPr>
              <a:t>verboten und hier unnötig.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das Verfahren tauschen —</a:t>
            </a:r>
          </a:p>
          <a:p>
            <a:pPr algn="l">
              <a:lnSpc>
                <a:spcPct val="95000"/>
              </a:lnSpc>
              <a:spcBef>
                <a:spcPts val="500"/>
              </a:spcBef>
            </a:pPr>
            <a:r>
              <a:rPr sz="1300" b="0">
                <a:solidFill>
                  <a:srgbClr val="404040"/>
                </a:solidFill>
              </a:rPr>
              <a:t>die Ablation zeigt, dass die</a:t>
            </a:r>
          </a:p>
          <a:p>
            <a:pPr algn="l">
              <a:lnSpc>
                <a:spcPct val="95000"/>
              </a:lnSpc>
              <a:spcBef>
                <a:spcPts val="500"/>
              </a:spcBef>
            </a:pPr>
            <a:r>
              <a:rPr sz="1300" b="0">
                <a:solidFill>
                  <a:srgbClr val="404040"/>
                </a:solidFill>
              </a:rPr>
              <a:t>Information fehlt, nicht die</a:t>
            </a:r>
          </a:p>
          <a:p>
            <a:pPr algn="l">
              <a:lnSpc>
                <a:spcPct val="95000"/>
              </a:lnSpc>
              <a:spcBef>
                <a:spcPts val="500"/>
              </a:spcBef>
            </a:pPr>
            <a:r>
              <a:rPr sz="1300" b="0">
                <a:solidFill>
                  <a:srgbClr val="404040"/>
                </a:solidFill>
              </a:rPr>
              <a:t>Rechenkraft.</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neue Kriterium — wieder vor der Messung festgelegt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Statt einer Zahl eine Spanne. Damit ändert sich nicht die Verfahrensklasse, sondern das, was die App verspricht.</a:t>
            </a:r>
          </a:p>
        </p:txBody>
      </p:sp>
      <p:sp>
        <p:nvSpPr>
          <p:cNvPr id="6" name="Rectangle 5"/>
          <p:cNvSpPr/>
          <p:nvPr/>
        </p:nvSpPr>
        <p:spPr>
          <a:xfrm>
            <a:off x="1153160" y="1651000"/>
            <a:ext cx="2286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439160" y="1651000"/>
            <a:ext cx="9188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Neues Erfolgskriterium</a:t>
            </a:r>
          </a:p>
        </p:txBody>
      </p:sp>
      <p:sp>
        <p:nvSpPr>
          <p:cNvPr id="8" name="Rectangle 7"/>
          <p:cNvSpPr/>
          <p:nvPr/>
        </p:nvSpPr>
        <p:spPr>
          <a:xfrm>
            <a:off x="1153160" y="23368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9" name="Rectangle 8"/>
          <p:cNvSpPr/>
          <p:nvPr/>
        </p:nvSpPr>
        <p:spPr>
          <a:xfrm>
            <a:off x="3439160" y="23368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 in mindestens 80 % der Fälle — insgesamt UND je Radtyp</a:t>
            </a:r>
          </a:p>
        </p:txBody>
      </p:sp>
      <p:sp>
        <p:nvSpPr>
          <p:cNvPr id="10" name="Rectangle 9"/>
          <p:cNvSpPr/>
          <p:nvPr/>
        </p:nvSpPr>
        <p:spPr>
          <a:xfrm>
            <a:off x="1153160" y="3022600"/>
            <a:ext cx="2286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1" name="Rectangle 10"/>
          <p:cNvSpPr/>
          <p:nvPr/>
        </p:nvSpPr>
        <p:spPr>
          <a:xfrm>
            <a:off x="3439160" y="3022600"/>
            <a:ext cx="9188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höchstens 1,00 € breit. Ist sie breiter, zeigt die App gar nichts an</a:t>
            </a:r>
          </a:p>
        </p:txBody>
      </p:sp>
      <p:sp>
        <p:nvSpPr>
          <p:cNvPr id="12" name="Rectangle 11"/>
          <p:cNvSpPr/>
          <p:nvPr/>
        </p:nvSpPr>
        <p:spPr>
          <a:xfrm>
            <a:off x="1153160" y="37084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gemessen auf</a:t>
            </a:r>
          </a:p>
        </p:txBody>
      </p:sp>
      <p:sp>
        <p:nvSpPr>
          <p:cNvPr id="13" name="Rectangle 12"/>
          <p:cNvSpPr/>
          <p:nvPr/>
        </p:nvSpPr>
        <p:spPr>
          <a:xfrm>
            <a:off x="3439160" y="37084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 dem Zeitraum, den bis hierher nichts berührt hat</a:t>
            </a:r>
          </a:p>
        </p:txBody>
      </p:sp>
      <p:sp>
        <p:nvSpPr>
          <p:cNvPr id="14" name="Rectangle 13"/>
          <p:cNvSpPr/>
          <p:nvPr/>
        </p:nvSpPr>
        <p:spPr>
          <a:xfrm>
            <a:off x="1153160" y="4572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648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zweite Zeile ist die wichtigere. Eine Spanne von 4 bis 12 Euro trifft fast immer — und nützt niemandem. Ohne die Breitenregel wäre das Kriterium wertlos.</a:t>
            </a:r>
          </a:p>
        </p:txBody>
      </p:sp>
      <p:sp>
        <p:nvSpPr>
          <p:cNvPr id="16" name="Rectangle 15"/>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Kandidaten für dieselbe Zusage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Spanne kann man rechnen lassen oder nachschlagen. Beide Wege werden gebaut und gegen dasselbe Kriterium gehalten.</a:t>
            </a:r>
          </a:p>
        </p:txBody>
      </p:sp>
      <p:sp>
        <p:nvSpPr>
          <p:cNvPr id="6" name="Rectangle 5"/>
          <p:cNvSpPr/>
          <p:nvPr/>
        </p:nvSpPr>
        <p:spPr>
          <a:xfrm>
            <a:off x="1153160" y="1651000"/>
            <a:ext cx="355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709160" y="1651000"/>
            <a:ext cx="406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Quantilregression</a:t>
            </a:r>
          </a:p>
        </p:txBody>
      </p:sp>
      <p:sp>
        <p:nvSpPr>
          <p:cNvPr id="8" name="Rectangle 7"/>
          <p:cNvSpPr/>
          <p:nvPr/>
        </p:nvSpPr>
        <p:spPr>
          <a:xfrm>
            <a:off x="8773160" y="1651000"/>
            <a:ext cx="3854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Perzentiltabelle</a:t>
            </a:r>
          </a:p>
        </p:txBody>
      </p:sp>
      <p:sp>
        <p:nvSpPr>
          <p:cNvPr id="9" name="Rectangle 8"/>
          <p:cNvSpPr/>
          <p:nvPr/>
        </p:nvSpPr>
        <p:spPr>
          <a:xfrm>
            <a:off x="1153160" y="20574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antwortet bei</a:t>
            </a:r>
          </a:p>
        </p:txBody>
      </p:sp>
      <p:sp>
        <p:nvSpPr>
          <p:cNvPr id="10" name="Rectangle 9"/>
          <p:cNvSpPr/>
          <p:nvPr/>
        </p:nvSpPr>
        <p:spPr>
          <a:xfrm>
            <a:off x="4709160" y="20574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45,4 % der Anfragen</a:t>
            </a:r>
          </a:p>
        </p:txBody>
      </p:sp>
      <p:sp>
        <p:nvSpPr>
          <p:cNvPr id="11" name="Rectangle 10"/>
          <p:cNvSpPr/>
          <p:nvPr/>
        </p:nvSpPr>
        <p:spPr>
          <a:xfrm>
            <a:off x="8773160" y="20574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31,0 %</a:t>
            </a:r>
          </a:p>
        </p:txBody>
      </p:sp>
      <p:sp>
        <p:nvSpPr>
          <p:cNvPr id="12" name="Rectangle 11"/>
          <p:cNvSpPr/>
          <p:nvPr/>
        </p:nvSpPr>
        <p:spPr>
          <a:xfrm>
            <a:off x="1153160" y="24638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(angezeigt)</a:t>
            </a:r>
          </a:p>
        </p:txBody>
      </p:sp>
      <p:sp>
        <p:nvSpPr>
          <p:cNvPr id="13" name="Rectangle 12"/>
          <p:cNvSpPr/>
          <p:nvPr/>
        </p:nvSpPr>
        <p:spPr>
          <a:xfrm>
            <a:off x="4709160" y="24638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87,5 %</a:t>
            </a:r>
          </a:p>
        </p:txBody>
      </p:sp>
      <p:sp>
        <p:nvSpPr>
          <p:cNvPr id="14" name="Rectangle 13"/>
          <p:cNvSpPr/>
          <p:nvPr/>
        </p:nvSpPr>
        <p:spPr>
          <a:xfrm>
            <a:off x="8773160" y="24638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83,2 %</a:t>
            </a:r>
          </a:p>
        </p:txBody>
      </p:sp>
      <p:sp>
        <p:nvSpPr>
          <p:cNvPr id="15" name="Rectangle 14"/>
          <p:cNvSpPr/>
          <p:nvPr/>
        </p:nvSpPr>
        <p:spPr>
          <a:xfrm>
            <a:off x="1153160" y="28702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schlechtester Radtyp</a:t>
            </a:r>
          </a:p>
        </p:txBody>
      </p:sp>
      <p:sp>
        <p:nvSpPr>
          <p:cNvPr id="16" name="Rectangle 15"/>
          <p:cNvSpPr/>
          <p:nvPr/>
        </p:nvSpPr>
        <p:spPr>
          <a:xfrm>
            <a:off x="4709160" y="28702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7" name="Rectangle 16"/>
          <p:cNvSpPr/>
          <p:nvPr/>
        </p:nvSpPr>
        <p:spPr>
          <a:xfrm>
            <a:off x="8773160" y="28702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74,6 % — EBIKE</a:t>
            </a:r>
          </a:p>
        </p:txBody>
      </p:sp>
      <p:sp>
        <p:nvSpPr>
          <p:cNvPr id="18" name="Rectangle 17"/>
          <p:cNvSpPr/>
          <p:nvPr/>
        </p:nvSpPr>
        <p:spPr>
          <a:xfrm>
            <a:off x="1153160" y="32766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verworfen, weil zu breit</a:t>
            </a:r>
          </a:p>
        </p:txBody>
      </p:sp>
      <p:sp>
        <p:nvSpPr>
          <p:cNvPr id="19" name="Rectangle 18"/>
          <p:cNvSpPr/>
          <p:nvPr/>
        </p:nvSpPr>
        <p:spPr>
          <a:xfrm>
            <a:off x="4709160" y="32766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54,6 %</a:t>
            </a:r>
          </a:p>
        </p:txBody>
      </p:sp>
      <p:sp>
        <p:nvSpPr>
          <p:cNvPr id="20" name="Rectangle 19"/>
          <p:cNvSpPr/>
          <p:nvPr/>
        </p:nvSpPr>
        <p:spPr>
          <a:xfrm>
            <a:off x="8773160" y="32766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 (per Konstruktion)</a:t>
            </a:r>
          </a:p>
        </p:txBody>
      </p:sp>
      <p:sp>
        <p:nvSpPr>
          <p:cNvPr id="21" name="Rectangle 20"/>
          <p:cNvSpPr/>
          <p:nvPr/>
        </p:nvSpPr>
        <p:spPr>
          <a:xfrm>
            <a:off x="1153160" y="36830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Kriterium insgesamt</a:t>
            </a:r>
          </a:p>
        </p:txBody>
      </p:sp>
      <p:sp>
        <p:nvSpPr>
          <p:cNvPr id="22" name="Rectangle 21"/>
          <p:cNvSpPr/>
          <p:nvPr/>
        </p:nvSpPr>
        <p:spPr>
          <a:xfrm>
            <a:off x="4709160" y="36830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23" name="Rectangle 22"/>
          <p:cNvSpPr/>
          <p:nvPr/>
        </p:nvSpPr>
        <p:spPr>
          <a:xfrm>
            <a:off x="8773160" y="36830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verfehlt</a:t>
            </a:r>
          </a:p>
        </p:txBody>
      </p:sp>
      <p:sp>
        <p:nvSpPr>
          <p:cNvPr id="24" name="Rectangle 2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Gemessen am eigenen Kriterium ist die Quantilregression der bessere Kandidat. Das gehört so gesagt — auch wenn die Entscheidung gleich anders ausfällt.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Kandidatenvergleich, wie er im Notebook steht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5.6</a:t>
            </a:r>
          </a:p>
        </p:txBody>
      </p:sp>
      <p:sp>
        <p:nvSpPr>
          <p:cNvPr id="5" name="Rectangle 4"/>
          <p:cNvSpPr/>
          <p:nvPr/>
        </p:nvSpPr>
        <p:spPr>
          <a:xfrm>
            <a:off x="1051560" y="2373199"/>
            <a:ext cx="11677650" cy="17814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kandidaten.png"/>
          <p:cNvPicPr>
            <a:picLocks noChangeAspect="1"/>
          </p:cNvPicPr>
          <p:nvPr/>
        </p:nvPicPr>
        <p:blipFill>
          <a:blip r:embed="rId2"/>
          <a:stretch>
            <a:fillRect/>
          </a:stretch>
        </p:blipFill>
        <p:spPr>
          <a:xfrm>
            <a:off x="1153160" y="2474799"/>
            <a:ext cx="11474450" cy="15782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Hätte man nur die Dauerabdeckung gemessen, sähen beide gut aus. Erst die vollständige Prüfung — Preis, je Radtyp, Breite — trennt sie.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trotzdem die Tabelle ausgeliefert wird</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wegen der Güte — die spricht für das Modell. Sondern weil die App eine statische Seite ohne Python ist.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Quantilregression</a:t>
            </a:r>
          </a:p>
        </p:txBody>
      </p:sp>
      <p:sp>
        <p:nvSpPr>
          <p:cNvPr id="9" name="TextBox 8"/>
          <p:cNvSpPr txBox="1"/>
          <p:nvPr/>
        </p:nvSpPr>
        <p:spPr>
          <a:xfrm>
            <a:off x="1330960" y="21590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für sie spricht</a:t>
            </a:r>
          </a:p>
          <a:p>
            <a:pPr algn="l">
              <a:lnSpc>
                <a:spcPct val="95000"/>
              </a:lnSpc>
              <a:spcBef>
                <a:spcPts val="300"/>
              </a:spcBef>
            </a:pPr>
            <a:r>
              <a:rPr sz="1300" b="0">
                <a:solidFill>
                  <a:srgbClr val="404040"/>
                </a:solidFill>
              </a:rPr>
              <a:t>trifft häufiger und antwortet öfter</a:t>
            </a:r>
          </a:p>
          <a:p>
            <a:pPr algn="l">
              <a:lnSpc>
                <a:spcPct val="95000"/>
              </a:lnSpc>
              <a:spcBef>
                <a:spcPts val="300"/>
              </a:spcBef>
            </a:pPr>
            <a:r>
              <a:rPr sz="1300" b="0">
                <a:solidFill>
                  <a:srgbClr val="404040"/>
                </a:solidFill>
              </a:rPr>
              <a:t>kann eine neue Verbindung</a:t>
            </a:r>
          </a:p>
          <a:p>
            <a:pPr algn="l">
              <a:lnSpc>
                <a:spcPct val="95000"/>
              </a:lnSpc>
              <a:spcBef>
                <a:spcPts val="300"/>
              </a:spcBef>
            </a:pPr>
            <a:r>
              <a:rPr sz="1300" b="0">
                <a:solidFill>
                  <a:srgbClr val="404040"/>
                </a:solidFill>
              </a:rPr>
              <a:t>  einschätzen</a:t>
            </a:r>
          </a:p>
          <a:p>
            <a:pPr algn="l">
              <a:lnSpc>
                <a:spcPct val="95000"/>
              </a:lnSpc>
              <a:spcBef>
                <a:spcPts val="300"/>
              </a:spcBef>
            </a:pPr>
            <a:r>
              <a:rPr sz="1300" b="0">
                <a:solidFill>
                  <a:srgbClr val="404040"/>
                </a:solidFill>
              </a:rPr>
              <a:t>berücksichtigt Wochentag</a:t>
            </a:r>
          </a:p>
          <a:p>
            <a:pPr algn="l">
              <a:lnSpc>
                <a:spcPct val="95000"/>
              </a:lnSpc>
              <a:spcBef>
                <a:spcPts val="300"/>
              </a:spcBef>
            </a:pPr>
            <a:r>
              <a:rPr sz="1300" b="0">
                <a:solidFill>
                  <a:srgbClr val="404040"/>
                </a:solidFill>
              </a:rPr>
              <a:t>  und Saison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Braucht aber Python im Betrieb.</a:t>
            </a:r>
          </a:p>
        </p:txBody>
      </p:sp>
      <p:sp>
        <p:nvSpPr>
          <p:cNvPr id="10" name="Rectangle 9"/>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Perzentiltabelle</a:t>
            </a:r>
          </a:p>
        </p:txBody>
      </p:sp>
      <p:sp>
        <p:nvSpPr>
          <p:cNvPr id="13" name="TextBox 12"/>
          <p:cNvSpPr txBox="1"/>
          <p:nvPr/>
        </p:nvSpPr>
        <p:spPr>
          <a:xfrm>
            <a:off x="7274559" y="21590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für sie spricht</a:t>
            </a:r>
          </a:p>
          <a:p>
            <a:pPr algn="l">
              <a:lnSpc>
                <a:spcPct val="95000"/>
              </a:lnSpc>
              <a:spcBef>
                <a:spcPts val="300"/>
              </a:spcBef>
            </a:pPr>
            <a:r>
              <a:rPr sz="1300" b="0">
                <a:solidFill>
                  <a:srgbClr val="404040"/>
                </a:solidFill>
              </a:rPr>
              <a:t>läuft ohne Python — 136 Zeilen</a:t>
            </a:r>
          </a:p>
          <a:p>
            <a:pPr algn="l">
              <a:lnSpc>
                <a:spcPct val="95000"/>
              </a:lnSpc>
              <a:spcBef>
                <a:spcPts val="300"/>
              </a:spcBef>
            </a:pPr>
            <a:r>
              <a:rPr sz="1300" b="0">
                <a:solidFill>
                  <a:srgbClr val="404040"/>
                </a:solidFill>
              </a:rPr>
              <a:t>  in der Datenbank</a:t>
            </a:r>
          </a:p>
          <a:p>
            <a:pPr algn="l">
              <a:lnSpc>
                <a:spcPct val="95000"/>
              </a:lnSpc>
              <a:spcBef>
                <a:spcPts val="300"/>
              </a:spcBef>
            </a:pPr>
            <a:r>
              <a:rPr sz="1300" b="0">
                <a:solidFill>
                  <a:srgbClr val="404040"/>
                </a:solidFill>
              </a:rPr>
              <a:t>ist von Hand nachprüfbar</a:t>
            </a:r>
          </a:p>
          <a:p>
            <a:pPr algn="l">
              <a:lnSpc>
                <a:spcPct val="95000"/>
              </a:lnSpc>
              <a:spcBef>
                <a:spcPts val="300"/>
              </a:spcBef>
            </a:pPr>
            <a:r>
              <a:rPr sz="1300" b="0">
                <a:solidFill>
                  <a:srgbClr val="404040"/>
                </a:solidFill>
              </a:rPr>
              <a:t>wer Ortskenntnis hat, kann</a:t>
            </a:r>
          </a:p>
          <a:p>
            <a:pPr algn="l">
              <a:lnSpc>
                <a:spcPct val="95000"/>
              </a:lnSpc>
              <a:spcBef>
                <a:spcPts val="300"/>
              </a:spcBef>
            </a:pPr>
            <a:r>
              <a:rPr sz="1300" b="0">
                <a:solidFill>
                  <a:srgbClr val="404040"/>
                </a:solidFill>
              </a:rPr>
              <a:t>  widersprechen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Antwortet dafür seltener.</a:t>
            </a:r>
          </a:p>
        </p:txBody>
      </p:sp>
      <p:sp>
        <p:nvSpPr>
          <p:cNvPr id="14" name="Rectangle 13"/>
          <p:cNvSpPr/>
          <p:nvPr/>
        </p:nvSpPr>
        <p:spPr>
          <a:xfrm>
            <a:off x="1153160" y="4318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94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Wir liefern den schwächeren Kandidaten aus, weil der stärkere nicht dorthin passt, wo er laufen müsste. Der dritte Weg — die Modellvorhersagen vorab tabellieren — steht als offene Entscheidung im Notebook.</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Datensatz zum Artefakt — durch Streichen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6.1 bis 6.3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Filter stehen zwischen 60.425 Rohzeilen und 136 Tabellenzeilen. Jeder von ihnen erzeugt Schweigen, wo keine Auskunft trägt.</a:t>
            </a:r>
          </a:p>
        </p:txBody>
      </p:sp>
      <p:sp>
        <p:nvSpPr>
          <p:cNvPr id="6" name="Rectangle 5"/>
          <p:cNvSpPr/>
          <p:nvPr/>
        </p:nvSpPr>
        <p:spPr>
          <a:xfrm>
            <a:off x="1051560" y="2745628"/>
            <a:ext cx="11677650" cy="2408143"/>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artefakt.png"/>
          <p:cNvPicPr>
            <a:picLocks noChangeAspect="1"/>
          </p:cNvPicPr>
          <p:nvPr/>
        </p:nvPicPr>
        <p:blipFill>
          <a:blip r:embed="rId2"/>
          <a:stretch>
            <a:fillRect/>
          </a:stretch>
        </p:blipFill>
        <p:spPr>
          <a:xfrm>
            <a:off x="1153160" y="2847228"/>
            <a:ext cx="11474450" cy="2204943"/>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Freigabe steckt in der Tabelle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in einer Aktennotiz und nicht in einer Bedingung im Anwendungscode: Was nicht trägt, hat keine Zeile.</a:t>
            </a:r>
          </a:p>
        </p:txBody>
      </p:sp>
      <p:sp>
        <p:nvSpPr>
          <p:cNvPr id="6" name="TextBox 5"/>
          <p:cNvSpPr txBox="1"/>
          <p:nvPr/>
        </p:nvSpPr>
        <p:spPr>
          <a:xfrm>
            <a:off x="5521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80 %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84,0 % auf Test 2</a:t>
            </a:r>
          </a:p>
        </p:txBody>
      </p:sp>
      <p:sp>
        <p:nvSpPr>
          <p:cNvPr id="10" name="Rounded Rectangle 9"/>
          <p:cNvSpPr/>
          <p:nvPr/>
        </p:nvSpPr>
        <p:spPr>
          <a:xfrm>
            <a:off x="5521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93559" y="20447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1.408 Prüffahrten. Freigegeben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74,6 % auf Test 2</a:t>
            </a:r>
          </a:p>
        </p:txBody>
      </p:sp>
      <p:sp>
        <p:nvSpPr>
          <p:cNvPr id="15" name="Rounded Rectangle 14"/>
          <p:cNvSpPr/>
          <p:nvPr/>
        </p:nvSpPr>
        <p:spPr>
          <a:xfrm>
            <a:off x="5521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93559" y="27559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nur 134 Prüffahrten. Keine Zeile in der Tabelle</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keine Kombination erreicht 30 Fahrten</a:t>
            </a:r>
          </a:p>
        </p:txBody>
      </p:sp>
      <p:sp>
        <p:nvSpPr>
          <p:cNvPr id="20" name="Rounded Rectangle 19"/>
          <p:cNvSpPr/>
          <p:nvPr/>
        </p:nvSpPr>
        <p:spPr>
          <a:xfrm>
            <a:off x="5521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93559" y="34671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scheitert schon an der Datengrundlage</a:t>
            </a:r>
          </a:p>
        </p:txBody>
      </p:sp>
      <p:sp>
        <p:nvSpPr>
          <p:cNvPr id="22" name="Rectangle 21"/>
          <p:cNvSpPr/>
          <p:nvPr/>
        </p:nvSpPr>
        <p:spPr>
          <a:xfrm>
            <a:off x="1153160" y="419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31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Und eine Ebene tiefer, je Kombination</a:t>
            </a:r>
          </a:p>
          <a:p>
            <a:pPr algn="l">
              <a:lnSpc>
                <a:spcPct val="95000"/>
              </a:lnSpc>
              <a:spcBef>
                <a:spcPts val="500"/>
              </a:spcBef>
            </a:pPr>
            <a:r>
              <a:rPr sz="1300" b="0">
                <a:solidFill>
                  <a:srgbClr val="404040"/>
                </a:solidFill>
              </a:rPr>
              <a:t>14 Kombinationen haben mindestens 20 Prüffahrten — 11 davon halten die 80 %, 3 nicht. Diese drei werden ausgeschlossen.</a:t>
            </a:r>
          </a:p>
          <a:p>
            <a:pPr algn="l">
              <a:lnSpc>
                <a:spcPct val="95000"/>
              </a:lnSpc>
              <a:spcBef>
                <a:spcPts val="500"/>
              </a:spcBef>
            </a:pPr>
            <a:r>
              <a:rPr sz="1300" b="0">
                <a:solidFill>
                  <a:srgbClr val="404040"/>
                </a:solidFill>
              </a:rPr>
              <a:t>140 Kombinationen haben weniger (im Median 7). Für sie lässt sich einzeln nichts Belastbares sagen — sie bleiben drin, aber die Zusage gilt nur insgesamt und je Radtyp.</a:t>
            </a:r>
          </a:p>
        </p:txBody>
      </p:sp>
      <p:sp>
        <p:nvSpPr>
          <p:cNvPr id="25" name="Rectangle 2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7" name="Rectangle 2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9" name="Rectangle 2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1" name="Rectangle 3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3" name="Rectangle 3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5" name="Rectangle 3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ausgelieferte Artefakt, Zeile für Zeile</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6.3</a:t>
            </a:r>
          </a:p>
        </p:txBody>
      </p:sp>
      <p:sp>
        <p:nvSpPr>
          <p:cNvPr id="5" name="Rectangle 4"/>
          <p:cNvSpPr/>
          <p:nvPr/>
        </p:nvSpPr>
        <p:spPr>
          <a:xfrm>
            <a:off x="1229476" y="1168400"/>
            <a:ext cx="113218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belle.png"/>
          <p:cNvPicPr>
            <a:picLocks noChangeAspect="1"/>
          </p:cNvPicPr>
          <p:nvPr/>
        </p:nvPicPr>
        <p:blipFill>
          <a:blip r:embed="rId2"/>
          <a:stretch>
            <a:fillRect/>
          </a:stretch>
        </p:blipFill>
        <p:spPr>
          <a:xfrm>
            <a:off x="1331076" y="1270000"/>
            <a:ext cx="111186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136 Zeilen, 60 Verbindungen, nur CITY. Zwei Stationen, ein Radtyp, ein Zeitfenster — und zwei Zahlen in Minuten und in Euro.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ehrliche Produktreichweite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App am Ende wirklich beantworten kann. Diese Zahl steht im Notebook, weil sie sonst niemand ausrechnet.</a:t>
            </a:r>
          </a:p>
        </p:txBody>
      </p:sp>
      <p:sp>
        <p:nvSpPr>
          <p:cNvPr id="6" name="Rectangle 5"/>
          <p:cNvSpPr/>
          <p:nvPr/>
        </p:nvSpPr>
        <p:spPr>
          <a:xfrm>
            <a:off x="1153160" y="17780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5.882 Fahrten im Prüfzeitraum — abgeschlossen und mit Ziel</a:t>
            </a:r>
          </a:p>
        </p:txBody>
      </p:sp>
      <p:sp>
        <p:nvSpPr>
          <p:cNvPr id="7" name="Isosceles Triangle 6"/>
          <p:cNvSpPr/>
          <p:nvPr/>
        </p:nvSpPr>
        <p:spPr>
          <a:xfrm rot="10800000">
            <a:off x="6801484" y="24511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4.969 davon echte Wege, keine Rundtouren  ·  84 %</a:t>
            </a:r>
          </a:p>
        </p:txBody>
      </p:sp>
      <p:sp>
        <p:nvSpPr>
          <p:cNvPr id="9" name="Isosceles Triangle 8"/>
          <p:cNvSpPr/>
          <p:nvPr/>
        </p:nvSpPr>
        <p:spPr>
          <a:xfrm rot="10800000">
            <a:off x="6801484" y="32893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544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1.326 davon mit einer freigegebenen Spanne  ·  23 % aller Fahrten</a:t>
            </a:r>
          </a:p>
        </p:txBody>
      </p:sp>
      <p:sp>
        <p:nvSpPr>
          <p:cNvPr id="11" name="Rectangle 10"/>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App kann für gut jede fünfte Fahrt einen Preis nennen. Für den Rest sagt sie, dass sie es nicht kann — und das ist besser als eine Zahl, die nicht trägt.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die App aufruft — und wann sie schweigt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Vier Eingaben, eine Antwort. In drei von vier Fällen lautet die Antwort: keine Anzeige.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133600"/>
          </a:xfrm>
          <a:prstGeom prst="rect">
            <a:avLst/>
          </a:prstGeom>
          <a:noFill/>
        </p:spPr>
        <p:txBody>
          <a:bodyPr wrap="square" lIns="0" tIns="0" rIns="0" bIns="0">
            <a:spAutoFit/>
          </a:bodyPr>
          <a:lstStyle/>
          <a:p>
            <a:pPr algn="l">
              <a:lnSpc>
                <a:spcPct val="95000"/>
              </a:lnSpc>
            </a:pPr>
            <a:r>
              <a:rPr sz="1400" b="1">
                <a:solidFill>
                  <a:srgbClr val="003E6E"/>
                </a:solidFill>
              </a:rPr>
              <a:t>Der 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start_id=9,</a:t>
            </a:r>
          </a:p>
          <a:p>
            <a:pPr algn="l">
              <a:lnSpc>
                <a:spcPct val="95000"/>
              </a:lnSpc>
              <a:spcBef>
                <a:spcPts val="200"/>
              </a:spcBef>
            </a:pPr>
            <a:r>
              <a:rPr sz="1300" b="0">
                <a:solidFill>
                  <a:srgbClr val="404040"/>
                </a:solidFill>
                <a:latin typeface="Consolas"/>
              </a:rPr>
              <a:t>  ziel_id=6,</a:t>
            </a:r>
          </a:p>
          <a:p>
            <a:pPr algn="l">
              <a:lnSpc>
                <a:spcPct val="95000"/>
              </a:lnSpc>
              <a:spcBef>
                <a:spcPts val="200"/>
              </a:spcBef>
            </a:pPr>
            <a:r>
              <a:rPr sz="1300" b="0">
                <a:solidFill>
                  <a:srgbClr val="404040"/>
                </a:solidFill>
                <a:latin typeface="Consolas"/>
              </a:rPr>
              <a:t>  typ_code='CITY',</a:t>
            </a:r>
          </a:p>
          <a:p>
            <a:pPr algn="l">
              <a:lnSpc>
                <a:spcPct val="95000"/>
              </a:lnSpc>
              <a:spcBef>
                <a:spcPts val="200"/>
              </a:spcBef>
            </a:pPr>
            <a:r>
              <a:rPr sz="1300" b="0">
                <a:solidFill>
                  <a:srgbClr val="404040"/>
                </a:solidFill>
                <a:latin typeface="Consolas"/>
              </a:rPr>
              <a:t>  stunde=17,</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3622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133600"/>
          </a:xfrm>
          <a:prstGeom prst="rect">
            <a:avLst/>
          </a:prstGeom>
          <a:noFill/>
        </p:spPr>
        <p:txBody>
          <a:bodyPr wrap="square" lIns="0" tIns="0" rIns="0" bIns="0">
            <a:spAutoFit/>
          </a:bodyPr>
          <a:lstStyle/>
          <a:p>
            <a:pPr algn="l">
              <a:lnSpc>
                <a:spcPct val="95000"/>
              </a:lnSpc>
            </a:pPr>
            <a:r>
              <a:rPr sz="1400" b="1">
                <a:solidFill>
                  <a:srgbClr val="55801C"/>
                </a:solidFill>
              </a:rPr>
              <a:t>Die vier möglichen Antworten</a:t>
            </a:r>
          </a:p>
          <a:p>
            <a:pPr algn="l">
              <a:lnSpc>
                <a:spcPct val="95000"/>
              </a:lnSpc>
              <a:spcBef>
                <a:spcPts val="200"/>
              </a:spcBef>
            </a:pPr>
            <a:r>
              <a:rPr sz="1300" b="0">
                <a:solidFill>
                  <a:srgbClr val="404040"/>
                </a:solidFill>
                <a:latin typeface="Consolas"/>
              </a:rPr>
              <a:t>0,60 bis 1,30 € · 5 bis 12 Min</a:t>
            </a:r>
          </a:p>
          <a:p>
            <a:pPr algn="l">
              <a:lnSpc>
                <a:spcPct val="95000"/>
              </a:lnSpc>
              <a:spcBef>
                <a:spcPts val="200"/>
              </a:spcBef>
            </a:pPr>
            <a:r>
              <a:rPr sz="1300" b="0">
                <a:solidFill>
                  <a:srgbClr val="404040"/>
                </a:solidFill>
                <a:latin typeface="Consolas"/>
              </a:rPr>
              <a:t>  Grundlage: 78 Fahrten</a:t>
            </a:r>
          </a:p>
          <a:p>
            <a:pPr algn="l">
              <a:lnSpc>
                <a:spcPct val="95000"/>
              </a:lnSpc>
              <a:spcBef>
                <a:spcPts val="200"/>
              </a:spcBef>
            </a:pPr>
            <a:r>
              <a:rPr sz="1300" b="0">
                <a:solidFill>
                  <a:srgbClr val="404040"/>
                </a:solidFill>
                <a:latin typeface="Consolas"/>
              </a:rPr>
              <a:t>— Für Rundfahrten schätzen wir</a:t>
            </a:r>
          </a:p>
          <a:p>
            <a:pPr algn="l">
              <a:lnSpc>
                <a:spcPct val="95000"/>
              </a:lnSpc>
              <a:spcBef>
                <a:spcPts val="200"/>
              </a:spcBef>
            </a:pPr>
            <a:r>
              <a:rPr sz="1300" b="0">
                <a:solidFill>
                  <a:srgbClr val="404040"/>
                </a:solidFill>
                <a:latin typeface="Consolas"/>
              </a:rPr>
              <a:t>  keinen Preis.</a:t>
            </a:r>
          </a:p>
          <a:p>
            <a:pPr algn="l">
              <a:lnSpc>
                <a:spcPct val="95000"/>
              </a:lnSpc>
              <a:spcBef>
                <a:spcPts val="200"/>
              </a:spcBef>
            </a:pPr>
            <a:r>
              <a:rPr sz="1300" b="0">
                <a:solidFill>
                  <a:srgbClr val="404040"/>
                </a:solidFill>
                <a:latin typeface="Consolas"/>
              </a:rPr>
              <a:t>— Für diese Verbindung liegt</a:t>
            </a:r>
          </a:p>
          <a:p>
            <a:pPr algn="l">
              <a:lnSpc>
                <a:spcPct val="95000"/>
              </a:lnSpc>
              <a:spcBef>
                <a:spcPts val="200"/>
              </a:spcBef>
            </a:pPr>
            <a:r>
              <a:rPr sz="1300" b="0">
                <a:solidFill>
                  <a:srgbClr val="404040"/>
                </a:solidFill>
                <a:latin typeface="Consolas"/>
              </a:rPr>
              <a:t>  keine belastbare Schätzung vor.</a:t>
            </a:r>
          </a:p>
        </p:txBody>
      </p:sp>
      <p:sp>
        <p:nvSpPr>
          <p:cNvPr id="12" name="Rectangle 11"/>
          <p:cNvSpPr/>
          <p:nvPr/>
        </p:nvSpPr>
        <p:spPr>
          <a:xfrm>
            <a:off x="1153160" y="4140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4216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Begründung wird mitgeliefert, nicht nur das Schweigen. Eine App, die ohne Erklärung nichts anzeigt, wirkt kaputt — eine, die den Grund nennt, wirkt sorgfältig.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Anfragen, drei Absagen</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6.4</a:t>
            </a:r>
          </a:p>
        </p:txBody>
      </p:sp>
      <p:sp>
        <p:nvSpPr>
          <p:cNvPr id="5" name="Rectangle 4"/>
          <p:cNvSpPr/>
          <p:nvPr/>
        </p:nvSpPr>
        <p:spPr>
          <a:xfrm>
            <a:off x="1051560" y="1801878"/>
            <a:ext cx="11677650" cy="2924042"/>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pp.png"/>
          <p:cNvPicPr>
            <a:picLocks noChangeAspect="1"/>
          </p:cNvPicPr>
          <p:nvPr/>
        </p:nvPicPr>
        <p:blipFill>
          <a:blip r:embed="rId2"/>
          <a:stretch>
            <a:fillRect/>
          </a:stretch>
        </p:blipFill>
        <p:spPr>
          <a:xfrm>
            <a:off x="1153160" y="1903478"/>
            <a:ext cx="11474450" cy="2720842"/>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So sieht die Schnittstelle zur Webanwendung aus: eine Zeile mit Preis, Minuten und Fallzahl — oder eine Absage mit Grund.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Überwachung: drei Fälle, die einander ausschließen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Eine Schwelle allein genügt nicht. Bei 78 Prozent gemessener Abdeckung muss klar sein, welche Regel gilt — sonst greifen zwei gleichzeitig.</a:t>
            </a:r>
          </a:p>
        </p:txBody>
      </p:sp>
      <p:sp>
        <p:nvSpPr>
          <p:cNvPr id="6" name="Rectangle 5"/>
          <p:cNvSpPr/>
          <p:nvPr/>
        </p:nvSpPr>
        <p:spPr>
          <a:xfrm>
            <a:off x="1153160" y="1879600"/>
            <a:ext cx="292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4074160" y="1879600"/>
            <a:ext cx="3302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7376159" y="1879600"/>
            <a:ext cx="5251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4384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je Kombination,
gleitend über 8 Wochen</a:t>
            </a:r>
          </a:p>
        </p:txBody>
      </p:sp>
      <p:sp>
        <p:nvSpPr>
          <p:cNvPr id="10" name="Rectangle 9"/>
          <p:cNvSpPr/>
          <p:nvPr/>
        </p:nvSpPr>
        <p:spPr>
          <a:xfrm>
            <a:off x="4074160" y="24384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Vertrauensgrenze ≥ 80 %</a:t>
            </a:r>
          </a:p>
        </p:txBody>
      </p:sp>
      <p:sp>
        <p:nvSpPr>
          <p:cNvPr id="11" name="Rectangle 10"/>
          <p:cNvSpPr/>
          <p:nvPr/>
        </p:nvSpPr>
        <p:spPr>
          <a:xfrm>
            <a:off x="7376159" y="24384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a:t>
            </a:r>
          </a:p>
        </p:txBody>
      </p:sp>
      <p:sp>
        <p:nvSpPr>
          <p:cNvPr id="12" name="Rectangle 11"/>
          <p:cNvSpPr/>
          <p:nvPr/>
        </p:nvSpPr>
        <p:spPr>
          <a:xfrm>
            <a:off x="1153160" y="29972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4074160" y="29972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Intervall überlappt 80 %</a:t>
            </a:r>
          </a:p>
        </p:txBody>
      </p:sp>
      <p:sp>
        <p:nvSpPr>
          <p:cNvPr id="14" name="Rectangle 13"/>
          <p:cNvSpPr/>
          <p:nvPr/>
        </p:nvSpPr>
        <p:spPr>
          <a:xfrm>
            <a:off x="7376159" y="29972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 aber Warnung und Neuberechnung</a:t>
            </a:r>
          </a:p>
        </p:txBody>
      </p:sp>
      <p:sp>
        <p:nvSpPr>
          <p:cNvPr id="15" name="Rectangle 14"/>
          <p:cNvSpPr/>
          <p:nvPr/>
        </p:nvSpPr>
        <p:spPr>
          <a:xfrm>
            <a:off x="1153160" y="35560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4074160" y="35560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obere Vertrauensgrenze &lt; 80 %</a:t>
            </a:r>
          </a:p>
        </p:txBody>
      </p:sp>
      <p:sp>
        <p:nvSpPr>
          <p:cNvPr id="17" name="Rectangle 16"/>
          <p:cNvSpPr/>
          <p:nvPr/>
        </p:nvSpPr>
        <p:spPr>
          <a:xfrm>
            <a:off x="7376159" y="35560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Kombination abschalten</a:t>
            </a:r>
          </a:p>
        </p:txBody>
      </p:sp>
      <p:sp>
        <p:nvSpPr>
          <p:cNvPr id="18" name="Rectangle 17"/>
          <p:cNvSpPr/>
          <p:nvPr/>
        </p:nvSpPr>
        <p:spPr>
          <a:xfrm>
            <a:off x="1153160" y="41148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Fallzahl je Kombination</a:t>
            </a:r>
          </a:p>
        </p:txBody>
      </p:sp>
      <p:sp>
        <p:nvSpPr>
          <p:cNvPr id="19" name="Rectangle 18"/>
          <p:cNvSpPr/>
          <p:nvPr/>
        </p:nvSpPr>
        <p:spPr>
          <a:xfrm>
            <a:off x="4074160" y="41148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20 im Fenster</a:t>
            </a:r>
          </a:p>
        </p:txBody>
      </p:sp>
      <p:sp>
        <p:nvSpPr>
          <p:cNvPr id="20" name="Rectangle 19"/>
          <p:cNvSpPr/>
          <p:nvPr/>
        </p:nvSpPr>
        <p:spPr>
          <a:xfrm>
            <a:off x="7376159" y="41148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Aussage möglich, Vorwoche weiterverwenden</a:t>
            </a:r>
          </a:p>
        </p:txBody>
      </p:sp>
      <p:sp>
        <p:nvSpPr>
          <p:cNvPr id="21" name="Rectangle 20"/>
          <p:cNvSpPr/>
          <p:nvPr/>
        </p:nvSpPr>
        <p:spPr>
          <a:xfrm>
            <a:off x="1153160" y="46736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 ändert sich</a:t>
            </a:r>
          </a:p>
        </p:txBody>
      </p:sp>
      <p:sp>
        <p:nvSpPr>
          <p:cNvPr id="22" name="Rectangle 21"/>
          <p:cNvSpPr/>
          <p:nvPr/>
        </p:nvSpPr>
        <p:spPr>
          <a:xfrm>
            <a:off x="4074160" y="46736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3" name="Rectangle 22"/>
          <p:cNvSpPr/>
          <p:nvPr/>
        </p:nvSpPr>
        <p:spPr>
          <a:xfrm>
            <a:off x="7376159" y="46736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gesamte Tabelle neu rechnen — sie enthält Euro</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ein echter Schattenbetrieb wäre — und warum wir ihn nicht haben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dieses Notebook Test 2 nennt, ist ein rückblickender Test auf vergangenen Daten. Ein Schattenbetrieb ist etwas anderes.</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1 bis 3  </a:t>
            </a:r>
            <a:r>
              <a:rPr sz="1300">
                <a:solidFill>
                  <a:srgbClr val="404040"/>
                </a:solidFill>
              </a:rPr>
              <a:t>Tabelle einfrieren · in der App das GEPLANTE Ziel speichern · Schätzung berechnen, aber nicht anzeigen</a:t>
            </a:r>
          </a:p>
        </p:txBody>
      </p:sp>
      <p:sp>
        <p:nvSpPr>
          <p:cNvPr id="10" name="Rectangle 9"/>
          <p:cNvSpPr/>
          <p:nvPr/>
        </p:nvSpPr>
        <p:spPr>
          <a:xfrm>
            <a:off x="1153160" y="2794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94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22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702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4 und 5  </a:t>
            </a:r>
            <a:r>
              <a:rPr sz="1300">
                <a:solidFill>
                  <a:srgbClr val="404040"/>
                </a:solidFill>
              </a:rPr>
              <a:t>Nach der Fahrt tatsächliches Ziel und Dauer ergänzen · geplantes gegen tatsächliches Ziel vergleichen</a:t>
            </a:r>
          </a:p>
        </p:txBody>
      </p:sp>
      <p:sp>
        <p:nvSpPr>
          <p:cNvPr id="14" name="Rectangle 13"/>
          <p:cNvSpPr/>
          <p:nvPr/>
        </p:nvSpPr>
        <p:spPr>
          <a:xfrm>
            <a:off x="1153160" y="37084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7084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37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846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6 und 7  </a:t>
            </a:r>
            <a:r>
              <a:rPr sz="1300">
                <a:solidFill>
                  <a:srgbClr val="404040"/>
                </a:solidFill>
              </a:rPr>
              <a:t>Abdeckung, Breite, Reichweite und Ablehnungsgründe auswerten · erst danach sichtbar schalten</a:t>
            </a:r>
          </a:p>
        </p:txBody>
      </p:sp>
      <p:sp>
        <p:nvSpPr>
          <p:cNvPr id="18" name="Rectangle 17"/>
          <p:cNvSpPr/>
          <p:nvPr/>
        </p:nvSpPr>
        <p:spPr>
          <a:xfrm>
            <a:off x="1153160" y="46736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6736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8006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Schritt 2 und 5 sind der Kern</a:t>
            </a:r>
          </a:p>
          <a:p>
            <a:pPr algn="l">
              <a:lnSpc>
                <a:spcPct val="95000"/>
              </a:lnSpc>
              <a:spcBef>
                <a:spcPts val="500"/>
              </a:spcBef>
            </a:pPr>
            <a:r>
              <a:rPr sz="1300" b="0">
                <a:solidFill>
                  <a:srgbClr val="404040"/>
                </a:solidFill>
              </a:rPr>
              <a:t>Sie prüfen die Annahme vom Anfang: Ist das geplante Ziel ein brauchbarer Stellvertreter für das tatsächliche?</a:t>
            </a:r>
          </a:p>
          <a:p>
            <a:pPr algn="l">
              <a:lnSpc>
                <a:spcPct val="95000"/>
              </a:lnSpc>
              <a:spcBef>
                <a:spcPts val="500"/>
              </a:spcBef>
            </a:pPr>
            <a:r>
              <a:rPr sz="1300" b="0">
                <a:solidFill>
                  <a:srgbClr val="404040"/>
                </a:solidFill>
              </a:rPr>
              <a:t>Ohne sie bleibt die Grundannahme dieses Notebooks ungeprüft — und alle Zahlen bleiben Obergrenzen.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Rücksprung von Phase 5 zurück in Phase 1 — und ein Produkt, das öfter schweigt als spricht.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Prozess wurde geändert, nicht das Verfahren. Kriterium: unter 50 Cent</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Fünftel endet frei im Gebiet, ein weiteres Fünftel sind Rundtouren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Zielstation erlaubt — als Stellvertreter. Wetter gesperrt. Vier Zeitabschnitte</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Baselines, dann Modelle. Eine Ablation zeigt: das Ziel bringt 9 %</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hält die Grenze. Trotzdem Rücksprung — der Mittelwert bildet die einzelne Fahrt nicht ab</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Tabelle, nicht das Modell. 136 Zeilen, nur CITY, 22,5 % Reichweite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offen bleibt — ausdrücklich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Projektbericht ohne diese Liste ist unvollständig. Sie steht am Ende des Notebooks, nicht im Kleingedruckten.</a:t>
            </a:r>
          </a:p>
        </p:txBody>
      </p:sp>
      <p:sp>
        <p:nvSpPr>
          <p:cNvPr id="6" name="Rectangle 5"/>
          <p:cNvSpPr/>
          <p:nvPr/>
        </p:nvSpPr>
        <p:spPr>
          <a:xfrm>
            <a:off x="1153160" y="1651000"/>
            <a:ext cx="444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Offener Punkt</a:t>
            </a:r>
          </a:p>
        </p:txBody>
      </p:sp>
      <p:sp>
        <p:nvSpPr>
          <p:cNvPr id="7" name="Rectangle 6"/>
          <p:cNvSpPr/>
          <p:nvPr/>
        </p:nvSpPr>
        <p:spPr>
          <a:xfrm>
            <a:off x="5598160" y="1651000"/>
            <a:ext cx="702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daraus folgt</a:t>
            </a:r>
          </a:p>
        </p:txBody>
      </p:sp>
      <p:sp>
        <p:nvSpPr>
          <p:cNvPr id="8" name="Rectangle 7"/>
          <p:cNvSpPr/>
          <p:nvPr/>
        </p:nvSpPr>
        <p:spPr>
          <a:xfrm>
            <a:off x="1153160" y="21844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Das geplante Ziel wird nicht erfasst</a:t>
            </a:r>
          </a:p>
        </p:txBody>
      </p:sp>
      <p:sp>
        <p:nvSpPr>
          <p:cNvPr id="9" name="Rectangle 8"/>
          <p:cNvSpPr/>
          <p:nvPr/>
        </p:nvSpPr>
        <p:spPr>
          <a:xfrm>
            <a:off x="5598160" y="21844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Zahlen sind Obergrenzen</a:t>
            </a:r>
          </a:p>
        </p:txBody>
      </p:sp>
      <p:sp>
        <p:nvSpPr>
          <p:cNvPr id="10" name="Rectangle 9"/>
          <p:cNvSpPr/>
          <p:nvPr/>
        </p:nvSpPr>
        <p:spPr>
          <a:xfrm>
            <a:off x="1153160" y="27178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echter Schattenbetrieb</a:t>
            </a:r>
          </a:p>
        </p:txBody>
      </p:sp>
      <p:sp>
        <p:nvSpPr>
          <p:cNvPr id="11" name="Rectangle 10"/>
          <p:cNvSpPr/>
          <p:nvPr/>
        </p:nvSpPr>
        <p:spPr>
          <a:xfrm>
            <a:off x="5598160" y="27178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hat kalibriert und freigegeben — die unabhängige Endprüfung steht aus</a:t>
            </a:r>
          </a:p>
        </p:txBody>
      </p:sp>
      <p:sp>
        <p:nvSpPr>
          <p:cNvPr id="12" name="Rectangle 11"/>
          <p:cNvSpPr/>
          <p:nvPr/>
        </p:nvSpPr>
        <p:spPr>
          <a:xfrm>
            <a:off x="1153160" y="32512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Keine Zusage je Verbindung</a:t>
            </a:r>
          </a:p>
        </p:txBody>
      </p:sp>
      <p:sp>
        <p:nvSpPr>
          <p:cNvPr id="13" name="Rectangle 12"/>
          <p:cNvSpPr/>
          <p:nvPr/>
        </p:nvSpPr>
        <p:spPr>
          <a:xfrm>
            <a:off x="5598160" y="32512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80 % gelten insgesamt und je Radtyp</a:t>
            </a:r>
          </a:p>
        </p:txBody>
      </p:sp>
      <p:sp>
        <p:nvSpPr>
          <p:cNvPr id="14" name="Rectangle 13"/>
          <p:cNvSpPr/>
          <p:nvPr/>
        </p:nvSpPr>
        <p:spPr>
          <a:xfrm>
            <a:off x="1153160" y="37846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Wetter</a:t>
            </a:r>
          </a:p>
        </p:txBody>
      </p:sp>
      <p:sp>
        <p:nvSpPr>
          <p:cNvPr id="15" name="Rectangle 14"/>
          <p:cNvSpPr/>
          <p:nvPr/>
        </p:nvSpPr>
        <p:spPr>
          <a:xfrm>
            <a:off x="5598160" y="37846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archivierte Prognosen fehlt ein vermutlich starkes Merkmal</a:t>
            </a:r>
          </a:p>
        </p:txBody>
      </p:sp>
      <p:sp>
        <p:nvSpPr>
          <p:cNvPr id="16" name="Rectangle 15"/>
          <p:cNvSpPr/>
          <p:nvPr/>
        </p:nvSpPr>
        <p:spPr>
          <a:xfrm>
            <a:off x="1153160" y="43180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Produkt für EBIKE und CARGO</a:t>
            </a:r>
          </a:p>
        </p:txBody>
      </p:sp>
      <p:sp>
        <p:nvSpPr>
          <p:cNvPr id="17" name="Rectangle 16"/>
          <p:cNvSpPr/>
          <p:nvPr/>
        </p:nvSpPr>
        <p:spPr>
          <a:xfrm>
            <a:off x="5598160" y="43180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Weder als Zahl noch als Spanne</a:t>
            </a:r>
          </a:p>
        </p:txBody>
      </p:sp>
      <p:sp>
        <p:nvSpPr>
          <p:cNvPr id="18" name="Rectangle 17"/>
          <p:cNvSpPr/>
          <p:nvPr/>
        </p:nvSpPr>
        <p:spPr>
          <a:xfrm>
            <a:off x="1153160" y="48514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Der bessere Kandidat wird nicht ausgeliefert</a:t>
            </a:r>
          </a:p>
        </p:txBody>
      </p:sp>
      <p:sp>
        <p:nvSpPr>
          <p:cNvPr id="19" name="Rectangle 18"/>
          <p:cNvSpPr/>
          <p:nvPr/>
        </p:nvSpPr>
        <p:spPr>
          <a:xfrm>
            <a:off x="5598160" y="48514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Modellvorhersagen zu tabellieren wäre der nächste Schritt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lohnt sich dafür der Betrieb eines Modells?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Gleichstand auf dem Test, über fünf Quartale liegt die Regel vorn — ausgeliefert wird die Regel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Kostenmatrix, aus der alles Weitere folgt</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analytics/notebooks/02_Klassifikation_Wartungsrisiko.ipynb · Abschnitt 1 — Fehlerkosten</a:t>
            </a:r>
          </a:p>
        </p:txBody>
      </p:sp>
      <p:sp>
        <p:nvSpPr>
          <p:cNvPr id="5" name="Rectangle 4"/>
          <p:cNvSpPr/>
          <p:nvPr/>
        </p:nvSpPr>
        <p:spPr>
          <a:xfrm>
            <a:off x="4523244" y="1168400"/>
            <a:ext cx="473428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osten.png"/>
          <p:cNvPicPr>
            <a:picLocks noChangeAspect="1"/>
          </p:cNvPicPr>
          <p:nvPr/>
        </p:nvPicPr>
        <p:blipFill>
          <a:blip r:embed="rId2"/>
          <a:stretch>
            <a:fillRect/>
          </a:stretch>
        </p:blipFill>
        <p:spPr>
          <a:xfrm>
            <a:off x="4624844" y="1270000"/>
            <a:ext cx="453108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180 € gegen 25 €. Diese beiden Zahlen bestimmen das Erfolgskriterium, die Klassengewichte und am Ende die Auslieferung.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zeitliche Schnitt, in Zahlen</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analytics/notebooks/02_Klassifikation_Wartungsrisiko.ipynb · Abschnitt 3.3</a:t>
            </a:r>
          </a:p>
        </p:txBody>
      </p:sp>
      <p:sp>
        <p:nvSpPr>
          <p:cNvPr id="5" name="Rectangle 4"/>
          <p:cNvSpPr/>
          <p:nvPr/>
        </p:nvSpPr>
        <p:spPr>
          <a:xfrm>
            <a:off x="1051560" y="1178279"/>
            <a:ext cx="11677650" cy="434904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schnitt.png"/>
          <p:cNvPicPr>
            <a:picLocks noChangeAspect="1"/>
          </p:cNvPicPr>
          <p:nvPr/>
        </p:nvPicPr>
        <p:blipFill>
          <a:blip r:embed="rId2"/>
          <a:stretch>
            <a:fillRect/>
          </a:stretch>
        </p:blipFill>
        <p:spPr>
          <a:xfrm>
            <a:off x="1153160" y="1279879"/>
            <a:ext cx="11474450" cy="414584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Sieben Stichtage zum Trainieren, der jüngste zum Testen — und ein Anteil positiver Fälle, der sich dabei verdoppelt.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analytics/notebooks/02_Klassifikation_Wartungsrisiko.ipynb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auf dem Testquartal</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Erfolgskriterien standen vor der Messung fest: mindestens 70 % Trefferquote, und günstiger als die heutige Faustregel.</a:t>
            </a:r>
          </a:p>
        </p:txBody>
      </p:sp>
      <p:sp>
        <p:nvSpPr>
          <p:cNvPr id="6" name="Rectangle 5"/>
          <p:cNvSpPr/>
          <p:nvPr/>
        </p:nvSpPr>
        <p:spPr>
          <a:xfrm>
            <a:off x="1153160" y="1879600"/>
            <a:ext cx="482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5979160" y="1879600"/>
            <a:ext cx="152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a:t>
            </a:r>
          </a:p>
        </p:txBody>
      </p:sp>
      <p:sp>
        <p:nvSpPr>
          <p:cNvPr id="8" name="Rectangle 7"/>
          <p:cNvSpPr/>
          <p:nvPr/>
        </p:nvSpPr>
        <p:spPr>
          <a:xfrm>
            <a:off x="7503159" y="1879600"/>
            <a:ext cx="228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9" name="Rectangle 8"/>
          <p:cNvSpPr/>
          <p:nvPr/>
        </p:nvSpPr>
        <p:spPr>
          <a:xfrm>
            <a:off x="9789160" y="1879600"/>
            <a:ext cx="283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 je Quartal</a:t>
            </a:r>
          </a:p>
        </p:txBody>
      </p:sp>
      <p:sp>
        <p:nvSpPr>
          <p:cNvPr id="10" name="Rectangle 9"/>
          <p:cNvSpPr/>
          <p:nvPr/>
        </p:nvSpPr>
        <p:spPr>
          <a:xfrm>
            <a:off x="1153160" y="23368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 vorsorglich prüfen</a:t>
            </a:r>
          </a:p>
        </p:txBody>
      </p:sp>
      <p:sp>
        <p:nvSpPr>
          <p:cNvPr id="11" name="Rectangle 10"/>
          <p:cNvSpPr/>
          <p:nvPr/>
        </p:nvSpPr>
        <p:spPr>
          <a:xfrm>
            <a:off x="5979160" y="23368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2" name="Rectangle 11"/>
          <p:cNvSpPr/>
          <p:nvPr/>
        </p:nvSpPr>
        <p:spPr>
          <a:xfrm>
            <a:off x="7503159" y="23368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a:t>
            </a:r>
          </a:p>
        </p:txBody>
      </p:sp>
      <p:sp>
        <p:nvSpPr>
          <p:cNvPr id="13" name="Rectangle 12"/>
          <p:cNvSpPr/>
          <p:nvPr/>
        </p:nvSpPr>
        <p:spPr>
          <a:xfrm>
            <a:off x="9789160" y="23368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18.360 €</a:t>
            </a:r>
          </a:p>
        </p:txBody>
      </p:sp>
      <p:sp>
        <p:nvSpPr>
          <p:cNvPr id="14" name="Rectangle 13"/>
          <p:cNvSpPr/>
          <p:nvPr/>
        </p:nvSpPr>
        <p:spPr>
          <a:xfrm>
            <a:off x="1153160" y="27940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ältestes Rad</a:t>
            </a:r>
          </a:p>
        </p:txBody>
      </p:sp>
      <p:sp>
        <p:nvSpPr>
          <p:cNvPr id="15" name="Rectangle 14"/>
          <p:cNvSpPr/>
          <p:nvPr/>
        </p:nvSpPr>
        <p:spPr>
          <a:xfrm>
            <a:off x="5979160" y="27940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16" name="Rectangle 15"/>
          <p:cNvSpPr/>
          <p:nvPr/>
        </p:nvSpPr>
        <p:spPr>
          <a:xfrm>
            <a:off x="7503159" y="27940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45,0 %</a:t>
            </a:r>
          </a:p>
        </p:txBody>
      </p:sp>
      <p:sp>
        <p:nvSpPr>
          <p:cNvPr id="17" name="Rectangle 16"/>
          <p:cNvSpPr/>
          <p:nvPr/>
        </p:nvSpPr>
        <p:spPr>
          <a:xfrm>
            <a:off x="9789160" y="27940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14.325 €</a:t>
            </a:r>
          </a:p>
        </p:txBody>
      </p:sp>
      <p:sp>
        <p:nvSpPr>
          <p:cNvPr id="18" name="Rectangle 17"/>
          <p:cNvSpPr/>
          <p:nvPr/>
        </p:nvSpPr>
        <p:spPr>
          <a:xfrm>
            <a:off x="1153160" y="32512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meiste Kilometer</a:t>
            </a:r>
          </a:p>
        </p:txBody>
      </p:sp>
      <p:sp>
        <p:nvSpPr>
          <p:cNvPr id="19" name="Rectangle 18"/>
          <p:cNvSpPr/>
          <p:nvPr/>
        </p:nvSpPr>
        <p:spPr>
          <a:xfrm>
            <a:off x="5979160" y="32512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a:t>
            </a:r>
          </a:p>
        </p:txBody>
      </p:sp>
      <p:sp>
        <p:nvSpPr>
          <p:cNvPr id="20" name="Rectangle 19"/>
          <p:cNvSpPr/>
          <p:nvPr/>
        </p:nvSpPr>
        <p:spPr>
          <a:xfrm>
            <a:off x="7503159" y="32512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51,7 %</a:t>
            </a:r>
          </a:p>
        </p:txBody>
      </p:sp>
      <p:sp>
        <p:nvSpPr>
          <p:cNvPr id="21" name="Rectangle 20"/>
          <p:cNvSpPr/>
          <p:nvPr/>
        </p:nvSpPr>
        <p:spPr>
          <a:xfrm>
            <a:off x="9789160" y="32512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13.505 €</a:t>
            </a:r>
          </a:p>
        </p:txBody>
      </p:sp>
      <p:sp>
        <p:nvSpPr>
          <p:cNvPr id="22" name="Rectangle 21"/>
          <p:cNvSpPr/>
          <p:nvPr/>
        </p:nvSpPr>
        <p:spPr>
          <a:xfrm>
            <a:off x="1153160" y="37084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km seit letzter Reparatur</a:t>
            </a:r>
          </a:p>
        </p:txBody>
      </p:sp>
      <p:sp>
        <p:nvSpPr>
          <p:cNvPr id="23" name="Rectangle 22"/>
          <p:cNvSpPr/>
          <p:nvPr/>
        </p:nvSpPr>
        <p:spPr>
          <a:xfrm>
            <a:off x="5979160" y="37084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4" name="Rectangle 23"/>
          <p:cNvSpPr/>
          <p:nvPr/>
        </p:nvSpPr>
        <p:spPr>
          <a:xfrm>
            <a:off x="7503159" y="37084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5" name="Rectangle 24"/>
          <p:cNvSpPr/>
          <p:nvPr/>
        </p:nvSpPr>
        <p:spPr>
          <a:xfrm>
            <a:off x="9789160" y="37084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26" name="Rectangle 25"/>
          <p:cNvSpPr/>
          <p:nvPr/>
        </p:nvSpPr>
        <p:spPr>
          <a:xfrm>
            <a:off x="1153160" y="41656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27" name="Rectangle 26"/>
          <p:cNvSpPr/>
          <p:nvPr/>
        </p:nvSpPr>
        <p:spPr>
          <a:xfrm>
            <a:off x="5979160" y="41656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8" name="Rectangle 27"/>
          <p:cNvSpPr/>
          <p:nvPr/>
        </p:nvSpPr>
        <p:spPr>
          <a:xfrm>
            <a:off x="7503159" y="41656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9" name="Rectangle 28"/>
          <p:cNvSpPr/>
          <p:nvPr/>
        </p:nvSpPr>
        <p:spPr>
          <a:xfrm>
            <a:off x="9789160" y="41656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30" name="Rectangle 29"/>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Treffer für Treffer identisch. Der Wald mit 300 Bäumen findet nichts, was über „Kilometer seit der Reparatur“ hinausgeht.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Quartal ist keine Aussage — fünf schon eher</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Anteil auffälliger Räder schwankt zwischen 8 % im November und 46 % im Mai. Wer auf einem Quartal entscheidet, entscheidet über die Jahreszeit mit.</a:t>
            </a:r>
          </a:p>
        </p:txBody>
      </p:sp>
      <p:sp>
        <p:nvSpPr>
          <p:cNvPr id="6" name="Rectangle 5"/>
          <p:cNvSpPr/>
          <p:nvPr/>
        </p:nvSpPr>
        <p:spPr>
          <a:xfrm>
            <a:off x="1153160" y="1879600"/>
            <a:ext cx="279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Stichtag</a:t>
            </a:r>
          </a:p>
        </p:txBody>
      </p:sp>
      <p:sp>
        <p:nvSpPr>
          <p:cNvPr id="7" name="Rectangle 6"/>
          <p:cNvSpPr/>
          <p:nvPr/>
        </p:nvSpPr>
        <p:spPr>
          <a:xfrm>
            <a:off x="3947160" y="1879600"/>
            <a:ext cx="254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Grundrate</a:t>
            </a:r>
          </a:p>
        </p:txBody>
      </p:sp>
      <p:sp>
        <p:nvSpPr>
          <p:cNvPr id="8" name="Rectangle 7"/>
          <p:cNvSpPr/>
          <p:nvPr/>
        </p:nvSpPr>
        <p:spPr>
          <a:xfrm>
            <a:off x="6487160" y="1879600"/>
            <a:ext cx="3175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9662160" y="1879600"/>
            <a:ext cx="2965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10" name="Rectangle 9"/>
          <p:cNvSpPr/>
          <p:nvPr/>
        </p:nvSpPr>
        <p:spPr>
          <a:xfrm>
            <a:off x="1153160" y="22860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03/2025</a:t>
            </a:r>
          </a:p>
        </p:txBody>
      </p:sp>
      <p:sp>
        <p:nvSpPr>
          <p:cNvPr id="11" name="Rectangle 10"/>
          <p:cNvSpPr/>
          <p:nvPr/>
        </p:nvSpPr>
        <p:spPr>
          <a:xfrm>
            <a:off x="3947160" y="22860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22,7 %</a:t>
            </a:r>
          </a:p>
        </p:txBody>
      </p:sp>
      <p:sp>
        <p:nvSpPr>
          <p:cNvPr id="12" name="Rectangle 11"/>
          <p:cNvSpPr/>
          <p:nvPr/>
        </p:nvSpPr>
        <p:spPr>
          <a:xfrm>
            <a:off x="6487160" y="22860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a:t>
            </a:r>
          </a:p>
        </p:txBody>
      </p:sp>
      <p:sp>
        <p:nvSpPr>
          <p:cNvPr id="13" name="Rectangle 12"/>
          <p:cNvSpPr/>
          <p:nvPr/>
        </p:nvSpPr>
        <p:spPr>
          <a:xfrm>
            <a:off x="9662160" y="22860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14" name="Rectangle 13"/>
          <p:cNvSpPr/>
          <p:nvPr/>
        </p:nvSpPr>
        <p:spPr>
          <a:xfrm>
            <a:off x="1153160" y="26924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a:t>
            </a:r>
          </a:p>
        </p:txBody>
      </p:sp>
      <p:sp>
        <p:nvSpPr>
          <p:cNvPr id="15" name="Rectangle 14"/>
          <p:cNvSpPr/>
          <p:nvPr/>
        </p:nvSpPr>
        <p:spPr>
          <a:xfrm>
            <a:off x="3947160" y="26924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46,9 %</a:t>
            </a:r>
          </a:p>
        </p:txBody>
      </p:sp>
      <p:sp>
        <p:nvSpPr>
          <p:cNvPr id="16" name="Rectangle 15"/>
          <p:cNvSpPr/>
          <p:nvPr/>
        </p:nvSpPr>
        <p:spPr>
          <a:xfrm>
            <a:off x="6487160" y="26924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7" name="Rectangle 16"/>
          <p:cNvSpPr/>
          <p:nvPr/>
        </p:nvSpPr>
        <p:spPr>
          <a:xfrm>
            <a:off x="9662160" y="26924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a:t>
            </a:r>
          </a:p>
        </p:txBody>
      </p:sp>
      <p:sp>
        <p:nvSpPr>
          <p:cNvPr id="18" name="Rectangle 17"/>
          <p:cNvSpPr/>
          <p:nvPr/>
        </p:nvSpPr>
        <p:spPr>
          <a:xfrm>
            <a:off x="1153160" y="30988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08/2025</a:t>
            </a:r>
          </a:p>
        </p:txBody>
      </p:sp>
      <p:sp>
        <p:nvSpPr>
          <p:cNvPr id="19" name="Rectangle 18"/>
          <p:cNvSpPr/>
          <p:nvPr/>
        </p:nvSpPr>
        <p:spPr>
          <a:xfrm>
            <a:off x="3947160" y="30988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26,5 %</a:t>
            </a:r>
          </a:p>
        </p:txBody>
      </p:sp>
      <p:sp>
        <p:nvSpPr>
          <p:cNvPr id="20" name="Rectangle 19"/>
          <p:cNvSpPr/>
          <p:nvPr/>
        </p:nvSpPr>
        <p:spPr>
          <a:xfrm>
            <a:off x="6487160" y="30988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1" name="Rectangle 20"/>
          <p:cNvSpPr/>
          <p:nvPr/>
        </p:nvSpPr>
        <p:spPr>
          <a:xfrm>
            <a:off x="9662160" y="30988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2" name="Rectangle 21"/>
          <p:cNvSpPr/>
          <p:nvPr/>
        </p:nvSpPr>
        <p:spPr>
          <a:xfrm>
            <a:off x="1153160" y="35052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11/2025</a:t>
            </a:r>
          </a:p>
        </p:txBody>
      </p:sp>
      <p:sp>
        <p:nvSpPr>
          <p:cNvPr id="23" name="Rectangle 22"/>
          <p:cNvSpPr/>
          <p:nvPr/>
        </p:nvSpPr>
        <p:spPr>
          <a:xfrm>
            <a:off x="3947160" y="35052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7,6 %</a:t>
            </a:r>
          </a:p>
        </p:txBody>
      </p:sp>
      <p:sp>
        <p:nvSpPr>
          <p:cNvPr id="24" name="Rectangle 23"/>
          <p:cNvSpPr/>
          <p:nvPr/>
        </p:nvSpPr>
        <p:spPr>
          <a:xfrm>
            <a:off x="6487160" y="35052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a:t>
            </a:r>
          </a:p>
        </p:txBody>
      </p:sp>
      <p:sp>
        <p:nvSpPr>
          <p:cNvPr id="25" name="Rectangle 24"/>
          <p:cNvSpPr/>
          <p:nvPr/>
        </p:nvSpPr>
        <p:spPr>
          <a:xfrm>
            <a:off x="9662160" y="35052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26" name="Rectangle 25"/>
          <p:cNvSpPr/>
          <p:nvPr/>
        </p:nvSpPr>
        <p:spPr>
          <a:xfrm>
            <a:off x="1153160" y="39116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02/2026</a:t>
            </a:r>
          </a:p>
        </p:txBody>
      </p:sp>
      <p:sp>
        <p:nvSpPr>
          <p:cNvPr id="27" name="Rectangle 26"/>
          <p:cNvSpPr/>
          <p:nvPr/>
        </p:nvSpPr>
        <p:spPr>
          <a:xfrm>
            <a:off x="3947160" y="39116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20,7 %</a:t>
            </a:r>
          </a:p>
        </p:txBody>
      </p:sp>
      <p:sp>
        <p:nvSpPr>
          <p:cNvPr id="28" name="Rectangle 27"/>
          <p:cNvSpPr/>
          <p:nvPr/>
        </p:nvSpPr>
        <p:spPr>
          <a:xfrm>
            <a:off x="6487160" y="39116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29" name="Rectangle 28"/>
          <p:cNvSpPr/>
          <p:nvPr/>
        </p:nvSpPr>
        <p:spPr>
          <a:xfrm>
            <a:off x="9662160" y="39116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30" name="Rectangle 29"/>
          <p:cNvSpPr/>
          <p:nvPr/>
        </p:nvSpPr>
        <p:spPr>
          <a:xfrm>
            <a:off x="1153160" y="43180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Summe</a:t>
            </a:r>
          </a:p>
        </p:txBody>
      </p:sp>
      <p:sp>
        <p:nvSpPr>
          <p:cNvPr id="31" name="Rectangle 30"/>
          <p:cNvSpPr/>
          <p:nvPr/>
        </p:nvSpPr>
        <p:spPr>
          <a:xfrm>
            <a:off x="3947160" y="43180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a:r>
          </a:p>
        </p:txBody>
      </p:sp>
      <p:sp>
        <p:nvSpPr>
          <p:cNvPr id="32" name="Rectangle 31"/>
          <p:cNvSpPr/>
          <p:nvPr/>
        </p:nvSpPr>
        <p:spPr>
          <a:xfrm>
            <a:off x="6487160" y="43180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a:t>
            </a:r>
          </a:p>
        </p:txBody>
      </p:sp>
      <p:sp>
        <p:nvSpPr>
          <p:cNvPr id="33" name="Rectangle 32"/>
          <p:cNvSpPr/>
          <p:nvPr/>
        </p:nvSpPr>
        <p:spPr>
          <a:xfrm>
            <a:off x="9662160" y="43180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a:t>
            </a:r>
          </a:p>
        </p:txBody>
      </p:sp>
      <p:sp>
        <p:nvSpPr>
          <p:cNvPr id="34" name="Rectangle 33"/>
          <p:cNvSpPr/>
          <p:nvPr/>
        </p:nvSpPr>
        <p:spPr>
          <a:xfrm>
            <a:off x="1153160" y="4902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356360" y="4978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Über fünf Quartale liegt die Faustregel vorn — der Wald kostet 328 € je Quartal mehr, noch vor jedem Betriebsaufwand.</a:t>
            </a:r>
          </a:p>
        </p:txBody>
      </p:sp>
      <p:sp>
        <p:nvSpPr>
          <p:cNvPr id="36" name="Rectangle 3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8" name="Rectangle 3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40" name="Rectangle 3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2" name="Rectangle 4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4" name="Rectangle 4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6" name="Rectangle 4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sicher ist eine Trefferquote aus 60 Beobachtungen?</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43 von 60 sind 71,7 %. Die Zahl klingt genauer, als sie ist.</a:t>
            </a:r>
          </a:p>
        </p:txBody>
      </p:sp>
      <p:sp>
        <p:nvSpPr>
          <p:cNvPr id="6" name="Rectangle 5"/>
          <p:cNvSpPr/>
          <p:nvPr/>
        </p:nvSpPr>
        <p:spPr>
          <a:xfrm>
            <a:off x="115316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Das Wilson-Intervall</a:t>
            </a:r>
          </a:p>
          <a:p>
            <a:pPr algn="l">
              <a:lnSpc>
                <a:spcPct val="95000"/>
              </a:lnSpc>
              <a:spcBef>
                <a:spcPts val="500"/>
              </a:spcBef>
            </a:pPr>
            <a:r>
              <a:rPr sz="1300" b="0">
                <a:solidFill>
                  <a:srgbClr val="404040"/>
                </a:solidFill>
              </a:rPr>
              <a:t>71,7 % aus 60 Beobachtungen</a:t>
            </a:r>
          </a:p>
          <a:p>
            <a:pPr algn="l">
              <a:lnSpc>
                <a:spcPct val="95000"/>
              </a:lnSpc>
              <a:spcBef>
                <a:spcPts val="500"/>
              </a:spcBef>
            </a:pPr>
            <a:r>
              <a:rPr sz="1300" b="0">
                <a:solidFill>
                  <a:srgbClr val="404040"/>
                </a:solidFill>
              </a:rPr>
              <a:t>bedeutet: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59,2 % bis 81,5 %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Verträglich mit 60 % ebenso</a:t>
            </a:r>
          </a:p>
          <a:p>
            <a:pPr algn="l">
              <a:lnSpc>
                <a:spcPct val="95000"/>
              </a:lnSpc>
              <a:spcBef>
                <a:spcPts val="500"/>
              </a:spcBef>
            </a:pPr>
            <a:r>
              <a:rPr sz="1300" b="0">
                <a:solidFill>
                  <a:srgbClr val="404040"/>
                </a:solidFill>
              </a:rPr>
              <a:t>wie mit 80 %.</a:t>
            </a:r>
          </a:p>
        </p:txBody>
      </p:sp>
      <p:sp>
        <p:nvSpPr>
          <p:cNvPr id="9" name="Rectangle 8"/>
          <p:cNvSpPr/>
          <p:nvPr/>
        </p:nvSpPr>
        <p:spPr>
          <a:xfrm>
            <a:off x="511302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das heißt</a:t>
            </a:r>
          </a:p>
          <a:p>
            <a:pPr algn="l">
              <a:lnSpc>
                <a:spcPct val="95000"/>
              </a:lnSpc>
              <a:spcBef>
                <a:spcPts val="500"/>
              </a:spcBef>
            </a:pPr>
            <a:r>
              <a:rPr sz="1300" b="0">
                <a:solidFill>
                  <a:srgbClr val="404040"/>
                </a:solidFill>
              </a:rPr>
              <a:t>Die 70-%-Hürde liegt mitten</a:t>
            </a:r>
          </a:p>
          <a:p>
            <a:pPr algn="l">
              <a:lnSpc>
                <a:spcPct val="95000"/>
              </a:lnSpc>
              <a:spcBef>
                <a:spcPts val="500"/>
              </a:spcBef>
            </a:pPr>
            <a:r>
              <a:rPr sz="1300" b="0">
                <a:solidFill>
                  <a:srgbClr val="404040"/>
                </a:solidFill>
              </a:rPr>
              <a:t>im Intervall.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ist damit nicht belegt,</a:t>
            </a:r>
          </a:p>
          <a:p>
            <a:pPr algn="l">
              <a:lnSpc>
                <a:spcPct val="95000"/>
              </a:lnSpc>
              <a:spcBef>
                <a:spcPts val="500"/>
              </a:spcBef>
            </a:pPr>
            <a:r>
              <a:rPr sz="1300" b="0">
                <a:solidFill>
                  <a:srgbClr val="404040"/>
                </a:solidFill>
              </a:rPr>
              <a:t>sondern nur nicht widerlegt.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Treffer weniger wäre</a:t>
            </a:r>
          </a:p>
          <a:p>
            <a:pPr algn="l">
              <a:lnSpc>
                <a:spcPct val="95000"/>
              </a:lnSpc>
              <a:spcBef>
                <a:spcPts val="500"/>
              </a:spcBef>
            </a:pPr>
            <a:r>
              <a:rPr sz="1300" b="0">
                <a:solidFill>
                  <a:srgbClr val="404040"/>
                </a:solidFill>
              </a:rPr>
              <a:t>exakt 70,0 % gewesen.</a:t>
            </a:r>
          </a:p>
        </p:txBody>
      </p:sp>
      <p:sp>
        <p:nvSpPr>
          <p:cNvPr id="12" name="Rectangle 11"/>
          <p:cNvSpPr/>
          <p:nvPr/>
        </p:nvSpPr>
        <p:spPr>
          <a:xfrm>
            <a:off x="908177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hilft</a:t>
            </a:r>
          </a:p>
          <a:p>
            <a:pPr algn="l">
              <a:lnSpc>
                <a:spcPct val="95000"/>
              </a:lnSpc>
              <a:spcBef>
                <a:spcPts val="500"/>
              </a:spcBef>
            </a:pPr>
            <a:r>
              <a:rPr sz="1300" b="0">
                <a:solidFill>
                  <a:srgbClr val="404040"/>
                </a:solidFill>
              </a:rPr>
              <a:t>Nicht ein größeres Modell,</a:t>
            </a:r>
          </a:p>
          <a:p>
            <a:pPr algn="l">
              <a:lnSpc>
                <a:spcPct val="95000"/>
              </a:lnSpc>
              <a:spcBef>
                <a:spcPts val="500"/>
              </a:spcBef>
            </a:pPr>
            <a:r>
              <a:rPr sz="1300" b="0">
                <a:solidFill>
                  <a:srgbClr val="404040"/>
                </a:solidFill>
              </a:rPr>
              <a:t>sondern mehr Perioden.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Fünf Quartale trennen die</a:t>
            </a:r>
          </a:p>
          <a:p>
            <a:pPr algn="l">
              <a:lnSpc>
                <a:spcPct val="95000"/>
              </a:lnSpc>
              <a:spcBef>
                <a:spcPts val="500"/>
              </a:spcBef>
            </a:pPr>
            <a:r>
              <a:rPr sz="1300" b="0">
                <a:solidFill>
                  <a:srgbClr val="404040"/>
                </a:solidFill>
              </a:rPr>
              <a:t>Verfahren, ein Quartal</a:t>
            </a:r>
          </a:p>
          <a:p>
            <a:pPr algn="l">
              <a:lnSpc>
                <a:spcPct val="95000"/>
              </a:lnSpc>
              <a:spcBef>
                <a:spcPts val="500"/>
              </a:spcBef>
            </a:pPr>
            <a:r>
              <a:rPr sz="1300" b="0">
                <a:solidFill>
                  <a:srgbClr val="404040"/>
                </a:solidFill>
              </a:rPr>
              <a:t>nicht.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Kriterien, und das dritte entscheidet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analytics/notebooks/02_Klassifikation_Wartungsrisiko.ipynb · Abschnitt 5.4</a:t>
            </a:r>
          </a:p>
        </p:txBody>
      </p:sp>
      <p:sp>
        <p:nvSpPr>
          <p:cNvPr id="5" name="Rectangle 4"/>
          <p:cNvSpPr/>
          <p:nvPr/>
        </p:nvSpPr>
        <p:spPr>
          <a:xfrm>
            <a:off x="1051560" y="2291797"/>
            <a:ext cx="11677649" cy="212200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riterien.png"/>
          <p:cNvPicPr>
            <a:picLocks noChangeAspect="1"/>
          </p:cNvPicPr>
          <p:nvPr/>
        </p:nvPicPr>
        <p:blipFill>
          <a:blip r:embed="rId2"/>
          <a:stretch>
            <a:fillRect/>
          </a:stretch>
        </p:blipFill>
        <p:spPr>
          <a:xfrm>
            <a:off x="1153160" y="2393397"/>
            <a:ext cx="11474449" cy="1918804"/>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Trefferquote und Kosten sind gleich. Das dritte Kriterium — der Vorteil über mehrere Quartale — reißt das Modell.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 und das Modell bleibt im Paket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Rechnung über die Lebensdauer.</a:t>
            </a:r>
          </a:p>
        </p:txBody>
      </p:sp>
      <p:sp>
        <p:nvSpPr>
          <p:cNvPr id="6" name="Rectangle 5"/>
          <p:cNvSpPr/>
          <p:nvPr/>
        </p:nvSpPr>
        <p:spPr>
          <a:xfrm>
            <a:off x="1153160" y="1879600"/>
            <a:ext cx="3302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455160" y="1879600"/>
            <a:ext cx="406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519160" y="1879600"/>
            <a:ext cx="410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3368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Trefferquote auf dem Test</a:t>
            </a:r>
          </a:p>
        </p:txBody>
      </p:sp>
      <p:sp>
        <p:nvSpPr>
          <p:cNvPr id="10" name="Rectangle 9"/>
          <p:cNvSpPr/>
          <p:nvPr/>
        </p:nvSpPr>
        <p:spPr>
          <a:xfrm>
            <a:off x="4455160" y="23368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1" name="Rectangle 10"/>
          <p:cNvSpPr/>
          <p:nvPr/>
        </p:nvSpPr>
        <p:spPr>
          <a:xfrm>
            <a:off x="8519160" y="23368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2" name="Rectangle 11"/>
          <p:cNvSpPr/>
          <p:nvPr/>
        </p:nvSpPr>
        <p:spPr>
          <a:xfrm>
            <a:off x="1153160" y="27940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fünf Validierungsquartale</a:t>
            </a:r>
          </a:p>
        </p:txBody>
      </p:sp>
      <p:sp>
        <p:nvSpPr>
          <p:cNvPr id="13" name="Rectangle 12"/>
          <p:cNvSpPr/>
          <p:nvPr/>
        </p:nvSpPr>
        <p:spPr>
          <a:xfrm>
            <a:off x="4455160" y="27940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 Treffer</a:t>
            </a:r>
          </a:p>
        </p:txBody>
      </p:sp>
      <p:sp>
        <p:nvSpPr>
          <p:cNvPr id="14" name="Rectangle 13"/>
          <p:cNvSpPr/>
          <p:nvPr/>
        </p:nvSpPr>
        <p:spPr>
          <a:xfrm>
            <a:off x="8519160" y="27940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 Treffer</a:t>
            </a:r>
          </a:p>
        </p:txBody>
      </p:sp>
      <p:sp>
        <p:nvSpPr>
          <p:cNvPr id="15" name="Rectangle 14"/>
          <p:cNvSpPr/>
          <p:nvPr/>
        </p:nvSpPr>
        <p:spPr>
          <a:xfrm>
            <a:off x="1153160" y="32512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erklärbar</a:t>
            </a:r>
          </a:p>
        </p:txBody>
      </p:sp>
      <p:sp>
        <p:nvSpPr>
          <p:cNvPr id="16" name="Rectangle 15"/>
          <p:cNvSpPr/>
          <p:nvPr/>
        </p:nvSpPr>
        <p:spPr>
          <a:xfrm>
            <a:off x="4455160" y="32512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„seit 592 km nicht in der Werkstatt“</a:t>
            </a:r>
          </a:p>
        </p:txBody>
      </p:sp>
      <p:sp>
        <p:nvSpPr>
          <p:cNvPr id="17" name="Rectangle 16"/>
          <p:cNvSpPr/>
          <p:nvPr/>
        </p:nvSpPr>
        <p:spPr>
          <a:xfrm>
            <a:off x="8519160" y="32512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Umwege</a:t>
            </a:r>
          </a:p>
        </p:txBody>
      </p:sp>
      <p:sp>
        <p:nvSpPr>
          <p:cNvPr id="18" name="Rectangle 17"/>
          <p:cNvSpPr/>
          <p:nvPr/>
        </p:nvSpPr>
        <p:spPr>
          <a:xfrm>
            <a:off x="1153160" y="37084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Wartungsaufwand</a:t>
            </a:r>
          </a:p>
        </p:txBody>
      </p:sp>
      <p:sp>
        <p:nvSpPr>
          <p:cNvPr id="19" name="Rectangle 18"/>
          <p:cNvSpPr/>
          <p:nvPr/>
        </p:nvSpPr>
        <p:spPr>
          <a:xfrm>
            <a:off x="4455160" y="37084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keiner</a:t>
            </a:r>
          </a:p>
        </p:txBody>
      </p:sp>
      <p:sp>
        <p:nvSpPr>
          <p:cNvPr id="20" name="Rectangle 19"/>
          <p:cNvSpPr/>
          <p:nvPr/>
        </p:nvSpPr>
        <p:spPr>
          <a:xfrm>
            <a:off x="8519160" y="37084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41656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Abhängigkeiten im Betrieb</a:t>
            </a:r>
          </a:p>
        </p:txBody>
      </p:sp>
      <p:sp>
        <p:nvSpPr>
          <p:cNvPr id="22" name="Rectangle 21"/>
          <p:cNvSpPr/>
          <p:nvPr/>
        </p:nvSpPr>
        <p:spPr>
          <a:xfrm>
            <a:off x="4455160" y="41656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3" name="Rectangle 22"/>
          <p:cNvSpPr/>
          <p:nvPr/>
        </p:nvSpPr>
        <p:spPr>
          <a:xfrm>
            <a:off x="8519160" y="41656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scikit-learn, joblib, Versionsstände</a:t>
            </a:r>
          </a:p>
        </p:txBody>
      </p:sp>
      <p:sp>
        <p:nvSpPr>
          <p:cNvPr id="24" name="Rectangle 23"/>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unteren drei Zeilen sind der Preis eines Modells. Er wäre zu zahlen, wenn die oberen beiden dafür sprächen. Sie tun es nicht.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Modell trotzdem nicht umsonst war</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Verfahren, das nicht ausgeliefert wird, kann trotzdem die wertvollste Auskunft des Projekts liefern.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belegt die Wahl</a:t>
            </a:r>
          </a:p>
          <a:p>
            <a:pPr algn="l">
              <a:lnSpc>
                <a:spcPct val="95000"/>
              </a:lnSpc>
              <a:spcBef>
                <a:spcPts val="500"/>
              </a:spcBef>
            </a:pPr>
            <a:r>
              <a:rPr sz="1300" b="0">
                <a:solidFill>
                  <a:srgbClr val="404040"/>
                </a:solidFill>
              </a:rPr>
              <a:t>Die Regel ist nicht aus</a:t>
            </a:r>
          </a:p>
          <a:p>
            <a:pPr algn="l">
              <a:lnSpc>
                <a:spcPct val="95000"/>
              </a:lnSpc>
              <a:spcBef>
                <a:spcPts val="500"/>
              </a:spcBef>
            </a:pPr>
            <a:r>
              <a:rPr sz="1300" b="0">
                <a:solidFill>
                  <a:srgbClr val="404040"/>
                </a:solidFill>
              </a:rPr>
              <a:t>Bequemlichkeit gewählt,</a:t>
            </a:r>
          </a:p>
          <a:p>
            <a:pPr algn="l">
              <a:lnSpc>
                <a:spcPct val="95000"/>
              </a:lnSpc>
              <a:spcBef>
                <a:spcPts val="500"/>
              </a:spcBef>
            </a:pPr>
            <a:r>
              <a:rPr sz="1300" b="0">
                <a:solidFill>
                  <a:srgbClr val="404040"/>
                </a:solidFill>
              </a:rPr>
              <a:t>sondern geprüft.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der Unterschied</a:t>
            </a:r>
          </a:p>
          <a:p>
            <a:pPr algn="l">
              <a:lnSpc>
                <a:spcPct val="95000"/>
              </a:lnSpc>
              <a:spcBef>
                <a:spcPts val="500"/>
              </a:spcBef>
            </a:pPr>
            <a:r>
              <a:rPr sz="1300" b="0">
                <a:solidFill>
                  <a:srgbClr val="404040"/>
                </a:solidFill>
              </a:rPr>
              <a:t>zwischen einer Entscheidung</a:t>
            </a:r>
          </a:p>
          <a:p>
            <a:pPr algn="l">
              <a:lnSpc>
                <a:spcPct val="95000"/>
              </a:lnSpc>
              <a:spcBef>
                <a:spcPts val="500"/>
              </a:spcBef>
            </a:pPr>
            <a:r>
              <a:rPr sz="1300" b="0">
                <a:solidFill>
                  <a:srgbClr val="404040"/>
                </a:solidFill>
              </a:rPr>
              <a:t>und einer Unterlassung.</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misst die Obergrenze</a:t>
            </a:r>
          </a:p>
          <a:p>
            <a:pPr algn="l">
              <a:lnSpc>
                <a:spcPct val="95000"/>
              </a:lnSpc>
              <a:spcBef>
                <a:spcPts val="500"/>
              </a:spcBef>
            </a:pPr>
            <a:r>
              <a:rPr sz="1300" b="0">
                <a:solidFill>
                  <a:srgbClr val="404040"/>
                </a:solidFill>
              </a:rPr>
              <a:t>Ein Wald mit 300 Bäumen</a:t>
            </a:r>
          </a:p>
          <a:p>
            <a:pPr algn="l">
              <a:lnSpc>
                <a:spcPct val="95000"/>
              </a:lnSpc>
              <a:spcBef>
                <a:spcPts val="500"/>
              </a:spcBef>
            </a:pPr>
            <a:r>
              <a:rPr sz="1300" b="0">
                <a:solidFill>
                  <a:srgbClr val="404040"/>
                </a:solidFill>
              </a:rPr>
              <a:t>findet auf diesen Merkmalen</a:t>
            </a:r>
          </a:p>
          <a:p>
            <a:pPr algn="l">
              <a:lnSpc>
                <a:spcPct val="95000"/>
              </a:lnSpc>
              <a:spcBef>
                <a:spcPts val="500"/>
              </a:spcBef>
            </a:pPr>
            <a:r>
              <a:rPr sz="1300" b="0">
                <a:solidFill>
                  <a:srgbClr val="404040"/>
                </a:solidFill>
              </a:rPr>
              <a:t>nichts, was über „Kilometer</a:t>
            </a:r>
          </a:p>
          <a:p>
            <a:pPr algn="l">
              <a:lnSpc>
                <a:spcPct val="95000"/>
              </a:lnSpc>
              <a:spcBef>
                <a:spcPts val="500"/>
              </a:spcBef>
            </a:pPr>
            <a:r>
              <a:rPr sz="1300" b="0">
                <a:solidFill>
                  <a:srgbClr val="404040"/>
                </a:solidFill>
              </a:rPr>
              <a:t>seit der Reparatur“ hinausgeht.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Mehr Rechenleistung hilft</a:t>
            </a:r>
          </a:p>
          <a:p>
            <a:pPr algn="l">
              <a:lnSpc>
                <a:spcPct val="95000"/>
              </a:lnSpc>
              <a:spcBef>
                <a:spcPts val="500"/>
              </a:spcBef>
            </a:pPr>
            <a:r>
              <a:rPr sz="1300" b="0">
                <a:solidFill>
                  <a:srgbClr val="404040"/>
                </a:solidFill>
              </a:rPr>
              <a:t>hier nicht.</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ist der nächste Anlauf</a:t>
            </a:r>
          </a:p>
          <a:p>
            <a:pPr algn="l">
              <a:lnSpc>
                <a:spcPct val="95000"/>
              </a:lnSpc>
              <a:spcBef>
                <a:spcPts val="500"/>
              </a:spcBef>
            </a:pPr>
            <a:r>
              <a:rPr sz="1300" b="0">
                <a:solidFill>
                  <a:srgbClr val="404040"/>
                </a:solidFill>
              </a:rPr>
              <a:t>Kommen neue Merkmale dazu —</a:t>
            </a:r>
          </a:p>
          <a:p>
            <a:pPr algn="l">
              <a:lnSpc>
                <a:spcPct val="95000"/>
              </a:lnSpc>
              <a:spcBef>
                <a:spcPts val="500"/>
              </a:spcBef>
            </a:pPr>
            <a:r>
              <a:rPr sz="1300" b="0">
                <a:solidFill>
                  <a:srgbClr val="404040"/>
                </a:solidFill>
              </a:rPr>
              <a:t>Stürze, Standzeiten, Stationen</a:t>
            </a:r>
          </a:p>
          <a:p>
            <a:pPr algn="l">
              <a:lnSpc>
                <a:spcPct val="95000"/>
              </a:lnSpc>
              <a:spcBef>
                <a:spcPts val="500"/>
              </a:spcBef>
            </a:pPr>
            <a:r>
              <a:rPr sz="1300" b="0">
                <a:solidFill>
                  <a:srgbClr val="404040"/>
                </a:solidFill>
              </a:rPr>
              <a:t>der Fahrten —, wird der</a:t>
            </a:r>
          </a:p>
          <a:p>
            <a:pPr algn="l">
              <a:lnSpc>
                <a:spcPct val="95000"/>
              </a:lnSpc>
              <a:spcBef>
                <a:spcPts val="500"/>
              </a:spcBef>
            </a:pPr>
            <a:r>
              <a:rPr sz="1300" b="0">
                <a:solidFill>
                  <a:srgbClr val="404040"/>
                </a:solidFill>
              </a:rPr>
              <a:t>Vergleich wiederholt.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Dann kann er anders</a:t>
            </a:r>
          </a:p>
          <a:p>
            <a:pPr algn="l">
              <a:lnSpc>
                <a:spcPct val="95000"/>
              </a:lnSpc>
              <a:spcBef>
                <a:spcPts val="500"/>
              </a:spcBef>
            </a:pPr>
            <a:r>
              <a:rPr sz="1300" b="0">
                <a:solidFill>
                  <a:srgbClr val="404040"/>
                </a:solidFill>
              </a:rPr>
              <a:t>ausgehen.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ectangle 5"/>
          <p:cNvSpPr/>
          <p:nvPr/>
        </p:nvSpPr>
        <p:spPr>
          <a:xfrm>
            <a:off x="1051560" y="2079887"/>
            <a:ext cx="11677650" cy="356182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2-rueckkopplung.png"/>
          <p:cNvPicPr>
            <a:picLocks noChangeAspect="1"/>
          </p:cNvPicPr>
          <p:nvPr/>
        </p:nvPicPr>
        <p:blipFill>
          <a:blip r:embed="rId2"/>
          <a:stretch>
            <a:fillRect/>
          </a:stretch>
        </p:blipFill>
        <p:spPr>
          <a:xfrm>
            <a:off x="1153160" y="2181487"/>
            <a:ext cx="11474450" cy="3358624"/>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auf dem Test. Über fünf Validierungsquartale liegt die Regel vorn: 137 gegen 129 Treffer</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 Das Modell bleibt im Paket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analytics/notebooks/03_Clustering_Stationen_und_Kunden.ipynb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Ellenbogen und Silhouette, nebeneinander 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analytics/notebooks/03_Clustering_Stationen_und_Kunden.ipynb · Abschnitt 4.2</a:t>
            </a:r>
          </a:p>
        </p:txBody>
      </p:sp>
      <p:sp>
        <p:nvSpPr>
          <p:cNvPr id="5" name="Rectangle 4"/>
          <p:cNvSpPr/>
          <p:nvPr/>
        </p:nvSpPr>
        <p:spPr>
          <a:xfrm>
            <a:off x="1762641" y="1168400"/>
            <a:ext cx="1025548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k.png"/>
          <p:cNvPicPr>
            <a:picLocks noChangeAspect="1"/>
          </p:cNvPicPr>
          <p:nvPr/>
        </p:nvPicPr>
        <p:blipFill>
          <a:blip r:embed="rId2"/>
          <a:stretch>
            <a:fillRect/>
          </a:stretch>
        </p:blipFill>
        <p:spPr>
          <a:xfrm>
            <a:off x="1864241" y="1270000"/>
            <a:ext cx="1005228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Zwei Kennzahlen je k — und keine davon entscheidet. Die Entscheidung fällt am Kriterium „benennbar“ aus Phase 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bringen den</a:t>
            </a:r>
          </a:p>
          <a:p>
            <a:pPr algn="l">
              <a:lnSpc>
                <a:spcPct val="95000"/>
              </a:lnSpc>
              <a:spcBef>
                <a:spcPts val="500"/>
              </a:spcBef>
            </a:pPr>
            <a:r>
              <a:rPr sz="1300" b="0">
                <a:solidFill>
                  <a:srgbClr val="404040"/>
                </a:solidFill>
              </a:rPr>
              <a:t>GERINGSTEN Umsatz.</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Ihre Tarife enthalten</a:t>
            </a:r>
          </a:p>
          <a:p>
            <a:pPr algn="l">
              <a:lnSpc>
                <a:spcPct val="95000"/>
              </a:lnSpc>
              <a:spcBef>
                <a:spcPts val="500"/>
              </a:spcBef>
            </a:pPr>
            <a:r>
              <a:rPr sz="1300" b="0">
                <a:solidFill>
                  <a:srgbClr val="404040"/>
                </a:solidFill>
              </a:rPr>
              <a:t>Freiminuten — und weil es</a:t>
            </a:r>
          </a:p>
          <a:p>
            <a:pPr algn="l">
              <a:lnSpc>
                <a:spcPct val="95000"/>
              </a:lnSpc>
              <a:spcBef>
                <a:spcPts val="500"/>
              </a:spcBef>
            </a:pPr>
            <a:r>
              <a:rPr sz="1300" b="0">
                <a:solidFill>
                  <a:srgbClr val="404040"/>
                </a:solidFill>
              </a:rPr>
              <a:t>keine Grundgebühr gibt, ist</a:t>
            </a:r>
          </a:p>
          <a:p>
            <a:pPr algn="l">
              <a:lnSpc>
                <a:spcPct val="95000"/>
              </a:lnSpc>
              <a:spcBef>
                <a:spcPts val="500"/>
              </a:spcBef>
            </a:pPr>
            <a:r>
              <a:rPr sz="1300" b="0">
                <a:solidFill>
                  <a:srgbClr val="404040"/>
                </a:solidFill>
              </a:rPr>
              <a:t>das Nutzungsentgelt der</a:t>
            </a:r>
          </a:p>
          <a:p>
            <a:pPr algn="l">
              <a:lnSpc>
                <a:spcPct val="95000"/>
              </a:lnSpc>
              <a:spcBef>
                <a:spcPts val="500"/>
              </a:spcBef>
            </a:pPr>
            <a:r>
              <a:rPr sz="1300" b="0">
                <a:solidFill>
                  <a:srgbClr val="404040"/>
                </a:solidFill>
              </a:rPr>
              <a:t>gesamte Umsatz.</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ein Drittel der</a:t>
            </a:r>
          </a:p>
          <a:p>
            <a:pPr algn="l">
              <a:lnSpc>
                <a:spcPct val="95000"/>
              </a:lnSpc>
              <a:spcBef>
                <a:spcPts val="500"/>
              </a:spcBef>
            </a:pPr>
            <a:r>
              <a:rPr sz="1300" b="0">
                <a:solidFill>
                  <a:srgbClr val="404040"/>
                </a:solidFill>
              </a:rPr>
              <a:t>Kundschaft — 998 von 3.200 —</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Idee für die Geschäftsführung — ausdrücklich als Hypothese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analytics/notebooks/03_Clustering_Stationen_und_Kunden.ipynb · Abschnitt 5.B.3</a:t>
            </a:r>
          </a:p>
        </p:txBody>
      </p:sp>
      <p:sp>
        <p:nvSpPr>
          <p:cNvPr id="5" name="Rectangle 4"/>
          <p:cNvSpPr/>
          <p:nvPr/>
        </p:nvSpPr>
        <p:spPr>
          <a:xfrm>
            <a:off x="2632355" y="1168400"/>
            <a:ext cx="8516058"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hypothese.png"/>
          <p:cNvPicPr>
            <a:picLocks noChangeAspect="1"/>
          </p:cNvPicPr>
          <p:nvPr/>
        </p:nvPicPr>
        <p:blipFill>
          <a:blip r:embed="rId2"/>
          <a:stretch>
            <a:fillRect/>
          </a:stretch>
        </p:blipFill>
        <p:spPr>
          <a:xfrm>
            <a:off x="2733955" y="1270000"/>
            <a:ext cx="8312858"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schreibt „HYPOTHESE, kein Befund“ in die Ausgabe selbst. Damit kann die Zahl nicht als Ergebnis missverstanden werden.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Kampagnenplan je Segment</a:t>
            </a:r>
          </a:p>
          <a:p>
            <a:pPr algn="l">
              <a:lnSpc>
                <a:spcPct val="95000"/>
              </a:lnSpc>
              <a:spcBef>
                <a:spcPts val="300"/>
              </a:spcBef>
            </a:pPr>
            <a:r>
              <a:rPr sz="1300" b="0">
                <a:solidFill>
                  <a:srgbClr val="404040"/>
                </a:solidFill>
              </a:rPr>
              <a:t>Vier Segmente, vier Ansprachen.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eine</a:t>
            </a:r>
          </a:p>
          <a:p>
            <a:pPr algn="l">
              <a:lnSpc>
                <a:spcPct val="95000"/>
              </a:lnSpc>
              <a:spcBef>
                <a:spcPts val="300"/>
              </a:spcBef>
            </a:pPr>
            <a:r>
              <a:rPr sz="1300" b="0">
                <a:solidFill>
                  <a:srgbClr val="404040"/>
                </a:solidFill>
              </a:rPr>
              <a:t>Profilbildung — sie braucht</a:t>
            </a:r>
          </a:p>
          <a:p>
            <a:pPr algn="l">
              <a:lnSpc>
                <a:spcPct val="95000"/>
              </a:lnSpc>
              <a:spcBef>
                <a:spcPts val="300"/>
              </a:spcBef>
            </a:pPr>
            <a:r>
              <a:rPr sz="1300" b="0">
                <a:solidFill>
                  <a:srgbClr val="404040"/>
                </a:solidFill>
              </a:rPr>
              <a:t>eine Rechtsgrundlage, keine</a:t>
            </a:r>
          </a:p>
          <a:p>
            <a:pPr algn="l">
              <a:lnSpc>
                <a:spcPct val="95000"/>
              </a:lnSpc>
              <a:spcBef>
                <a:spcPts val="300"/>
              </a:spcBef>
            </a:pPr>
            <a:r>
              <a:rPr sz="1300" b="0">
                <a:solidFill>
                  <a:srgbClr val="404040"/>
                </a:solidFill>
              </a:rPr>
              <a:t>gute Absicht.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Dispositionsplan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Kampagnenplan, mit Vorbehalt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Räder müssen morgen früh bereitstehen, und braucht es einen Frühdienst?</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Klar besser als die Faustregel — und die genaueste Prognose ist nicht die günstigste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analytics/notebooks/04_Zeitreihe_Nachfrageprognose.ipynb · Abschnitt 2</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zwei Zeilen entlarvt</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analytics/notebooks/04_Zeitreihe_Nachfrageprognose.ipynb · Abschnitt 2.3</a:t>
            </a:r>
          </a:p>
        </p:txBody>
      </p:sp>
      <p:sp>
        <p:nvSpPr>
          <p:cNvPr id="5" name="Rectangle 4"/>
          <p:cNvSpPr/>
          <p:nvPr/>
        </p:nvSpPr>
        <p:spPr>
          <a:xfrm>
            <a:off x="1051560" y="1443510"/>
            <a:ext cx="11677650" cy="381857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stoergroesse.png"/>
          <p:cNvPicPr>
            <a:picLocks noChangeAspect="1"/>
          </p:cNvPicPr>
          <p:nvPr/>
        </p:nvPicPr>
        <p:blipFill>
          <a:blip r:embed="rId2"/>
          <a:stretch>
            <a:fillRect/>
          </a:stretch>
        </p:blipFill>
        <p:spPr>
          <a:xfrm>
            <a:off x="1153160" y="1545110"/>
            <a:ext cx="11474450" cy="3615378"/>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Roh: Faktor 0,91. Bei gleicher Temperatur: 0,75. Derselbe Datensatz, zwei völlig verschiedene Aussagen.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analytics/notebooks/04_Zeitreihe_Nachfrageprognose.ipynb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analytics/notebooks/04_Zeitreihe_Nachfrageprognose.ipynb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 fehlendes Rad 4,00 € kostet und ein überzähliges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16 % werden auf die</a:t>
            </a:r>
          </a:p>
          <a:p>
            <a:pPr algn="l">
              <a:lnSpc>
                <a:spcPct val="95000"/>
              </a:lnSpc>
              <a:spcBef>
                <a:spcPts val="500"/>
              </a:spcBef>
            </a:pPr>
            <a:r>
              <a:rPr sz="1300" b="0">
                <a:solidFill>
                  <a:srgbClr val="404040"/>
                </a:solidFill>
              </a:rPr>
              <a:t>Prognose aufgeschlagen.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Beides 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Kostenrechnung, die den Aufschlag begründet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5.1</a:t>
            </a:r>
          </a:p>
        </p:txBody>
      </p:sp>
      <p:sp>
        <p:nvSpPr>
          <p:cNvPr id="5" name="Rectangle 4"/>
          <p:cNvSpPr/>
          <p:nvPr/>
        </p:nvSpPr>
        <p:spPr>
          <a:xfrm>
            <a:off x="3174076" y="1168400"/>
            <a:ext cx="74326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aufschlag.png"/>
          <p:cNvPicPr>
            <a:picLocks noChangeAspect="1"/>
          </p:cNvPicPr>
          <p:nvPr/>
        </p:nvPicPr>
        <p:blipFill>
          <a:blip r:embed="rId2"/>
          <a:stretch>
            <a:fillRect/>
          </a:stretch>
        </p:blipFill>
        <p:spPr>
          <a:xfrm>
            <a:off x="3275676" y="1270000"/>
            <a:ext cx="72294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rechnet beides aus: die Kosten ohne und mit Sicherheitsaufschlag. Erst dieser Vergleich rechtfertigt ein absichtlich ungenaueres Modell.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Fehlerwerte — und nur einer zählt</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analytics/notebooks/04_Zeitreihe_Nachfrageprognose.ipynb · Abschnitt 6.1</a:t>
            </a:r>
          </a:p>
        </p:txBody>
      </p:sp>
      <p:sp>
        <p:nvSpPr>
          <p:cNvPr id="5" name="Rectangle 4"/>
          <p:cNvSpPr/>
          <p:nvPr/>
        </p:nvSpPr>
        <p:spPr>
          <a:xfrm>
            <a:off x="1213939" y="1168400"/>
            <a:ext cx="1135289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ehrlich.png"/>
          <p:cNvPicPr>
            <a:picLocks noChangeAspect="1"/>
          </p:cNvPicPr>
          <p:nvPr/>
        </p:nvPicPr>
        <p:blipFill>
          <a:blip r:embed="rId2"/>
          <a:stretch>
            <a:fillRect/>
          </a:stretch>
        </p:blipFill>
        <p:spPr>
          <a:xfrm>
            <a:off x="1315539" y="1270000"/>
            <a:ext cx="1114969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MAE 12,50 mit dem tatsächlichen Wetter, 17,13 mit einer simulierten Vorhersage. Die zweite Zahl ist die ehrliche.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Gradient Boosting</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32 Regeln nimmt keine beide Hürden — die stärkste verfehlt sie um 0,01 Prozentpunkte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analytics/notebooks/05_Assoziation_Wege_im_Netz.ipynb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analytics/notebooks/05_Assoziation_Wege_im_Netz.ipynb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einzelne Regel, von Hand nachgerechnet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analytics/notebooks/05_Assoziation_Wege_im_Netz.ipynb · Abschnitt 4</a:t>
            </a:r>
          </a:p>
        </p:txBody>
      </p:sp>
      <p:sp>
        <p:nvSpPr>
          <p:cNvPr id="5" name="Rectangle 4"/>
          <p:cNvSpPr/>
          <p:nvPr/>
        </p:nvSpPr>
        <p:spPr>
          <a:xfrm>
            <a:off x="2839441" y="1168400"/>
            <a:ext cx="810188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regel.png"/>
          <p:cNvPicPr>
            <a:picLocks noChangeAspect="1"/>
          </p:cNvPicPr>
          <p:nvPr/>
        </p:nvPicPr>
        <p:blipFill>
          <a:blip r:embed="rId2"/>
          <a:stretch>
            <a:fillRect/>
          </a:stretch>
        </p:blipFill>
        <p:spPr>
          <a:xfrm>
            <a:off x="2941041" y="1270000"/>
            <a:ext cx="789868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Support, Konfidenz und Lift für eine konkrete Regel — drei Divisionen, Zeile für Zeile nachvollziehbar.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32 Regeln bleibt keine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 — hier bis auf null.</a:t>
            </a:r>
          </a:p>
        </p:txBody>
      </p:sp>
      <p:sp>
        <p:nvSpPr>
          <p:cNvPr id="6" name="Rectangle 5"/>
          <p:cNvSpPr/>
          <p:nvPr/>
        </p:nvSpPr>
        <p:spPr>
          <a:xfrm>
            <a:off x="1153160" y="18796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438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a:t>
            </a:r>
          </a:p>
        </p:txBody>
      </p:sp>
      <p:sp>
        <p:nvSpPr>
          <p:cNvPr id="10" name="Rectangle 9"/>
          <p:cNvSpPr/>
          <p:nvPr/>
        </p:nvSpPr>
        <p:spPr>
          <a:xfrm>
            <a:off x="1153160" y="2997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9</a:t>
            </a:r>
          </a:p>
        </p:txBody>
      </p:sp>
      <p:sp>
        <p:nvSpPr>
          <p:cNvPr id="12" name="Rectangle 11"/>
          <p:cNvSpPr/>
          <p:nvPr/>
        </p:nvSpPr>
        <p:spPr>
          <a:xfrm>
            <a:off x="1153160" y="35560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4" name="Rectangle 13"/>
          <p:cNvSpPr/>
          <p:nvPr/>
        </p:nvSpPr>
        <p:spPr>
          <a:xfrm>
            <a:off x="1153160" y="41148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41148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6" name="Rectangle 15"/>
          <p:cNvSpPr/>
          <p:nvPr/>
        </p:nvSpPr>
        <p:spPr>
          <a:xfrm>
            <a:off x="1153160" y="4851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927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stärkste Regel — werktags früh vom Hauptbahnhof zum Hubland Campus — erreicht 0,99 % Support. Zur Hürde fehlen 0,01 Prozentpunkte, also rund fünf Fahrten in drei Jahren.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0,99 gegen 1,00 Prozent — der teuerste Moment eines Projekts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Hürde auf 0,9 % zu senken wäre die Arbeit von zehn Sekunden. Niemand würde es je bemerken. Genau deshalb darf es nicht passieren.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verlockend wäre</a:t>
            </a:r>
          </a:p>
          <a:p>
            <a:pPr algn="l">
              <a:lnSpc>
                <a:spcPct val="95000"/>
              </a:lnSpc>
              <a:spcBef>
                <a:spcPts val="500"/>
              </a:spcBef>
            </a:pPr>
            <a:r>
              <a:rPr sz="1300" b="0">
                <a:solidFill>
                  <a:srgbClr val="404040"/>
                </a:solidFill>
              </a:rPr>
              <a:t>„0,99 ist doch praktisch 1.“</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Zeile im Notebook, und</a:t>
            </a:r>
          </a:p>
          <a:p>
            <a:pPr algn="l">
              <a:lnSpc>
                <a:spcPct val="95000"/>
              </a:lnSpc>
              <a:spcBef>
                <a:spcPts val="500"/>
              </a:spcBef>
            </a:pPr>
            <a:r>
              <a:rPr sz="1300" b="0">
                <a:solidFill>
                  <a:srgbClr val="404040"/>
                </a:solidFill>
              </a:rPr>
              <a:t>aus dem Fehlschlag wird ein</a:t>
            </a:r>
          </a:p>
          <a:p>
            <a:pPr algn="l">
              <a:lnSpc>
                <a:spcPct val="95000"/>
              </a:lnSpc>
              <a:spcBef>
                <a:spcPts val="500"/>
              </a:spcBef>
            </a:pPr>
            <a:r>
              <a:rPr sz="1300" b="0">
                <a:solidFill>
                  <a:srgbClr val="404040"/>
                </a:solidFill>
              </a:rPr>
              <a:t>Ergebnis mit einer Regel,</a:t>
            </a:r>
          </a:p>
          <a:p>
            <a:pPr algn="l">
              <a:lnSpc>
                <a:spcPct val="95000"/>
              </a:lnSpc>
              <a:spcBef>
                <a:spcPts val="500"/>
              </a:spcBef>
            </a:pPr>
            <a:r>
              <a:rPr sz="1300" b="0">
                <a:solidFill>
                  <a:srgbClr val="404040"/>
                </a:solidFill>
              </a:rPr>
              <a:t>über die man vortragen kann.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es verboten ist</a:t>
            </a:r>
          </a:p>
          <a:p>
            <a:pPr algn="l">
              <a:lnSpc>
                <a:spcPct val="95000"/>
              </a:lnSpc>
              <a:spcBef>
                <a:spcPts val="500"/>
              </a:spcBef>
            </a:pPr>
            <a:r>
              <a:rPr sz="1300" b="0">
                <a:solidFill>
                  <a:srgbClr val="404040"/>
                </a:solidFill>
              </a:rPr>
              <a:t>Ein Kriterium, das man nach</a:t>
            </a:r>
          </a:p>
          <a:p>
            <a:pPr algn="l">
              <a:lnSpc>
                <a:spcPct val="95000"/>
              </a:lnSpc>
              <a:spcBef>
                <a:spcPts val="500"/>
              </a:spcBef>
            </a:pPr>
            <a:r>
              <a:rPr sz="1300" b="0">
                <a:solidFill>
                  <a:srgbClr val="404040"/>
                </a:solidFill>
              </a:rPr>
              <a:t>dem Ergebnis anpasst, misst</a:t>
            </a:r>
          </a:p>
          <a:p>
            <a:pPr algn="l">
              <a:lnSpc>
                <a:spcPct val="95000"/>
              </a:lnSpc>
              <a:spcBef>
                <a:spcPts val="500"/>
              </a:spcBef>
            </a:pPr>
            <a:r>
              <a:rPr sz="1300" b="0">
                <a:solidFill>
                  <a:srgbClr val="404040"/>
                </a:solidFill>
              </a:rPr>
              <a:t>nichts mehr.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Es wäre dasselbe, wie es gar</a:t>
            </a:r>
          </a:p>
          <a:p>
            <a:pPr algn="l">
              <a:lnSpc>
                <a:spcPct val="95000"/>
              </a:lnSpc>
              <a:spcBef>
                <a:spcPts val="500"/>
              </a:spcBef>
            </a:pPr>
            <a:r>
              <a:rPr sz="1300" b="0">
                <a:solidFill>
                  <a:srgbClr val="404040"/>
                </a:solidFill>
              </a:rPr>
              <a:t>nicht erst aufgestellt zu</a:t>
            </a:r>
          </a:p>
          <a:p>
            <a:pPr algn="l">
              <a:lnSpc>
                <a:spcPct val="95000"/>
              </a:lnSpc>
              <a:spcBef>
                <a:spcPts val="500"/>
              </a:spcBef>
            </a:pPr>
            <a:r>
              <a:rPr sz="1300" b="0">
                <a:solidFill>
                  <a:srgbClr val="404040"/>
                </a:solidFill>
              </a:rPr>
              <a:t>haben.</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stattdessen gilt</a:t>
            </a:r>
          </a:p>
          <a:p>
            <a:pPr algn="l">
              <a:lnSpc>
                <a:spcPct val="95000"/>
              </a:lnSpc>
              <a:spcBef>
                <a:spcPts val="500"/>
              </a:spcBef>
            </a:pPr>
            <a:r>
              <a:rPr sz="1300" b="0">
                <a:solidFill>
                  <a:srgbClr val="404040"/>
                </a:solidFill>
              </a:rPr>
              <a:t>Keine Regel wird freigegeben.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Ob 1 % die richtige Hürde für</a:t>
            </a:r>
          </a:p>
          <a:p>
            <a:pPr algn="l">
              <a:lnSpc>
                <a:spcPct val="95000"/>
              </a:lnSpc>
              <a:spcBef>
                <a:spcPts val="500"/>
              </a:spcBef>
            </a:pPr>
            <a:r>
              <a:rPr sz="1300" b="0">
                <a:solidFill>
                  <a:srgbClr val="404040"/>
                </a:solidFill>
              </a:rPr>
              <a:t>ein Netz aus zehn Stationen</a:t>
            </a:r>
          </a:p>
          <a:p>
            <a:pPr algn="l">
              <a:lnSpc>
                <a:spcPct val="95000"/>
              </a:lnSpc>
              <a:spcBef>
                <a:spcPts val="500"/>
              </a:spcBef>
            </a:pPr>
            <a:r>
              <a:rPr sz="1300" b="0">
                <a:solidFill>
                  <a:srgbClr val="404040"/>
                </a:solidFill>
              </a:rPr>
              <a:t>ist, gehört zurück in Phase 1</a:t>
            </a:r>
          </a:p>
          <a:p>
            <a:pPr algn="l">
              <a:lnSpc>
                <a:spcPct val="95000"/>
              </a:lnSpc>
              <a:spcBef>
                <a:spcPts val="500"/>
              </a:spcBef>
            </a:pPr>
            <a:r>
              <a:rPr sz="1300" b="0">
                <a:solidFill>
                  <a:srgbClr val="404040"/>
                </a:solidFill>
              </a:rPr>
              <a:t>— als Gespräch mit der</a:t>
            </a:r>
          </a:p>
          <a:p>
            <a:pPr algn="l">
              <a:lnSpc>
                <a:spcPct val="95000"/>
              </a:lnSpc>
              <a:spcBef>
                <a:spcPts val="500"/>
              </a:spcBef>
            </a:pPr>
            <a:r>
              <a:rPr sz="1300" b="0">
                <a:solidFill>
                  <a:srgbClr val="404040"/>
                </a:solidFill>
              </a:rPr>
              <a:t>Disposition, nicht als Zeile.</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Hürden sieben — 32, dann 9, dann keine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analytics/notebooks/05_Assoziation_Wege_im_Netz.ipynb · Abschnitt 5.2</a:t>
            </a:r>
          </a:p>
        </p:txBody>
      </p:sp>
      <p:sp>
        <p:nvSpPr>
          <p:cNvPr id="5" name="Rectangle 4"/>
          <p:cNvSpPr/>
          <p:nvPr/>
        </p:nvSpPr>
        <p:spPr>
          <a:xfrm>
            <a:off x="3995803" y="1168400"/>
            <a:ext cx="5789162"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huerden.png"/>
          <p:cNvPicPr>
            <a:picLocks noChangeAspect="1"/>
          </p:cNvPicPr>
          <p:nvPr/>
        </p:nvPicPr>
        <p:blipFill>
          <a:blip r:embed="rId2"/>
          <a:stretch>
            <a:fillRect/>
          </a:stretch>
        </p:blipFill>
        <p:spPr>
          <a:xfrm>
            <a:off x="4097403" y="1270000"/>
            <a:ext cx="5585962"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Und darunter, gemessen statt behauptet: wie knapp die stärkste Regel scheitert.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Pläne — ganz ohne freigegebene Regel</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Umlaufplan entsteht aus den Salden je Station und Zeitfenster, nicht aus den Regeln. Deshalb trägt er, obwohl keine Regel freikam.</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Der Pendelstrom morgens</a:t>
            </a:r>
          </a:p>
          <a:p>
            <a:pPr algn="l">
              <a:lnSpc>
                <a:spcPct val="95000"/>
              </a:lnSpc>
              <a:spcBef>
                <a:spcPts val="300"/>
              </a:spcBef>
            </a:pPr>
            <a:r>
              <a:rPr sz="1300" b="0">
                <a:solidFill>
                  <a:srgbClr val="404040"/>
                </a:solidFill>
              </a:rPr>
              <a:t>leert eine Station und füllt</a:t>
            </a:r>
          </a:p>
          <a:p>
            <a:pPr algn="l">
              <a:lnSpc>
                <a:spcPct val="95000"/>
              </a:lnSpc>
              <a:spcBef>
                <a:spcPts val="300"/>
              </a:spcBef>
            </a:pPr>
            <a:r>
              <a:rPr sz="1300" b="0">
                <a:solidFill>
                  <a:srgbClr val="404040"/>
                </a:solidFill>
              </a:rPr>
              <a:t>eine andere.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Gegenprobe über die kunde_id:</a:t>
            </a:r>
          </a:p>
          <a:p>
            <a:pPr algn="l">
              <a:lnSpc>
                <a:spcPct val="95000"/>
              </a:lnSpc>
              <a:spcBef>
                <a:spcPts val="300"/>
              </a:spcBef>
            </a:pPr>
            <a:r>
              <a:rPr sz="1300" b="0">
                <a:solidFill>
                  <a:srgbClr val="404040"/>
                </a:solidFill>
              </a:rPr>
              <a:t>nur 13,8 % fahren abends</a:t>
            </a:r>
          </a:p>
          <a:p>
            <a:pPr algn="l">
              <a:lnSpc>
                <a:spcPct val="95000"/>
              </a:lnSpc>
              <a:spcBef>
                <a:spcPts val="300"/>
              </a:spcBef>
            </a:pPr>
            <a:r>
              <a:rPr sz="1300" b="0">
                <a:solidFill>
                  <a:srgbClr val="404040"/>
                </a:solidFill>
              </a:rPr>
              <a:t>zurück — die Richtung stimmt,</a:t>
            </a:r>
          </a:p>
          <a:p>
            <a:pPr algn="l">
              <a:lnSpc>
                <a:spcPct val="95000"/>
              </a:lnSpc>
              <a:spcBef>
                <a:spcPts val="300"/>
              </a:spcBef>
            </a:pPr>
            <a:r>
              <a:rPr sz="1300" b="0">
                <a:solidFill>
                  <a:srgbClr val="404040"/>
                </a:solidFill>
              </a:rPr>
              <a:t>die Personen nicht.</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„Frei abgestellt“ wurde ein</a:t>
            </a:r>
          </a:p>
          <a:p>
            <a:pPr algn="l">
              <a:lnSpc>
                <a:spcPct val="95000"/>
              </a:lnSpc>
              <a:spcBef>
                <a:spcPts val="300"/>
              </a:spcBef>
            </a:pPr>
            <a:r>
              <a:rPr sz="1300" b="0">
                <a:solidFill>
                  <a:srgbClr val="404040"/>
                </a:solidFill>
              </a:rPr>
              <a:t>eigenes Ziel — sonst wären</a:t>
            </a:r>
          </a:p>
          <a:p>
            <a:pPr algn="l">
              <a:lnSpc>
                <a:spcPct val="95000"/>
              </a:lnSpc>
              <a:spcBef>
                <a:spcPts val="300"/>
              </a:spcBef>
            </a:pPr>
            <a:r>
              <a:rPr sz="1300" b="0">
                <a:solidFill>
                  <a:srgbClr val="404040"/>
                </a:solidFill>
              </a:rPr>
              <a:t>19,8 % der Fahrten unsichtbar</a:t>
            </a:r>
          </a:p>
          <a:p>
            <a:pPr algn="l">
              <a:lnSpc>
                <a:spcPct val="95000"/>
              </a:lnSpc>
              <a:spcBef>
                <a:spcPts val="300"/>
              </a:spcBef>
            </a:pPr>
            <a:r>
              <a:rPr sz="1300" b="0">
                <a:solidFill>
                  <a:srgbClr val="404040"/>
                </a:solidFill>
              </a:rPr>
              <a:t>geblieben.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Regeln, 9 mit Lift, keine mit Support — die stärkste verfehlt die Hürde um 0,01 Prozentpunkte</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Pläne, mit Datenschutzvorbehalt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Jeder fünfte Eintrag muss tragen — 20 %. Rentabel wäre die Liste schon ab 5 %</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Aufgabe A erfüllt das Kriterium mit 36 % · Aufgabe B verfehlt es mit höchstens 14 % und wird nicht freigegeben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analytics/notebooks/06_Anomalieerkennung_Auffaellige_Vorgaenge.ipynb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analytics/notebooks/06_Anomalieerkennung_Auffaellige_Vorgaenge.ipynb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Fehlschlag, den nur der Blick auf die Zeilen zeigt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4.4</a:t>
            </a:r>
          </a:p>
        </p:txBody>
      </p:sp>
      <p:sp>
        <p:nvSpPr>
          <p:cNvPr id="5" name="Rectangle 4"/>
          <p:cNvSpPr/>
          <p:nvPr/>
        </p:nvSpPr>
        <p:spPr>
          <a:xfrm>
            <a:off x="2640877" y="1168400"/>
            <a:ext cx="849901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fehlschlag.png"/>
          <p:cNvPicPr>
            <a:picLocks noChangeAspect="1"/>
          </p:cNvPicPr>
          <p:nvPr/>
        </p:nvPicPr>
        <p:blipFill>
          <a:blip r:embed="rId2"/>
          <a:stretch>
            <a:fillRect/>
          </a:stretch>
        </p:blipFill>
        <p:spPr>
          <a:xfrm>
            <a:off x="2742477" y="1270000"/>
            <a:ext cx="829581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Oben in der Liste: fast nur CARGO. Die Spalte entgelt_je_minute verrät, warum — das Modell hat die Preisklasse gefunden.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(20 %)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Auswertung, nach der Normierung</a:t>
            </a:r>
          </a:p>
        </p:txBody>
      </p:sp>
      <p:sp>
        <p:nvSpPr>
          <p:cNvPr id="3" name="Text Placeholder 2"/>
          <p:cNvSpPr>
            <a:spLocks noGrp="1"/>
          </p:cNvSpPr>
          <p:nvPr>
            <p:ph type="body" idx="12" sz="quarter"/>
          </p:nvPr>
        </p:nvSpPr>
        <p:spPr/>
        <p:txBody>
          <a:bodyPr/>
          <a:lstStyle/>
          <a:p>
            <a:r>
              <a:t>Nach dem Rücksprung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4.5</a:t>
            </a:r>
          </a:p>
        </p:txBody>
      </p:sp>
      <p:sp>
        <p:nvSpPr>
          <p:cNvPr id="5" name="Rectangle 4"/>
          <p:cNvSpPr/>
          <p:nvPr/>
        </p:nvSpPr>
        <p:spPr>
          <a:xfrm>
            <a:off x="2037545" y="1168400"/>
            <a:ext cx="970567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korrektur.png"/>
          <p:cNvPicPr>
            <a:picLocks noChangeAspect="1"/>
          </p:cNvPicPr>
          <p:nvPr/>
        </p:nvPicPr>
        <p:blipFill>
          <a:blip r:embed="rId2"/>
          <a:stretch>
            <a:fillRect/>
          </a:stretch>
        </p:blipFill>
        <p:spPr>
          <a:xfrm>
            <a:off x="2139145" y="1270000"/>
            <a:ext cx="950247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Radtyp-Verteilung der fünfzig auffälligsten Vorgänge ist jetzt gemischt statt einseitig. Genau das war das Ziel der Korrektur.</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scheitert — und das ist ein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Sie sind es nicht. Der Grund liegt nicht am Verfahren.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Beste Trefferquote 14 %,</a:t>
            </a:r>
          </a:p>
          <a:p>
            <a:pPr algn="l">
              <a:lnSpc>
                <a:spcPct val="95000"/>
              </a:lnSpc>
              <a:spcBef>
                <a:spcPts val="500"/>
              </a:spcBef>
            </a:pPr>
            <a:r>
              <a:rPr sz="1300" b="0">
                <a:solidFill>
                  <a:srgbClr val="404040"/>
                </a:solidFill>
              </a:rPr>
              <a:t>bei einer Liste von 100.</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50 Plätzen — der Länge,</a:t>
            </a:r>
          </a:p>
          <a:p>
            <a:pPr algn="l">
              <a:lnSpc>
                <a:spcPct val="95000"/>
              </a:lnSpc>
              <a:spcBef>
                <a:spcPts val="500"/>
              </a:spcBef>
            </a:pPr>
            <a:r>
              <a:rPr sz="1300" b="0">
                <a:solidFill>
                  <a:srgbClr val="404040"/>
                </a:solidFill>
              </a:rPr>
              <a:t>die das Betriebsbüro schafft —</a:t>
            </a:r>
          </a:p>
          <a:p>
            <a:pPr algn="l">
              <a:lnSpc>
                <a:spcPct val="95000"/>
              </a:lnSpc>
              <a:spcBef>
                <a:spcPts val="500"/>
              </a:spcBef>
            </a:pPr>
            <a:r>
              <a:rPr sz="1300" b="0">
                <a:solidFill>
                  <a:srgbClr val="404040"/>
                </a:solidFill>
              </a:rPr>
              <a:t>sind es 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Kriterium von 20 % wird</a:t>
            </a:r>
          </a:p>
          <a:p>
            <a:pPr algn="l">
              <a:lnSpc>
                <a:spcPct val="95000"/>
              </a:lnSpc>
              <a:spcBef>
                <a:spcPts val="500"/>
              </a:spcBef>
            </a:pPr>
            <a:r>
              <a:rPr sz="1300" b="0">
                <a:solidFill>
                  <a:srgbClr val="404040"/>
                </a:solidFill>
              </a:rPr>
              <a:t>deutlich verfehlt.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Rund fünf Fahrten je Station</a:t>
            </a:r>
          </a:p>
          <a:p>
            <a:pPr algn="l">
              <a:lnSpc>
                <a:spcPct val="95000"/>
              </a:lnSpc>
              <a:spcBef>
                <a:spcPts val="500"/>
              </a:spcBef>
            </a:pPr>
            <a:r>
              <a:rPr sz="1300" b="0">
                <a:solidFill>
                  <a:srgbClr val="404040"/>
                </a:solidFill>
              </a:rPr>
              <a:t>und Tag.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Störungstag sieht bei</a:t>
            </a:r>
          </a:p>
          <a:p>
            <a:pPr algn="l">
              <a:lnSpc>
                <a:spcPct val="95000"/>
              </a:lnSpc>
              <a:spcBef>
                <a:spcPts val="500"/>
              </a:spcBef>
            </a:pPr>
            <a:r>
              <a:rPr sz="1300" b="0">
                <a:solidFill>
                  <a:srgbClr val="404040"/>
                </a:solidFill>
              </a:rPr>
              <a:t>dieser Grundrate genauso aus</a:t>
            </a:r>
          </a:p>
          <a:p>
            <a:pPr algn="l">
              <a:lnSpc>
                <a:spcPct val="95000"/>
              </a:lnSpc>
              <a:spcBef>
                <a:spcPts val="500"/>
              </a:spcBef>
            </a:pPr>
            <a:r>
              <a:rPr sz="1300" b="0">
                <a:solidFill>
                  <a:srgbClr val="404040"/>
                </a:solidFill>
              </a:rPr>
              <a:t>wie ein verregneter</a:t>
            </a:r>
          </a:p>
          <a:p>
            <a:pPr algn="l">
              <a:lnSpc>
                <a:spcPct val="95000"/>
              </a:lnSpc>
              <a:spcBef>
                <a:spcPts val="500"/>
              </a:spcBef>
            </a:pPr>
            <a:r>
              <a:rPr sz="1300" b="0">
                <a:solidFill>
                  <a:srgbClr val="404040"/>
                </a:solidFill>
              </a:rPr>
              <a:t>Januarsonntag.</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Keine bessere Mathematik,</a:t>
            </a:r>
          </a:p>
          <a:p>
            <a:pPr algn="l">
              <a:lnSpc>
                <a:spcPct val="95000"/>
              </a:lnSpc>
              <a:spcBef>
                <a:spcPts val="500"/>
              </a:spcBef>
            </a:pPr>
            <a:r>
              <a:rPr sz="1300" b="0">
                <a:solidFill>
                  <a:srgbClr val="404040"/>
                </a:solidFill>
              </a:rPr>
              <a:t>sondern eine bessere</a:t>
            </a:r>
          </a:p>
          <a:p>
            <a:pPr algn="l">
              <a:lnSpc>
                <a:spcPct val="95000"/>
              </a:lnSpc>
              <a:spcBef>
                <a:spcPts val="500"/>
              </a:spcBef>
            </a:pPr>
            <a:r>
              <a:rPr sz="1300" b="0">
                <a:solidFill>
                  <a:srgbClr val="404040"/>
                </a:solidFill>
              </a:rPr>
              <a:t>Datenquelle: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Statusmeldungen der</a:t>
            </a:r>
          </a:p>
          <a:p>
            <a:pPr algn="l">
              <a:lnSpc>
                <a:spcPct val="95000"/>
              </a:lnSpc>
              <a:spcBef>
                <a:spcPts val="500"/>
              </a:spcBef>
            </a:pPr>
            <a:r>
              <a:rPr sz="1300" b="0">
                <a:solidFill>
                  <a:srgbClr val="404040"/>
                </a:solidFill>
              </a:rPr>
              <a:t>Terminals, die ohnehin</a:t>
            </a:r>
          </a:p>
          <a:p>
            <a:pPr algn="l">
              <a:lnSpc>
                <a:spcPct val="95000"/>
              </a:lnSpc>
              <a:spcBef>
                <a:spcPts val="500"/>
              </a:spcBef>
            </a:pPr>
            <a:r>
              <a:rPr sz="1300" b="0">
                <a:solidFill>
                  <a:srgbClr val="404040"/>
                </a:solidFill>
              </a:rPr>
              <a:t>anfallen.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ausgerechnet und verworfen</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5.4</a:t>
            </a:r>
          </a:p>
        </p:txBody>
      </p:sp>
      <p:sp>
        <p:nvSpPr>
          <p:cNvPr id="5" name="Rectangle 4"/>
          <p:cNvSpPr/>
          <p:nvPr/>
        </p:nvSpPr>
        <p:spPr>
          <a:xfrm>
            <a:off x="1630402" y="1168400"/>
            <a:ext cx="1051996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aufgabeB.png"/>
          <p:cNvPicPr>
            <a:picLocks noChangeAspect="1"/>
          </p:cNvPicPr>
          <p:nvPr/>
        </p:nvPicPr>
        <p:blipFill>
          <a:blip r:embed="rId2"/>
          <a:stretch>
            <a:fillRect/>
          </a:stretch>
        </p:blipFill>
        <p:spPr>
          <a:xfrm>
            <a:off x="1732002" y="1270000"/>
            <a:ext cx="1031676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Null gefundene Störungen bei einer Listenlänge von 50. Das Notebook rechnet das Scheitern aus, statt es zu verschweigen.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nur, was besteht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Aufgaben, ein Ergebnis. Aufgabe B wird ausdrücklich nicht freigegeben — und das steht im Bericht.</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A  </a:t>
            </a:r>
            <a:r>
              <a:rPr sz="1300">
                <a:solidFill>
                  <a:srgbClr val="404040"/>
                </a:solidFill>
              </a:rPr>
              <a:t>Tagesliste mit zehn Plätzen, je Vorgang mit Begründung, WARUM er auffällt — sonst kann die Disposition nichts damit anfangen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B  </a:t>
            </a:r>
            <a:r>
              <a:rPr sz="1300">
                <a:solidFill>
                  <a:srgbClr val="404040"/>
                </a:solidFill>
              </a:rPr>
              <a:t>Nicht freigegeben. Die Empfehlung lautet: Terminalmeldungen anbinden, statt aus dem Fahrtaufkommen zu schließen</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Rentabel ab 5 %, gefordert werden 20 % — sonst wird die Liste nicht benutzt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Nach der Korrektur 2 % → 36 %. Aufgabe A erfüllt das Kriterium, B verfehlt es an den Grundraten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Tagesliste mit Begründung; Aufgabe B ausdrücklich nicht freigegeben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scheinbare Modellvorsprung war ein Defekt im Merkmal, gegen das er antrat</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Und die genaueste Prognose ist nicht die günstigste</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der 32 Regeln überlebt — die stärkste scheitert um 0,01 Prozentpunkte</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