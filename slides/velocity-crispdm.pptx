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Wetterzeile ist die lehrreichste: Ein Modell mit dem Tagesmittel benutzt Wissen von heute Abend für eine Anfrage von heute früh. Ein zeitlicher Schnitt heilt das nicht.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wichtigste Moment des Falls: Ein Rücksprung, der nicht aus einem gerissenen Kriterium folgt, sondern aus der Einsicht, dass das Kriterium die falsche Frage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Stufe ist neu gegenüber dem Lehrbuch: Analytisch kann alles halten und das Produkt trotzdem nicht laufen, weil eine betriebliche Voraussetzung fehlt — hier der Kalenderhorizont.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Notebooks sind zum Lesen gebaut, nicht nur zum Ausführen: Wer sie auf GitHub öffnet, sieht jedes Ergebnis sofort. Wer selbst rechnen will, öffnet sie über den Colab-Knopf.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Produkte aus denselben Regeln — und nur eines darf entscheiden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Können wir dem Kunden vor der Fahrt sagen, was sie kosten wird?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Was kostet die Fahrt zu diesem Ziel — vor dem Entsperren?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Spanne für die Fahrtdauer, aus der das Tarifblatt einen Preisbereich rechnet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Der Preis hängt an der Dauer, und die steht zur Anfragezeit nicht fest</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Quantilregression, Perzentiltabelle, Quantiltabelle — alle drei am selben Kriterium gemessen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Perzentiltabelle; Status sichtbar</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1 · Phase 1</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80 %, aggregiert je Radtyp</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schmal genug, um zu helfen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höchstens 12 Minuten und 60 % des Preises</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reicht</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 Radtyp wird ein Mindestanteil der Anfragen beantwortet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besteht das Verfahren nicht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geprüft auf</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Einem Zeitraum, den bis zur Abnahme nichts berührt hat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 Phase 2 versiegelt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Kandidat</a:t>
            </a:r>
          </a:p>
        </p:txBody>
      </p:sp>
      <p:sp>
        <p:nvSpPr>
          <p:cNvPr id="7" name="Rectangle 6"/>
          <p:cNvSpPr/>
          <p:nvPr/>
        </p:nvSpPr>
        <p:spPr>
          <a:xfrm>
            <a:off x="4021772"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Primärgate</a:t>
            </a:r>
          </a:p>
        </p:txBody>
      </p:sp>
      <p:sp>
        <p:nvSpPr>
          <p:cNvPr id="8" name="Rectangle 7"/>
          <p:cNvSpPr/>
          <p:nvPr/>
        </p:nvSpPr>
        <p:spPr>
          <a:xfrm>
            <a:off x="6890384"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Reichweite</a:t>
            </a:r>
          </a:p>
        </p:txBody>
      </p:sp>
      <p:sp>
        <p:nvSpPr>
          <p:cNvPr id="9" name="Rectangle 8"/>
          <p:cNvSpPr/>
          <p:nvPr/>
        </p:nvSpPr>
        <p:spPr>
          <a:xfrm>
            <a:off x="9758997"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Betriebsform</a:t>
            </a:r>
          </a:p>
        </p:txBody>
      </p:sp>
      <p:sp>
        <p:nvSpPr>
          <p:cNvPr id="10" name="Rectangle 9"/>
          <p:cNvSpPr/>
          <p:nvPr/>
        </p:nvSpPr>
        <p:spPr>
          <a:xfrm>
            <a:off x="1153160"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Quantilregression</a:t>
            </a:r>
          </a:p>
        </p:txBody>
      </p:sp>
      <p:sp>
        <p:nvSpPr>
          <p:cNvPr id="11" name="Rectangle 10"/>
          <p:cNvSpPr/>
          <p:nvPr/>
        </p:nvSpPr>
        <p:spPr>
          <a:xfrm>
            <a:off x="4021772"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2" name="Rectangle 11"/>
          <p:cNvSpPr/>
          <p:nvPr/>
        </p:nvSpPr>
        <p:spPr>
          <a:xfrm>
            <a:off x="6890384"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52,8 %</a:t>
            </a:r>
          </a:p>
        </p:txBody>
      </p:sp>
      <p:sp>
        <p:nvSpPr>
          <p:cNvPr id="13" name="Rectangle 12"/>
          <p:cNvSpPr/>
          <p:nvPr/>
        </p:nvSpPr>
        <p:spPr>
          <a:xfrm>
            <a:off x="9758997"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Laufzeitdienst</a:t>
            </a:r>
          </a:p>
        </p:txBody>
      </p:sp>
      <p:sp>
        <p:nvSpPr>
          <p:cNvPr id="14" name="Rectangle 13"/>
          <p:cNvSpPr/>
          <p:nvPr/>
        </p:nvSpPr>
        <p:spPr>
          <a:xfrm>
            <a:off x="1153160"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Perzentiltabelle</a:t>
            </a:r>
          </a:p>
        </p:txBody>
      </p:sp>
      <p:sp>
        <p:nvSpPr>
          <p:cNvPr id="15" name="Rectangle 14"/>
          <p:cNvSpPr/>
          <p:nvPr/>
        </p:nvSpPr>
        <p:spPr>
          <a:xfrm>
            <a:off x="4021772"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83,3 %</a:t>
            </a:r>
          </a:p>
        </p:txBody>
      </p:sp>
      <p:sp>
        <p:nvSpPr>
          <p:cNvPr id="16" name="Rectangle 15"/>
          <p:cNvSpPr/>
          <p:nvPr/>
        </p:nvSpPr>
        <p:spPr>
          <a:xfrm>
            <a:off x="6890384"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33,8 %</a:t>
            </a:r>
          </a:p>
        </p:txBody>
      </p:sp>
      <p:sp>
        <p:nvSpPr>
          <p:cNvPr id="17" name="Rectangle 16"/>
          <p:cNvSpPr/>
          <p:nvPr/>
        </p:nvSpPr>
        <p:spPr>
          <a:xfrm>
            <a:off x="9758997"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18" name="Rectangle 17"/>
          <p:cNvSpPr/>
          <p:nvPr/>
        </p:nvSpPr>
        <p:spPr>
          <a:xfrm>
            <a:off x="1153160"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Quantiltabelle</a:t>
            </a:r>
          </a:p>
        </p:txBody>
      </p:sp>
      <p:sp>
        <p:nvSpPr>
          <p:cNvPr id="19" name="Rectangle 18"/>
          <p:cNvSpPr/>
          <p:nvPr/>
        </p:nvSpPr>
        <p:spPr>
          <a:xfrm>
            <a:off x="4021772"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81,3 %</a:t>
            </a:r>
          </a:p>
        </p:txBody>
      </p:sp>
      <p:sp>
        <p:nvSpPr>
          <p:cNvPr id="20" name="Rectangle 19"/>
          <p:cNvSpPr/>
          <p:nvPr/>
        </p:nvSpPr>
        <p:spPr>
          <a:xfrm>
            <a:off x="6890384"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33,6 %</a:t>
            </a:r>
          </a:p>
        </p:txBody>
      </p:sp>
      <p:sp>
        <p:nvSpPr>
          <p:cNvPr id="21" name="Rectangle 20"/>
          <p:cNvSpPr/>
          <p:nvPr/>
        </p:nvSpPr>
        <p:spPr>
          <a:xfrm>
            <a:off x="9758997"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Die Perzentiltabelle als CSV-Datei.</a:t>
            </a:r>
          </a:p>
          <a:p>
            <a:pPr algn="l">
              <a:lnSpc>
                <a:spcPct val="95000"/>
              </a:lnSpc>
              <a:spcBef>
                <a:spcPts val="500"/>
              </a:spcBef>
            </a:pPr>
            <a:r>
              <a:rPr sz="1300" b="0">
                <a:solidFill>
                  <a:srgbClr val="404040"/>
                </a:solidFill>
              </a:rPr>
              <a:t>Zusage 80 %, auf der Abnahme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Status: sichtbar.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a:t>
            </a:r>
          </a:p>
          <a:p>
            <a:pPr algn="l">
              <a:lnSpc>
                <a:spcPct val="95000"/>
              </a:lnSpc>
              <a:spcBef>
                <a:spcPts val="500"/>
              </a:spcBef>
            </a:pPr>
            <a:r>
              <a:rPr sz="1300" b="0">
                <a:solidFill>
                  <a:srgbClr val="404040"/>
                </a:solidFill>
              </a:rPr>
              <a:t>Kein Dienst, keine Bibliotheksversion, von Hand nachrechenbar.</a:t>
            </a:r>
          </a:p>
          <a:p>
            <a:pPr algn="l">
              <a:lnSpc>
                <a:spcPct val="95000"/>
              </a:lnSpc>
              <a:spcBef>
                <a:spcPts val="500"/>
              </a:spcBef>
            </a:pPr>
            <a:r>
              <a:rPr sz="1300" b="0">
                <a:solidFill>
                  <a:srgbClr val="404040"/>
                </a:solidFill>
              </a:rPr>
              <a:t>Beantwortet werden 34 % der Anfragen — sonst schweigt die Anwendung.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a:t>
            </a:r>
          </a:p>
          <a:p>
            <a:pPr algn="l">
              <a:lnSpc>
                <a:spcPct val="95000"/>
              </a:lnSpc>
              <a:spcBef>
                <a:spcPts val="500"/>
              </a:spcBef>
            </a:pPr>
            <a:r>
              <a:rPr sz="1300" b="0">
                <a:solidFill>
                  <a:srgbClr val="404040"/>
                </a:solidFill>
              </a:rPr>
              <a:t>Gültig für Fahrten bis 07.11.2026 — so weit reicht der Kalender.</a:t>
            </a:r>
          </a:p>
          <a:p>
            <a:pPr algn="l">
              <a:lnSpc>
                <a:spcPct val="95000"/>
              </a:lnSpc>
              <a:spcBef>
                <a:spcPts val="500"/>
              </a:spcBef>
            </a:pPr>
            <a:r>
              <a:rPr sz="1300" b="0">
                <a:solidFill>
                  <a:srgbClr val="404040"/>
                </a:solidFill>
              </a:rPr>
              <a:t>Die Abnahme ist rückblickend; eine prospektive Prüfung steht aus.</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a:t>
            </a:r>
          </a:p>
        </p:txBody>
      </p:sp>
      <p:sp>
        <p:nvSpPr>
          <p:cNvPr id="3" name="Text Placeholder 2"/>
          <p:cNvSpPr>
            <a:spLocks noGrp="1"/>
          </p:cNvSpPr>
          <p:nvPr>
            <p:ph type="body" idx="12" sz="quarter"/>
          </p:nvPr>
        </p:nvSpPr>
        <p:spPr/>
        <p:txBody>
          <a:bodyPr/>
          <a:lstStyle/>
          <a:p>
            <a:r>
              <a:t>Fall 1 · Phase 3</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TextBox 5"/>
          <p:cNvSpPr txBox="1"/>
          <p:nvPr/>
        </p:nvSpPr>
        <p:spPr>
          <a:xfrm>
            <a:off x="5140960" y="18796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erlaubt</a:t>
            </a:r>
          </a:p>
        </p:txBody>
      </p:sp>
      <p:sp>
        <p:nvSpPr>
          <p:cNvPr id="7" name="Rectangle 6"/>
          <p:cNvSpPr/>
          <p:nvPr/>
        </p:nvSpPr>
        <p:spPr>
          <a:xfrm>
            <a:off x="1153160" y="2209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2098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2733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Startstation, Zeitpunkt, Radtyp</a:t>
            </a:r>
          </a:p>
        </p:txBody>
      </p:sp>
      <p:sp>
        <p:nvSpPr>
          <p:cNvPr id="10" name="Rounded Rectangle 9"/>
          <p:cNvSpPr/>
          <p:nvPr/>
        </p:nvSpPr>
        <p:spPr>
          <a:xfrm>
            <a:off x="5140960" y="23114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2733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der Kunde steht davor</a:t>
            </a:r>
          </a:p>
        </p:txBody>
      </p:sp>
      <p:sp>
        <p:nvSpPr>
          <p:cNvPr id="12" name="Rectangle 11"/>
          <p:cNvSpPr/>
          <p:nvPr/>
        </p:nvSpPr>
        <p:spPr>
          <a:xfrm>
            <a:off x="1153160" y="2870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8702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9337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Geplantes Ziel</a:t>
            </a:r>
          </a:p>
        </p:txBody>
      </p:sp>
      <p:sp>
        <p:nvSpPr>
          <p:cNvPr id="15" name="Rounded Rectangle 14"/>
          <p:cNvSpPr/>
          <p:nvPr/>
        </p:nvSpPr>
        <p:spPr>
          <a:xfrm>
            <a:off x="5140960" y="29718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9337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wird vor dem Entsperren gewählt</a:t>
            </a:r>
          </a:p>
        </p:txBody>
      </p:sp>
      <p:sp>
        <p:nvSpPr>
          <p:cNvPr id="17" name="Rectangle 16"/>
          <p:cNvSpPr/>
          <p:nvPr/>
        </p:nvSpPr>
        <p:spPr>
          <a:xfrm>
            <a:off x="1153160" y="35306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5306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5941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Feiertag, Schulferien</a:t>
            </a:r>
          </a:p>
        </p:txBody>
      </p:sp>
      <p:sp>
        <p:nvSpPr>
          <p:cNvPr id="20" name="Rounded Rectangle 19"/>
          <p:cNvSpPr/>
          <p:nvPr/>
        </p:nvSpPr>
        <p:spPr>
          <a:xfrm>
            <a:off x="5140960" y="3632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5941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stehen im Kalender</a:t>
            </a:r>
          </a:p>
        </p:txBody>
      </p:sp>
      <p:sp>
        <p:nvSpPr>
          <p:cNvPr id="22" name="Rectangle 21"/>
          <p:cNvSpPr/>
          <p:nvPr/>
        </p:nvSpPr>
        <p:spPr>
          <a:xfrm>
            <a:off x="1153160" y="41910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2545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Tageswetter</a:t>
            </a:r>
          </a:p>
        </p:txBody>
      </p:sp>
      <p:sp>
        <p:nvSpPr>
          <p:cNvPr id="25" name="Rounded Rectangle 24"/>
          <p:cNvSpPr/>
          <p:nvPr/>
        </p:nvSpPr>
        <p:spPr>
          <a:xfrm>
            <a:off x="5140960" y="4292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6" name="TextBox 25"/>
          <p:cNvSpPr txBox="1"/>
          <p:nvPr/>
        </p:nvSpPr>
        <p:spPr>
          <a:xfrm>
            <a:off x="6512559" y="42545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steht erst am Abend fest</a:t>
            </a:r>
          </a:p>
        </p:txBody>
      </p:sp>
      <p:sp>
        <p:nvSpPr>
          <p:cNvPr id="27" name="Rectangle 26"/>
          <p:cNvSpPr/>
          <p:nvPr/>
        </p:nvSpPr>
        <p:spPr>
          <a:xfrm>
            <a:off x="1153160" y="4851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48514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49149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Endzeit, Dauer, Entgelt</a:t>
            </a:r>
          </a:p>
        </p:txBody>
      </p:sp>
      <p:sp>
        <p:nvSpPr>
          <p:cNvPr id="30" name="Rounded Rectangle 29"/>
          <p:cNvSpPr/>
          <p:nvPr/>
        </p:nvSpPr>
        <p:spPr>
          <a:xfrm>
            <a:off x="5140960" y="49530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TextBox 30"/>
          <p:cNvSpPr txBox="1"/>
          <p:nvPr/>
        </p:nvSpPr>
        <p:spPr>
          <a:xfrm>
            <a:off x="6512559" y="49149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entstehen während und nach der Fahrt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hielt</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den häufigsten Radtyp lag der Preisfehler unter der Grenze. Trotzdem ging es zurück in Phase 1, und zwar aus zwei Gründen, die nichts mit einem gerissenen Kriterium zu tun haben.</a:t>
            </a:r>
          </a:p>
        </p:txBody>
      </p:sp>
      <p:sp>
        <p:nvSpPr>
          <p:cNvPr id="6" name="Rectangle 5"/>
          <p:cNvSpPr/>
          <p:nvPr/>
        </p:nvSpPr>
        <p:spPr>
          <a:xfrm>
            <a:off x="115316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Der Mittelwert ist keine Erfahrung</a:t>
            </a:r>
          </a:p>
          <a:p>
            <a:pPr algn="l">
              <a:lnSpc>
                <a:spcPct val="95000"/>
              </a:lnSpc>
              <a:spcBef>
                <a:spcPts val="500"/>
              </a:spcBef>
            </a:pPr>
            <a:r>
              <a:rPr sz="1300" b="0">
                <a:solidFill>
                  <a:srgbClr val="404040"/>
                </a:solidFill>
              </a:rPr>
              <a:t>Im Mittel 0,24 € Abweichung.</a:t>
            </a:r>
          </a:p>
          <a:p>
            <a:pPr algn="l">
              <a:lnSpc>
                <a:spcPct val="95000"/>
              </a:lnSpc>
              <a:spcBef>
                <a:spcPts val="500"/>
              </a:spcBef>
            </a:pPr>
            <a:r>
              <a:rPr sz="1300" b="0">
                <a:solidFill>
                  <a:srgbClr val="404040"/>
                </a:solidFill>
              </a:rPr>
              <a:t>Aber nur 85 % der Fahrten</a:t>
            </a:r>
          </a:p>
          <a:p>
            <a:pPr algn="l">
              <a:lnSpc>
                <a:spcPct val="95000"/>
              </a:lnSpc>
              <a:spcBef>
                <a:spcPts val="500"/>
              </a:spcBef>
            </a:pPr>
            <a:r>
              <a:rPr sz="1300" b="0">
                <a:solidFill>
                  <a:srgbClr val="404040"/>
                </a:solidFill>
              </a:rPr>
              <a:t>bleiben unter 50 Cent.</a:t>
            </a:r>
          </a:p>
          <a:p>
            <a:pPr algn="l">
              <a:lnSpc>
                <a:spcPct val="95000"/>
              </a:lnSpc>
              <a:spcBef>
                <a:spcPts val="500"/>
              </a:spcBef>
            </a:pPr>
            <a:r>
              <a:rPr sz="1300" b="0">
                <a:solidFill>
                  <a:srgbClr val="404040"/>
                </a:solidFill>
              </a:rPr>
              <a:t>Ein Kunde erlebt seine Fahrt,</a:t>
            </a:r>
          </a:p>
          <a:p>
            <a:pPr algn="l">
              <a:lnSpc>
                <a:spcPct val="95000"/>
              </a:lnSpc>
              <a:spcBef>
                <a:spcPts val="500"/>
              </a:spcBef>
            </a:pPr>
            <a:r>
              <a:rPr sz="1300" b="0">
                <a:solidFill>
                  <a:srgbClr val="404040"/>
                </a:solidFill>
              </a:rPr>
              <a:t>nicht den Mittelwert.</a:t>
            </a:r>
          </a:p>
        </p:txBody>
      </p:sp>
      <p:sp>
        <p:nvSpPr>
          <p:cNvPr id="9" name="Rectangle 8"/>
          <p:cNvSpPr/>
          <p:nvPr/>
        </p:nvSpPr>
        <p:spPr>
          <a:xfrm>
            <a:off x="511302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Ein Radtyp hat kein Produkt</a:t>
            </a:r>
          </a:p>
          <a:p>
            <a:pPr algn="l">
              <a:lnSpc>
                <a:spcPct val="95000"/>
              </a:lnSpc>
              <a:spcBef>
                <a:spcPts val="500"/>
              </a:spcBef>
            </a:pPr>
            <a:r>
              <a:rPr sz="1300" b="0">
                <a:solidFill>
                  <a:srgbClr val="404040"/>
                </a:solidFill>
              </a:rPr>
              <a:t>Das Lastenrad reißt die Grenze</a:t>
            </a:r>
          </a:p>
          <a:p>
            <a:pPr algn="l">
              <a:lnSpc>
                <a:spcPct val="95000"/>
              </a:lnSpc>
              <a:spcBef>
                <a:spcPts val="500"/>
              </a:spcBef>
            </a:pPr>
            <a:r>
              <a:rPr sz="1300" b="0">
                <a:solidFill>
                  <a:srgbClr val="404040"/>
                </a:solidFill>
              </a:rPr>
              <a:t>um ein Vielfaches.</a:t>
            </a:r>
          </a:p>
          <a:p>
            <a:pPr algn="l">
              <a:lnSpc>
                <a:spcPct val="95000"/>
              </a:lnSpc>
              <a:spcBef>
                <a:spcPts val="500"/>
              </a:spcBef>
            </a:pPr>
            <a:r>
              <a:rPr sz="1300" b="0">
                <a:solidFill>
                  <a:srgbClr val="404040"/>
                </a:solidFill>
              </a:rPr>
              <a:t>Eine Lösung, die den teuersten</a:t>
            </a:r>
          </a:p>
          <a:p>
            <a:pPr algn="l">
              <a:lnSpc>
                <a:spcPct val="95000"/>
              </a:lnSpc>
              <a:spcBef>
                <a:spcPts val="500"/>
              </a:spcBef>
            </a:pPr>
            <a:r>
              <a:rPr sz="1300" b="0">
                <a:solidFill>
                  <a:srgbClr val="404040"/>
                </a:solidFill>
              </a:rPr>
              <a:t>Radtyp ausspart,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Die Antwort: eine Spanne</a:t>
            </a:r>
          </a:p>
          <a:p>
            <a:pPr algn="l">
              <a:lnSpc>
                <a:spcPct val="95000"/>
              </a:lnSpc>
              <a:spcBef>
                <a:spcPts val="500"/>
              </a:spcBef>
            </a:pPr>
            <a:r>
              <a:rPr sz="1300" b="0">
                <a:solidFill>
                  <a:srgbClr val="404040"/>
                </a:solidFill>
              </a:rPr>
              <a:t>Nicht die Verfahrensklasse</a:t>
            </a:r>
          </a:p>
          <a:p>
            <a:pPr algn="l">
              <a:lnSpc>
                <a:spcPct val="95000"/>
              </a:lnSpc>
              <a:spcBef>
                <a:spcPts val="500"/>
              </a:spcBef>
            </a:pPr>
            <a:r>
              <a:rPr sz="1300" b="0">
                <a:solidFill>
                  <a:srgbClr val="404040"/>
                </a:solidFill>
              </a:rPr>
              <a:t>ändert sich, sondern das,</a:t>
            </a:r>
          </a:p>
          <a:p>
            <a:pPr algn="l">
              <a:lnSpc>
                <a:spcPct val="95000"/>
              </a:lnSpc>
              <a:spcBef>
                <a:spcPts val="500"/>
              </a:spcBef>
            </a:pPr>
            <a:r>
              <a:rPr sz="1300" b="0">
                <a:solidFill>
                  <a:srgbClr val="404040"/>
                </a:solidFill>
              </a:rPr>
              <a:t>was die App verspricht.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Aus einer Zahl wird ein</a:t>
            </a:r>
          </a:p>
          <a:p>
            <a:pPr algn="l">
              <a:lnSpc>
                <a:spcPct val="95000"/>
              </a:lnSpc>
              <a:spcBef>
                <a:spcPts val="500"/>
              </a:spcBef>
            </a:pPr>
            <a:r>
              <a:rPr sz="1300" b="0">
                <a:solidFill>
                  <a:srgbClr val="404040"/>
                </a:solidFill>
              </a:rPr>
              <a:t>Bereich mit Zusage.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zwischen Rechnung und Betrieb</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Modell ist gut“ und „das Modell darf entscheiden“ sind zwei verschiedene Aussagen. Zwischen ihnen liegen vier Stufen.</a:t>
            </a:r>
          </a:p>
        </p:txBody>
      </p:sp>
      <p:sp>
        <p:nvSpPr>
          <p:cNvPr id="6" name="Rectangle 5"/>
          <p:cNvSpPr/>
          <p:nvPr/>
        </p:nvSpPr>
        <p:spPr>
          <a:xfrm>
            <a:off x="1153160" y="2133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qualifiziert — die Kennzahlen halten auf den Testdaten</a:t>
            </a:r>
          </a:p>
        </p:txBody>
      </p:sp>
      <p:sp>
        <p:nvSpPr>
          <p:cNvPr id="7" name="Isosceles Triangle 6"/>
          <p:cNvSpPr/>
          <p:nvPr/>
        </p:nvSpPr>
        <p:spPr>
          <a:xfrm rot="10800000">
            <a:off x="6801484" y="28067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464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Schattenbetrieb — rechnet mit, wird protokolliert, niemand handelt danach</a:t>
            </a:r>
          </a:p>
        </p:txBody>
      </p:sp>
      <p:sp>
        <p:nvSpPr>
          <p:cNvPr id="9" name="Isosceles Triangle 8"/>
          <p:cNvSpPr/>
          <p:nvPr/>
        </p:nvSpPr>
        <p:spPr>
          <a:xfrm rot="10800000">
            <a:off x="6801484" y="36195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759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betriebsgesperrt — Kennzahlen halten, eine Voraussetzung fehlt</a:t>
            </a:r>
          </a:p>
        </p:txBody>
      </p:sp>
      <p:sp>
        <p:nvSpPr>
          <p:cNvPr id="11" name="Isosceles Triangle 10"/>
          <p:cNvSpPr/>
          <p:nvPr/>
        </p:nvSpPr>
        <p:spPr>
          <a:xfrm rot="10800000">
            <a:off x="6801484" y="44323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sichtbar — die Anzeige ist freigeschaltet (hier erreicht: sichtbar)</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soll die Werkstatt im nächsten Quartal vorsorglich prüfen?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gehören auf die Quartalsliste?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Wird dieses Rad in 90 Tagen auffällig — ja oder nein?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übersehenem Ausfall gegen 25 € je unnötiger Prüfung</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Faustregeln als Maßstab, dann Entscheidungsbaum und Random Forest mit Kostengewicht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Faustregel; das Modell bleibt im Paket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2 · Phase 1</a:t>
            </a:r>
          </a:p>
        </p:txBody>
      </p:sp>
      <p:sp>
        <p:nvSpPr>
          <p:cNvPr id="4" name="Text Placeholder 3"/>
          <p:cNvSpPr>
            <a:spLocks noGrp="1"/>
          </p:cNvSpPr>
          <p:nvPr>
            <p:ph type="body" idx="13" sz="quarter"/>
          </p:nvPr>
        </p:nvSpPr>
        <p:spPr/>
        <p:txBody>
          <a:bodyPr/>
          <a:lstStyle/>
          <a:p>
            <a:r>
              <a:t>analytics/notebooks/02_Klassifikation_Wartungsrisiko.ipynb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Mehr auffällige Räder als eine Zufallsauswahl gleicher Länge</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1,5-fach, in mindestens 4 von 5 Quartalen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erwarteten Kosten liegen unter denen der heutigen Faustregel</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älteste Rad zuerst“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untere Vertrauensgrenze der Listenpräzision hält im Testquartal</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1,5 × Grundrate des Quartals</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D70</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ursprünglich genannte 70-Prozent-Marke</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Diagnose — in einem Quartal nicht erreichbar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Regel 53 Räder gegenüber 44. Ausschlaggebend war aber nicht dieser Vorsprung, sondern die statistische Absicherung.</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 im Testquartal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53</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44</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untere Vertrauensgrenze (K3)</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77,8 %</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gefordert: 74,3 %</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hält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reißt K3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Betrieb</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Regel, unverändert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Eine Faustregel: sortiere nach Kilometern seit der Reparatur.</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a:p>
            <a:pPr algn="l">
              <a:lnSpc>
                <a:spcPct val="95000"/>
              </a:lnSpc>
              <a:spcBef>
                <a:spcPts val="500"/>
              </a:spcBef>
            </a:pPr>
            <a:r>
              <a:rPr sz="1300" b="0">
                <a:solidFill>
                  <a:srgbClr val="404040"/>
                </a:solidFill>
              </a:rPr>
              <a:t>Dazu eine Schattenliste zum 24.08.2026.</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Werkstatt kann die Liste ohne Nacharbeit übernehmen.</a:t>
            </a:r>
          </a:p>
          <a:p>
            <a:pPr algn="l">
              <a:lnSpc>
                <a:spcPct val="95000"/>
              </a:lnSpc>
              <a:spcBef>
                <a:spcPts val="500"/>
              </a:spcBef>
            </a:pPr>
            <a:r>
              <a:rPr sz="1300" b="0">
                <a:solidFill>
                  <a:srgbClr val="404040"/>
                </a:solidFill>
              </a:rPr>
              <a:t>Kein Modellbetrieb, keine Versionsstände, erklärbar im Streitfall.</a:t>
            </a:r>
          </a:p>
          <a:p>
            <a:pPr algn="l">
              <a:lnSpc>
                <a:spcPct val="95000"/>
              </a:lnSpc>
              <a:spcBef>
                <a:spcPts val="500"/>
              </a:spcBef>
            </a:pPr>
            <a:r>
              <a:rPr sz="1300" b="0">
                <a:solidFill>
                  <a:srgbClr val="404040"/>
                </a:solidFill>
              </a:rPr>
              <a:t>Das Kostenverhältnis steht sichtbar in der Entscheidung.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Grundrate schwankt über 8 Stichtage zwischen 14,4 % und 49,6 %.</a:t>
            </a:r>
          </a:p>
          <a:p>
            <a:pPr algn="l">
              <a:lnSpc>
                <a:spcPct val="95000"/>
              </a:lnSpc>
              <a:spcBef>
                <a:spcPts val="500"/>
              </a:spcBef>
            </a:pPr>
            <a:r>
              <a:rPr sz="1300" b="0">
                <a:solidFill>
                  <a:srgbClr val="404040"/>
                </a:solidFill>
              </a:rPr>
              <a:t>Ein einzelnes gutes Quartal belegt deshalb wenig.</a:t>
            </a:r>
          </a:p>
          <a:p>
            <a:pPr algn="l">
              <a:lnSpc>
                <a:spcPct val="95000"/>
              </a:lnSpc>
              <a:spcBef>
                <a:spcPts val="500"/>
              </a:spcBef>
            </a:pPr>
            <a:r>
              <a:rPr sz="1300" b="0">
                <a:solidFill>
                  <a:srgbClr val="404040"/>
                </a:solidFill>
              </a:rPr>
              <a:t>Sobald die Liste benutzt wird, verändert sie die Daten, aus denen sie lernt — ohne Kontrollgruppe ist die Trefferquote keine Gütekennzahl.</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Stationstypen und welche Kundensegmente hat VeloCity wirklich?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Stationstypen und Kundensegmente gibt es — und wie behandelt man sie unterschiedlich?</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aus dem Verhalten, nicht aus den Stammdaten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und damit keinen mitgelieferten Maßstab</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auf Tagesgang (Stationen) und auf Aktualität, Häufigkeit, Umsatz (Kundschaft)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Analytisch nicht belegt, für den Einsatz freigegeben</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nötig ist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benennbar</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Gruppe, die niemand beschreiben kann, ist keine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unterschiedlich behandelbar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Gruppen mit derselben Maßnahme sind eine Gruppe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groß genug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5 % des Bestands lohnt keine eigene Ansprache</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und 5</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stabil gegenüber Startwert und über die Zeit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wechselt die Kundschaft das Segment ohne Verhaltensänderung</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den Stationen lässt sich das Ergebnis gegen eine im Datensatz hinterlegte, dem Verfahren nicht bekannte Zuordnung prüfen. Bei der Kundschaft gibt es diese Möglichkeit nicht — dort entscheiden allein die fünf Kriterien.</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Stationen</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Kundschaft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 der Gruppen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benennbare Typen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gegen die verdeckte Wahrheit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80 % richtig</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vorhanden</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Reproduzierbarkeit (ARI)</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0,533</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1,000</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Kriterien erfüllt</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fünf</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von 5</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Stationsprofile als CSV — ausdrücklich Hypothesen, kein Sollbestand.</a:t>
            </a:r>
          </a:p>
          <a:p>
            <a:pPr algn="l">
              <a:lnSpc>
                <a:spcPct val="95000"/>
              </a:lnSpc>
              <a:spcBef>
                <a:spcPts val="500"/>
              </a:spcBef>
            </a:pPr>
            <a:r>
              <a:rPr sz="1300" b="0">
                <a:solidFill>
                  <a:srgbClr val="404040"/>
                </a:solidFill>
              </a:rPr>
              <a:t>Für die Kundschaft nur ein aggregierter Bericht ohne Namen.</a:t>
            </a:r>
          </a:p>
          <a:p>
            <a:pPr algn="l">
              <a:lnSpc>
                <a:spcPct val="95000"/>
              </a:lnSpc>
              <a:spcBef>
                <a:spcPts val="500"/>
              </a:spcBef>
            </a:pPr>
            <a:r>
              <a:rPr sz="1300" b="0">
                <a:solidFill>
                  <a:srgbClr val="404040"/>
                </a:solidFill>
              </a:rPr>
              <a:t>Analytisch nicht belegt, Einsatz freigegeben.</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Umverteilung bekommt benannte Stationstypen statt Bauchgefühl.</a:t>
            </a:r>
          </a:p>
          <a:p>
            <a:pPr algn="l">
              <a:lnSpc>
                <a:spcPct val="95000"/>
              </a:lnSpc>
              <a:spcBef>
                <a:spcPts val="500"/>
              </a:spcBef>
            </a:pPr>
            <a:r>
              <a:rPr sz="1300" b="0">
                <a:solidFill>
                  <a:srgbClr val="404040"/>
                </a:solidFill>
              </a:rPr>
              <a:t>Sichtbar wurde ein Preisproblem: Vielfahrer bringen 1,65 € je Fahrt, Umsatzträger 6,20 €.</a:t>
            </a:r>
          </a:p>
          <a:p>
            <a:pPr algn="l">
              <a:lnSpc>
                <a:spcPct val="95000"/>
              </a:lnSpc>
              <a:spcBef>
                <a:spcPts val="500"/>
              </a:spcBef>
            </a:pPr>
            <a:r>
              <a:rPr sz="1300" b="0">
                <a:solidFill>
                  <a:srgbClr val="404040"/>
                </a:solidFill>
              </a:rPr>
              <a:t>Der Kundenbericht bleibt aggregiert und ohne Namen.</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32 % der Kundschaft erscheinen gar nicht — sie sind im Betrachtungszeitraum nicht gefahren.</a:t>
            </a:r>
          </a:p>
          <a:p>
            <a:pPr algn="l">
              <a:lnSpc>
                <a:spcPct val="95000"/>
              </a:lnSpc>
              <a:spcBef>
                <a:spcPts val="500"/>
              </a:spcBef>
            </a:pPr>
            <a:r>
              <a:rPr sz="1300" b="0">
                <a:solidFill>
                  <a:srgbClr val="404040"/>
                </a:solidFill>
              </a:rPr>
              <a:t>Was fehlt, ist keine Kennzahl, sondern eine prospektive Prüfung.</a:t>
            </a:r>
          </a:p>
          <a:p>
            <a:pPr algn="l">
              <a:lnSpc>
                <a:spcPct val="95000"/>
              </a:lnSpc>
              <a:spcBef>
                <a:spcPts val="500"/>
              </a:spcBef>
            </a:pPr>
            <a:r>
              <a:rPr sz="1300" b="0">
                <a:solidFill>
                  <a:srgbClr val="404040"/>
                </a:solidFill>
              </a:rPr>
              <a:t>Silhouette und Rand-Index messen Trennschärfe, nicht Verwendbarkeit.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Ohne Zielgröße gibt es kein „richtig“ — die Erfolgskriterien müssen vorher gesetzt und begründet werden.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unter welchem Informationsstand wählt man das Verfahren?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Lineare Regression; Status schattenpilot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4 · Phase 1</a:t>
            </a:r>
          </a:p>
        </p:txBody>
      </p:sp>
      <p:sp>
        <p:nvSpPr>
          <p:cNvPr id="4" name="Text Placeholder 3"/>
          <p:cNvSpPr>
            <a:spLocks noGrp="1"/>
          </p:cNvSpPr>
          <p:nvPr>
            <p:ph type="body" idx="13" sz="quarter"/>
          </p:nvPr>
        </p:nvSpPr>
        <p:spPr/>
        <p:txBody>
          <a:bodyPr/>
          <a:lstStyle/>
          <a:p>
            <a:r>
              <a:t>analytics/notebooks/04_Zeitreihe_Nachfrageprognose.ipynb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Einheit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Prognostiziert werden Fahrten, nicht Räder oder Schichten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Übersetzung ist eine eigene Analyse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Vergleichslage</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Gemessen wird unter Prognosewetter, nicht unter Ist-Wetter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 18 Uhr liegt nur eine Vorhersage vor</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Aufschlag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Sicherheitsaufschlag wird auf der Validierung gewählt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teurere Fehlerrichtung wird sichtbar entschieden</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Reihenfolge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Test wird erst geöffnet, wenn Verfahren und Aufschlag feststehen</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Danach ist er verbraucht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Mittlerer absoluter Fehler in Fahrten je Tag. Unter Ist-Wetter liegen beide Modelle praktisch gleichauf; erst unter Prognosewetter setzt sich das einfachere Verfahren ab.</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Prognosewetter</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Ist-Wetter</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25,8</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der Disposition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29,7</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13,9</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11,14</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11,09</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Lineare Regression mit einem Aufschlag von 46 %.</a:t>
            </a:r>
          </a:p>
          <a:p>
            <a:pPr algn="l">
              <a:lnSpc>
                <a:spcPct val="95000"/>
              </a:lnSpc>
              <a:spcBef>
                <a:spcPts val="500"/>
              </a:spcBef>
            </a:pPr>
            <a:r>
              <a:rPr sz="1300" b="0">
                <a:solidFill>
                  <a:srgbClr val="404040"/>
                </a:solidFill>
              </a:rPr>
              <a:t>Mittlerer Fehler 13,9 Fahrten gegen 29,7 bei der Faustregel.</a:t>
            </a:r>
          </a:p>
          <a:p>
            <a:pPr algn="l">
              <a:lnSpc>
                <a:spcPct val="95000"/>
              </a:lnSpc>
              <a:spcBef>
                <a:spcPts val="500"/>
              </a:spcBef>
            </a:pPr>
            <a:r>
              <a:rPr sz="1300" b="0">
                <a:solidFill>
                  <a:srgbClr val="404040"/>
                </a:solidFill>
              </a:rPr>
              <a:t>Status: schattenpilot.</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a:t>
            </a:r>
          </a:p>
          <a:p>
            <a:pPr algn="l">
              <a:lnSpc>
                <a:spcPct val="95000"/>
              </a:lnSpc>
              <a:spcBef>
                <a:spcPts val="500"/>
              </a:spcBef>
            </a:pPr>
            <a:r>
              <a:rPr sz="1300" b="0">
                <a:solidFill>
                  <a:srgbClr val="404040"/>
                </a:solidFill>
              </a:rPr>
              <a:t>Der Aufschlag macht die teurere Fehlerrichtung zu einer sichtbaren Entscheidung.</a:t>
            </a:r>
          </a:p>
          <a:p>
            <a:pPr algn="l">
              <a:lnSpc>
                <a:spcPct val="95000"/>
              </a:lnSpc>
              <a:spcBef>
                <a:spcPts val="500"/>
              </a:spcBef>
            </a:pPr>
            <a:r>
              <a:rPr sz="1300" b="0">
                <a:solidFill>
                  <a:srgbClr val="404040"/>
                </a:solidFill>
              </a:rPr>
              <a:t>Der Schattenpilot läuft mit und wird protokolliert.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gebraucht werden Räder je Station.</a:t>
            </a:r>
          </a:p>
          <a:p>
            <a:pPr algn="l">
              <a:lnSpc>
                <a:spcPct val="95000"/>
              </a:lnSpc>
              <a:spcBef>
                <a:spcPts val="500"/>
              </a:spcBef>
            </a:pPr>
            <a:r>
              <a:rPr sz="1300" b="0">
                <a:solidFill>
                  <a:srgbClr val="404040"/>
                </a:solidFill>
              </a:rPr>
              <a:t>Die Wetterunsicherheit ist simuliert, nicht gemessen.</a:t>
            </a:r>
          </a:p>
          <a:p>
            <a:pPr algn="l">
              <a:lnSpc>
                <a:spcPct val="95000"/>
              </a:lnSpc>
              <a:spcBef>
                <a:spcPts val="500"/>
              </a:spcBef>
            </a:pPr>
            <a:r>
              <a:rPr sz="1300" b="0">
                <a:solidFill>
                  <a:srgbClr val="404040"/>
                </a:solidFill>
              </a:rPr>
              <a:t>Ein Sommerfenster trägt keine Jahresaussage.</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zwei Produkte, zwei Maßstäbe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Zwischen welchen Stationen gibt es systematische Ströme — und was darf man damit tun?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 und in welchem Zeitfenster?</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Gerichtete Start-Ziel-Regeln je Kontext, gemessen am kontextbedingten Lift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Produkte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automatische Umverteilung, B Dispositionshinweis — mit eigenen Kriterien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Bestätigung im versiegelten letzten Drittel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nicht freigegeben (Wirtschaftlichkeit nicht prüfbar). B: analytisches Lehr-Gate bestanden — keine reale Betriebsfreigabe</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bis A3</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kontextbedingter Lift, Ziel ist eine konkrete Station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 · 1,3 · Start ≠ Ziel</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A4</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Wert der betroffenen Fahrten übersteigt die Kosten einer Umsetzrunde</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35 € je Runde — gesetzte Szenarioannahme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B1</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Regel hält im Bestätigungszeitraum, den die Suche nicht gesehen hat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Grenze eines Tagesblock-Bootstraps ≥ 1,3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B2 bis B4</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Größenordnung neben der Regel, keine Automatik, Begleitanalysen explorativ</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Code geprüft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Von 11 geprüften Regeln halten 6 unter Unsicherheit. Der Unterschied zwischen „beobachtet“ und „bestätigt“ ist genau diese Spalte.</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Regeln, die A1 bis A3 nehmen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statistische Mindestanforderung erfüllt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davon unter B1 bestätigt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von 11</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unangetasteten Zeitraum, unter Unsicherheit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am Punktschätzer</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erreicht den Lift gar nicht erst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erst am Intervall</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aber nicht bestätigt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`dispositionshinweise.csv` mit 6 bestätigten Regeln.</a:t>
            </a:r>
          </a:p>
          <a:p>
            <a:pPr algn="l">
              <a:lnSpc>
                <a:spcPct val="95000"/>
              </a:lnSpc>
              <a:spcBef>
                <a:spcPts val="500"/>
              </a:spcBef>
            </a:pPr>
            <a:r>
              <a:rPr sz="1300" b="0">
                <a:solidFill>
                  <a:srgbClr val="404040"/>
                </a:solidFill>
              </a:rPr>
              <a:t>Jede mit ihrer Größenordnung: höchstens 1,02 Fahrten je Tag.</a:t>
            </a:r>
          </a:p>
          <a:p>
            <a:pPr algn="l">
              <a:lnSpc>
                <a:spcPct val="95000"/>
              </a:lnSpc>
              <a:spcBef>
                <a:spcPts val="500"/>
              </a:spcBef>
            </a:pPr>
            <a:r>
              <a:rPr sz="1300" b="0">
                <a:solidFill>
                  <a:srgbClr val="404040"/>
                </a:solidFill>
              </a:rPr>
              <a:t>Produkt A: nicht freigegeben (Wirtschaftlichkeit nicht prüfbar).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Disposition bekommt begründete Hinweise und entscheidet selbst.</a:t>
            </a:r>
          </a:p>
          <a:p>
            <a:pPr algn="l">
              <a:lnSpc>
                <a:spcPct val="95000"/>
              </a:lnSpc>
              <a:spcBef>
                <a:spcPts val="500"/>
              </a:spcBef>
            </a:pPr>
            <a:r>
              <a:rPr sz="1300" b="0">
                <a:solidFill>
                  <a:srgbClr val="404040"/>
                </a:solidFill>
              </a:rPr>
              <a:t>Jede Regel trägt ihren Nenner — hoher Lift heißt nicht viele Fahrten.</a:t>
            </a:r>
          </a:p>
          <a:p>
            <a:pPr algn="l">
              <a:lnSpc>
                <a:spcPct val="95000"/>
              </a:lnSpc>
              <a:spcBef>
                <a:spcPts val="500"/>
              </a:spcBef>
            </a:pPr>
            <a:r>
              <a:rPr sz="1300" b="0">
                <a:solidFill>
                  <a:srgbClr val="404040"/>
                </a:solidFill>
              </a:rPr>
              <a:t>Salden und Abstell-Hotspots liegen bei, als explorativ gekennzeichnet.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Ein analytisches Lehr-Gate, keine Betriebsfreigabe.</a:t>
            </a:r>
          </a:p>
          <a:p>
            <a:pPr algn="l">
              <a:lnSpc>
                <a:spcPct val="95000"/>
              </a:lnSpc>
              <a:spcBef>
                <a:spcPts val="500"/>
              </a:spcBef>
            </a:pPr>
            <a:r>
              <a:rPr sz="1300" b="0">
                <a:solidFill>
                  <a:srgbClr val="404040"/>
                </a:solidFill>
              </a:rPr>
              <a:t>A4 ist mit diesen Daten nicht prüfbar: Fahrten, die mangels Rad nie stattfanden, stehen nirgends.</a:t>
            </a:r>
          </a:p>
          <a:p>
            <a:pPr algn="l">
              <a:lnSpc>
                <a:spcPct val="95000"/>
              </a:lnSpc>
              <a:spcBef>
                <a:spcPts val="500"/>
              </a:spcBef>
            </a:pPr>
            <a:r>
              <a:rPr sz="1300" b="0">
                <a:solidFill>
                  <a:srgbClr val="404040"/>
                </a:solidFill>
              </a:rPr>
              <a:t>Die Hürde entspricht 0,66 Fahrten je Werktag — dort beginnt keine Umsetzfahrt.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Beobachtet ist nicht bestätigt: Erst ein Unsicherheitsintervall sagt, ob eine Regel die Schwelle wirklich hält.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auffällig — und welche der drei Fragen, die darin stecken, beantwortet man gerade?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Fragen mit drei Entscheidungszeitpunkten: jetzt, heute früh, gestern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überfällige Rückgabe, A2 auffällige Fahrten, B eine Prüfliste</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Für A2 gibt es kein Label — und damit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dann Isolation Forest; nach dem Rücksprung je Radtyp normiert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spezifiziert, A2 schatten, B explorativ</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6 · Phase 1</a:t>
            </a:r>
          </a:p>
        </p:txBody>
      </p:sp>
      <p:sp>
        <p:nvSpPr>
          <p:cNvPr id="4" name="Text Placeholder 3"/>
          <p:cNvSpPr>
            <a:spLocks noGrp="1"/>
          </p:cNvSpPr>
          <p:nvPr>
            <p:ph type="body" idx="13" sz="quarter"/>
          </p:nvPr>
        </p:nvSpPr>
        <p:spPr/>
        <p:txBody>
          <a:bodyPr/>
          <a:lstStyle/>
          <a:p>
            <a:r>
              <a:t>analytics/notebooks/06_Anomalieerkennung_Auffaellige_Vorgaenge.ipynb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Listenlänge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Zeitbudget und Prüfdauer abgeleitet, nicht gesetzt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Plätze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Präzision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brauchbarer Fälle je neuem Alarm</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20 %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Recall und Verzug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erkannter Episoden, Meldeverzug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60 % · höchstens 1 Tag</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Bewusst kein Gütekriterium</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Label lässt sich keines formulieren</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Produkte, drei Urteile. Die letzte Zeile ist die lehrreichste: Dieselbe Rangliste liefert zwei sehr verschiedene Trefferquoten, je nachdem, ob man sie global oder je Tag auswertet.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Produkt</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überfällige Rückgabe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spezifiziert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als Regel beschrieben; Echtzeitquelle und Alarmkanal fehlen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 auffällige Fahrten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schatten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Label, keine belegte Güte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Prüfliste</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explorativ</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von 3 bindenden Gates halten auf dem unangetasteten Test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globale Liste gegen Tagesliste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 gegen 12,4 %</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Modell, zwei verschiedene Produkte</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A1 als Regel — spezifiziert, ohne Modell.</a:t>
            </a:r>
          </a:p>
          <a:p>
            <a:pPr algn="l">
              <a:lnSpc>
                <a:spcPct val="95000"/>
              </a:lnSpc>
              <a:spcBef>
                <a:spcPts val="500"/>
              </a:spcBef>
            </a:pPr>
            <a:r>
              <a:rPr sz="1300" b="0">
                <a:solidFill>
                  <a:srgbClr val="404040"/>
                </a:solidFill>
              </a:rPr>
              <a:t>A2 im schatten: rechnet mit, wird protokolliert.</a:t>
            </a:r>
          </a:p>
          <a:p>
            <a:pPr algn="l">
              <a:lnSpc>
                <a:spcPct val="95000"/>
              </a:lnSpc>
              <a:spcBef>
                <a:spcPts val="500"/>
              </a:spcBef>
            </a:pPr>
            <a:r>
              <a:rPr sz="1300" b="0">
                <a:solidFill>
                  <a:srgbClr val="404040"/>
                </a:solidFill>
              </a:rPr>
              <a:t>B als explorativ entwickelte Prüfliste.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ohne jeden Modellbetrieb.</a:t>
            </a:r>
          </a:p>
          <a:p>
            <a:pPr algn="l">
              <a:lnSpc>
                <a:spcPct val="95000"/>
              </a:lnSpc>
              <a:spcBef>
                <a:spcPts val="500"/>
              </a:spcBef>
            </a:pPr>
            <a:r>
              <a:rPr sz="1300" b="0">
                <a:solidFill>
                  <a:srgbClr val="404040"/>
                </a:solidFill>
              </a:rPr>
              <a:t>Die Prüfliste hebt die Präzision gegenüber der alten Meldelogik (9,6 % je Alarm).</a:t>
            </a:r>
          </a:p>
          <a:p>
            <a:pPr algn="l">
              <a:lnSpc>
                <a:spcPct val="95000"/>
              </a:lnSpc>
              <a:spcBef>
                <a:spcPts val="500"/>
              </a:spcBef>
            </a:pPr>
            <a:r>
              <a:rPr sz="1300" b="0">
                <a:solidFill>
                  <a:srgbClr val="404040"/>
                </a:solidFill>
              </a:rPr>
              <a:t>Jedes Produkt trägt seinen eigenen Status statt einer gemeinsamen Freigabe.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Auf dem unangetasteten Test bleibt die Präzision mit 18,2 % unter den geforderten 20 %.</a:t>
            </a:r>
          </a:p>
          <a:p>
            <a:pPr algn="l">
              <a:lnSpc>
                <a:spcPct val="95000"/>
              </a:lnSpc>
              <a:spcBef>
                <a:spcPts val="500"/>
              </a:spcBef>
            </a:pPr>
            <a:r>
              <a:rPr sz="1300" b="0">
                <a:solidFill>
                  <a:srgbClr val="404040"/>
                </a:solidFill>
              </a:rPr>
              <a:t>Für A2 fehlt das Label — eine Trefferquote kann erst der Schattenbetrieb liefern.</a:t>
            </a:r>
          </a:p>
          <a:p>
            <a:pPr algn="l">
              <a:lnSpc>
                <a:spcPct val="95000"/>
              </a:lnSpc>
              <a:spcBef>
                <a:spcPts val="500"/>
              </a:spcBef>
            </a:pPr>
            <a:r>
              <a:rPr sz="1300" b="0">
                <a:solidFill>
                  <a:srgbClr val="404040"/>
                </a:solidFill>
              </a:rPr>
              <a:t>Die globale Rangliste beschreibt nicht die Liste, die im Betrieb entsteht.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verdient seinen Unterhalt nicht — die Faustregel hält die Zusage</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ist nicht bestätigt — erst das Intervall entscheidet</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ein Notebook: vollständig gerechnet, mit allen Ausgaben, lesbar ohne eine Zeile auszuführen.</a:t>
            </a:r>
          </a:p>
        </p:txBody>
      </p:sp>
      <p:sp>
        <p:nvSpPr>
          <p:cNvPr id="6" name="Rectangle 5"/>
          <p:cNvSpPr/>
          <p:nvPr/>
        </p:nvSpPr>
        <p:spPr>
          <a:xfrm>
            <a:off x="1153160" y="18796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879600"/>
            <a:ext cx="969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vorfinden</a:t>
            </a:r>
          </a:p>
        </p:txBody>
      </p:sp>
      <p:sp>
        <p:nvSpPr>
          <p:cNvPr id="8" name="Rectangle 7"/>
          <p:cNvSpPr/>
          <p:nvPr/>
        </p:nvSpPr>
        <p:spPr>
          <a:xfrm>
            <a:off x="1153160" y="2413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9" name="Rectangle 8"/>
          <p:cNvSpPr/>
          <p:nvPr/>
        </p:nvSpPr>
        <p:spPr>
          <a:xfrm>
            <a:off x="2931160" y="24130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 — sechs Dateien, eine je Verfahren</a:t>
            </a:r>
          </a:p>
        </p:txBody>
      </p:sp>
      <p:sp>
        <p:nvSpPr>
          <p:cNvPr id="10" name="Rectangle 9"/>
          <p:cNvSpPr/>
          <p:nvPr/>
        </p:nvSpPr>
        <p:spPr>
          <a:xfrm>
            <a:off x="1153160" y="29464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1" name="Rectangle 10"/>
          <p:cNvSpPr/>
          <p:nvPr/>
        </p:nvSpPr>
        <p:spPr>
          <a:xfrm>
            <a:off x="2931160" y="29464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Zahlen, Tabellen und Diagramme stehen im Notebook, auch ohne Rechnen</a:t>
            </a:r>
          </a:p>
        </p:txBody>
      </p:sp>
      <p:sp>
        <p:nvSpPr>
          <p:cNvPr id="12" name="Rectangle 11"/>
          <p:cNvSpPr/>
          <p:nvPr/>
        </p:nvSpPr>
        <p:spPr>
          <a:xfrm>
            <a:off x="1153160" y="34798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Öffnen</a:t>
            </a:r>
          </a:p>
        </p:txBody>
      </p:sp>
      <p:sp>
        <p:nvSpPr>
          <p:cNvPr id="13" name="Rectangle 12"/>
          <p:cNvSpPr/>
          <p:nvPr/>
        </p:nvSpPr>
        <p:spPr>
          <a:xfrm>
            <a:off x="2931160" y="34798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Colab-Knopf oben in jedem Notebook. Die Daten lädt es selbst — kein Upload, kein Drive</a:t>
            </a:r>
          </a:p>
        </p:txBody>
      </p:sp>
      <p:sp>
        <p:nvSpPr>
          <p:cNvPr id="14" name="Rectangle 13"/>
          <p:cNvSpPr/>
          <p:nvPr/>
        </p:nvSpPr>
        <p:spPr>
          <a:xfrm>
            <a:off x="1153160" y="40132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15" name="Rectangle 14"/>
          <p:cNvSpPr/>
          <p:nvPr/>
        </p:nvSpPr>
        <p:spPr>
          <a:xfrm>
            <a:off x="2931160" y="40132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CRISP-DM-Phasen als Überschriften, in allen sechs Notebooks dieselben</a:t>
            </a:r>
          </a:p>
        </p:txBody>
      </p:sp>
      <p:sp>
        <p:nvSpPr>
          <p:cNvPr id="16" name="Rectangle 15"/>
          <p:cNvSpPr/>
          <p:nvPr/>
        </p:nvSpPr>
        <p:spPr>
          <a:xfrm>
            <a:off x="1153160" y="45466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Zahlen</a:t>
            </a:r>
          </a:p>
        </p:txBody>
      </p:sp>
      <p:sp>
        <p:nvSpPr>
          <p:cNvPr id="17" name="Rectangle 16"/>
          <p:cNvSpPr/>
          <p:nvPr/>
        </p:nvSpPr>
        <p:spPr>
          <a:xfrm>
            <a:off x="2931160" y="45466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Zahl im Fließtext stammt aus einer Ausgabe desselben Laufs; eine Prüfung erzwingt das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