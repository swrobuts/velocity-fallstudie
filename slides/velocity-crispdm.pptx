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 Gründe, falls jemand fragt: Fall 3 liefert absichtlich nur einen aggregierten Bericht ohne Namen - der Datenschutz entscheidet, nicht die Kennzahl. Fall 4 wartet auf die prospektive Prüfung. Bei Fall 5 ist die Wirtschaftlichkeit mit diesen Daten nicht prüfbar. Fall 6 fehlen die Fälle, nicht die Methode. Vier verschiedene Hindernisse, und keines davon verschwindet dadurch, dass man ein besseres Modell rechnet. Wer die Folie kurz halten will, sagt nur den Satz im Band.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beantwortet die Frage, die im Block sonst offen bleibt: Was passiert mit einem Ergebnis nach der Freigabe? Hier ist es nachvollziehbar - dieselbe Idee, ein anderer Datenbestand, und jede der drei Änderungen ist an einer Messung festgemacht, nicht an einer Meinung. Wer die Folie im Vortrag vertieft: Der dritte Punkt ist der billigste und der wirksamste. Eine einzige nicht beendete Ausleihe hatte die ganze Rangfolge bestimmt.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Notebooks sind zum Lesen gebaut, nicht nur zum Ausführen: Wer sie auf GitHub öffnet, sieht jedes Ergebnis sofort. Wer selbst rechnen will, öffnet sie über den Colab-Knopf.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Prognoseliste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probebetrieb</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probebetrieb.</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Probebetrieb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probebetrieb,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probebetrieb</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probebetrieb: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weit kommt ein Ergebnis?</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Sechs Fälle, sechs Ergebnisse — und drei verschiedene Enden. Wie weit eines kommt, entscheidet nicht die Güte der Rechnung, sondern was danach noch fehlt.</a:t>
            </a:r>
          </a:p>
        </p:txBody>
      </p:sp>
      <p:sp>
        <p:nvSpPr>
          <p:cNvPr id="6" name="Rectangle 5"/>
          <p:cNvSpPr/>
          <p:nvPr/>
        </p:nvSpPr>
        <p:spPr>
          <a:xfrm>
            <a:off x="1153160" y="18796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20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553450" cy="660400"/>
          </a:xfrm>
          <a:prstGeom prst="rect">
            <a:avLst/>
          </a:prstGeom>
          <a:noFill/>
        </p:spPr>
        <p:txBody>
          <a:bodyPr wrap="square" lIns="0" tIns="0" rIns="0" bIns="0" anchor="ctr">
            <a:spAutoFit/>
          </a:bodyPr>
          <a:lstStyle/>
          <a:p>
            <a:pPr>
              <a:lnSpc>
                <a:spcPct val="95000"/>
              </a:lnSpc>
            </a:pPr>
            <a:r>
              <a:rPr sz="1300" b="1">
                <a:solidFill>
                  <a:srgbClr val="003E6E"/>
                </a:solidFill>
              </a:rPr>
              <a:t>Steht im Notebook.  </a:t>
            </a:r>
            <a:r>
              <a:rPr sz="1300">
                <a:solidFill>
                  <a:srgbClr val="404040"/>
                </a:solidFill>
              </a:rPr>
              <a:t>Nachlesbar, aber nicht benutzbar: keine Datei, keine Tabelle — nur die Ausgabe unter der Zelle</a:t>
            </a:r>
          </a:p>
        </p:txBody>
      </p:sp>
      <p:sp>
        <p:nvSpPr>
          <p:cNvPr id="10" name="Rounded Rectangle 9"/>
          <p:cNvSpPr/>
          <p:nvPr/>
        </p:nvSpPr>
        <p:spPr>
          <a:xfrm>
            <a:off x="10570210" y="1993900"/>
            <a:ext cx="19050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Fall 4</a:t>
            </a:r>
          </a:p>
        </p:txBody>
      </p:sp>
      <p:sp>
        <p:nvSpPr>
          <p:cNvPr id="11" name="Rectangle 10"/>
          <p:cNvSpPr/>
          <p:nvPr/>
        </p:nvSpPr>
        <p:spPr>
          <a:xfrm>
            <a:off x="1153160" y="28194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194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95600"/>
            <a:ext cx="8553450" cy="660400"/>
          </a:xfrm>
          <a:prstGeom prst="rect">
            <a:avLst/>
          </a:prstGeom>
          <a:noFill/>
        </p:spPr>
        <p:txBody>
          <a:bodyPr wrap="square" lIns="0" tIns="0" rIns="0" bIns="0" anchor="ctr">
            <a:spAutoFit/>
          </a:bodyPr>
          <a:lstStyle/>
          <a:p>
            <a:pPr>
              <a:lnSpc>
                <a:spcPct val="95000"/>
              </a:lnSpc>
            </a:pPr>
            <a:r>
              <a:rPr sz="1300" b="1">
                <a:solidFill>
                  <a:srgbClr val="003E6E"/>
                </a:solidFill>
              </a:rPr>
              <a:t>Liegt als Datei bereit.  </a:t>
            </a:r>
            <a:r>
              <a:rPr sz="1300">
                <a:solidFill>
                  <a:srgbClr val="404040"/>
                </a:solidFill>
              </a:rPr>
              <a:t>Eine CSV, die jemand öffnen und weitergeben kann. Ob sie jemand benutzt, steht nicht in der Datei</a:t>
            </a:r>
          </a:p>
        </p:txBody>
      </p:sp>
      <p:sp>
        <p:nvSpPr>
          <p:cNvPr id="15" name="Rounded Rectangle 14"/>
          <p:cNvSpPr/>
          <p:nvPr/>
        </p:nvSpPr>
        <p:spPr>
          <a:xfrm>
            <a:off x="10570210" y="2933700"/>
            <a:ext cx="19050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Fall 3 · 5 · 6</a:t>
            </a:r>
          </a:p>
        </p:txBody>
      </p:sp>
      <p:sp>
        <p:nvSpPr>
          <p:cNvPr id="16" name="Rectangle 15"/>
          <p:cNvSpPr/>
          <p:nvPr/>
        </p:nvSpPr>
        <p:spPr>
          <a:xfrm>
            <a:off x="1153160" y="37592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7592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00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835400"/>
            <a:ext cx="8553450" cy="660400"/>
          </a:xfrm>
          <a:prstGeom prst="rect">
            <a:avLst/>
          </a:prstGeom>
          <a:noFill/>
        </p:spPr>
        <p:txBody>
          <a:bodyPr wrap="square" lIns="0" tIns="0" rIns="0" bIns="0" anchor="ctr">
            <a:spAutoFit/>
          </a:bodyPr>
          <a:lstStyle/>
          <a:p>
            <a:pPr>
              <a:lnSpc>
                <a:spcPct val="95000"/>
              </a:lnSpc>
            </a:pPr>
            <a:r>
              <a:rPr sz="1300" b="1">
                <a:solidFill>
                  <a:srgbClr val="003E6E"/>
                </a:solidFill>
              </a:rPr>
              <a:t>Ist in der Anwendung.  </a:t>
            </a:r>
            <a:r>
              <a:rPr sz="1300">
                <a:solidFill>
                  <a:srgbClr val="404040"/>
                </a:solidFill>
              </a:rPr>
              <a:t>Es erscheint, ohne dass jemand danach fragt — die Preisspanne auf der Website, die Prüfliste in der Warenwirtschaft</a:t>
            </a:r>
          </a:p>
        </p:txBody>
      </p:sp>
      <p:sp>
        <p:nvSpPr>
          <p:cNvPr id="20" name="Rounded Rectangle 19"/>
          <p:cNvSpPr/>
          <p:nvPr/>
        </p:nvSpPr>
        <p:spPr>
          <a:xfrm>
            <a:off x="10570210" y="3873500"/>
            <a:ext cx="19050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Fall 1 · 2</a:t>
            </a:r>
          </a:p>
        </p:txBody>
      </p:sp>
      <p:sp>
        <p:nvSpPr>
          <p:cNvPr id="21" name="Rectangle 20"/>
          <p:cNvSpPr/>
          <p:nvPr/>
        </p:nvSpPr>
        <p:spPr>
          <a:xfrm>
            <a:off x="1153160" y="4749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26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von sechs erreichen einen Bildschirm. Die anderen vier bleiben aus vier verschiedenen Gründen stehen — und keiner davon ist ein Rechenfehler.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Gleiche Frage, andere Daten — andere Formel</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db/aufbau/0021_wartungsprognose.sql · Kopfkommentar</a:t>
            </a:r>
          </a:p>
        </p:txBody>
      </p:sp>
      <p:sp>
        <p:nvSpPr>
          <p:cNvPr id="5" name="TextBox 4"/>
          <p:cNvSpPr txBox="1"/>
          <p:nvPr/>
        </p:nvSpPr>
        <p:spPr>
          <a:xfrm>
            <a:off x="1066800" y="1143000"/>
            <a:ext cx="11557000" cy="762000"/>
          </a:xfrm>
          <a:prstGeom prst="rect">
            <a:avLst/>
          </a:prstGeom>
          <a:noFill/>
        </p:spPr>
        <p:txBody>
          <a:bodyPr wrap="square" lIns="0" tIns="0" rIns="0" bIns="0">
            <a:spAutoFit/>
          </a:bodyPr>
          <a:lstStyle/>
          <a:p>
            <a:pPr algn="just">
              <a:lnSpc>
                <a:spcPct val="95000"/>
              </a:lnSpc>
            </a:pPr>
            <a:r>
              <a:rPr sz="1400" b="0">
                <a:solidFill>
                  <a:srgbClr val="404040"/>
                </a:solidFill>
              </a:rPr>
              <a:t>Die Faustregel aus Fall 2 ist inzwischen in der Warenwirtschaft angekommen und rechnet dort auf dem echten Bestand. Übernommen werden konnte die Frage — wer hat seit der letzten Reparatur am meisten gearbeitet? —, nicht die Rechnung. Drei Messungen haben sie umgeschrieben.</a:t>
            </a:r>
          </a:p>
        </p:txBody>
      </p:sp>
      <p:sp>
        <p:nvSpPr>
          <p:cNvPr id="6" name="Rectangle 5"/>
          <p:cNvSpPr/>
          <p:nvPr/>
        </p:nvSpPr>
        <p:spPr>
          <a:xfrm>
            <a:off x="1153160" y="21082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1082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49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1844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Die Strecke fehlt.  </a:t>
            </a:r>
            <a:r>
              <a:rPr sz="1300">
                <a:solidFill>
                  <a:srgbClr val="404040"/>
                </a:solidFill>
              </a:rPr>
              <a:t>Bei 40 % der Fahrten, je Rad zwischen 37 % und 82 % — eine Kilometersumme sortierte nach Datenqualität statt nach Verschleiß</a:t>
            </a:r>
          </a:p>
        </p:txBody>
      </p:sp>
      <p:sp>
        <p:nvSpPr>
          <p:cNvPr id="10" name="Rounded Rectangle 9"/>
          <p:cNvSpPr/>
          <p:nvPr/>
        </p:nvSpPr>
        <p:spPr>
          <a:xfrm>
            <a:off x="9986010" y="22225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Fahrzeit statt Kilometer</a:t>
            </a:r>
          </a:p>
        </p:txBody>
      </p:sp>
      <p:sp>
        <p:nvSpPr>
          <p:cNvPr id="11" name="Rectangle 10"/>
          <p:cNvSpPr/>
          <p:nvPr/>
        </p:nvSpPr>
        <p:spPr>
          <a:xfrm>
            <a:off x="1153160" y="30480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0480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28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1242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Der Typ schlägt das Rad.  </a:t>
            </a:r>
            <a:r>
              <a:rPr sz="1300">
                <a:solidFill>
                  <a:srgbClr val="404040"/>
                </a:solidFill>
              </a:rPr>
              <a:t>Lastenradfahrt 39 Minuten, Cityradfahrt 19 — die Liste enthielt 96 % aller Lastenräder und 4 % der Cityräder, jetzt 8 % und 25 %</a:t>
            </a:r>
          </a:p>
        </p:txBody>
      </p:sp>
      <p:sp>
        <p:nvSpPr>
          <p:cNvPr id="15" name="Rounded Rectangle 14"/>
          <p:cNvSpPr/>
          <p:nvPr/>
        </p:nvSpPr>
        <p:spPr>
          <a:xfrm>
            <a:off x="9986010" y="31623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geteilt durch den Typ-Median</a:t>
            </a:r>
          </a:p>
        </p:txBody>
      </p:sp>
      <p:sp>
        <p:nvSpPr>
          <p:cNvPr id="16" name="Rectangle 15"/>
          <p:cNvSpPr/>
          <p:nvPr/>
        </p:nvSpPr>
        <p:spPr>
          <a:xfrm>
            <a:off x="1153160" y="3987800"/>
            <a:ext cx="11474450" cy="812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87800"/>
            <a:ext cx="50800" cy="812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29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064000"/>
            <a:ext cx="7969250" cy="660400"/>
          </a:xfrm>
          <a:prstGeom prst="rect">
            <a:avLst/>
          </a:prstGeom>
          <a:noFill/>
        </p:spPr>
        <p:txBody>
          <a:bodyPr wrap="square" lIns="0" tIns="0" rIns="0" bIns="0" anchor="ctr">
            <a:spAutoFit/>
          </a:bodyPr>
          <a:lstStyle/>
          <a:p>
            <a:pPr>
              <a:lnSpc>
                <a:spcPct val="95000"/>
              </a:lnSpc>
            </a:pPr>
            <a:r>
              <a:rPr sz="1300" b="1">
                <a:solidFill>
                  <a:srgbClr val="003E6E"/>
                </a:solidFill>
              </a:rPr>
              <a:t>Ein Ausreißer kippt alles.  </a:t>
            </a:r>
            <a:r>
              <a:rPr sz="1300">
                <a:solidFill>
                  <a:srgbClr val="404040"/>
                </a:solidFill>
              </a:rPr>
              <a:t>Ein Rad stand mit 6.435 Fahrminuten auf Platz 1 — davon 5.422 aus einer einzigen Fahrt über 90 Stunden; jetzt steht es auf Platz 52</a:t>
            </a:r>
          </a:p>
        </p:txBody>
      </p:sp>
      <p:sp>
        <p:nvSpPr>
          <p:cNvPr id="20" name="Rounded Rectangle 19"/>
          <p:cNvSpPr/>
          <p:nvPr/>
        </p:nvSpPr>
        <p:spPr>
          <a:xfrm>
            <a:off x="9986010" y="4102100"/>
            <a:ext cx="2489200" cy="584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höchstens 300 Minuten je Fahrt</a:t>
            </a:r>
          </a:p>
        </p:txBody>
      </p:sp>
      <p:sp>
        <p:nvSpPr>
          <p:cNvPr id="21" name="Rectangle 20"/>
          <p:cNvSpPr/>
          <p:nvPr/>
        </p:nvSpPr>
        <p:spPr>
          <a:xfrm>
            <a:off x="1153160" y="4978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5054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Übertragbar ist die Frage, nicht die Formel. Wer eine Regel mitnimmt, ohne sie am neuen Bestand nachzumessen, nimmt die Annahmen des alten Bestands stillschweigend mit.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ein Notebook: vollständig gerechnet, mit allen Ausgaben, lesbar ohne eine Zeile auszuführen.</a:t>
            </a:r>
          </a:p>
        </p:txBody>
      </p:sp>
      <p:sp>
        <p:nvSpPr>
          <p:cNvPr id="6" name="Rectangle 5"/>
          <p:cNvSpPr/>
          <p:nvPr/>
        </p:nvSpPr>
        <p:spPr>
          <a:xfrm>
            <a:off x="1153160" y="18796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879600"/>
            <a:ext cx="969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vorfinden</a:t>
            </a:r>
          </a:p>
        </p:txBody>
      </p:sp>
      <p:sp>
        <p:nvSpPr>
          <p:cNvPr id="8" name="Rectangle 7"/>
          <p:cNvSpPr/>
          <p:nvPr/>
        </p:nvSpPr>
        <p:spPr>
          <a:xfrm>
            <a:off x="1153160" y="2413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9" name="Rectangle 8"/>
          <p:cNvSpPr/>
          <p:nvPr/>
        </p:nvSpPr>
        <p:spPr>
          <a:xfrm>
            <a:off x="2931160" y="24130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 — sechs Dateien, eine je Verfahren</a:t>
            </a:r>
          </a:p>
        </p:txBody>
      </p:sp>
      <p:sp>
        <p:nvSpPr>
          <p:cNvPr id="10" name="Rectangle 9"/>
          <p:cNvSpPr/>
          <p:nvPr/>
        </p:nvSpPr>
        <p:spPr>
          <a:xfrm>
            <a:off x="1153160" y="29464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1" name="Rectangle 10"/>
          <p:cNvSpPr/>
          <p:nvPr/>
        </p:nvSpPr>
        <p:spPr>
          <a:xfrm>
            <a:off x="2931160" y="29464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Zahlen, Tabellen und Diagramme stehen im Notebook, auch ohne Rechnen</a:t>
            </a:r>
          </a:p>
        </p:txBody>
      </p:sp>
      <p:sp>
        <p:nvSpPr>
          <p:cNvPr id="12" name="Rectangle 11"/>
          <p:cNvSpPr/>
          <p:nvPr/>
        </p:nvSpPr>
        <p:spPr>
          <a:xfrm>
            <a:off x="1153160" y="34798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Öffnen</a:t>
            </a:r>
          </a:p>
        </p:txBody>
      </p:sp>
      <p:sp>
        <p:nvSpPr>
          <p:cNvPr id="13" name="Rectangle 12"/>
          <p:cNvSpPr/>
          <p:nvPr/>
        </p:nvSpPr>
        <p:spPr>
          <a:xfrm>
            <a:off x="2931160" y="34798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Colab-Knopf oben in jedem Notebook. Die Daten lädt es selbst — kein Upload, kein Drive</a:t>
            </a:r>
          </a:p>
        </p:txBody>
      </p:sp>
      <p:sp>
        <p:nvSpPr>
          <p:cNvPr id="14" name="Rectangle 13"/>
          <p:cNvSpPr/>
          <p:nvPr/>
        </p:nvSpPr>
        <p:spPr>
          <a:xfrm>
            <a:off x="1153160" y="40132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15" name="Rectangle 14"/>
          <p:cNvSpPr/>
          <p:nvPr/>
        </p:nvSpPr>
        <p:spPr>
          <a:xfrm>
            <a:off x="2931160" y="4013200"/>
            <a:ext cx="969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CRISP-DM-Phasen als Überschriften, in allen sechs Notebooks dieselben</a:t>
            </a:r>
          </a:p>
        </p:txBody>
      </p:sp>
      <p:sp>
        <p:nvSpPr>
          <p:cNvPr id="16" name="Rectangle 15"/>
          <p:cNvSpPr/>
          <p:nvPr/>
        </p:nvSpPr>
        <p:spPr>
          <a:xfrm>
            <a:off x="1153160" y="45466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Zahlen</a:t>
            </a:r>
          </a:p>
        </p:txBody>
      </p:sp>
      <p:sp>
        <p:nvSpPr>
          <p:cNvPr id="17" name="Rectangle 16"/>
          <p:cNvSpPr/>
          <p:nvPr/>
        </p:nvSpPr>
        <p:spPr>
          <a:xfrm>
            <a:off x="2931160" y="4546600"/>
            <a:ext cx="969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Zahl im Fließtext stammt aus einer Ausgabe desselben Laufs; eine Prüfung erzwingt das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