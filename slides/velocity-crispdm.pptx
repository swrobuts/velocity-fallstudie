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 id="318" r:id="rId188"/>
    <p:sldId id="319" r:id="rId189"/>
    <p:sldId id="320" r:id="rId190"/>
    <p:sldId id="321" r:id="rId191"/>
    <p:sldId id="322" r:id="rId192"/>
    <p:sldId id="323" r:id="rId193"/>
    <p:sldId id="324" r:id="rId194"/>
    <p:sldId id="325" r:id="rId195"/>
    <p:sldId id="326" r:id="rId196"/>
    <p:sldId id="327" r:id="rId197"/>
    <p:sldId id="328" r:id="rId198"/>
    <p:sldId id="329" r:id="rId199"/>
    <p:sldId id="330" r:id="rId200"/>
    <p:sldId id="331" r:id="rId201"/>
    <p:sldId id="332" r:id="rId202"/>
    <p:sldId id="333" r:id="rId203"/>
    <p:sldId id="334" r:id="rId204"/>
    <p:sldId id="335" r:id="rId205"/>
    <p:sldId id="336" r:id="rId206"/>
    <p:sldId id="337" r:id="rId207"/>
    <p:sldId id="338" r:id="rId208"/>
    <p:sldId id="339" r:id="rId209"/>
    <p:sldId id="340" r:id="rId210"/>
    <p:sldId id="341" r:id="rId211"/>
    <p:sldId id="342" r:id="rId212"/>
    <p:sldId id="343" r:id="rId213"/>
    <p:sldId id="344" r:id="rId214"/>
    <p:sldId id="345" r:id="rId215"/>
    <p:sldId id="346" r:id="rId216"/>
    <p:sldId id="347" r:id="rId217"/>
    <p:sldId id="348" r:id="rId218"/>
    <p:sldId id="349" r:id="rId219"/>
    <p:sldId id="350" r:id="rId220"/>
    <p:sldId id="351" r:id="rId221"/>
    <p:sldId id="352" r:id="rId222"/>
    <p:sldId id="353" r:id="rId223"/>
    <p:sldId id="354" r:id="rId224"/>
    <p:sldId id="355" r:id="rId225"/>
    <p:sldId id="356" r:id="rId226"/>
    <p:sldId id="357" r:id="rId227"/>
    <p:sldId id="358" r:id="rId228"/>
    <p:sldId id="359" r:id="rId229"/>
    <p:sldId id="360" r:id="rId230"/>
    <p:sldId id="361" r:id="rId231"/>
    <p:sldId id="362" r:id="rId232"/>
    <p:sldId id="363" r:id="rId233"/>
    <p:sldId id="364" r:id="rId234"/>
    <p:sldId id="365" r:id="rId235"/>
    <p:sldId id="366" r:id="rId236"/>
    <p:sldId id="367" r:id="rId237"/>
    <p:sldId id="368" r:id="rId238"/>
    <p:sldId id="369" r:id="rId239"/>
    <p:sldId id="370" r:id="rId240"/>
    <p:sldId id="371" r:id="rId241"/>
    <p:sldId id="372" r:id="rId242"/>
    <p:sldId id="373" r:id="rId243"/>
    <p:sldId id="374" r:id="rId244"/>
    <p:sldId id="375" r:id="rId245"/>
    <p:sldId id="376" r:id="rId246"/>
    <p:sldId id="377" r:id="rId247"/>
    <p:sldId id="378" r:id="rId248"/>
    <p:sldId id="379" r:id="rId249"/>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188" Type="http://schemas.openxmlformats.org/officeDocument/2006/relationships/slide" Target="slides/slide63.xml"/><Relationship Id="rId189" Type="http://schemas.openxmlformats.org/officeDocument/2006/relationships/slide" Target="slides/slide64.xml"/><Relationship Id="rId190" Type="http://schemas.openxmlformats.org/officeDocument/2006/relationships/slide" Target="slides/slide65.xml"/><Relationship Id="rId191" Type="http://schemas.openxmlformats.org/officeDocument/2006/relationships/slide" Target="slides/slide66.xml"/><Relationship Id="rId192" Type="http://schemas.openxmlformats.org/officeDocument/2006/relationships/slide" Target="slides/slide67.xml"/><Relationship Id="rId193" Type="http://schemas.openxmlformats.org/officeDocument/2006/relationships/slide" Target="slides/slide68.xml"/><Relationship Id="rId194" Type="http://schemas.openxmlformats.org/officeDocument/2006/relationships/slide" Target="slides/slide69.xml"/><Relationship Id="rId195" Type="http://schemas.openxmlformats.org/officeDocument/2006/relationships/slide" Target="slides/slide70.xml"/><Relationship Id="rId196" Type="http://schemas.openxmlformats.org/officeDocument/2006/relationships/slide" Target="slides/slide71.xml"/><Relationship Id="rId197" Type="http://schemas.openxmlformats.org/officeDocument/2006/relationships/slide" Target="slides/slide72.xml"/><Relationship Id="rId198" Type="http://schemas.openxmlformats.org/officeDocument/2006/relationships/slide" Target="slides/slide73.xml"/><Relationship Id="rId199" Type="http://schemas.openxmlformats.org/officeDocument/2006/relationships/slide" Target="slides/slide74.xml"/><Relationship Id="rId200" Type="http://schemas.openxmlformats.org/officeDocument/2006/relationships/slide" Target="slides/slide75.xml"/><Relationship Id="rId201" Type="http://schemas.openxmlformats.org/officeDocument/2006/relationships/slide" Target="slides/slide76.xml"/><Relationship Id="rId202" Type="http://schemas.openxmlformats.org/officeDocument/2006/relationships/slide" Target="slides/slide77.xml"/><Relationship Id="rId203" Type="http://schemas.openxmlformats.org/officeDocument/2006/relationships/slide" Target="slides/slide78.xml"/><Relationship Id="rId204" Type="http://schemas.openxmlformats.org/officeDocument/2006/relationships/slide" Target="slides/slide79.xml"/><Relationship Id="rId205" Type="http://schemas.openxmlformats.org/officeDocument/2006/relationships/slide" Target="slides/slide80.xml"/><Relationship Id="rId206" Type="http://schemas.openxmlformats.org/officeDocument/2006/relationships/slide" Target="slides/slide81.xml"/><Relationship Id="rId207" Type="http://schemas.openxmlformats.org/officeDocument/2006/relationships/slide" Target="slides/slide82.xml"/><Relationship Id="rId208" Type="http://schemas.openxmlformats.org/officeDocument/2006/relationships/slide" Target="slides/slide83.xml"/><Relationship Id="rId209" Type="http://schemas.openxmlformats.org/officeDocument/2006/relationships/slide" Target="slides/slide84.xml"/><Relationship Id="rId210" Type="http://schemas.openxmlformats.org/officeDocument/2006/relationships/slide" Target="slides/slide85.xml"/><Relationship Id="rId211" Type="http://schemas.openxmlformats.org/officeDocument/2006/relationships/slide" Target="slides/slide86.xml"/><Relationship Id="rId212" Type="http://schemas.openxmlformats.org/officeDocument/2006/relationships/slide" Target="slides/slide87.xml"/><Relationship Id="rId213" Type="http://schemas.openxmlformats.org/officeDocument/2006/relationships/slide" Target="slides/slide88.xml"/><Relationship Id="rId214" Type="http://schemas.openxmlformats.org/officeDocument/2006/relationships/slide" Target="slides/slide89.xml"/><Relationship Id="rId215" Type="http://schemas.openxmlformats.org/officeDocument/2006/relationships/slide" Target="slides/slide90.xml"/><Relationship Id="rId216" Type="http://schemas.openxmlformats.org/officeDocument/2006/relationships/slide" Target="slides/slide91.xml"/><Relationship Id="rId217" Type="http://schemas.openxmlformats.org/officeDocument/2006/relationships/slide" Target="slides/slide92.xml"/><Relationship Id="rId218" Type="http://schemas.openxmlformats.org/officeDocument/2006/relationships/slide" Target="slides/slide93.xml"/><Relationship Id="rId219" Type="http://schemas.openxmlformats.org/officeDocument/2006/relationships/slide" Target="slides/slide94.xml"/><Relationship Id="rId220" Type="http://schemas.openxmlformats.org/officeDocument/2006/relationships/slide" Target="slides/slide95.xml"/><Relationship Id="rId221" Type="http://schemas.openxmlformats.org/officeDocument/2006/relationships/slide" Target="slides/slide96.xml"/><Relationship Id="rId222" Type="http://schemas.openxmlformats.org/officeDocument/2006/relationships/slide" Target="slides/slide97.xml"/><Relationship Id="rId223" Type="http://schemas.openxmlformats.org/officeDocument/2006/relationships/slide" Target="slides/slide98.xml"/><Relationship Id="rId224" Type="http://schemas.openxmlformats.org/officeDocument/2006/relationships/slide" Target="slides/slide99.xml"/><Relationship Id="rId225" Type="http://schemas.openxmlformats.org/officeDocument/2006/relationships/slide" Target="slides/slide100.xml"/><Relationship Id="rId226" Type="http://schemas.openxmlformats.org/officeDocument/2006/relationships/slide" Target="slides/slide101.xml"/><Relationship Id="rId227" Type="http://schemas.openxmlformats.org/officeDocument/2006/relationships/slide" Target="slides/slide102.xml"/><Relationship Id="rId228" Type="http://schemas.openxmlformats.org/officeDocument/2006/relationships/slide" Target="slides/slide103.xml"/><Relationship Id="rId229" Type="http://schemas.openxmlformats.org/officeDocument/2006/relationships/slide" Target="slides/slide104.xml"/><Relationship Id="rId230" Type="http://schemas.openxmlformats.org/officeDocument/2006/relationships/slide" Target="slides/slide105.xml"/><Relationship Id="rId231" Type="http://schemas.openxmlformats.org/officeDocument/2006/relationships/slide" Target="slides/slide106.xml"/><Relationship Id="rId232" Type="http://schemas.openxmlformats.org/officeDocument/2006/relationships/slide" Target="slides/slide107.xml"/><Relationship Id="rId233" Type="http://schemas.openxmlformats.org/officeDocument/2006/relationships/slide" Target="slides/slide108.xml"/><Relationship Id="rId234" Type="http://schemas.openxmlformats.org/officeDocument/2006/relationships/slide" Target="slides/slide109.xml"/><Relationship Id="rId235" Type="http://schemas.openxmlformats.org/officeDocument/2006/relationships/slide" Target="slides/slide110.xml"/><Relationship Id="rId236" Type="http://schemas.openxmlformats.org/officeDocument/2006/relationships/slide" Target="slides/slide111.xml"/><Relationship Id="rId237" Type="http://schemas.openxmlformats.org/officeDocument/2006/relationships/slide" Target="slides/slide112.xml"/><Relationship Id="rId238" Type="http://schemas.openxmlformats.org/officeDocument/2006/relationships/slide" Target="slides/slide113.xml"/><Relationship Id="rId239" Type="http://schemas.openxmlformats.org/officeDocument/2006/relationships/slide" Target="slides/slide114.xml"/><Relationship Id="rId240" Type="http://schemas.openxmlformats.org/officeDocument/2006/relationships/slide" Target="slides/slide115.xml"/><Relationship Id="rId241" Type="http://schemas.openxmlformats.org/officeDocument/2006/relationships/slide" Target="slides/slide116.xml"/><Relationship Id="rId242" Type="http://schemas.openxmlformats.org/officeDocument/2006/relationships/slide" Target="slides/slide117.xml"/><Relationship Id="rId243" Type="http://schemas.openxmlformats.org/officeDocument/2006/relationships/slide" Target="slides/slide118.xml"/><Relationship Id="rId244" Type="http://schemas.openxmlformats.org/officeDocument/2006/relationships/slide" Target="slides/slide119.xml"/><Relationship Id="rId245" Type="http://schemas.openxmlformats.org/officeDocument/2006/relationships/slide" Target="slides/slide120.xml"/><Relationship Id="rId246" Type="http://schemas.openxmlformats.org/officeDocument/2006/relationships/slide" Target="slides/slide121.xml"/><Relationship Id="rId247" Type="http://schemas.openxmlformats.org/officeDocument/2006/relationships/slide" Target="slides/slide122.xml"/><Relationship Id="rId248" Type="http://schemas.openxmlformats.org/officeDocument/2006/relationships/slide" Target="slides/slide123.xml"/><Relationship Id="rId249" Type="http://schemas.openxmlformats.org/officeDocument/2006/relationships/slide" Target="slides/slide124.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Dieses Kapitel ist das Rückgrat des Decks. Es läuft alle sechs Phasen vollständig durch, mit den echten Zahlen aus Notebook 1. Die Regression ist bewusst gewählt: Sie ist das vertrauteste Verfahren, deshalb bleibt die Aufmerksamkeit beim VORGEHEN statt beim Verfahren. Alle folgenden Fälle setzen dieses Kapitel voraus. Bitten Sie die Studierenden, das Notebook parallel offen zu haben — jede Folie nennt in der Fußzeile ihren Abschnitt.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Einstieg in den ganzen Fall, und sie ist unbequem: Der Einwand kommt nicht aus der Statistik, sondern aus dem Produkt. Ein Modell, das eine Zahl liefert, die der Nutzer selbst besser kennt, ist technisch einwandfrei und trotzdem nutzlos. Lassen Sie die Studierenden zuerst selbst überlegen, was man dagegen tun kann — die meisten schlagen ein besseres Verfahren vor. Die Antwort auf der nächsten Folie ist eine andere.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Satz, den die Studierenden aus Notebook 1 mitnehmen sollen. Leakage wird meistens als Liste verbotener Spaltennamen gelehrt. Hier sieht man, dass dieselbe Spalte je nach Prozess verboten oder erlaubt ist. Wer nur die Liste gelernt hat, hätte die Zielstation weiterhin gesperrt — und damit das bessere Produkt verhindert.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Grund, warum das Notebook glaubwürdig ist. Es wäre leicht gewesen, den Unterschied zwischen geplantem und tatsächlichem Ziel zu übergehen — niemand hätte es gemerkt. Fragen Sie die Studierenden, welche Zahl auf den folgenden Folien dadurch kleiner würde. Antwort: alle.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der ungewöhnliche Teil. In den meisten Lehrbeispielen kommt der Rücksprung, weil etwas schiefgeht. Hier kommt er, obwohl das Kriterium hält. Warum, sehen wir in Phase 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Sprung vom Preis zur Dauer ist die eigentliche Modellierungsentscheidung dieser Phase, und sie fällt hier, nicht in Phase 4. Wer den Preis direkt schätzt, schätzt zwei Dinge auf einmal: die Dauer und die Tariflogik. Die zweite kennt er aber genau.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Geltungsbereich entscheidet mit darüber, wie gut ein Modell aussieht. Wer ihn eng zieht, bekommt bessere Zahlen für ein kleineres Produkt. Deshalb gehört er in Phase 1 und nicht in die Datenaufbereitung — sonst gerät er zur nachträglichen Ausrede.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preis_pro_minute_eur: 0,10 gegen 0,25 gegen 0,50 Euro. Dieselbe 50-Cent-Grenze bedeutet damit für das City-Rad fünf Minuten Spielraum und für das Lastenrad eine einzige. Diese Spreizung entscheidet in Phase 5 über das Urteil — und sie steht schon hier, in Phase 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steht bewusst vor allen Kennzahlen. Studierende beginnen Phase 2 meistens mit einer Verteilung der Zielgröße. Sinnvoller ist die Frage, ob jede Zeile überhaupt den Sachverhalt beschreibt, um den es geht — hier tut das jede fünfte Zeile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20 Prozent der Fahrten enden frei im Geschäftsgebiet und haben deshalb kein Ziel. Das sieht aus wie ein Datenqualitätsproblem und ist in Wahrheit ein beworbenes Produktmerkmal. Wer es wegbereinigt, verliert ein Fünftel der Daten für nichts — wer es als Fehler meldet, blamiert sich vor dem Fachbereich.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Prozent klingt nach einer Randgruppe. Es sind aber genau die Fahrten, bei denen das neue Verfahren nichts gewinnt — der Kunde wählt als Ziel den Start und bekommt trotzdem keine belastbare Auskunft. Die App sagt das später offen.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eine Vorwarnung an die Studierenden: Das ganze Notebook ist um die Zielinformation herum gebaut, und schon in Phase 2 zeigt sich, dass sie wenig beiträgt. Ein Projekt, das diese Zahl verschweigt, verkauft seinen eigenen Umbau schöner, als er ist.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Grün, was beim Antippen von „Preis schätzen“ bekannt ist. Rot, was erst beim Abstellen entsteht. Die Zielstation steht auf der grünen Seite — im alten Entwurf stand sie auf der roten. Nichts an den Daten hat sich geändert, nur der Prozess. Der sandfarbene Kasten rechts hält den Vorbehalt fest, damit das Bild nicht mehr verspricht, als das Notebook belegen kann.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Studierenden die letzte Zeile lesen. end_station_id ist erlaubt, weil der Kunde sie gewählt hat — mit dem Vorbehalt aus dem Kasten. Auch temp_mittel_c ist gesperrt: Das Tagesmittel der Temperatur kennt man erst am Abend. Wer Wetter verwenden will, braucht archivierte Prognosen, keine Messwerte.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übliche Fehler ist ein zweigeteilter Datensatz. Dann prüft man nach dem Rücksprung auf demselben Testzeitraum, auf dem man schon einmal geprüft hat — und weiß nicht mehr, ob das Ergebnis hält oder ob man sich an den Testdaten entlanggehangelt hat. Vier Abschnitte kosten nichts außer Vorausdenken.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Punkt 2 der Ausgabe ist der wichtigere: Test 2 trägt in Phase 6 die Auswahl des Artefakts UND die Freigabe. Damit ist er eine Kalibrierung, keine unabhängige Endprüfung mehr. Das steht so im Notebook — und es ist die Sorte Satz, die man in Projektberichten selten liest.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B gegen C ist lehrreich: Der Radtyp — also die Eigenschaft, an der das Preisblatt hängt — sagt über die Dauer fast nichts. Die Startstation sagt viel. Studierende erwarten das umgekehrt, weil E-Bikes schneller sind. Sie sind schneller, aber die Leute fahren mit ihnen weiter.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an dieser Stelle: Rechtfertigen 0,27 Minuten einen Umbau der App? Die ehrliche Antwort ist, dass die Zahl allein es nicht tut. Was sie rechtfertigt, ist das ANDERE Produkt, das dadurch möglich wird — eine Auskunft zum gewählten Ziel statt einer Zahl, die der Kunde ohnehin besser kennt.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Pipeline ist keine Stilfrage. Wer den Kodierer getrennt vom Modell speichert, hat zwei Dateien, die zusammenpassen müssen — und irgendwann tun sie es nicht mehr. handle_unknown='ignore' ist die zweite Vorsorge: Eine Station, die es beim Training noch nicht gab, führt zu einer Vorhersage aus lauter Nullen statt zu einem Absturz. Ob diese Vorhersage etwas taugt, ist eine andere Frage — in Phase 6 wird sie deshalb gar nicht erst angeboten.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in der dritten Spalte ist der ehrliche: nicht gegen das Nullmodell, sondern gegen die beste Baseline. Gegen das Nullmodell wären es 51 Prozent — eine Zahl, die gut klingt und nichts bedeutet, weil niemand das Nullmodell ausliefern würde.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Ablation ist die billigste Selbstkontrolle, die es gibt: einmal ohne das Merkmal rechnen, an dem das Projekt hängt. Wer sie weglässt, kann nicht ausschließen, dass sein Umbau nichts bringt. Hier bringt er etwas — nur weniger, als die Erzählung nahelegt.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Spalte ganz rechts ist die eigentliche Nachricht dieser Folie: Bei CITY liegt die Anzeige in 74 Prozent der Fälle innerhalb der Toleranz — also bei rund jeder vierten Fahrt außerhalb. Der Mittelwert von 0,41 Euro sagt darüber nichts. Merken Sie sich diese 26 Prozent; sie sind gleich der Grund für den Rücksprung.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Kern von Phase 5. Das Modell ist für alle drei Radtypen gleich gut; das fachliche Urteil fällt trotzdem verschieden aus. Wer nur MAE und R² berichtet, sieht das nie.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schützt vor einer bequemen Fehldiagnose. Man könnte aus der vorigen Tabelle schließen, das Modell tauge für teure Räder nicht — und dann Monate mit besseren Verfahren verbringen. Es liegt aber nicht am Modell, sondern daran, dass 50 Cent von 1,67 Euro etwas anderes sind als 50 Cent von 11,97 Euro.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beiden schlechteren Fenster sind Sommer. Das Modell wird im Sommer schlechter, weil dann mehr aus Vergnügen gefahren wird. Diese Beobachtung erklärt später, warum die Tabelle quartalsweise neu gerechnet werden muss — und sie ist ein Beispiel dafür, dass eine einzelne Testzahl eine Jahreszeit sein kann.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zweiter Befund derselben Zelle: Rundtouren haben 6,05 Minuten MAE gegen 3,49 bei echten Wegen. Beides sagt dasselbe — was eine Fahrt lang macht, ist der Zweck, und der steht in keiner Spalte. Ob überhaupt kein Merkmal das könnte, wissen wir nicht: Nutzerabsicht, Höhenprofil und Stationsauslastung sind ungeprüfte Kandidaten.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ungewöhnlichste Moment des Falls. Der Rücksprung kommt nicht aus einem Fehlschlag, sondern aus zwei Beobachtungen, die das Erfolgskriterium selbst nicht abbildet. Genau deshalb reicht es nicht, Kriterien abzuhaken — man muss sie auch daraufhin ansehen, was sie NICHT messen.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Zeilen zusammen sind ein gutes Beispiel dafür, wie ein Kriterium aussehen muss: Eine Bedingung allein lässt sich immer erfüllen, indem man die andere verletzt. Erst das Paar beschreibt ein Produkt.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 „verworfen, weil zu breit“ ist die interessanteste: Über die Hälfte der Spannen des Modells wäre für den Kunden wertlos. Was das Modell gut macht, ist gerade das Weglassen — es antwortet nur dort, wo es eine schmale Spanne bilden kann.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darauf hin, dass die Bewertung nur zählt, was die App tatsächlich ANZEIGEN würde. Eine Spanne über einem Euro wird nicht angezeigt, also darf sie auch nicht in die Abdeckung eingehen. Über den Median gerechnet hätte ein Kandidat mit wenigen sehr breiten Spannen deutlich besser ausgesehen, als er 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Weg wäre, die Vorhersagen des Modells für jede Kombination vorab auszurechnen und zu tabellieren: bessere Treffsicherheit, gleiche Betriebsform. Der Preis wäre, dass die Zeilen nicht mehr für sich sprechen — eine Modellvorhersage kann man nicht nachrechnen, indem man in die Historie sieht. Diese Abwägung gehört dem Auftraggeber, nicht der Analyse.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den Weg einmal von rechts nach links: Jede Zeile, die es in das grüne Feld geschafft hat, hat drei Prüfungen bestanden. Und jede Zeile, die im roten Feld gelandet ist, führt in der App nicht zu einer schlechteren Anzeige, sondern zu gar keiner. Das ist der Unterschied zwischen einem Produkt mit Geltungsbereich und einem, das auf jede Frage irgendetwas antwortet.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Punkt der Sandkarte ist eine ehrliche Einschränkung, die man leicht übergeht: Die 80 Prozent sind insgesamt und je Radtyp geprüft, nicht je Verbindung. Ausgeschlossen wird nur, was messbar durchfällt — nicht alles, was ungeprüft ist. Das steht so auch in der Liste der offenen Punkte am Ende des Notebooks.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Achten Sie auf die letzte Spalte: fahrten_grundlage. Jede Zeile sagt, auf wie vielen vergleichbaren Fahrten sie beruht. Damit kann jeder im Betrieb nachsehen, wie belastbar eine einzelne Auskunft ist — bei 192 Fahrten anders als bei 42. Genau das kann eine Modellvorhersage nicht.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 Prozent klingen nach einem mageren Ergebnis, und in einer Projektpräsentation würde diese Zahl gern fehlen. Sie ist aber die einzige, die beschreibt, was der Kunde erlebt. Fragen Sie die Studierenden, welche Zahl sie stattdessen berichtet hätten — die meisten nennen die 84,5 Prozent Abdeckung, und die gilt nur für die Fahrten, bei denen überhaupt etwas angezeigt wird.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Antwort deckt zwei sehr verschiedene Fälle ab: eine bekannte Verbindung ohne genügend Fahrten und eine Station, die es gar nicht gibt. Beide führen zur selben Auskunft, und das ist richtig so — der Kunde soll nicht erfahren, wie die Tabelle gebaut ist, sondern nur, ob er eine Zahl bekommt.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Zelle ist die Brücke zwischen Notebook und Produkt. Die Tabelle wird nach velocity.preisschaetzung geladen, die Website liest sie über eine Sicht und zeigt beim Radtyp einen kleinen Preisschätzer an — ein- und ausschaltbar über eine Option im Kundenkonto. Damit ist Phase 6 hier keine Übung, sondern eine ausgelieferte Funktion.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Maßgeblich ist das Wilson-Intervall zum Niveau 95 Prozent, nicht der Schätzwert. Damit entscheidet nicht eine gesetzte Ersatzschwelle, sondern die Frage, ob die Daten überhaupt für eine Aussage reichen. Wer schneller abschalten will, braucht mehr Fahrten je Fenster — keine andere Zahl. Die letzte Zeile ist die feinste: Die Tabelle enthält Euro, nicht nur Minuten. Eine Tarifänderung macht sie in einer Nacht falsch.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schließt sich der Kreis zur dritten Folie dieses Kapitels. Die Annahme wurde am Anfang benannt, hat das ganze Notebook getragen — und am Ende steht, wie man sie prüfen würde und dass es noch nicht geschehen ist. Das ist der Unterschied zwischen einer offenen Frage und einer verschwiegenen.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steht wörtlich am Ende von Notebook 1. Die Studierenden finden sie dort wieder — Folie und Notebook sollen dieselbe Sprache sprechen, damit die Nacharbeit nicht bei null anfängt.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diese Liste langsam durch. Sie ist der beste Teil des Notebooks: Jeder Punkt ist eine Einschränkung, die niemand bemerkt hätte. Ein Bericht, der so etwas aufschreibt, ist mehr wert als einer mit besseren Zahlen — weil man auf ihm aufbauen kann.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und endet mit einem Ergebnis, das in Lehrbüchern selten vorkommt: Das Modell wird gebaut, geprüft — und nicht ausgeliefert, weil eine einzeilige Faustregel genauso gut ist. Zwei Dinge machen den Fall lehrreich: Der Maßstab entsteht VOR dem Modell, und er wird über mehrere Quartale geprüft statt über eines.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Kostenmatrix in Zeile 4 ist der Unterschied zu Fall 1. Dort waren beide Fehlerrichtungen gleich ärgerlich; hier kostet die eine das Siebenfache der anderen. Das gehört ins Modell, nicht in die Nachbetrachtung.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woher solche Zahlen kommen. Antwort: aus dem Betrieb, nicht aus den Daten. Ein Datenprojekt, das sie nicht erfragt, erfindet sie implizit — meist als 1 : 1, und das ist fast immer falsch.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Ein Nullmodell zu schlagen ist leicht. Den Menschen zu schlagen, der die Arbeit heute macht, ist die eigentliche Messlatte — und die fehlt in fast allen Lehrbeispielen.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„44 Prozent melden sich, die Werkstatt schafft 26“ ist der Grund, warum es überhaupt eine Rangfolge braucht. Es geht nicht darum, alle Defekte zu finden, sondern die richtigen 60 Räder auszuwählen.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Zeilenzahlen stehen mit Absicht in der Ausgabe. Wer sie nicht ausgibt, merkt nicht, wenn ein Stichtag leer bleibt oder ein Filter mehr wegnimmt als gedacht.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beiden Regeln kosten zusammen zwei Zeilen und zehn Minuten. Wer sie nicht rechnet, kann am Ende nicht sagen, ob das Modell etwas beigetragen hat — er kann nur sagen, dass es funktioniert.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letzten beiden Zeilen wirken. Studierende erwarten hier, dass der Wald gewinnt — er ist ja das stärkere Verfahren. Dass er es nicht tut, heißt: Der Verschleiß hängt fast ausschließlich an den Kilometern seit der Reparatur. Mehr Information steckt in diesen Merkmalen nicht. Und beachten Sie die beiden schwächeren Regeln: 45 und 52 Prozent. Der Gewinn steckt nicht darin, eine bessere Kennzahl zu suchen, sondern die richtige Frage zu stellen.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jedes Quartal wird neu trainiert, mit allem, was zu diesem Zeitpunkt bekannt war. Das letzte Quartal bleibt unangetastet — es ist der Test, nicht die Entscheidungsgrundlage. Genau daran war eine frühere Fassung dieses Falls gescheitert: Sie hat auf dem einen günstigen Quartal entschieden.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gehört zu den wichtigsten des Decks. Studierende lesen 71,7 Prozent als eine Tatsache. Sie ist eine Schätzung aus 60 Beobachtungen, und die Unsicherheit ist größer als jeder Unterschied, über den hier gestritten wird.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Kriterium ist erst nach dem Review dazugekommen, und es ist das wichtigste: Ein Verfahren muss über mehrere Perioden vorn liegen, nicht über eine. Ohne dieses Kriterium hätte das Notebook das Modell ausgeliefert — auf Grundlage eines einzigen günstigen Quartals.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Hier verdient es ihn nicht — und der Bericht muss das so schreiben, statt das Modell auszuliefern, weil man es nun einmal gebaut hat. Zum zweiten Mal in dieser Fallstudie hält ein durchschaubares Verfahren mit einem Modell mit; in Notebook 1 war es eine Nachschlagetabelle.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mittlere Kachel ist der eigentliche Ertrag. „Mehr Modell hilft nicht, mehr Information vielleicht schon“ ist eine belastbare Aussage über die Daten — und sie sagt dem Auftraggeber, wo er als Nächstes investieren muss: nicht in Rechenleistung, sondern in Erfassung.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Modell sabotiert sich selbst, wenn es erfolgreich ist. Der Ausweg ist eine Kontrollgruppe: ein Teil der Flotte wird bewusst nicht nach Liste gewartet, damit man weiter lernt, was ohne Eingriff passiert wäre. Das kostet Geld und ist trotzdem richtig.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Dieser Satz ist die Quintessenz des Falls — und er gilt weit über die Wartung hinaus.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erste Fall ohne Label. Niemand sagt dem Verfahren, was richtig ist. Genau deshalb zeigt dieser Fall Phase 1 von innen: Die Erfolgskriterien müssen völlig anders gebaut werden — und sie sind trotzdem prüfbar.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der Kern dieses Kapitels. Vier Kriterien, keines davon eine Kennzahl aus der Statistik. Sie sind trotzdem prüfbar — und sie stehen vor der Analyse fest, genau wie in Fall 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Welches dieser vier Kriterien ist statistisch? Keines. Und trotzdem kann man an jedem scheitern. Das ist der Beweis, dass Erfolgskriterien aus dem Fach kommen und nicht aus dem Verfahren.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Standardisieren ist bei k-Means nicht optional. Das Verfahren misst Abstände; eine Spalte in Euro und eine in Stückzahl haben völlig verschiedene Größenordnungen. Ohne Standardisierung entscheidet allein die Spalte mit den größten Zahlen.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Unterschied zu den überwachten Verfahren: Dort sagt eine Kennzahl, welches Modell besser ist. Hier sagt keine Kennzahl, welches k richtig ist. Die Fachlichkeit entscheidet — und deshalb standen die Kriterien vorher fest.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Silhouette: Der Unterschied zwischen k=3 und k=4 ist klein. Wer allein danach ginge, könnte würfeln. Erst die Frage, ob die Disposition den Gruppen einen Namen geben kann, entscheidet.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passiert das, wovon CRISP-DM lebt: Die Analyse bringt eine Frage hervor, die vorher niemand gestellt hatte. Nicht „welche Segmente gibt es?“, sondern „sind die Freiminuten dort richtig eingesetzt, wo sie liegen?“ Betonen Sie: Es gibt bei VeloCity keine Grundgebühr — das ist Teil des Produktversprechens, nicht ein Versäumnis.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handwerklich vorbildlich und gehört betont: Eine Rechnung, die auf einer Annahme beruht, kennzeichnet sich selbst — im Code, nicht nur im Fließtext daneben. Wer nur die Ausgabe kopiert, kopiert die Warnung mit.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Datenschutzvorbehalt gehört auf die Folie und nicht in eine Fußnote. Studierende bauen später Segmentierungen in Unternehmen — und die Frage nach der Rechtsgrundlage kommt dort garantiert.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Ergebnis ist gut — aber es war vorher nicht belegt, sondern behauptet. Der Unterschied zählt: Hätte die Messung eine Instabilität gezeigt, wäre sie unbemerkt in die Auslieferung gewandert. Für den Kampagnenplan hat der Befund eine praktische Folge: Er wird nicht über Cluster-Nummern ausgeliefert, sondern über nachvollziehbare Schwellen — die sind reproduzierbar, die Nummern nicht.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100 Prozent in Zeile 5 sind eine Besonderheit dieses Lehrdatensatzes: Die Stationstypen sind beim Erzeugen bewusst eingebaut worden, deshalb gibt es eine verdeckte Wahrheit zum Gegenprüfen. In echten Daten hat man die nicht — dort bleiben nur die vier Kriterien aus Phase 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hier anders als in allen bisherigen Fällen: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ungewöhnlich und wichtig: ein Erfolgskriterium, das nichts mit Genauigkeit zu tun hat. Ein Modell, das um 20 Uhr fertig wird, hat die Aufgabe verfehlt, auch wenn es perfekt trifft.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Prüfstein: Vergleichen Sie Ferien- und Nichtferientage BEI gleicher Temperatur. Dann schrumpft der Effekt zusammen. Genau diese Kontrolle unterscheidet eine Datenanalyse von einer Korrelationsjagd.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schärfste Zelle des Notebooks. Die rohe Zahl legt nahe, Ferien wirkten schwach dämpfend. Kontrolliert man die Temperatur, ist der Effekt deutlich stärker — er war vorher vom Sommer überdeckt. Lassen Sie die beiden Faktoren nebeneinander stehen.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Fehler ist deshalb so gefährlich, weil er sich nicht durch eine schlechte Kennzahl verrät — im Gegenteil, die Kennzahl wird besser. Auffallen würde er erst im Betrieb, Wochen später.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Faustregel lautet sinngemäß: so viele wie am gleichen Wochentag der Vorwoche. Das ist erstaunlich stark und schlägt das Nullmodell deutlich. Wer sie nicht mitrechnet, hält sein Modell für besser, als es ist.</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Boosting nutzt feine Wetterunterschiede besser aus, solange das Wetter stimmt. Sobald es verrauscht ist, verstärkt es das Rauschen mit; die lineare Regression ist gröber und deshalb robuster. Eine frühere Fassung dieses Notebooks verglich unter Ist-Wetter und störte das Wetter erst im Test — sie wählte also für einen anderen Informationsstand als den, in dem geliefert wird. Fragen Sie die Studierenden, welche Spalte sie berichtet hätten.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für viele die überraschendste Folie des ganzen Decks. Ein absichtlich schlechteres Modell ist das bessere Werkzeug. Der Grund steht in Phase 1: die ungleichen Fehlerkosten. Wer Phase 1 übersprungen hat, kann diese Entscheidung gar nicht treffen.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Ohne diese Rechnung wäre der Aufschlag reine Bauchentscheidung. Mit ihr ist er eine belegte Optimierung — und genau das ist der Unterschied zwischen Erfahrung und Willkür.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Versuchung, den schönen Wert zu berichten, ist groß — er ist ja korrekt gerechnet. Er beantwortet nur nicht die Frage, die im Betrieb gestellt wird. Dasselbe Muster wie der Schattenbetrieb in Fall 1.</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lineare Regression reagiert kaum auf feine Wetterunterschiede und deshalb auch kaum auf deren Fehler. Beim Gradient Boosting war der Abstand groß — und genau deshalb hat die Validierung unter Prognosewetter die lineare Regression gewählt. Wer unter Ist-Wetter wählt, wählt für eine Welt, in der er nicht liefert.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für diesen Fall: Bei allem, was mit Zeit zu tun hat, ist die Aufteilung die erste Frage — nicht das Verfahren.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Er ist der beste Beleg dafür, wozu vorab festgelegte Kriterien gut sind: Von 32 gefundenen Regeln übersteht keine einzige beide Hürden — und die stärkste verfehlt sie um ein Hundertstel Prozentpunkt. Genau das ist der Moment, in dem die Versuchung am größten ist, das Kriterium nachträglich zu senken.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Kennzahlen sind mit Absicht von Hand gerechnet und nicht aus einer Bibliothek geholt. Wer die drei Divisionen einmal selbst gemacht hat, verwechselt Konfidenz und Lift nie wieder.</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klassische Handelsbeispiel: Brot und Milch haben hohen Support und hohe Konfidenz — aber Lift um 1,0. Sie werden zusammen gekauft, weil beide oft gekauft werden, nicht weil sie zusammengehören.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Erfolgskriterium aus Phase 1 tut hier genau seine Arbeit. Ohne es wäre die stärkste Regel des Datensatzes das Hauptergebnis gewesen — und der Bericht wertlos.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Vorbehalt rechts ist wichtig: Eine Entscheidung, die gesetzt und nicht geprüft wurde, gehört benannt. Sonst liest sie sich später wie ein Befund.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diese drei Divisionen einmal selbst gesehen hat, verwechselt Konfidenz und Lift nicht mehr. Deshalb steht die Rechnung im Notebook ausgeschrieben und nicht als Bibliotheksaufruf.</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schließen sie einander fast aus? Ein sehr spezifisches Muster ist selten (niedriger Support), ein sehr häufiges ist unspezifisch (niedriger Lift). Wer nur eine der beiden Hürden setzt, findet entweder Belangloses oder Zufälliges. Hier kommt beides zusammen — und das Ergebnis ist eine leere Liste.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 ist die vielleicht wichtigste Folie des ganzen Decks. Der Fall ist so knapp, dass jede Ausrede greifbar wäre — und genau daran zeigt sich, ob ein Erfolgskriterium ernst gemeint war. Fragen Sie die Studierenden ehrlich, was sie täten. Die meisten würden senken. Genau deshalb steht diese Folie hier.</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Ausgabe ist der beste Beleg des ganzen Decks dafür, wozu vorab gesetzte Kriterien gut sind. Beachten Sie die letzten Zeilen: Das Notebook rechnet aus, wie weit die beste Regel danebenliegt, statt das Scheitern nur zu behaupten. Wer den Abstand kennt, kann in Phase 1 begründet darüber reden — wer ihn nicht kennt, senkt die Hürde aus dem Bauch heraus.</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frühere Fassung dieses Notebooks druckte hier „+1205 Räder laufen auf“ — die Summe über 741 Werktage, gedruckt wie eine Anweisung an den Fahrer. Die Zahl war richtig, die Einheit fehlte, und mit ihr die Einsicht, dass der Plan nichts trägt. Merksatz: Eine Zahl ohne Zeitbezug ist keine Betriebsanweisung. Der Hinweis rechts unten ist ebenfalls kein Beiwerk — aus Start-Ziel-Paaren mit Zeitstempel lassen sich Bewegungsprofile bilden.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Die auffälligste Regel ist meistens die uninteressanteste. Erst die vorab gesetzten Hürden trennen Fund von Rauschen.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einzige Fall, in dem der Rücksprung nicht am Ende steht, sondern mitten im Notebook Zelle für Zelle mitzulesen ist. Und der einzige, der mit einem ausdrücklich negativen Ergebnis endet.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5 Prozent in Zeile 3 überraschen. Sie kommen aus einer Kosten-Nutzen-Rechnung: Ein gefundener Vorgang spart mehr, als neun Fehlalarme an Prüfzeit kosten. Erfolgskriterien sind nicht immer anspruchsvoll — sie müssen begründet sein.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Dazu kommt: Die Distanz fehlt bei 42 Prozent der Fahrten — derselbe Befund wie in Fall 1. Ein Merkmal, das bei zwei von fünf Fahrten fehlt und ansonsten nur Bekanntes wiederholt, ist keine gute Wahl.</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Folie dieses Kapitels. Jede Kennzahl hätte hier grün gemeldet — das Verfahren hat sauber gearbeitet und stabile Ausreißer gefunden. Nur der Blick auf die Fälle zeigt, dass es die Preisklasse war.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Keine Kennzahl hätte das gemeldet. Der Isolation Forest hat sauber gearbeitet und stabile Ausreißer gefunden. Erst die Tabelle zeigt, dass es die falschen sind. Das ist die Begründung für die Regel: Sehen Sie sich immer die Extremfälle an.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Von 2 auf 36 Prozent durch eine Normierung — von einem Treffer unter fünfzig auf achtzehn. Studierende sollen mitnehmen: Der größte Hebel lag nicht im Verfahren, sondern in der Datenaufbereitung, wie so oft. Und beachten Sie den Maßstab: 20 Prozent sind das Erfolgskriterium, nicht die Rentabilitätsschwelle. Rechnen würde sich die Liste schon ab 5 Prozent — aber eine Liste, bei der neunzehn von zwanzig Einträgen unnötig sind, öffnet nach zwei Wochen niemand mehr.</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Vergleichen Sie mit der Folie davor. Dieselbe Auswertung, dieselben Daten, ein normiertes Merkmal — und ein völlig anderes Bild. Der Hebel lag in Phase 3, nicht im Verfahren.</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Gegenstück zu Fall 2. Dort ließ eine schlecht gebaute Baseline ein Modell zu gut aussehen. Hier ließ eine FEHLENDE Baseline eine Aufgabe unlösbar aussehen — eine frühere Fassung des Notebooks schrieb, Aufgabe B sei mit diesen Daten nicht lösbar. Beide Male hilft dasselbe: erst die einfachste Lösung bauen, dann das Verfahren daran messen.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Studierenden die erste Spalte lesen, bevor Sie die zweite aufdecken. Ein Modell, das bei fünfzig Plätzen null Treffer hat, sieht nach einem unlösbaren Problem aus — bis jemand die Regel danebenstellt.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Punkt ist der Gegensatz zu Fall 2: Dort zerstörte die Nutzung die Lerngrundlage, hier schafft sie eine. Es lohnt sich, bei jedem Projekt zu fragen, in welche Richtung die Rückkopplung läuft.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Sätze aus diesem Notebook gehören an die Tafel: „Sehen Sie sich immer die Extremfälle an, die ein Modell meldet.“ Und: „Kein Verfahren kann Information erzeugen, die in den Daten nicht steckt.“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die Vorführfassung zu lesen und die Übungsfassung zu rechnen. Beide tragen dieselbe Phasenstruktur, sodass man beim Steckenbleiben in der einen die Antwort in der anderen findet.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welchem Informationsstand man wählt, entscheidet mit, was man wählt</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Regel nimmt beide Hürden — und die Hürde bleibt trotzdem stehen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Verfahren, das schlechter ist als eine Zeile Fachwissen, ist an der Aufgabenstellung gescheitert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191191"/>
            <a:ext cx="11677650" cy="3110617"/>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292791"/>
            <a:ext cx="11474450" cy="290741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die Fahrt zu diesem Ziel — und wann sagt die App besser gar nichts?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Einwand, mit dem dieses Notebook anfängt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naheliegende Idee: Beim Entsperren schätzt ein Modell die Fahrtdauer, das Tarifblatt macht daraus einen Preis. Diese Idee hat einen Fehler — und zwar keinen technischen.</a:t>
            </a:r>
          </a:p>
        </p:txBody>
      </p:sp>
      <p:sp>
        <p:nvSpPr>
          <p:cNvPr id="6" name="Rectangle 5"/>
          <p:cNvSpPr/>
          <p:nvPr/>
        </p:nvSpPr>
        <p:spPr>
          <a:xfrm>
            <a:off x="1153160"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Die naheliegende Idee</a:t>
            </a:r>
          </a:p>
        </p:txBody>
      </p:sp>
      <p:sp>
        <p:nvSpPr>
          <p:cNvPr id="9" name="TextBox 8"/>
          <p:cNvSpPr txBox="1"/>
          <p:nvPr/>
        </p:nvSpPr>
        <p:spPr>
          <a:xfrm>
            <a:off x="1330960" y="2387600"/>
            <a:ext cx="5194300" cy="1981200"/>
          </a:xfrm>
          <a:prstGeom prst="rect">
            <a:avLst/>
          </a:prstGeom>
          <a:noFill/>
        </p:spPr>
        <p:txBody>
          <a:bodyPr wrap="square" lIns="0" tIns="0" rIns="0" bIns="0">
            <a:spAutoFit/>
          </a:bodyPr>
          <a:lstStyle/>
          <a:p>
            <a:pPr algn="l">
              <a:lnSpc>
                <a:spcPct val="95000"/>
              </a:lnSpc>
            </a:pPr>
            <a:r>
              <a:rPr sz="1400" b="1">
                <a:solidFill>
                  <a:srgbClr val="A32638"/>
                </a:solidFill>
              </a:rPr>
              <a:t>Schätzen beim Entsperren</a:t>
            </a:r>
          </a:p>
          <a:p>
            <a:pPr algn="l">
              <a:lnSpc>
                <a:spcPct val="95000"/>
              </a:lnSpc>
              <a:spcBef>
                <a:spcPts val="300"/>
              </a:spcBef>
            </a:pPr>
            <a:r>
              <a:rPr sz="1300" b="0">
                <a:solidFill>
                  <a:srgbClr val="404040"/>
                </a:solidFill>
              </a:rPr>
              <a:t>Das Modell kennt Startstation,</a:t>
            </a:r>
          </a:p>
          <a:p>
            <a:pPr algn="l">
              <a:lnSpc>
                <a:spcPct val="95000"/>
              </a:lnSpc>
              <a:spcBef>
                <a:spcPts val="300"/>
              </a:spcBef>
            </a:pPr>
            <a:r>
              <a:rPr sz="1300" b="0">
                <a:solidFill>
                  <a:srgbClr val="404040"/>
                </a:solidFill>
              </a:rPr>
              <a:t>Uhrzeit und Wochentag.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Damit kann es zwei Fahrten nicht</a:t>
            </a:r>
          </a:p>
          <a:p>
            <a:pPr algn="l">
              <a:lnSpc>
                <a:spcPct val="95000"/>
              </a:lnSpc>
              <a:spcBef>
                <a:spcPts val="300"/>
              </a:spcBef>
            </a:pPr>
            <a:r>
              <a:rPr sz="1300" b="0">
                <a:solidFill>
                  <a:srgbClr val="404040"/>
                </a:solidFill>
              </a:rPr>
              <a:t>unterscheiden, die gleich beginnen:</a:t>
            </a:r>
          </a:p>
          <a:p>
            <a:pPr algn="l">
              <a:lnSpc>
                <a:spcPct val="95000"/>
              </a:lnSpc>
              <a:spcBef>
                <a:spcPts val="300"/>
              </a:spcBef>
            </a:pPr>
            <a:r>
              <a:rPr sz="1300" b="0">
                <a:solidFill>
                  <a:srgbClr val="404040"/>
                </a:solidFill>
              </a:rPr>
              <a:t>acht Minuten zum Bahnhof gegen</a:t>
            </a:r>
          </a:p>
          <a:p>
            <a:pPr algn="l">
              <a:lnSpc>
                <a:spcPct val="95000"/>
              </a:lnSpc>
              <a:spcBef>
                <a:spcPts val="300"/>
              </a:spcBef>
            </a:pPr>
            <a:r>
              <a:rPr sz="1300" b="0">
                <a:solidFill>
                  <a:srgbClr val="404040"/>
                </a:solidFill>
              </a:rPr>
              <a:t>neunzig Minuten am Main entlang.</a:t>
            </a:r>
          </a:p>
        </p:txBody>
      </p:sp>
      <p:sp>
        <p:nvSpPr>
          <p:cNvPr id="10" name="Rectangle 9"/>
          <p:cNvSpPr/>
          <p:nvPr/>
        </p:nvSpPr>
        <p:spPr>
          <a:xfrm>
            <a:off x="7096759"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Einwand</a:t>
            </a:r>
          </a:p>
        </p:txBody>
      </p:sp>
      <p:sp>
        <p:nvSpPr>
          <p:cNvPr id="13" name="TextBox 12"/>
          <p:cNvSpPr txBox="1"/>
          <p:nvPr/>
        </p:nvSpPr>
        <p:spPr>
          <a:xfrm>
            <a:off x="7274559" y="2387600"/>
            <a:ext cx="5194300" cy="1981200"/>
          </a:xfrm>
          <a:prstGeom prst="rect">
            <a:avLst/>
          </a:prstGeom>
          <a:noFill/>
        </p:spPr>
        <p:txBody>
          <a:bodyPr wrap="square" lIns="0" tIns="0" rIns="0" bIns="0">
            <a:spAutoFit/>
          </a:bodyPr>
          <a:lstStyle/>
          <a:p>
            <a:pPr algn="l">
              <a:lnSpc>
                <a:spcPct val="95000"/>
              </a:lnSpc>
            </a:pPr>
            <a:r>
              <a:rPr sz="1400" b="1">
                <a:solidFill>
                  <a:srgbClr val="55801C"/>
                </a:solidFill>
              </a:rPr>
              <a:t>Der Nutzer weiß es besser</a:t>
            </a:r>
          </a:p>
          <a:p>
            <a:pPr algn="l">
              <a:lnSpc>
                <a:spcPct val="95000"/>
              </a:lnSpc>
              <a:spcBef>
                <a:spcPts val="300"/>
              </a:spcBef>
            </a:pPr>
            <a:r>
              <a:rPr sz="1300" b="0">
                <a:solidFill>
                  <a:srgbClr val="404040"/>
                </a:solidFill>
              </a:rPr>
              <a:t>Er kennt sein Ziel.</a:t>
            </a:r>
          </a:p>
          <a:p>
            <a:pPr algn="l">
              <a:lnSpc>
                <a:spcPct val="95000"/>
              </a:lnSpc>
              <a:spcBef>
                <a:spcPts val="300"/>
              </a:spcBef>
            </a:pPr>
            <a:r>
              <a:rPr sz="1300" b="0">
                <a:solidFill>
                  <a:srgbClr val="404040"/>
                </a:solidFill>
              </a:rPr>
              <a:t>Er weiß, ob er es eilig hat.</a:t>
            </a:r>
          </a:p>
          <a:p>
            <a:pPr algn="l">
              <a:lnSpc>
                <a:spcPct val="95000"/>
              </a:lnSpc>
              <a:spcBef>
                <a:spcPts val="300"/>
              </a:spcBef>
            </a:pPr>
            <a:r>
              <a:rPr sz="1300" b="0">
                <a:solidFill>
                  <a:srgbClr val="404040"/>
                </a:solidFill>
              </a:rPr>
              <a:t>Er weiß, ob er unterwegs anhält.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Wozu soll ein Modell etwas</a:t>
            </a:r>
          </a:p>
          <a:p>
            <a:pPr algn="l">
              <a:lnSpc>
                <a:spcPct val="95000"/>
              </a:lnSpc>
              <a:spcBef>
                <a:spcPts val="300"/>
              </a:spcBef>
            </a:pPr>
            <a:r>
              <a:rPr sz="1300" b="0">
                <a:solidFill>
                  <a:srgbClr val="404040"/>
                </a:solidFill>
              </a:rPr>
              <a:t>vorhersagen, das der Mensch</a:t>
            </a:r>
          </a:p>
          <a:p>
            <a:pPr algn="l">
              <a:lnSpc>
                <a:spcPct val="95000"/>
              </a:lnSpc>
              <a:spcBef>
                <a:spcPts val="300"/>
              </a:spcBef>
            </a:pPr>
            <a:r>
              <a:rPr sz="1300" b="0">
                <a:solidFill>
                  <a:srgbClr val="404040"/>
                </a:solidFill>
              </a:rPr>
              <a:t>davor längst weiß?</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das Verfahren ändern — den Prozess</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Problem ist keins des Verfahrens, sondern eines der Information. Fehlende Information holt man nicht durch mehr Rechenleistung herein, sondern indem man fragt.</a:t>
            </a:r>
          </a:p>
        </p:txBody>
      </p:sp>
      <p:sp>
        <p:nvSpPr>
          <p:cNvPr id="6" name="Rounded Rectangle 5"/>
          <p:cNvSpPr/>
          <p:nvPr/>
        </p:nvSpPr>
        <p:spPr>
          <a:xfrm>
            <a:off x="1153160" y="19558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App an der
Station</a:t>
            </a:r>
          </a:p>
        </p:txBody>
      </p:sp>
      <p:sp>
        <p:nvSpPr>
          <p:cNvPr id="7" name="Pentagon 6"/>
          <p:cNvSpPr/>
          <p:nvPr/>
        </p:nvSpPr>
        <p:spPr>
          <a:xfrm>
            <a:off x="288036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Ziel auf der
Karte wählen</a:t>
            </a:r>
          </a:p>
        </p:txBody>
      </p:sp>
      <p:sp>
        <p:nvSpPr>
          <p:cNvPr id="8" name="Pentagon 7"/>
          <p:cNvSpPr/>
          <p:nvPr/>
        </p:nvSpPr>
        <p:spPr>
          <a:xfrm>
            <a:off x="557911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„Preis
schätzen“</a:t>
            </a:r>
          </a:p>
        </p:txBody>
      </p:sp>
      <p:sp>
        <p:nvSpPr>
          <p:cNvPr id="9" name="Pentagon 8"/>
          <p:cNvSpPr/>
          <p:nvPr/>
        </p:nvSpPr>
        <p:spPr>
          <a:xfrm>
            <a:off x="8277859"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Spanne wird
angezeigt</a:t>
            </a:r>
          </a:p>
        </p:txBody>
      </p:sp>
      <p:sp>
        <p:nvSpPr>
          <p:cNvPr id="10" name="Rounded Rectangle 9"/>
          <p:cNvSpPr/>
          <p:nvPr/>
        </p:nvSpPr>
        <p:spPr>
          <a:xfrm>
            <a:off x="10976610" y="19558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Kunde
entscheidet</a:t>
            </a:r>
          </a:p>
        </p:txBody>
      </p:sp>
      <p:sp>
        <p:nvSpPr>
          <p:cNvPr id="11" name="Rectangle 10"/>
          <p:cNvSpPr/>
          <p:nvPr/>
        </p:nvSpPr>
        <p:spPr>
          <a:xfrm>
            <a:off x="1153160" y="3225800"/>
            <a:ext cx="11474450" cy="15875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15875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3352800"/>
            <a:ext cx="11093450" cy="1333500"/>
          </a:xfrm>
          <a:prstGeom prst="rect">
            <a:avLst/>
          </a:prstGeom>
          <a:noFill/>
        </p:spPr>
        <p:txBody>
          <a:bodyPr wrap="square" lIns="0" tIns="0" rIns="0" bIns="0">
            <a:spAutoFit/>
          </a:bodyPr>
          <a:lstStyle/>
          <a:p>
            <a:pPr algn="l">
              <a:lnSpc>
                <a:spcPct val="95000"/>
              </a:lnSpc>
            </a:pPr>
            <a:r>
              <a:rPr sz="1500" b="1">
                <a:solidFill>
                  <a:srgbClr val="003E6E"/>
                </a:solidFill>
              </a:rPr>
              <a:t>Und daraus folgt die Einsicht, die das ganze Notebook trägt</a:t>
            </a:r>
          </a:p>
          <a:p>
            <a:pPr algn="l">
              <a:lnSpc>
                <a:spcPct val="95000"/>
              </a:lnSpc>
              <a:spcBef>
                <a:spcPts val="500"/>
              </a:spcBef>
            </a:pPr>
            <a:r>
              <a:rPr sz="1300" b="0">
                <a:solidFill>
                  <a:srgbClr val="404040"/>
                </a:solidFill>
              </a:rPr>
              <a:t>Ob ein Merkmal verwendet werden darf, entscheidet nicht sein Spaltenname, sondern der Zeitpunkt, zu dem es im Prozess entsteht.</a:t>
            </a:r>
          </a:p>
          <a:p>
            <a:pPr algn="l">
              <a:lnSpc>
                <a:spcPct val="95000"/>
              </a:lnSpc>
              <a:spcBef>
                <a:spcPts val="500"/>
              </a:spcBef>
            </a:pPr>
            <a:r>
              <a:rPr sz="1300" b="0">
                <a:solidFill>
                  <a:srgbClr val="404040"/>
                </a:solidFill>
              </a:rPr>
              <a:t>Die Zielstation war im alten Entwurf verboten. Im neuen ist sie erlaubt — nicht, weil sich die Daten geändert hätten, sondern weil der Kunde sie jetzt vorher eingibt.</a:t>
            </a:r>
          </a:p>
          <a:p>
            <a:pPr algn="l">
              <a:lnSpc>
                <a:spcPct val="95000"/>
              </a:lnSpc>
              <a:spcBef>
                <a:spcPts val="500"/>
              </a:spcBef>
            </a:pPr>
            <a:r>
              <a:rPr sz="1300" b="0">
                <a:solidFill>
                  <a:srgbClr val="404040"/>
                </a:solidFill>
              </a:rPr>
              <a:t>Ändert man den Prozess, ändert sich die Antwort auf die Frage, was Leakage ist.</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Annahme, auf der alles Weitere ruht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Prozess, den wir künftig ändern, macht eine historische Ergebnisspalte nicht rückwirkend zu einer Eingabe. Das muss auf den Tisch, bevor irgendeine Zahl fällt.</a:t>
            </a:r>
          </a:p>
        </p:txBody>
      </p:sp>
      <p:sp>
        <p:nvSpPr>
          <p:cNvPr id="6" name="Rectangle 5"/>
          <p:cNvSpPr/>
          <p:nvPr/>
        </p:nvSpPr>
        <p:spPr>
          <a:xfrm>
            <a:off x="115316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Worauf trainiert wird</a:t>
            </a:r>
          </a:p>
          <a:p>
            <a:pPr algn="l">
              <a:lnSpc>
                <a:spcPct val="95000"/>
              </a:lnSpc>
              <a:spcBef>
                <a:spcPts val="500"/>
              </a:spcBef>
            </a:pPr>
            <a:r>
              <a:rPr sz="1300" b="0">
                <a:solidFill>
                  <a:srgbClr val="404040"/>
                </a:solidFill>
              </a:rPr>
              <a:t>end_station_id — die Station,</a:t>
            </a:r>
          </a:p>
          <a:p>
            <a:pPr algn="l">
              <a:lnSpc>
                <a:spcPct val="95000"/>
              </a:lnSpc>
              <a:spcBef>
                <a:spcPts val="500"/>
              </a:spcBef>
            </a:pPr>
            <a:r>
              <a:rPr sz="1300" b="0">
                <a:solidFill>
                  <a:srgbClr val="404040"/>
                </a:solidFill>
              </a:rPr>
              <a:t>an der die Fahrt tatsächlich</a:t>
            </a:r>
          </a:p>
          <a:p>
            <a:pPr algn="l">
              <a:lnSpc>
                <a:spcPct val="95000"/>
              </a:lnSpc>
              <a:spcBef>
                <a:spcPts val="500"/>
              </a:spcBef>
            </a:pPr>
            <a:r>
              <a:rPr sz="1300" b="0">
                <a:solidFill>
                  <a:srgbClr val="404040"/>
                </a:solidFill>
              </a:rPr>
              <a:t>geendet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steht so in den</a:t>
            </a:r>
          </a:p>
          <a:p>
            <a:pPr algn="l">
              <a:lnSpc>
                <a:spcPct val="95000"/>
              </a:lnSpc>
              <a:spcBef>
                <a:spcPts val="500"/>
              </a:spcBef>
            </a:pPr>
            <a:r>
              <a:rPr sz="1300" b="0">
                <a:solidFill>
                  <a:srgbClr val="404040"/>
                </a:solidFill>
              </a:rPr>
              <a:t>historischen Daten.</a:t>
            </a:r>
          </a:p>
        </p:txBody>
      </p:sp>
      <p:sp>
        <p:nvSpPr>
          <p:cNvPr id="9" name="Rectangle 8"/>
          <p:cNvSpPr/>
          <p:nvPr/>
        </p:nvSpPr>
        <p:spPr>
          <a:xfrm>
            <a:off x="511302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im Betrieb ankommt</a:t>
            </a:r>
          </a:p>
          <a:p>
            <a:pPr algn="l">
              <a:lnSpc>
                <a:spcPct val="95000"/>
              </a:lnSpc>
              <a:spcBef>
                <a:spcPts val="500"/>
              </a:spcBef>
            </a:pPr>
            <a:r>
              <a:rPr sz="1300" b="0">
                <a:solidFill>
                  <a:srgbClr val="404040"/>
                </a:solidFill>
              </a:rPr>
              <a:t>Die Station, die der Kunde</a:t>
            </a:r>
          </a:p>
          <a:p>
            <a:pPr algn="l">
              <a:lnSpc>
                <a:spcPct val="95000"/>
              </a:lnSpc>
              <a:spcBef>
                <a:spcPts val="500"/>
              </a:spcBef>
            </a:pPr>
            <a:r>
              <a:rPr sz="1300" b="0">
                <a:solidFill>
                  <a:srgbClr val="404040"/>
                </a:solidFill>
              </a:rPr>
              <a:t>vorher gewählt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Beide fallen auseinander,</a:t>
            </a:r>
          </a:p>
          <a:p>
            <a:pPr algn="l">
              <a:lnSpc>
                <a:spcPct val="95000"/>
              </a:lnSpc>
              <a:spcBef>
                <a:spcPts val="500"/>
              </a:spcBef>
            </a:pPr>
            <a:r>
              <a:rPr sz="1300" b="0">
                <a:solidFill>
                  <a:srgbClr val="404040"/>
                </a:solidFill>
              </a:rPr>
              <a:t>wenn jemand umplant oder</a:t>
            </a:r>
          </a:p>
          <a:p>
            <a:pPr algn="l">
              <a:lnSpc>
                <a:spcPct val="95000"/>
              </a:lnSpc>
              <a:spcBef>
                <a:spcPts val="500"/>
              </a:spcBef>
            </a:pPr>
            <a:r>
              <a:rPr sz="1300" b="0">
                <a:solidFill>
                  <a:srgbClr val="404040"/>
                </a:solidFill>
              </a:rPr>
              <a:t>die Zielstation voll ist.</a:t>
            </a:r>
          </a:p>
        </p:txBody>
      </p:sp>
      <p:sp>
        <p:nvSpPr>
          <p:cNvPr id="12" name="Rectangle 11"/>
          <p:cNvSpPr/>
          <p:nvPr/>
        </p:nvSpPr>
        <p:spPr>
          <a:xfrm>
            <a:off x="908177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Das tatsächliche Ziel ist ein</a:t>
            </a:r>
          </a:p>
          <a:p>
            <a:pPr algn="l">
              <a:lnSpc>
                <a:spcPct val="95000"/>
              </a:lnSpc>
              <a:spcBef>
                <a:spcPts val="500"/>
              </a:spcBef>
            </a:pPr>
            <a:r>
              <a:rPr sz="1300" b="0">
                <a:solidFill>
                  <a:srgbClr val="404040"/>
                </a:solidFill>
              </a:rPr>
              <a:t>unvalidierter Stellvertreter</a:t>
            </a:r>
          </a:p>
          <a:p>
            <a:pPr algn="l">
              <a:lnSpc>
                <a:spcPct val="95000"/>
              </a:lnSpc>
              <a:spcBef>
                <a:spcPts val="500"/>
              </a:spcBef>
            </a:pPr>
            <a:r>
              <a:rPr sz="1300" b="0">
                <a:solidFill>
                  <a:srgbClr val="404040"/>
                </a:solidFill>
              </a:rPr>
              <a:t>für das geplante.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Jede Zahl in diesem Notebook</a:t>
            </a:r>
          </a:p>
          <a:p>
            <a:pPr algn="l">
              <a:lnSpc>
                <a:spcPct val="95000"/>
              </a:lnSpc>
              <a:spcBef>
                <a:spcPts val="500"/>
              </a:spcBef>
            </a:pPr>
            <a:r>
              <a:rPr sz="1300" b="0">
                <a:solidFill>
                  <a:srgbClr val="404040"/>
                </a:solidFill>
              </a:rPr>
              <a:t>ist deshalb eine Obergrenze.</a:t>
            </a:r>
          </a:p>
        </p:txBody>
      </p:sp>
      <p:sp>
        <p:nvSpPr>
          <p:cNvPr id="15" name="Rectangle 14"/>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lässt sich diese Annahme erst, wenn die App das geplante Ziel speichert. Bis dahin steht sie als Vorbehalt im Notebook — nicht in einer Fußnote am Ende.</a:t>
            </a:r>
          </a:p>
        </p:txBody>
      </p:sp>
      <p:sp>
        <p:nvSpPr>
          <p:cNvPr id="17" name="Rectangle 16"/>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wir loslaufen: wohin die Reise geht. Das Urteil steht hier schon — interessant ist der Weg dorthin.</a:t>
            </a:r>
          </a:p>
        </p:txBody>
      </p:sp>
      <p:sp>
        <p:nvSpPr>
          <p:cNvPr id="6" name="Rectangle 5"/>
          <p:cNvSpPr/>
          <p:nvPr/>
        </p:nvSpPr>
        <p:spPr>
          <a:xfrm>
            <a:off x="1153160" y="16510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07160" y="1752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9" name="TextBox 8"/>
          <p:cNvSpPr txBox="1"/>
          <p:nvPr/>
        </p:nvSpPr>
        <p:spPr>
          <a:xfrm>
            <a:off x="3820160" y="1752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Kann die App den Preis nennen, nachdem der Kunde sein Ziel gewählt hat?</a:t>
            </a:r>
          </a:p>
        </p:txBody>
      </p:sp>
      <p:sp>
        <p:nvSpPr>
          <p:cNvPr id="10" name="TextBox 9"/>
          <p:cNvSpPr txBox="1"/>
          <p:nvPr/>
        </p:nvSpPr>
        <p:spPr>
          <a:xfrm>
            <a:off x="1407160" y="2184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1" name="TextBox 10"/>
          <p:cNvSpPr txBox="1"/>
          <p:nvPr/>
        </p:nvSpPr>
        <p:spPr>
          <a:xfrm>
            <a:off x="3820160" y="2184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Dauer in Minuten schätzen — der Preis folgt daraus über das Tarifblatt</a:t>
            </a:r>
          </a:p>
        </p:txBody>
      </p:sp>
      <p:sp>
        <p:nvSpPr>
          <p:cNvPr id="12" name="TextBox 11"/>
          <p:cNvSpPr txBox="1"/>
          <p:nvPr/>
        </p:nvSpPr>
        <p:spPr>
          <a:xfrm>
            <a:off x="1407160" y="2616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3" name="TextBox 12"/>
          <p:cNvSpPr txBox="1"/>
          <p:nvPr/>
        </p:nvSpPr>
        <p:spPr>
          <a:xfrm>
            <a:off x="3820160" y="2616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Preisfehler unter 50 Cent, festgelegt vor dem ersten Blick in die Daten</a:t>
            </a:r>
          </a:p>
        </p:txBody>
      </p:sp>
      <p:sp>
        <p:nvSpPr>
          <p:cNvPr id="14" name="TextBox 13"/>
          <p:cNvSpPr txBox="1"/>
          <p:nvPr/>
        </p:nvSpPr>
        <p:spPr>
          <a:xfrm>
            <a:off x="1407160" y="3048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a:t>
            </a:r>
          </a:p>
        </p:txBody>
      </p:sp>
      <p:sp>
        <p:nvSpPr>
          <p:cNvPr id="15" name="TextBox 14"/>
          <p:cNvSpPr txBox="1"/>
          <p:nvPr/>
        </p:nvSpPr>
        <p:spPr>
          <a:xfrm>
            <a:off x="3820160" y="3048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60.425 Vorgänge aus drei Jahren, davon 47.054 im Geltungsbereich</a:t>
            </a:r>
          </a:p>
        </p:txBody>
      </p:sp>
      <p:sp>
        <p:nvSpPr>
          <p:cNvPr id="16" name="TextBox 15"/>
          <p:cNvSpPr txBox="1"/>
          <p:nvPr/>
        </p:nvSpPr>
        <p:spPr>
          <a:xfrm>
            <a:off x="1407160" y="3479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7" name="TextBox 16"/>
          <p:cNvSpPr txBox="1"/>
          <p:nvPr/>
        </p:nvSpPr>
        <p:spPr>
          <a:xfrm>
            <a:off x="3820160" y="3479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Baselines, dann lineare Regression, Baum, Random Forest</a:t>
            </a:r>
          </a:p>
        </p:txBody>
      </p:sp>
      <p:sp>
        <p:nvSpPr>
          <p:cNvPr id="18" name="TextBox 17"/>
          <p:cNvSpPr txBox="1"/>
          <p:nvPr/>
        </p:nvSpPr>
        <p:spPr>
          <a:xfrm>
            <a:off x="1407160" y="3911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9" name="TextBox 18"/>
          <p:cNvSpPr txBox="1"/>
          <p:nvPr/>
        </p:nvSpPr>
        <p:spPr>
          <a:xfrm>
            <a:off x="3820160" y="3911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CITY hält die Grenze — und wir springen trotzdem zurück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Wunsch zur Zahl</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Kunde soll wissen, was es kostet.“ Das ist ein Wunsch, kein Auftrag. Aus ihm wird in drei Schritten etwas Messbares.</a:t>
            </a:r>
          </a:p>
        </p:txBody>
      </p:sp>
      <p:sp>
        <p:nvSpPr>
          <p:cNvPr id="6" name="Rectangle 5"/>
          <p:cNvSpPr/>
          <p:nvPr/>
        </p:nvSpPr>
        <p:spPr>
          <a:xfrm>
            <a:off x="1153160" y="1879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019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Nach der Zielwahl steht eine Preisangabe auf dem Bildschirm</a:t>
            </a:r>
          </a:p>
        </p:txBody>
      </p:sp>
      <p:sp>
        <p:nvSpPr>
          <p:cNvPr id="10" name="Rectangle 9"/>
          <p:cNvSpPr/>
          <p:nvPr/>
        </p:nvSpPr>
        <p:spPr>
          <a:xfrm>
            <a:off x="1153160" y="26035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6035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743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6797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Geschätzt wird die DAUER, nicht der Preis</a:t>
            </a:r>
          </a:p>
        </p:txBody>
      </p:sp>
      <p:sp>
        <p:nvSpPr>
          <p:cNvPr id="14" name="Rectangle 13"/>
          <p:cNvSpPr/>
          <p:nvPr/>
        </p:nvSpPr>
        <p:spPr>
          <a:xfrm>
            <a:off x="1153160" y="3327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327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4036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Die Angabe liegt im Mittel unter 50 Cent daneben — die Grenze kommt aus dem Produktmanagement</a:t>
            </a:r>
          </a:p>
        </p:txBody>
      </p:sp>
      <p:sp>
        <p:nvSpPr>
          <p:cNvPr id="18" name="Rectangle 17"/>
          <p:cNvSpPr/>
          <p:nvPr/>
        </p:nvSpPr>
        <p:spPr>
          <a:xfrm>
            <a:off x="1153160" y="40513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513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191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275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Gemessen auf  </a:t>
            </a:r>
            <a:r>
              <a:rPr sz="1300">
                <a:solidFill>
                  <a:srgbClr val="404040"/>
                </a:solidFill>
              </a:rPr>
              <a:t>einem Zeitraum, den das Modell beim Training nie gesehen hat</a:t>
            </a:r>
          </a:p>
        </p:txBody>
      </p:sp>
      <p:sp>
        <p:nvSpPr>
          <p:cNvPr id="22" name="Rectangle 21"/>
          <p:cNvSpPr/>
          <p:nvPr/>
        </p:nvSpPr>
        <p:spPr>
          <a:xfrm>
            <a:off x="1153160" y="48387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9149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Man schätzt nie, was man ausrechnen kann. Das Tarifblatt ist exakt bekannt — es zu schätzen wäre ein zusätzlicher Fehler ohne jeden Gegenwert.</a:t>
            </a:r>
          </a:p>
        </p:txBody>
      </p:sp>
      <p:sp>
        <p:nvSpPr>
          <p:cNvPr id="24" name="Rectangle 2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Geltungsbereich — was ausdrücklich nicht dazugehört</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Einschränkungen, und die dritte ist eine Setzung. Der Unterschied gehört benannt, nicht versteckt.</a:t>
            </a:r>
          </a:p>
        </p:txBody>
      </p:sp>
      <p:sp>
        <p:nvSpPr>
          <p:cNvPr id="6" name="Rectangle 5"/>
          <p:cNvSpPr/>
          <p:nvPr/>
        </p:nvSpPr>
        <p:spPr>
          <a:xfrm>
            <a:off x="1153160" y="1651000"/>
            <a:ext cx="2794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Einschränkung</a:t>
            </a:r>
          </a:p>
        </p:txBody>
      </p:sp>
      <p:sp>
        <p:nvSpPr>
          <p:cNvPr id="7" name="Rectangle 6"/>
          <p:cNvSpPr/>
          <p:nvPr/>
        </p:nvSpPr>
        <p:spPr>
          <a:xfrm>
            <a:off x="3947160" y="1651000"/>
            <a:ext cx="4445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8" name="Rectangle 7"/>
          <p:cNvSpPr/>
          <p:nvPr/>
        </p:nvSpPr>
        <p:spPr>
          <a:xfrm>
            <a:off x="8392160" y="1651000"/>
            <a:ext cx="423545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Belegt oder gesetzt?</a:t>
            </a:r>
          </a:p>
        </p:txBody>
      </p:sp>
      <p:sp>
        <p:nvSpPr>
          <p:cNvPr id="9" name="Rectangle 8"/>
          <p:cNvSpPr/>
          <p:nvPr/>
        </p:nvSpPr>
        <p:spPr>
          <a:xfrm>
            <a:off x="1153160" y="23876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abgeschlossene Fahrten</a:t>
            </a:r>
          </a:p>
        </p:txBody>
      </p:sp>
      <p:sp>
        <p:nvSpPr>
          <p:cNvPr id="10" name="Rectangle 9"/>
          <p:cNvSpPr/>
          <p:nvPr/>
        </p:nvSpPr>
        <p:spPr>
          <a:xfrm>
            <a:off x="3947160" y="23876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Abbrüche und Stornierungen sind keine Fahrten</a:t>
            </a:r>
          </a:p>
        </p:txBody>
      </p:sp>
      <p:sp>
        <p:nvSpPr>
          <p:cNvPr id="11" name="Rectangle 10"/>
          <p:cNvSpPr/>
          <p:nvPr/>
        </p:nvSpPr>
        <p:spPr>
          <a:xfrm>
            <a:off x="8392160" y="23876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sie dauern zwei Minuten</a:t>
            </a:r>
          </a:p>
        </p:txBody>
      </p:sp>
      <p:sp>
        <p:nvSpPr>
          <p:cNvPr id="12" name="Rectangle 11"/>
          <p:cNvSpPr/>
          <p:nvPr/>
        </p:nvSpPr>
        <p:spPr>
          <a:xfrm>
            <a:off x="1153160" y="3124200"/>
            <a:ext cx="2794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Station zu Station</a:t>
            </a:r>
          </a:p>
        </p:txBody>
      </p:sp>
      <p:sp>
        <p:nvSpPr>
          <p:cNvPr id="13" name="Rectangle 12"/>
          <p:cNvSpPr/>
          <p:nvPr/>
        </p:nvSpPr>
        <p:spPr>
          <a:xfrm>
            <a:off x="3947160" y="3124200"/>
            <a:ext cx="4445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frei im Gebiet abstellt, hat kein Ziel gewählt</a:t>
            </a:r>
          </a:p>
        </p:txBody>
      </p:sp>
      <p:sp>
        <p:nvSpPr>
          <p:cNvPr id="14" name="Rectangle 13"/>
          <p:cNvSpPr/>
          <p:nvPr/>
        </p:nvSpPr>
        <p:spPr>
          <a:xfrm>
            <a:off x="8392160" y="3124200"/>
            <a:ext cx="423545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betrifft ein Fünftel</a:t>
            </a:r>
          </a:p>
        </p:txBody>
      </p:sp>
      <p:sp>
        <p:nvSpPr>
          <p:cNvPr id="15" name="Rectangle 14"/>
          <p:cNvSpPr/>
          <p:nvPr/>
        </p:nvSpPr>
        <p:spPr>
          <a:xfrm>
            <a:off x="1153160" y="38608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Fahrten bis acht Stunden</a:t>
            </a:r>
          </a:p>
        </p:txBody>
      </p:sp>
      <p:sp>
        <p:nvSpPr>
          <p:cNvPr id="16" name="Rectangle 15"/>
          <p:cNvSpPr/>
          <p:nvPr/>
        </p:nvSpPr>
        <p:spPr>
          <a:xfrm>
            <a:off x="3947160" y="38608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Darüber liegt eine vergessene Rückgabe, ein eigener Geschäftsfall</a:t>
            </a:r>
          </a:p>
        </p:txBody>
      </p:sp>
      <p:sp>
        <p:nvSpPr>
          <p:cNvPr id="17" name="Rectangle 16"/>
          <p:cNvSpPr/>
          <p:nvPr/>
        </p:nvSpPr>
        <p:spPr>
          <a:xfrm>
            <a:off x="8392160" y="38608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gesetzt — es gibt keine Statusangabe, die das trennt</a:t>
            </a:r>
          </a:p>
        </p:txBody>
      </p:sp>
      <p:sp>
        <p:nvSpPr>
          <p:cNvPr id="18" name="Rectangle 17"/>
          <p:cNvSpPr/>
          <p:nvPr/>
        </p:nvSpPr>
        <p:spPr>
          <a:xfrm>
            <a:off x="1153160" y="4775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851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dritte Zeile ist die ehrlichste der Folie: Acht Stunden sind eine Verabredung, keine Messung. Sie gehört fachlich abgesichert — und bis dahin steht sie als offener Punkt im Notebook.</a:t>
            </a:r>
          </a:p>
        </p:txBody>
      </p:sp>
      <p:sp>
        <p:nvSpPr>
          <p:cNvPr id="20" name="Rectangle 19"/>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2" name="Rectangle 21"/>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4" name="Rectangle 23"/>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6" name="Rectangle 25"/>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8" name="Rectangle 27"/>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0" name="Rectangle 29"/>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Tarifblatt: drei Räder, drei Minutenpreise</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analytics/notebooks/01_Regression_Fahrtdauer.ipynb · Abschnitt 1 — Das Tarifblatt</a:t>
            </a:r>
          </a:p>
        </p:txBody>
      </p:sp>
      <p:sp>
        <p:nvSpPr>
          <p:cNvPr id="5" name="Rectangle 4"/>
          <p:cNvSpPr/>
          <p:nvPr/>
        </p:nvSpPr>
        <p:spPr>
          <a:xfrm>
            <a:off x="1825706" y="1168400"/>
            <a:ext cx="1012935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rif.png"/>
          <p:cNvPicPr>
            <a:picLocks noChangeAspect="1"/>
          </p:cNvPicPr>
          <p:nvPr/>
        </p:nvPicPr>
        <p:blipFill>
          <a:blip r:embed="rId2"/>
          <a:stretch>
            <a:fillRect/>
          </a:stretch>
        </p:blipFill>
        <p:spPr>
          <a:xfrm>
            <a:off x="1927306" y="1270000"/>
            <a:ext cx="992615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Startgebühr, Minutenpreis, Tageshöchstpreis — daraus wird später der Preis gerechnet, nicht geschätzt.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jeder Vorgang ist eine Fahrt</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Bevor irgendetwas gerechnet wird: Was steht überhaupt in der Tabelle? Die Antwort ändert die Datenmenge um ein Fünftel.</a:t>
            </a:r>
          </a:p>
        </p:txBody>
      </p:sp>
      <p:sp>
        <p:nvSpPr>
          <p:cNvPr id="6" name="Rectangle 5"/>
          <p:cNvSpPr/>
          <p:nvPr/>
        </p:nvSpPr>
        <p:spPr>
          <a:xfrm>
            <a:off x="1153160" y="1879600"/>
            <a:ext cx="2413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7" name="Rectangle 6"/>
          <p:cNvSpPr/>
          <p:nvPr/>
        </p:nvSpPr>
        <p:spPr>
          <a:xfrm>
            <a:off x="3566160" y="1879600"/>
            <a:ext cx="1524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5090160" y="1879600"/>
            <a:ext cx="190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6995159" y="1879600"/>
            <a:ext cx="5632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das heißt</a:t>
            </a:r>
          </a:p>
        </p:txBody>
      </p:sp>
      <p:sp>
        <p:nvSpPr>
          <p:cNvPr id="10" name="Rectangle 9"/>
          <p:cNvSpPr/>
          <p:nvPr/>
        </p:nvSpPr>
        <p:spPr>
          <a:xfrm>
            <a:off x="1153160" y="24638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abgeschlossen</a:t>
            </a:r>
          </a:p>
        </p:txBody>
      </p:sp>
      <p:sp>
        <p:nvSpPr>
          <p:cNvPr id="11" name="Rectangle 10"/>
          <p:cNvSpPr/>
          <p:nvPr/>
        </p:nvSpPr>
        <p:spPr>
          <a:xfrm>
            <a:off x="3566160" y="24638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58.737</a:t>
            </a:r>
          </a:p>
        </p:txBody>
      </p:sp>
      <p:sp>
        <p:nvSpPr>
          <p:cNvPr id="12" name="Rectangle 11"/>
          <p:cNvSpPr/>
          <p:nvPr/>
        </p:nvSpPr>
        <p:spPr>
          <a:xfrm>
            <a:off x="5090160" y="24638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Minuten</a:t>
            </a:r>
          </a:p>
        </p:txBody>
      </p:sp>
      <p:sp>
        <p:nvSpPr>
          <p:cNvPr id="13" name="Rectangle 12"/>
          <p:cNvSpPr/>
          <p:nvPr/>
        </p:nvSpPr>
        <p:spPr>
          <a:xfrm>
            <a:off x="6995159" y="24638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sind Fahrten</a:t>
            </a:r>
          </a:p>
        </p:txBody>
      </p:sp>
      <p:sp>
        <p:nvSpPr>
          <p:cNvPr id="14" name="Rectangle 13"/>
          <p:cNvSpPr/>
          <p:nvPr/>
        </p:nvSpPr>
        <p:spPr>
          <a:xfrm>
            <a:off x="1153160" y="3048000"/>
            <a:ext cx="2413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abgebrochen</a:t>
            </a:r>
          </a:p>
        </p:txBody>
      </p:sp>
      <p:sp>
        <p:nvSpPr>
          <p:cNvPr id="15" name="Rectangle 14"/>
          <p:cNvSpPr/>
          <p:nvPr/>
        </p:nvSpPr>
        <p:spPr>
          <a:xfrm>
            <a:off x="3566160" y="3048000"/>
            <a:ext cx="1524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1.364</a:t>
            </a:r>
          </a:p>
        </p:txBody>
      </p:sp>
      <p:sp>
        <p:nvSpPr>
          <p:cNvPr id="16" name="Rectangle 15"/>
          <p:cNvSpPr/>
          <p:nvPr/>
        </p:nvSpPr>
        <p:spPr>
          <a:xfrm>
            <a:off x="5090160" y="3048000"/>
            <a:ext cx="190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Minuten</a:t>
            </a:r>
          </a:p>
        </p:txBody>
      </p:sp>
      <p:sp>
        <p:nvSpPr>
          <p:cNvPr id="17" name="Rectangle 16"/>
          <p:cNvSpPr/>
          <p:nvPr/>
        </p:nvSpPr>
        <p:spPr>
          <a:xfrm>
            <a:off x="6995159" y="3048000"/>
            <a:ext cx="5632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Vorgänge, die nie eine wurden</a:t>
            </a:r>
          </a:p>
        </p:txBody>
      </p:sp>
      <p:sp>
        <p:nvSpPr>
          <p:cNvPr id="18" name="Rectangle 17"/>
          <p:cNvSpPr/>
          <p:nvPr/>
        </p:nvSpPr>
        <p:spPr>
          <a:xfrm>
            <a:off x="1153160" y="36322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storniert</a:t>
            </a:r>
          </a:p>
        </p:txBody>
      </p:sp>
      <p:sp>
        <p:nvSpPr>
          <p:cNvPr id="19" name="Rectangle 18"/>
          <p:cNvSpPr/>
          <p:nvPr/>
        </p:nvSpPr>
        <p:spPr>
          <a:xfrm>
            <a:off x="3566160" y="36322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324</a:t>
            </a:r>
          </a:p>
        </p:txBody>
      </p:sp>
      <p:sp>
        <p:nvSpPr>
          <p:cNvPr id="20" name="Rectangle 19"/>
          <p:cNvSpPr/>
          <p:nvPr/>
        </p:nvSpPr>
        <p:spPr>
          <a:xfrm>
            <a:off x="5090160" y="36322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Minute</a:t>
            </a:r>
          </a:p>
        </p:txBody>
      </p:sp>
      <p:sp>
        <p:nvSpPr>
          <p:cNvPr id="21" name="Rectangle 20"/>
          <p:cNvSpPr/>
          <p:nvPr/>
        </p:nvSpPr>
        <p:spPr>
          <a:xfrm>
            <a:off x="6995159" y="36322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dito — und beide verzerren die kurzen Wege</a:t>
            </a:r>
          </a:p>
        </p:txBody>
      </p:sp>
      <p:sp>
        <p:nvSpPr>
          <p:cNvPr id="22" name="Rectangle 21"/>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Zwei Minuten sind keine Fahrt, sondern ein Fehlgriff am Schloss. Wer sie mitzählt, drückt genau die kurzen Strecken nach unten, um die es hier geht.</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Trichter: von 60.425 auf 47.054 Fahrten</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analytics/notebooks/01_Regression_Fahrtdauer.ipynb · Abschnitt 2.2</a:t>
            </a:r>
          </a:p>
        </p:txBody>
      </p:sp>
      <p:sp>
        <p:nvSpPr>
          <p:cNvPr id="5" name="Rectangle 4"/>
          <p:cNvSpPr/>
          <p:nvPr/>
        </p:nvSpPr>
        <p:spPr>
          <a:xfrm>
            <a:off x="1051560" y="1440036"/>
            <a:ext cx="11677650" cy="382552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richter.png"/>
          <p:cNvPicPr>
            <a:picLocks noChangeAspect="1"/>
          </p:cNvPicPr>
          <p:nvPr/>
        </p:nvPicPr>
        <p:blipFill>
          <a:blip r:embed="rId2"/>
          <a:stretch>
            <a:fillRect/>
          </a:stretch>
        </p:blipFill>
        <p:spPr>
          <a:xfrm>
            <a:off x="1153160" y="1541636"/>
            <a:ext cx="11474450" cy="3622326"/>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Jeder Schritt mit Zeilenzahl. 77,9 Prozent bleiben übrig — und ein Fünftel fehlt aus einem Grund, der kein Fehler ist.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Rundtouren: dieselbe Verbindung, jede beliebige Dauer</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jeder sechsten Fahrt mit Ziel ist das Ziel der Start. Für ein Modell, das aus der Verbindung lernt, ist das ein Problem.</a:t>
            </a:r>
          </a:p>
        </p:txBody>
      </p:sp>
      <p:sp>
        <p:nvSpPr>
          <p:cNvPr id="6" name="Rectangle 5"/>
          <p:cNvSpPr/>
          <p:nvPr/>
        </p:nvSpPr>
        <p:spPr>
          <a:xfrm>
            <a:off x="1153160" y="18796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Art der Fahrt</a:t>
            </a:r>
          </a:p>
        </p:txBody>
      </p:sp>
      <p:sp>
        <p:nvSpPr>
          <p:cNvPr id="7" name="Rectangle 6"/>
          <p:cNvSpPr/>
          <p:nvPr/>
        </p:nvSpPr>
        <p:spPr>
          <a:xfrm>
            <a:off x="5344160" y="1879600"/>
            <a:ext cx="152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6868159" y="1879600"/>
            <a:ext cx="2032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8900160" y="1879600"/>
            <a:ext cx="3727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 Hälfte</a:t>
            </a:r>
          </a:p>
        </p:txBody>
      </p:sp>
      <p:sp>
        <p:nvSpPr>
          <p:cNvPr id="10" name="Rectangle 9"/>
          <p:cNvSpPr/>
          <p:nvPr/>
        </p:nvSpPr>
        <p:spPr>
          <a:xfrm>
            <a:off x="1153160" y="24892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Rundtour — Start ist gleich Ziel</a:t>
            </a:r>
          </a:p>
        </p:txBody>
      </p:sp>
      <p:sp>
        <p:nvSpPr>
          <p:cNvPr id="11" name="Rectangle 10"/>
          <p:cNvSpPr/>
          <p:nvPr/>
        </p:nvSpPr>
        <p:spPr>
          <a:xfrm>
            <a:off x="5344160" y="2489200"/>
            <a:ext cx="152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7.749</a:t>
            </a:r>
          </a:p>
        </p:txBody>
      </p:sp>
      <p:sp>
        <p:nvSpPr>
          <p:cNvPr id="12" name="Rectangle 11"/>
          <p:cNvSpPr/>
          <p:nvPr/>
        </p:nvSpPr>
        <p:spPr>
          <a:xfrm>
            <a:off x="6868159" y="2489200"/>
            <a:ext cx="2032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 Minuten</a:t>
            </a:r>
          </a:p>
        </p:txBody>
      </p:sp>
      <p:sp>
        <p:nvSpPr>
          <p:cNvPr id="13" name="Rectangle 12"/>
          <p:cNvSpPr/>
          <p:nvPr/>
        </p:nvSpPr>
        <p:spPr>
          <a:xfrm>
            <a:off x="8900160" y="2489200"/>
            <a:ext cx="3727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bis 33 Minuten</a:t>
            </a:r>
          </a:p>
        </p:txBody>
      </p:sp>
      <p:sp>
        <p:nvSpPr>
          <p:cNvPr id="14" name="Rectangle 13"/>
          <p:cNvSpPr/>
          <p:nvPr/>
        </p:nvSpPr>
        <p:spPr>
          <a:xfrm>
            <a:off x="1153160" y="30988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echter Weg</a:t>
            </a:r>
          </a:p>
        </p:txBody>
      </p:sp>
      <p:sp>
        <p:nvSpPr>
          <p:cNvPr id="15" name="Rectangle 14"/>
          <p:cNvSpPr/>
          <p:nvPr/>
        </p:nvSpPr>
        <p:spPr>
          <a:xfrm>
            <a:off x="5344160" y="3098800"/>
            <a:ext cx="152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39.305</a:t>
            </a:r>
          </a:p>
        </p:txBody>
      </p:sp>
      <p:sp>
        <p:nvSpPr>
          <p:cNvPr id="16" name="Rectangle 15"/>
          <p:cNvSpPr/>
          <p:nvPr/>
        </p:nvSpPr>
        <p:spPr>
          <a:xfrm>
            <a:off x="6868159" y="3098800"/>
            <a:ext cx="2032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 Minuten</a:t>
            </a:r>
          </a:p>
        </p:txBody>
      </p:sp>
      <p:sp>
        <p:nvSpPr>
          <p:cNvPr id="17" name="Rectangle 16"/>
          <p:cNvSpPr/>
          <p:nvPr/>
        </p:nvSpPr>
        <p:spPr>
          <a:xfrm>
            <a:off x="8900160" y="3098800"/>
            <a:ext cx="3727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 bis 16 Minuten</a:t>
            </a:r>
          </a:p>
        </p:txBody>
      </p:sp>
      <p:sp>
        <p:nvSpPr>
          <p:cNvPr id="18" name="Rectangle 17"/>
          <p:cNvSpPr/>
          <p:nvPr/>
        </p:nvSpPr>
        <p:spPr>
          <a:xfrm>
            <a:off x="1153160" y="38862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8862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0132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das zählt</a:t>
            </a:r>
          </a:p>
          <a:p>
            <a:pPr algn="l">
              <a:lnSpc>
                <a:spcPct val="95000"/>
              </a:lnSpc>
              <a:spcBef>
                <a:spcPts val="500"/>
              </a:spcBef>
            </a:pPr>
            <a:r>
              <a:rPr sz="1300" b="0">
                <a:solidFill>
                  <a:srgbClr val="404040"/>
                </a:solidFill>
              </a:rPr>
              <a:t>Bei einer Rundtour trägt das Ziel per Definition nichts zur Dauer bei — es ist ja der Start.</a:t>
            </a:r>
          </a:p>
          <a:p>
            <a:pPr algn="l">
              <a:lnSpc>
                <a:spcPct val="95000"/>
              </a:lnSpc>
              <a:spcBef>
                <a:spcPts val="500"/>
              </a:spcBef>
            </a:pPr>
            <a:r>
              <a:rPr sz="1300" b="0">
                <a:solidFill>
                  <a:srgbClr val="404040"/>
                </a:solidFill>
              </a:rPr>
              <a:t>Und sie streuen doppelt so stark: 22 Minuten Spannweite gegen 9.</a:t>
            </a:r>
          </a:p>
          <a:p>
            <a:pPr algn="l">
              <a:lnSpc>
                <a:spcPct val="95000"/>
              </a:lnSpc>
              <a:spcBef>
                <a:spcPts val="500"/>
              </a:spcBef>
            </a:pPr>
            <a:r>
              <a:rPr sz="1300" b="0">
                <a:solidFill>
                  <a:srgbClr val="404040"/>
                </a:solidFill>
              </a:rPr>
              <a:t>Das ausgelieferte Produkt wird Rundtouren deshalb gar nicht beantworten. Diese Entscheidung fällt hier, nicht in Phase 6.</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Verbindung erklärt — ein erster Blick ohne Modell</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Man kann den Nutzen der Zielinformation schätzen, bevor man ein Verfahren wählt: Wie weit kommt man mit dem bloßen Median?</a:t>
            </a:r>
          </a:p>
        </p:txBody>
      </p:sp>
      <p:sp>
        <p:nvSpPr>
          <p:cNvPr id="6" name="Rectangle 5"/>
          <p:cNvSpPr/>
          <p:nvPr/>
        </p:nvSpPr>
        <p:spPr>
          <a:xfrm>
            <a:off x="1153160" y="1879600"/>
            <a:ext cx="571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man weiß</a:t>
            </a:r>
          </a:p>
        </p:txBody>
      </p:sp>
      <p:sp>
        <p:nvSpPr>
          <p:cNvPr id="7" name="Rectangle 6"/>
          <p:cNvSpPr/>
          <p:nvPr/>
        </p:nvSpPr>
        <p:spPr>
          <a:xfrm>
            <a:off x="6868159" y="1879600"/>
            <a:ext cx="5759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Mittlerer absoluter Fehler</a:t>
            </a:r>
          </a:p>
        </p:txBody>
      </p:sp>
      <p:sp>
        <p:nvSpPr>
          <p:cNvPr id="8" name="Rectangle 7"/>
          <p:cNvSpPr/>
          <p:nvPr/>
        </p:nvSpPr>
        <p:spPr>
          <a:xfrm>
            <a:off x="1153160" y="24638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nichts — der Median aller Fahrten</a:t>
            </a:r>
          </a:p>
        </p:txBody>
      </p:sp>
      <p:sp>
        <p:nvSpPr>
          <p:cNvPr id="9" name="Rectangle 8"/>
          <p:cNvSpPr/>
          <p:nvPr/>
        </p:nvSpPr>
        <p:spPr>
          <a:xfrm>
            <a:off x="6868159" y="24638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8,04 Minuten</a:t>
            </a:r>
          </a:p>
        </p:txBody>
      </p:sp>
      <p:sp>
        <p:nvSpPr>
          <p:cNvPr id="10" name="Rectangle 9"/>
          <p:cNvSpPr/>
          <p:nvPr/>
        </p:nvSpPr>
        <p:spPr>
          <a:xfrm>
            <a:off x="1153160" y="3048000"/>
            <a:ext cx="571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Startstation</a:t>
            </a:r>
          </a:p>
        </p:txBody>
      </p:sp>
      <p:sp>
        <p:nvSpPr>
          <p:cNvPr id="11" name="Rectangle 10"/>
          <p:cNvSpPr/>
          <p:nvPr/>
        </p:nvSpPr>
        <p:spPr>
          <a:xfrm>
            <a:off x="6868159" y="3048000"/>
            <a:ext cx="5759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 Minuten</a:t>
            </a:r>
          </a:p>
        </p:txBody>
      </p:sp>
      <p:sp>
        <p:nvSpPr>
          <p:cNvPr id="12" name="Rectangle 11"/>
          <p:cNvSpPr/>
          <p:nvPr/>
        </p:nvSpPr>
        <p:spPr>
          <a:xfrm>
            <a:off x="1153160" y="36322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 UND Ziel — die Verbindung</a:t>
            </a:r>
          </a:p>
        </p:txBody>
      </p:sp>
      <p:sp>
        <p:nvSpPr>
          <p:cNvPr id="13" name="Rectangle 12"/>
          <p:cNvSpPr/>
          <p:nvPr/>
        </p:nvSpPr>
        <p:spPr>
          <a:xfrm>
            <a:off x="6868159" y="36322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5,03 Minuten</a:t>
            </a:r>
          </a:p>
        </p:txBody>
      </p:sp>
      <p:sp>
        <p:nvSpPr>
          <p:cNvPr id="14" name="Rectangle 13"/>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große Sprung kommt von der Startstation, nicht vom Ziel. Diese Zahl steht in Phase 2 — und sie wird in Phase 4 mit einem Modell noch einmal überprüft.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 nicht welche Spalte, sondern wann sie entsteht</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Rectangle 5"/>
          <p:cNvSpPr/>
          <p:nvPr/>
        </p:nvSpPr>
        <p:spPr>
          <a:xfrm>
            <a:off x="1051560" y="1952122"/>
            <a:ext cx="11677650" cy="381735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leakage.png"/>
          <p:cNvPicPr>
            <a:picLocks noChangeAspect="1"/>
          </p:cNvPicPr>
          <p:nvPr/>
        </p:nvPicPr>
        <p:blipFill>
          <a:blip r:embed="rId2"/>
          <a:stretch>
            <a:fillRect/>
          </a:stretch>
        </p:blipFill>
        <p:spPr>
          <a:xfrm>
            <a:off x="1153160" y="2053722"/>
            <a:ext cx="11474450" cy="3614155"/>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Gesperrt und erlaubt, jeweils mit Begründung</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Rectangle 4"/>
          <p:cNvSpPr/>
          <p:nvPr/>
        </p:nvSpPr>
        <p:spPr>
          <a:xfrm>
            <a:off x="1051560" y="1179506"/>
            <a:ext cx="11677650" cy="416878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gesperrt.png"/>
          <p:cNvPicPr>
            <a:picLocks noChangeAspect="1"/>
          </p:cNvPicPr>
          <p:nvPr/>
        </p:nvPicPr>
        <p:blipFill>
          <a:blip r:embed="rId2"/>
          <a:stretch>
            <a:fillRect/>
          </a:stretch>
        </p:blipFill>
        <p:spPr>
          <a:xfrm>
            <a:off x="1153160" y="1281106"/>
            <a:ext cx="11474450" cy="3965586"/>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Fünf Spalten sind gesperrt, weil sie zum Anfragezeitpunkt nicht existieren. Eine ist erlaubt, obwohl sie nach „Ende“ klingt.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Aufteilen: vier Abschnitte entlang der Zeit, nicht zwei</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Rücksprung ist eine neue Runde — und eine neue Runde braucht einen Zeitraum, den die alte nicht schon aufgebraucht hat.</a:t>
            </a:r>
          </a:p>
        </p:txBody>
      </p:sp>
      <p:sp>
        <p:nvSpPr>
          <p:cNvPr id="6" name="Rectangle 5"/>
          <p:cNvSpPr/>
          <p:nvPr/>
        </p:nvSpPr>
        <p:spPr>
          <a:xfrm>
            <a:off x="1153160" y="1879600"/>
            <a:ext cx="190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Abschnitt</a:t>
            </a:r>
          </a:p>
        </p:txBody>
      </p:sp>
      <p:sp>
        <p:nvSpPr>
          <p:cNvPr id="7" name="Rectangle 6"/>
          <p:cNvSpPr/>
          <p:nvPr/>
        </p:nvSpPr>
        <p:spPr>
          <a:xfrm>
            <a:off x="3058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4455160" y="1879600"/>
            <a:ext cx="304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Zeitraum</a:t>
            </a:r>
          </a:p>
        </p:txBody>
      </p:sp>
      <p:sp>
        <p:nvSpPr>
          <p:cNvPr id="9" name="Rectangle 8"/>
          <p:cNvSpPr/>
          <p:nvPr/>
        </p:nvSpPr>
        <p:spPr>
          <a:xfrm>
            <a:off x="7503159" y="1879600"/>
            <a:ext cx="5124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Wofür</a:t>
            </a:r>
          </a:p>
        </p:txBody>
      </p:sp>
      <p:sp>
        <p:nvSpPr>
          <p:cNvPr id="10" name="Rectangle 9"/>
          <p:cNvSpPr/>
          <p:nvPr/>
        </p:nvSpPr>
        <p:spPr>
          <a:xfrm>
            <a:off x="1153160" y="24130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Training</a:t>
            </a:r>
          </a:p>
        </p:txBody>
      </p:sp>
      <p:sp>
        <p:nvSpPr>
          <p:cNvPr id="11" name="Rectangle 10"/>
          <p:cNvSpPr/>
          <p:nvPr/>
        </p:nvSpPr>
        <p:spPr>
          <a:xfrm>
            <a:off x="3058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28.232</a:t>
            </a:r>
          </a:p>
        </p:txBody>
      </p:sp>
      <p:sp>
        <p:nvSpPr>
          <p:cNvPr id="12" name="Rectangle 11"/>
          <p:cNvSpPr/>
          <p:nvPr/>
        </p:nvSpPr>
        <p:spPr>
          <a:xfrm>
            <a:off x="4455160" y="24130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09/2023 bis 07/2025</a:t>
            </a:r>
          </a:p>
        </p:txBody>
      </p:sp>
      <p:sp>
        <p:nvSpPr>
          <p:cNvPr id="13" name="Rectangle 12"/>
          <p:cNvSpPr/>
          <p:nvPr/>
        </p:nvSpPr>
        <p:spPr>
          <a:xfrm>
            <a:off x="7503159" y="24130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lernt</a:t>
            </a:r>
          </a:p>
        </p:txBody>
      </p:sp>
      <p:sp>
        <p:nvSpPr>
          <p:cNvPr id="14" name="Rectangle 13"/>
          <p:cNvSpPr/>
          <p:nvPr/>
        </p:nvSpPr>
        <p:spPr>
          <a:xfrm>
            <a:off x="1153160" y="29464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Validierung</a:t>
            </a:r>
          </a:p>
        </p:txBody>
      </p:sp>
      <p:sp>
        <p:nvSpPr>
          <p:cNvPr id="15" name="Rectangle 14"/>
          <p:cNvSpPr/>
          <p:nvPr/>
        </p:nvSpPr>
        <p:spPr>
          <a:xfrm>
            <a:off x="3058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7.058</a:t>
            </a:r>
          </a:p>
        </p:txBody>
      </p:sp>
      <p:sp>
        <p:nvSpPr>
          <p:cNvPr id="16" name="Rectangle 15"/>
          <p:cNvSpPr/>
          <p:nvPr/>
        </p:nvSpPr>
        <p:spPr>
          <a:xfrm>
            <a:off x="4455160" y="29464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07/2025 bis 12/2025</a:t>
            </a:r>
          </a:p>
        </p:txBody>
      </p:sp>
      <p:sp>
        <p:nvSpPr>
          <p:cNvPr id="17" name="Rectangle 16"/>
          <p:cNvSpPr/>
          <p:nvPr/>
        </p:nvSpPr>
        <p:spPr>
          <a:xfrm>
            <a:off x="7503159" y="29464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Modellwahl</a:t>
            </a:r>
          </a:p>
        </p:txBody>
      </p:sp>
      <p:sp>
        <p:nvSpPr>
          <p:cNvPr id="18" name="Rectangle 17"/>
          <p:cNvSpPr/>
          <p:nvPr/>
        </p:nvSpPr>
        <p:spPr>
          <a:xfrm>
            <a:off x="1153160" y="34798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1</a:t>
            </a:r>
          </a:p>
        </p:txBody>
      </p:sp>
      <p:sp>
        <p:nvSpPr>
          <p:cNvPr id="19" name="Rectangle 18"/>
          <p:cNvSpPr/>
          <p:nvPr/>
        </p:nvSpPr>
        <p:spPr>
          <a:xfrm>
            <a:off x="3058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0" name="Rectangle 19"/>
          <p:cNvSpPr/>
          <p:nvPr/>
        </p:nvSpPr>
        <p:spPr>
          <a:xfrm>
            <a:off x="4455160" y="34798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12/2025 bis 06/2026</a:t>
            </a:r>
          </a:p>
        </p:txBody>
      </p:sp>
      <p:sp>
        <p:nvSpPr>
          <p:cNvPr id="21" name="Rectangle 20"/>
          <p:cNvSpPr/>
          <p:nvPr/>
        </p:nvSpPr>
        <p:spPr>
          <a:xfrm>
            <a:off x="7503159" y="34798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Punktschätzung</a:t>
            </a:r>
          </a:p>
        </p:txBody>
      </p:sp>
      <p:sp>
        <p:nvSpPr>
          <p:cNvPr id="22" name="Rectangle 21"/>
          <p:cNvSpPr/>
          <p:nvPr/>
        </p:nvSpPr>
        <p:spPr>
          <a:xfrm>
            <a:off x="1153160" y="40132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2</a:t>
            </a:r>
          </a:p>
        </p:txBody>
      </p:sp>
      <p:sp>
        <p:nvSpPr>
          <p:cNvPr id="23" name="Rectangle 22"/>
          <p:cNvSpPr/>
          <p:nvPr/>
        </p:nvSpPr>
        <p:spPr>
          <a:xfrm>
            <a:off x="3058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4" name="Rectangle 23"/>
          <p:cNvSpPr/>
          <p:nvPr/>
        </p:nvSpPr>
        <p:spPr>
          <a:xfrm>
            <a:off x="4455160" y="40132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06/2026 bis 08/2026</a:t>
            </a:r>
          </a:p>
        </p:txBody>
      </p:sp>
      <p:sp>
        <p:nvSpPr>
          <p:cNvPr id="25" name="Rectangle 24"/>
          <p:cNvSpPr/>
          <p:nvPr/>
        </p:nvSpPr>
        <p:spPr>
          <a:xfrm>
            <a:off x="7503159" y="40132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Spanne nach dem Rücksprung</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Test 1 ist Winter und Frühjahr, Test 2 ist Sommer. Das ist kein Zufall der Aufteilung, sondern eine Eigenschaft der Daten — und es wird uns in Phase 5 beschäftigen.</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Aufteilung — samt zweier unbequemer Hinweise</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3.3</a:t>
            </a:r>
          </a:p>
        </p:txBody>
      </p:sp>
      <p:sp>
        <p:nvSpPr>
          <p:cNvPr id="5" name="Rectangle 4"/>
          <p:cNvSpPr/>
          <p:nvPr/>
        </p:nvSpPr>
        <p:spPr>
          <a:xfrm>
            <a:off x="2666780" y="1168400"/>
            <a:ext cx="844720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bschnitte.png"/>
          <p:cNvPicPr>
            <a:picLocks noChangeAspect="1"/>
          </p:cNvPicPr>
          <p:nvPr/>
        </p:nvPicPr>
        <p:blipFill>
          <a:blip r:embed="rId2"/>
          <a:stretch>
            <a:fillRect/>
          </a:stretch>
        </p:blipFill>
        <p:spPr>
          <a:xfrm>
            <a:off x="2768380" y="1270000"/>
            <a:ext cx="824400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sagt selbst, wo seine Aufteilung nicht sauber ist: Die Erkundung in Phase 2 lief über den gesamten Datensatz.</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Baselines, bevor ein Modell gerechnet wird</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Maßstab ist jede Zahl gut. Diese vier Zeilen kosten zusammen zehn Minuten und entscheiden, was später als Erfolg gelten darf.</a:t>
            </a:r>
          </a:p>
        </p:txBody>
      </p:sp>
      <p:sp>
        <p:nvSpPr>
          <p:cNvPr id="6" name="Rectangle 5"/>
          <p:cNvSpPr/>
          <p:nvPr/>
        </p:nvSpPr>
        <p:spPr>
          <a:xfrm>
            <a:off x="1153160" y="1879600"/>
            <a:ext cx="3683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Baseline</a:t>
            </a:r>
          </a:p>
        </p:txBody>
      </p:sp>
      <p:sp>
        <p:nvSpPr>
          <p:cNvPr id="7" name="Rectangle 6"/>
          <p:cNvSpPr/>
          <p:nvPr/>
        </p:nvSpPr>
        <p:spPr>
          <a:xfrm>
            <a:off x="4836160" y="1879600"/>
            <a:ext cx="2032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8" name="Rectangle 7"/>
          <p:cNvSpPr/>
          <p:nvPr/>
        </p:nvSpPr>
        <p:spPr>
          <a:xfrm>
            <a:off x="6868159" y="1879600"/>
            <a:ext cx="575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beweist</a:t>
            </a:r>
          </a:p>
        </p:txBody>
      </p:sp>
      <p:sp>
        <p:nvSpPr>
          <p:cNvPr id="9" name="Rectangle 8"/>
          <p:cNvSpPr/>
          <p:nvPr/>
        </p:nvSpPr>
        <p:spPr>
          <a:xfrm>
            <a:off x="1153160" y="24130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  Median aller Fahrten</a:t>
            </a:r>
          </a:p>
        </p:txBody>
      </p:sp>
      <p:sp>
        <p:nvSpPr>
          <p:cNvPr id="10" name="Rectangle 9"/>
          <p:cNvSpPr/>
          <p:nvPr/>
        </p:nvSpPr>
        <p:spPr>
          <a:xfrm>
            <a:off x="4836160" y="24130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a:t>
            </a:r>
          </a:p>
        </p:txBody>
      </p:sp>
      <p:sp>
        <p:nvSpPr>
          <p:cNvPr id="11" name="Rectangle 10"/>
          <p:cNvSpPr/>
          <p:nvPr/>
        </p:nvSpPr>
        <p:spPr>
          <a:xfrm>
            <a:off x="6868159" y="24130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Untergrenze des Nichtwissens</a:t>
            </a:r>
          </a:p>
        </p:txBody>
      </p:sp>
      <p:sp>
        <p:nvSpPr>
          <p:cNvPr id="12" name="Rectangle 11"/>
          <p:cNvSpPr/>
          <p:nvPr/>
        </p:nvSpPr>
        <p:spPr>
          <a:xfrm>
            <a:off x="1153160" y="29464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Median je Radtyp</a:t>
            </a:r>
          </a:p>
        </p:txBody>
      </p:sp>
      <p:sp>
        <p:nvSpPr>
          <p:cNvPr id="13" name="Rectangle 12"/>
          <p:cNvSpPr/>
          <p:nvPr/>
        </p:nvSpPr>
        <p:spPr>
          <a:xfrm>
            <a:off x="4836160" y="29464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8,01</a:t>
            </a:r>
          </a:p>
        </p:txBody>
      </p:sp>
      <p:sp>
        <p:nvSpPr>
          <p:cNvPr id="14" name="Rectangle 13"/>
          <p:cNvSpPr/>
          <p:nvPr/>
        </p:nvSpPr>
        <p:spPr>
          <a:xfrm>
            <a:off x="6868159" y="29464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Radtyp allein bringt fast nichts</a:t>
            </a:r>
          </a:p>
        </p:txBody>
      </p:sp>
      <p:sp>
        <p:nvSpPr>
          <p:cNvPr id="15" name="Rectangle 14"/>
          <p:cNvSpPr/>
          <p:nvPr/>
        </p:nvSpPr>
        <p:spPr>
          <a:xfrm>
            <a:off x="1153160" y="34798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  Median je Startstation</a:t>
            </a:r>
          </a:p>
        </p:txBody>
      </p:sp>
      <p:sp>
        <p:nvSpPr>
          <p:cNvPr id="16" name="Rectangle 15"/>
          <p:cNvSpPr/>
          <p:nvPr/>
        </p:nvSpPr>
        <p:spPr>
          <a:xfrm>
            <a:off x="4836160" y="34798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a:t>
            </a:r>
          </a:p>
        </p:txBody>
      </p:sp>
      <p:sp>
        <p:nvSpPr>
          <p:cNvPr id="17" name="Rectangle 16"/>
          <p:cNvSpPr/>
          <p:nvPr/>
        </p:nvSpPr>
        <p:spPr>
          <a:xfrm>
            <a:off x="6868159" y="34798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große Sprung — 2,81 Minuten</a:t>
            </a:r>
          </a:p>
        </p:txBody>
      </p:sp>
      <p:sp>
        <p:nvSpPr>
          <p:cNvPr id="18" name="Rectangle 17"/>
          <p:cNvSpPr/>
          <p:nvPr/>
        </p:nvSpPr>
        <p:spPr>
          <a:xfrm>
            <a:off x="1153160" y="40132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  Median je Verbindung</a:t>
            </a:r>
          </a:p>
        </p:txBody>
      </p:sp>
      <p:sp>
        <p:nvSpPr>
          <p:cNvPr id="19" name="Rectangle 18"/>
          <p:cNvSpPr/>
          <p:nvPr/>
        </p:nvSpPr>
        <p:spPr>
          <a:xfrm>
            <a:off x="4836160" y="40132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5,02</a:t>
            </a:r>
          </a:p>
        </p:txBody>
      </p:sp>
      <p:sp>
        <p:nvSpPr>
          <p:cNvPr id="20" name="Rectangle 19"/>
          <p:cNvSpPr/>
          <p:nvPr/>
        </p:nvSpPr>
        <p:spPr>
          <a:xfrm>
            <a:off x="6868159" y="40132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Ziel bringt 0,27 Minuten dazu</a:t>
            </a:r>
          </a:p>
        </p:txBody>
      </p:sp>
      <p:sp>
        <p:nvSpPr>
          <p:cNvPr id="21" name="Rectangle 20"/>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Baseline D ist der eigentliche Gegner: Sie ist eine Nachschlagetabelle aus Medianen und kostet keine Zeile Modellcode. Alles, was ein Verfahren später beiträgt, muss über diesen 5,02 Minuten liegen.</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vier Baselines, wie sie im Notebook stehen</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analytics/notebooks/01_Regression_Fahrtdauer.ipynb · Abschnitt 4.1</a:t>
            </a:r>
          </a:p>
        </p:txBody>
      </p:sp>
      <p:sp>
        <p:nvSpPr>
          <p:cNvPr id="5" name="Rectangle 4"/>
          <p:cNvSpPr/>
          <p:nvPr/>
        </p:nvSpPr>
        <p:spPr>
          <a:xfrm>
            <a:off x="1051560" y="1403895"/>
            <a:ext cx="11677650" cy="372000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baselines.png"/>
          <p:cNvPicPr>
            <a:picLocks noChangeAspect="1"/>
          </p:cNvPicPr>
          <p:nvPr/>
        </p:nvPicPr>
        <p:blipFill>
          <a:blip r:embed="rId2"/>
          <a:stretch>
            <a:fillRect/>
          </a:stretch>
        </p:blipFill>
        <p:spPr>
          <a:xfrm>
            <a:off x="1153160" y="1505495"/>
            <a:ext cx="11474450" cy="3516808"/>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2,81 Minuten kommen von der Startstation, 0,27 vom Ziel. Diese beiden Zahlen tragen die ganze Diskussion um den Prozessumbau.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Pipeline, damit im Betrieb nichts auseinanderfällt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Kodierung und Modell gehören in ein Objekt. Getrennt gespeichert überleben sie den ersten Betriebsmonat nicht.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311400"/>
          </a:xfrm>
          <a:prstGeom prst="rect">
            <a:avLst/>
          </a:prstGeom>
          <a:noFill/>
        </p:spPr>
        <p:txBody>
          <a:bodyPr wrap="square" lIns="0" tIns="0" rIns="0" bIns="0">
            <a:spAutoFit/>
          </a:bodyPr>
          <a:lstStyle/>
          <a:p>
            <a:pPr algn="l">
              <a:lnSpc>
                <a:spcPct val="95000"/>
              </a:lnSpc>
            </a:pPr>
            <a:r>
              <a:rPr sz="1400" b="1">
                <a:solidFill>
                  <a:srgbClr val="003E6E"/>
                </a:solidFill>
              </a:rPr>
              <a:t>Was zusammengehört</a:t>
            </a:r>
          </a:p>
          <a:p>
            <a:pPr algn="l">
              <a:lnSpc>
                <a:spcPct val="95000"/>
              </a:lnSpc>
              <a:spcBef>
                <a:spcPts val="200"/>
              </a:spcBef>
            </a:pPr>
            <a:r>
              <a:rPr sz="1300" b="0">
                <a:solidFill>
                  <a:srgbClr val="404040"/>
                </a:solidFill>
                <a:latin typeface="Consolas"/>
              </a:rPr>
              <a:t>ColumnTransformer</a:t>
            </a:r>
          </a:p>
          <a:p>
            <a:pPr algn="l">
              <a:lnSpc>
                <a:spcPct val="95000"/>
              </a:lnSpc>
              <a:spcBef>
                <a:spcPts val="200"/>
              </a:spcBef>
            </a:pPr>
            <a:r>
              <a:rPr sz="1300" b="0">
                <a:solidFill>
                  <a:srgbClr val="404040"/>
                </a:solidFill>
                <a:latin typeface="Consolas"/>
              </a:rPr>
              <a:t>  OneHotEncoder(</a:t>
            </a:r>
          </a:p>
          <a:p>
            <a:pPr algn="l">
              <a:lnSpc>
                <a:spcPct val="95000"/>
              </a:lnSpc>
              <a:spcBef>
                <a:spcPts val="200"/>
              </a:spcBef>
            </a:pPr>
            <a:r>
              <a:rPr sz="1300" b="0">
                <a:solidFill>
                  <a:srgbClr val="404040"/>
                </a:solidFill>
                <a:latin typeface="Consolas"/>
              </a:rPr>
              <a:t>    handle_unknown='ignore')</a:t>
            </a:r>
          </a:p>
          <a:p>
            <a:pPr algn="l">
              <a:lnSpc>
                <a:spcPct val="95000"/>
              </a:lnSpc>
              <a:spcBef>
                <a:spcPts val="200"/>
              </a:spcBef>
            </a:pPr>
            <a:r>
              <a:rPr sz="1300" b="0">
                <a:solidFill>
                  <a:srgbClr val="404040"/>
                </a:solidFill>
                <a:latin typeface="Consolas"/>
              </a:rPr>
              <a:t>  numerische Spalten</a:t>
            </a:r>
          </a:p>
          <a:p>
            <a:pPr algn="l">
              <a:lnSpc>
                <a:spcPct val="95000"/>
              </a:lnSpc>
              <a:spcBef>
                <a:spcPts val="200"/>
              </a:spcBef>
            </a:pPr>
            <a:r>
              <a:rPr sz="1300" b="0">
                <a:solidFill>
                  <a:srgbClr val="404040"/>
                </a:solidFill>
                <a:latin typeface="Consolas"/>
              </a:rPr>
              <a:t>+ RandomForestRegressor</a:t>
            </a:r>
          </a:p>
          <a:p>
            <a:pPr algn="l">
              <a:lnSpc>
                <a:spcPct val="95000"/>
              </a:lnSpc>
              <a:spcBef>
                <a:spcPts val="200"/>
              </a:spcBef>
            </a:pPr>
            <a:r>
              <a:rPr sz="1300" b="0">
                <a:solidFill>
                  <a:srgbClr val="404040"/>
                </a:solidFill>
                <a:latin typeface="Consolas"/>
              </a:rPr>
              <a:t>= eine Pipeline</a:t>
            </a:r>
          </a:p>
        </p:txBody>
      </p:sp>
      <p:sp>
        <p:nvSpPr>
          <p:cNvPr id="9" name="Rectangle 8"/>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540000"/>
          </a:xfrm>
          <a:prstGeom prst="rect">
            <a:avLst/>
          </a:prstGeom>
          <a:solidFill>
            <a:srgbClr val="4AB5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311400"/>
          </a:xfrm>
          <a:prstGeom prst="rect">
            <a:avLst/>
          </a:prstGeom>
          <a:noFill/>
        </p:spPr>
        <p:txBody>
          <a:bodyPr wrap="square" lIns="0" tIns="0" rIns="0" bIns="0">
            <a:spAutoFit/>
          </a:bodyPr>
          <a:lstStyle/>
          <a:p>
            <a:pPr algn="l">
              <a:lnSpc>
                <a:spcPct val="95000"/>
              </a:lnSpc>
            </a:pPr>
            <a:r>
              <a:rPr sz="1400" b="1">
                <a:solidFill>
                  <a:srgbClr val="4AB5C4"/>
                </a:solidFill>
              </a:rPr>
              <a:t>Warum zusammen</a:t>
            </a:r>
          </a:p>
          <a:p>
            <a:pPr algn="l">
              <a:lnSpc>
                <a:spcPct val="95000"/>
              </a:lnSpc>
              <a:spcBef>
                <a:spcPts val="200"/>
              </a:spcBef>
            </a:pPr>
            <a:r>
              <a:rPr sz="1300" b="0">
                <a:solidFill>
                  <a:srgbClr val="404040"/>
                </a:solidFill>
                <a:latin typeface="Consolas"/>
              </a:rPr>
              <a:t>Die Spaltenreihenfolge steckt</a:t>
            </a:r>
          </a:p>
          <a:p>
            <a:pPr algn="l">
              <a:lnSpc>
                <a:spcPct val="95000"/>
              </a:lnSpc>
              <a:spcBef>
                <a:spcPts val="200"/>
              </a:spcBef>
            </a:pPr>
            <a:r>
              <a:rPr sz="1300" b="0">
                <a:solidFill>
                  <a:srgbClr val="404040"/>
                </a:solidFill>
                <a:latin typeface="Consolas"/>
              </a:rPr>
              <a:t>im selben Objekt wie das</a:t>
            </a:r>
          </a:p>
          <a:p>
            <a:pPr algn="l">
              <a:lnSpc>
                <a:spcPct val="95000"/>
              </a:lnSpc>
              <a:spcBef>
                <a:spcPts val="200"/>
              </a:spcBef>
            </a:pPr>
            <a:r>
              <a:rPr sz="1300" b="0">
                <a:solidFill>
                  <a:srgbClr val="404040"/>
                </a:solidFill>
                <a:latin typeface="Consolas"/>
              </a:rPr>
              <a:t>Modell — sie kann nicht mehr</a:t>
            </a:r>
          </a:p>
          <a:p>
            <a:pPr algn="l">
              <a:lnSpc>
                <a:spcPct val="95000"/>
              </a:lnSpc>
              <a:spcBef>
                <a:spcPts val="200"/>
              </a:spcBef>
            </a:pPr>
            <a:r>
              <a:rPr sz="1300" b="0">
                <a:solidFill>
                  <a:srgbClr val="404040"/>
                </a:solidFill>
                <a:latin typeface="Consolas"/>
              </a:rPr>
              <a:t>verrutschen.</a:t>
            </a:r>
          </a:p>
          <a:p>
            <a:pPr algn="l">
              <a:lnSpc>
                <a:spcPct val="95000"/>
              </a:lnSpc>
              <a:spcBef>
                <a:spcPts val="200"/>
              </a:spcBef>
            </a:pPr>
            <a:r>
              <a:rPr sz="1300" b="0">
                <a:solidFill>
                  <a:srgbClr val="404040"/>
                </a:solidFill>
                <a:latin typeface="Consolas"/>
              </a:rPr>
              <a:t>handle_unknown: eine neue</a:t>
            </a:r>
          </a:p>
          <a:p>
            <a:pPr algn="l">
              <a:lnSpc>
                <a:spcPct val="95000"/>
              </a:lnSpc>
              <a:spcBef>
                <a:spcPts val="200"/>
              </a:spcBef>
            </a:pPr>
            <a:r>
              <a:rPr sz="1300" b="0">
                <a:solidFill>
                  <a:srgbClr val="404040"/>
                </a:solidFill>
                <a:latin typeface="Consolas"/>
              </a:rPr>
              <a:t>Station wirft keinen Fehler.</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Modelle, gewählt wird auf der Validierung</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auf dem Test. Der Unterschied trennt eine Modellwahl von einer nachträglichen Begründung.</a:t>
            </a:r>
          </a:p>
        </p:txBody>
      </p:sp>
      <p:sp>
        <p:nvSpPr>
          <p:cNvPr id="6" name="Rectangle 5"/>
          <p:cNvSpPr/>
          <p:nvPr/>
        </p:nvSpPr>
        <p:spPr>
          <a:xfrm>
            <a:off x="1153160" y="1651000"/>
            <a:ext cx="444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Modell</a:t>
            </a:r>
          </a:p>
        </p:txBody>
      </p:sp>
      <p:sp>
        <p:nvSpPr>
          <p:cNvPr id="7" name="Rectangle 6"/>
          <p:cNvSpPr/>
          <p:nvPr/>
        </p:nvSpPr>
        <p:spPr>
          <a:xfrm>
            <a:off x="5598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auf der Validierung</a:t>
            </a:r>
          </a:p>
        </p:txBody>
      </p:sp>
      <p:sp>
        <p:nvSpPr>
          <p:cNvPr id="8" name="Rectangle 7"/>
          <p:cNvSpPr/>
          <p:nvPr/>
        </p:nvSpPr>
        <p:spPr>
          <a:xfrm>
            <a:off x="8519160" y="1651000"/>
            <a:ext cx="4108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es beisteuert</a:t>
            </a:r>
          </a:p>
        </p:txBody>
      </p:sp>
      <p:sp>
        <p:nvSpPr>
          <p:cNvPr id="9" name="Rectangle 8"/>
          <p:cNvSpPr/>
          <p:nvPr/>
        </p:nvSpPr>
        <p:spPr>
          <a:xfrm>
            <a:off x="1153160" y="2159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 (Median)</a:t>
            </a:r>
          </a:p>
        </p:txBody>
      </p:sp>
      <p:sp>
        <p:nvSpPr>
          <p:cNvPr id="10" name="Rectangle 9"/>
          <p:cNvSpPr/>
          <p:nvPr/>
        </p:nvSpPr>
        <p:spPr>
          <a:xfrm>
            <a:off x="5598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 Minuten</a:t>
            </a:r>
          </a:p>
        </p:txBody>
      </p:sp>
      <p:sp>
        <p:nvSpPr>
          <p:cNvPr id="11" name="Rectangle 10"/>
          <p:cNvSpPr/>
          <p:nvPr/>
        </p:nvSpPr>
        <p:spPr>
          <a:xfrm>
            <a:off x="8519160" y="2159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Median, ohne jedes Merkmal</a:t>
            </a:r>
          </a:p>
        </p:txBody>
      </p:sp>
      <p:sp>
        <p:nvSpPr>
          <p:cNvPr id="12" name="Rectangle 11"/>
          <p:cNvSpPr/>
          <p:nvPr/>
        </p:nvSpPr>
        <p:spPr>
          <a:xfrm>
            <a:off x="1153160" y="2667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3" name="Rectangle 12"/>
          <p:cNvSpPr/>
          <p:nvPr/>
        </p:nvSpPr>
        <p:spPr>
          <a:xfrm>
            <a:off x="5598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4,61 Minuten</a:t>
            </a:r>
          </a:p>
        </p:txBody>
      </p:sp>
      <p:sp>
        <p:nvSpPr>
          <p:cNvPr id="14" name="Rectangle 13"/>
          <p:cNvSpPr/>
          <p:nvPr/>
        </p:nvSpPr>
        <p:spPr>
          <a:xfrm>
            <a:off x="8519160" y="2667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schon besser als Baseline D</a:t>
            </a:r>
          </a:p>
        </p:txBody>
      </p:sp>
      <p:sp>
        <p:nvSpPr>
          <p:cNvPr id="15" name="Rectangle 14"/>
          <p:cNvSpPr/>
          <p:nvPr/>
        </p:nvSpPr>
        <p:spPr>
          <a:xfrm>
            <a:off x="1153160" y="3175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Entscheidungsbaum (Tiefe 10)</a:t>
            </a:r>
          </a:p>
        </p:txBody>
      </p:sp>
      <p:sp>
        <p:nvSpPr>
          <p:cNvPr id="16" name="Rectangle 15"/>
          <p:cNvSpPr/>
          <p:nvPr/>
        </p:nvSpPr>
        <p:spPr>
          <a:xfrm>
            <a:off x="5598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4,23 Minuten</a:t>
            </a:r>
          </a:p>
        </p:txBody>
      </p:sp>
      <p:sp>
        <p:nvSpPr>
          <p:cNvPr id="17" name="Rectangle 16"/>
          <p:cNvSpPr/>
          <p:nvPr/>
        </p:nvSpPr>
        <p:spPr>
          <a:xfrm>
            <a:off x="8519160" y="3175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nichtlineare Zusammenhänge</a:t>
            </a:r>
          </a:p>
        </p:txBody>
      </p:sp>
      <p:sp>
        <p:nvSpPr>
          <p:cNvPr id="18" name="Rectangle 17"/>
          <p:cNvSpPr/>
          <p:nvPr/>
        </p:nvSpPr>
        <p:spPr>
          <a:xfrm>
            <a:off x="1153160" y="3683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 (200 Bäume) — gewählt</a:t>
            </a:r>
          </a:p>
        </p:txBody>
      </p:sp>
      <p:sp>
        <p:nvSpPr>
          <p:cNvPr id="19" name="Rectangle 18"/>
          <p:cNvSpPr/>
          <p:nvPr/>
        </p:nvSpPr>
        <p:spPr>
          <a:xfrm>
            <a:off x="5598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3,96 Minuten</a:t>
            </a:r>
          </a:p>
        </p:txBody>
      </p:sp>
      <p:sp>
        <p:nvSpPr>
          <p:cNvPr id="20" name="Rectangle 19"/>
          <p:cNvSpPr/>
          <p:nvPr/>
        </p:nvSpPr>
        <p:spPr>
          <a:xfrm>
            <a:off x="8519160" y="3683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21 % besser als Baseline D</a:t>
            </a:r>
          </a:p>
        </p:txBody>
      </p:sp>
      <p:sp>
        <p:nvSpPr>
          <p:cNvPr id="21" name="Rectangle 20"/>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21 Prozent gegenüber einer Nachschlagetabelle aus Medianen: ein realer Gewinn, aber kein spektakulärer. Ob er den Betrieb eines Modells rechtfertigt, entscheidet Phase 6.</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Bringt das Ziel wirklich etwas? Eine Ablation</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ganze Projekt ruht auf der Annahme, dass die Zielwahl hilft. Also wird sie geprüft — indem man sie wegnimmt.</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Ohne Zielmerkmale</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Nur Start, Zeit, Radtyp</a:t>
            </a:r>
          </a:p>
          <a:p>
            <a:pPr algn="l">
              <a:lnSpc>
                <a:spcPct val="95000"/>
              </a:lnSpc>
              <a:spcBef>
                <a:spcPts val="300"/>
              </a:spcBef>
            </a:pPr>
            <a:r>
              <a:rPr sz="1300" b="0">
                <a:solidFill>
                  <a:srgbClr val="404040"/>
                </a:solidFill>
              </a:rPr>
              <a:t>MAE  4,35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Modell weiß nicht, wohin</a:t>
            </a:r>
          </a:p>
          <a:p>
            <a:pPr algn="l">
              <a:lnSpc>
                <a:spcPct val="95000"/>
              </a:lnSpc>
              <a:spcBef>
                <a:spcPts val="300"/>
              </a:spcBef>
            </a:pPr>
            <a:r>
              <a:rPr sz="1300" b="0">
                <a:solidFill>
                  <a:srgbClr val="404040"/>
                </a:solidFill>
              </a:rPr>
              <a:t>die Fahrt geht — und ist</a:t>
            </a:r>
          </a:p>
          <a:p>
            <a:pPr algn="l">
              <a:lnSpc>
                <a:spcPct val="95000"/>
              </a:lnSpc>
              <a:spcBef>
                <a:spcPts val="300"/>
              </a:spcBef>
            </a:pPr>
            <a:r>
              <a:rPr sz="1300" b="0">
                <a:solidFill>
                  <a:srgbClr val="404040"/>
                </a:solidFill>
              </a:rPr>
              <a:t>trotzdem deutlich besser als</a:t>
            </a:r>
          </a:p>
          <a:p>
            <a:pPr algn="l">
              <a:lnSpc>
                <a:spcPct val="95000"/>
              </a:lnSpc>
              <a:spcBef>
                <a:spcPts val="300"/>
              </a:spcBef>
            </a:pPr>
            <a:r>
              <a:rPr sz="1300" b="0">
                <a:solidFill>
                  <a:srgbClr val="404040"/>
                </a:solidFill>
              </a:rPr>
              <a:t>jede Baseline.</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Mit Zielmerkmalen</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Ziel und Luftlinie dazu</a:t>
            </a:r>
          </a:p>
          <a:p>
            <a:pPr algn="l">
              <a:lnSpc>
                <a:spcPct val="95000"/>
              </a:lnSpc>
              <a:spcBef>
                <a:spcPts val="300"/>
              </a:spcBef>
            </a:pPr>
            <a:r>
              <a:rPr sz="1300" b="0">
                <a:solidFill>
                  <a:srgbClr val="404040"/>
                </a:solidFill>
              </a:rPr>
              <a:t>MAE  3,96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Beitrag des Ziels:</a:t>
            </a:r>
          </a:p>
          <a:p>
            <a:pPr algn="l">
              <a:lnSpc>
                <a:spcPct val="95000"/>
              </a:lnSpc>
              <a:spcBef>
                <a:spcPts val="300"/>
              </a:spcBef>
            </a:pPr>
            <a:r>
              <a:rPr sz="1300" b="0">
                <a:solidFill>
                  <a:srgbClr val="404040"/>
                </a:solidFill>
              </a:rPr>
              <a:t>0,39 Minuten — neun Prozent.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Real, aber bescheiden.</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gehört in den Bericht, nicht in eine Fußnote: Die neue Geschäftslogik ist richtig, ihr messbarer Zusatznutzen in diesem Datensatz ist klein.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Minuten zu Euro — mit der vollen Tariflogik</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3,93 Minuten auf Test 1. Diese Zahl beantwortet die Frage aus Phase 1 nicht. Erst die Umrechnung in Euro tut das.</a:t>
            </a:r>
          </a:p>
        </p:txBody>
      </p:sp>
      <p:sp>
        <p:nvSpPr>
          <p:cNvPr id="6" name="Rectangle 5"/>
          <p:cNvSpPr/>
          <p:nvPr/>
        </p:nvSpPr>
        <p:spPr>
          <a:xfrm>
            <a:off x="1153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Radtyp</a:t>
            </a:r>
          </a:p>
        </p:txBody>
      </p:sp>
      <p:sp>
        <p:nvSpPr>
          <p:cNvPr id="7" name="Rectangle 6"/>
          <p:cNvSpPr/>
          <p:nvPr/>
        </p:nvSpPr>
        <p:spPr>
          <a:xfrm>
            <a:off x="2550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3947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 kostet</a:t>
            </a:r>
          </a:p>
        </p:txBody>
      </p:sp>
      <p:sp>
        <p:nvSpPr>
          <p:cNvPr id="9" name="Rectangle 8"/>
          <p:cNvSpPr/>
          <p:nvPr/>
        </p:nvSpPr>
        <p:spPr>
          <a:xfrm>
            <a:off x="5979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Abweichung</a:t>
            </a:r>
          </a:p>
        </p:txBody>
      </p:sp>
      <p:sp>
        <p:nvSpPr>
          <p:cNvPr id="10" name="Rectangle 9"/>
          <p:cNvSpPr/>
          <p:nvPr/>
        </p:nvSpPr>
        <p:spPr>
          <a:xfrm>
            <a:off x="8011159"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0,50 €</a:t>
            </a:r>
          </a:p>
        </p:txBody>
      </p:sp>
      <p:sp>
        <p:nvSpPr>
          <p:cNvPr id="11" name="Rectangle 10"/>
          <p:cNvSpPr/>
          <p:nvPr/>
        </p:nvSpPr>
        <p:spPr>
          <a:xfrm>
            <a:off x="10043160" y="1651000"/>
            <a:ext cx="2584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12" name="Rectangle 11"/>
          <p:cNvSpPr/>
          <p:nvPr/>
        </p:nvSpPr>
        <p:spPr>
          <a:xfrm>
            <a:off x="1153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CITY</a:t>
            </a:r>
          </a:p>
        </p:txBody>
      </p:sp>
      <p:sp>
        <p:nvSpPr>
          <p:cNvPr id="13" name="Rectangle 12"/>
          <p:cNvSpPr/>
          <p:nvPr/>
        </p:nvSpPr>
        <p:spPr>
          <a:xfrm>
            <a:off x="2550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3.325</a:t>
            </a:r>
          </a:p>
        </p:txBody>
      </p:sp>
      <p:sp>
        <p:nvSpPr>
          <p:cNvPr id="14" name="Rectangle 13"/>
          <p:cNvSpPr/>
          <p:nvPr/>
        </p:nvSpPr>
        <p:spPr>
          <a:xfrm>
            <a:off x="3947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1,67 €</a:t>
            </a:r>
          </a:p>
        </p:txBody>
      </p:sp>
      <p:sp>
        <p:nvSpPr>
          <p:cNvPr id="15" name="Rectangle 14"/>
          <p:cNvSpPr/>
          <p:nvPr/>
        </p:nvSpPr>
        <p:spPr>
          <a:xfrm>
            <a:off x="5979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0,41 €</a:t>
            </a:r>
          </a:p>
        </p:txBody>
      </p:sp>
      <p:sp>
        <p:nvSpPr>
          <p:cNvPr id="16" name="Rectangle 15"/>
          <p:cNvSpPr/>
          <p:nvPr/>
        </p:nvSpPr>
        <p:spPr>
          <a:xfrm>
            <a:off x="8011159"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74 %</a:t>
            </a:r>
          </a:p>
        </p:txBody>
      </p:sp>
      <p:sp>
        <p:nvSpPr>
          <p:cNvPr id="17" name="Rectangle 16"/>
          <p:cNvSpPr/>
          <p:nvPr/>
        </p:nvSpPr>
        <p:spPr>
          <a:xfrm>
            <a:off x="10043160" y="22352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18" name="Rectangle 17"/>
          <p:cNvSpPr/>
          <p:nvPr/>
        </p:nvSpPr>
        <p:spPr>
          <a:xfrm>
            <a:off x="1153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EBIKE</a:t>
            </a:r>
          </a:p>
        </p:txBody>
      </p:sp>
      <p:sp>
        <p:nvSpPr>
          <p:cNvPr id="19" name="Rectangle 18"/>
          <p:cNvSpPr/>
          <p:nvPr/>
        </p:nvSpPr>
        <p:spPr>
          <a:xfrm>
            <a:off x="2550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2.049</a:t>
            </a:r>
          </a:p>
        </p:txBody>
      </p:sp>
      <p:sp>
        <p:nvSpPr>
          <p:cNvPr id="20" name="Rectangle 19"/>
          <p:cNvSpPr/>
          <p:nvPr/>
        </p:nvSpPr>
        <p:spPr>
          <a:xfrm>
            <a:off x="3947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4,34 €</a:t>
            </a:r>
          </a:p>
        </p:txBody>
      </p:sp>
      <p:sp>
        <p:nvSpPr>
          <p:cNvPr id="21" name="Rectangle 20"/>
          <p:cNvSpPr/>
          <p:nvPr/>
        </p:nvSpPr>
        <p:spPr>
          <a:xfrm>
            <a:off x="5979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0,85 €</a:t>
            </a:r>
          </a:p>
        </p:txBody>
      </p:sp>
      <p:sp>
        <p:nvSpPr>
          <p:cNvPr id="22" name="Rectangle 21"/>
          <p:cNvSpPr/>
          <p:nvPr/>
        </p:nvSpPr>
        <p:spPr>
          <a:xfrm>
            <a:off x="8011159"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51 %</a:t>
            </a:r>
          </a:p>
        </p:txBody>
      </p:sp>
      <p:sp>
        <p:nvSpPr>
          <p:cNvPr id="23" name="Rectangle 22"/>
          <p:cNvSpPr/>
          <p:nvPr/>
        </p:nvSpPr>
        <p:spPr>
          <a:xfrm>
            <a:off x="10043160" y="2819400"/>
            <a:ext cx="2584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24" name="Rectangle 23"/>
          <p:cNvSpPr/>
          <p:nvPr/>
        </p:nvSpPr>
        <p:spPr>
          <a:xfrm>
            <a:off x="1153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CARGO</a:t>
            </a:r>
          </a:p>
        </p:txBody>
      </p:sp>
      <p:sp>
        <p:nvSpPr>
          <p:cNvPr id="25" name="Rectangle 24"/>
          <p:cNvSpPr/>
          <p:nvPr/>
        </p:nvSpPr>
        <p:spPr>
          <a:xfrm>
            <a:off x="2550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508</a:t>
            </a:r>
          </a:p>
        </p:txBody>
      </p:sp>
      <p:sp>
        <p:nvSpPr>
          <p:cNvPr id="26" name="Rectangle 25"/>
          <p:cNvSpPr/>
          <p:nvPr/>
        </p:nvSpPr>
        <p:spPr>
          <a:xfrm>
            <a:off x="3947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11,97 €</a:t>
            </a:r>
          </a:p>
        </p:txBody>
      </p:sp>
      <p:sp>
        <p:nvSpPr>
          <p:cNvPr id="27" name="Rectangle 26"/>
          <p:cNvSpPr/>
          <p:nvPr/>
        </p:nvSpPr>
        <p:spPr>
          <a:xfrm>
            <a:off x="5979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2,48 €</a:t>
            </a:r>
          </a:p>
        </p:txBody>
      </p:sp>
      <p:sp>
        <p:nvSpPr>
          <p:cNvPr id="28" name="Rectangle 27"/>
          <p:cNvSpPr/>
          <p:nvPr/>
        </p:nvSpPr>
        <p:spPr>
          <a:xfrm>
            <a:off x="8011159"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19 %</a:t>
            </a:r>
          </a:p>
        </p:txBody>
      </p:sp>
      <p:sp>
        <p:nvSpPr>
          <p:cNvPr id="29" name="Rectangle 28"/>
          <p:cNvSpPr/>
          <p:nvPr/>
        </p:nvSpPr>
        <p:spPr>
          <a:xfrm>
            <a:off x="10043160" y="34036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30" name="Rectangle 29"/>
          <p:cNvSpPr/>
          <p:nvPr/>
        </p:nvSpPr>
        <p:spPr>
          <a:xfrm>
            <a:off x="1153160" y="4165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4165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356360" y="4292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Gerechnet wird der volle Tarif, nicht Minuten mal Minutenpreis</a:t>
            </a:r>
          </a:p>
          <a:p>
            <a:pPr algn="l">
              <a:lnSpc>
                <a:spcPct val="95000"/>
              </a:lnSpc>
              <a:spcBef>
                <a:spcPts val="500"/>
              </a:spcBef>
            </a:pPr>
            <a:r>
              <a:rPr sz="1300" b="0">
                <a:solidFill>
                  <a:srgbClr val="404040"/>
                </a:solidFill>
              </a:rPr>
              <a:t>Startgebühr plus Minuten mal Minutenpreis, gedeckelt auf den Tageshöchstpreis — für den tatsächlichen und den geschätzten Wert getrennt.</a:t>
            </a:r>
          </a:p>
          <a:p>
            <a:pPr algn="l">
              <a:lnSpc>
                <a:spcPct val="95000"/>
              </a:lnSpc>
              <a:spcBef>
                <a:spcPts val="500"/>
              </a:spcBef>
            </a:pPr>
            <a:r>
              <a:rPr sz="1300" b="0">
                <a:solidFill>
                  <a:srgbClr val="404040"/>
                </a:solidFill>
              </a:rPr>
              <a:t>Nur so entspricht die Zahl dem, was auf der Rechnung des Kunden steht.</a:t>
            </a:r>
          </a:p>
        </p:txBody>
      </p:sp>
      <p:sp>
        <p:nvSpPr>
          <p:cNvPr id="33" name="Rectangle 3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5" name="Rectangle 3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7" name="Rectangle 3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9" name="Rectangle 3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1" name="Rectangle 40"/>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3" name="Rectangle 4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entscheidende Rechnung, Zeile für Zeile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5.2</a:t>
            </a:r>
          </a:p>
        </p:txBody>
      </p:sp>
      <p:sp>
        <p:nvSpPr>
          <p:cNvPr id="5" name="Rectangle 4"/>
          <p:cNvSpPr/>
          <p:nvPr/>
        </p:nvSpPr>
        <p:spPr>
          <a:xfrm>
            <a:off x="1051560" y="2376449"/>
            <a:ext cx="11677649" cy="17749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preisfehler.png"/>
          <p:cNvPicPr>
            <a:picLocks noChangeAspect="1"/>
          </p:cNvPicPr>
          <p:nvPr/>
        </p:nvPicPr>
        <p:blipFill>
          <a:blip r:embed="rId2"/>
          <a:stretch>
            <a:fillRect/>
          </a:stretch>
        </p:blipFill>
        <p:spPr>
          <a:xfrm>
            <a:off x="1153160" y="2478049"/>
            <a:ext cx="11474449" cy="15717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Drei Zeilen, drei Urteile — und die Statistik ist bei allen dreien dieselbe. Was sich unterscheidet, ist der Minutenpreis.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Gegenproben — und beide fallen negativ aus</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man ein Ergebnis erklärt, prüft man die zwei naheliegenden Erklärungen. Hier trägt keine von beiden.</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1</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Schätzen wir systematisch zu hoch?</a:t>
            </a:r>
          </a:p>
          <a:p>
            <a:pPr algn="l">
              <a:lnSpc>
                <a:spcPct val="95000"/>
              </a:lnSpc>
              <a:spcBef>
                <a:spcPts val="300"/>
              </a:spcBef>
            </a:pPr>
            <a:r>
              <a:rPr sz="1300" b="0">
                <a:solidFill>
                  <a:srgbClr val="404040"/>
                </a:solidFill>
              </a:rPr>
              <a:t>CARGO   − 0,25 €</a:t>
            </a:r>
          </a:p>
          <a:p>
            <a:pPr algn="l">
              <a:lnSpc>
                <a:spcPct val="95000"/>
              </a:lnSpc>
              <a:spcBef>
                <a:spcPts val="300"/>
              </a:spcBef>
            </a:pPr>
            <a:r>
              <a:rPr sz="1300" b="0">
                <a:solidFill>
                  <a:srgbClr val="404040"/>
                </a:solidFill>
              </a:rPr>
              <a:t>CITY    + 0,04 €</a:t>
            </a:r>
          </a:p>
          <a:p>
            <a:pPr algn="l">
              <a:lnSpc>
                <a:spcPct val="95000"/>
              </a:lnSpc>
              <a:spcBef>
                <a:spcPts val="300"/>
              </a:spcBef>
            </a:pPr>
            <a:r>
              <a:rPr sz="1300" b="0">
                <a:solidFill>
                  <a:srgbClr val="404040"/>
                </a:solidFill>
              </a:rPr>
              <a:t>EBIKE   + 0,11 €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Über- und Unterschätzung</a:t>
            </a:r>
          </a:p>
          <a:p>
            <a:pPr algn="l">
              <a:lnSpc>
                <a:spcPct val="95000"/>
              </a:lnSpc>
              <a:spcBef>
                <a:spcPts val="300"/>
              </a:spcBef>
            </a:pPr>
            <a:r>
              <a:rPr sz="1300" b="0">
                <a:solidFill>
                  <a:srgbClr val="404040"/>
                </a:solidFill>
              </a:rPr>
              <a:t>heben sich weitgehend auf.</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2</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Ist das Modell bei teuren Rädern schlechter?</a:t>
            </a:r>
          </a:p>
          <a:p>
            <a:pPr algn="l">
              <a:lnSpc>
                <a:spcPct val="95000"/>
              </a:lnSpc>
              <a:spcBef>
                <a:spcPts val="300"/>
              </a:spcBef>
            </a:pPr>
            <a:r>
              <a:rPr sz="1300" b="0">
                <a:solidFill>
                  <a:srgbClr val="404040"/>
                </a:solidFill>
              </a:rPr>
              <a:t>CARGO   2,48 € von 11,97 €  = 21 %</a:t>
            </a:r>
          </a:p>
          <a:p>
            <a:pPr algn="l">
              <a:lnSpc>
                <a:spcPct val="95000"/>
              </a:lnSpc>
              <a:spcBef>
                <a:spcPts val="300"/>
              </a:spcBef>
            </a:pPr>
            <a:r>
              <a:rPr sz="1300" b="0">
                <a:solidFill>
                  <a:srgbClr val="404040"/>
                </a:solidFill>
              </a:rPr>
              <a:t>CITY    0,41 € von  1,67 €  = 24 %</a:t>
            </a:r>
          </a:p>
          <a:p>
            <a:pPr algn="l">
              <a:lnSpc>
                <a:spcPct val="95000"/>
              </a:lnSpc>
              <a:spcBef>
                <a:spcPts val="300"/>
              </a:spcBef>
            </a:pPr>
            <a:r>
              <a:rPr sz="1300" b="0">
                <a:solidFill>
                  <a:srgbClr val="404040"/>
                </a:solidFill>
              </a:rPr>
              <a:t>EBIKE   0,85 € von  4,34 €  = 20 %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Relativ zum Fahrpreis ist</a:t>
            </a:r>
          </a:p>
          <a:p>
            <a:pPr algn="l">
              <a:lnSpc>
                <a:spcPct val="95000"/>
              </a:lnSpc>
              <a:spcBef>
                <a:spcPts val="300"/>
              </a:spcBef>
            </a:pPr>
            <a:r>
              <a:rPr sz="1300" b="0">
                <a:solidFill>
                  <a:srgbClr val="404040"/>
                </a:solidFill>
              </a:rPr>
              <a:t>die Abweichung überall ähnlich.</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Was sich unterscheidet, ist nicht das Modell, sondern die Strenge einer festen 50-Cent-Grenze bei drei sehr verschiedenen Fahrpreisen.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belastbar ist das? Vier Fenster statt einer Zahl</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einzelner Testzeitraum kann günstig liegen. Rollierend geprüft sieht man, wie stark das Ergebnis schwankt.</a:t>
            </a:r>
          </a:p>
        </p:txBody>
      </p:sp>
      <p:sp>
        <p:nvSpPr>
          <p:cNvPr id="6" name="Rectangle 5"/>
          <p:cNvSpPr/>
          <p:nvPr/>
        </p:nvSpPr>
        <p:spPr>
          <a:xfrm>
            <a:off x="1153160" y="1651000"/>
            <a:ext cx="381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Fenster</a:t>
            </a:r>
          </a:p>
        </p:txBody>
      </p:sp>
      <p:sp>
        <p:nvSpPr>
          <p:cNvPr id="7" name="Rectangle 6"/>
          <p:cNvSpPr/>
          <p:nvPr/>
        </p:nvSpPr>
        <p:spPr>
          <a:xfrm>
            <a:off x="4963160" y="1651000"/>
            <a:ext cx="165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6614159" y="1651000"/>
            <a:ext cx="254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9" name="Rectangle 8"/>
          <p:cNvSpPr/>
          <p:nvPr/>
        </p:nvSpPr>
        <p:spPr>
          <a:xfrm>
            <a:off x="9154160" y="1651000"/>
            <a:ext cx="347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CITY-Preisfehler</a:t>
            </a:r>
          </a:p>
        </p:txBody>
      </p:sp>
      <p:sp>
        <p:nvSpPr>
          <p:cNvPr id="10" name="Rectangle 9"/>
          <p:cNvSpPr/>
          <p:nvPr/>
        </p:nvSpPr>
        <p:spPr>
          <a:xfrm>
            <a:off x="1153160" y="2159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10/2024 bis 02/2025</a:t>
            </a:r>
          </a:p>
        </p:txBody>
      </p:sp>
      <p:sp>
        <p:nvSpPr>
          <p:cNvPr id="11" name="Rectangle 10"/>
          <p:cNvSpPr/>
          <p:nvPr/>
        </p:nvSpPr>
        <p:spPr>
          <a:xfrm>
            <a:off x="4963160" y="2159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2" name="Rectangle 11"/>
          <p:cNvSpPr/>
          <p:nvPr/>
        </p:nvSpPr>
        <p:spPr>
          <a:xfrm>
            <a:off x="6614159" y="2159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a:t>
            </a:r>
          </a:p>
        </p:txBody>
      </p:sp>
      <p:sp>
        <p:nvSpPr>
          <p:cNvPr id="13" name="Rectangle 12"/>
          <p:cNvSpPr/>
          <p:nvPr/>
        </p:nvSpPr>
        <p:spPr>
          <a:xfrm>
            <a:off x="9154160" y="2159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0,37 €</a:t>
            </a:r>
          </a:p>
        </p:txBody>
      </p:sp>
      <p:sp>
        <p:nvSpPr>
          <p:cNvPr id="14" name="Rectangle 13"/>
          <p:cNvSpPr/>
          <p:nvPr/>
        </p:nvSpPr>
        <p:spPr>
          <a:xfrm>
            <a:off x="1153160" y="2667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02/2025 bis 05/2025</a:t>
            </a:r>
          </a:p>
        </p:txBody>
      </p:sp>
      <p:sp>
        <p:nvSpPr>
          <p:cNvPr id="15" name="Rectangle 14"/>
          <p:cNvSpPr/>
          <p:nvPr/>
        </p:nvSpPr>
        <p:spPr>
          <a:xfrm>
            <a:off x="4963160" y="2667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6" name="Rectangle 15"/>
          <p:cNvSpPr/>
          <p:nvPr/>
        </p:nvSpPr>
        <p:spPr>
          <a:xfrm>
            <a:off x="6614159" y="2667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3,73</a:t>
            </a:r>
          </a:p>
        </p:txBody>
      </p:sp>
      <p:sp>
        <p:nvSpPr>
          <p:cNvPr id="17" name="Rectangle 16"/>
          <p:cNvSpPr/>
          <p:nvPr/>
        </p:nvSpPr>
        <p:spPr>
          <a:xfrm>
            <a:off x="9154160" y="2667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0,38 €</a:t>
            </a:r>
          </a:p>
        </p:txBody>
      </p:sp>
      <p:sp>
        <p:nvSpPr>
          <p:cNvPr id="18" name="Rectangle 17"/>
          <p:cNvSpPr/>
          <p:nvPr/>
        </p:nvSpPr>
        <p:spPr>
          <a:xfrm>
            <a:off x="1153160" y="3175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 bis 07/2025</a:t>
            </a:r>
          </a:p>
        </p:txBody>
      </p:sp>
      <p:sp>
        <p:nvSpPr>
          <p:cNvPr id="19" name="Rectangle 18"/>
          <p:cNvSpPr/>
          <p:nvPr/>
        </p:nvSpPr>
        <p:spPr>
          <a:xfrm>
            <a:off x="4963160" y="3175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0" name="Rectangle 19"/>
          <p:cNvSpPr/>
          <p:nvPr/>
        </p:nvSpPr>
        <p:spPr>
          <a:xfrm>
            <a:off x="6614159" y="3175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4,39</a:t>
            </a:r>
          </a:p>
        </p:txBody>
      </p:sp>
      <p:sp>
        <p:nvSpPr>
          <p:cNvPr id="21" name="Rectangle 20"/>
          <p:cNvSpPr/>
          <p:nvPr/>
        </p:nvSpPr>
        <p:spPr>
          <a:xfrm>
            <a:off x="9154160" y="3175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2" name="Rectangle 21"/>
          <p:cNvSpPr/>
          <p:nvPr/>
        </p:nvSpPr>
        <p:spPr>
          <a:xfrm>
            <a:off x="1153160" y="3683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07/2025 bis 09/2025</a:t>
            </a:r>
          </a:p>
        </p:txBody>
      </p:sp>
      <p:sp>
        <p:nvSpPr>
          <p:cNvPr id="23" name="Rectangle 22"/>
          <p:cNvSpPr/>
          <p:nvPr/>
        </p:nvSpPr>
        <p:spPr>
          <a:xfrm>
            <a:off x="4963160" y="3683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4" name="Rectangle 23"/>
          <p:cNvSpPr/>
          <p:nvPr/>
        </p:nvSpPr>
        <p:spPr>
          <a:xfrm>
            <a:off x="6614159" y="3683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4,33</a:t>
            </a:r>
          </a:p>
        </p:txBody>
      </p:sp>
      <p:sp>
        <p:nvSpPr>
          <p:cNvPr id="25" name="Rectangle 24"/>
          <p:cNvSpPr/>
          <p:nvPr/>
        </p:nvSpPr>
        <p:spPr>
          <a:xfrm>
            <a:off x="9154160" y="3683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6" name="Rectangle 25"/>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CITY-Preisfehler schwankt zwischen 0,37 € und 0,45 €. Die Grenze von 0,50 € liegt oberhalb der gesamten Schwankung — im schlechtesten Fenster mit fünf Cent Abstand. Für CITY ist die Punktschätzung damit belastbar.</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Woran es liegt — und woran nicht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wie gut, sondern woran es scheitert. Das Muster ist kein statistisches, sondern ein menschliches.</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Schwierig</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Gefahren, um zu fahren</a:t>
            </a:r>
          </a:p>
          <a:p>
            <a:pPr algn="l">
              <a:lnSpc>
                <a:spcPct val="95000"/>
              </a:lnSpc>
              <a:spcBef>
                <a:spcPts val="300"/>
              </a:spcBef>
            </a:pPr>
            <a:r>
              <a:rPr sz="1300" b="0">
                <a:solidFill>
                  <a:srgbClr val="404040"/>
                </a:solidFill>
              </a:rPr>
              <a:t>Dom → Residenz</a:t>
            </a:r>
          </a:p>
          <a:p>
            <a:pPr algn="l">
              <a:lnSpc>
                <a:spcPct val="95000"/>
              </a:lnSpc>
              <a:spcBef>
                <a:spcPts val="300"/>
              </a:spcBef>
            </a:pPr>
            <a:r>
              <a:rPr sz="1300" b="0">
                <a:solidFill>
                  <a:srgbClr val="404040"/>
                </a:solidFill>
              </a:rPr>
              <a:t>  32 Min · Abweichung 0,77 €</a:t>
            </a:r>
          </a:p>
          <a:p>
            <a:pPr algn="l">
              <a:lnSpc>
                <a:spcPct val="95000"/>
              </a:lnSpc>
              <a:spcBef>
                <a:spcPts val="300"/>
              </a:spcBef>
            </a:pPr>
            <a:r>
              <a:rPr sz="1300" b="0">
                <a:solidFill>
                  <a:srgbClr val="404040"/>
                </a:solidFill>
              </a:rPr>
              <a:t>Residenz → Juliuspromenade</a:t>
            </a:r>
          </a:p>
          <a:p>
            <a:pPr algn="l">
              <a:lnSpc>
                <a:spcPct val="95000"/>
              </a:lnSpc>
              <a:spcBef>
                <a:spcPts val="300"/>
              </a:spcBef>
            </a:pPr>
            <a:r>
              <a:rPr sz="1300" b="0">
                <a:solidFill>
                  <a:srgbClr val="404040"/>
                </a:solidFill>
              </a:rPr>
              <a:t>  28 Min · Abweichung 0,78 €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Je nach Anlass zwanzig oder</a:t>
            </a:r>
          </a:p>
          <a:p>
            <a:pPr algn="l">
              <a:lnSpc>
                <a:spcPct val="95000"/>
              </a:lnSpc>
              <a:spcBef>
                <a:spcPts val="300"/>
              </a:spcBef>
            </a:pPr>
            <a:r>
              <a:rPr sz="1300" b="0">
                <a:solidFill>
                  <a:srgbClr val="404040"/>
                </a:solidFill>
              </a:rPr>
              <a:t>vierzig Minuten unterwegs.</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Treffsicher</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Gefahren, um anzukommen</a:t>
            </a:r>
          </a:p>
          <a:p>
            <a:pPr algn="l">
              <a:lnSpc>
                <a:spcPct val="95000"/>
              </a:lnSpc>
              <a:spcBef>
                <a:spcPts val="300"/>
              </a:spcBef>
            </a:pPr>
            <a:r>
              <a:rPr sz="1300" b="0">
                <a:solidFill>
                  <a:srgbClr val="404040"/>
                </a:solidFill>
              </a:rPr>
              <a:t>Grombühl Klinikum → Sanderau</a:t>
            </a:r>
          </a:p>
          <a:p>
            <a:pPr algn="l">
              <a:lnSpc>
                <a:spcPct val="95000"/>
              </a:lnSpc>
              <a:spcBef>
                <a:spcPts val="300"/>
              </a:spcBef>
            </a:pPr>
            <a:r>
              <a:rPr sz="1300" b="0">
                <a:solidFill>
                  <a:srgbClr val="404040"/>
                </a:solidFill>
              </a:rPr>
              <a:t>  7 Min · Abweichung 0,09 €</a:t>
            </a:r>
          </a:p>
          <a:p>
            <a:pPr algn="l">
              <a:lnSpc>
                <a:spcPct val="95000"/>
              </a:lnSpc>
              <a:spcBef>
                <a:spcPts val="300"/>
              </a:spcBef>
            </a:pPr>
            <a:r>
              <a:rPr sz="1300" b="0">
                <a:solidFill>
                  <a:srgbClr val="404040"/>
                </a:solidFill>
              </a:rPr>
              <a:t>Sanderau → Uni Sanderring</a:t>
            </a:r>
          </a:p>
          <a:p>
            <a:pPr algn="l">
              <a:lnSpc>
                <a:spcPct val="95000"/>
              </a:lnSpc>
              <a:spcBef>
                <a:spcPts val="300"/>
              </a:spcBef>
            </a:pPr>
            <a:r>
              <a:rPr sz="1300" b="0">
                <a:solidFill>
                  <a:srgbClr val="404040"/>
                </a:solidFill>
              </a:rPr>
              <a:t>  7 Min · Abweichung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Pendelwege, jeden Tag</a:t>
            </a:r>
          </a:p>
          <a:p>
            <a:pPr algn="l">
              <a:lnSpc>
                <a:spcPct val="95000"/>
              </a:lnSpc>
              <a:spcBef>
                <a:spcPts val="300"/>
              </a:spcBef>
            </a:pPr>
            <a:r>
              <a:rPr sz="1300" b="0">
                <a:solidFill>
                  <a:srgbClr val="404040"/>
                </a:solidFill>
              </a:rPr>
              <a:t>ungefähr gleich.</a:t>
            </a:r>
          </a:p>
        </p:txBody>
      </p:sp>
      <p:sp>
        <p:nvSpPr>
          <p:cNvPr id="14" name="Rectangle 13"/>
          <p:cNvSpPr/>
          <p:nvPr/>
        </p:nvSpPr>
        <p:spPr>
          <a:xfrm>
            <a:off x="1153160" y="4267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Das Modell ist genau, wo gefahren wird, um anzukommen — und ungenau, wo gefahren wird, um zu fahren.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hält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CITY könnten wir jetzt ausliefern. Wir tun es nicht, und zwar aus zwei Gründen, die nichts mit einem gerissenen Kriterium zu tun haben.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Ein Mittelwert ist
keine Erfahrung</a:t>
            </a:r>
          </a:p>
          <a:p>
            <a:pPr algn="l">
              <a:lnSpc>
                <a:spcPct val="95000"/>
              </a:lnSpc>
              <a:spcBef>
                <a:spcPts val="500"/>
              </a:spcBef>
            </a:pPr>
            <a:r>
              <a:rPr sz="1300" b="0">
                <a:solidFill>
                  <a:srgbClr val="404040"/>
                </a:solidFill>
              </a:rPr>
              <a:t>0,41 € im Mittel klingt gut.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rund jeder vierten</a:t>
            </a:r>
          </a:p>
          <a:p>
            <a:pPr algn="l">
              <a:lnSpc>
                <a:spcPct val="95000"/>
              </a:lnSpc>
              <a:spcBef>
                <a:spcPts val="500"/>
              </a:spcBef>
            </a:pPr>
            <a:r>
              <a:rPr sz="1300" b="0">
                <a:solidFill>
                  <a:srgbClr val="404040"/>
                </a:solidFill>
              </a:rPr>
              <a:t>CITY-Fahrt liegt die Anzeige</a:t>
            </a:r>
          </a:p>
          <a:p>
            <a:pPr algn="l">
              <a:lnSpc>
                <a:spcPct val="95000"/>
              </a:lnSpc>
              <a:spcBef>
                <a:spcPts val="500"/>
              </a:spcBef>
            </a:pPr>
            <a:r>
              <a:rPr sz="1300" b="0">
                <a:solidFill>
                  <a:srgbClr val="404040"/>
                </a:solidFill>
              </a:rPr>
              <a:t>aber um mehr als 50 Cent</a:t>
            </a:r>
          </a:p>
          <a:p>
            <a:pPr algn="l">
              <a:lnSpc>
                <a:spcPct val="95000"/>
              </a:lnSpc>
              <a:spcBef>
                <a:spcPts val="500"/>
              </a:spcBef>
            </a:pPr>
            <a:r>
              <a:rPr sz="1300" b="0">
                <a:solidFill>
                  <a:srgbClr val="404040"/>
                </a:solidFill>
              </a:rPr>
              <a:t>daneben. Ein Kunde erlebt</a:t>
            </a:r>
          </a:p>
          <a:p>
            <a:pPr algn="l">
              <a:lnSpc>
                <a:spcPct val="95000"/>
              </a:lnSpc>
              <a:spcBef>
                <a:spcPts val="500"/>
              </a:spcBef>
            </a:pPr>
            <a:r>
              <a:rPr sz="1300" b="0">
                <a:solidFill>
                  <a:srgbClr val="404040"/>
                </a:solidFill>
              </a:rPr>
              <a:t>keinen Mittelwert.</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Zwei von drei Radtypen
haben kein Produkt</a:t>
            </a:r>
          </a:p>
          <a:p>
            <a:pPr algn="l">
              <a:lnSpc>
                <a:spcPct val="95000"/>
              </a:lnSpc>
              <a:spcBef>
                <a:spcPts val="500"/>
              </a:spcBef>
            </a:pPr>
            <a:r>
              <a:rPr sz="1300" b="0">
                <a:solidFill>
                  <a:srgbClr val="404040"/>
                </a:solidFill>
              </a:rPr>
              <a:t>EBIKE und CARGO reißen die</a:t>
            </a:r>
          </a:p>
          <a:p>
            <a:pPr algn="l">
              <a:lnSpc>
                <a:spcPct val="95000"/>
              </a:lnSpc>
              <a:spcBef>
                <a:spcPts val="500"/>
              </a:spcBef>
            </a:pPr>
            <a:r>
              <a:rPr sz="1300" b="0">
                <a:solidFill>
                  <a:srgbClr val="404040"/>
                </a:solidFill>
              </a:rPr>
              <a:t>Grenze deutlich.</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Lösung nur für das</a:t>
            </a:r>
          </a:p>
          <a:p>
            <a:pPr algn="l">
              <a:lnSpc>
                <a:spcPct val="95000"/>
              </a:lnSpc>
              <a:spcBef>
                <a:spcPts val="500"/>
              </a:spcBef>
            </a:pPr>
            <a:r>
              <a:rPr sz="1300" b="0">
                <a:solidFill>
                  <a:srgbClr val="404040"/>
                </a:solidFill>
              </a:rPr>
              <a:t>billigste Rad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Also: die Zusage ändern</a:t>
            </a:r>
          </a:p>
          <a:p>
            <a:pPr algn="l">
              <a:lnSpc>
                <a:spcPct val="95000"/>
              </a:lnSpc>
              <a:spcBef>
                <a:spcPts val="500"/>
              </a:spcBef>
            </a:pPr>
            <a:r>
              <a:rPr sz="1300" b="0">
                <a:solidFill>
                  <a:srgbClr val="404040"/>
                </a:solidFill>
              </a:rPr>
              <a:t>Nicht die Grenze lockern —</a:t>
            </a:r>
          </a:p>
          <a:p>
            <a:pPr algn="l">
              <a:lnSpc>
                <a:spcPct val="95000"/>
              </a:lnSpc>
              <a:spcBef>
                <a:spcPts val="500"/>
              </a:spcBef>
            </a:pPr>
            <a:r>
              <a:rPr sz="1300" b="0">
                <a:solidFill>
                  <a:srgbClr val="404040"/>
                </a:solidFill>
              </a:rPr>
              <a:t>verboten und hier unnötig.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das Verfahren tauschen —</a:t>
            </a:r>
          </a:p>
          <a:p>
            <a:pPr algn="l">
              <a:lnSpc>
                <a:spcPct val="95000"/>
              </a:lnSpc>
              <a:spcBef>
                <a:spcPts val="500"/>
              </a:spcBef>
            </a:pPr>
            <a:r>
              <a:rPr sz="1300" b="0">
                <a:solidFill>
                  <a:srgbClr val="404040"/>
                </a:solidFill>
              </a:rPr>
              <a:t>die Ablation zeigt, dass die</a:t>
            </a:r>
          </a:p>
          <a:p>
            <a:pPr algn="l">
              <a:lnSpc>
                <a:spcPct val="95000"/>
              </a:lnSpc>
              <a:spcBef>
                <a:spcPts val="500"/>
              </a:spcBef>
            </a:pPr>
            <a:r>
              <a:rPr sz="1300" b="0">
                <a:solidFill>
                  <a:srgbClr val="404040"/>
                </a:solidFill>
              </a:rPr>
              <a:t>Information fehlt, nicht die</a:t>
            </a:r>
          </a:p>
          <a:p>
            <a:pPr algn="l">
              <a:lnSpc>
                <a:spcPct val="95000"/>
              </a:lnSpc>
              <a:spcBef>
                <a:spcPts val="500"/>
              </a:spcBef>
            </a:pPr>
            <a:r>
              <a:rPr sz="1300" b="0">
                <a:solidFill>
                  <a:srgbClr val="404040"/>
                </a:solidFill>
              </a:rPr>
              <a:t>Rechenkraft.</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neue Kriterium — wieder vor der Messung festgelegt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Statt einer Zahl eine Spanne. Damit ändert sich nicht die Verfahrensklasse, sondern das, was die App verspricht.</a:t>
            </a:r>
          </a:p>
        </p:txBody>
      </p:sp>
      <p:sp>
        <p:nvSpPr>
          <p:cNvPr id="6" name="Rectangle 5"/>
          <p:cNvSpPr/>
          <p:nvPr/>
        </p:nvSpPr>
        <p:spPr>
          <a:xfrm>
            <a:off x="1153160" y="1651000"/>
            <a:ext cx="2286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439160" y="1651000"/>
            <a:ext cx="9188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Neues Erfolgskriterium</a:t>
            </a:r>
          </a:p>
        </p:txBody>
      </p:sp>
      <p:sp>
        <p:nvSpPr>
          <p:cNvPr id="8" name="Rectangle 7"/>
          <p:cNvSpPr/>
          <p:nvPr/>
        </p:nvSpPr>
        <p:spPr>
          <a:xfrm>
            <a:off x="1153160" y="23368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9" name="Rectangle 8"/>
          <p:cNvSpPr/>
          <p:nvPr/>
        </p:nvSpPr>
        <p:spPr>
          <a:xfrm>
            <a:off x="3439160" y="23368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 in mindestens 80 % der Fälle — insgesamt UND je Radtyp</a:t>
            </a:r>
          </a:p>
        </p:txBody>
      </p:sp>
      <p:sp>
        <p:nvSpPr>
          <p:cNvPr id="10" name="Rectangle 9"/>
          <p:cNvSpPr/>
          <p:nvPr/>
        </p:nvSpPr>
        <p:spPr>
          <a:xfrm>
            <a:off x="1153160" y="3022600"/>
            <a:ext cx="2286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1" name="Rectangle 10"/>
          <p:cNvSpPr/>
          <p:nvPr/>
        </p:nvSpPr>
        <p:spPr>
          <a:xfrm>
            <a:off x="3439160" y="3022600"/>
            <a:ext cx="9188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höchstens 1,00 € breit. Ist sie breiter, zeigt die App gar nichts an</a:t>
            </a:r>
          </a:p>
        </p:txBody>
      </p:sp>
      <p:sp>
        <p:nvSpPr>
          <p:cNvPr id="12" name="Rectangle 11"/>
          <p:cNvSpPr/>
          <p:nvPr/>
        </p:nvSpPr>
        <p:spPr>
          <a:xfrm>
            <a:off x="1153160" y="37084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gemessen auf</a:t>
            </a:r>
          </a:p>
        </p:txBody>
      </p:sp>
      <p:sp>
        <p:nvSpPr>
          <p:cNvPr id="13" name="Rectangle 12"/>
          <p:cNvSpPr/>
          <p:nvPr/>
        </p:nvSpPr>
        <p:spPr>
          <a:xfrm>
            <a:off x="3439160" y="37084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 dem Zeitraum, den bis hierher nichts berührt hat</a:t>
            </a:r>
          </a:p>
        </p:txBody>
      </p:sp>
      <p:sp>
        <p:nvSpPr>
          <p:cNvPr id="14" name="Rectangle 13"/>
          <p:cNvSpPr/>
          <p:nvPr/>
        </p:nvSpPr>
        <p:spPr>
          <a:xfrm>
            <a:off x="1153160" y="4572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648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zweite Zeile ist die wichtigere. Eine Spanne von 4 bis 12 Euro trifft fast immer — und nützt niemandem. Ohne die Breitenregel wäre das Kriterium wertlos.</a:t>
            </a:r>
          </a:p>
        </p:txBody>
      </p:sp>
      <p:sp>
        <p:nvSpPr>
          <p:cNvPr id="16" name="Rectangle 15"/>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Kandidaten für dieselbe Zusage</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Spanne kann man rechnen lassen oder nachschlagen. Beide Wege werden gebaut und gegen dasselbe Kriterium gehalten.</a:t>
            </a:r>
          </a:p>
        </p:txBody>
      </p:sp>
      <p:sp>
        <p:nvSpPr>
          <p:cNvPr id="6" name="Rectangle 5"/>
          <p:cNvSpPr/>
          <p:nvPr/>
        </p:nvSpPr>
        <p:spPr>
          <a:xfrm>
            <a:off x="1153160" y="1651000"/>
            <a:ext cx="355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709160" y="1651000"/>
            <a:ext cx="406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Quantilregression</a:t>
            </a:r>
          </a:p>
        </p:txBody>
      </p:sp>
      <p:sp>
        <p:nvSpPr>
          <p:cNvPr id="8" name="Rectangle 7"/>
          <p:cNvSpPr/>
          <p:nvPr/>
        </p:nvSpPr>
        <p:spPr>
          <a:xfrm>
            <a:off x="8773160" y="1651000"/>
            <a:ext cx="3854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Perzentiltabelle</a:t>
            </a:r>
          </a:p>
        </p:txBody>
      </p:sp>
      <p:sp>
        <p:nvSpPr>
          <p:cNvPr id="9" name="Rectangle 8"/>
          <p:cNvSpPr/>
          <p:nvPr/>
        </p:nvSpPr>
        <p:spPr>
          <a:xfrm>
            <a:off x="1153160" y="20574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antwortet bei</a:t>
            </a:r>
          </a:p>
        </p:txBody>
      </p:sp>
      <p:sp>
        <p:nvSpPr>
          <p:cNvPr id="10" name="Rectangle 9"/>
          <p:cNvSpPr/>
          <p:nvPr/>
        </p:nvSpPr>
        <p:spPr>
          <a:xfrm>
            <a:off x="4709160" y="20574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45,4 % der Anfragen</a:t>
            </a:r>
          </a:p>
        </p:txBody>
      </p:sp>
      <p:sp>
        <p:nvSpPr>
          <p:cNvPr id="11" name="Rectangle 10"/>
          <p:cNvSpPr/>
          <p:nvPr/>
        </p:nvSpPr>
        <p:spPr>
          <a:xfrm>
            <a:off x="8773160" y="20574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31,0 %</a:t>
            </a:r>
          </a:p>
        </p:txBody>
      </p:sp>
      <p:sp>
        <p:nvSpPr>
          <p:cNvPr id="12" name="Rectangle 11"/>
          <p:cNvSpPr/>
          <p:nvPr/>
        </p:nvSpPr>
        <p:spPr>
          <a:xfrm>
            <a:off x="1153160" y="24638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(angezeigt)</a:t>
            </a:r>
          </a:p>
        </p:txBody>
      </p:sp>
      <p:sp>
        <p:nvSpPr>
          <p:cNvPr id="13" name="Rectangle 12"/>
          <p:cNvSpPr/>
          <p:nvPr/>
        </p:nvSpPr>
        <p:spPr>
          <a:xfrm>
            <a:off x="4709160" y="24638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87,5 %</a:t>
            </a:r>
          </a:p>
        </p:txBody>
      </p:sp>
      <p:sp>
        <p:nvSpPr>
          <p:cNvPr id="14" name="Rectangle 13"/>
          <p:cNvSpPr/>
          <p:nvPr/>
        </p:nvSpPr>
        <p:spPr>
          <a:xfrm>
            <a:off x="8773160" y="24638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83,2 %</a:t>
            </a:r>
          </a:p>
        </p:txBody>
      </p:sp>
      <p:sp>
        <p:nvSpPr>
          <p:cNvPr id="15" name="Rectangle 14"/>
          <p:cNvSpPr/>
          <p:nvPr/>
        </p:nvSpPr>
        <p:spPr>
          <a:xfrm>
            <a:off x="1153160" y="28702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schlechtester Radtyp</a:t>
            </a:r>
          </a:p>
        </p:txBody>
      </p:sp>
      <p:sp>
        <p:nvSpPr>
          <p:cNvPr id="16" name="Rectangle 15"/>
          <p:cNvSpPr/>
          <p:nvPr/>
        </p:nvSpPr>
        <p:spPr>
          <a:xfrm>
            <a:off x="4709160" y="28702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7" name="Rectangle 16"/>
          <p:cNvSpPr/>
          <p:nvPr/>
        </p:nvSpPr>
        <p:spPr>
          <a:xfrm>
            <a:off x="8773160" y="28702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74,6 % — EBIKE</a:t>
            </a:r>
          </a:p>
        </p:txBody>
      </p:sp>
      <p:sp>
        <p:nvSpPr>
          <p:cNvPr id="18" name="Rectangle 17"/>
          <p:cNvSpPr/>
          <p:nvPr/>
        </p:nvSpPr>
        <p:spPr>
          <a:xfrm>
            <a:off x="1153160" y="32766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verworfen, weil zu breit</a:t>
            </a:r>
          </a:p>
        </p:txBody>
      </p:sp>
      <p:sp>
        <p:nvSpPr>
          <p:cNvPr id="19" name="Rectangle 18"/>
          <p:cNvSpPr/>
          <p:nvPr/>
        </p:nvSpPr>
        <p:spPr>
          <a:xfrm>
            <a:off x="4709160" y="32766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54,6 %</a:t>
            </a:r>
          </a:p>
        </p:txBody>
      </p:sp>
      <p:sp>
        <p:nvSpPr>
          <p:cNvPr id="20" name="Rectangle 19"/>
          <p:cNvSpPr/>
          <p:nvPr/>
        </p:nvSpPr>
        <p:spPr>
          <a:xfrm>
            <a:off x="8773160" y="32766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 (per Konstruktion)</a:t>
            </a:r>
          </a:p>
        </p:txBody>
      </p:sp>
      <p:sp>
        <p:nvSpPr>
          <p:cNvPr id="21" name="Rectangle 20"/>
          <p:cNvSpPr/>
          <p:nvPr/>
        </p:nvSpPr>
        <p:spPr>
          <a:xfrm>
            <a:off x="1153160" y="36830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Kriterium insgesamt</a:t>
            </a:r>
          </a:p>
        </p:txBody>
      </p:sp>
      <p:sp>
        <p:nvSpPr>
          <p:cNvPr id="22" name="Rectangle 21"/>
          <p:cNvSpPr/>
          <p:nvPr/>
        </p:nvSpPr>
        <p:spPr>
          <a:xfrm>
            <a:off x="4709160" y="36830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23" name="Rectangle 22"/>
          <p:cNvSpPr/>
          <p:nvPr/>
        </p:nvSpPr>
        <p:spPr>
          <a:xfrm>
            <a:off x="8773160" y="36830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verfehlt</a:t>
            </a:r>
          </a:p>
        </p:txBody>
      </p:sp>
      <p:sp>
        <p:nvSpPr>
          <p:cNvPr id="24" name="Rectangle 2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Gemessen am eigenen Kriterium ist die Quantilregression der bessere Kandidat. Das gehört so gesagt — auch wenn die Entscheidung gleich anders ausfällt.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6" name="Rectangle 3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Kandidatenvergleich, wie er im Notebook steht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5.6</a:t>
            </a:r>
          </a:p>
        </p:txBody>
      </p:sp>
      <p:sp>
        <p:nvSpPr>
          <p:cNvPr id="5" name="Rectangle 4"/>
          <p:cNvSpPr/>
          <p:nvPr/>
        </p:nvSpPr>
        <p:spPr>
          <a:xfrm>
            <a:off x="1051560" y="2373199"/>
            <a:ext cx="11677650" cy="17814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kandidaten.png"/>
          <p:cNvPicPr>
            <a:picLocks noChangeAspect="1"/>
          </p:cNvPicPr>
          <p:nvPr/>
        </p:nvPicPr>
        <p:blipFill>
          <a:blip r:embed="rId2"/>
          <a:stretch>
            <a:fillRect/>
          </a:stretch>
        </p:blipFill>
        <p:spPr>
          <a:xfrm>
            <a:off x="1153160" y="2474799"/>
            <a:ext cx="11474450" cy="15782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Hätte man nur die Dauerabdeckung gemessen, sähen beide gut aus. Erst die vollständige Prüfung — Preis, je Radtyp, Breite — trennt sie.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trotzdem die Tabelle ausgeliefert wird</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wegen der Güte — die spricht für das Modell. Sondern weil die App eine statische Seite ohne Python ist.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Quantilregression</a:t>
            </a:r>
          </a:p>
        </p:txBody>
      </p:sp>
      <p:sp>
        <p:nvSpPr>
          <p:cNvPr id="9" name="TextBox 8"/>
          <p:cNvSpPr txBox="1"/>
          <p:nvPr/>
        </p:nvSpPr>
        <p:spPr>
          <a:xfrm>
            <a:off x="1330960" y="21590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Was für sie spricht</a:t>
            </a:r>
          </a:p>
          <a:p>
            <a:pPr algn="l">
              <a:lnSpc>
                <a:spcPct val="95000"/>
              </a:lnSpc>
              <a:spcBef>
                <a:spcPts val="300"/>
              </a:spcBef>
            </a:pPr>
            <a:r>
              <a:rPr sz="1300" b="0">
                <a:solidFill>
                  <a:srgbClr val="404040"/>
                </a:solidFill>
              </a:rPr>
              <a:t>trifft häufiger und antwortet öfter</a:t>
            </a:r>
          </a:p>
          <a:p>
            <a:pPr algn="l">
              <a:lnSpc>
                <a:spcPct val="95000"/>
              </a:lnSpc>
              <a:spcBef>
                <a:spcPts val="300"/>
              </a:spcBef>
            </a:pPr>
            <a:r>
              <a:rPr sz="1300" b="0">
                <a:solidFill>
                  <a:srgbClr val="404040"/>
                </a:solidFill>
              </a:rPr>
              <a:t>kann eine neue Verbindung</a:t>
            </a:r>
          </a:p>
          <a:p>
            <a:pPr algn="l">
              <a:lnSpc>
                <a:spcPct val="95000"/>
              </a:lnSpc>
              <a:spcBef>
                <a:spcPts val="300"/>
              </a:spcBef>
            </a:pPr>
            <a:r>
              <a:rPr sz="1300" b="0">
                <a:solidFill>
                  <a:srgbClr val="404040"/>
                </a:solidFill>
              </a:rPr>
              <a:t>  einschätzen</a:t>
            </a:r>
          </a:p>
          <a:p>
            <a:pPr algn="l">
              <a:lnSpc>
                <a:spcPct val="95000"/>
              </a:lnSpc>
              <a:spcBef>
                <a:spcPts val="300"/>
              </a:spcBef>
            </a:pPr>
            <a:r>
              <a:rPr sz="1300" b="0">
                <a:solidFill>
                  <a:srgbClr val="404040"/>
                </a:solidFill>
              </a:rPr>
              <a:t>berücksichtigt Wochentag</a:t>
            </a:r>
          </a:p>
          <a:p>
            <a:pPr algn="l">
              <a:lnSpc>
                <a:spcPct val="95000"/>
              </a:lnSpc>
              <a:spcBef>
                <a:spcPts val="300"/>
              </a:spcBef>
            </a:pPr>
            <a:r>
              <a:rPr sz="1300" b="0">
                <a:solidFill>
                  <a:srgbClr val="404040"/>
                </a:solidFill>
              </a:rPr>
              <a:t>  und Saison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Braucht aber Python im Betrieb.</a:t>
            </a:r>
          </a:p>
        </p:txBody>
      </p:sp>
      <p:sp>
        <p:nvSpPr>
          <p:cNvPr id="10" name="Rectangle 9"/>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Perzentiltabelle</a:t>
            </a:r>
          </a:p>
        </p:txBody>
      </p:sp>
      <p:sp>
        <p:nvSpPr>
          <p:cNvPr id="13" name="TextBox 12"/>
          <p:cNvSpPr txBox="1"/>
          <p:nvPr/>
        </p:nvSpPr>
        <p:spPr>
          <a:xfrm>
            <a:off x="7274559" y="21590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Was für sie spricht</a:t>
            </a:r>
          </a:p>
          <a:p>
            <a:pPr algn="l">
              <a:lnSpc>
                <a:spcPct val="95000"/>
              </a:lnSpc>
              <a:spcBef>
                <a:spcPts val="300"/>
              </a:spcBef>
            </a:pPr>
            <a:r>
              <a:rPr sz="1300" b="0">
                <a:solidFill>
                  <a:srgbClr val="404040"/>
                </a:solidFill>
              </a:rPr>
              <a:t>läuft ohne Python — 136 Zeilen</a:t>
            </a:r>
          </a:p>
          <a:p>
            <a:pPr algn="l">
              <a:lnSpc>
                <a:spcPct val="95000"/>
              </a:lnSpc>
              <a:spcBef>
                <a:spcPts val="300"/>
              </a:spcBef>
            </a:pPr>
            <a:r>
              <a:rPr sz="1300" b="0">
                <a:solidFill>
                  <a:srgbClr val="404040"/>
                </a:solidFill>
              </a:rPr>
              <a:t>  in der Datenbank</a:t>
            </a:r>
          </a:p>
          <a:p>
            <a:pPr algn="l">
              <a:lnSpc>
                <a:spcPct val="95000"/>
              </a:lnSpc>
              <a:spcBef>
                <a:spcPts val="300"/>
              </a:spcBef>
            </a:pPr>
            <a:r>
              <a:rPr sz="1300" b="0">
                <a:solidFill>
                  <a:srgbClr val="404040"/>
                </a:solidFill>
              </a:rPr>
              <a:t>ist von Hand nachprüfbar</a:t>
            </a:r>
          </a:p>
          <a:p>
            <a:pPr algn="l">
              <a:lnSpc>
                <a:spcPct val="95000"/>
              </a:lnSpc>
              <a:spcBef>
                <a:spcPts val="300"/>
              </a:spcBef>
            </a:pPr>
            <a:r>
              <a:rPr sz="1300" b="0">
                <a:solidFill>
                  <a:srgbClr val="404040"/>
                </a:solidFill>
              </a:rPr>
              <a:t>wer Ortskenntnis hat, kann</a:t>
            </a:r>
          </a:p>
          <a:p>
            <a:pPr algn="l">
              <a:lnSpc>
                <a:spcPct val="95000"/>
              </a:lnSpc>
              <a:spcBef>
                <a:spcPts val="300"/>
              </a:spcBef>
            </a:pPr>
            <a:r>
              <a:rPr sz="1300" b="0">
                <a:solidFill>
                  <a:srgbClr val="404040"/>
                </a:solidFill>
              </a:rPr>
              <a:t>  widersprechen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Antwortet dafür seltener.</a:t>
            </a:r>
          </a:p>
        </p:txBody>
      </p:sp>
      <p:sp>
        <p:nvSpPr>
          <p:cNvPr id="14" name="Rectangle 13"/>
          <p:cNvSpPr/>
          <p:nvPr/>
        </p:nvSpPr>
        <p:spPr>
          <a:xfrm>
            <a:off x="1153160" y="4318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94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Wir liefern den schwächeren Kandidaten aus, weil der stärkere nicht dorthin passt, wo er laufen müsste. Der dritte Weg — die Modellvorhersagen vorab tabellieren — steht als offene Entscheidung im Notebook.</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Datensatz zum Artefakt — durch Streichen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6.1 bis 6.3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Filter stehen zwischen 60.425 Rohzeilen und 136 Tabellenzeilen. Jeder von ihnen erzeugt Schweigen, wo keine Auskunft trägt.</a:t>
            </a:r>
          </a:p>
        </p:txBody>
      </p:sp>
      <p:sp>
        <p:nvSpPr>
          <p:cNvPr id="6" name="Rectangle 5"/>
          <p:cNvSpPr/>
          <p:nvPr/>
        </p:nvSpPr>
        <p:spPr>
          <a:xfrm>
            <a:off x="1051560" y="2745628"/>
            <a:ext cx="11677650" cy="2408143"/>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artefakt.png"/>
          <p:cNvPicPr>
            <a:picLocks noChangeAspect="1"/>
          </p:cNvPicPr>
          <p:nvPr/>
        </p:nvPicPr>
        <p:blipFill>
          <a:blip r:embed="rId2"/>
          <a:stretch>
            <a:fillRect/>
          </a:stretch>
        </p:blipFill>
        <p:spPr>
          <a:xfrm>
            <a:off x="1153160" y="2847228"/>
            <a:ext cx="11474450" cy="2204943"/>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Freigabe steckt in der Tabelle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in einer Aktennotiz und nicht in einer Bedingung im Anwendungscode: Was nicht trägt, hat keine Zeile.</a:t>
            </a:r>
          </a:p>
        </p:txBody>
      </p:sp>
      <p:sp>
        <p:nvSpPr>
          <p:cNvPr id="6" name="TextBox 5"/>
          <p:cNvSpPr txBox="1"/>
          <p:nvPr/>
        </p:nvSpPr>
        <p:spPr>
          <a:xfrm>
            <a:off x="5521960" y="16510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80 %</a:t>
            </a:r>
          </a:p>
        </p:txBody>
      </p:sp>
      <p:sp>
        <p:nvSpPr>
          <p:cNvPr id="7" name="Rectangle 6"/>
          <p:cNvSpPr/>
          <p:nvPr/>
        </p:nvSpPr>
        <p:spPr>
          <a:xfrm>
            <a:off x="1153160" y="19812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19812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0447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CITY — 84,0 % auf Test 2</a:t>
            </a:r>
          </a:p>
        </p:txBody>
      </p:sp>
      <p:sp>
        <p:nvSpPr>
          <p:cNvPr id="10" name="Rounded Rectangle 9"/>
          <p:cNvSpPr/>
          <p:nvPr/>
        </p:nvSpPr>
        <p:spPr>
          <a:xfrm>
            <a:off x="5521960" y="2108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93559" y="20447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1.408 Prüffahrten. Freigegeben</a:t>
            </a:r>
          </a:p>
        </p:txBody>
      </p:sp>
      <p:sp>
        <p:nvSpPr>
          <p:cNvPr id="12" name="Rectangle 11"/>
          <p:cNvSpPr/>
          <p:nvPr/>
        </p:nvSpPr>
        <p:spPr>
          <a:xfrm>
            <a:off x="1153160" y="2692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692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7559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EBIKE — 74,6 % auf Test 2</a:t>
            </a:r>
          </a:p>
        </p:txBody>
      </p:sp>
      <p:sp>
        <p:nvSpPr>
          <p:cNvPr id="15" name="Rounded Rectangle 14"/>
          <p:cNvSpPr/>
          <p:nvPr/>
        </p:nvSpPr>
        <p:spPr>
          <a:xfrm>
            <a:off x="5521960" y="28194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93559" y="27559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nur 134 Prüffahrten. Keine Zeile in der Tabelle</a:t>
            </a:r>
          </a:p>
        </p:txBody>
      </p:sp>
      <p:sp>
        <p:nvSpPr>
          <p:cNvPr id="17" name="Rectangle 16"/>
          <p:cNvSpPr/>
          <p:nvPr/>
        </p:nvSpPr>
        <p:spPr>
          <a:xfrm>
            <a:off x="1153160" y="3403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403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4671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CARGO — keine Kombination erreicht 30 Fahrten</a:t>
            </a:r>
          </a:p>
        </p:txBody>
      </p:sp>
      <p:sp>
        <p:nvSpPr>
          <p:cNvPr id="20" name="Rounded Rectangle 19"/>
          <p:cNvSpPr/>
          <p:nvPr/>
        </p:nvSpPr>
        <p:spPr>
          <a:xfrm>
            <a:off x="5521960" y="3530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93559" y="34671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scheitert schon an der Datengrundlage</a:t>
            </a:r>
          </a:p>
        </p:txBody>
      </p:sp>
      <p:sp>
        <p:nvSpPr>
          <p:cNvPr id="22" name="Rectangle 21"/>
          <p:cNvSpPr/>
          <p:nvPr/>
        </p:nvSpPr>
        <p:spPr>
          <a:xfrm>
            <a:off x="1153160" y="4191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318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Und eine Ebene tiefer, je Kombination</a:t>
            </a:r>
          </a:p>
          <a:p>
            <a:pPr algn="l">
              <a:lnSpc>
                <a:spcPct val="95000"/>
              </a:lnSpc>
              <a:spcBef>
                <a:spcPts val="500"/>
              </a:spcBef>
            </a:pPr>
            <a:r>
              <a:rPr sz="1300" b="0">
                <a:solidFill>
                  <a:srgbClr val="404040"/>
                </a:solidFill>
              </a:rPr>
              <a:t>14 Kombinationen haben mindestens 20 Prüffahrten — 11 davon halten die 80 %, 3 nicht. Diese drei werden ausgeschlossen.</a:t>
            </a:r>
          </a:p>
          <a:p>
            <a:pPr algn="l">
              <a:lnSpc>
                <a:spcPct val="95000"/>
              </a:lnSpc>
              <a:spcBef>
                <a:spcPts val="500"/>
              </a:spcBef>
            </a:pPr>
            <a:r>
              <a:rPr sz="1300" b="0">
                <a:solidFill>
                  <a:srgbClr val="404040"/>
                </a:solidFill>
              </a:rPr>
              <a:t>140 Kombinationen haben weniger (im Median 7). Für sie lässt sich einzeln nichts Belastbares sagen — sie bleiben drin, aber die Zusage gilt nur insgesamt und je Radtyp.</a:t>
            </a:r>
          </a:p>
        </p:txBody>
      </p:sp>
      <p:sp>
        <p:nvSpPr>
          <p:cNvPr id="25" name="Rectangle 2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7" name="Rectangle 2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9" name="Rectangle 2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1" name="Rectangle 3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3" name="Rectangle 3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5" name="Rectangle 3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ausgelieferte Artefakt, Zeile für Zeile</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6.3</a:t>
            </a:r>
          </a:p>
        </p:txBody>
      </p:sp>
      <p:sp>
        <p:nvSpPr>
          <p:cNvPr id="5" name="Rectangle 4"/>
          <p:cNvSpPr/>
          <p:nvPr/>
        </p:nvSpPr>
        <p:spPr>
          <a:xfrm>
            <a:off x="1229476" y="1168400"/>
            <a:ext cx="11321816"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belle.png"/>
          <p:cNvPicPr>
            <a:picLocks noChangeAspect="1"/>
          </p:cNvPicPr>
          <p:nvPr/>
        </p:nvPicPr>
        <p:blipFill>
          <a:blip r:embed="rId2"/>
          <a:stretch>
            <a:fillRect/>
          </a:stretch>
        </p:blipFill>
        <p:spPr>
          <a:xfrm>
            <a:off x="1331076" y="1270000"/>
            <a:ext cx="11118616"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136 Zeilen, 60 Verbindungen, nur CITY. Zwei Stationen, ein Radtyp, ein Zeitfenster — und zwei Zahlen in Minuten und in Euro.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ehrliche Produktreichweite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App am Ende wirklich beantworten kann. Diese Zahl steht im Notebook, weil sie sonst niemand ausrechnet.</a:t>
            </a:r>
          </a:p>
        </p:txBody>
      </p:sp>
      <p:sp>
        <p:nvSpPr>
          <p:cNvPr id="6" name="Rectangle 5"/>
          <p:cNvSpPr/>
          <p:nvPr/>
        </p:nvSpPr>
        <p:spPr>
          <a:xfrm>
            <a:off x="1153160" y="17780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5.882 Fahrten im Prüfzeitraum — abgeschlossen und mit Ziel</a:t>
            </a:r>
          </a:p>
        </p:txBody>
      </p:sp>
      <p:sp>
        <p:nvSpPr>
          <p:cNvPr id="7" name="Isosceles Triangle 6"/>
          <p:cNvSpPr/>
          <p:nvPr/>
        </p:nvSpPr>
        <p:spPr>
          <a:xfrm rot="10800000">
            <a:off x="6801484" y="24511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4.969 davon echte Wege, keine Rundtouren  ·  84 %</a:t>
            </a:r>
          </a:p>
        </p:txBody>
      </p:sp>
      <p:sp>
        <p:nvSpPr>
          <p:cNvPr id="9" name="Isosceles Triangle 8"/>
          <p:cNvSpPr/>
          <p:nvPr/>
        </p:nvSpPr>
        <p:spPr>
          <a:xfrm rot="10800000">
            <a:off x="6801484" y="32893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4544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1.326 davon mit einer freigegebenen Spanne  ·  23 % aller Fahrten</a:t>
            </a:r>
          </a:p>
        </p:txBody>
      </p:sp>
      <p:sp>
        <p:nvSpPr>
          <p:cNvPr id="11" name="Rectangle 10"/>
          <p:cNvSpPr/>
          <p:nvPr/>
        </p:nvSpPr>
        <p:spPr>
          <a:xfrm>
            <a:off x="1153160" y="4292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4368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App kann für gut jede fünfte Fahrt einen Preis nennen. Für den Rest sagt sie, dass sie es nicht kann — und das ist besser als eine Zahl, die nicht trägt.</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Funktion, die die App aufruft — und wann sie schweigt</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Vier Eingaben, eine Antwort. In drei von vier Fällen lautet die Antwort: keine Anzeige.</a:t>
            </a:r>
          </a:p>
        </p:txBody>
      </p:sp>
      <p:sp>
        <p:nvSpPr>
          <p:cNvPr id="6" name="Rectangle 5"/>
          <p:cNvSpPr/>
          <p:nvPr/>
        </p:nvSpPr>
        <p:spPr>
          <a:xfrm>
            <a:off x="1153160"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133600"/>
          </a:xfrm>
          <a:prstGeom prst="rect">
            <a:avLst/>
          </a:prstGeom>
          <a:noFill/>
        </p:spPr>
        <p:txBody>
          <a:bodyPr wrap="square" lIns="0" tIns="0" rIns="0" bIns="0">
            <a:spAutoFit/>
          </a:bodyPr>
          <a:lstStyle/>
          <a:p>
            <a:pPr algn="l">
              <a:lnSpc>
                <a:spcPct val="95000"/>
              </a:lnSpc>
            </a:pPr>
            <a:r>
              <a:rPr sz="1400" b="1">
                <a:solidFill>
                  <a:srgbClr val="003E6E"/>
                </a:solidFill>
              </a:rPr>
              <a:t>Der Aufruf</a:t>
            </a:r>
          </a:p>
          <a:p>
            <a:pPr algn="l">
              <a:lnSpc>
                <a:spcPct val="95000"/>
              </a:lnSpc>
              <a:spcBef>
                <a:spcPts val="200"/>
              </a:spcBef>
            </a:pPr>
            <a:r>
              <a:rPr sz="1300" b="0">
                <a:solidFill>
                  <a:srgbClr val="404040"/>
                </a:solidFill>
                <a:latin typeface="Consolas"/>
              </a:rPr>
              <a:t>preis_schaetzen(</a:t>
            </a:r>
          </a:p>
          <a:p>
            <a:pPr algn="l">
              <a:lnSpc>
                <a:spcPct val="95000"/>
              </a:lnSpc>
              <a:spcBef>
                <a:spcPts val="200"/>
              </a:spcBef>
            </a:pPr>
            <a:r>
              <a:rPr sz="1300" b="0">
                <a:solidFill>
                  <a:srgbClr val="404040"/>
                </a:solidFill>
                <a:latin typeface="Consolas"/>
              </a:rPr>
              <a:t>  start_id=9,</a:t>
            </a:r>
          </a:p>
          <a:p>
            <a:pPr algn="l">
              <a:lnSpc>
                <a:spcPct val="95000"/>
              </a:lnSpc>
              <a:spcBef>
                <a:spcPts val="200"/>
              </a:spcBef>
            </a:pPr>
            <a:r>
              <a:rPr sz="1300" b="0">
                <a:solidFill>
                  <a:srgbClr val="404040"/>
                </a:solidFill>
                <a:latin typeface="Consolas"/>
              </a:rPr>
              <a:t>  ziel_id=6,</a:t>
            </a:r>
          </a:p>
          <a:p>
            <a:pPr algn="l">
              <a:lnSpc>
                <a:spcPct val="95000"/>
              </a:lnSpc>
              <a:spcBef>
                <a:spcPts val="200"/>
              </a:spcBef>
            </a:pPr>
            <a:r>
              <a:rPr sz="1300" b="0">
                <a:solidFill>
                  <a:srgbClr val="404040"/>
                </a:solidFill>
                <a:latin typeface="Consolas"/>
              </a:rPr>
              <a:t>  typ_code='CITY',</a:t>
            </a:r>
          </a:p>
          <a:p>
            <a:pPr algn="l">
              <a:lnSpc>
                <a:spcPct val="95000"/>
              </a:lnSpc>
              <a:spcBef>
                <a:spcPts val="200"/>
              </a:spcBef>
            </a:pPr>
            <a:r>
              <a:rPr sz="1300" b="0">
                <a:solidFill>
                  <a:srgbClr val="404040"/>
                </a:solidFill>
                <a:latin typeface="Consolas"/>
              </a:rPr>
              <a:t>  stunde=17,</a:t>
            </a:r>
          </a:p>
          <a:p>
            <a:pPr algn="l">
              <a:lnSpc>
                <a:spcPct val="95000"/>
              </a:lnSpc>
              <a:spcBef>
                <a:spcPts val="200"/>
              </a:spcBef>
            </a:pPr>
            <a:r>
              <a:rPr sz="1300" b="0">
                <a:solidFill>
                  <a:srgbClr val="404040"/>
                </a:solidFill>
                <a:latin typeface="Consolas"/>
              </a:rPr>
              <a:t>)</a:t>
            </a:r>
          </a:p>
        </p:txBody>
      </p:sp>
      <p:sp>
        <p:nvSpPr>
          <p:cNvPr id="9" name="Rectangle 8"/>
          <p:cNvSpPr/>
          <p:nvPr/>
        </p:nvSpPr>
        <p:spPr>
          <a:xfrm>
            <a:off x="7096759"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3622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133600"/>
          </a:xfrm>
          <a:prstGeom prst="rect">
            <a:avLst/>
          </a:prstGeom>
          <a:noFill/>
        </p:spPr>
        <p:txBody>
          <a:bodyPr wrap="square" lIns="0" tIns="0" rIns="0" bIns="0">
            <a:spAutoFit/>
          </a:bodyPr>
          <a:lstStyle/>
          <a:p>
            <a:pPr algn="l">
              <a:lnSpc>
                <a:spcPct val="95000"/>
              </a:lnSpc>
            </a:pPr>
            <a:r>
              <a:rPr sz="1400" b="1">
                <a:solidFill>
                  <a:srgbClr val="55801C"/>
                </a:solidFill>
              </a:rPr>
              <a:t>Die vier möglichen Antworten</a:t>
            </a:r>
          </a:p>
          <a:p>
            <a:pPr algn="l">
              <a:lnSpc>
                <a:spcPct val="95000"/>
              </a:lnSpc>
              <a:spcBef>
                <a:spcPts val="200"/>
              </a:spcBef>
            </a:pPr>
            <a:r>
              <a:rPr sz="1300" b="0">
                <a:solidFill>
                  <a:srgbClr val="404040"/>
                </a:solidFill>
                <a:latin typeface="Consolas"/>
              </a:rPr>
              <a:t>0,60 bis 1,30 € · 5 bis 12 Min</a:t>
            </a:r>
          </a:p>
          <a:p>
            <a:pPr algn="l">
              <a:lnSpc>
                <a:spcPct val="95000"/>
              </a:lnSpc>
              <a:spcBef>
                <a:spcPts val="200"/>
              </a:spcBef>
            </a:pPr>
            <a:r>
              <a:rPr sz="1300" b="0">
                <a:solidFill>
                  <a:srgbClr val="404040"/>
                </a:solidFill>
                <a:latin typeface="Consolas"/>
              </a:rPr>
              <a:t>  Grundlage: 78 Fahrten</a:t>
            </a:r>
          </a:p>
          <a:p>
            <a:pPr algn="l">
              <a:lnSpc>
                <a:spcPct val="95000"/>
              </a:lnSpc>
              <a:spcBef>
                <a:spcPts val="200"/>
              </a:spcBef>
            </a:pPr>
            <a:r>
              <a:rPr sz="1300" b="0">
                <a:solidFill>
                  <a:srgbClr val="404040"/>
                </a:solidFill>
                <a:latin typeface="Consolas"/>
              </a:rPr>
              <a:t>— Für Rundfahrten schätzen wir</a:t>
            </a:r>
          </a:p>
          <a:p>
            <a:pPr algn="l">
              <a:lnSpc>
                <a:spcPct val="95000"/>
              </a:lnSpc>
              <a:spcBef>
                <a:spcPts val="200"/>
              </a:spcBef>
            </a:pPr>
            <a:r>
              <a:rPr sz="1300" b="0">
                <a:solidFill>
                  <a:srgbClr val="404040"/>
                </a:solidFill>
                <a:latin typeface="Consolas"/>
              </a:rPr>
              <a:t>  keinen Preis.</a:t>
            </a:r>
          </a:p>
          <a:p>
            <a:pPr algn="l">
              <a:lnSpc>
                <a:spcPct val="95000"/>
              </a:lnSpc>
              <a:spcBef>
                <a:spcPts val="200"/>
              </a:spcBef>
            </a:pPr>
            <a:r>
              <a:rPr sz="1300" b="0">
                <a:solidFill>
                  <a:srgbClr val="404040"/>
                </a:solidFill>
                <a:latin typeface="Consolas"/>
              </a:rPr>
              <a:t>— Für diese Verbindung liegt</a:t>
            </a:r>
          </a:p>
          <a:p>
            <a:pPr algn="l">
              <a:lnSpc>
                <a:spcPct val="95000"/>
              </a:lnSpc>
              <a:spcBef>
                <a:spcPts val="200"/>
              </a:spcBef>
            </a:pPr>
            <a:r>
              <a:rPr sz="1300" b="0">
                <a:solidFill>
                  <a:srgbClr val="404040"/>
                </a:solidFill>
                <a:latin typeface="Consolas"/>
              </a:rPr>
              <a:t>  keine belastbare Schätzung vor.</a:t>
            </a:r>
          </a:p>
        </p:txBody>
      </p:sp>
      <p:sp>
        <p:nvSpPr>
          <p:cNvPr id="12" name="Rectangle 11"/>
          <p:cNvSpPr/>
          <p:nvPr/>
        </p:nvSpPr>
        <p:spPr>
          <a:xfrm>
            <a:off x="1153160" y="4140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4216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Begründung wird mitgeliefert, nicht nur das Schweigen. Eine App, die ohne Erklärung nichts anzeigt, wirkt kaputt — eine, die den Grund nennt, wirkt sorgfältig.</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Anfragen, drei Absagen</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6.4</a:t>
            </a:r>
          </a:p>
        </p:txBody>
      </p:sp>
      <p:sp>
        <p:nvSpPr>
          <p:cNvPr id="5" name="Rectangle 4"/>
          <p:cNvSpPr/>
          <p:nvPr/>
        </p:nvSpPr>
        <p:spPr>
          <a:xfrm>
            <a:off x="1051560" y="1801878"/>
            <a:ext cx="11677650" cy="2924042"/>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pp.png"/>
          <p:cNvPicPr>
            <a:picLocks noChangeAspect="1"/>
          </p:cNvPicPr>
          <p:nvPr/>
        </p:nvPicPr>
        <p:blipFill>
          <a:blip r:embed="rId2"/>
          <a:stretch>
            <a:fillRect/>
          </a:stretch>
        </p:blipFill>
        <p:spPr>
          <a:xfrm>
            <a:off x="1153160" y="1903478"/>
            <a:ext cx="11474450" cy="2720842"/>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So sieht die Schnittstelle zur Webanwendung aus: eine Zeile mit Preis, Minuten und Fallzahl — oder eine Absage mit Grund.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Überwachung: drei Fälle, die einander ausschließen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Eine Schwelle allein genügt nicht. Bei 78 Prozent gemessener Abdeckung muss klar sein, welche Regel gilt — sonst greifen zwei gleichzeitig.</a:t>
            </a:r>
          </a:p>
        </p:txBody>
      </p:sp>
      <p:sp>
        <p:nvSpPr>
          <p:cNvPr id="6" name="Rectangle 5"/>
          <p:cNvSpPr/>
          <p:nvPr/>
        </p:nvSpPr>
        <p:spPr>
          <a:xfrm>
            <a:off x="1153160" y="1879600"/>
            <a:ext cx="292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Auslöser</a:t>
            </a:r>
          </a:p>
        </p:txBody>
      </p:sp>
      <p:sp>
        <p:nvSpPr>
          <p:cNvPr id="7" name="Rectangle 6"/>
          <p:cNvSpPr/>
          <p:nvPr/>
        </p:nvSpPr>
        <p:spPr>
          <a:xfrm>
            <a:off x="4074160" y="1879600"/>
            <a:ext cx="3302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8" name="Rectangle 7"/>
          <p:cNvSpPr/>
          <p:nvPr/>
        </p:nvSpPr>
        <p:spPr>
          <a:xfrm>
            <a:off x="7376159" y="1879600"/>
            <a:ext cx="5251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Handlung</a:t>
            </a:r>
          </a:p>
        </p:txBody>
      </p:sp>
      <p:sp>
        <p:nvSpPr>
          <p:cNvPr id="9" name="Rectangle 8"/>
          <p:cNvSpPr/>
          <p:nvPr/>
        </p:nvSpPr>
        <p:spPr>
          <a:xfrm>
            <a:off x="1153160" y="24384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je Kombination,
gleitend über 8 Wochen</a:t>
            </a:r>
          </a:p>
        </p:txBody>
      </p:sp>
      <p:sp>
        <p:nvSpPr>
          <p:cNvPr id="10" name="Rectangle 9"/>
          <p:cNvSpPr/>
          <p:nvPr/>
        </p:nvSpPr>
        <p:spPr>
          <a:xfrm>
            <a:off x="4074160" y="24384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Vertrauensgrenze ≥ 80 %</a:t>
            </a:r>
          </a:p>
        </p:txBody>
      </p:sp>
      <p:sp>
        <p:nvSpPr>
          <p:cNvPr id="11" name="Rectangle 10"/>
          <p:cNvSpPr/>
          <p:nvPr/>
        </p:nvSpPr>
        <p:spPr>
          <a:xfrm>
            <a:off x="7376159" y="24384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a:t>
            </a:r>
          </a:p>
        </p:txBody>
      </p:sp>
      <p:sp>
        <p:nvSpPr>
          <p:cNvPr id="12" name="Rectangle 11"/>
          <p:cNvSpPr/>
          <p:nvPr/>
        </p:nvSpPr>
        <p:spPr>
          <a:xfrm>
            <a:off x="1153160" y="29972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3" name="Rectangle 12"/>
          <p:cNvSpPr/>
          <p:nvPr/>
        </p:nvSpPr>
        <p:spPr>
          <a:xfrm>
            <a:off x="4074160" y="29972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Intervall überlappt 80 %</a:t>
            </a:r>
          </a:p>
        </p:txBody>
      </p:sp>
      <p:sp>
        <p:nvSpPr>
          <p:cNvPr id="14" name="Rectangle 13"/>
          <p:cNvSpPr/>
          <p:nvPr/>
        </p:nvSpPr>
        <p:spPr>
          <a:xfrm>
            <a:off x="7376159" y="29972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 aber Warnung und Neuberechnung</a:t>
            </a:r>
          </a:p>
        </p:txBody>
      </p:sp>
      <p:sp>
        <p:nvSpPr>
          <p:cNvPr id="15" name="Rectangle 14"/>
          <p:cNvSpPr/>
          <p:nvPr/>
        </p:nvSpPr>
        <p:spPr>
          <a:xfrm>
            <a:off x="1153160" y="35560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6" name="Rectangle 15"/>
          <p:cNvSpPr/>
          <p:nvPr/>
        </p:nvSpPr>
        <p:spPr>
          <a:xfrm>
            <a:off x="4074160" y="35560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obere Vertrauensgrenze &lt; 80 %</a:t>
            </a:r>
          </a:p>
        </p:txBody>
      </p:sp>
      <p:sp>
        <p:nvSpPr>
          <p:cNvPr id="17" name="Rectangle 16"/>
          <p:cNvSpPr/>
          <p:nvPr/>
        </p:nvSpPr>
        <p:spPr>
          <a:xfrm>
            <a:off x="7376159" y="35560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Kombination abschalten</a:t>
            </a:r>
          </a:p>
        </p:txBody>
      </p:sp>
      <p:sp>
        <p:nvSpPr>
          <p:cNvPr id="18" name="Rectangle 17"/>
          <p:cNvSpPr/>
          <p:nvPr/>
        </p:nvSpPr>
        <p:spPr>
          <a:xfrm>
            <a:off x="1153160" y="41148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Fallzahl je Kombination</a:t>
            </a:r>
          </a:p>
        </p:txBody>
      </p:sp>
      <p:sp>
        <p:nvSpPr>
          <p:cNvPr id="19" name="Rectangle 18"/>
          <p:cNvSpPr/>
          <p:nvPr/>
        </p:nvSpPr>
        <p:spPr>
          <a:xfrm>
            <a:off x="4074160" y="41148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20 im Fenster</a:t>
            </a:r>
          </a:p>
        </p:txBody>
      </p:sp>
      <p:sp>
        <p:nvSpPr>
          <p:cNvPr id="20" name="Rectangle 19"/>
          <p:cNvSpPr/>
          <p:nvPr/>
        </p:nvSpPr>
        <p:spPr>
          <a:xfrm>
            <a:off x="7376159" y="41148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Aussage möglich, Vorwoche weiterverwenden</a:t>
            </a:r>
          </a:p>
        </p:txBody>
      </p:sp>
      <p:sp>
        <p:nvSpPr>
          <p:cNvPr id="21" name="Rectangle 20"/>
          <p:cNvSpPr/>
          <p:nvPr/>
        </p:nvSpPr>
        <p:spPr>
          <a:xfrm>
            <a:off x="1153160" y="46736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 ändert sich</a:t>
            </a:r>
          </a:p>
        </p:txBody>
      </p:sp>
      <p:sp>
        <p:nvSpPr>
          <p:cNvPr id="22" name="Rectangle 21"/>
          <p:cNvSpPr/>
          <p:nvPr/>
        </p:nvSpPr>
        <p:spPr>
          <a:xfrm>
            <a:off x="4074160" y="46736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Minutenpreis neu</a:t>
            </a:r>
          </a:p>
        </p:txBody>
      </p:sp>
      <p:sp>
        <p:nvSpPr>
          <p:cNvPr id="23" name="Rectangle 22"/>
          <p:cNvSpPr/>
          <p:nvPr/>
        </p:nvSpPr>
        <p:spPr>
          <a:xfrm>
            <a:off x="7376159" y="46736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gesamte Tabelle neu rechnen — sie enthält Euro</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ein echter Schattenbetrieb wäre — und warum wir ihn nicht haben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dieses Notebook Test 2 nennt, ist ein rückblickender Test auf vergangenen Daten. Ein Schattenbetrieb ist etwas anderes.</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1 bis 3  </a:t>
            </a:r>
            <a:r>
              <a:rPr sz="1300">
                <a:solidFill>
                  <a:srgbClr val="404040"/>
                </a:solidFill>
              </a:rPr>
              <a:t>Tabelle einfrieren · in der App das GEPLANTE Ziel speichern · Schätzung berechnen, aber nicht anzeigen</a:t>
            </a:r>
          </a:p>
        </p:txBody>
      </p:sp>
      <p:sp>
        <p:nvSpPr>
          <p:cNvPr id="10" name="Rectangle 9"/>
          <p:cNvSpPr/>
          <p:nvPr/>
        </p:nvSpPr>
        <p:spPr>
          <a:xfrm>
            <a:off x="1153160" y="2794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94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22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702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4 und 5  </a:t>
            </a:r>
            <a:r>
              <a:rPr sz="1300">
                <a:solidFill>
                  <a:srgbClr val="404040"/>
                </a:solidFill>
              </a:rPr>
              <a:t>Nach der Fahrt tatsächliches Ziel und Dauer ergänzen · geplantes gegen tatsächliches Ziel vergleichen</a:t>
            </a:r>
          </a:p>
        </p:txBody>
      </p:sp>
      <p:sp>
        <p:nvSpPr>
          <p:cNvPr id="14" name="Rectangle 13"/>
          <p:cNvSpPr/>
          <p:nvPr/>
        </p:nvSpPr>
        <p:spPr>
          <a:xfrm>
            <a:off x="1153160" y="37084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7084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37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846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6 und 7  </a:t>
            </a:r>
            <a:r>
              <a:rPr sz="1300">
                <a:solidFill>
                  <a:srgbClr val="404040"/>
                </a:solidFill>
              </a:rPr>
              <a:t>Abdeckung, Breite, Reichweite und Ablehnungsgründe auswerten · erst danach sichtbar schalten</a:t>
            </a:r>
          </a:p>
        </p:txBody>
      </p:sp>
      <p:sp>
        <p:nvSpPr>
          <p:cNvPr id="18" name="Rectangle 17"/>
          <p:cNvSpPr/>
          <p:nvPr/>
        </p:nvSpPr>
        <p:spPr>
          <a:xfrm>
            <a:off x="1153160" y="46736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6736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8006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Schritt 2 und 5 sind der Kern</a:t>
            </a:r>
          </a:p>
          <a:p>
            <a:pPr algn="l">
              <a:lnSpc>
                <a:spcPct val="95000"/>
              </a:lnSpc>
              <a:spcBef>
                <a:spcPts val="500"/>
              </a:spcBef>
            </a:pPr>
            <a:r>
              <a:rPr sz="1300" b="0">
                <a:solidFill>
                  <a:srgbClr val="404040"/>
                </a:solidFill>
              </a:rPr>
              <a:t>Sie prüfen die Annahme vom Anfang: Ist das geplante Ziel ein brauchbarer Stellvertreter für das tatsächliche?</a:t>
            </a:r>
          </a:p>
          <a:p>
            <a:pPr algn="l">
              <a:lnSpc>
                <a:spcPct val="95000"/>
              </a:lnSpc>
              <a:spcBef>
                <a:spcPts val="500"/>
              </a:spcBef>
            </a:pPr>
            <a:r>
              <a:rPr sz="1300" b="0">
                <a:solidFill>
                  <a:srgbClr val="404040"/>
                </a:solidFill>
              </a:rPr>
              <a:t>Ohne sie bleibt die Grundannahme dieses Notebooks ungeprüft — und alle Zahlen bleiben Obergrenzen.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Sechs Phasen, ein Rücksprung von Phase 5 zurück in Phase 1 — und ein Produkt, das öfter schweigt als spricht.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Prozess wurde geändert, nicht das Verfahren. Kriterium: unter 50 Cent</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Fünftel endet frei im Gebiet, ein weiteres Fünftel sind Rundtouren</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Zielstation erlaubt — als Stellvertreter. Wetter gesperrt. Vier Zeitabschnitte</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Baselines, dann Modelle. Eine Ablation zeigt: das Ziel bringt 9 %</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CITY hält die Grenze. Trotzdem Rücksprung — der Mittelwert bildet die einzelne Fahrt nicht ab</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Ausgeliefert wird die Tabelle, nicht das Modell. 136 Zeilen, nur CITY, 22,5 % Reichweite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offen bleibt — ausdrücklich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Projektbericht ohne diese Liste ist unvollständig. Sie steht am Ende des Notebooks, nicht im Kleingedruckten.</a:t>
            </a:r>
          </a:p>
        </p:txBody>
      </p:sp>
      <p:sp>
        <p:nvSpPr>
          <p:cNvPr id="6" name="Rectangle 5"/>
          <p:cNvSpPr/>
          <p:nvPr/>
        </p:nvSpPr>
        <p:spPr>
          <a:xfrm>
            <a:off x="1153160" y="1651000"/>
            <a:ext cx="444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Offener Punkt</a:t>
            </a:r>
          </a:p>
        </p:txBody>
      </p:sp>
      <p:sp>
        <p:nvSpPr>
          <p:cNvPr id="7" name="Rectangle 6"/>
          <p:cNvSpPr/>
          <p:nvPr/>
        </p:nvSpPr>
        <p:spPr>
          <a:xfrm>
            <a:off x="5598160" y="1651000"/>
            <a:ext cx="702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daraus folgt</a:t>
            </a:r>
          </a:p>
        </p:txBody>
      </p:sp>
      <p:sp>
        <p:nvSpPr>
          <p:cNvPr id="8" name="Rectangle 7"/>
          <p:cNvSpPr/>
          <p:nvPr/>
        </p:nvSpPr>
        <p:spPr>
          <a:xfrm>
            <a:off x="1153160" y="21844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Das geplante Ziel wird nicht erfasst</a:t>
            </a:r>
          </a:p>
        </p:txBody>
      </p:sp>
      <p:sp>
        <p:nvSpPr>
          <p:cNvPr id="9" name="Rectangle 8"/>
          <p:cNvSpPr/>
          <p:nvPr/>
        </p:nvSpPr>
        <p:spPr>
          <a:xfrm>
            <a:off x="5598160" y="21844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Zahlen sind Obergrenzen</a:t>
            </a:r>
          </a:p>
        </p:txBody>
      </p:sp>
      <p:sp>
        <p:nvSpPr>
          <p:cNvPr id="10" name="Rectangle 9"/>
          <p:cNvSpPr/>
          <p:nvPr/>
        </p:nvSpPr>
        <p:spPr>
          <a:xfrm>
            <a:off x="1153160" y="27178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echter Schattenbetrieb</a:t>
            </a:r>
          </a:p>
        </p:txBody>
      </p:sp>
      <p:sp>
        <p:nvSpPr>
          <p:cNvPr id="11" name="Rectangle 10"/>
          <p:cNvSpPr/>
          <p:nvPr/>
        </p:nvSpPr>
        <p:spPr>
          <a:xfrm>
            <a:off x="5598160" y="27178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hat kalibriert und freigegeben — die unabhängige Endprüfung steht aus</a:t>
            </a:r>
          </a:p>
        </p:txBody>
      </p:sp>
      <p:sp>
        <p:nvSpPr>
          <p:cNvPr id="12" name="Rectangle 11"/>
          <p:cNvSpPr/>
          <p:nvPr/>
        </p:nvSpPr>
        <p:spPr>
          <a:xfrm>
            <a:off x="1153160" y="32512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Keine Zusage je Verbindung</a:t>
            </a:r>
          </a:p>
        </p:txBody>
      </p:sp>
      <p:sp>
        <p:nvSpPr>
          <p:cNvPr id="13" name="Rectangle 12"/>
          <p:cNvSpPr/>
          <p:nvPr/>
        </p:nvSpPr>
        <p:spPr>
          <a:xfrm>
            <a:off x="5598160" y="32512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80 % gelten insgesamt und je Radtyp</a:t>
            </a:r>
          </a:p>
        </p:txBody>
      </p:sp>
      <p:sp>
        <p:nvSpPr>
          <p:cNvPr id="14" name="Rectangle 13"/>
          <p:cNvSpPr/>
          <p:nvPr/>
        </p:nvSpPr>
        <p:spPr>
          <a:xfrm>
            <a:off x="1153160" y="37846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Wetter</a:t>
            </a:r>
          </a:p>
        </p:txBody>
      </p:sp>
      <p:sp>
        <p:nvSpPr>
          <p:cNvPr id="15" name="Rectangle 14"/>
          <p:cNvSpPr/>
          <p:nvPr/>
        </p:nvSpPr>
        <p:spPr>
          <a:xfrm>
            <a:off x="5598160" y="37846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archivierte Prognosen fehlt ein vermutlich starkes Merkmal</a:t>
            </a:r>
          </a:p>
        </p:txBody>
      </p:sp>
      <p:sp>
        <p:nvSpPr>
          <p:cNvPr id="16" name="Rectangle 15"/>
          <p:cNvSpPr/>
          <p:nvPr/>
        </p:nvSpPr>
        <p:spPr>
          <a:xfrm>
            <a:off x="1153160" y="43180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Produkt für EBIKE und CARGO</a:t>
            </a:r>
          </a:p>
        </p:txBody>
      </p:sp>
      <p:sp>
        <p:nvSpPr>
          <p:cNvPr id="17" name="Rectangle 16"/>
          <p:cNvSpPr/>
          <p:nvPr/>
        </p:nvSpPr>
        <p:spPr>
          <a:xfrm>
            <a:off x="5598160" y="43180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Weder als Zahl noch als Spanne</a:t>
            </a:r>
          </a:p>
        </p:txBody>
      </p:sp>
      <p:sp>
        <p:nvSpPr>
          <p:cNvPr id="18" name="Rectangle 17"/>
          <p:cNvSpPr/>
          <p:nvPr/>
        </p:nvSpPr>
        <p:spPr>
          <a:xfrm>
            <a:off x="1153160" y="48514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Der bessere Kandidat wird nicht ausgeliefert</a:t>
            </a:r>
          </a:p>
        </p:txBody>
      </p:sp>
      <p:sp>
        <p:nvSpPr>
          <p:cNvPr id="19" name="Rectangle 18"/>
          <p:cNvSpPr/>
          <p:nvPr/>
        </p:nvSpPr>
        <p:spPr>
          <a:xfrm>
            <a:off x="5598160" y="48514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Modellvorhersagen zu tabellieren wäre der nächste Schritt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müssen als Nächstes in die Werkstatt — und lohnt sich dafür der Betrieb eines Modells?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soll die Werkstatt im nächsten Quartal prüfen?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 Rad die Wahrscheinlichkeit einer Schadensmeldung in den nächsten 90 Tagen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Hürden — und eine davon ist der Vergleich mit der heutigen Faustregel</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verpasstem Ausfall gegen 25 € je unnötiger Prüfung — rund 7 : 1</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Faustregeln als Maßstab, dann Entscheidungsbaum und Random Forest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Gleichstand auf dem Test, über fünf Quartale liegt die Regel vorn — ausgeliefert wird die Regel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Kostenmatrix, aus der alles Weitere folgt</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analytics/notebooks/02_Klassifikation_Wartungsrisiko.ipynb · Abschnitt 1 — Fehlerkosten</a:t>
            </a:r>
          </a:p>
        </p:txBody>
      </p:sp>
      <p:sp>
        <p:nvSpPr>
          <p:cNvPr id="5" name="Rectangle 4"/>
          <p:cNvSpPr/>
          <p:nvPr/>
        </p:nvSpPr>
        <p:spPr>
          <a:xfrm>
            <a:off x="4523244" y="1168400"/>
            <a:ext cx="4734280"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osten.png"/>
          <p:cNvPicPr>
            <a:picLocks noChangeAspect="1"/>
          </p:cNvPicPr>
          <p:nvPr/>
        </p:nvPicPr>
        <p:blipFill>
          <a:blip r:embed="rId2"/>
          <a:stretch>
            <a:fillRect/>
          </a:stretch>
        </p:blipFill>
        <p:spPr>
          <a:xfrm>
            <a:off x="4624844" y="1270000"/>
            <a:ext cx="4531080"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180 € gegen 25 €. Diese beiden Zahlen bestimmen das Erfolgskriterium, die Klassengewichte und am Ende die Auslieferung.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hier anders ist als in Fall 1</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Unterschiede — und jeder verändert eine Phase.</a:t>
            </a:r>
          </a:p>
        </p:txBody>
      </p:sp>
      <p:sp>
        <p:nvSpPr>
          <p:cNvPr id="6" name="Rectangle 5"/>
          <p:cNvSpPr/>
          <p:nvPr/>
        </p:nvSpPr>
        <p:spPr>
          <a:xfrm>
            <a:off x="1153160" y="16510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058160" y="1651000"/>
            <a:ext cx="355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1 — Regression</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2 — Klassifikation</a:t>
            </a:r>
          </a:p>
        </p:txBody>
      </p:sp>
      <p:sp>
        <p:nvSpPr>
          <p:cNvPr id="9" name="Rectangle 8"/>
          <p:cNvSpPr/>
          <p:nvPr/>
        </p:nvSpPr>
        <p:spPr>
          <a:xfrm>
            <a:off x="1153160" y="22606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Zielgröße</a:t>
            </a:r>
          </a:p>
        </p:txBody>
      </p:sp>
      <p:sp>
        <p:nvSpPr>
          <p:cNvPr id="10" name="Rectangle 9"/>
          <p:cNvSpPr/>
          <p:nvPr/>
        </p:nvSpPr>
        <p:spPr>
          <a:xfrm>
            <a:off x="3058160" y="22606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Zahl: Minuten</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 oder nein: meldet sich das Rad?</a:t>
            </a:r>
          </a:p>
        </p:txBody>
      </p:sp>
      <p:sp>
        <p:nvSpPr>
          <p:cNvPr id="12" name="Rectangle 11"/>
          <p:cNvSpPr/>
          <p:nvPr/>
        </p:nvSpPr>
        <p:spPr>
          <a:xfrm>
            <a:off x="1153160" y="28702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Fehlerkosten</a:t>
            </a:r>
          </a:p>
        </p:txBody>
      </p:sp>
      <p:sp>
        <p:nvSpPr>
          <p:cNvPr id="13" name="Rectangle 12"/>
          <p:cNvSpPr/>
          <p:nvPr/>
        </p:nvSpPr>
        <p:spPr>
          <a:xfrm>
            <a:off x="3058160" y="28702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beide Richtungen gleich</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180 € gegen 25 € — rund 7 : 1</a:t>
            </a:r>
          </a:p>
        </p:txBody>
      </p:sp>
      <p:sp>
        <p:nvSpPr>
          <p:cNvPr id="15" name="Rectangle 14"/>
          <p:cNvSpPr/>
          <p:nvPr/>
        </p:nvSpPr>
        <p:spPr>
          <a:xfrm>
            <a:off x="1153160" y="34798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Aufteilung</a:t>
            </a:r>
          </a:p>
        </p:txBody>
      </p:sp>
      <p:sp>
        <p:nvSpPr>
          <p:cNvPr id="16" name="Rectangle 15"/>
          <p:cNvSpPr/>
          <p:nvPr/>
        </p:nvSpPr>
        <p:spPr>
          <a:xfrm>
            <a:off x="3058160" y="34798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zufällig zulässig</a:t>
            </a:r>
          </a:p>
        </p:txBody>
      </p:sp>
      <p:sp>
        <p:nvSpPr>
          <p:cNvPr id="17" name="Rectangle 16"/>
          <p:cNvSpPr/>
          <p:nvPr/>
        </p:nvSpPr>
        <p:spPr>
          <a:xfrm>
            <a:off x="6614159" y="34798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 zwingend: Merkmale aus 180 Tagen davor, Label aus 90 Tagen danach</a:t>
            </a:r>
          </a:p>
        </p:txBody>
      </p:sp>
      <p:sp>
        <p:nvSpPr>
          <p:cNvPr id="18" name="Rectangle 17"/>
          <p:cNvSpPr/>
          <p:nvPr/>
        </p:nvSpPr>
        <p:spPr>
          <a:xfrm>
            <a:off x="1153160" y="40894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Maßstab</a:t>
            </a:r>
          </a:p>
        </p:txBody>
      </p:sp>
      <p:sp>
        <p:nvSpPr>
          <p:cNvPr id="19" name="Rectangle 18"/>
          <p:cNvSpPr/>
          <p:nvPr/>
        </p:nvSpPr>
        <p:spPr>
          <a:xfrm>
            <a:off x="3058160" y="40894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a:t>
            </a:r>
          </a:p>
        </p:txBody>
      </p:sp>
      <p:sp>
        <p:nvSpPr>
          <p:cNvPr id="20" name="Rectangle 19"/>
          <p:cNvSpPr/>
          <p:nvPr/>
        </p:nvSpPr>
        <p:spPr>
          <a:xfrm>
            <a:off x="6614159" y="40894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UND die heutige Faustregel der Werkstatt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2 · Phasen 1 bis 3</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ersten drei Phasen laufen wie in Fall 1. Was sie hier hervorbringen, steht in drei Zeilen.</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1  </a:t>
            </a:r>
            <a:r>
              <a:rPr sz="1300">
                <a:solidFill>
                  <a:srgbClr val="404040"/>
                </a:solidFill>
              </a:rPr>
              <a:t>Aus „vorausschauend warten“ wird eine Kostenmatrix: 180 € gegen 25 €, und zwei Erfolgskriterien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Nutzung und Meldungen hängen zusammen (r ≈ 0,7), aber nicht deterministisch. 44 % der Räder melden sich je Quartal, die Werkstatt schafft 26 %</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  </a:t>
            </a:r>
            <a:r>
              <a:rPr sz="1300">
                <a:solidFill>
                  <a:srgbClr val="404040"/>
                </a:solidFill>
              </a:rPr>
              <a:t>Zeitlicher Schnitt: acht Stichtage, Merkmale aus 180 Tagen davor, Label aus 90 Tagen danach, Testmenge ist der jüngste Stichtag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zeitliche Schnitt, in Zahlen</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analytics/notebooks/02_Klassifikation_Wartungsrisiko.ipynb · Abschnitt 3.3</a:t>
            </a:r>
          </a:p>
        </p:txBody>
      </p:sp>
      <p:sp>
        <p:nvSpPr>
          <p:cNvPr id="5" name="Rectangle 4"/>
          <p:cNvSpPr/>
          <p:nvPr/>
        </p:nvSpPr>
        <p:spPr>
          <a:xfrm>
            <a:off x="1051560" y="1178279"/>
            <a:ext cx="11677650" cy="434904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schnitt.png"/>
          <p:cNvPicPr>
            <a:picLocks noChangeAspect="1"/>
          </p:cNvPicPr>
          <p:nvPr/>
        </p:nvPicPr>
        <p:blipFill>
          <a:blip r:embed="rId2"/>
          <a:stretch>
            <a:fillRect/>
          </a:stretch>
        </p:blipFill>
        <p:spPr>
          <a:xfrm>
            <a:off x="1153160" y="1279879"/>
            <a:ext cx="11474450" cy="414584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Sieben Stichtage zum Trainieren, der jüngste zum Testen — und ein Anteil positiver Fälle, der sich dabei verdoppelt.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Zuerst die Faustregeln — dann erst die Modelle</a:t>
            </a:r>
          </a:p>
        </p:txBody>
      </p:sp>
      <p:sp>
        <p:nvSpPr>
          <p:cNvPr id="3" name="Text Placeholder 2"/>
          <p:cNvSpPr>
            <a:spLocks noGrp="1"/>
          </p:cNvSpPr>
          <p:nvPr>
            <p:ph type="body" idx="12" sz="quarter"/>
          </p:nvPr>
        </p:nvSpPr>
        <p:spPr/>
        <p:txBody>
          <a:bodyPr/>
          <a:lstStyle/>
          <a:p>
            <a:r>
              <a:t>Fall 2 · Phase 4</a:t>
            </a:r>
          </a:p>
        </p:txBody>
      </p:sp>
      <p:sp>
        <p:nvSpPr>
          <p:cNvPr id="4" name="Text Placeholder 3"/>
          <p:cNvSpPr>
            <a:spLocks noGrp="1"/>
          </p:cNvSpPr>
          <p:nvPr>
            <p:ph type="body" idx="13" sz="quarter"/>
          </p:nvPr>
        </p:nvSpPr>
        <p:spPr/>
        <p:txBody>
          <a:bodyPr/>
          <a:lstStyle/>
          <a:p>
            <a:r>
              <a:t>analytics/notebooks/02_Klassifikation_Wartungsrisiko.ipynb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Regeln, wie sie die Werkstatt heute im Kopf hat. Sie sind der Maßstab, an dem sich jedes Modell messen lassen muss.</a:t>
            </a:r>
          </a:p>
        </p:txBody>
      </p:sp>
      <p:sp>
        <p:nvSpPr>
          <p:cNvPr id="6" name="Rectangle 5"/>
          <p:cNvSpPr/>
          <p:nvPr/>
        </p:nvSpPr>
        <p:spPr>
          <a:xfrm>
            <a:off x="1153160"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86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057400"/>
          </a:xfrm>
          <a:prstGeom prst="rect">
            <a:avLst/>
          </a:prstGeom>
          <a:noFill/>
        </p:spPr>
        <p:txBody>
          <a:bodyPr wrap="square" lIns="0" tIns="0" rIns="0" bIns="0">
            <a:spAutoFit/>
          </a:bodyPr>
          <a:lstStyle/>
          <a:p>
            <a:pPr algn="l">
              <a:lnSpc>
                <a:spcPct val="95000"/>
              </a:lnSpc>
            </a:pPr>
            <a:r>
              <a:rPr sz="1400" b="1">
                <a:solidFill>
                  <a:srgbClr val="ED7004"/>
                </a:solidFill>
              </a:rPr>
              <a:t>Regel A — Kilometerstand</a:t>
            </a:r>
          </a:p>
          <a:p>
            <a:pPr algn="l">
              <a:lnSpc>
                <a:spcPct val="95000"/>
              </a:lnSpc>
              <a:spcBef>
                <a:spcPts val="200"/>
              </a:spcBef>
            </a:pPr>
            <a:r>
              <a:rPr sz="1300" b="0">
                <a:solidFill>
                  <a:srgbClr val="404040"/>
                </a:solidFill>
                <a:latin typeface="Consolas"/>
              </a:rPr>
              <a:t>Die 60 Raeder mit den</a:t>
            </a:r>
          </a:p>
          <a:p>
            <a:pPr algn="l">
              <a:lnSpc>
                <a:spcPct val="95000"/>
              </a:lnSpc>
              <a:spcBef>
                <a:spcPts val="200"/>
              </a:spcBef>
            </a:pPr>
            <a:r>
              <a:rPr sz="1300" b="0">
                <a:solidFill>
                  <a:srgbClr val="404040"/>
                </a:solidFill>
                <a:latin typeface="Consolas"/>
              </a:rPr>
              <a:t>meisten Kilometern seit</a:t>
            </a:r>
          </a:p>
          <a:p>
            <a:pPr algn="l">
              <a:lnSpc>
                <a:spcPct val="95000"/>
              </a:lnSpc>
              <a:spcBef>
                <a:spcPts val="200"/>
              </a:spcBef>
            </a:pPr>
            <a:r>
              <a:rPr sz="1300" b="0">
                <a:solidFill>
                  <a:srgbClr val="404040"/>
                </a:solidFill>
                <a:latin typeface="Consolas"/>
              </a:rPr>
              <a:t>der letzten Wartung.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Eine Zeile Code.</a:t>
            </a:r>
          </a:p>
        </p:txBody>
      </p:sp>
      <p:sp>
        <p:nvSpPr>
          <p:cNvPr id="9" name="Rectangle 8"/>
          <p:cNvSpPr/>
          <p:nvPr/>
        </p:nvSpPr>
        <p:spPr>
          <a:xfrm>
            <a:off x="7096759"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286000"/>
          </a:xfrm>
          <a:prstGeom prst="rect">
            <a:avLst/>
          </a:prstGeom>
          <a:solidFill>
            <a:srgbClr val="5551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057400"/>
          </a:xfrm>
          <a:prstGeom prst="rect">
            <a:avLst/>
          </a:prstGeom>
          <a:noFill/>
        </p:spPr>
        <p:txBody>
          <a:bodyPr wrap="square" lIns="0" tIns="0" rIns="0" bIns="0">
            <a:spAutoFit/>
          </a:bodyPr>
          <a:lstStyle/>
          <a:p>
            <a:pPr algn="l">
              <a:lnSpc>
                <a:spcPct val="95000"/>
              </a:lnSpc>
            </a:pPr>
            <a:r>
              <a:rPr sz="1400" b="1">
                <a:solidFill>
                  <a:srgbClr val="555148"/>
                </a:solidFill>
              </a:rPr>
              <a:t>Regel B — Alter</a:t>
            </a:r>
          </a:p>
          <a:p>
            <a:pPr algn="l">
              <a:lnSpc>
                <a:spcPct val="95000"/>
              </a:lnSpc>
              <a:spcBef>
                <a:spcPts val="200"/>
              </a:spcBef>
            </a:pPr>
            <a:r>
              <a:rPr sz="1300" b="0">
                <a:solidFill>
                  <a:srgbClr val="404040"/>
                </a:solidFill>
                <a:latin typeface="Consolas"/>
              </a:rPr>
              <a:t>Die 60 aeltesten Raeder</a:t>
            </a:r>
          </a:p>
          <a:p>
            <a:pPr algn="l">
              <a:lnSpc>
                <a:spcPct val="95000"/>
              </a:lnSpc>
              <a:spcBef>
                <a:spcPts val="200"/>
              </a:spcBef>
            </a:pPr>
            <a:r>
              <a:rPr sz="1300" b="0">
                <a:solidFill>
                  <a:srgbClr val="404040"/>
                </a:solidFill>
                <a:latin typeface="Consolas"/>
              </a:rPr>
              <a:t>der Flotte.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Ebenfalls eine Zeile.</a:t>
            </a:r>
          </a:p>
          <a:p>
            <a:pPr algn="l">
              <a:lnSpc>
                <a:spcPct val="95000"/>
              </a:lnSpc>
              <a:spcBef>
                <a:spcPts val="200"/>
              </a:spcBef>
            </a:pPr>
            <a:r>
              <a:rPr sz="1300" b="0">
                <a:solidFill>
                  <a:srgbClr val="404040"/>
                </a:solidFill>
                <a:latin typeface="Consolas"/>
              </a:rPr>
              <a:t>Deutlich schwaecher als A.</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Gleichstand auf dem Testquartal</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Erfolgskriterien standen vor der Messung fest: mindestens 70 % Trefferquote, und günstiger als die heutige Faustregel.</a:t>
            </a:r>
          </a:p>
        </p:txBody>
      </p:sp>
      <p:sp>
        <p:nvSpPr>
          <p:cNvPr id="6" name="Rectangle 5"/>
          <p:cNvSpPr/>
          <p:nvPr/>
        </p:nvSpPr>
        <p:spPr>
          <a:xfrm>
            <a:off x="1153160" y="1879600"/>
            <a:ext cx="482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Vorgehen</a:t>
            </a:r>
          </a:p>
        </p:txBody>
      </p:sp>
      <p:sp>
        <p:nvSpPr>
          <p:cNvPr id="7" name="Rectangle 6"/>
          <p:cNvSpPr/>
          <p:nvPr/>
        </p:nvSpPr>
        <p:spPr>
          <a:xfrm>
            <a:off x="5979160" y="1879600"/>
            <a:ext cx="152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a:t>
            </a:r>
          </a:p>
        </p:txBody>
      </p:sp>
      <p:sp>
        <p:nvSpPr>
          <p:cNvPr id="8" name="Rectangle 7"/>
          <p:cNvSpPr/>
          <p:nvPr/>
        </p:nvSpPr>
        <p:spPr>
          <a:xfrm>
            <a:off x="7503159" y="1879600"/>
            <a:ext cx="228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9" name="Rectangle 8"/>
          <p:cNvSpPr/>
          <p:nvPr/>
        </p:nvSpPr>
        <p:spPr>
          <a:xfrm>
            <a:off x="9789160" y="1879600"/>
            <a:ext cx="283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Kosten je Quartal</a:t>
            </a:r>
          </a:p>
        </p:txBody>
      </p:sp>
      <p:sp>
        <p:nvSpPr>
          <p:cNvPr id="10" name="Rectangle 9"/>
          <p:cNvSpPr/>
          <p:nvPr/>
        </p:nvSpPr>
        <p:spPr>
          <a:xfrm>
            <a:off x="1153160" y="23368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 vorsorglich prüfen</a:t>
            </a:r>
          </a:p>
        </p:txBody>
      </p:sp>
      <p:sp>
        <p:nvSpPr>
          <p:cNvPr id="11" name="Rectangle 10"/>
          <p:cNvSpPr/>
          <p:nvPr/>
        </p:nvSpPr>
        <p:spPr>
          <a:xfrm>
            <a:off x="5979160" y="23368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2" name="Rectangle 11"/>
          <p:cNvSpPr/>
          <p:nvPr/>
        </p:nvSpPr>
        <p:spPr>
          <a:xfrm>
            <a:off x="7503159" y="23368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a:t>
            </a:r>
          </a:p>
        </p:txBody>
      </p:sp>
      <p:sp>
        <p:nvSpPr>
          <p:cNvPr id="13" name="Rectangle 12"/>
          <p:cNvSpPr/>
          <p:nvPr/>
        </p:nvSpPr>
        <p:spPr>
          <a:xfrm>
            <a:off x="9789160" y="23368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18.360 €</a:t>
            </a:r>
          </a:p>
        </p:txBody>
      </p:sp>
      <p:sp>
        <p:nvSpPr>
          <p:cNvPr id="14" name="Rectangle 13"/>
          <p:cNvSpPr/>
          <p:nvPr/>
        </p:nvSpPr>
        <p:spPr>
          <a:xfrm>
            <a:off x="1153160" y="27940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ältestes Rad</a:t>
            </a:r>
          </a:p>
        </p:txBody>
      </p:sp>
      <p:sp>
        <p:nvSpPr>
          <p:cNvPr id="15" name="Rectangle 14"/>
          <p:cNvSpPr/>
          <p:nvPr/>
        </p:nvSpPr>
        <p:spPr>
          <a:xfrm>
            <a:off x="5979160" y="27940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16" name="Rectangle 15"/>
          <p:cNvSpPr/>
          <p:nvPr/>
        </p:nvSpPr>
        <p:spPr>
          <a:xfrm>
            <a:off x="7503159" y="27940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45,0 %</a:t>
            </a:r>
          </a:p>
        </p:txBody>
      </p:sp>
      <p:sp>
        <p:nvSpPr>
          <p:cNvPr id="17" name="Rectangle 16"/>
          <p:cNvSpPr/>
          <p:nvPr/>
        </p:nvSpPr>
        <p:spPr>
          <a:xfrm>
            <a:off x="9789160" y="27940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14.325 €</a:t>
            </a:r>
          </a:p>
        </p:txBody>
      </p:sp>
      <p:sp>
        <p:nvSpPr>
          <p:cNvPr id="18" name="Rectangle 17"/>
          <p:cNvSpPr/>
          <p:nvPr/>
        </p:nvSpPr>
        <p:spPr>
          <a:xfrm>
            <a:off x="1153160" y="32512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meiste Kilometer</a:t>
            </a:r>
          </a:p>
        </p:txBody>
      </p:sp>
      <p:sp>
        <p:nvSpPr>
          <p:cNvPr id="19" name="Rectangle 18"/>
          <p:cNvSpPr/>
          <p:nvPr/>
        </p:nvSpPr>
        <p:spPr>
          <a:xfrm>
            <a:off x="5979160" y="32512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a:t>
            </a:r>
          </a:p>
        </p:txBody>
      </p:sp>
      <p:sp>
        <p:nvSpPr>
          <p:cNvPr id="20" name="Rectangle 19"/>
          <p:cNvSpPr/>
          <p:nvPr/>
        </p:nvSpPr>
        <p:spPr>
          <a:xfrm>
            <a:off x="7503159" y="32512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51,7 %</a:t>
            </a:r>
          </a:p>
        </p:txBody>
      </p:sp>
      <p:sp>
        <p:nvSpPr>
          <p:cNvPr id="21" name="Rectangle 20"/>
          <p:cNvSpPr/>
          <p:nvPr/>
        </p:nvSpPr>
        <p:spPr>
          <a:xfrm>
            <a:off x="9789160" y="32512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13.505 €</a:t>
            </a:r>
          </a:p>
        </p:txBody>
      </p:sp>
      <p:sp>
        <p:nvSpPr>
          <p:cNvPr id="22" name="Rectangle 21"/>
          <p:cNvSpPr/>
          <p:nvPr/>
        </p:nvSpPr>
        <p:spPr>
          <a:xfrm>
            <a:off x="1153160" y="37084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km seit letzter Reparatur</a:t>
            </a:r>
          </a:p>
        </p:txBody>
      </p:sp>
      <p:sp>
        <p:nvSpPr>
          <p:cNvPr id="23" name="Rectangle 22"/>
          <p:cNvSpPr/>
          <p:nvPr/>
        </p:nvSpPr>
        <p:spPr>
          <a:xfrm>
            <a:off x="5979160" y="37084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4" name="Rectangle 23"/>
          <p:cNvSpPr/>
          <p:nvPr/>
        </p:nvSpPr>
        <p:spPr>
          <a:xfrm>
            <a:off x="7503159" y="37084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5" name="Rectangle 24"/>
          <p:cNvSpPr/>
          <p:nvPr/>
        </p:nvSpPr>
        <p:spPr>
          <a:xfrm>
            <a:off x="9789160" y="37084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26" name="Rectangle 25"/>
          <p:cNvSpPr/>
          <p:nvPr/>
        </p:nvSpPr>
        <p:spPr>
          <a:xfrm>
            <a:off x="1153160" y="41656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a:t>
            </a:r>
          </a:p>
        </p:txBody>
      </p:sp>
      <p:sp>
        <p:nvSpPr>
          <p:cNvPr id="27" name="Rectangle 26"/>
          <p:cNvSpPr/>
          <p:nvPr/>
        </p:nvSpPr>
        <p:spPr>
          <a:xfrm>
            <a:off x="5979160" y="41656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8" name="Rectangle 27"/>
          <p:cNvSpPr/>
          <p:nvPr/>
        </p:nvSpPr>
        <p:spPr>
          <a:xfrm>
            <a:off x="7503159" y="41656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9" name="Rectangle 28"/>
          <p:cNvSpPr/>
          <p:nvPr/>
        </p:nvSpPr>
        <p:spPr>
          <a:xfrm>
            <a:off x="9789160" y="41656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30" name="Rectangle 29"/>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Treffer für Treffer identisch. Der Wald mit 300 Bäumen findet nichts, was über „Kilometer seit der Reparatur“ hinausgeht.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Quartal ist keine Aussage — fünf schon eher</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Anteil auffälliger Räder schwankt zwischen 8 % im November und 46 % im Mai. Wer auf einem Quartal entscheidet, entscheidet über die Jahreszeit mit.</a:t>
            </a:r>
          </a:p>
        </p:txBody>
      </p:sp>
      <p:sp>
        <p:nvSpPr>
          <p:cNvPr id="6" name="Rectangle 5"/>
          <p:cNvSpPr/>
          <p:nvPr/>
        </p:nvSpPr>
        <p:spPr>
          <a:xfrm>
            <a:off x="1153160" y="1879600"/>
            <a:ext cx="279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Stichtag</a:t>
            </a:r>
          </a:p>
        </p:txBody>
      </p:sp>
      <p:sp>
        <p:nvSpPr>
          <p:cNvPr id="7" name="Rectangle 6"/>
          <p:cNvSpPr/>
          <p:nvPr/>
        </p:nvSpPr>
        <p:spPr>
          <a:xfrm>
            <a:off x="3947160" y="1879600"/>
            <a:ext cx="254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Grundrate</a:t>
            </a:r>
          </a:p>
        </p:txBody>
      </p:sp>
      <p:sp>
        <p:nvSpPr>
          <p:cNvPr id="8" name="Rectangle 7"/>
          <p:cNvSpPr/>
          <p:nvPr/>
        </p:nvSpPr>
        <p:spPr>
          <a:xfrm>
            <a:off x="6487160" y="1879600"/>
            <a:ext cx="3175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9662160" y="1879600"/>
            <a:ext cx="2965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10" name="Rectangle 9"/>
          <p:cNvSpPr/>
          <p:nvPr/>
        </p:nvSpPr>
        <p:spPr>
          <a:xfrm>
            <a:off x="1153160" y="22860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03/2025</a:t>
            </a:r>
          </a:p>
        </p:txBody>
      </p:sp>
      <p:sp>
        <p:nvSpPr>
          <p:cNvPr id="11" name="Rectangle 10"/>
          <p:cNvSpPr/>
          <p:nvPr/>
        </p:nvSpPr>
        <p:spPr>
          <a:xfrm>
            <a:off x="3947160" y="22860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22,7 %</a:t>
            </a:r>
          </a:p>
        </p:txBody>
      </p:sp>
      <p:sp>
        <p:nvSpPr>
          <p:cNvPr id="12" name="Rectangle 11"/>
          <p:cNvSpPr/>
          <p:nvPr/>
        </p:nvSpPr>
        <p:spPr>
          <a:xfrm>
            <a:off x="6487160" y="22860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a:t>
            </a:r>
          </a:p>
        </p:txBody>
      </p:sp>
      <p:sp>
        <p:nvSpPr>
          <p:cNvPr id="13" name="Rectangle 12"/>
          <p:cNvSpPr/>
          <p:nvPr/>
        </p:nvSpPr>
        <p:spPr>
          <a:xfrm>
            <a:off x="9662160" y="22860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14" name="Rectangle 13"/>
          <p:cNvSpPr/>
          <p:nvPr/>
        </p:nvSpPr>
        <p:spPr>
          <a:xfrm>
            <a:off x="1153160" y="26924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a:t>
            </a:r>
          </a:p>
        </p:txBody>
      </p:sp>
      <p:sp>
        <p:nvSpPr>
          <p:cNvPr id="15" name="Rectangle 14"/>
          <p:cNvSpPr/>
          <p:nvPr/>
        </p:nvSpPr>
        <p:spPr>
          <a:xfrm>
            <a:off x="3947160" y="26924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46,9 %</a:t>
            </a:r>
          </a:p>
        </p:txBody>
      </p:sp>
      <p:sp>
        <p:nvSpPr>
          <p:cNvPr id="16" name="Rectangle 15"/>
          <p:cNvSpPr/>
          <p:nvPr/>
        </p:nvSpPr>
        <p:spPr>
          <a:xfrm>
            <a:off x="6487160" y="26924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a:t>
            </a:r>
          </a:p>
        </p:txBody>
      </p:sp>
      <p:sp>
        <p:nvSpPr>
          <p:cNvPr id="17" name="Rectangle 16"/>
          <p:cNvSpPr/>
          <p:nvPr/>
        </p:nvSpPr>
        <p:spPr>
          <a:xfrm>
            <a:off x="9662160" y="26924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a:t>
            </a:r>
          </a:p>
        </p:txBody>
      </p:sp>
      <p:sp>
        <p:nvSpPr>
          <p:cNvPr id="18" name="Rectangle 17"/>
          <p:cNvSpPr/>
          <p:nvPr/>
        </p:nvSpPr>
        <p:spPr>
          <a:xfrm>
            <a:off x="1153160" y="30988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08/2025</a:t>
            </a:r>
          </a:p>
        </p:txBody>
      </p:sp>
      <p:sp>
        <p:nvSpPr>
          <p:cNvPr id="19" name="Rectangle 18"/>
          <p:cNvSpPr/>
          <p:nvPr/>
        </p:nvSpPr>
        <p:spPr>
          <a:xfrm>
            <a:off x="3947160" y="30988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26,5 %</a:t>
            </a:r>
          </a:p>
        </p:txBody>
      </p:sp>
      <p:sp>
        <p:nvSpPr>
          <p:cNvPr id="20" name="Rectangle 19"/>
          <p:cNvSpPr/>
          <p:nvPr/>
        </p:nvSpPr>
        <p:spPr>
          <a:xfrm>
            <a:off x="6487160" y="30988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1" name="Rectangle 20"/>
          <p:cNvSpPr/>
          <p:nvPr/>
        </p:nvSpPr>
        <p:spPr>
          <a:xfrm>
            <a:off x="9662160" y="30988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2" name="Rectangle 21"/>
          <p:cNvSpPr/>
          <p:nvPr/>
        </p:nvSpPr>
        <p:spPr>
          <a:xfrm>
            <a:off x="1153160" y="35052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11/2025</a:t>
            </a:r>
          </a:p>
        </p:txBody>
      </p:sp>
      <p:sp>
        <p:nvSpPr>
          <p:cNvPr id="23" name="Rectangle 22"/>
          <p:cNvSpPr/>
          <p:nvPr/>
        </p:nvSpPr>
        <p:spPr>
          <a:xfrm>
            <a:off x="3947160" y="35052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7,6 %</a:t>
            </a:r>
          </a:p>
        </p:txBody>
      </p:sp>
      <p:sp>
        <p:nvSpPr>
          <p:cNvPr id="24" name="Rectangle 23"/>
          <p:cNvSpPr/>
          <p:nvPr/>
        </p:nvSpPr>
        <p:spPr>
          <a:xfrm>
            <a:off x="6487160" y="35052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a:t>
            </a:r>
          </a:p>
        </p:txBody>
      </p:sp>
      <p:sp>
        <p:nvSpPr>
          <p:cNvPr id="25" name="Rectangle 24"/>
          <p:cNvSpPr/>
          <p:nvPr/>
        </p:nvSpPr>
        <p:spPr>
          <a:xfrm>
            <a:off x="9662160" y="35052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a:t>
            </a:r>
          </a:p>
        </p:txBody>
      </p:sp>
      <p:sp>
        <p:nvSpPr>
          <p:cNvPr id="26" name="Rectangle 25"/>
          <p:cNvSpPr/>
          <p:nvPr/>
        </p:nvSpPr>
        <p:spPr>
          <a:xfrm>
            <a:off x="1153160" y="39116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02/2026</a:t>
            </a:r>
          </a:p>
        </p:txBody>
      </p:sp>
      <p:sp>
        <p:nvSpPr>
          <p:cNvPr id="27" name="Rectangle 26"/>
          <p:cNvSpPr/>
          <p:nvPr/>
        </p:nvSpPr>
        <p:spPr>
          <a:xfrm>
            <a:off x="3947160" y="39116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20,7 %</a:t>
            </a:r>
          </a:p>
        </p:txBody>
      </p:sp>
      <p:sp>
        <p:nvSpPr>
          <p:cNvPr id="28" name="Rectangle 27"/>
          <p:cNvSpPr/>
          <p:nvPr/>
        </p:nvSpPr>
        <p:spPr>
          <a:xfrm>
            <a:off x="6487160" y="39116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29" name="Rectangle 28"/>
          <p:cNvSpPr/>
          <p:nvPr/>
        </p:nvSpPr>
        <p:spPr>
          <a:xfrm>
            <a:off x="9662160" y="39116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30" name="Rectangle 29"/>
          <p:cNvSpPr/>
          <p:nvPr/>
        </p:nvSpPr>
        <p:spPr>
          <a:xfrm>
            <a:off x="1153160" y="43180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Summe</a:t>
            </a:r>
          </a:p>
        </p:txBody>
      </p:sp>
      <p:sp>
        <p:nvSpPr>
          <p:cNvPr id="31" name="Rectangle 30"/>
          <p:cNvSpPr/>
          <p:nvPr/>
        </p:nvSpPr>
        <p:spPr>
          <a:xfrm>
            <a:off x="3947160" y="43180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a:r>
          </a:p>
        </p:txBody>
      </p:sp>
      <p:sp>
        <p:nvSpPr>
          <p:cNvPr id="32" name="Rectangle 31"/>
          <p:cNvSpPr/>
          <p:nvPr/>
        </p:nvSpPr>
        <p:spPr>
          <a:xfrm>
            <a:off x="6487160" y="43180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a:t>
            </a:r>
          </a:p>
        </p:txBody>
      </p:sp>
      <p:sp>
        <p:nvSpPr>
          <p:cNvPr id="33" name="Rectangle 32"/>
          <p:cNvSpPr/>
          <p:nvPr/>
        </p:nvSpPr>
        <p:spPr>
          <a:xfrm>
            <a:off x="9662160" y="43180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a:t>
            </a:r>
          </a:p>
        </p:txBody>
      </p:sp>
      <p:sp>
        <p:nvSpPr>
          <p:cNvPr id="34" name="Rectangle 33"/>
          <p:cNvSpPr/>
          <p:nvPr/>
        </p:nvSpPr>
        <p:spPr>
          <a:xfrm>
            <a:off x="1153160" y="4902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356360" y="4978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Über fünf Quartale liegt die Faustregel vorn — der Wald kostet 328 € je Quartal mehr, noch vor jedem Betriebsaufwand.</a:t>
            </a:r>
          </a:p>
        </p:txBody>
      </p:sp>
      <p:sp>
        <p:nvSpPr>
          <p:cNvPr id="36" name="Rectangle 3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8" name="Rectangle 3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40" name="Rectangle 3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2" name="Rectangle 4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4" name="Rectangle 4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6" name="Rectangle 4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sicher ist eine Trefferquote aus 60 Beobachtungen?</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43 von 60 sind 71,7 %. Die Zahl klingt genauer, als sie ist.</a:t>
            </a:r>
          </a:p>
        </p:txBody>
      </p:sp>
      <p:sp>
        <p:nvSpPr>
          <p:cNvPr id="6" name="Rectangle 5"/>
          <p:cNvSpPr/>
          <p:nvPr/>
        </p:nvSpPr>
        <p:spPr>
          <a:xfrm>
            <a:off x="115316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Das Wilson-Intervall</a:t>
            </a:r>
          </a:p>
          <a:p>
            <a:pPr algn="l">
              <a:lnSpc>
                <a:spcPct val="95000"/>
              </a:lnSpc>
              <a:spcBef>
                <a:spcPts val="500"/>
              </a:spcBef>
            </a:pPr>
            <a:r>
              <a:rPr sz="1300" b="0">
                <a:solidFill>
                  <a:srgbClr val="404040"/>
                </a:solidFill>
              </a:rPr>
              <a:t>71,7 % aus 60 Beobachtungen</a:t>
            </a:r>
          </a:p>
          <a:p>
            <a:pPr algn="l">
              <a:lnSpc>
                <a:spcPct val="95000"/>
              </a:lnSpc>
              <a:spcBef>
                <a:spcPts val="500"/>
              </a:spcBef>
            </a:pPr>
            <a:r>
              <a:rPr sz="1300" b="0">
                <a:solidFill>
                  <a:srgbClr val="404040"/>
                </a:solidFill>
              </a:rPr>
              <a:t>bedeutet: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59,2 % bis 81,5 %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Verträglich mit 60 % ebenso</a:t>
            </a:r>
          </a:p>
          <a:p>
            <a:pPr algn="l">
              <a:lnSpc>
                <a:spcPct val="95000"/>
              </a:lnSpc>
              <a:spcBef>
                <a:spcPts val="500"/>
              </a:spcBef>
            </a:pPr>
            <a:r>
              <a:rPr sz="1300" b="0">
                <a:solidFill>
                  <a:srgbClr val="404040"/>
                </a:solidFill>
              </a:rPr>
              <a:t>wie mit 80 %.</a:t>
            </a:r>
          </a:p>
        </p:txBody>
      </p:sp>
      <p:sp>
        <p:nvSpPr>
          <p:cNvPr id="9" name="Rectangle 8"/>
          <p:cNvSpPr/>
          <p:nvPr/>
        </p:nvSpPr>
        <p:spPr>
          <a:xfrm>
            <a:off x="511302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das heißt</a:t>
            </a:r>
          </a:p>
          <a:p>
            <a:pPr algn="l">
              <a:lnSpc>
                <a:spcPct val="95000"/>
              </a:lnSpc>
              <a:spcBef>
                <a:spcPts val="500"/>
              </a:spcBef>
            </a:pPr>
            <a:r>
              <a:rPr sz="1300" b="0">
                <a:solidFill>
                  <a:srgbClr val="404040"/>
                </a:solidFill>
              </a:rPr>
              <a:t>Die 70-%-Hürde liegt mitten</a:t>
            </a:r>
          </a:p>
          <a:p>
            <a:pPr algn="l">
              <a:lnSpc>
                <a:spcPct val="95000"/>
              </a:lnSpc>
              <a:spcBef>
                <a:spcPts val="500"/>
              </a:spcBef>
            </a:pPr>
            <a:r>
              <a:rPr sz="1300" b="0">
                <a:solidFill>
                  <a:srgbClr val="404040"/>
                </a:solidFill>
              </a:rPr>
              <a:t>im Intervall.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ist damit nicht belegt,</a:t>
            </a:r>
          </a:p>
          <a:p>
            <a:pPr algn="l">
              <a:lnSpc>
                <a:spcPct val="95000"/>
              </a:lnSpc>
              <a:spcBef>
                <a:spcPts val="500"/>
              </a:spcBef>
            </a:pPr>
            <a:r>
              <a:rPr sz="1300" b="0">
                <a:solidFill>
                  <a:srgbClr val="404040"/>
                </a:solidFill>
              </a:rPr>
              <a:t>sondern nur nicht widerlegt.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Treffer weniger wäre</a:t>
            </a:r>
          </a:p>
          <a:p>
            <a:pPr algn="l">
              <a:lnSpc>
                <a:spcPct val="95000"/>
              </a:lnSpc>
              <a:spcBef>
                <a:spcPts val="500"/>
              </a:spcBef>
            </a:pPr>
            <a:r>
              <a:rPr sz="1300" b="0">
                <a:solidFill>
                  <a:srgbClr val="404040"/>
                </a:solidFill>
              </a:rPr>
              <a:t>exakt 70,0 % gewesen.</a:t>
            </a:r>
          </a:p>
        </p:txBody>
      </p:sp>
      <p:sp>
        <p:nvSpPr>
          <p:cNvPr id="12" name="Rectangle 11"/>
          <p:cNvSpPr/>
          <p:nvPr/>
        </p:nvSpPr>
        <p:spPr>
          <a:xfrm>
            <a:off x="908177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hilft</a:t>
            </a:r>
          </a:p>
          <a:p>
            <a:pPr algn="l">
              <a:lnSpc>
                <a:spcPct val="95000"/>
              </a:lnSpc>
              <a:spcBef>
                <a:spcPts val="500"/>
              </a:spcBef>
            </a:pPr>
            <a:r>
              <a:rPr sz="1300" b="0">
                <a:solidFill>
                  <a:srgbClr val="404040"/>
                </a:solidFill>
              </a:rPr>
              <a:t>Nicht ein größeres Modell,</a:t>
            </a:r>
          </a:p>
          <a:p>
            <a:pPr algn="l">
              <a:lnSpc>
                <a:spcPct val="95000"/>
              </a:lnSpc>
              <a:spcBef>
                <a:spcPts val="500"/>
              </a:spcBef>
            </a:pPr>
            <a:r>
              <a:rPr sz="1300" b="0">
                <a:solidFill>
                  <a:srgbClr val="404040"/>
                </a:solidFill>
              </a:rPr>
              <a:t>sondern mehr Perioden.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Fünf Quartale trennen die</a:t>
            </a:r>
          </a:p>
          <a:p>
            <a:pPr algn="l">
              <a:lnSpc>
                <a:spcPct val="95000"/>
              </a:lnSpc>
              <a:spcBef>
                <a:spcPts val="500"/>
              </a:spcBef>
            </a:pPr>
            <a:r>
              <a:rPr sz="1300" b="0">
                <a:solidFill>
                  <a:srgbClr val="404040"/>
                </a:solidFill>
              </a:rPr>
              <a:t>Verfahren, ein Quartal</a:t>
            </a:r>
          </a:p>
          <a:p>
            <a:pPr algn="l">
              <a:lnSpc>
                <a:spcPct val="95000"/>
              </a:lnSpc>
              <a:spcBef>
                <a:spcPts val="500"/>
              </a:spcBef>
            </a:pPr>
            <a:r>
              <a:rPr sz="1300" b="0">
                <a:solidFill>
                  <a:srgbClr val="404040"/>
                </a:solidFill>
              </a:rPr>
              <a:t>nicht.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Kriterien, und das dritte entscheidet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analytics/notebooks/02_Klassifikation_Wartungsrisiko.ipynb · Abschnitt 5.4</a:t>
            </a:r>
          </a:p>
        </p:txBody>
      </p:sp>
      <p:sp>
        <p:nvSpPr>
          <p:cNvPr id="5" name="Rectangle 4"/>
          <p:cNvSpPr/>
          <p:nvPr/>
        </p:nvSpPr>
        <p:spPr>
          <a:xfrm>
            <a:off x="1051560" y="2291797"/>
            <a:ext cx="11677649" cy="212200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riterien.png"/>
          <p:cNvPicPr>
            <a:picLocks noChangeAspect="1"/>
          </p:cNvPicPr>
          <p:nvPr/>
        </p:nvPicPr>
        <p:blipFill>
          <a:blip r:embed="rId2"/>
          <a:stretch>
            <a:fillRect/>
          </a:stretch>
        </p:blipFill>
        <p:spPr>
          <a:xfrm>
            <a:off x="1153160" y="2393397"/>
            <a:ext cx="11474449" cy="1918804"/>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Trefferquote und Kosten sind gleich. Das dritte Kriterium — der Vorteil über mehrere Quartale — reißt das Modell.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die Regel — und das Modell bleibt im Paket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Gleichstand gewinnt die einfachere Lösung. Das ist keine Bescheidenheit, sondern eine Rechnung über die Lebensdauer.</a:t>
            </a:r>
          </a:p>
        </p:txBody>
      </p:sp>
      <p:sp>
        <p:nvSpPr>
          <p:cNvPr id="6" name="Rectangle 5"/>
          <p:cNvSpPr/>
          <p:nvPr/>
        </p:nvSpPr>
        <p:spPr>
          <a:xfrm>
            <a:off x="1153160" y="1879600"/>
            <a:ext cx="3302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455160" y="1879600"/>
            <a:ext cx="406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519160" y="1879600"/>
            <a:ext cx="410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3368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Trefferquote auf dem Test</a:t>
            </a:r>
          </a:p>
        </p:txBody>
      </p:sp>
      <p:sp>
        <p:nvSpPr>
          <p:cNvPr id="10" name="Rectangle 9"/>
          <p:cNvSpPr/>
          <p:nvPr/>
        </p:nvSpPr>
        <p:spPr>
          <a:xfrm>
            <a:off x="4455160" y="23368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1" name="Rectangle 10"/>
          <p:cNvSpPr/>
          <p:nvPr/>
        </p:nvSpPr>
        <p:spPr>
          <a:xfrm>
            <a:off x="8519160" y="23368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2" name="Rectangle 11"/>
          <p:cNvSpPr/>
          <p:nvPr/>
        </p:nvSpPr>
        <p:spPr>
          <a:xfrm>
            <a:off x="1153160" y="27940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über fünf Validierungsquartale</a:t>
            </a:r>
          </a:p>
        </p:txBody>
      </p:sp>
      <p:sp>
        <p:nvSpPr>
          <p:cNvPr id="13" name="Rectangle 12"/>
          <p:cNvSpPr/>
          <p:nvPr/>
        </p:nvSpPr>
        <p:spPr>
          <a:xfrm>
            <a:off x="4455160" y="27940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 Treffer</a:t>
            </a:r>
          </a:p>
        </p:txBody>
      </p:sp>
      <p:sp>
        <p:nvSpPr>
          <p:cNvPr id="14" name="Rectangle 13"/>
          <p:cNvSpPr/>
          <p:nvPr/>
        </p:nvSpPr>
        <p:spPr>
          <a:xfrm>
            <a:off x="8519160" y="27940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 Treffer</a:t>
            </a:r>
          </a:p>
        </p:txBody>
      </p:sp>
      <p:sp>
        <p:nvSpPr>
          <p:cNvPr id="15" name="Rectangle 14"/>
          <p:cNvSpPr/>
          <p:nvPr/>
        </p:nvSpPr>
        <p:spPr>
          <a:xfrm>
            <a:off x="1153160" y="32512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erklärbar</a:t>
            </a:r>
          </a:p>
        </p:txBody>
      </p:sp>
      <p:sp>
        <p:nvSpPr>
          <p:cNvPr id="16" name="Rectangle 15"/>
          <p:cNvSpPr/>
          <p:nvPr/>
        </p:nvSpPr>
        <p:spPr>
          <a:xfrm>
            <a:off x="4455160" y="32512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„seit 592 km nicht in der Werkstatt“</a:t>
            </a:r>
          </a:p>
        </p:txBody>
      </p:sp>
      <p:sp>
        <p:nvSpPr>
          <p:cNvPr id="17" name="Rectangle 16"/>
          <p:cNvSpPr/>
          <p:nvPr/>
        </p:nvSpPr>
        <p:spPr>
          <a:xfrm>
            <a:off x="8519160" y="32512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Umwege</a:t>
            </a:r>
          </a:p>
        </p:txBody>
      </p:sp>
      <p:sp>
        <p:nvSpPr>
          <p:cNvPr id="18" name="Rectangle 17"/>
          <p:cNvSpPr/>
          <p:nvPr/>
        </p:nvSpPr>
        <p:spPr>
          <a:xfrm>
            <a:off x="1153160" y="37084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Wartungsaufwand</a:t>
            </a:r>
          </a:p>
        </p:txBody>
      </p:sp>
      <p:sp>
        <p:nvSpPr>
          <p:cNvPr id="19" name="Rectangle 18"/>
          <p:cNvSpPr/>
          <p:nvPr/>
        </p:nvSpPr>
        <p:spPr>
          <a:xfrm>
            <a:off x="4455160" y="37084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keiner</a:t>
            </a:r>
          </a:p>
        </p:txBody>
      </p:sp>
      <p:sp>
        <p:nvSpPr>
          <p:cNvPr id="20" name="Rectangle 19"/>
          <p:cNvSpPr/>
          <p:nvPr/>
        </p:nvSpPr>
        <p:spPr>
          <a:xfrm>
            <a:off x="8519160" y="37084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41656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Abhängigkeiten im Betrieb</a:t>
            </a:r>
          </a:p>
        </p:txBody>
      </p:sp>
      <p:sp>
        <p:nvSpPr>
          <p:cNvPr id="22" name="Rectangle 21"/>
          <p:cNvSpPr/>
          <p:nvPr/>
        </p:nvSpPr>
        <p:spPr>
          <a:xfrm>
            <a:off x="4455160" y="41656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3" name="Rectangle 22"/>
          <p:cNvSpPr/>
          <p:nvPr/>
        </p:nvSpPr>
        <p:spPr>
          <a:xfrm>
            <a:off x="8519160" y="41656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scikit-learn, joblib, Versionsstände</a:t>
            </a:r>
          </a:p>
        </p:txBody>
      </p:sp>
      <p:sp>
        <p:nvSpPr>
          <p:cNvPr id="24" name="Rectangle 23"/>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unteren drei Zeilen sind der Preis eines Modells. Er wäre zu zahlen, wenn die oberen beiden dafür sprächen. Sie tun es nicht.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6" name="Rectangle 3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Modell trotzdem nicht umsonst war</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Verfahren, das nicht ausgeliefert wird, kann trotzdem die wertvollste Auskunft des Projekts liefern.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belegt die Wahl</a:t>
            </a:r>
          </a:p>
          <a:p>
            <a:pPr algn="l">
              <a:lnSpc>
                <a:spcPct val="95000"/>
              </a:lnSpc>
              <a:spcBef>
                <a:spcPts val="500"/>
              </a:spcBef>
            </a:pPr>
            <a:r>
              <a:rPr sz="1300" b="0">
                <a:solidFill>
                  <a:srgbClr val="404040"/>
                </a:solidFill>
              </a:rPr>
              <a:t>Die Regel ist nicht aus</a:t>
            </a:r>
          </a:p>
          <a:p>
            <a:pPr algn="l">
              <a:lnSpc>
                <a:spcPct val="95000"/>
              </a:lnSpc>
              <a:spcBef>
                <a:spcPts val="500"/>
              </a:spcBef>
            </a:pPr>
            <a:r>
              <a:rPr sz="1300" b="0">
                <a:solidFill>
                  <a:srgbClr val="404040"/>
                </a:solidFill>
              </a:rPr>
              <a:t>Bequemlichkeit gewählt,</a:t>
            </a:r>
          </a:p>
          <a:p>
            <a:pPr algn="l">
              <a:lnSpc>
                <a:spcPct val="95000"/>
              </a:lnSpc>
              <a:spcBef>
                <a:spcPts val="500"/>
              </a:spcBef>
            </a:pPr>
            <a:r>
              <a:rPr sz="1300" b="0">
                <a:solidFill>
                  <a:srgbClr val="404040"/>
                </a:solidFill>
              </a:rPr>
              <a:t>sondern geprüft.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der Unterschied</a:t>
            </a:r>
          </a:p>
          <a:p>
            <a:pPr algn="l">
              <a:lnSpc>
                <a:spcPct val="95000"/>
              </a:lnSpc>
              <a:spcBef>
                <a:spcPts val="500"/>
              </a:spcBef>
            </a:pPr>
            <a:r>
              <a:rPr sz="1300" b="0">
                <a:solidFill>
                  <a:srgbClr val="404040"/>
                </a:solidFill>
              </a:rPr>
              <a:t>zwischen einer Entscheidung</a:t>
            </a:r>
          </a:p>
          <a:p>
            <a:pPr algn="l">
              <a:lnSpc>
                <a:spcPct val="95000"/>
              </a:lnSpc>
              <a:spcBef>
                <a:spcPts val="500"/>
              </a:spcBef>
            </a:pPr>
            <a:r>
              <a:rPr sz="1300" b="0">
                <a:solidFill>
                  <a:srgbClr val="404040"/>
                </a:solidFill>
              </a:rPr>
              <a:t>und einer Unterlassung.</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misst die Obergrenze</a:t>
            </a:r>
          </a:p>
          <a:p>
            <a:pPr algn="l">
              <a:lnSpc>
                <a:spcPct val="95000"/>
              </a:lnSpc>
              <a:spcBef>
                <a:spcPts val="500"/>
              </a:spcBef>
            </a:pPr>
            <a:r>
              <a:rPr sz="1300" b="0">
                <a:solidFill>
                  <a:srgbClr val="404040"/>
                </a:solidFill>
              </a:rPr>
              <a:t>Ein Wald mit 300 Bäumen</a:t>
            </a:r>
          </a:p>
          <a:p>
            <a:pPr algn="l">
              <a:lnSpc>
                <a:spcPct val="95000"/>
              </a:lnSpc>
              <a:spcBef>
                <a:spcPts val="500"/>
              </a:spcBef>
            </a:pPr>
            <a:r>
              <a:rPr sz="1300" b="0">
                <a:solidFill>
                  <a:srgbClr val="404040"/>
                </a:solidFill>
              </a:rPr>
              <a:t>findet auf diesen Merkmalen</a:t>
            </a:r>
          </a:p>
          <a:p>
            <a:pPr algn="l">
              <a:lnSpc>
                <a:spcPct val="95000"/>
              </a:lnSpc>
              <a:spcBef>
                <a:spcPts val="500"/>
              </a:spcBef>
            </a:pPr>
            <a:r>
              <a:rPr sz="1300" b="0">
                <a:solidFill>
                  <a:srgbClr val="404040"/>
                </a:solidFill>
              </a:rPr>
              <a:t>nichts, was über „Kilometer</a:t>
            </a:r>
          </a:p>
          <a:p>
            <a:pPr algn="l">
              <a:lnSpc>
                <a:spcPct val="95000"/>
              </a:lnSpc>
              <a:spcBef>
                <a:spcPts val="500"/>
              </a:spcBef>
            </a:pPr>
            <a:r>
              <a:rPr sz="1300" b="0">
                <a:solidFill>
                  <a:srgbClr val="404040"/>
                </a:solidFill>
              </a:rPr>
              <a:t>seit der Reparatur“ hinausgeht.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Mehr Rechenleistung hilft</a:t>
            </a:r>
          </a:p>
          <a:p>
            <a:pPr algn="l">
              <a:lnSpc>
                <a:spcPct val="95000"/>
              </a:lnSpc>
              <a:spcBef>
                <a:spcPts val="500"/>
              </a:spcBef>
            </a:pPr>
            <a:r>
              <a:rPr sz="1300" b="0">
                <a:solidFill>
                  <a:srgbClr val="404040"/>
                </a:solidFill>
              </a:rPr>
              <a:t>hier nicht.</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ist der nächste Anlauf</a:t>
            </a:r>
          </a:p>
          <a:p>
            <a:pPr algn="l">
              <a:lnSpc>
                <a:spcPct val="95000"/>
              </a:lnSpc>
              <a:spcBef>
                <a:spcPts val="500"/>
              </a:spcBef>
            </a:pPr>
            <a:r>
              <a:rPr sz="1300" b="0">
                <a:solidFill>
                  <a:srgbClr val="404040"/>
                </a:solidFill>
              </a:rPr>
              <a:t>Kommen neue Merkmale dazu —</a:t>
            </a:r>
          </a:p>
          <a:p>
            <a:pPr algn="l">
              <a:lnSpc>
                <a:spcPct val="95000"/>
              </a:lnSpc>
              <a:spcBef>
                <a:spcPts val="500"/>
              </a:spcBef>
            </a:pPr>
            <a:r>
              <a:rPr sz="1300" b="0">
                <a:solidFill>
                  <a:srgbClr val="404040"/>
                </a:solidFill>
              </a:rPr>
              <a:t>Stürze, Standzeiten, Stationen</a:t>
            </a:r>
          </a:p>
          <a:p>
            <a:pPr algn="l">
              <a:lnSpc>
                <a:spcPct val="95000"/>
              </a:lnSpc>
              <a:spcBef>
                <a:spcPts val="500"/>
              </a:spcBef>
            </a:pPr>
            <a:r>
              <a:rPr sz="1300" b="0">
                <a:solidFill>
                  <a:srgbClr val="404040"/>
                </a:solidFill>
              </a:rPr>
              <a:t>der Fahrten —, wird der</a:t>
            </a:r>
          </a:p>
          <a:p>
            <a:pPr algn="l">
              <a:lnSpc>
                <a:spcPct val="95000"/>
              </a:lnSpc>
              <a:spcBef>
                <a:spcPts val="500"/>
              </a:spcBef>
            </a:pPr>
            <a:r>
              <a:rPr sz="1300" b="0">
                <a:solidFill>
                  <a:srgbClr val="404040"/>
                </a:solidFill>
              </a:rPr>
              <a:t>Vergleich wiederholt.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Dann kann er anders</a:t>
            </a:r>
          </a:p>
          <a:p>
            <a:pPr algn="l">
              <a:lnSpc>
                <a:spcPct val="95000"/>
              </a:lnSpc>
              <a:spcBef>
                <a:spcPts val="500"/>
              </a:spcBef>
            </a:pPr>
            <a:r>
              <a:rPr sz="1300" b="0">
                <a:solidFill>
                  <a:srgbClr val="404040"/>
                </a:solidFill>
              </a:rPr>
              <a:t>ausgehen.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Rückkopplung, die dieses Verfahren schwierig macht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Wer die Liste abarbeitet, verändert die Daten, aus denen das nächste Modell lernt. Diese Falle betrifft jede vorausschauende Wartung.</a:t>
            </a:r>
          </a:p>
        </p:txBody>
      </p:sp>
      <p:sp>
        <p:nvSpPr>
          <p:cNvPr id="6" name="Rectangle 5"/>
          <p:cNvSpPr/>
          <p:nvPr/>
        </p:nvSpPr>
        <p:spPr>
          <a:xfrm>
            <a:off x="1051560" y="2079887"/>
            <a:ext cx="11677650" cy="356182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2-rueckkopplung.png"/>
          <p:cNvPicPr>
            <a:picLocks noChangeAspect="1"/>
          </p:cNvPicPr>
          <p:nvPr/>
        </p:nvPicPr>
        <p:blipFill>
          <a:blip r:embed="rId2"/>
          <a:stretch>
            <a:fillRect/>
          </a:stretch>
        </p:blipFill>
        <p:spPr>
          <a:xfrm>
            <a:off x="1153160" y="2181487"/>
            <a:ext cx="11474450" cy="3358624"/>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2 · Abschluss</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Fall, der mit einem negativen Modellurteil endet — und trotzdem ein Erfolg ist.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Kostenmatrix 180 € gegen 25 €, zwei Kriterien — eines davon der Vergleich mit der Faustregel</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 ≈ 0,7, aber nicht deterministisch. 44 % melden sich, die Werkstatt schafft 26 %</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Zeitlicher Schnitt, acht Stichtage, jüngster als Test</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Erst zwei Faustregeln, dann Baum und Wald mit class_weight aus der Kostenmatrix</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Gleichstand auf dem Test. Über fünf Validierungsquartale liegt die Regel vorn: 137 gegen 129 Treffer</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Regel — mit Wartungsliste, Überwachung und der Rückkopplungsfalle. Das Modell bleibt im Paket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legt man Erfolgskriterien fest, wenn es gar keine richtige Antwort gibt, an der man messen könnte?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Fragen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Welche Stationstypen gibt es? B) Welche Kundengruppen?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finden, die niemand vorgegeben hat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 also auch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Benennbar · unterschiedlich behandelbar · groß genug · stabil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k über Ellenbogenmethode und Silhouettenwert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Stationstypen, gegen die verdeckte Wahrheit geprüft: 100 % — und zwei Befunde, die weh tun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Erfolgskriterien ohne richtige Antwort</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Label gibt es keine Trefferquote. Die Kriterien kommen deshalb aus dem Betrieb — und sie sind schärfer, als sie klingen.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Benennbar  </a:t>
            </a:r>
            <a:r>
              <a:rPr sz="1300">
                <a:solidFill>
                  <a:srgbClr val="404040"/>
                </a:solidFill>
              </a:rPr>
              <a:t>Wenn die Disposition der Gruppe keinen Namen geben kann, ist sie keine Gruppe</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Behandelbar  </a:t>
            </a:r>
            <a:r>
              <a:rPr sz="1300">
                <a:solidFill>
                  <a:srgbClr val="404040"/>
                </a:solidFill>
              </a:rPr>
              <a:t>Zwei Gruppen, die man gleich behandelt, sind eine Gruppe</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Groß genug  </a:t>
            </a:r>
            <a:r>
              <a:rPr sz="1300">
                <a:solidFill>
                  <a:srgbClr val="404040"/>
                </a:solidFill>
              </a:rPr>
              <a:t>Eine Gruppe mit drei Mitgliedern rechtfertigt keinen eigenen Prozess</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Stabil  </a:t>
            </a:r>
            <a:r>
              <a:rPr sz="1300">
                <a:solidFill>
                  <a:srgbClr val="404040"/>
                </a:solidFill>
              </a:rPr>
              <a:t>Andere Zeiträume, ähnliche Gruppen — sonst hat man Rauschen gruppiert</a:t>
            </a:r>
          </a:p>
        </p:txBody>
      </p:sp>
      <p:sp>
        <p:nvSpPr>
          <p:cNvPr id="22" name="Rectangle 21"/>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3 · Phasen 2 und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Daten hergeben — und warum hier zwingend standardisiert werden muss.</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Die Stammdaten enthalten keinen Stationstyp. Das Muster steckt nicht in den Attributen, sondern im Verhalten über den Tag</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3.A  </a:t>
            </a:r>
            <a:r>
              <a:rPr sz="1300">
                <a:solidFill>
                  <a:srgbClr val="404040"/>
                </a:solidFill>
              </a:rPr>
              <a:t>Tagesgang je Station, normiert und standardisiert</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3.B  </a:t>
            </a:r>
            <a:r>
              <a:rPr sz="1300">
                <a:solidFill>
                  <a:srgbClr val="404040"/>
                </a:solidFill>
              </a:rPr>
              <a:t>RFM über 365 Tage: Recency, Frequency, Monetary — Frequenz und Umsatz logarithmiert, weil beide stark rechtsschief sind</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viele Gruppen? Zwei Hinweise, keine Antwort</a:t>
            </a:r>
          </a:p>
        </p:txBody>
      </p:sp>
      <p:sp>
        <p:nvSpPr>
          <p:cNvPr id="3" name="Text Placeholder 2"/>
          <p:cNvSpPr>
            <a:spLocks noGrp="1"/>
          </p:cNvSpPr>
          <p:nvPr>
            <p:ph type="body" idx="12" sz="quarter"/>
          </p:nvPr>
        </p:nvSpPr>
        <p:spPr/>
        <p:txBody>
          <a:bodyPr/>
          <a:lstStyle/>
          <a:p>
            <a:r>
              <a:t>Fall 3 · Phase 4</a:t>
            </a:r>
          </a:p>
        </p:txBody>
      </p:sp>
      <p:sp>
        <p:nvSpPr>
          <p:cNvPr id="4" name="Text Placeholder 3"/>
          <p:cNvSpPr>
            <a:spLocks noGrp="1"/>
          </p:cNvSpPr>
          <p:nvPr>
            <p:ph type="body" idx="13" sz="quarter"/>
          </p:nvPr>
        </p:nvSpPr>
        <p:spPr/>
        <p:txBody>
          <a:bodyPr/>
          <a:lstStyle/>
          <a:p>
            <a:r>
              <a:t>analytics/notebooks/03_Clustering_Stationen_und_Kunden.ipynb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 wird nicht berechnet, sondern begründet. Zwei Werkzeuge helfen — entscheiden muss der Mensch.</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Ellenbogenmethode</a:t>
            </a:r>
          </a:p>
          <a:p>
            <a:pPr algn="l">
              <a:lnSpc>
                <a:spcPct val="95000"/>
              </a:lnSpc>
              <a:spcBef>
                <a:spcPts val="500"/>
              </a:spcBef>
            </a:pPr>
            <a:r>
              <a:rPr sz="1300" b="0">
                <a:solidFill>
                  <a:srgbClr val="404040"/>
                </a:solidFill>
              </a:rPr>
              <a:t>Man rechnet k = 2, 3, 4 …</a:t>
            </a:r>
          </a:p>
          <a:p>
            <a:pPr algn="l">
              <a:lnSpc>
                <a:spcPct val="95000"/>
              </a:lnSpc>
              <a:spcBef>
                <a:spcPts val="500"/>
              </a:spcBef>
            </a:pPr>
            <a:r>
              <a:rPr sz="1300" b="0">
                <a:solidFill>
                  <a:srgbClr val="404040"/>
                </a:solidFill>
              </a:rPr>
              <a:t>und trägt die Streuung</a:t>
            </a:r>
          </a:p>
          <a:p>
            <a:pPr algn="l">
              <a:lnSpc>
                <a:spcPct val="95000"/>
              </a:lnSpc>
              <a:spcBef>
                <a:spcPts val="500"/>
              </a:spcBef>
            </a:pPr>
            <a:r>
              <a:rPr sz="1300" b="0">
                <a:solidFill>
                  <a:srgbClr val="404040"/>
                </a:solidFill>
              </a:rPr>
              <a:t>innerhalb der Gruppen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Wo der Knick ist, bringt eine</a:t>
            </a:r>
          </a:p>
          <a:p>
            <a:pPr algn="l">
              <a:lnSpc>
                <a:spcPct val="95000"/>
              </a:lnSpc>
              <a:spcBef>
                <a:spcPts val="500"/>
              </a:spcBef>
            </a:pPr>
            <a:r>
              <a:rPr sz="1300" b="0">
                <a:solidFill>
                  <a:srgbClr val="404040"/>
                </a:solidFill>
              </a:rPr>
              <a:t>weitere Gruppe wenig.</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Silhouettenwert</a:t>
            </a:r>
          </a:p>
          <a:p>
            <a:pPr algn="l">
              <a:lnSpc>
                <a:spcPct val="95000"/>
              </a:lnSpc>
              <a:spcBef>
                <a:spcPts val="500"/>
              </a:spcBef>
            </a:pPr>
            <a:r>
              <a:rPr sz="1300" b="0">
                <a:solidFill>
                  <a:srgbClr val="404040"/>
                </a:solidFill>
              </a:rPr>
              <a:t>Misst je Punkt: Wie nah bin</a:t>
            </a:r>
          </a:p>
          <a:p>
            <a:pPr algn="l">
              <a:lnSpc>
                <a:spcPct val="95000"/>
              </a:lnSpc>
              <a:spcBef>
                <a:spcPts val="500"/>
              </a:spcBef>
            </a:pPr>
            <a:r>
              <a:rPr sz="1300" b="0">
                <a:solidFill>
                  <a:srgbClr val="404040"/>
                </a:solidFill>
              </a:rPr>
              <a:t>ich meiner Gruppe gegenüber</a:t>
            </a:r>
          </a:p>
          <a:p>
            <a:pPr algn="l">
              <a:lnSpc>
                <a:spcPct val="95000"/>
              </a:lnSpc>
              <a:spcBef>
                <a:spcPts val="500"/>
              </a:spcBef>
            </a:pPr>
            <a:r>
              <a:rPr sz="1300" b="0">
                <a:solidFill>
                  <a:srgbClr val="404040"/>
                </a:solidFill>
              </a:rPr>
              <a:t>der nächsten fremden?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Höher ist besser.</a:t>
            </a:r>
          </a:p>
          <a:p>
            <a:pPr algn="l">
              <a:lnSpc>
                <a:spcPct val="95000"/>
              </a:lnSpc>
              <a:spcBef>
                <a:spcPts val="500"/>
              </a:spcBef>
            </a:pPr>
            <a:r>
              <a:rPr sz="1300" b="0">
                <a:solidFill>
                  <a:srgbClr val="404040"/>
                </a:solidFill>
              </a:rPr>
              <a:t>Bereich −1 bis +1.</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Und dann?</a:t>
            </a:r>
          </a:p>
          <a:p>
            <a:pPr algn="l">
              <a:lnSpc>
                <a:spcPct val="95000"/>
              </a:lnSpc>
              <a:spcBef>
                <a:spcPts val="500"/>
              </a:spcBef>
            </a:pPr>
            <a:r>
              <a:rPr sz="1300" b="0">
                <a:solidFill>
                  <a:srgbClr val="404040"/>
                </a:solidFill>
              </a:rPr>
              <a:t>Beide Werkzeuge geben einen</a:t>
            </a:r>
          </a:p>
          <a:p>
            <a:pPr algn="l">
              <a:lnSpc>
                <a:spcPct val="95000"/>
              </a:lnSpc>
              <a:spcBef>
                <a:spcPts val="500"/>
              </a:spcBef>
            </a:pPr>
            <a:r>
              <a:rPr sz="1300" b="0">
                <a:solidFill>
                  <a:srgbClr val="404040"/>
                </a:solidFill>
              </a:rPr>
              <a:t>Hinweis, keinen Beweis.</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Entscheidung fällt an</a:t>
            </a:r>
          </a:p>
          <a:p>
            <a:pPr algn="l">
              <a:lnSpc>
                <a:spcPct val="95000"/>
              </a:lnSpc>
              <a:spcBef>
                <a:spcPts val="500"/>
              </a:spcBef>
            </a:pPr>
            <a:r>
              <a:rPr sz="1300" b="0">
                <a:solidFill>
                  <a:srgbClr val="404040"/>
                </a:solidFill>
              </a:rPr>
              <a:t>Kriterium 1 aus Phase 1:</a:t>
            </a:r>
          </a:p>
          <a:p>
            <a:pPr algn="l">
              <a:lnSpc>
                <a:spcPct val="95000"/>
              </a:lnSpc>
              <a:spcBef>
                <a:spcPts val="500"/>
              </a:spcBef>
            </a:pPr>
            <a:r>
              <a:rPr sz="1300" b="0">
                <a:solidFill>
                  <a:srgbClr val="404040"/>
                </a:solidFill>
              </a:rPr>
              <a:t>Kann man sie benennen?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Ellenbogen und Silhouette, nebeneinander 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analytics/notebooks/03_Clustering_Stationen_und_Kunden.ipynb · Abschnitt 4.2</a:t>
            </a:r>
          </a:p>
        </p:txBody>
      </p:sp>
      <p:sp>
        <p:nvSpPr>
          <p:cNvPr id="5" name="Rectangle 4"/>
          <p:cNvSpPr/>
          <p:nvPr/>
        </p:nvSpPr>
        <p:spPr>
          <a:xfrm>
            <a:off x="1762641" y="1168400"/>
            <a:ext cx="1025548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k.png"/>
          <p:cNvPicPr>
            <a:picLocks noChangeAspect="1"/>
          </p:cNvPicPr>
          <p:nvPr/>
        </p:nvPicPr>
        <p:blipFill>
          <a:blip r:embed="rId2"/>
          <a:stretch>
            <a:fillRect/>
          </a:stretch>
        </p:blipFill>
        <p:spPr>
          <a:xfrm>
            <a:off x="1864241" y="1270000"/>
            <a:ext cx="1005228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Zwei Kennzahlen je k — und keine davon entscheidet. Die Entscheidung fällt am Kriterium „benennbar“ aus Phase 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Befunde, die weh tun</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Segmentierung sollte Zielgruppen für den Newsletter liefern. Herausgekommen ist eine Frage an die Preisgestaltung.</a:t>
            </a:r>
          </a:p>
        </p:txBody>
      </p:sp>
      <p:sp>
        <p:nvSpPr>
          <p:cNvPr id="6" name="Rectangle 5"/>
          <p:cNvSpPr/>
          <p:nvPr/>
        </p:nvSpPr>
        <p:spPr>
          <a:xfrm>
            <a:off x="115316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1</a:t>
            </a:r>
          </a:p>
          <a:p>
            <a:pPr algn="l">
              <a:lnSpc>
                <a:spcPct val="95000"/>
              </a:lnSpc>
              <a:spcBef>
                <a:spcPts val="500"/>
              </a:spcBef>
            </a:pPr>
            <a:r>
              <a:rPr sz="1300" b="0">
                <a:solidFill>
                  <a:srgbClr val="404040"/>
                </a:solidFill>
              </a:rPr>
              <a:t>Die Vielfahrer fahren 2,4-mal</a:t>
            </a:r>
          </a:p>
          <a:p>
            <a:pPr algn="l">
              <a:lnSpc>
                <a:spcPct val="95000"/>
              </a:lnSpc>
              <a:spcBef>
                <a:spcPts val="500"/>
              </a:spcBef>
            </a:pPr>
            <a:r>
              <a:rPr sz="1300" b="0">
                <a:solidFill>
                  <a:srgbClr val="404040"/>
                </a:solidFill>
              </a:rPr>
              <a:t>so oft wie die Umsatzträger</a:t>
            </a:r>
          </a:p>
          <a:p>
            <a:pPr algn="l">
              <a:lnSpc>
                <a:spcPct val="95000"/>
              </a:lnSpc>
              <a:spcBef>
                <a:spcPts val="500"/>
              </a:spcBef>
            </a:pPr>
            <a:r>
              <a:rPr sz="1300" b="0">
                <a:solidFill>
                  <a:srgbClr val="404040"/>
                </a:solidFill>
              </a:rPr>
              <a:t>und bringen ein Viertel des</a:t>
            </a:r>
          </a:p>
          <a:p>
            <a:pPr algn="l">
              <a:lnSpc>
                <a:spcPct val="95000"/>
              </a:lnSpc>
              <a:spcBef>
                <a:spcPts val="500"/>
              </a:spcBef>
            </a:pPr>
            <a:r>
              <a:rPr sz="1300" b="0">
                <a:solidFill>
                  <a:srgbClr val="404040"/>
                </a:solidFill>
              </a:rPr>
              <a:t>Jahresumsatzes.</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Je Fahrt: 0,59 € gegen 5,49 €.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der geringste Umsatz —</a:t>
            </a:r>
          </a:p>
          <a:p>
            <a:pPr algn="l">
              <a:lnSpc>
                <a:spcPct val="95000"/>
              </a:lnSpc>
              <a:spcBef>
                <a:spcPts val="500"/>
              </a:spcBef>
            </a:pPr>
            <a:r>
              <a:rPr sz="1300" b="0">
                <a:solidFill>
                  <a:srgbClr val="404040"/>
                </a:solidFill>
              </a:rPr>
              <a:t>der geringste JE FAHRT.</a:t>
            </a:r>
          </a:p>
        </p:txBody>
      </p:sp>
      <p:sp>
        <p:nvSpPr>
          <p:cNvPr id="9" name="Rectangle 8"/>
          <p:cNvSpPr/>
          <p:nvPr/>
        </p:nvSpPr>
        <p:spPr>
          <a:xfrm>
            <a:off x="511302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2</a:t>
            </a:r>
          </a:p>
          <a:p>
            <a:pPr algn="l">
              <a:lnSpc>
                <a:spcPct val="95000"/>
              </a:lnSpc>
              <a:spcBef>
                <a:spcPts val="500"/>
              </a:spcBef>
            </a:pPr>
            <a:r>
              <a:rPr sz="1300" b="0">
                <a:solidFill>
                  <a:srgbClr val="404040"/>
                </a:solidFill>
              </a:rPr>
              <a:t>Knapp ein Drittel der</a:t>
            </a:r>
          </a:p>
          <a:p>
            <a:pPr algn="l">
              <a:lnSpc>
                <a:spcPct val="95000"/>
              </a:lnSpc>
              <a:spcBef>
                <a:spcPts val="500"/>
              </a:spcBef>
            </a:pPr>
            <a:r>
              <a:rPr sz="1300" b="0">
                <a:solidFill>
                  <a:srgbClr val="404040"/>
                </a:solidFill>
              </a:rPr>
              <a:t>Kundschaft — 998 von 3.200 —</a:t>
            </a:r>
          </a:p>
          <a:p>
            <a:pPr algn="l">
              <a:lnSpc>
                <a:spcPct val="95000"/>
              </a:lnSpc>
              <a:spcBef>
                <a:spcPts val="500"/>
              </a:spcBef>
            </a:pPr>
            <a:r>
              <a:rPr sz="1300" b="0">
                <a:solidFill>
                  <a:srgbClr val="404040"/>
                </a:solidFill>
              </a:rPr>
              <a:t>taucht in der Segmentierung</a:t>
            </a:r>
          </a:p>
          <a:p>
            <a:pPr algn="l">
              <a:lnSpc>
                <a:spcPct val="95000"/>
              </a:lnSpc>
              <a:spcBef>
                <a:spcPts val="500"/>
              </a:spcBef>
            </a:pPr>
            <a:r>
              <a:rPr sz="1300" b="0">
                <a:solidFill>
                  <a:srgbClr val="404040"/>
                </a:solidFill>
              </a:rPr>
              <a:t>gar nicht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RFM sieht nur, wer kauft.</a:t>
            </a:r>
          </a:p>
          <a:p>
            <a:pPr algn="l">
              <a:lnSpc>
                <a:spcPct val="95000"/>
              </a:lnSpc>
              <a:spcBef>
                <a:spcPts val="500"/>
              </a:spcBef>
            </a:pPr>
            <a:r>
              <a:rPr sz="1300" b="0">
                <a:solidFill>
                  <a:srgbClr val="404040"/>
                </a:solidFill>
              </a:rPr>
              <a:t>Wer aufgehört hat, fällt aus</a:t>
            </a:r>
          </a:p>
          <a:p>
            <a:pPr algn="l">
              <a:lnSpc>
                <a:spcPct val="95000"/>
              </a:lnSpc>
              <a:spcBef>
                <a:spcPts val="500"/>
              </a:spcBef>
            </a:pPr>
            <a:r>
              <a:rPr sz="1300" b="0">
                <a:solidFill>
                  <a:srgbClr val="404040"/>
                </a:solidFill>
              </a:rPr>
              <a:t>der Tabelle — und aus dem</a:t>
            </a:r>
          </a:p>
          <a:p>
            <a:pPr algn="l">
              <a:lnSpc>
                <a:spcPct val="95000"/>
              </a:lnSpc>
              <a:spcBef>
                <a:spcPts val="500"/>
              </a:spcBef>
            </a:pPr>
            <a:r>
              <a:rPr sz="1300" b="0">
                <a:solidFill>
                  <a:srgbClr val="404040"/>
                </a:solidFill>
              </a:rPr>
              <a:t>Blick.</a:t>
            </a:r>
          </a:p>
        </p:txBody>
      </p:sp>
      <p:sp>
        <p:nvSpPr>
          <p:cNvPr id="12" name="Rectangle 11"/>
          <p:cNvSpPr/>
          <p:nvPr/>
        </p:nvSpPr>
        <p:spPr>
          <a:xfrm>
            <a:off x="908177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Kein Messfehler, sondern ein</a:t>
            </a:r>
          </a:p>
          <a:p>
            <a:pPr algn="l">
              <a:lnSpc>
                <a:spcPct val="95000"/>
              </a:lnSpc>
              <a:spcBef>
                <a:spcPts val="500"/>
              </a:spcBef>
            </a:pPr>
            <a:r>
              <a:rPr sz="1300" b="0">
                <a:solidFill>
                  <a:srgbClr val="404040"/>
                </a:solidFill>
              </a:rPr>
              <a:t>Preisproblem, das die</a:t>
            </a:r>
          </a:p>
          <a:p>
            <a:pPr algn="l">
              <a:lnSpc>
                <a:spcPct val="95000"/>
              </a:lnSpc>
              <a:spcBef>
                <a:spcPts val="500"/>
              </a:spcBef>
            </a:pPr>
            <a:r>
              <a:rPr sz="1300" b="0">
                <a:solidFill>
                  <a:srgbClr val="404040"/>
                </a:solidFill>
              </a:rPr>
              <a:t>Segmentierung sichtbar</a:t>
            </a:r>
          </a:p>
          <a:p>
            <a:pPr algn="l">
              <a:lnSpc>
                <a:spcPct val="95000"/>
              </a:lnSpc>
              <a:spcBef>
                <a:spcPts val="500"/>
              </a:spcBef>
            </a:pPr>
            <a:r>
              <a:rPr sz="1300" b="0">
                <a:solidFill>
                  <a:srgbClr val="404040"/>
                </a:solidFill>
              </a:rPr>
              <a:t>gemacht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ein Rücksprung nach</a:t>
            </a:r>
          </a:p>
          <a:p>
            <a:pPr algn="l">
              <a:lnSpc>
                <a:spcPct val="95000"/>
              </a:lnSpc>
              <a:spcBef>
                <a:spcPts val="500"/>
              </a:spcBef>
            </a:pPr>
            <a:r>
              <a:rPr sz="1300" b="0">
                <a:solidFill>
                  <a:srgbClr val="404040"/>
                </a:solidFill>
              </a:rPr>
              <a:t>Phase 1 — mit einer besseren</a:t>
            </a:r>
          </a:p>
          <a:p>
            <a:pPr algn="l">
              <a:lnSpc>
                <a:spcPct val="95000"/>
              </a:lnSpc>
              <a:spcBef>
                <a:spcPts val="500"/>
              </a:spcBef>
            </a:pPr>
            <a:r>
              <a:rPr sz="1300" b="0">
                <a:solidFill>
                  <a:srgbClr val="404040"/>
                </a:solidFill>
              </a:rPr>
              <a:t>Frage als der ersten.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Idee für die Geschäftsführung — ausdrücklich als Hypothese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analytics/notebooks/03_Clustering_Stationen_und_Kunden.ipynb · Abschnitt 5.B.3</a:t>
            </a:r>
          </a:p>
        </p:txBody>
      </p:sp>
      <p:sp>
        <p:nvSpPr>
          <p:cNvPr id="5" name="Rectangle 4"/>
          <p:cNvSpPr/>
          <p:nvPr/>
        </p:nvSpPr>
        <p:spPr>
          <a:xfrm>
            <a:off x="2632355" y="1168400"/>
            <a:ext cx="8516058"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hypothese.png"/>
          <p:cNvPicPr>
            <a:picLocks noChangeAspect="1"/>
          </p:cNvPicPr>
          <p:nvPr/>
        </p:nvPicPr>
        <p:blipFill>
          <a:blip r:embed="rId2"/>
          <a:stretch>
            <a:fillRect/>
          </a:stretch>
        </p:blipFill>
        <p:spPr>
          <a:xfrm>
            <a:off x="2733955" y="1270000"/>
            <a:ext cx="8312858"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schreibt „HYPOTHESE, kein Befund“ in die Ausgabe selbst. Damit kann die Zahl nicht als Ergebnis missverstanden werden.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Auslieferungen, zwei Vorbehalte</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Analyse werden zwei sehr verschiedene Produkte — und beide tragen eine Einschränkung.</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A — Disposition</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Dispositionsplan als CSV</a:t>
            </a:r>
          </a:p>
          <a:p>
            <a:pPr algn="l">
              <a:lnSpc>
                <a:spcPct val="95000"/>
              </a:lnSpc>
              <a:spcBef>
                <a:spcPts val="300"/>
              </a:spcBef>
            </a:pPr>
            <a:r>
              <a:rPr sz="1300" b="0">
                <a:solidFill>
                  <a:srgbClr val="404040"/>
                </a:solidFill>
              </a:rPr>
              <a:t>Je Station der Typ und die</a:t>
            </a:r>
          </a:p>
          <a:p>
            <a:pPr algn="l">
              <a:lnSpc>
                <a:spcPct val="95000"/>
              </a:lnSpc>
              <a:spcBef>
                <a:spcPts val="300"/>
              </a:spcBef>
            </a:pPr>
            <a:r>
              <a:rPr sz="1300" b="0">
                <a:solidFill>
                  <a:srgbClr val="404040"/>
                </a:solidFill>
              </a:rPr>
              <a:t>empfohlene Umverteilung.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Die Gruppen sind</a:t>
            </a:r>
          </a:p>
          <a:p>
            <a:pPr algn="l">
              <a:lnSpc>
                <a:spcPct val="95000"/>
              </a:lnSpc>
              <a:spcBef>
                <a:spcPts val="300"/>
              </a:spcBef>
            </a:pPr>
            <a:r>
              <a:rPr sz="1300" b="0">
                <a:solidFill>
                  <a:srgbClr val="404040"/>
                </a:solidFill>
              </a:rPr>
              <a:t>aus einem Jahr gerechnet.</a:t>
            </a:r>
          </a:p>
          <a:p>
            <a:pPr algn="l">
              <a:lnSpc>
                <a:spcPct val="95000"/>
              </a:lnSpc>
              <a:spcBef>
                <a:spcPts val="300"/>
              </a:spcBef>
            </a:pPr>
            <a:r>
              <a:rPr sz="1300" b="0">
                <a:solidFill>
                  <a:srgbClr val="404040"/>
                </a:solidFill>
              </a:rPr>
              <a:t>Ändert sich das Netz, muss</a:t>
            </a:r>
          </a:p>
          <a:p>
            <a:pPr algn="l">
              <a:lnSpc>
                <a:spcPct val="95000"/>
              </a:lnSpc>
              <a:spcBef>
                <a:spcPts val="300"/>
              </a:spcBef>
            </a:pPr>
            <a:r>
              <a:rPr sz="1300" b="0">
                <a:solidFill>
                  <a:srgbClr val="404040"/>
                </a:solidFill>
              </a:rPr>
              <a:t>neu gruppiert werden.</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B — Marketing</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Kampagnenliste je Kunde</a:t>
            </a:r>
          </a:p>
          <a:p>
            <a:pPr algn="l">
              <a:lnSpc>
                <a:spcPct val="95000"/>
              </a:lnSpc>
              <a:spcBef>
                <a:spcPts val="300"/>
              </a:spcBef>
            </a:pPr>
            <a:r>
              <a:rPr sz="1300" b="0">
                <a:solidFill>
                  <a:srgbClr val="404040"/>
                </a:solidFill>
              </a:rPr>
              <a:t>NICHT die Cluster-Nummer, sondern</a:t>
            </a:r>
          </a:p>
          <a:p>
            <a:pPr algn="l">
              <a:lnSpc>
                <a:spcPct val="95000"/>
              </a:lnSpc>
              <a:spcBef>
                <a:spcPts val="300"/>
              </a:spcBef>
            </a:pPr>
            <a:r>
              <a:rPr sz="1300" b="0">
                <a:solidFill>
                  <a:srgbClr val="404040"/>
                </a:solidFill>
              </a:rPr>
              <a:t>die Schwellen dahinter — weil</a:t>
            </a:r>
          </a:p>
          <a:p>
            <a:pPr algn="l">
              <a:lnSpc>
                <a:spcPct val="95000"/>
              </a:lnSpc>
              <a:spcBef>
                <a:spcPts val="300"/>
              </a:spcBef>
            </a:pPr>
            <a:r>
              <a:rPr sz="1300" b="0">
                <a:solidFill>
                  <a:srgbClr val="404040"/>
                </a:solidFill>
              </a:rPr>
              <a:t>binnen eines Quartals jeder</a:t>
            </a:r>
          </a:p>
          <a:p>
            <a:pPr algn="l">
              <a:lnSpc>
                <a:spcPct val="95000"/>
              </a:lnSpc>
              <a:spcBef>
                <a:spcPts val="300"/>
              </a:spcBef>
            </a:pPr>
            <a:r>
              <a:rPr sz="1300" b="0">
                <a:solidFill>
                  <a:srgbClr val="404040"/>
                </a:solidFill>
              </a:rPr>
              <a:t>vierte Kunde das Cluster</a:t>
            </a:r>
          </a:p>
          <a:p>
            <a:pPr algn="l">
              <a:lnSpc>
                <a:spcPct val="95000"/>
              </a:lnSpc>
              <a:spcBef>
                <a:spcPts val="300"/>
              </a:spcBef>
            </a:pPr>
            <a:r>
              <a:rPr sz="1300" b="0">
                <a:solidFill>
                  <a:srgbClr val="404040"/>
                </a:solidFill>
              </a:rPr>
              <a:t>wechselt.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Datenschutz. Eine</a:t>
            </a:r>
          </a:p>
          <a:p>
            <a:pPr algn="l">
              <a:lnSpc>
                <a:spcPct val="95000"/>
              </a:lnSpc>
              <a:spcBef>
                <a:spcPts val="300"/>
              </a:spcBef>
            </a:pPr>
            <a:r>
              <a:rPr sz="1300" b="0">
                <a:solidFill>
                  <a:srgbClr val="404040"/>
                </a:solidFill>
              </a:rPr>
              <a:t>Segmentierung ist Profilbildung</a:t>
            </a:r>
          </a:p>
          <a:p>
            <a:pPr algn="l">
              <a:lnSpc>
                <a:spcPct val="95000"/>
              </a:lnSpc>
              <a:spcBef>
                <a:spcPts val="300"/>
              </a:spcBef>
            </a:pPr>
            <a:r>
              <a:rPr sz="1300" b="0">
                <a:solidFill>
                  <a:srgbClr val="404040"/>
                </a:solidFill>
              </a:rPr>
              <a:t>und braucht eine Rechtsgrundlage.</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Kriterium, das man behauptet, ist keines</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Kriterium 4 aus Phase 1 lautete: „Ein zweiter Lauf mit anderem Zufallsstart muss dieselben Gruppen liefern.“ Belegt wurde es zunächst mit `n_init=25` — und das prüft etwas anderes.</a:t>
            </a:r>
          </a:p>
        </p:txBody>
      </p:sp>
      <p:sp>
        <p:nvSpPr>
          <p:cNvPr id="6" name="Rectangle 5"/>
          <p:cNvSpPr/>
          <p:nvPr/>
        </p:nvSpPr>
        <p:spPr>
          <a:xfrm>
            <a:off x="1153160"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behauptet wurde</a:t>
            </a:r>
          </a:p>
        </p:txBody>
      </p:sp>
      <p:sp>
        <p:nvSpPr>
          <p:cNvPr id="9" name="TextBox 8"/>
          <p:cNvSpPr txBox="1"/>
          <p:nvPr/>
        </p:nvSpPr>
        <p:spPr>
          <a:xfrm>
            <a:off x="1330960" y="2387600"/>
            <a:ext cx="5194300" cy="1981200"/>
          </a:xfrm>
          <a:prstGeom prst="rect">
            <a:avLst/>
          </a:prstGeom>
          <a:noFill/>
        </p:spPr>
        <p:txBody>
          <a:bodyPr wrap="square" lIns="0" tIns="0" rIns="0" bIns="0">
            <a:spAutoFit/>
          </a:bodyPr>
          <a:lstStyle/>
          <a:p>
            <a:pPr algn="l">
              <a:lnSpc>
                <a:spcPct val="95000"/>
              </a:lnSpc>
            </a:pPr>
            <a:r>
              <a:rPr sz="1400" b="1">
                <a:solidFill>
                  <a:srgbClr val="A32638"/>
                </a:solidFill>
              </a:rPr>
              <a:t>n_init=25 als Beleg</a:t>
            </a:r>
          </a:p>
          <a:p>
            <a:pPr algn="l">
              <a:lnSpc>
                <a:spcPct val="95000"/>
              </a:lnSpc>
              <a:spcBef>
                <a:spcPts val="300"/>
              </a:spcBef>
            </a:pPr>
            <a:r>
              <a:rPr sz="1300" b="0">
                <a:solidFill>
                  <a:srgbClr val="404040"/>
                </a:solidFill>
              </a:rPr>
              <a:t>„25 Zufallsstarts, der beste</a:t>
            </a:r>
          </a:p>
          <a:p>
            <a:pPr algn="l">
              <a:lnSpc>
                <a:spcPct val="95000"/>
              </a:lnSpc>
              <a:spcBef>
                <a:spcPts val="300"/>
              </a:spcBef>
            </a:pPr>
            <a:r>
              <a:rPr sz="1300" b="0">
                <a:solidFill>
                  <a:srgbClr val="404040"/>
                </a:solidFill>
              </a:rPr>
              <a:t>wird genommen.“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ist Qualitätssicherung</a:t>
            </a:r>
          </a:p>
          <a:p>
            <a:pPr algn="l">
              <a:lnSpc>
                <a:spcPct val="95000"/>
              </a:lnSpc>
              <a:spcBef>
                <a:spcPts val="300"/>
              </a:spcBef>
            </a:pPr>
            <a:r>
              <a:rPr sz="1300" b="0">
                <a:solidFill>
                  <a:srgbClr val="404040"/>
                </a:solidFill>
              </a:rPr>
              <a:t>INNERHALB eines Laufs — nicht</a:t>
            </a:r>
          </a:p>
          <a:p>
            <a:pPr algn="l">
              <a:lnSpc>
                <a:spcPct val="95000"/>
              </a:lnSpc>
              <a:spcBef>
                <a:spcPts val="300"/>
              </a:spcBef>
            </a:pPr>
            <a:r>
              <a:rPr sz="1300" b="0">
                <a:solidFill>
                  <a:srgbClr val="404040"/>
                </a:solidFill>
              </a:rPr>
              <a:t>die Frage, ob ein anderer</a:t>
            </a:r>
          </a:p>
          <a:p>
            <a:pPr algn="l">
              <a:lnSpc>
                <a:spcPct val="95000"/>
              </a:lnSpc>
              <a:spcBef>
                <a:spcPts val="300"/>
              </a:spcBef>
            </a:pPr>
            <a:r>
              <a:rPr sz="1300" b="0">
                <a:solidFill>
                  <a:srgbClr val="404040"/>
                </a:solidFill>
              </a:rPr>
              <a:t>Start dasselbe Ergebnis</a:t>
            </a:r>
          </a:p>
          <a:p>
            <a:pPr algn="l">
              <a:lnSpc>
                <a:spcPct val="95000"/>
              </a:lnSpc>
              <a:spcBef>
                <a:spcPts val="300"/>
              </a:spcBef>
            </a:pPr>
            <a:r>
              <a:rPr sz="1300" b="0">
                <a:solidFill>
                  <a:srgbClr val="404040"/>
                </a:solidFill>
              </a:rPr>
              <a:t>liefert.</a:t>
            </a:r>
          </a:p>
        </p:txBody>
      </p:sp>
      <p:sp>
        <p:nvSpPr>
          <p:cNvPr id="10" name="Rectangle 9"/>
          <p:cNvSpPr/>
          <p:nvPr/>
        </p:nvSpPr>
        <p:spPr>
          <a:xfrm>
            <a:off x="7096759"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gemessen wurde</a:t>
            </a:r>
          </a:p>
        </p:txBody>
      </p:sp>
      <p:sp>
        <p:nvSpPr>
          <p:cNvPr id="13" name="TextBox 12"/>
          <p:cNvSpPr txBox="1"/>
          <p:nvPr/>
        </p:nvSpPr>
        <p:spPr>
          <a:xfrm>
            <a:off x="7274559" y="2387600"/>
            <a:ext cx="5194300" cy="1981200"/>
          </a:xfrm>
          <a:prstGeom prst="rect">
            <a:avLst/>
          </a:prstGeom>
          <a:noFill/>
        </p:spPr>
        <p:txBody>
          <a:bodyPr wrap="square" lIns="0" tIns="0" rIns="0" bIns="0">
            <a:spAutoFit/>
          </a:bodyPr>
          <a:lstStyle/>
          <a:p>
            <a:pPr algn="l">
              <a:lnSpc>
                <a:spcPct val="95000"/>
              </a:lnSpc>
            </a:pPr>
            <a:r>
              <a:rPr sz="1400" b="1">
                <a:solidFill>
                  <a:srgbClr val="55801C"/>
                </a:solidFill>
              </a:rPr>
              <a:t>Adjustierter Rand-Index</a:t>
            </a:r>
          </a:p>
          <a:p>
            <a:pPr algn="l">
              <a:lnSpc>
                <a:spcPct val="95000"/>
              </a:lnSpc>
              <a:spcBef>
                <a:spcPts val="300"/>
              </a:spcBef>
            </a:pPr>
            <a:r>
              <a:rPr sz="1300" b="0">
                <a:solidFill>
                  <a:srgbClr val="404040"/>
                </a:solidFill>
              </a:rPr>
              <a:t>Fünf Startwerte, jeder gegen</a:t>
            </a:r>
          </a:p>
          <a:p>
            <a:pPr algn="l">
              <a:lnSpc>
                <a:spcPct val="95000"/>
              </a:lnSpc>
              <a:spcBef>
                <a:spcPts val="300"/>
              </a:spcBef>
            </a:pPr>
            <a:r>
              <a:rPr sz="1300" b="0">
                <a:solidFill>
                  <a:srgbClr val="404040"/>
                </a:solidFill>
              </a:rPr>
              <a:t>den Grundlauf verglichen.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Stationen:   1,000 bis 1,000</a:t>
            </a:r>
          </a:p>
          <a:p>
            <a:pPr algn="l">
              <a:lnSpc>
                <a:spcPct val="95000"/>
              </a:lnSpc>
              <a:spcBef>
                <a:spcPts val="300"/>
              </a:spcBef>
            </a:pPr>
            <a:r>
              <a:rPr sz="1300" b="0">
                <a:solidFill>
                  <a:srgbClr val="404040"/>
                </a:solidFill>
              </a:rPr>
              <a:t>Kundschaft:  0,895 bis 0,993</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Stationen sind stabil,</a:t>
            </a:r>
          </a:p>
          <a:p>
            <a:pPr algn="l">
              <a:lnSpc>
                <a:spcPct val="95000"/>
              </a:lnSpc>
              <a:spcBef>
                <a:spcPts val="300"/>
              </a:spcBef>
            </a:pPr>
            <a:r>
              <a:rPr sz="1300" b="0">
                <a:solidFill>
                  <a:srgbClr val="404040"/>
                </a:solidFill>
              </a:rPr>
              <a:t>die Segmente nur annähernd.</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3 · Abschluss</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Fragen, ein Verfahren — und ein Ergebnis, das die Ausgangsfrage übertroffen hat.</a:t>
            </a:r>
          </a:p>
        </p:txBody>
      </p:sp>
      <p:sp>
        <p:nvSpPr>
          <p:cNvPr id="6" name="Rectangle 5"/>
          <p:cNvSpPr/>
          <p:nvPr/>
        </p:nvSpPr>
        <p:spPr>
          <a:xfrm>
            <a:off x="1153160" y="1651000"/>
            <a:ext cx="2032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3185160" y="1651000"/>
            <a:ext cx="4318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 Stationen</a:t>
            </a:r>
          </a:p>
        </p:txBody>
      </p:sp>
      <p:sp>
        <p:nvSpPr>
          <p:cNvPr id="8" name="Rectangle 7"/>
          <p:cNvSpPr/>
          <p:nvPr/>
        </p:nvSpPr>
        <p:spPr>
          <a:xfrm>
            <a:off x="7503159" y="1651000"/>
            <a:ext cx="5124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 Kundschaft</a:t>
            </a:r>
          </a:p>
        </p:txBody>
      </p:sp>
      <p:sp>
        <p:nvSpPr>
          <p:cNvPr id="9" name="Rectangle 8"/>
          <p:cNvSpPr/>
          <p:nvPr/>
        </p:nvSpPr>
        <p:spPr>
          <a:xfrm>
            <a:off x="1153160" y="2159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a:t>
            </a:r>
          </a:p>
        </p:txBody>
      </p:sp>
      <p:sp>
        <p:nvSpPr>
          <p:cNvPr id="10" name="Rectangle 9"/>
          <p:cNvSpPr/>
          <p:nvPr/>
        </p:nvSpPr>
        <p:spPr>
          <a:xfrm>
            <a:off x="3185160" y="2159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Umverteilung nach Regeln</a:t>
            </a:r>
          </a:p>
        </p:txBody>
      </p:sp>
      <p:sp>
        <p:nvSpPr>
          <p:cNvPr id="11" name="Rectangle 10"/>
          <p:cNvSpPr/>
          <p:nvPr/>
        </p:nvSpPr>
        <p:spPr>
          <a:xfrm>
            <a:off x="7503159" y="2159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Newsletter nach Segmenten</a:t>
            </a:r>
          </a:p>
        </p:txBody>
      </p:sp>
      <p:sp>
        <p:nvSpPr>
          <p:cNvPr id="12" name="Rectangle 11"/>
          <p:cNvSpPr/>
          <p:nvPr/>
        </p:nvSpPr>
        <p:spPr>
          <a:xfrm>
            <a:off x="1153160" y="2667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a:t>
            </a:r>
          </a:p>
        </p:txBody>
      </p:sp>
      <p:sp>
        <p:nvSpPr>
          <p:cNvPr id="13" name="Rectangle 12"/>
          <p:cNvSpPr/>
          <p:nvPr/>
        </p:nvSpPr>
        <p:spPr>
          <a:xfrm>
            <a:off x="3185160" y="2667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Typ in den Stammdaten</a:t>
            </a:r>
          </a:p>
        </p:txBody>
      </p:sp>
      <p:sp>
        <p:nvSpPr>
          <p:cNvPr id="14" name="Rectangle 13"/>
          <p:cNvSpPr/>
          <p:nvPr/>
        </p:nvSpPr>
        <p:spPr>
          <a:xfrm>
            <a:off x="7503159" y="2667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Segment in der Kundentabelle</a:t>
            </a:r>
          </a:p>
        </p:txBody>
      </p:sp>
      <p:sp>
        <p:nvSpPr>
          <p:cNvPr id="15" name="Rectangle 14"/>
          <p:cNvSpPr/>
          <p:nvPr/>
        </p:nvSpPr>
        <p:spPr>
          <a:xfrm>
            <a:off x="1153160" y="3175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Preparation</a:t>
            </a:r>
          </a:p>
        </p:txBody>
      </p:sp>
      <p:sp>
        <p:nvSpPr>
          <p:cNvPr id="16" name="Rectangle 15"/>
          <p:cNvSpPr/>
          <p:nvPr/>
        </p:nvSpPr>
        <p:spPr>
          <a:xfrm>
            <a:off x="3185160" y="3175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Tagesgang, standardisiert</a:t>
            </a:r>
          </a:p>
        </p:txBody>
      </p:sp>
      <p:sp>
        <p:nvSpPr>
          <p:cNvPr id="17" name="Rectangle 16"/>
          <p:cNvSpPr/>
          <p:nvPr/>
        </p:nvSpPr>
        <p:spPr>
          <a:xfrm>
            <a:off x="7503159" y="3175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RFM, logarithmiert</a:t>
            </a:r>
          </a:p>
        </p:txBody>
      </p:sp>
      <p:sp>
        <p:nvSpPr>
          <p:cNvPr id="18" name="Rectangle 17"/>
          <p:cNvSpPr/>
          <p:nvPr/>
        </p:nvSpPr>
        <p:spPr>
          <a:xfrm>
            <a:off x="1153160" y="3683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9" name="Rectangle 18"/>
          <p:cNvSpPr/>
          <p:nvPr/>
        </p:nvSpPr>
        <p:spPr>
          <a:xfrm>
            <a:off x="3185160" y="3683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k-Means, Ellenbogen + Silhouette</a:t>
            </a:r>
          </a:p>
        </p:txBody>
      </p:sp>
      <p:sp>
        <p:nvSpPr>
          <p:cNvPr id="20" name="Rectangle 19"/>
          <p:cNvSpPr/>
          <p:nvPr/>
        </p:nvSpPr>
        <p:spPr>
          <a:xfrm>
            <a:off x="7503159" y="3683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Verfahren</a:t>
            </a:r>
          </a:p>
        </p:txBody>
      </p:sp>
      <p:sp>
        <p:nvSpPr>
          <p:cNvPr id="21" name="Rectangle 20"/>
          <p:cNvSpPr/>
          <p:nvPr/>
        </p:nvSpPr>
        <p:spPr>
          <a:xfrm>
            <a:off x="1153160" y="4191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22" name="Rectangle 21"/>
          <p:cNvSpPr/>
          <p:nvPr/>
        </p:nvSpPr>
        <p:spPr>
          <a:xfrm>
            <a:off x="3185160" y="4191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Typen, 100 % Übereinstimmung</a:t>
            </a:r>
          </a:p>
        </p:txBody>
      </p:sp>
      <p:sp>
        <p:nvSpPr>
          <p:cNvPr id="23" name="Rectangle 22"/>
          <p:cNvSpPr/>
          <p:nvPr/>
        </p:nvSpPr>
        <p:spPr>
          <a:xfrm>
            <a:off x="7503159" y="4191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 zwei Befunde</a:t>
            </a:r>
          </a:p>
        </p:txBody>
      </p:sp>
      <p:sp>
        <p:nvSpPr>
          <p:cNvPr id="24" name="Rectangle 23"/>
          <p:cNvSpPr/>
          <p:nvPr/>
        </p:nvSpPr>
        <p:spPr>
          <a:xfrm>
            <a:off x="1153160" y="4699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25" name="Rectangle 24"/>
          <p:cNvSpPr/>
          <p:nvPr/>
        </p:nvSpPr>
        <p:spPr>
          <a:xfrm>
            <a:off x="3185160" y="4699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Dispositionstypen je Station</a:t>
            </a:r>
          </a:p>
        </p:txBody>
      </p:sp>
      <p:sp>
        <p:nvSpPr>
          <p:cNvPr id="26" name="Rectangle 25"/>
          <p:cNvSpPr/>
          <p:nvPr/>
        </p:nvSpPr>
        <p:spPr>
          <a:xfrm>
            <a:off x="7503159" y="4699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Kampagnenliste je Kunde — über Schwellen, nicht über Cluster-Nummern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warum ist die genaueste Prognose nicht die beste?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Fahrten kommen morgen? Räder und Schichten daraus abzuleiten ist eine eigene Analyse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 — die Richtungen sind ungleich teuer</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Nullmodell, die echte Faustregel der Disposition, linear, Gradient Boosting</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Machbarkeit nachgewiesen, keine Betriebsfreigabe — und die genaueste Prognose ist nicht die günstigste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die man hier zwangsläufig tappt</a:t>
            </a:r>
          </a:p>
        </p:txBody>
      </p:sp>
      <p:sp>
        <p:nvSpPr>
          <p:cNvPr id="3" name="Text Placeholder 2"/>
          <p:cNvSpPr>
            <a:spLocks noGrp="1"/>
          </p:cNvSpPr>
          <p:nvPr>
            <p:ph type="body" idx="12" sz="quarter"/>
          </p:nvPr>
        </p:nvSpPr>
        <p:spPr/>
        <p:txBody>
          <a:bodyPr/>
          <a:lstStyle/>
          <a:p>
            <a:r>
              <a:t>Fall 4 · Phase 2</a:t>
            </a:r>
          </a:p>
        </p:txBody>
      </p:sp>
      <p:sp>
        <p:nvSpPr>
          <p:cNvPr id="4" name="Text Placeholder 3"/>
          <p:cNvSpPr>
            <a:spLocks noGrp="1"/>
          </p:cNvSpPr>
          <p:nvPr>
            <p:ph type="body" idx="13" sz="quarter"/>
          </p:nvPr>
        </p:nvSpPr>
        <p:spPr/>
        <p:txBody>
          <a:bodyPr/>
          <a:lstStyle/>
          <a:p>
            <a:r>
              <a:t>analytics/notebooks/04_Zeitreihe_Nachfrageprognose.ipynb · Abschnitt 2</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rohe Ferieneffekt sagt: In den Ferien wird mehr gefahren. Das stimmt — und es ist trotzdem irreführend.</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man misst</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Ferien = mehr Fahrten</a:t>
            </a:r>
          </a:p>
          <a:p>
            <a:pPr algn="l">
              <a:lnSpc>
                <a:spcPct val="95000"/>
              </a:lnSpc>
              <a:spcBef>
                <a:spcPts val="300"/>
              </a:spcBef>
            </a:pPr>
            <a:r>
              <a:rPr sz="1300" b="0">
                <a:solidFill>
                  <a:srgbClr val="404040"/>
                </a:solidFill>
              </a:rPr>
              <a:t>Die Differenz ist deutlich</a:t>
            </a:r>
          </a:p>
          <a:p>
            <a:pPr algn="l">
              <a:lnSpc>
                <a:spcPct val="95000"/>
              </a:lnSpc>
              <a:spcBef>
                <a:spcPts val="300"/>
              </a:spcBef>
            </a:pPr>
            <a:r>
              <a:rPr sz="1300" b="0">
                <a:solidFill>
                  <a:srgbClr val="404040"/>
                </a:solidFill>
              </a:rPr>
              <a:t>und statistisch belastbar.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Schlussfolgerung:</a:t>
            </a:r>
          </a:p>
          <a:p>
            <a:pPr algn="l">
              <a:lnSpc>
                <a:spcPct val="95000"/>
              </a:lnSpc>
              <a:spcBef>
                <a:spcPts val="300"/>
              </a:spcBef>
            </a:pPr>
            <a:r>
              <a:rPr sz="1300" b="0">
                <a:solidFill>
                  <a:srgbClr val="404040"/>
                </a:solidFill>
              </a:rPr>
              <a:t>„Ferien treiben die Nachfrage.“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Und das ist falsch.</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wirklich wirkt</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Ferien liegen im Sommer</a:t>
            </a:r>
          </a:p>
          <a:p>
            <a:pPr algn="l">
              <a:lnSpc>
                <a:spcPct val="95000"/>
              </a:lnSpc>
              <a:spcBef>
                <a:spcPts val="300"/>
              </a:spcBef>
            </a:pPr>
            <a:r>
              <a:rPr sz="1300" b="0">
                <a:solidFill>
                  <a:srgbClr val="404040"/>
                </a:solidFill>
              </a:rPr>
              <a:t>Die langen Ferien fallen mit</a:t>
            </a:r>
          </a:p>
          <a:p>
            <a:pPr algn="l">
              <a:lnSpc>
                <a:spcPct val="95000"/>
              </a:lnSpc>
              <a:spcBef>
                <a:spcPts val="300"/>
              </a:spcBef>
            </a:pPr>
            <a:r>
              <a:rPr sz="1300" b="0">
                <a:solidFill>
                  <a:srgbClr val="404040"/>
                </a:solidFill>
              </a:rPr>
              <a:t>der warmen Jahreszeit zusammen.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Gemessen wird das Wetter,</a:t>
            </a:r>
          </a:p>
          <a:p>
            <a:pPr algn="l">
              <a:lnSpc>
                <a:spcPct val="95000"/>
              </a:lnSpc>
              <a:spcBef>
                <a:spcPts val="300"/>
              </a:spcBef>
            </a:pPr>
            <a:r>
              <a:rPr sz="1300" b="0">
                <a:solidFill>
                  <a:srgbClr val="404040"/>
                </a:solidFill>
              </a:rPr>
              <a:t>benannt werden die Ferien.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Klassische Störgröße.</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zwei Zeilen entlarvt</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analytics/notebooks/04_Zeitreihe_Nachfrageprognose.ipynb · Abschnitt 2.3</a:t>
            </a:r>
          </a:p>
        </p:txBody>
      </p:sp>
      <p:sp>
        <p:nvSpPr>
          <p:cNvPr id="5" name="Rectangle 4"/>
          <p:cNvSpPr/>
          <p:nvPr/>
        </p:nvSpPr>
        <p:spPr>
          <a:xfrm>
            <a:off x="1051560" y="1443510"/>
            <a:ext cx="11677650" cy="381857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stoergroesse.png"/>
          <p:cNvPicPr>
            <a:picLocks noChangeAspect="1"/>
          </p:cNvPicPr>
          <p:nvPr/>
        </p:nvPicPr>
        <p:blipFill>
          <a:blip r:embed="rId2"/>
          <a:stretch>
            <a:fillRect/>
          </a:stretch>
        </p:blipFill>
        <p:spPr>
          <a:xfrm>
            <a:off x="1153160" y="1545110"/>
            <a:ext cx="11474450" cy="3615378"/>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Roh: Faktor 0,91. Bei gleicher Temperatur: 0,75. Derselbe Datensatz, zwei völlig verschiedene Aussagen.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Schnitt folgt der Zeit, nicht dem Zufall</a:t>
            </a:r>
          </a:p>
        </p:txBody>
      </p:sp>
      <p:sp>
        <p:nvSpPr>
          <p:cNvPr id="3" name="Text Placeholder 2"/>
          <p:cNvSpPr>
            <a:spLocks noGrp="1"/>
          </p:cNvSpPr>
          <p:nvPr>
            <p:ph type="body" idx="12" sz="quarter"/>
          </p:nvPr>
        </p:nvSpPr>
        <p:spPr/>
        <p:txBody>
          <a:bodyPr/>
          <a:lstStyle/>
          <a:p>
            <a:r>
              <a:t>Fall 4 · Phase 3</a:t>
            </a:r>
          </a:p>
        </p:txBody>
      </p:sp>
      <p:sp>
        <p:nvSpPr>
          <p:cNvPr id="4" name="Text Placeholder 3"/>
          <p:cNvSpPr>
            <a:spLocks noGrp="1"/>
          </p:cNvSpPr>
          <p:nvPr>
            <p:ph type="body" idx="13" sz="quarter"/>
          </p:nvPr>
        </p:nvSpPr>
        <p:spPr/>
        <p:txBody>
          <a:bodyPr/>
          <a:lstStyle/>
          <a:p>
            <a:r>
              <a:t>analytics/notebooks/04_Zeitreihe_Nachfrageprognose.ipynb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 ist die Folie, wegen der dieser Fall im Deck steht. Ein zufälliger Schnitt wäre hier ein schwerer, aber unsichtbarer Fehler.</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Falsch</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Zufällig, 80/20</a:t>
            </a:r>
          </a:p>
          <a:p>
            <a:pPr algn="l">
              <a:lnSpc>
                <a:spcPct val="95000"/>
              </a:lnSpc>
              <a:spcBef>
                <a:spcPts val="300"/>
              </a:spcBef>
            </a:pPr>
            <a:r>
              <a:rPr sz="1300" b="0">
                <a:solidFill>
                  <a:srgbClr val="404040"/>
                </a:solidFill>
              </a:rPr>
              <a:t>Das Modell lernt aus dem</a:t>
            </a:r>
          </a:p>
          <a:p>
            <a:pPr algn="l">
              <a:lnSpc>
                <a:spcPct val="95000"/>
              </a:lnSpc>
              <a:spcBef>
                <a:spcPts val="300"/>
              </a:spcBef>
            </a:pPr>
            <a:r>
              <a:rPr sz="1300" b="0">
                <a:solidFill>
                  <a:srgbClr val="404040"/>
                </a:solidFill>
              </a:rPr>
              <a:t>August 2026 und sagt den</a:t>
            </a:r>
          </a:p>
          <a:p>
            <a:pPr algn="l">
              <a:lnSpc>
                <a:spcPct val="95000"/>
              </a:lnSpc>
              <a:spcBef>
                <a:spcPts val="300"/>
              </a:spcBef>
            </a:pPr>
            <a:r>
              <a:rPr sz="1300" b="0">
                <a:solidFill>
                  <a:srgbClr val="404040"/>
                </a:solidFill>
              </a:rPr>
              <a:t>Juli 2026 vorher.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Es kennt die Zukunft.</a:t>
            </a:r>
          </a:p>
          <a:p>
            <a:pPr algn="l">
              <a:lnSpc>
                <a:spcPct val="95000"/>
              </a:lnSpc>
              <a:spcBef>
                <a:spcPts val="300"/>
              </a:spcBef>
            </a:pPr>
            <a:r>
              <a:rPr sz="1300" b="0">
                <a:solidFill>
                  <a:srgbClr val="404040"/>
                </a:solidFill>
              </a:rPr>
              <a:t>Das Ergebnis wird glänzend</a:t>
            </a:r>
          </a:p>
          <a:p>
            <a:pPr algn="l">
              <a:lnSpc>
                <a:spcPct val="95000"/>
              </a:lnSpc>
              <a:spcBef>
                <a:spcPts val="300"/>
              </a:spcBef>
            </a:pPr>
            <a:r>
              <a:rPr sz="1300" b="0">
                <a:solidFill>
                  <a:srgbClr val="404040"/>
                </a:solidFill>
              </a:rPr>
              <a:t>und ist wertlos.</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Entlang der Zeit</a:t>
            </a:r>
          </a:p>
          <a:p>
            <a:pPr algn="l">
              <a:lnSpc>
                <a:spcPct val="95000"/>
              </a:lnSpc>
              <a:spcBef>
                <a:spcPts val="300"/>
              </a:spcBef>
            </a:pPr>
            <a:r>
              <a:rPr sz="1300" b="0">
                <a:solidFill>
                  <a:srgbClr val="404040"/>
                </a:solidFill>
              </a:rPr>
              <a:t>Training bis Frühjahr 2026,</a:t>
            </a:r>
          </a:p>
          <a:p>
            <a:pPr algn="l">
              <a:lnSpc>
                <a:spcPct val="95000"/>
              </a:lnSpc>
              <a:spcBef>
                <a:spcPts val="300"/>
              </a:spcBef>
            </a:pPr>
            <a:r>
              <a:rPr sz="1300" b="0">
                <a:solidFill>
                  <a:srgbClr val="404040"/>
                </a:solidFill>
              </a:rPr>
              <a:t>Test ist der Sommer 2026.</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entspricht genau der</a:t>
            </a:r>
          </a:p>
          <a:p>
            <a:pPr algn="l">
              <a:lnSpc>
                <a:spcPct val="95000"/>
              </a:lnSpc>
              <a:spcBef>
                <a:spcPts val="300"/>
              </a:spcBef>
            </a:pPr>
            <a:r>
              <a:rPr sz="1300" b="0">
                <a:solidFill>
                  <a:srgbClr val="404040"/>
                </a:solidFill>
              </a:rPr>
              <a:t>Lage im Betrieb: Man kennt</a:t>
            </a:r>
          </a:p>
          <a:p>
            <a:pPr algn="l">
              <a:lnSpc>
                <a:spcPct val="95000"/>
              </a:lnSpc>
              <a:spcBef>
                <a:spcPts val="300"/>
              </a:spcBef>
            </a:pPr>
            <a:r>
              <a:rPr sz="1300" b="0">
                <a:solidFill>
                  <a:srgbClr val="404040"/>
                </a:solidFill>
              </a:rPr>
              <a:t>die Vergangenheit und sagt</a:t>
            </a:r>
          </a:p>
          <a:p>
            <a:pPr algn="l">
              <a:lnSpc>
                <a:spcPct val="95000"/>
              </a:lnSpc>
              <a:spcBef>
                <a:spcPts val="300"/>
              </a:spcBef>
            </a:pPr>
            <a:r>
              <a:rPr sz="1300" b="0">
                <a:solidFill>
                  <a:srgbClr val="404040"/>
                </a:solidFill>
              </a:rPr>
              <a:t>den nächsten Tag vorher.</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und die zweite ist ein Mensch</a:t>
            </a:r>
          </a:p>
        </p:txBody>
      </p:sp>
      <p:sp>
        <p:nvSpPr>
          <p:cNvPr id="3" name="Text Placeholder 2"/>
          <p:cNvSpPr>
            <a:spLocks noGrp="1"/>
          </p:cNvSpPr>
          <p:nvPr>
            <p:ph type="body" idx="12" sz="quarter"/>
          </p:nvPr>
        </p:nvSpPr>
        <p:spPr/>
        <p:txBody>
          <a:bodyPr/>
          <a:lstStyle/>
          <a:p>
            <a:r>
              <a:t>Fall 4 · Phase 4</a:t>
            </a:r>
          </a:p>
        </p:txBody>
      </p:sp>
      <p:sp>
        <p:nvSpPr>
          <p:cNvPr id="4" name="Text Placeholder 3"/>
          <p:cNvSpPr>
            <a:spLocks noGrp="1"/>
          </p:cNvSpPr>
          <p:nvPr>
            <p:ph type="body" idx="13" sz="quarter"/>
          </p:nvPr>
        </p:nvSpPr>
        <p:spPr/>
        <p:txBody>
          <a:bodyPr/>
          <a:lstStyle/>
          <a:p>
            <a:r>
              <a:t>analytics/notebooks/04_Zeitreihe_Nachfrageprognose.ipynb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Wieder gilt: erst der Maßstab, dann die Verfahren. Der wichtigste Maßstab ist hier die Regel, nach der die Disposition heute arbeitet.</a:t>
            </a:r>
          </a:p>
        </p:txBody>
      </p:sp>
      <p:sp>
        <p:nvSpPr>
          <p:cNvPr id="6" name="Rounded Rectangle 5"/>
          <p:cNvSpPr/>
          <p:nvPr/>
        </p:nvSpPr>
        <p:spPr>
          <a:xfrm>
            <a:off x="1153160" y="2133600"/>
            <a:ext cx="1651000" cy="1219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Null-
modell</a:t>
            </a:r>
          </a:p>
        </p:txBody>
      </p:sp>
      <p:sp>
        <p:nvSpPr>
          <p:cNvPr id="7" name="Pentagon 6"/>
          <p:cNvSpPr/>
          <p:nvPr/>
        </p:nvSpPr>
        <p:spPr>
          <a:xfrm>
            <a:off x="288036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Faustregel der
Disposition</a:t>
            </a:r>
          </a:p>
        </p:txBody>
      </p:sp>
      <p:sp>
        <p:nvSpPr>
          <p:cNvPr id="8" name="Pentagon 7"/>
          <p:cNvSpPr/>
          <p:nvPr/>
        </p:nvSpPr>
        <p:spPr>
          <a:xfrm>
            <a:off x="557911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Lineare
Regression</a:t>
            </a:r>
          </a:p>
        </p:txBody>
      </p:sp>
      <p:sp>
        <p:nvSpPr>
          <p:cNvPr id="9" name="Pentagon 8"/>
          <p:cNvSpPr/>
          <p:nvPr/>
        </p:nvSpPr>
        <p:spPr>
          <a:xfrm>
            <a:off x="8277859"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Gradient
Boosting</a:t>
            </a:r>
          </a:p>
        </p:txBody>
      </p:sp>
      <p:sp>
        <p:nvSpPr>
          <p:cNvPr id="10" name="Rounded Rectangle 9"/>
          <p:cNvSpPr/>
          <p:nvPr/>
        </p:nvSpPr>
        <p:spPr>
          <a:xfrm>
            <a:off x="10976610" y="2133600"/>
            <a:ext cx="1651000" cy="12192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Bestes
Modell</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Unter welchem Wetter wählt man das Modell?</a:t>
            </a:r>
          </a:p>
        </p:txBody>
      </p:sp>
      <p:sp>
        <p:nvSpPr>
          <p:cNvPr id="3" name="Text Placeholder 2"/>
          <p:cNvSpPr>
            <a:spLocks noGrp="1"/>
          </p:cNvSpPr>
          <p:nvPr>
            <p:ph type="body" idx="12" sz="quarter"/>
          </p:nvPr>
        </p:nvSpPr>
        <p:spPr/>
        <p:txBody>
          <a:bodyPr/>
          <a:lstStyle/>
          <a:p>
            <a:r>
              <a:t>Fall 4 · Phase 4</a:t>
            </a:r>
          </a:p>
        </p:txBody>
      </p:sp>
      <p:sp>
        <p:nvSpPr>
          <p:cNvPr id="4" name="Text Placeholder 3"/>
          <p:cNvSpPr>
            <a:spLocks noGrp="1"/>
          </p:cNvSpPr>
          <p:nvPr>
            <p:ph type="body" idx="13" sz="quarter"/>
          </p:nvPr>
        </p:nvSpPr>
        <p:spPr/>
        <p:txBody>
          <a:bodyPr/>
          <a:lstStyle/>
          <a:p>
            <a:r>
              <a:t>analytics/notebooks/04_Zeitreihe_Nachfrageprognose.ipynb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Um 18 Uhr gibt es kein Ist-Wetter, sondern eine Vorhersage. Wer unter Ist-Wetter vergleicht, wählt für eine Welt, in der er nicht liefert.</a:t>
            </a:r>
          </a:p>
        </p:txBody>
      </p:sp>
      <p:sp>
        <p:nvSpPr>
          <p:cNvPr id="6" name="Rectangle 5"/>
          <p:cNvSpPr/>
          <p:nvPr/>
        </p:nvSpPr>
        <p:spPr>
          <a:xfrm>
            <a:off x="1153160" y="1879600"/>
            <a:ext cx="508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7" name="Rectangle 6"/>
          <p:cNvSpPr/>
          <p:nvPr/>
        </p:nvSpPr>
        <p:spPr>
          <a:xfrm>
            <a:off x="623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mit Ist-Wetter</a:t>
            </a:r>
          </a:p>
        </p:txBody>
      </p:sp>
      <p:sp>
        <p:nvSpPr>
          <p:cNvPr id="8" name="Rectangle 7"/>
          <p:cNvSpPr/>
          <p:nvPr/>
        </p:nvSpPr>
        <p:spPr>
          <a:xfrm>
            <a:off x="9408160" y="1879600"/>
            <a:ext cx="321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mit Vorhersage</a:t>
            </a:r>
          </a:p>
        </p:txBody>
      </p:sp>
      <p:sp>
        <p:nvSpPr>
          <p:cNvPr id="9" name="Rectangle 8"/>
          <p:cNvSpPr/>
          <p:nvPr/>
        </p:nvSpPr>
        <p:spPr>
          <a:xfrm>
            <a:off x="1153160" y="2387600"/>
            <a:ext cx="508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a:t>
            </a:r>
          </a:p>
        </p:txBody>
      </p:sp>
      <p:sp>
        <p:nvSpPr>
          <p:cNvPr id="10" name="Rectangle 9"/>
          <p:cNvSpPr/>
          <p:nvPr/>
        </p:nvSpPr>
        <p:spPr>
          <a:xfrm>
            <a:off x="623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21,17</a:t>
            </a:r>
          </a:p>
        </p:txBody>
      </p:sp>
      <p:sp>
        <p:nvSpPr>
          <p:cNvPr id="11" name="Rectangle 10"/>
          <p:cNvSpPr/>
          <p:nvPr/>
        </p:nvSpPr>
        <p:spPr>
          <a:xfrm>
            <a:off x="9408160" y="2387600"/>
            <a:ext cx="321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21,17</a:t>
            </a:r>
          </a:p>
        </p:txBody>
      </p:sp>
      <p:sp>
        <p:nvSpPr>
          <p:cNvPr id="12" name="Rectangle 11"/>
          <p:cNvSpPr/>
          <p:nvPr/>
        </p:nvSpPr>
        <p:spPr>
          <a:xfrm>
            <a:off x="1153160" y="2895600"/>
            <a:ext cx="508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wie letzte Woche</a:t>
            </a:r>
          </a:p>
        </p:txBody>
      </p:sp>
      <p:sp>
        <p:nvSpPr>
          <p:cNvPr id="13" name="Rectangle 12"/>
          <p:cNvSpPr/>
          <p:nvPr/>
        </p:nvSpPr>
        <p:spPr>
          <a:xfrm>
            <a:off x="623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24,24</a:t>
            </a:r>
          </a:p>
        </p:txBody>
      </p:sp>
      <p:sp>
        <p:nvSpPr>
          <p:cNvPr id="14" name="Rectangle 13"/>
          <p:cNvSpPr/>
          <p:nvPr/>
        </p:nvSpPr>
        <p:spPr>
          <a:xfrm>
            <a:off x="9408160" y="2895600"/>
            <a:ext cx="321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24,24</a:t>
            </a:r>
          </a:p>
        </p:txBody>
      </p:sp>
      <p:sp>
        <p:nvSpPr>
          <p:cNvPr id="15" name="Rectangle 14"/>
          <p:cNvSpPr/>
          <p:nvPr/>
        </p:nvSpPr>
        <p:spPr>
          <a:xfrm>
            <a:off x="1153160" y="3403600"/>
            <a:ext cx="508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6" name="Rectangle 15"/>
          <p:cNvSpPr/>
          <p:nvPr/>
        </p:nvSpPr>
        <p:spPr>
          <a:xfrm>
            <a:off x="623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6,33</a:t>
            </a:r>
          </a:p>
        </p:txBody>
      </p:sp>
      <p:sp>
        <p:nvSpPr>
          <p:cNvPr id="17" name="Rectangle 16"/>
          <p:cNvSpPr/>
          <p:nvPr/>
        </p:nvSpPr>
        <p:spPr>
          <a:xfrm>
            <a:off x="9408160" y="3403600"/>
            <a:ext cx="321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8,55</a:t>
            </a:r>
          </a:p>
        </p:txBody>
      </p:sp>
      <p:sp>
        <p:nvSpPr>
          <p:cNvPr id="18" name="Rectangle 17"/>
          <p:cNvSpPr/>
          <p:nvPr/>
        </p:nvSpPr>
        <p:spPr>
          <a:xfrm>
            <a:off x="1153160" y="3911600"/>
            <a:ext cx="508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Gradient Boosting</a:t>
            </a:r>
          </a:p>
        </p:txBody>
      </p:sp>
      <p:sp>
        <p:nvSpPr>
          <p:cNvPr id="19" name="Rectangle 18"/>
          <p:cNvSpPr/>
          <p:nvPr/>
        </p:nvSpPr>
        <p:spPr>
          <a:xfrm>
            <a:off x="623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5,81</a:t>
            </a:r>
          </a:p>
        </p:txBody>
      </p:sp>
      <p:sp>
        <p:nvSpPr>
          <p:cNvPr id="20" name="Rectangle 19"/>
          <p:cNvSpPr/>
          <p:nvPr/>
        </p:nvSpPr>
        <p:spPr>
          <a:xfrm>
            <a:off x="9408160" y="3911600"/>
            <a:ext cx="321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11,25</a:t>
            </a:r>
          </a:p>
        </p:txBody>
      </p:sp>
      <p:sp>
        <p:nvSpPr>
          <p:cNvPr id="21" name="Rectangle 20"/>
          <p:cNvSpPr/>
          <p:nvPr/>
        </p:nvSpPr>
        <p:spPr>
          <a:xfrm>
            <a:off x="1153160" y="4597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673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Unter Ist-Wetter gewinnt das Boosting, unter Prognosewetter die lineare Regression. Dasselbe Verfahren, dieselben Daten — nur ein anderer Informationsstand.</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genaueste Prognose ist nicht die günstigste</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Weil eine fehlende Fahrt 4,00 € kostet und eine überzählige 0,80 €, verschiebt sich das Optimum — weg vom kleinsten Fehler.</a:t>
            </a:r>
          </a:p>
        </p:txBody>
      </p:sp>
      <p:sp>
        <p:nvSpPr>
          <p:cNvPr id="6" name="Rectangle 5"/>
          <p:cNvSpPr/>
          <p:nvPr/>
        </p:nvSpPr>
        <p:spPr>
          <a:xfrm>
            <a:off x="115316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Ohne Aufschlag</a:t>
            </a:r>
          </a:p>
          <a:p>
            <a:pPr algn="l">
              <a:lnSpc>
                <a:spcPct val="95000"/>
              </a:lnSpc>
              <a:spcBef>
                <a:spcPts val="500"/>
              </a:spcBef>
            </a:pPr>
            <a:r>
              <a:rPr sz="1300" b="0">
                <a:solidFill>
                  <a:srgbClr val="404040"/>
                </a:solidFill>
              </a:rPr>
              <a:t>Die Prognose trifft im Mittel</a:t>
            </a:r>
          </a:p>
          <a:p>
            <a:pPr algn="l">
              <a:lnSpc>
                <a:spcPct val="95000"/>
              </a:lnSpc>
              <a:spcBef>
                <a:spcPts val="500"/>
              </a:spcBef>
            </a:pPr>
            <a:r>
              <a:rPr sz="1300" b="0">
                <a:solidFill>
                  <a:srgbClr val="404040"/>
                </a:solidFill>
              </a:rPr>
              <a:t>am besten.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liegt genauso oft zu hoch</a:t>
            </a:r>
          </a:p>
          <a:p>
            <a:pPr algn="l">
              <a:lnSpc>
                <a:spcPct val="95000"/>
              </a:lnSpc>
              <a:spcBef>
                <a:spcPts val="500"/>
              </a:spcBef>
            </a:pPr>
            <a:r>
              <a:rPr sz="1300" b="0">
                <a:solidFill>
                  <a:srgbClr val="404040"/>
                </a:solidFill>
              </a:rPr>
              <a:t>wie zu tief — und jede zu</a:t>
            </a:r>
          </a:p>
          <a:p>
            <a:pPr algn="l">
              <a:lnSpc>
                <a:spcPct val="95000"/>
              </a:lnSpc>
              <a:spcBef>
                <a:spcPts val="500"/>
              </a:spcBef>
            </a:pPr>
            <a:r>
              <a:rPr sz="1300" b="0">
                <a:solidFill>
                  <a:srgbClr val="404040"/>
                </a:solidFill>
              </a:rPr>
              <a:t>tiefe Schätzung kostet das</a:t>
            </a:r>
          </a:p>
          <a:p>
            <a:pPr algn="l">
              <a:lnSpc>
                <a:spcPct val="95000"/>
              </a:lnSpc>
              <a:spcBef>
                <a:spcPts val="500"/>
              </a:spcBef>
            </a:pPr>
            <a:r>
              <a:rPr sz="1300" b="0">
                <a:solidFill>
                  <a:srgbClr val="404040"/>
                </a:solidFill>
              </a:rPr>
              <a:t>Fünffache einer zu hohen.</a:t>
            </a:r>
          </a:p>
        </p:txBody>
      </p:sp>
      <p:sp>
        <p:nvSpPr>
          <p:cNvPr id="9" name="Rectangle 8"/>
          <p:cNvSpPr/>
          <p:nvPr/>
        </p:nvSpPr>
        <p:spPr>
          <a:xfrm>
            <a:off x="511302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Mit Aufschlag</a:t>
            </a:r>
          </a:p>
          <a:p>
            <a:pPr algn="l">
              <a:lnSpc>
                <a:spcPct val="95000"/>
              </a:lnSpc>
              <a:spcBef>
                <a:spcPts val="500"/>
              </a:spcBef>
            </a:pPr>
            <a:r>
              <a:rPr sz="1300" b="0">
                <a:solidFill>
                  <a:srgbClr val="404040"/>
                </a:solidFill>
              </a:rPr>
              <a:t>Rund 24 % werden auf die</a:t>
            </a:r>
          </a:p>
          <a:p>
            <a:pPr algn="l">
              <a:lnSpc>
                <a:spcPct val="95000"/>
              </a:lnSpc>
              <a:spcBef>
                <a:spcPts val="500"/>
              </a:spcBef>
            </a:pPr>
            <a:r>
              <a:rPr sz="1300" b="0">
                <a:solidFill>
                  <a:srgbClr val="404040"/>
                </a:solidFill>
              </a:rPr>
              <a:t>Prognose aufgeschlagen —</a:t>
            </a:r>
          </a:p>
          <a:p>
            <a:pPr algn="l">
              <a:lnSpc>
                <a:spcPct val="95000"/>
              </a:lnSpc>
              <a:spcBef>
                <a:spcPts val="500"/>
              </a:spcBef>
            </a:pPr>
            <a:r>
              <a:rPr sz="1300" b="0">
                <a:solidFill>
                  <a:srgbClr val="404040"/>
                </a:solidFill>
              </a:rPr>
              <a:t>gewählt auf der Validierung,</a:t>
            </a:r>
          </a:p>
          <a:p>
            <a:pPr algn="l">
              <a:lnSpc>
                <a:spcPct val="95000"/>
              </a:lnSpc>
              <a:spcBef>
                <a:spcPts val="500"/>
              </a:spcBef>
            </a:pPr>
            <a:r>
              <a:rPr sz="1300" b="0">
                <a:solidFill>
                  <a:srgbClr val="404040"/>
                </a:solidFill>
              </a:rPr>
              <a:t>nicht auf dem Test.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mittlere Fehler steigt.</a:t>
            </a:r>
          </a:p>
          <a:p>
            <a:pPr algn="l">
              <a:lnSpc>
                <a:spcPct val="95000"/>
              </a:lnSpc>
              <a:spcBef>
                <a:spcPts val="500"/>
              </a:spcBef>
            </a:pPr>
            <a:r>
              <a:rPr sz="1300" b="0">
                <a:solidFill>
                  <a:srgbClr val="404040"/>
                </a:solidFill>
              </a:rPr>
              <a:t>Die Kosten sinken. Beides</a:t>
            </a:r>
          </a:p>
          <a:p>
            <a:pPr algn="l">
              <a:lnSpc>
                <a:spcPct val="95000"/>
              </a:lnSpc>
              <a:spcBef>
                <a:spcPts val="500"/>
              </a:spcBef>
            </a:pPr>
            <a:r>
              <a:rPr sz="1300" b="0">
                <a:solidFill>
                  <a:srgbClr val="404040"/>
                </a:solidFill>
              </a:rPr>
              <a:t>gleichzeitig.</a:t>
            </a:r>
          </a:p>
        </p:txBody>
      </p:sp>
      <p:sp>
        <p:nvSpPr>
          <p:cNvPr id="12" name="Rectangle 11"/>
          <p:cNvSpPr/>
          <p:nvPr/>
        </p:nvSpPr>
        <p:spPr>
          <a:xfrm>
            <a:off x="908177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Was man lernt</a:t>
            </a:r>
          </a:p>
          <a:p>
            <a:pPr algn="l">
              <a:lnSpc>
                <a:spcPct val="95000"/>
              </a:lnSpc>
              <a:spcBef>
                <a:spcPts val="500"/>
              </a:spcBef>
            </a:pPr>
            <a:r>
              <a:rPr sz="1300" b="0">
                <a:solidFill>
                  <a:srgbClr val="404040"/>
                </a:solidFill>
              </a:rPr>
              <a:t>Die Kennzahl, die man</a:t>
            </a:r>
          </a:p>
          <a:p>
            <a:pPr algn="l">
              <a:lnSpc>
                <a:spcPct val="95000"/>
              </a:lnSpc>
              <a:spcBef>
                <a:spcPts val="500"/>
              </a:spcBef>
            </a:pPr>
            <a:r>
              <a:rPr sz="1300" b="0">
                <a:solidFill>
                  <a:srgbClr val="404040"/>
                </a:solidFill>
              </a:rPr>
              <a:t>optimiert, muss die Kosten</a:t>
            </a:r>
          </a:p>
          <a:p>
            <a:pPr algn="l">
              <a:lnSpc>
                <a:spcPct val="95000"/>
              </a:lnSpc>
              <a:spcBef>
                <a:spcPts val="500"/>
              </a:spcBef>
            </a:pPr>
            <a:r>
              <a:rPr sz="1300" b="0">
                <a:solidFill>
                  <a:srgbClr val="404040"/>
                </a:solidFill>
              </a:rPr>
              <a:t>abbilden — nicht die</a:t>
            </a:r>
          </a:p>
          <a:p>
            <a:pPr algn="l">
              <a:lnSpc>
                <a:spcPct val="95000"/>
              </a:lnSpc>
              <a:spcBef>
                <a:spcPts val="500"/>
              </a:spcBef>
            </a:pPr>
            <a:r>
              <a:rPr sz="1300" b="0">
                <a:solidFill>
                  <a:srgbClr val="404040"/>
                </a:solidFill>
              </a:rPr>
              <a:t>Genauigkeit.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Sonst optimiert man das</a:t>
            </a:r>
          </a:p>
          <a:p>
            <a:pPr algn="l">
              <a:lnSpc>
                <a:spcPct val="95000"/>
              </a:lnSpc>
              <a:spcBef>
                <a:spcPts val="500"/>
              </a:spcBef>
            </a:pPr>
            <a:r>
              <a:rPr sz="1300" b="0">
                <a:solidFill>
                  <a:srgbClr val="404040"/>
                </a:solidFill>
              </a:rPr>
              <a:t>Falsche, sehr sorgfältig.</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Kostenrechnung, die den Aufschlag begründet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5.1</a:t>
            </a:r>
          </a:p>
        </p:txBody>
      </p:sp>
      <p:sp>
        <p:nvSpPr>
          <p:cNvPr id="5" name="Rectangle 4"/>
          <p:cNvSpPr/>
          <p:nvPr/>
        </p:nvSpPr>
        <p:spPr>
          <a:xfrm>
            <a:off x="3709355" y="1168400"/>
            <a:ext cx="6362058" cy="4190999"/>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aufschlag.png"/>
          <p:cNvPicPr>
            <a:picLocks noChangeAspect="1"/>
          </p:cNvPicPr>
          <p:nvPr/>
        </p:nvPicPr>
        <p:blipFill>
          <a:blip r:embed="rId2"/>
          <a:stretch>
            <a:fillRect/>
          </a:stretch>
        </p:blipFill>
        <p:spPr>
          <a:xfrm>
            <a:off x="3810955" y="1270000"/>
            <a:ext cx="6158858" cy="3987799"/>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rechnet beides aus: die Kosten ohne und mit Sicherheitsaufschlag. Erst dieser Vergleich rechtfertigt ein absichtlich ungenaueres Modell.</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ehrliche Eingeständnis gehört in den Bericht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Modell rechnete mit dem TATSÄCHLICHEN Wetter. Im Betrieb steht nur eine Wettervorhersage zur Verfügung.</a:t>
            </a:r>
          </a:p>
        </p:txBody>
      </p:sp>
      <p:sp>
        <p:nvSpPr>
          <p:cNvPr id="6" name="Rectangle 5"/>
          <p:cNvSpPr/>
          <p:nvPr/>
        </p:nvSpPr>
        <p:spPr>
          <a:xfrm>
            <a:off x="1153160" y="1651000"/>
            <a:ext cx="279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Rechnung</a:t>
            </a:r>
          </a:p>
        </p:txBody>
      </p:sp>
      <p:sp>
        <p:nvSpPr>
          <p:cNvPr id="7" name="Rectangle 6"/>
          <p:cNvSpPr/>
          <p:nvPr/>
        </p:nvSpPr>
        <p:spPr>
          <a:xfrm>
            <a:off x="3947160" y="16510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Grundlage</a:t>
            </a:r>
          </a:p>
        </p:txBody>
      </p:sp>
      <p:sp>
        <p:nvSpPr>
          <p:cNvPr id="8" name="Rectangle 7"/>
          <p:cNvSpPr/>
          <p:nvPr/>
        </p:nvSpPr>
        <p:spPr>
          <a:xfrm>
            <a:off x="8138159" y="1651000"/>
            <a:ext cx="4489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9" name="Rectangle 8"/>
          <p:cNvSpPr/>
          <p:nvPr/>
        </p:nvSpPr>
        <p:spPr>
          <a:xfrm>
            <a:off x="1153160" y="2260600"/>
            <a:ext cx="279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In der Evaluation</a:t>
            </a:r>
          </a:p>
        </p:txBody>
      </p:sp>
      <p:sp>
        <p:nvSpPr>
          <p:cNvPr id="10" name="Rectangle 9"/>
          <p:cNvSpPr/>
          <p:nvPr/>
        </p:nvSpPr>
        <p:spPr>
          <a:xfrm>
            <a:off x="3947160" y="22606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tatsächliches Wetter des Tages</a:t>
            </a:r>
          </a:p>
        </p:txBody>
      </p:sp>
      <p:sp>
        <p:nvSpPr>
          <p:cNvPr id="11" name="Rectangle 10"/>
          <p:cNvSpPr/>
          <p:nvPr/>
        </p:nvSpPr>
        <p:spPr>
          <a:xfrm>
            <a:off x="8138159" y="2260600"/>
            <a:ext cx="4489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schöne Wert</a:t>
            </a:r>
          </a:p>
        </p:txBody>
      </p:sp>
      <p:sp>
        <p:nvSpPr>
          <p:cNvPr id="12" name="Rectangle 11"/>
          <p:cNvSpPr/>
          <p:nvPr/>
        </p:nvSpPr>
        <p:spPr>
          <a:xfrm>
            <a:off x="1153160" y="2870200"/>
            <a:ext cx="279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Im Betrieb</a:t>
            </a:r>
          </a:p>
        </p:txBody>
      </p:sp>
      <p:sp>
        <p:nvSpPr>
          <p:cNvPr id="13" name="Rectangle 12"/>
          <p:cNvSpPr/>
          <p:nvPr/>
        </p:nvSpPr>
        <p:spPr>
          <a:xfrm>
            <a:off x="3947160" y="28702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Wettervorhersage von gestern 18 Uhr</a:t>
            </a:r>
          </a:p>
        </p:txBody>
      </p:sp>
      <p:sp>
        <p:nvSpPr>
          <p:cNvPr id="14" name="Rectangle 13"/>
          <p:cNvSpPr/>
          <p:nvPr/>
        </p:nvSpPr>
        <p:spPr>
          <a:xfrm>
            <a:off x="8138159" y="2870200"/>
            <a:ext cx="4489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spürbar höherer Fehler — und das ist die Zahl, die zählt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Fehlerwerte — und nur einer zählt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5.2</a:t>
            </a:r>
          </a:p>
        </p:txBody>
      </p:sp>
      <p:sp>
        <p:nvSpPr>
          <p:cNvPr id="5" name="Rectangle 4"/>
          <p:cNvSpPr/>
          <p:nvPr/>
        </p:nvSpPr>
        <p:spPr>
          <a:xfrm>
            <a:off x="2037545" y="1168400"/>
            <a:ext cx="970567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ehrlich.png"/>
          <p:cNvPicPr>
            <a:picLocks noChangeAspect="1"/>
          </p:cNvPicPr>
          <p:nvPr/>
        </p:nvPicPr>
        <p:blipFill>
          <a:blip r:embed="rId2"/>
          <a:stretch>
            <a:fillRect/>
          </a:stretch>
        </p:blipFill>
        <p:spPr>
          <a:xfrm>
            <a:off x="2139145" y="1270000"/>
            <a:ext cx="950247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MAE 19,92 mit dem tatsächlichen Wetter, 19,64 mit der simulierten Vorhersage. Dass der Unterschied klein ist, ist eine Eigenschaft des gewählten Modells — nicht ein Beleg dafür, dass Wetterfehler egal wären.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4 · Abschluss</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Entscheidungen, zwei ungleich teure Fehlerrichtungen (4,00 € gegen 0,80 €), ein Betriebskriterium: 18 Uhr</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Jahresgang und Wochenrhythmus übereinander — und eine Störgröße: Ferien liegen im Sommer</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Schnitt entlang der Zeit, Testmenge ist der Sommer 2026</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echte Faustregel, linear und Boosting — verglichen unter Prognosewetter, nicht unter Ist-Wetter</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Klar besser als die Faustregel — und ein Sicherheitsaufschlag senkt die Kosten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Mit simulierter Vorhersage steigt der Fehler. Die ehrliche Zahl gehört in den Bericht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wenn die Hürde alles wegnimmt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Wege gehören zusammen — und wieviel von dem, was auffällt, ist überhaupt brauchbar?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wird gefahren — und wo muss der Transporter Räder umverteilen?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Weder Zielgröße noch Gruppen, sondern Regeln: Was hängt mit was zusammen?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Drei Kriterien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 1 % · Lift ≥ 1,3 · die Regel muss eine Transporterfahrt begründen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Datensicht</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Fahrt ist ein Warenkorb: Startort und Zielort zusammen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 drei Divisionen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32 Regeln nimmt keine beide Hürden — die stärkste verfehlt sie um 0,01 Prozentpunkte</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Kennzahlen — am Beispiel aus dem Handel</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Support, Konfidenz und Lift beantworten drei verschiedene Fragen. Nur die dritte sagt, ob ein Zusammenhang überhaupt einer ist.</a:t>
            </a:r>
          </a:p>
        </p:txBody>
      </p:sp>
      <p:sp>
        <p:nvSpPr>
          <p:cNvPr id="6" name="Rectangle 5"/>
          <p:cNvSpPr/>
          <p:nvPr/>
        </p:nvSpPr>
        <p:spPr>
          <a:xfrm>
            <a:off x="1153160" y="1879600"/>
            <a:ext cx="1651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Kennzahl</a:t>
            </a:r>
          </a:p>
        </p:txBody>
      </p:sp>
      <p:sp>
        <p:nvSpPr>
          <p:cNvPr id="7" name="Rectangle 6"/>
          <p:cNvSpPr/>
          <p:nvPr/>
        </p:nvSpPr>
        <p:spPr>
          <a:xfrm>
            <a:off x="2804160" y="1879600"/>
            <a:ext cx="3810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a:t>
            </a:r>
          </a:p>
        </p:txBody>
      </p:sp>
      <p:sp>
        <p:nvSpPr>
          <p:cNvPr id="8" name="Rectangle 7"/>
          <p:cNvSpPr/>
          <p:nvPr/>
        </p:nvSpPr>
        <p:spPr>
          <a:xfrm>
            <a:off x="6614159" y="1879600"/>
            <a:ext cx="601345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Falle</a:t>
            </a:r>
          </a:p>
        </p:txBody>
      </p:sp>
      <p:sp>
        <p:nvSpPr>
          <p:cNvPr id="9" name="Rectangle 8"/>
          <p:cNvSpPr/>
          <p:nvPr/>
        </p:nvSpPr>
        <p:spPr>
          <a:xfrm>
            <a:off x="1153160" y="25908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a:t>
            </a:r>
          </a:p>
        </p:txBody>
      </p:sp>
      <p:sp>
        <p:nvSpPr>
          <p:cNvPr id="10" name="Rectangle 9"/>
          <p:cNvSpPr/>
          <p:nvPr/>
        </p:nvSpPr>
        <p:spPr>
          <a:xfrm>
            <a:off x="2804160" y="25908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kommt die Kombination überhaupt vor?</a:t>
            </a:r>
          </a:p>
        </p:txBody>
      </p:sp>
      <p:sp>
        <p:nvSpPr>
          <p:cNvPr id="11" name="Rectangle 10"/>
          <p:cNvSpPr/>
          <p:nvPr/>
        </p:nvSpPr>
        <p:spPr>
          <a:xfrm>
            <a:off x="6614159" y="25908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Hoher Support heißt nur: es ist häufig. Nicht: es hängt zusammen</a:t>
            </a:r>
          </a:p>
        </p:txBody>
      </p:sp>
      <p:sp>
        <p:nvSpPr>
          <p:cNvPr id="12" name="Rectangle 11"/>
          <p:cNvSpPr/>
          <p:nvPr/>
        </p:nvSpPr>
        <p:spPr>
          <a:xfrm>
            <a:off x="1153160" y="3302000"/>
            <a:ext cx="1651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Konfidenz</a:t>
            </a:r>
          </a:p>
        </p:txBody>
      </p:sp>
      <p:sp>
        <p:nvSpPr>
          <p:cNvPr id="13" name="Rectangle 12"/>
          <p:cNvSpPr/>
          <p:nvPr/>
        </p:nvSpPr>
        <p:spPr>
          <a:xfrm>
            <a:off x="2804160" y="3302000"/>
            <a:ext cx="3810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Wenn A, wie oft dann auch B?</a:t>
            </a:r>
          </a:p>
        </p:txBody>
      </p:sp>
      <p:sp>
        <p:nvSpPr>
          <p:cNvPr id="14" name="Rectangle 13"/>
          <p:cNvSpPr/>
          <p:nvPr/>
        </p:nvSpPr>
        <p:spPr>
          <a:xfrm>
            <a:off x="6614159" y="3302000"/>
            <a:ext cx="601345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Hoch, wenn B einfach oft vorkommt — auch ohne jeden Zusammenhang</a:t>
            </a:r>
          </a:p>
        </p:txBody>
      </p:sp>
      <p:sp>
        <p:nvSpPr>
          <p:cNvPr id="15" name="Rectangle 14"/>
          <p:cNvSpPr/>
          <p:nvPr/>
        </p:nvSpPr>
        <p:spPr>
          <a:xfrm>
            <a:off x="1153160" y="40132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a:t>
            </a:r>
          </a:p>
        </p:txBody>
      </p:sp>
      <p:sp>
        <p:nvSpPr>
          <p:cNvPr id="16" name="Rectangle 15"/>
          <p:cNvSpPr/>
          <p:nvPr/>
        </p:nvSpPr>
        <p:spPr>
          <a:xfrm>
            <a:off x="2804160" y="40132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passiert es gemeinsam, verglichen mit Zufall?</a:t>
            </a:r>
          </a:p>
        </p:txBody>
      </p:sp>
      <p:sp>
        <p:nvSpPr>
          <p:cNvPr id="17" name="Rectangle 16"/>
          <p:cNvSpPr/>
          <p:nvPr/>
        </p:nvSpPr>
        <p:spPr>
          <a:xfrm>
            <a:off x="6614159" y="40132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Lift 1,0 heißt: kein Zusammenhang. Das ist die einzige der drei Kennzahlen, die das erkennt</a:t>
            </a:r>
          </a:p>
        </p:txBody>
      </p:sp>
      <p:sp>
        <p:nvSpPr>
          <p:cNvPr id="18" name="Rectangle 17"/>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stärkste Zusammenhang ist wahr und nutzlos</a:t>
            </a:r>
          </a:p>
        </p:txBody>
      </p:sp>
      <p:sp>
        <p:nvSpPr>
          <p:cNvPr id="3" name="Text Placeholder 2"/>
          <p:cNvSpPr>
            <a:spLocks noGrp="1"/>
          </p:cNvSpPr>
          <p:nvPr>
            <p:ph type="body" idx="12" sz="quarter"/>
          </p:nvPr>
        </p:nvSpPr>
        <p:spPr/>
        <p:txBody>
          <a:bodyPr/>
          <a:lstStyle/>
          <a:p>
            <a:r>
              <a:t>Fall 5 · Phase 2</a:t>
            </a:r>
          </a:p>
        </p:txBody>
      </p:sp>
      <p:sp>
        <p:nvSpPr>
          <p:cNvPr id="4" name="Text Placeholder 3"/>
          <p:cNvSpPr>
            <a:spLocks noGrp="1"/>
          </p:cNvSpPr>
          <p:nvPr>
            <p:ph type="body" idx="13" sz="quarter"/>
          </p:nvPr>
        </p:nvSpPr>
        <p:spPr/>
        <p:txBody>
          <a:bodyPr/>
          <a:lstStyle/>
          <a:p>
            <a:r>
              <a:t>analytics/notebooks/05_Assoziation_Wege_im_Netz.ipynb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das Verfahren zuerst findet, sind die Rundtouren: Start und Ziel sind dieselbe Station, bei knapp 20 % der angedockten Fahrten.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Rundtouren sind mit Abstand</a:t>
            </a:r>
          </a:p>
          <a:p>
            <a:pPr algn="l">
              <a:lnSpc>
                <a:spcPct val="95000"/>
              </a:lnSpc>
              <a:spcBef>
                <a:spcPts val="500"/>
              </a:spcBef>
            </a:pPr>
            <a:r>
              <a:rPr sz="1300" b="0">
                <a:solidFill>
                  <a:srgbClr val="404040"/>
                </a:solidFill>
              </a:rPr>
              <a:t>das häufigste Muster.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hoch, Konfidenz hoch,</a:t>
            </a:r>
          </a:p>
          <a:p>
            <a:pPr algn="l">
              <a:lnSpc>
                <a:spcPct val="95000"/>
              </a:lnSpc>
              <a:spcBef>
                <a:spcPts val="500"/>
              </a:spcBef>
            </a:pPr>
            <a:r>
              <a:rPr sz="1300" b="0">
                <a:solidFill>
                  <a:srgbClr val="404040"/>
                </a:solidFill>
              </a:rPr>
              <a:t>Lift hoch.</a:t>
            </a:r>
          </a:p>
          <a:p>
            <a:pPr algn="l">
              <a:lnSpc>
                <a:spcPct val="95000"/>
              </a:lnSpc>
              <a:spcBef>
                <a:spcPts val="500"/>
              </a:spcBef>
            </a:pPr>
            <a:r>
              <a:rPr sz="1300" b="0">
                <a:solidFill>
                  <a:srgbClr val="404040"/>
                </a:solidFill>
              </a:rPr>
              <a:t>Eine perfekte Regel.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 nutzlos</a:t>
            </a:r>
          </a:p>
          <a:p>
            <a:pPr algn="l">
              <a:lnSpc>
                <a:spcPct val="95000"/>
              </a:lnSpc>
              <a:spcBef>
                <a:spcPts val="500"/>
              </a:spcBef>
            </a:pPr>
            <a:r>
              <a:rPr sz="1300" b="0">
                <a:solidFill>
                  <a:srgbClr val="404040"/>
                </a:solidFill>
              </a:rPr>
              <a:t>Kriterium 3 aus Phase 1:</a:t>
            </a:r>
          </a:p>
          <a:p>
            <a:pPr algn="l">
              <a:lnSpc>
                <a:spcPct val="95000"/>
              </a:lnSpc>
              <a:spcBef>
                <a:spcPts val="500"/>
              </a:spcBef>
            </a:pPr>
            <a:r>
              <a:rPr sz="1300" b="0">
                <a:solidFill>
                  <a:srgbClr val="404040"/>
                </a:solidFill>
              </a:rPr>
              <a:t>Die Regel muss eine Fahrt</a:t>
            </a:r>
          </a:p>
          <a:p>
            <a:pPr algn="l">
              <a:lnSpc>
                <a:spcPct val="95000"/>
              </a:lnSpc>
              <a:spcBef>
                <a:spcPts val="500"/>
              </a:spcBef>
            </a:pPr>
            <a:r>
              <a:rPr sz="1300" b="0">
                <a:solidFill>
                  <a:srgbClr val="404040"/>
                </a:solidFill>
              </a:rPr>
              <a:t>des Transporters begründen.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einer Rundtour steht das</a:t>
            </a:r>
          </a:p>
          <a:p>
            <a:pPr algn="l">
              <a:lnSpc>
                <a:spcPct val="95000"/>
              </a:lnSpc>
              <a:spcBef>
                <a:spcPts val="500"/>
              </a:spcBef>
            </a:pPr>
            <a:r>
              <a:rPr sz="1300" b="0">
                <a:solidFill>
                  <a:srgbClr val="404040"/>
                </a:solidFill>
              </a:rPr>
              <a:t>Rad am Ende dort, wo es</a:t>
            </a:r>
          </a:p>
          <a:p>
            <a:pPr algn="l">
              <a:lnSpc>
                <a:spcPct val="95000"/>
              </a:lnSpc>
              <a:spcBef>
                <a:spcPts val="500"/>
              </a:spcBef>
            </a:pPr>
            <a:r>
              <a:rPr sz="1300" b="0">
                <a:solidFill>
                  <a:srgbClr val="404040"/>
                </a:solidFill>
              </a:rPr>
              <a:t>gestartet ist. Nichts zu tun.</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Lehre</a:t>
            </a:r>
          </a:p>
          <a:p>
            <a:pPr algn="l">
              <a:lnSpc>
                <a:spcPct val="95000"/>
              </a:lnSpc>
              <a:spcBef>
                <a:spcPts val="500"/>
              </a:spcBef>
            </a:pPr>
            <a:r>
              <a:rPr sz="1300" b="0">
                <a:solidFill>
                  <a:srgbClr val="404040"/>
                </a:solidFill>
              </a:rPr>
              <a:t>Ein starker Zusammenhang</a:t>
            </a:r>
          </a:p>
          <a:p>
            <a:pPr algn="l">
              <a:lnSpc>
                <a:spcPct val="95000"/>
              </a:lnSpc>
              <a:spcBef>
                <a:spcPts val="500"/>
              </a:spcBef>
            </a:pPr>
            <a:r>
              <a:rPr sz="1300" b="0">
                <a:solidFill>
                  <a:srgbClr val="404040"/>
                </a:solidFill>
              </a:rPr>
              <a:t>ist nicht dasselbe wie ein</a:t>
            </a:r>
          </a:p>
          <a:p>
            <a:pPr algn="l">
              <a:lnSpc>
                <a:spcPct val="95000"/>
              </a:lnSpc>
              <a:spcBef>
                <a:spcPts val="500"/>
              </a:spcBef>
            </a:pPr>
            <a:r>
              <a:rPr sz="1300" b="0">
                <a:solidFill>
                  <a:srgbClr val="404040"/>
                </a:solidFill>
              </a:rPr>
              <a:t>brauchbarer.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Rundtouren werden</a:t>
            </a:r>
          </a:p>
          <a:p>
            <a:pPr algn="l">
              <a:lnSpc>
                <a:spcPct val="95000"/>
              </a:lnSpc>
              <a:spcBef>
                <a:spcPts val="500"/>
              </a:spcBef>
            </a:pPr>
            <a:r>
              <a:rPr sz="1300" b="0">
                <a:solidFill>
                  <a:srgbClr val="404040"/>
                </a:solidFill>
              </a:rPr>
              <a:t>ausgeschlossen — begründet</a:t>
            </a:r>
          </a:p>
          <a:p>
            <a:pPr algn="l">
              <a:lnSpc>
                <a:spcPct val="95000"/>
              </a:lnSpc>
              <a:spcBef>
                <a:spcPts val="500"/>
              </a:spcBef>
            </a:pPr>
            <a:r>
              <a:rPr sz="1300" b="0">
                <a:solidFill>
                  <a:srgbClr val="404040"/>
                </a:solidFill>
              </a:rPr>
              <a:t>und dokumentiert.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Zeitfenster statt vierundzwanzig Stunden</a:t>
            </a:r>
          </a:p>
        </p:txBody>
      </p:sp>
      <p:sp>
        <p:nvSpPr>
          <p:cNvPr id="3" name="Text Placeholder 2"/>
          <p:cNvSpPr>
            <a:spLocks noGrp="1"/>
          </p:cNvSpPr>
          <p:nvPr>
            <p:ph type="body" idx="12" sz="quarter"/>
          </p:nvPr>
        </p:nvSpPr>
        <p:spPr/>
        <p:txBody>
          <a:bodyPr/>
          <a:lstStyle/>
          <a:p>
            <a:r>
              <a:t>Fall 5 · Phase 3</a:t>
            </a:r>
          </a:p>
        </p:txBody>
      </p:sp>
      <p:sp>
        <p:nvSpPr>
          <p:cNvPr id="4" name="Text Placeholder 3"/>
          <p:cNvSpPr>
            <a:spLocks noGrp="1"/>
          </p:cNvSpPr>
          <p:nvPr>
            <p:ph type="body" idx="13" sz="quarter"/>
          </p:nvPr>
        </p:nvSpPr>
        <p:spPr/>
        <p:txBody>
          <a:bodyPr/>
          <a:lstStyle/>
          <a:p>
            <a:r>
              <a:t>analytics/notebooks/05_Assoziation_Wege_im_Netz.ipynb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diese Entscheidung wäre jede Regel unbelegt — bei 24 Stunden fällt auf jede einzelne zu wenig, um irgendetwas zu zeigen.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Das Problem</a:t>
            </a:r>
          </a:p>
          <a:p>
            <a:pPr algn="l">
              <a:lnSpc>
                <a:spcPct val="95000"/>
              </a:lnSpc>
              <a:spcBef>
                <a:spcPts val="500"/>
              </a:spcBef>
            </a:pPr>
            <a:r>
              <a:rPr sz="1300" b="0">
                <a:solidFill>
                  <a:srgbClr val="404040"/>
                </a:solidFill>
              </a:rPr>
              <a:t>Teilt man den Tag in Stunden,</a:t>
            </a:r>
          </a:p>
          <a:p>
            <a:pPr algn="l">
              <a:lnSpc>
                <a:spcPct val="95000"/>
              </a:lnSpc>
              <a:spcBef>
                <a:spcPts val="500"/>
              </a:spcBef>
            </a:pPr>
            <a:r>
              <a:rPr sz="1300" b="0">
                <a:solidFill>
                  <a:srgbClr val="404040"/>
                </a:solidFill>
              </a:rPr>
              <a:t>hat jede Start-Ziel-Stunden-</a:t>
            </a:r>
          </a:p>
          <a:p>
            <a:pPr algn="l">
              <a:lnSpc>
                <a:spcPct val="95000"/>
              </a:lnSpc>
              <a:spcBef>
                <a:spcPts val="500"/>
              </a:spcBef>
            </a:pPr>
            <a:r>
              <a:rPr sz="1300" b="0">
                <a:solidFill>
                  <a:srgbClr val="404040"/>
                </a:solidFill>
              </a:rPr>
              <a:t>Kombination eine Handvoll</a:t>
            </a:r>
          </a:p>
          <a:p>
            <a:pPr algn="l">
              <a:lnSpc>
                <a:spcPct val="95000"/>
              </a:lnSpc>
              <a:spcBef>
                <a:spcPts val="500"/>
              </a:spcBef>
            </a:pPr>
            <a:r>
              <a:rPr sz="1300" b="0">
                <a:solidFill>
                  <a:srgbClr val="404040"/>
                </a:solidFill>
              </a:rPr>
              <a:t>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nahe null, jede Regel</a:t>
            </a:r>
          </a:p>
          <a:p>
            <a:pPr algn="l">
              <a:lnSpc>
                <a:spcPct val="95000"/>
              </a:lnSpc>
              <a:spcBef>
                <a:spcPts val="500"/>
              </a:spcBef>
            </a:pPr>
            <a:r>
              <a:rPr sz="1300" b="0">
                <a:solidFill>
                  <a:srgbClr val="404040"/>
                </a:solidFill>
              </a:rPr>
              <a:t>ununterscheidbar vom Zufall.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Vier Fenster, an den</a:t>
            </a:r>
          </a:p>
          <a:p>
            <a:pPr algn="l">
              <a:lnSpc>
                <a:spcPct val="95000"/>
              </a:lnSpc>
              <a:spcBef>
                <a:spcPts val="500"/>
              </a:spcBef>
            </a:pPr>
            <a:r>
              <a:rPr sz="1300" b="0">
                <a:solidFill>
                  <a:srgbClr val="404040"/>
                </a:solidFill>
              </a:rPr>
              <a:t>tatsächlichen Spitzen</a:t>
            </a:r>
          </a:p>
          <a:p>
            <a:pPr algn="l">
              <a:lnSpc>
                <a:spcPct val="95000"/>
              </a:lnSpc>
              <a:spcBef>
                <a:spcPts val="500"/>
              </a:spcBef>
            </a:pPr>
            <a:r>
              <a:rPr sz="1300" b="0">
                <a:solidFill>
                  <a:srgbClr val="404040"/>
                </a:solidFill>
              </a:rPr>
              <a:t>orientiert: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Früh · Vormittag ·</a:t>
            </a:r>
          </a:p>
          <a:p>
            <a:pPr algn="l">
              <a:lnSpc>
                <a:spcPct val="95000"/>
              </a:lnSpc>
              <a:spcBef>
                <a:spcPts val="500"/>
              </a:spcBef>
            </a:pPr>
            <a:r>
              <a:rPr sz="1300" b="0">
                <a:solidFill>
                  <a:srgbClr val="404040"/>
                </a:solidFill>
              </a:rPr>
              <a:t>Nachmittag · Abend</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Vorbehalt</a:t>
            </a:r>
          </a:p>
          <a:p>
            <a:pPr algn="l">
              <a:lnSpc>
                <a:spcPct val="95000"/>
              </a:lnSpc>
              <a:spcBef>
                <a:spcPts val="500"/>
              </a:spcBef>
            </a:pPr>
            <a:r>
              <a:rPr sz="1300" b="0">
                <a:solidFill>
                  <a:srgbClr val="404040"/>
                </a:solidFill>
              </a:rPr>
              <a:t>Die vier Fenster sind gesetzt,</a:t>
            </a:r>
          </a:p>
          <a:p>
            <a:pPr algn="l">
              <a:lnSpc>
                <a:spcPct val="95000"/>
              </a:lnSpc>
              <a:spcBef>
                <a:spcPts val="500"/>
              </a:spcBef>
            </a:pPr>
            <a:r>
              <a:rPr sz="1300" b="0">
                <a:solidFill>
                  <a:srgbClr val="404040"/>
                </a:solidFill>
              </a:rPr>
              <a:t>nicht gefunden.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Aufteilung nach den</a:t>
            </a:r>
          </a:p>
          <a:p>
            <a:pPr algn="l">
              <a:lnSpc>
                <a:spcPct val="95000"/>
              </a:lnSpc>
              <a:spcBef>
                <a:spcPts val="500"/>
              </a:spcBef>
            </a:pPr>
            <a:r>
              <a:rPr sz="1300" b="0">
                <a:solidFill>
                  <a:srgbClr val="404040"/>
                </a:solidFill>
              </a:rPr>
              <a:t>Spitzen aus Notebook 3 könnte</a:t>
            </a:r>
          </a:p>
          <a:p>
            <a:pPr algn="l">
              <a:lnSpc>
                <a:spcPct val="95000"/>
              </a:lnSpc>
              <a:spcBef>
                <a:spcPts val="500"/>
              </a:spcBef>
            </a:pPr>
            <a:r>
              <a:rPr sz="1300" b="0">
                <a:solidFill>
                  <a:srgbClr val="404040"/>
                </a:solidFill>
              </a:rPr>
              <a:t>schärfere Regeln liefern —</a:t>
            </a:r>
          </a:p>
          <a:p>
            <a:pPr algn="l">
              <a:lnSpc>
                <a:spcPct val="95000"/>
              </a:lnSpc>
              <a:spcBef>
                <a:spcPts val="500"/>
              </a:spcBef>
            </a:pPr>
            <a:r>
              <a:rPr sz="1300" b="0">
                <a:solidFill>
                  <a:srgbClr val="404040"/>
                </a:solidFill>
              </a:rPr>
              <a:t>notiert für die zweite Runde.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einzelne Regel, von Hand nachgerechnet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analytics/notebooks/05_Assoziation_Wege_im_Netz.ipynb · Abschnitt 4</a:t>
            </a:r>
          </a:p>
        </p:txBody>
      </p:sp>
      <p:sp>
        <p:nvSpPr>
          <p:cNvPr id="5" name="Rectangle 4"/>
          <p:cNvSpPr/>
          <p:nvPr/>
        </p:nvSpPr>
        <p:spPr>
          <a:xfrm>
            <a:off x="2839441" y="1168400"/>
            <a:ext cx="8101886"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regel.png"/>
          <p:cNvPicPr>
            <a:picLocks noChangeAspect="1"/>
          </p:cNvPicPr>
          <p:nvPr/>
        </p:nvPicPr>
        <p:blipFill>
          <a:blip r:embed="rId2"/>
          <a:stretch>
            <a:fillRect/>
          </a:stretch>
        </p:blipFill>
        <p:spPr>
          <a:xfrm>
            <a:off x="2941041" y="1270000"/>
            <a:ext cx="7898686"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Support, Konfidenz und Lift für eine konkrete Regel — drei Divisionen, Zeile für Zeile nachvollziehbar.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32 Regeln bleibt keine</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Hoher Lift und hoher Support schließen einander fast aus. Wer beide Hürden vorab setzt, siebt radikal — hier bis auf null.</a:t>
            </a:r>
          </a:p>
        </p:txBody>
      </p:sp>
      <p:sp>
        <p:nvSpPr>
          <p:cNvPr id="6" name="Rectangle 5"/>
          <p:cNvSpPr/>
          <p:nvPr/>
        </p:nvSpPr>
        <p:spPr>
          <a:xfrm>
            <a:off x="1153160" y="1879600"/>
            <a:ext cx="635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Hürde</a:t>
            </a:r>
          </a:p>
        </p:txBody>
      </p:sp>
      <p:sp>
        <p:nvSpPr>
          <p:cNvPr id="7" name="Rectangle 6"/>
          <p:cNvSpPr/>
          <p:nvPr/>
        </p:nvSpPr>
        <p:spPr>
          <a:xfrm>
            <a:off x="7503159" y="1879600"/>
            <a:ext cx="512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Regeln, die sie erfüllen</a:t>
            </a:r>
          </a:p>
        </p:txBody>
      </p:sp>
      <p:sp>
        <p:nvSpPr>
          <p:cNvPr id="8" name="Rectangle 7"/>
          <p:cNvSpPr/>
          <p:nvPr/>
        </p:nvSpPr>
        <p:spPr>
          <a:xfrm>
            <a:off x="1153160" y="24384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Alle gefundenen Regeln</a:t>
            </a:r>
          </a:p>
        </p:txBody>
      </p:sp>
      <p:sp>
        <p:nvSpPr>
          <p:cNvPr id="9" name="Rectangle 8"/>
          <p:cNvSpPr/>
          <p:nvPr/>
        </p:nvSpPr>
        <p:spPr>
          <a:xfrm>
            <a:off x="7503159" y="24384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a:t>
            </a:r>
          </a:p>
        </p:txBody>
      </p:sp>
      <p:sp>
        <p:nvSpPr>
          <p:cNvPr id="10" name="Rectangle 9"/>
          <p:cNvSpPr/>
          <p:nvPr/>
        </p:nvSpPr>
        <p:spPr>
          <a:xfrm>
            <a:off x="1153160" y="29972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 ≥ 1,3</a:t>
            </a:r>
          </a:p>
        </p:txBody>
      </p:sp>
      <p:sp>
        <p:nvSpPr>
          <p:cNvPr id="11" name="Rectangle 10"/>
          <p:cNvSpPr/>
          <p:nvPr/>
        </p:nvSpPr>
        <p:spPr>
          <a:xfrm>
            <a:off x="7503159" y="29972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9</a:t>
            </a:r>
          </a:p>
        </p:txBody>
      </p:sp>
      <p:sp>
        <p:nvSpPr>
          <p:cNvPr id="12" name="Rectangle 11"/>
          <p:cNvSpPr/>
          <p:nvPr/>
        </p:nvSpPr>
        <p:spPr>
          <a:xfrm>
            <a:off x="1153160" y="35560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 ≥ 1 %</a:t>
            </a:r>
          </a:p>
        </p:txBody>
      </p:sp>
      <p:sp>
        <p:nvSpPr>
          <p:cNvPr id="13" name="Rectangle 12"/>
          <p:cNvSpPr/>
          <p:nvPr/>
        </p:nvSpPr>
        <p:spPr>
          <a:xfrm>
            <a:off x="7503159" y="35560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4" name="Rectangle 13"/>
          <p:cNvSpPr/>
          <p:nvPr/>
        </p:nvSpPr>
        <p:spPr>
          <a:xfrm>
            <a:off x="1153160" y="41148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Beide zugleich</a:t>
            </a:r>
          </a:p>
        </p:txBody>
      </p:sp>
      <p:sp>
        <p:nvSpPr>
          <p:cNvPr id="15" name="Rectangle 14"/>
          <p:cNvSpPr/>
          <p:nvPr/>
        </p:nvSpPr>
        <p:spPr>
          <a:xfrm>
            <a:off x="7503159" y="41148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6" name="Rectangle 15"/>
          <p:cNvSpPr/>
          <p:nvPr/>
        </p:nvSpPr>
        <p:spPr>
          <a:xfrm>
            <a:off x="1153160" y="4851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4927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stärkste Regel — werktags früh vom Hauptbahnhof zum Hubland Campus — erreicht 0,99 % Support. Zur Hürde fehlen 0,01 Prozentpunkte, also rund fünf Fahrten in drei Jahren.</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0,99 gegen 1,00 Prozent — der teuerste Moment eines Projekts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Hürde auf 0,9 % zu senken wäre die Arbeit von zehn Sekunden. Niemand würde es je bemerken. Genau deshalb darf es nicht passieren.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verlockend wäre</a:t>
            </a:r>
          </a:p>
          <a:p>
            <a:pPr algn="l">
              <a:lnSpc>
                <a:spcPct val="95000"/>
              </a:lnSpc>
              <a:spcBef>
                <a:spcPts val="500"/>
              </a:spcBef>
            </a:pPr>
            <a:r>
              <a:rPr sz="1300" b="0">
                <a:solidFill>
                  <a:srgbClr val="404040"/>
                </a:solidFill>
              </a:rPr>
              <a:t>„0,99 ist doch praktisch 1.“</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Zeile im Notebook, und</a:t>
            </a:r>
          </a:p>
          <a:p>
            <a:pPr algn="l">
              <a:lnSpc>
                <a:spcPct val="95000"/>
              </a:lnSpc>
              <a:spcBef>
                <a:spcPts val="500"/>
              </a:spcBef>
            </a:pPr>
            <a:r>
              <a:rPr sz="1300" b="0">
                <a:solidFill>
                  <a:srgbClr val="404040"/>
                </a:solidFill>
              </a:rPr>
              <a:t>aus dem Fehlschlag wird ein</a:t>
            </a:r>
          </a:p>
          <a:p>
            <a:pPr algn="l">
              <a:lnSpc>
                <a:spcPct val="95000"/>
              </a:lnSpc>
              <a:spcBef>
                <a:spcPts val="500"/>
              </a:spcBef>
            </a:pPr>
            <a:r>
              <a:rPr sz="1300" b="0">
                <a:solidFill>
                  <a:srgbClr val="404040"/>
                </a:solidFill>
              </a:rPr>
              <a:t>Ergebnis mit einer Regel,</a:t>
            </a:r>
          </a:p>
          <a:p>
            <a:pPr algn="l">
              <a:lnSpc>
                <a:spcPct val="95000"/>
              </a:lnSpc>
              <a:spcBef>
                <a:spcPts val="500"/>
              </a:spcBef>
            </a:pPr>
            <a:r>
              <a:rPr sz="1300" b="0">
                <a:solidFill>
                  <a:srgbClr val="404040"/>
                </a:solidFill>
              </a:rPr>
              <a:t>über die man vortragen kann.</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Warum es verboten ist</a:t>
            </a:r>
          </a:p>
          <a:p>
            <a:pPr algn="l">
              <a:lnSpc>
                <a:spcPct val="95000"/>
              </a:lnSpc>
              <a:spcBef>
                <a:spcPts val="500"/>
              </a:spcBef>
            </a:pPr>
            <a:r>
              <a:rPr sz="1300" b="0">
                <a:solidFill>
                  <a:srgbClr val="404040"/>
                </a:solidFill>
              </a:rPr>
              <a:t>Ein Kriterium, das man nach</a:t>
            </a:r>
          </a:p>
          <a:p>
            <a:pPr algn="l">
              <a:lnSpc>
                <a:spcPct val="95000"/>
              </a:lnSpc>
              <a:spcBef>
                <a:spcPts val="500"/>
              </a:spcBef>
            </a:pPr>
            <a:r>
              <a:rPr sz="1300" b="0">
                <a:solidFill>
                  <a:srgbClr val="404040"/>
                </a:solidFill>
              </a:rPr>
              <a:t>dem Ergebnis anpasst, misst</a:t>
            </a:r>
          </a:p>
          <a:p>
            <a:pPr algn="l">
              <a:lnSpc>
                <a:spcPct val="95000"/>
              </a:lnSpc>
              <a:spcBef>
                <a:spcPts val="500"/>
              </a:spcBef>
            </a:pPr>
            <a:r>
              <a:rPr sz="1300" b="0">
                <a:solidFill>
                  <a:srgbClr val="404040"/>
                </a:solidFill>
              </a:rPr>
              <a:t>nichts mehr.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Es wäre dasselbe, wie es gar</a:t>
            </a:r>
          </a:p>
          <a:p>
            <a:pPr algn="l">
              <a:lnSpc>
                <a:spcPct val="95000"/>
              </a:lnSpc>
              <a:spcBef>
                <a:spcPts val="500"/>
              </a:spcBef>
            </a:pPr>
            <a:r>
              <a:rPr sz="1300" b="0">
                <a:solidFill>
                  <a:srgbClr val="404040"/>
                </a:solidFill>
              </a:rPr>
              <a:t>nicht erst aufgestellt zu</a:t>
            </a:r>
          </a:p>
          <a:p>
            <a:pPr algn="l">
              <a:lnSpc>
                <a:spcPct val="95000"/>
              </a:lnSpc>
              <a:spcBef>
                <a:spcPts val="500"/>
              </a:spcBef>
            </a:pPr>
            <a:r>
              <a:rPr sz="1300" b="0">
                <a:solidFill>
                  <a:srgbClr val="404040"/>
                </a:solidFill>
              </a:rPr>
              <a:t>haben.</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stattdessen gilt</a:t>
            </a:r>
          </a:p>
          <a:p>
            <a:pPr algn="l">
              <a:lnSpc>
                <a:spcPct val="95000"/>
              </a:lnSpc>
              <a:spcBef>
                <a:spcPts val="500"/>
              </a:spcBef>
            </a:pPr>
            <a:r>
              <a:rPr sz="1300" b="0">
                <a:solidFill>
                  <a:srgbClr val="404040"/>
                </a:solidFill>
              </a:rPr>
              <a:t>Keine Regel wird freigegeben.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Ob 1 % die richtige Hürde für</a:t>
            </a:r>
          </a:p>
          <a:p>
            <a:pPr algn="l">
              <a:lnSpc>
                <a:spcPct val="95000"/>
              </a:lnSpc>
              <a:spcBef>
                <a:spcPts val="500"/>
              </a:spcBef>
            </a:pPr>
            <a:r>
              <a:rPr sz="1300" b="0">
                <a:solidFill>
                  <a:srgbClr val="404040"/>
                </a:solidFill>
              </a:rPr>
              <a:t>ein Netz aus zehn Stationen</a:t>
            </a:r>
          </a:p>
          <a:p>
            <a:pPr algn="l">
              <a:lnSpc>
                <a:spcPct val="95000"/>
              </a:lnSpc>
              <a:spcBef>
                <a:spcPts val="500"/>
              </a:spcBef>
            </a:pPr>
            <a:r>
              <a:rPr sz="1300" b="0">
                <a:solidFill>
                  <a:srgbClr val="404040"/>
                </a:solidFill>
              </a:rPr>
              <a:t>ist, gehört zurück in Phase 1</a:t>
            </a:r>
          </a:p>
          <a:p>
            <a:pPr algn="l">
              <a:lnSpc>
                <a:spcPct val="95000"/>
              </a:lnSpc>
              <a:spcBef>
                <a:spcPts val="500"/>
              </a:spcBef>
            </a:pPr>
            <a:r>
              <a:rPr sz="1300" b="0">
                <a:solidFill>
                  <a:srgbClr val="404040"/>
                </a:solidFill>
              </a:rPr>
              <a:t>— als Gespräch mit der</a:t>
            </a:r>
          </a:p>
          <a:p>
            <a:pPr algn="l">
              <a:lnSpc>
                <a:spcPct val="95000"/>
              </a:lnSpc>
              <a:spcBef>
                <a:spcPts val="500"/>
              </a:spcBef>
            </a:pPr>
            <a:r>
              <a:rPr sz="1300" b="0">
                <a:solidFill>
                  <a:srgbClr val="404040"/>
                </a:solidFill>
              </a:rPr>
              <a:t>Disposition, nicht als Zeile.</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Hürden sieben — 32, dann 9, dann keine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analytics/notebooks/05_Assoziation_Wege_im_Netz.ipynb · Abschnitt 5.2</a:t>
            </a:r>
          </a:p>
        </p:txBody>
      </p:sp>
      <p:sp>
        <p:nvSpPr>
          <p:cNvPr id="5" name="Rectangle 4"/>
          <p:cNvSpPr/>
          <p:nvPr/>
        </p:nvSpPr>
        <p:spPr>
          <a:xfrm>
            <a:off x="3995803" y="1168400"/>
            <a:ext cx="5789162"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huerden.png"/>
          <p:cNvPicPr>
            <a:picLocks noChangeAspect="1"/>
          </p:cNvPicPr>
          <p:nvPr/>
        </p:nvPicPr>
        <p:blipFill>
          <a:blip r:embed="rId2"/>
          <a:stretch>
            <a:fillRect/>
          </a:stretch>
        </p:blipFill>
        <p:spPr>
          <a:xfrm>
            <a:off x="4097403" y="1270000"/>
            <a:ext cx="5585962"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Und darunter, gemessen statt behauptet: wie knapp die stärkste Regel scheitert.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zwei Plänen trägt einer</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entstehen aus den Salden je Station und Zeitfenster, nicht aus den Regeln. Nur einer von beiden ergibt eine Anweisung, die jemand ausführen kann.</a:t>
            </a:r>
          </a:p>
        </p:txBody>
      </p:sp>
      <p:sp>
        <p:nvSpPr>
          <p:cNvPr id="6" name="Rectangle 5"/>
          <p:cNvSpPr/>
          <p:nvPr/>
        </p:nvSpPr>
        <p:spPr>
          <a:xfrm>
            <a:off x="1153160" y="1879600"/>
            <a:ext cx="5524500" cy="2717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A — trägt nicht</a:t>
            </a:r>
          </a:p>
        </p:txBody>
      </p:sp>
      <p:sp>
        <p:nvSpPr>
          <p:cNvPr id="9" name="TextBox 8"/>
          <p:cNvSpPr txBox="1"/>
          <p:nvPr/>
        </p:nvSpPr>
        <p:spPr>
          <a:xfrm>
            <a:off x="1330960" y="2387600"/>
            <a:ext cx="5194300" cy="2082800"/>
          </a:xfrm>
          <a:prstGeom prst="rect">
            <a:avLst/>
          </a:prstGeom>
          <a:noFill/>
        </p:spPr>
        <p:txBody>
          <a:bodyPr wrap="square" lIns="0" tIns="0" rIns="0" bIns="0">
            <a:spAutoFit/>
          </a:bodyPr>
          <a:lstStyle/>
          <a:p>
            <a:pPr algn="l">
              <a:lnSpc>
                <a:spcPct val="95000"/>
              </a:lnSpc>
            </a:pPr>
            <a:r>
              <a:rPr sz="1400" b="1">
                <a:solidFill>
                  <a:srgbClr val="A32638"/>
                </a:solidFill>
              </a:rPr>
              <a:t>Umverteilen zwischen Stationen</a:t>
            </a:r>
          </a:p>
          <a:p>
            <a:pPr algn="l">
              <a:lnSpc>
                <a:spcPct val="95000"/>
              </a:lnSpc>
              <a:spcBef>
                <a:spcPts val="300"/>
              </a:spcBef>
            </a:pPr>
            <a:r>
              <a:rPr sz="1300" b="0">
                <a:solidFill>
                  <a:srgbClr val="404040"/>
                </a:solidFill>
              </a:rPr>
              <a:t>Größter Überschuss:</a:t>
            </a:r>
          </a:p>
          <a:p>
            <a:pPr algn="l">
              <a:lnSpc>
                <a:spcPct val="95000"/>
              </a:lnSpc>
              <a:spcBef>
                <a:spcPts val="300"/>
              </a:spcBef>
            </a:pPr>
            <a:r>
              <a:rPr sz="1300" b="0">
                <a:solidFill>
                  <a:srgbClr val="404040"/>
                </a:solidFill>
              </a:rPr>
              <a:t>1,8 Räder je Werktag.</a:t>
            </a:r>
          </a:p>
          <a:p>
            <a:pPr algn="l">
              <a:lnSpc>
                <a:spcPct val="95000"/>
              </a:lnSpc>
              <a:spcBef>
                <a:spcPts val="300"/>
              </a:spcBef>
            </a:pPr>
            <a:r>
              <a:rPr sz="1300" b="0">
                <a:solidFill>
                  <a:srgbClr val="404040"/>
                </a:solidFill>
              </a:rPr>
              <a:t>Größter Fehlbestand: 1,1.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Stationen fassen 20 bis 40.</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Für 1,8 Räder fährt kein</a:t>
            </a:r>
          </a:p>
          <a:p>
            <a:pPr algn="l">
              <a:lnSpc>
                <a:spcPct val="95000"/>
              </a:lnSpc>
              <a:spcBef>
                <a:spcPts val="300"/>
              </a:spcBef>
            </a:pPr>
            <a:r>
              <a:rPr sz="1300" b="0">
                <a:solidFill>
                  <a:srgbClr val="404040"/>
                </a:solidFill>
              </a:rPr>
              <a:t>Transporter durch Würzburg.</a:t>
            </a:r>
          </a:p>
        </p:txBody>
      </p:sp>
      <p:sp>
        <p:nvSpPr>
          <p:cNvPr id="10" name="Rectangle 9"/>
          <p:cNvSpPr/>
          <p:nvPr/>
        </p:nvSpPr>
        <p:spPr>
          <a:xfrm>
            <a:off x="7096759" y="1879600"/>
            <a:ext cx="5524500" cy="2717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B — trägt</a:t>
            </a:r>
          </a:p>
        </p:txBody>
      </p:sp>
      <p:sp>
        <p:nvSpPr>
          <p:cNvPr id="13" name="TextBox 12"/>
          <p:cNvSpPr txBox="1"/>
          <p:nvPr/>
        </p:nvSpPr>
        <p:spPr>
          <a:xfrm>
            <a:off x="7274559" y="2387600"/>
            <a:ext cx="5194300" cy="2082800"/>
          </a:xfrm>
          <a:prstGeom prst="rect">
            <a:avLst/>
          </a:prstGeom>
          <a:noFill/>
        </p:spPr>
        <p:txBody>
          <a:bodyPr wrap="square" lIns="0" tIns="0" rIns="0" bIns="0">
            <a:spAutoFit/>
          </a:bodyPr>
          <a:lstStyle/>
          <a:p>
            <a:pPr algn="l">
              <a:lnSpc>
                <a:spcPct val="95000"/>
              </a:lnSpc>
            </a:pPr>
            <a:r>
              <a:rPr sz="1400" b="1">
                <a:solidFill>
                  <a:srgbClr val="55801C"/>
                </a:solidFill>
              </a:rPr>
              <a:t>Frei abgestellte Räder einsammeln</a:t>
            </a:r>
          </a:p>
          <a:p>
            <a:pPr algn="l">
              <a:lnSpc>
                <a:spcPct val="95000"/>
              </a:lnSpc>
              <a:spcBef>
                <a:spcPts val="300"/>
              </a:spcBef>
            </a:pPr>
            <a:r>
              <a:rPr sz="1300" b="0">
                <a:solidFill>
                  <a:srgbClr val="404040"/>
                </a:solidFill>
              </a:rPr>
              <a:t>Rund elf Räder je Werktag</a:t>
            </a:r>
          </a:p>
          <a:p>
            <a:pPr algn="l">
              <a:lnSpc>
                <a:spcPct val="95000"/>
              </a:lnSpc>
              <a:spcBef>
                <a:spcPts val="300"/>
              </a:spcBef>
            </a:pPr>
            <a:r>
              <a:rPr sz="1300" b="0">
                <a:solidFill>
                  <a:srgbClr val="404040"/>
                </a:solidFill>
              </a:rPr>
              <a:t>bleiben frei im Gebiet.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ist eine Runde, die sich</a:t>
            </a:r>
          </a:p>
          <a:p>
            <a:pPr algn="l">
              <a:lnSpc>
                <a:spcPct val="95000"/>
              </a:lnSpc>
              <a:spcBef>
                <a:spcPts val="300"/>
              </a:spcBef>
            </a:pPr>
            <a:r>
              <a:rPr sz="1300" b="0">
                <a:solidFill>
                  <a:srgbClr val="404040"/>
                </a:solidFill>
              </a:rPr>
              <a:t>lohnt — und sie braucht keine</a:t>
            </a:r>
          </a:p>
          <a:p>
            <a:pPr algn="l">
              <a:lnSpc>
                <a:spcPct val="95000"/>
              </a:lnSpc>
              <a:spcBef>
                <a:spcPts val="300"/>
              </a:spcBef>
            </a:pPr>
            <a:r>
              <a:rPr sz="1300" b="0">
                <a:solidFill>
                  <a:srgbClr val="404040"/>
                </a:solidFill>
              </a:rPr>
              <a:t>einzige Assoziationsregel.</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Wegeketten sind</a:t>
            </a:r>
          </a:p>
          <a:p>
            <a:pPr algn="l">
              <a:lnSpc>
                <a:spcPct val="95000"/>
              </a:lnSpc>
              <a:spcBef>
                <a:spcPts val="300"/>
              </a:spcBef>
            </a:pPr>
            <a:r>
              <a:rPr sz="1300" b="0">
                <a:solidFill>
                  <a:srgbClr val="404040"/>
                </a:solidFill>
              </a:rPr>
              <a:t>personenbezogene Daten.</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5 · Abschluss</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wo nach wo?“ statt „wie viele?“. Drei Kriterien, darunter eines, das rein fachlich ist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Fahrt ist ein Warenkorb. Rundtouren: wahr und nutzlos, deshalb ausgeschlossen</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Zeitfenster statt 24 Stunden, sonst wäre jede Regel unbelegt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Konfidenz und Lift von Hand — eine Regel Zeile für Zeile nachgerechnet</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 Regeln, 9 mit Lift, keine mit Support — die stärkste verfehlt die Hürde um 0,01 Prozentpunkte</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Umverteilungsplan trägt nicht — 1,8 Räder je Werktag. Was trägt, ist die Einsammelrunde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gestern schiefgelaufen — und was tut man, wenn das Modell sauber rechnet und trotzdem Unbrauchbares liefert?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Aufgaben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Auffällige Fahrten finden  B) Stationsausfälle erkennen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Produkt</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Tagesliste mit zehn Plätzen für die Disposition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Jeder fünfte Eintrag muss tragen — 20 %. Rentabel wäre die Liste schon ab 5 %</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als Maßstab, dann Isolation Forest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Rücksprung</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Phase 4 zurück nach Phase 3 — das Modell fand die Preisklasse statt der Anomalien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Beide Aufgaben lösbar — aber je einmal gewinnt eine Regel gegen das Modell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Sackgasse, die man kennen sollte</a:t>
            </a:r>
          </a:p>
        </p:txBody>
      </p:sp>
      <p:sp>
        <p:nvSpPr>
          <p:cNvPr id="3" name="Text Placeholder 2"/>
          <p:cNvSpPr>
            <a:spLocks noGrp="1"/>
          </p:cNvSpPr>
          <p:nvPr>
            <p:ph type="body" idx="12" sz="quarter"/>
          </p:nvPr>
        </p:nvSpPr>
        <p:spPr/>
        <p:txBody>
          <a:bodyPr/>
          <a:lstStyle/>
          <a:p>
            <a:r>
              <a:t>Fall 6 · Phase 2</a:t>
            </a:r>
          </a:p>
        </p:txBody>
      </p:sp>
      <p:sp>
        <p:nvSpPr>
          <p:cNvPr id="4" name="Text Placeholder 3"/>
          <p:cNvSpPr>
            <a:spLocks noGrp="1"/>
          </p:cNvSpPr>
          <p:nvPr>
            <p:ph type="body" idx="13" sz="quarter"/>
          </p:nvPr>
        </p:nvSpPr>
        <p:spPr/>
        <p:txBody>
          <a:bodyPr/>
          <a:lstStyle/>
          <a:p>
            <a:r>
              <a:t>analytics/notebooks/06_Anomalieerkennung_Auffaellige_Vorgaenge.ipynb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Geschwindigkeit wäre ein naheliegendes Merkmal für auffällige Fahrten. Sie taugt hier nichts — und zwar aus einem lehrreichen Grund.</a:t>
            </a:r>
          </a:p>
        </p:txBody>
      </p:sp>
      <p:sp>
        <p:nvSpPr>
          <p:cNvPr id="6" name="Rectangle 5"/>
          <p:cNvSpPr/>
          <p:nvPr/>
        </p:nvSpPr>
        <p:spPr>
          <a:xfrm>
            <a:off x="1153160"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Einfall</a:t>
            </a:r>
          </a:p>
        </p:txBody>
      </p:sp>
      <p:sp>
        <p:nvSpPr>
          <p:cNvPr id="9" name="TextBox 8"/>
          <p:cNvSpPr txBox="1"/>
          <p:nvPr/>
        </p:nvSpPr>
        <p:spPr>
          <a:xfrm>
            <a:off x="1330960" y="23876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Geschwindigkeit als Merkmal</a:t>
            </a:r>
          </a:p>
          <a:p>
            <a:pPr algn="l">
              <a:lnSpc>
                <a:spcPct val="95000"/>
              </a:lnSpc>
              <a:spcBef>
                <a:spcPts val="300"/>
              </a:spcBef>
            </a:pPr>
            <a:r>
              <a:rPr sz="1300" b="0">
                <a:solidFill>
                  <a:srgbClr val="404040"/>
                </a:solidFill>
              </a:rPr>
              <a:t>Ungewöhnlich schnell oder</a:t>
            </a:r>
          </a:p>
          <a:p>
            <a:pPr algn="l">
              <a:lnSpc>
                <a:spcPct val="95000"/>
              </a:lnSpc>
              <a:spcBef>
                <a:spcPts val="300"/>
              </a:spcBef>
            </a:pPr>
            <a:r>
              <a:rPr sz="1300" b="0">
                <a:solidFill>
                  <a:srgbClr val="404040"/>
                </a:solidFill>
              </a:rPr>
              <a:t>langsam — klingt nach genau</a:t>
            </a:r>
          </a:p>
          <a:p>
            <a:pPr algn="l">
              <a:lnSpc>
                <a:spcPct val="95000"/>
              </a:lnSpc>
              <a:spcBef>
                <a:spcPts val="300"/>
              </a:spcBef>
            </a:pPr>
            <a:r>
              <a:rPr sz="1300" b="0">
                <a:solidFill>
                  <a:srgbClr val="404040"/>
                </a:solidFill>
              </a:rPr>
              <a:t>dem, was eine Anomalie</a:t>
            </a:r>
          </a:p>
          <a:p>
            <a:pPr algn="l">
              <a:lnSpc>
                <a:spcPct val="95000"/>
              </a:lnSpc>
              <a:spcBef>
                <a:spcPts val="300"/>
              </a:spcBef>
            </a:pPr>
            <a:r>
              <a:rPr sz="1300" b="0">
                <a:solidFill>
                  <a:srgbClr val="404040"/>
                </a:solidFill>
              </a:rPr>
              <a:t>ausmacht.</a:t>
            </a:r>
          </a:p>
        </p:txBody>
      </p:sp>
      <p:sp>
        <p:nvSpPr>
          <p:cNvPr id="10" name="Rectangle 9"/>
          <p:cNvSpPr/>
          <p:nvPr/>
        </p:nvSpPr>
        <p:spPr>
          <a:xfrm>
            <a:off x="7096759"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Haken</a:t>
            </a:r>
          </a:p>
        </p:txBody>
      </p:sp>
      <p:sp>
        <p:nvSpPr>
          <p:cNvPr id="13" name="TextBox 12"/>
          <p:cNvSpPr txBox="1"/>
          <p:nvPr/>
        </p:nvSpPr>
        <p:spPr>
          <a:xfrm>
            <a:off x="7274559" y="23876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Sie ist abgeleitet</a:t>
            </a:r>
          </a:p>
          <a:p>
            <a:pPr algn="l">
              <a:lnSpc>
                <a:spcPct val="95000"/>
              </a:lnSpc>
              <a:spcBef>
                <a:spcPts val="300"/>
              </a:spcBef>
            </a:pPr>
            <a:r>
              <a:rPr sz="1300" b="0">
                <a:solidFill>
                  <a:srgbClr val="404040"/>
                </a:solidFill>
              </a:rPr>
              <a:t>Geschwindigkeit = Distanz</a:t>
            </a:r>
          </a:p>
          <a:p>
            <a:pPr algn="l">
              <a:lnSpc>
                <a:spcPct val="95000"/>
              </a:lnSpc>
              <a:spcBef>
                <a:spcPts val="300"/>
              </a:spcBef>
            </a:pPr>
            <a:r>
              <a:rPr sz="1300" b="0">
                <a:solidFill>
                  <a:srgbClr val="404040"/>
                </a:solidFill>
              </a:rPr>
              <a:t>geteilt durch Dauer.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Dauer ist schon ein</a:t>
            </a:r>
          </a:p>
          <a:p>
            <a:pPr algn="l">
              <a:lnSpc>
                <a:spcPct val="95000"/>
              </a:lnSpc>
              <a:spcBef>
                <a:spcPts val="300"/>
              </a:spcBef>
            </a:pPr>
            <a:r>
              <a:rPr sz="1300" b="0">
                <a:solidFill>
                  <a:srgbClr val="404040"/>
                </a:solidFill>
              </a:rPr>
              <a:t>Merkmal. Man fügt keine</a:t>
            </a:r>
          </a:p>
          <a:p>
            <a:pPr algn="l">
              <a:lnSpc>
                <a:spcPct val="95000"/>
              </a:lnSpc>
              <a:spcBef>
                <a:spcPts val="300"/>
              </a:spcBef>
            </a:pPr>
            <a:r>
              <a:rPr sz="1300" b="0">
                <a:solidFill>
                  <a:srgbClr val="404040"/>
                </a:solidFill>
              </a:rPr>
              <a:t>Information hinzu, sondern</a:t>
            </a:r>
          </a:p>
          <a:p>
            <a:pPr algn="l">
              <a:lnSpc>
                <a:spcPct val="95000"/>
              </a:lnSpc>
              <a:spcBef>
                <a:spcPts val="300"/>
              </a:spcBef>
            </a:pPr>
            <a:r>
              <a:rPr sz="1300" b="0">
                <a:solidFill>
                  <a:srgbClr val="404040"/>
                </a:solidFill>
              </a:rPr>
              <a:t>dieselbe noch einmal.</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rechnete sauber und fand das Falsche</a:t>
            </a:r>
          </a:p>
        </p:txBody>
      </p:sp>
      <p:sp>
        <p:nvSpPr>
          <p:cNvPr id="3" name="Text Placeholder 2"/>
          <p:cNvSpPr>
            <a:spLocks noGrp="1"/>
          </p:cNvSpPr>
          <p:nvPr>
            <p:ph type="body" idx="12" sz="quarter"/>
          </p:nvPr>
        </p:nvSpPr>
        <p:spPr/>
        <p:txBody>
          <a:bodyPr/>
          <a:lstStyle/>
          <a:p>
            <a:r>
              <a:t>Fall 6 · Phase 4</a:t>
            </a:r>
          </a:p>
        </p:txBody>
      </p:sp>
      <p:sp>
        <p:nvSpPr>
          <p:cNvPr id="4" name="Text Placeholder 3"/>
          <p:cNvSpPr>
            <a:spLocks noGrp="1"/>
          </p:cNvSpPr>
          <p:nvPr>
            <p:ph type="body" idx="13" sz="quarter"/>
          </p:nvPr>
        </p:nvSpPr>
        <p:spPr/>
        <p:txBody>
          <a:bodyPr/>
          <a:lstStyle/>
          <a:p>
            <a:r>
              <a:t>analytics/notebooks/06_Anomalieerkennung_Auffaellige_Vorgaenge.ipynb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Isolation Forest lieferte beim ersten Versuch eine Liste, die sich beim Ansehen als völlig unbrauchbar erwies.</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Was oben stand</a:t>
            </a:r>
          </a:p>
          <a:p>
            <a:pPr algn="l">
              <a:lnSpc>
                <a:spcPct val="95000"/>
              </a:lnSpc>
              <a:spcBef>
                <a:spcPts val="500"/>
              </a:spcBef>
            </a:pPr>
            <a:r>
              <a:rPr sz="1300" b="0">
                <a:solidFill>
                  <a:srgbClr val="404040"/>
                </a:solidFill>
              </a:rPr>
              <a:t>Fast ausschließlich</a:t>
            </a:r>
          </a:p>
          <a:p>
            <a:pPr algn="l">
              <a:lnSpc>
                <a:spcPct val="95000"/>
              </a:lnSpc>
              <a:spcBef>
                <a:spcPts val="500"/>
              </a:spcBef>
            </a:pPr>
            <a:r>
              <a:rPr sz="1300" b="0">
                <a:solidFill>
                  <a:srgbClr val="404040"/>
                </a:solidFill>
              </a:rPr>
              <a:t>E-Cargo-Fahrten.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Modell hatte etwas</a:t>
            </a:r>
          </a:p>
          <a:p>
            <a:pPr algn="l">
              <a:lnSpc>
                <a:spcPct val="95000"/>
              </a:lnSpc>
              <a:spcBef>
                <a:spcPts val="500"/>
              </a:spcBef>
            </a:pPr>
            <a:r>
              <a:rPr sz="1300" b="0">
                <a:solidFill>
                  <a:srgbClr val="404040"/>
                </a:solidFill>
              </a:rPr>
              <a:t>gefunden — nur nicht das,</a:t>
            </a:r>
          </a:p>
          <a:p>
            <a:pPr algn="l">
              <a:lnSpc>
                <a:spcPct val="95000"/>
              </a:lnSpc>
              <a:spcBef>
                <a:spcPts val="500"/>
              </a:spcBef>
            </a:pPr>
            <a:r>
              <a:rPr sz="1300" b="0">
                <a:solidFill>
                  <a:srgbClr val="404040"/>
                </a:solidFill>
              </a:rPr>
              <a:t>wonach gesucht war.</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Ein CARGO-Rad kostet 0,50 €</a:t>
            </a:r>
          </a:p>
          <a:p>
            <a:pPr algn="l">
              <a:lnSpc>
                <a:spcPct val="95000"/>
              </a:lnSpc>
              <a:spcBef>
                <a:spcPts val="500"/>
              </a:spcBef>
            </a:pPr>
            <a:r>
              <a:rPr sz="1300" b="0">
                <a:solidFill>
                  <a:srgbClr val="404040"/>
                </a:solidFill>
              </a:rPr>
              <a:t>je Minute, ein CITY-Rad</a:t>
            </a:r>
          </a:p>
          <a:p>
            <a:pPr algn="l">
              <a:lnSpc>
                <a:spcPct val="95000"/>
              </a:lnSpc>
              <a:spcBef>
                <a:spcPts val="500"/>
              </a:spcBef>
            </a:pPr>
            <a:r>
              <a:rPr sz="1300" b="0">
                <a:solidFill>
                  <a:srgbClr val="404040"/>
                </a:solidFill>
              </a:rPr>
              <a:t>0,10 €.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Beim Entgelt ist jede</a:t>
            </a:r>
          </a:p>
          <a:p>
            <a:pPr algn="l">
              <a:lnSpc>
                <a:spcPct val="95000"/>
              </a:lnSpc>
              <a:spcBef>
                <a:spcPts val="500"/>
              </a:spcBef>
            </a:pPr>
            <a:r>
              <a:rPr sz="1300" b="0">
                <a:solidFill>
                  <a:srgbClr val="404040"/>
                </a:solidFill>
              </a:rPr>
              <a:t>Cargo-Fahrt ein Ausreißer —</a:t>
            </a:r>
          </a:p>
          <a:p>
            <a:pPr algn="l">
              <a:lnSpc>
                <a:spcPct val="95000"/>
              </a:lnSpc>
              <a:spcBef>
                <a:spcPts val="500"/>
              </a:spcBef>
            </a:pPr>
            <a:r>
              <a:rPr sz="1300" b="0">
                <a:solidFill>
                  <a:srgbClr val="404040"/>
                </a:solidFill>
              </a:rPr>
              <a:t>völlig zu Recht.</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Wie es auffiel</a:t>
            </a:r>
          </a:p>
          <a:p>
            <a:pPr algn="l">
              <a:lnSpc>
                <a:spcPct val="95000"/>
              </a:lnSpc>
              <a:spcBef>
                <a:spcPts val="500"/>
              </a:spcBef>
            </a:pPr>
            <a:r>
              <a:rPr sz="1300" b="0">
                <a:solidFill>
                  <a:srgbClr val="404040"/>
                </a:solidFill>
              </a:rPr>
              <a:t>Nicht durch eine Kennzahl.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Sondern dadurch, dass jemand</a:t>
            </a:r>
          </a:p>
          <a:p>
            <a:pPr algn="l">
              <a:lnSpc>
                <a:spcPct val="95000"/>
              </a:lnSpc>
              <a:spcBef>
                <a:spcPts val="500"/>
              </a:spcBef>
            </a:pPr>
            <a:r>
              <a:rPr sz="1300" b="0">
                <a:solidFill>
                  <a:srgbClr val="404040"/>
                </a:solidFill>
              </a:rPr>
              <a:t>die zehn obersten Zeilen</a:t>
            </a:r>
          </a:p>
          <a:p>
            <a:pPr algn="l">
              <a:lnSpc>
                <a:spcPct val="95000"/>
              </a:lnSpc>
              <a:spcBef>
                <a:spcPts val="500"/>
              </a:spcBef>
            </a:pPr>
            <a:r>
              <a:rPr sz="1300" b="0">
                <a:solidFill>
                  <a:srgbClr val="404040"/>
                </a:solidFill>
              </a:rPr>
              <a:t>ANGESEHEN hat.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Fehlschlag, den nur der Blick auf die Zeilen zeigt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4.4</a:t>
            </a:r>
          </a:p>
        </p:txBody>
      </p:sp>
      <p:sp>
        <p:nvSpPr>
          <p:cNvPr id="5" name="Rectangle 4"/>
          <p:cNvSpPr/>
          <p:nvPr/>
        </p:nvSpPr>
        <p:spPr>
          <a:xfrm>
            <a:off x="2640877" y="1168400"/>
            <a:ext cx="849901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fehlschlag.png"/>
          <p:cNvPicPr>
            <a:picLocks noChangeAspect="1"/>
          </p:cNvPicPr>
          <p:nvPr/>
        </p:nvPicPr>
        <p:blipFill>
          <a:blip r:embed="rId2"/>
          <a:stretch>
            <a:fillRect/>
          </a:stretch>
        </p:blipFill>
        <p:spPr>
          <a:xfrm>
            <a:off x="2742477" y="1270000"/>
            <a:ext cx="829581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Oben in der Liste: fast nur CARGO. Die Spalte entgelt_je_minute verrät, warum — das Modell hat die Preisklasse gefunden.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Zurück nach Phase 3 — und was es brachte</a:t>
            </a:r>
          </a:p>
        </p:txBody>
      </p:sp>
      <p:sp>
        <p:nvSpPr>
          <p:cNvPr id="3" name="Text Placeholder 2"/>
          <p:cNvSpPr>
            <a:spLocks noGrp="1"/>
          </p:cNvSpPr>
          <p:nvPr>
            <p:ph type="body" idx="12" sz="quarter"/>
          </p:nvPr>
        </p:nvSpPr>
        <p:spPr/>
        <p:txBody>
          <a:bodyPr/>
          <a:lstStyle/>
          <a:p>
            <a:r>
              <a:t>Fall 6 · Rücksprung</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Korrektur ist klein: das Entgelt innerhalb des Radtyps normieren. Die Wirkung ist groß.</a:t>
            </a:r>
          </a:p>
        </p:txBody>
      </p:sp>
      <p:sp>
        <p:nvSpPr>
          <p:cNvPr id="6" name="Rectangle 5"/>
          <p:cNvSpPr/>
          <p:nvPr/>
        </p:nvSpPr>
        <p:spPr>
          <a:xfrm>
            <a:off x="1153160" y="1651000"/>
            <a:ext cx="317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328160" y="1651000"/>
            <a:ext cx="228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Bewertung</a:t>
            </a:r>
          </a:p>
        </p:txBody>
      </p:sp>
      <p:sp>
        <p:nvSpPr>
          <p:cNvPr id="9" name="Rectangle 8"/>
          <p:cNvSpPr/>
          <p:nvPr/>
        </p:nvSpPr>
        <p:spPr>
          <a:xfrm>
            <a:off x="1153160" y="2260600"/>
            <a:ext cx="317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Erster Versuch</a:t>
            </a:r>
          </a:p>
        </p:txBody>
      </p:sp>
      <p:sp>
        <p:nvSpPr>
          <p:cNvPr id="10" name="Rectangle 9"/>
          <p:cNvSpPr/>
          <p:nvPr/>
        </p:nvSpPr>
        <p:spPr>
          <a:xfrm>
            <a:off x="4328160" y="2260600"/>
            <a:ext cx="228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unbrauchbar — gefunden wurde die Preisklasse</a:t>
            </a:r>
          </a:p>
        </p:txBody>
      </p:sp>
      <p:sp>
        <p:nvSpPr>
          <p:cNvPr id="12" name="Rectangle 11"/>
          <p:cNvSpPr/>
          <p:nvPr/>
        </p:nvSpPr>
        <p:spPr>
          <a:xfrm>
            <a:off x="1153160" y="2870200"/>
            <a:ext cx="317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Nach der Normierung</a:t>
            </a:r>
          </a:p>
        </p:txBody>
      </p:sp>
      <p:sp>
        <p:nvSpPr>
          <p:cNvPr id="13" name="Rectangle 12"/>
          <p:cNvSpPr/>
          <p:nvPr/>
        </p:nvSpPr>
        <p:spPr>
          <a:xfrm>
            <a:off x="4328160" y="2870200"/>
            <a:ext cx="228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aus Phase 1 (20 %) erfüllt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Auswertung, nach der Normierung</a:t>
            </a:r>
          </a:p>
        </p:txBody>
      </p:sp>
      <p:sp>
        <p:nvSpPr>
          <p:cNvPr id="3" name="Text Placeholder 2"/>
          <p:cNvSpPr>
            <a:spLocks noGrp="1"/>
          </p:cNvSpPr>
          <p:nvPr>
            <p:ph type="body" idx="12" sz="quarter"/>
          </p:nvPr>
        </p:nvSpPr>
        <p:spPr/>
        <p:txBody>
          <a:bodyPr/>
          <a:lstStyle/>
          <a:p>
            <a:r>
              <a:t>Nach dem Rücksprung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4.5</a:t>
            </a:r>
          </a:p>
        </p:txBody>
      </p:sp>
      <p:sp>
        <p:nvSpPr>
          <p:cNvPr id="5" name="Rectangle 4"/>
          <p:cNvSpPr/>
          <p:nvPr/>
        </p:nvSpPr>
        <p:spPr>
          <a:xfrm>
            <a:off x="3108247" y="1168400"/>
            <a:ext cx="756427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korrektur.png"/>
          <p:cNvPicPr>
            <a:picLocks noChangeAspect="1"/>
          </p:cNvPicPr>
          <p:nvPr/>
        </p:nvPicPr>
        <p:blipFill>
          <a:blip r:embed="rId2"/>
          <a:stretch>
            <a:fillRect/>
          </a:stretch>
        </p:blipFill>
        <p:spPr>
          <a:xfrm>
            <a:off x="3209847" y="1270000"/>
            <a:ext cx="736107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Radtyp-Verteilung der fünfzig auffälligsten Vorgänge ist jetzt gemischt statt einseitig. Genau das war das Ziel der Korrektur.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scheitert — die Aufgabe nicht</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Stationsausfälle sollten aus dem Fahrtaufkommen erkennbar sein. Der Isolation Forest findet sie nicht. Eine Zeile Fachwissen schon.</a:t>
            </a:r>
          </a:p>
        </p:txBody>
      </p:sp>
      <p:sp>
        <p:nvSpPr>
          <p:cNvPr id="6" name="Rectangle 5"/>
          <p:cNvSpPr/>
          <p:nvPr/>
        </p:nvSpPr>
        <p:spPr>
          <a:xfrm>
            <a:off x="1153160" y="1879600"/>
            <a:ext cx="66040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Vorgehen</a:t>
            </a:r>
          </a:p>
        </p:txBody>
      </p:sp>
      <p:sp>
        <p:nvSpPr>
          <p:cNvPr id="7" name="Rectangle 6"/>
          <p:cNvSpPr/>
          <p:nvPr/>
        </p:nvSpPr>
        <p:spPr>
          <a:xfrm>
            <a:off x="7757159" y="1879600"/>
            <a:ext cx="25400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10297160" y="1879600"/>
            <a:ext cx="2330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 20 %</a:t>
            </a:r>
          </a:p>
        </p:txBody>
      </p:sp>
      <p:sp>
        <p:nvSpPr>
          <p:cNvPr id="9" name="Rectangle 8"/>
          <p:cNvSpPr/>
          <p:nvPr/>
        </p:nvSpPr>
        <p:spPr>
          <a:xfrm>
            <a:off x="1153160" y="2540000"/>
            <a:ext cx="6604000" cy="660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Isolation Forest über alle 10.890 Stationstage</a:t>
            </a:r>
          </a:p>
        </p:txBody>
      </p:sp>
      <p:sp>
        <p:nvSpPr>
          <p:cNvPr id="10" name="Rectangle 9"/>
          <p:cNvSpPr/>
          <p:nvPr/>
        </p:nvSpPr>
        <p:spPr>
          <a:xfrm>
            <a:off x="7757159" y="2540000"/>
            <a:ext cx="2540000" cy="660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14 %</a:t>
            </a:r>
          </a:p>
        </p:txBody>
      </p:sp>
      <p:sp>
        <p:nvSpPr>
          <p:cNvPr id="11" name="Rectangle 10"/>
          <p:cNvSpPr/>
          <p:nvPr/>
        </p:nvSpPr>
        <p:spPr>
          <a:xfrm>
            <a:off x="10297160" y="2540000"/>
            <a:ext cx="2330450" cy="660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12" name="Rectangle 11"/>
          <p:cNvSpPr/>
          <p:nvPr/>
        </p:nvSpPr>
        <p:spPr>
          <a:xfrm>
            <a:off x="1153160" y="3200400"/>
            <a:ext cx="6604000" cy="660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 nur die 1.041 Tage ohne Fahrt, nach Einbruch sortiert</a:t>
            </a:r>
          </a:p>
        </p:txBody>
      </p:sp>
      <p:sp>
        <p:nvSpPr>
          <p:cNvPr id="13" name="Rectangle 12"/>
          <p:cNvSpPr/>
          <p:nvPr/>
        </p:nvSpPr>
        <p:spPr>
          <a:xfrm>
            <a:off x="7757159" y="3200400"/>
            <a:ext cx="2540000" cy="660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32 %</a:t>
            </a:r>
          </a:p>
        </p:txBody>
      </p:sp>
      <p:sp>
        <p:nvSpPr>
          <p:cNvPr id="14" name="Rectangle 13"/>
          <p:cNvSpPr/>
          <p:nvPr/>
        </p:nvSpPr>
        <p:spPr>
          <a:xfrm>
            <a:off x="10297160" y="3200400"/>
            <a:ext cx="2330450" cy="660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15" name="Rectangle 14"/>
          <p:cNvSpPr/>
          <p:nvPr/>
        </p:nvSpPr>
        <p:spPr>
          <a:xfrm>
            <a:off x="1153160" y="4038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4038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4165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die Regel gewinnt</a:t>
            </a:r>
          </a:p>
          <a:p>
            <a:pPr algn="l">
              <a:lnSpc>
                <a:spcPct val="95000"/>
              </a:lnSpc>
              <a:spcBef>
                <a:spcPts val="500"/>
              </a:spcBef>
            </a:pPr>
            <a:r>
              <a:rPr sz="1300" b="0">
                <a:solidFill>
                  <a:srgbClr val="404040"/>
                </a:solidFill>
              </a:rPr>
              <a:t>Alle 107 Störungen liegen an Tagen ohne jede Fahrt. Diese Eingrenzung ist Fachwissen, keine Statistik.</a:t>
            </a:r>
          </a:p>
          <a:p>
            <a:pPr algn="l">
              <a:lnSpc>
                <a:spcPct val="95000"/>
              </a:lnSpc>
              <a:spcBef>
                <a:spcPts val="500"/>
              </a:spcBef>
            </a:pPr>
            <a:r>
              <a:rPr sz="1300" b="0">
                <a:solidFill>
                  <a:srgbClr val="404040"/>
                </a:solidFill>
              </a:rPr>
              <a:t>Ein Verfahren, das über alle 10.890 Tage sucht, verbringt seine Kraft damit, die Eingrenzung nachzuerfinden — und schafft es schlechter, als ein Satz sie vorgibt.</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Modell gegen Regel, Zeile für Zeile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5.4</a:t>
            </a:r>
          </a:p>
        </p:txBody>
      </p:sp>
      <p:sp>
        <p:nvSpPr>
          <p:cNvPr id="5" name="Rectangle 4"/>
          <p:cNvSpPr/>
          <p:nvPr/>
        </p:nvSpPr>
        <p:spPr>
          <a:xfrm>
            <a:off x="4084844" y="1168400"/>
            <a:ext cx="5611081"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aufgabeB.png"/>
          <p:cNvPicPr>
            <a:picLocks noChangeAspect="1"/>
          </p:cNvPicPr>
          <p:nvPr/>
        </p:nvPicPr>
        <p:blipFill>
          <a:blip r:embed="rId2"/>
          <a:stretch>
            <a:fillRect/>
          </a:stretch>
        </p:blipFill>
        <p:spPr>
          <a:xfrm>
            <a:off x="4186444" y="1270000"/>
            <a:ext cx="5407881"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Bei jeder Listenlänge liegt die Regel vorn. Bei 50 Plätzen findet das Modell keine einzige Störung, die Regel jede dritte.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Sorten Auffälligkeit, drei Antworten</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Auswertung hat die Aufgabe geteilt. Nur eine der drei Sorten rechtfertigt ein Modell.</a:t>
            </a:r>
          </a:p>
        </p:txBody>
      </p:sp>
      <p:sp>
        <p:nvSpPr>
          <p:cNvPr id="6" name="Rectangle 5"/>
          <p:cNvSpPr/>
          <p:nvPr/>
        </p:nvSpPr>
        <p:spPr>
          <a:xfrm>
            <a:off x="1153160" y="1651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79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Vergessene Rückgaben  </a:t>
            </a:r>
            <a:r>
              <a:rPr sz="1300">
                <a:solidFill>
                  <a:srgbClr val="404040"/>
                </a:solidFill>
              </a:rPr>
              <a:t>Eine Zeile SQL: dauer_min &gt; 480. Vollständig, nachprüfbar, kein Modell nötig</a:t>
            </a:r>
          </a:p>
        </p:txBody>
      </p:sp>
      <p:sp>
        <p:nvSpPr>
          <p:cNvPr id="10" name="Rectangle 9"/>
          <p:cNvSpPr/>
          <p:nvPr/>
        </p:nvSpPr>
        <p:spPr>
          <a:xfrm>
            <a:off x="1153160" y="2540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540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768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616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Auffällige Stationstage  </a:t>
            </a:r>
            <a:r>
              <a:rPr sz="1300">
                <a:solidFill>
                  <a:srgbClr val="404040"/>
                </a:solidFill>
              </a:rPr>
              <a:t>Die Regel aus 5.5 — nur Nulltage, nach Einbruch sortiert. Schlägt das Modell und erfüllt das Kriterium</a:t>
            </a:r>
          </a:p>
        </p:txBody>
      </p:sp>
      <p:sp>
        <p:nvSpPr>
          <p:cNvPr id="14" name="Rectangle 13"/>
          <p:cNvSpPr/>
          <p:nvPr/>
        </p:nvSpPr>
        <p:spPr>
          <a:xfrm>
            <a:off x="1153160" y="3429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429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657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505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Alles andere  </a:t>
            </a:r>
            <a:r>
              <a:rPr sz="1300">
                <a:solidFill>
                  <a:srgbClr val="404040"/>
                </a:solidFill>
              </a:rPr>
              <a:t>Die Tagesliste des Isolation Forest. Dafür gibt es keine Regel — und keine Trefferquote, weil niemand vorher weiß, wonach er sucht</a:t>
            </a:r>
          </a:p>
        </p:txBody>
      </p:sp>
      <p:sp>
        <p:nvSpPr>
          <p:cNvPr id="18" name="Rectangle 17"/>
          <p:cNvSpPr/>
          <p:nvPr/>
        </p:nvSpPr>
        <p:spPr>
          <a:xfrm>
            <a:off x="1153160" y="4318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318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546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394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Rückkopplungsvorteil  </a:t>
            </a:r>
            <a:r>
              <a:rPr sz="1300">
                <a:solidFill>
                  <a:srgbClr val="404040"/>
                </a:solidFill>
              </a:rPr>
              <a:t>Anders als in Fall 2 verbessert die Nutzung hier die Datenlage: Jede geprüfte Meldung ist ein Label für die nächste Runde</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6 · Abschluss</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Aufgaben, zehn Listenplätze. Rentabel ab 5 %, gefordert werden 20 % — sonst wird die Liste nicht benutzt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Lücke in der Dauerverteilung trennt Fahrten von Rückgabeproblemen. Sackgasse: die Geschwindigkeit</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Merkmale; distanz_km bleibt draußen, weil ein fehlender Sensor kein auffälliger Vorgang ist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Interquartilsregel unbrauchbar (über 2.000 Treffer), dann Isolation Forest — der die Preisklasse fand</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beiden Aufgaben schlägt eine Regel das Modell: 90 % gegen 28 % und 32 % gegen 14 %</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Regeln und eine Tagesliste — jede für die Sorte Auffälligkeit, für die sie taugt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scheinbare Modellvorsprung war ein Defekt im Merkmal, gegen das er antrat</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 und der Informationsstand der Auswahl dem des Betriebs</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der 32 Regeln überlebt — die stärkste scheitert um 0,01 Prozentpunkte</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Zweimal schlägt eine Zeile Fachwissen das Verfahren — weil vorher keine Baseline stand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zwei Fassungen: eine vollständig gerechnete und eine mit Lücken zum Selbstausfüllen.</a:t>
            </a:r>
          </a:p>
        </p:txBody>
      </p:sp>
      <p:sp>
        <p:nvSpPr>
          <p:cNvPr id="6" name="Rectangle 5"/>
          <p:cNvSpPr/>
          <p:nvPr/>
        </p:nvSpPr>
        <p:spPr>
          <a:xfrm>
            <a:off x="1153160" y="16510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651000"/>
            <a:ext cx="5080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Vorführfassung</a:t>
            </a:r>
          </a:p>
        </p:txBody>
      </p:sp>
      <p:sp>
        <p:nvSpPr>
          <p:cNvPr id="8" name="Rectangle 7"/>
          <p:cNvSpPr/>
          <p:nvPr/>
        </p:nvSpPr>
        <p:spPr>
          <a:xfrm>
            <a:off x="8011159" y="1651000"/>
            <a:ext cx="461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Übungsfassung</a:t>
            </a:r>
          </a:p>
        </p:txBody>
      </p:sp>
      <p:sp>
        <p:nvSpPr>
          <p:cNvPr id="9" name="Rectangle 8"/>
          <p:cNvSpPr/>
          <p:nvPr/>
        </p:nvSpPr>
        <p:spPr>
          <a:xfrm>
            <a:off x="1153160" y="21844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10" name="Rectangle 9"/>
          <p:cNvSpPr/>
          <p:nvPr/>
        </p:nvSpPr>
        <p:spPr>
          <a:xfrm>
            <a:off x="2931160" y="21844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a:t>
            </a:r>
          </a:p>
        </p:txBody>
      </p:sp>
      <p:sp>
        <p:nvSpPr>
          <p:cNvPr id="11" name="Rectangle 10"/>
          <p:cNvSpPr/>
          <p:nvPr/>
        </p:nvSpPr>
        <p:spPr>
          <a:xfrm>
            <a:off x="8011159" y="21844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analytics/notebooks/uebung/</a:t>
            </a:r>
          </a:p>
        </p:txBody>
      </p:sp>
      <p:sp>
        <p:nvSpPr>
          <p:cNvPr id="12" name="Rectangle 11"/>
          <p:cNvSpPr/>
          <p:nvPr/>
        </p:nvSpPr>
        <p:spPr>
          <a:xfrm>
            <a:off x="1153160" y="27178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3" name="Rectangle 12"/>
          <p:cNvSpPr/>
          <p:nvPr/>
        </p:nvSpPr>
        <p:spPr>
          <a:xfrm>
            <a:off x="2931160" y="27178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sofort lesbar</a:t>
            </a:r>
          </a:p>
        </p:txBody>
      </p:sp>
      <p:sp>
        <p:nvSpPr>
          <p:cNvPr id="14" name="Rectangle 13"/>
          <p:cNvSpPr/>
          <p:nvPr/>
        </p:nvSpPr>
        <p:spPr>
          <a:xfrm>
            <a:off x="8011159" y="27178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leer — sie entstehen beim Rechnen</a:t>
            </a:r>
          </a:p>
        </p:txBody>
      </p:sp>
      <p:sp>
        <p:nvSpPr>
          <p:cNvPr id="15" name="Rectangle 14"/>
          <p:cNvSpPr/>
          <p:nvPr/>
        </p:nvSpPr>
        <p:spPr>
          <a:xfrm>
            <a:off x="1153160" y="32512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Code</a:t>
            </a:r>
          </a:p>
        </p:txBody>
      </p:sp>
      <p:sp>
        <p:nvSpPr>
          <p:cNvPr id="16" name="Rectangle 15"/>
          <p:cNvSpPr/>
          <p:nvPr/>
        </p:nvSpPr>
        <p:spPr>
          <a:xfrm>
            <a:off x="2931160" y="32512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a:t>
            </a:r>
          </a:p>
        </p:txBody>
      </p:sp>
      <p:sp>
        <p:nvSpPr>
          <p:cNvPr id="17" name="Rectangle 16"/>
          <p:cNvSpPr/>
          <p:nvPr/>
        </p:nvSpPr>
        <p:spPr>
          <a:xfrm>
            <a:off x="8011159" y="32512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 den Kernstellen ausgeschnitten</a:t>
            </a:r>
          </a:p>
        </p:txBody>
      </p:sp>
      <p:sp>
        <p:nvSpPr>
          <p:cNvPr id="18" name="Rectangle 17"/>
          <p:cNvSpPr/>
          <p:nvPr/>
        </p:nvSpPr>
        <p:spPr>
          <a:xfrm>
            <a:off x="1153160" y="37846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Aufgaben</a:t>
            </a:r>
          </a:p>
        </p:txBody>
      </p:sp>
      <p:sp>
        <p:nvSpPr>
          <p:cNvPr id="19" name="Rectangle 18"/>
          <p:cNvSpPr/>
          <p:nvPr/>
        </p:nvSpPr>
        <p:spPr>
          <a:xfrm>
            <a:off x="2931160" y="37846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0" name="Rectangle 19"/>
          <p:cNvSpPr/>
          <p:nvPr/>
        </p:nvSpPr>
        <p:spPr>
          <a:xfrm>
            <a:off x="8011159" y="37846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bis 4 je Notebook, an der jeweils lehrreichsten Stelle</a:t>
            </a:r>
          </a:p>
        </p:txBody>
      </p:sp>
      <p:sp>
        <p:nvSpPr>
          <p:cNvPr id="21" name="Rectangle 20"/>
          <p:cNvSpPr/>
          <p:nvPr/>
        </p:nvSpPr>
        <p:spPr>
          <a:xfrm>
            <a:off x="1153160" y="4318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22" name="Rectangle 21"/>
          <p:cNvSpPr/>
          <p:nvPr/>
        </p:nvSpPr>
        <p:spPr>
          <a:xfrm>
            <a:off x="2931160" y="43180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Phasen als Überschriften</a:t>
            </a:r>
          </a:p>
        </p:txBody>
      </p:sp>
      <p:sp>
        <p:nvSpPr>
          <p:cNvPr id="23" name="Rectangle 22"/>
          <p:cNvSpPr/>
          <p:nvPr/>
        </p:nvSpPr>
        <p:spPr>
          <a:xfrm>
            <a:off x="8011159" y="43180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identisch — auch die Übungsfassung führt durch alle sechs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