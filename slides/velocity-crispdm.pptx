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 id="314" r:id="rId184"/>
    <p:sldId id="315" r:id="rId185"/>
    <p:sldId id="316" r:id="rId186"/>
    <p:sldId id="317" r:id="rId187"/>
    <p:sldId id="318" r:id="rId188"/>
    <p:sldId id="319" r:id="rId189"/>
    <p:sldId id="320" r:id="rId190"/>
    <p:sldId id="321" r:id="rId191"/>
    <p:sldId id="322" r:id="rId192"/>
    <p:sldId id="323" r:id="rId193"/>
    <p:sldId id="324" r:id="rId194"/>
    <p:sldId id="325" r:id="rId195"/>
    <p:sldId id="326" r:id="rId196"/>
    <p:sldId id="327" r:id="rId197"/>
    <p:sldId id="328" r:id="rId198"/>
    <p:sldId id="329" r:id="rId199"/>
    <p:sldId id="330" r:id="rId200"/>
    <p:sldId id="331" r:id="rId201"/>
    <p:sldId id="332" r:id="rId202"/>
    <p:sldId id="333" r:id="rId203"/>
    <p:sldId id="334" r:id="rId204"/>
    <p:sldId id="335" r:id="rId205"/>
    <p:sldId id="336" r:id="rId206"/>
    <p:sldId id="337" r:id="rId207"/>
    <p:sldId id="338" r:id="rId208"/>
    <p:sldId id="339" r:id="rId209"/>
    <p:sldId id="340" r:id="rId210"/>
    <p:sldId id="341" r:id="rId211"/>
    <p:sldId id="342" r:id="rId212"/>
    <p:sldId id="343" r:id="rId213"/>
    <p:sldId id="344" r:id="rId214"/>
    <p:sldId id="345" r:id="rId215"/>
    <p:sldId id="346" r:id="rId216"/>
    <p:sldId id="347" r:id="rId217"/>
    <p:sldId id="348" r:id="rId218"/>
    <p:sldId id="349" r:id="rId219"/>
    <p:sldId id="350" r:id="rId220"/>
    <p:sldId id="351" r:id="rId221"/>
    <p:sldId id="352" r:id="rId222"/>
    <p:sldId id="353" r:id="rId223"/>
    <p:sldId id="354" r:id="rId224"/>
    <p:sldId id="355" r:id="rId225"/>
    <p:sldId id="356" r:id="rId226"/>
    <p:sldId id="357" r:id="rId227"/>
    <p:sldId id="358" r:id="rId228"/>
    <p:sldId id="359" r:id="rId229"/>
    <p:sldId id="360" r:id="rId230"/>
    <p:sldId id="361" r:id="rId231"/>
    <p:sldId id="362" r:id="rId232"/>
    <p:sldId id="363" r:id="rId233"/>
    <p:sldId id="364" r:id="rId234"/>
    <p:sldId id="365" r:id="rId235"/>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184" Type="http://schemas.openxmlformats.org/officeDocument/2006/relationships/slide" Target="slides/slide59.xml"/><Relationship Id="rId185" Type="http://schemas.openxmlformats.org/officeDocument/2006/relationships/slide" Target="slides/slide60.xml"/><Relationship Id="rId186" Type="http://schemas.openxmlformats.org/officeDocument/2006/relationships/slide" Target="slides/slide61.xml"/><Relationship Id="rId187" Type="http://schemas.openxmlformats.org/officeDocument/2006/relationships/slide" Target="slides/slide62.xml"/><Relationship Id="rId188" Type="http://schemas.openxmlformats.org/officeDocument/2006/relationships/slide" Target="slides/slide63.xml"/><Relationship Id="rId189" Type="http://schemas.openxmlformats.org/officeDocument/2006/relationships/slide" Target="slides/slide64.xml"/><Relationship Id="rId190" Type="http://schemas.openxmlformats.org/officeDocument/2006/relationships/slide" Target="slides/slide65.xml"/><Relationship Id="rId191" Type="http://schemas.openxmlformats.org/officeDocument/2006/relationships/slide" Target="slides/slide66.xml"/><Relationship Id="rId192" Type="http://schemas.openxmlformats.org/officeDocument/2006/relationships/slide" Target="slides/slide67.xml"/><Relationship Id="rId193" Type="http://schemas.openxmlformats.org/officeDocument/2006/relationships/slide" Target="slides/slide68.xml"/><Relationship Id="rId194" Type="http://schemas.openxmlformats.org/officeDocument/2006/relationships/slide" Target="slides/slide69.xml"/><Relationship Id="rId195" Type="http://schemas.openxmlformats.org/officeDocument/2006/relationships/slide" Target="slides/slide70.xml"/><Relationship Id="rId196" Type="http://schemas.openxmlformats.org/officeDocument/2006/relationships/slide" Target="slides/slide71.xml"/><Relationship Id="rId197" Type="http://schemas.openxmlformats.org/officeDocument/2006/relationships/slide" Target="slides/slide72.xml"/><Relationship Id="rId198" Type="http://schemas.openxmlformats.org/officeDocument/2006/relationships/slide" Target="slides/slide73.xml"/><Relationship Id="rId199" Type="http://schemas.openxmlformats.org/officeDocument/2006/relationships/slide" Target="slides/slide74.xml"/><Relationship Id="rId200" Type="http://schemas.openxmlformats.org/officeDocument/2006/relationships/slide" Target="slides/slide75.xml"/><Relationship Id="rId201" Type="http://schemas.openxmlformats.org/officeDocument/2006/relationships/slide" Target="slides/slide76.xml"/><Relationship Id="rId202" Type="http://schemas.openxmlformats.org/officeDocument/2006/relationships/slide" Target="slides/slide77.xml"/><Relationship Id="rId203" Type="http://schemas.openxmlformats.org/officeDocument/2006/relationships/slide" Target="slides/slide78.xml"/><Relationship Id="rId204" Type="http://schemas.openxmlformats.org/officeDocument/2006/relationships/slide" Target="slides/slide79.xml"/><Relationship Id="rId205" Type="http://schemas.openxmlformats.org/officeDocument/2006/relationships/slide" Target="slides/slide80.xml"/><Relationship Id="rId206" Type="http://schemas.openxmlformats.org/officeDocument/2006/relationships/slide" Target="slides/slide81.xml"/><Relationship Id="rId207" Type="http://schemas.openxmlformats.org/officeDocument/2006/relationships/slide" Target="slides/slide82.xml"/><Relationship Id="rId208" Type="http://schemas.openxmlformats.org/officeDocument/2006/relationships/slide" Target="slides/slide83.xml"/><Relationship Id="rId209" Type="http://schemas.openxmlformats.org/officeDocument/2006/relationships/slide" Target="slides/slide84.xml"/><Relationship Id="rId210" Type="http://schemas.openxmlformats.org/officeDocument/2006/relationships/slide" Target="slides/slide85.xml"/><Relationship Id="rId211" Type="http://schemas.openxmlformats.org/officeDocument/2006/relationships/slide" Target="slides/slide86.xml"/><Relationship Id="rId212" Type="http://schemas.openxmlformats.org/officeDocument/2006/relationships/slide" Target="slides/slide87.xml"/><Relationship Id="rId213" Type="http://schemas.openxmlformats.org/officeDocument/2006/relationships/slide" Target="slides/slide88.xml"/><Relationship Id="rId214" Type="http://schemas.openxmlformats.org/officeDocument/2006/relationships/slide" Target="slides/slide89.xml"/><Relationship Id="rId215" Type="http://schemas.openxmlformats.org/officeDocument/2006/relationships/slide" Target="slides/slide90.xml"/><Relationship Id="rId216" Type="http://schemas.openxmlformats.org/officeDocument/2006/relationships/slide" Target="slides/slide91.xml"/><Relationship Id="rId217" Type="http://schemas.openxmlformats.org/officeDocument/2006/relationships/slide" Target="slides/slide92.xml"/><Relationship Id="rId218" Type="http://schemas.openxmlformats.org/officeDocument/2006/relationships/slide" Target="slides/slide93.xml"/><Relationship Id="rId219" Type="http://schemas.openxmlformats.org/officeDocument/2006/relationships/slide" Target="slides/slide94.xml"/><Relationship Id="rId220" Type="http://schemas.openxmlformats.org/officeDocument/2006/relationships/slide" Target="slides/slide95.xml"/><Relationship Id="rId221" Type="http://schemas.openxmlformats.org/officeDocument/2006/relationships/slide" Target="slides/slide96.xml"/><Relationship Id="rId222" Type="http://schemas.openxmlformats.org/officeDocument/2006/relationships/slide" Target="slides/slide97.xml"/><Relationship Id="rId223" Type="http://schemas.openxmlformats.org/officeDocument/2006/relationships/slide" Target="slides/slide98.xml"/><Relationship Id="rId224" Type="http://schemas.openxmlformats.org/officeDocument/2006/relationships/slide" Target="slides/slide99.xml"/><Relationship Id="rId225" Type="http://schemas.openxmlformats.org/officeDocument/2006/relationships/slide" Target="slides/slide100.xml"/><Relationship Id="rId226" Type="http://schemas.openxmlformats.org/officeDocument/2006/relationships/slide" Target="slides/slide101.xml"/><Relationship Id="rId227" Type="http://schemas.openxmlformats.org/officeDocument/2006/relationships/slide" Target="slides/slide102.xml"/><Relationship Id="rId228" Type="http://schemas.openxmlformats.org/officeDocument/2006/relationships/slide" Target="slides/slide103.xml"/><Relationship Id="rId229" Type="http://schemas.openxmlformats.org/officeDocument/2006/relationships/slide" Target="slides/slide104.xml"/><Relationship Id="rId230" Type="http://schemas.openxmlformats.org/officeDocument/2006/relationships/slide" Target="slides/slide105.xml"/><Relationship Id="rId231" Type="http://schemas.openxmlformats.org/officeDocument/2006/relationships/slide" Target="slides/slide106.xml"/><Relationship Id="rId232" Type="http://schemas.openxmlformats.org/officeDocument/2006/relationships/slide" Target="slides/slide107.xml"/><Relationship Id="rId233" Type="http://schemas.openxmlformats.org/officeDocument/2006/relationships/slide" Target="slides/slide108.xml"/><Relationship Id="rId234" Type="http://schemas.openxmlformats.org/officeDocument/2006/relationships/slide" Target="slides/slide109.xml"/><Relationship Id="rId235" Type="http://schemas.openxmlformats.org/officeDocument/2006/relationships/slide" Target="slides/slide110.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Dieses Kapitel ist das Rückgrat des Decks. Es läuft alle sechs Phasen vollständig durch, mit den echten Zahlen aus Notebook 1. Die Regression ist bewusst gewählt: Sie ist das vertrauteste Verfahren, deshalb bleibt die Aufmerksamkeit beim VORGEHEN statt beim Verfahren. Alle folgenden Fälle setzen dieses Kapitel voraus.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Sagen Sie das Urteil ruhig vorweg. Es nimmt keine Spannung — im Gegenteil: Die Studierenden hören danach aufmerksamer zu, weil sie wissen, dass es nicht glattgeht.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Sprung vom Preis zur Dauer ist die eigentliche Modellierungsentscheidung dieser Phase, und sie fällt hier, nicht in Phase 4. Den Preis direkt zu schätzen wäre schlechter: Das Tarifblatt ist bekannt und exakt — man schätzt nie, was man ausrechnen kann.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eine Minute Stille. Die Studierenden sollen selbst darauf kommen, dass eine EINZIGE Preisgrenze zu drei verschiedenen Anforderungen an dasselbe Modell führt. Das ist der Kern von Phase 1: Die Fachlichkeit bestimmt die Messlatte, nicht die Statistik.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Zelle, aus der die Tabelle der letzten Folie stammt. Zeigen Sie auf die Division: grenze_eur geteilt durch preis_pro_minute_eur. Mehr steckt nicht dahinter — und genau diese drei Zeilen entscheiden am Ende über das Urteil des ganzen Projekts.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R² 0,754 ist für sozialwissenschaftliche Verhältnisse hervorragend. Und trotzdem reicht es für zwei von drei Radtypen nicht. Genau diese Diskrepanz ist der Grund, warum Phase 1 nicht übersprungen werden darf.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Punkt fehlt in fast allen Lehrbeispielen. Ein Projekt braucht eine verabredete Abbruchbedingung, sonst läuft es endlos weiter, weil immer noch ein Verfahren übrig ist, das man probieren könnte.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kein Zufall: erst die Zielgröße allein, dann ihr Verhältnis zu den Merkmalen. Wer mit Korrelationsmatrizen anfängt, übersieht, dass die Zielgröße rechtsschief ist — und das entscheidet später über die Modellwahl.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wichtigste Unterscheidung dieser Phase. Die 42 Prozent sehen aus wie ein Datenqualitätsproblem und sind in Wahrheit eine Aussage über die Flotte. Wer sie wegbereinigt, verliert 42 Prozent der Daten für nichts.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entsteht schon in Phase 2 ein Vermerk für einen möglichen Rücksprung. Genau so soll es sein: Man notiert die Beobachtung, handelt aber noch nicht — sonst optimiert man ins Blaue.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Zahlen sind nicht nur Modellausgabe, sie sind ein Plausibilitätstest. Wenn hier etwas stünde, das dem Betriebswissen widerspricht, wäre das ein Grund, die Daten noch einmal anzusehen — nicht das Betriebswissen zu verwerfen.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Probe aufs Exempel: Stellen Sie sich vor, die App soll den Preis anzeigen, während der Kunde noch am Rad steht. Woher soll sie die Zielstation kennen? Genau diese Frage — was weiß ich JETZT? — ist der Leakage-Test. Er braucht keine Statistik, nur gesunden Menschenverstand.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Grün, was beim Entsperren bekannt ist. Rot, was erst beim Abstellen entsteht. Der Test braucht keine Statistik — nur die Frage, wann der Wert entsteht. Wer sie stellt, findet Leakage zuverlässig.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Studierenden die drei Namen vorlesen. Wer sie später in einem eigenen Projekt versehentlich verwendet, erinnert sich an diese Zelle.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Empfehlen Sie den Studierenden, das in ihren eigenen Notebooks zur Gewohnheit zu machen: vor jedem Filter len(df), danach len(df). Es kostet eine Zeile und rettet ganze Projekte.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Hinweis auf One-Hot lohnt: Würde man die Stationen von 1 bis 10 durchnummerieren, unterstellte man dem Modell eine Ordnung, die es nicht gibt — Station 8 wäre dann „mehr“ als Station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greift vor. Das ist Absicht: Die Studierenden sollen wissen, dass die Antwort auf „wie teilt man auf?“ von der Frage abhängt und nicht vom Verfahren. In Fall 4 kommen wir darauf zurück.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R² des Nullmodells ist −0,000, nicht 0,000 — ein Rundungsartefakt, das zeigt, dass es auf der Testmenge minimal schlechter ist als der dortige Mittelwert. Das ist normal und ein gutes Zeichen dafür, dass die Testmenge wirklich unberührt war.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Tabelle wächst im Notebook Zelle für Zelle: erst das Nullmodell allein, dann kommt die lineare Regression dazu, dann Baum und Wald. Diese Reihenfolge ist der Grund, warum man am Ende sagen kann, wieviel jeder Schritt gebracht hat.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kein Ritual. Sie erzeugt bei jedem Schritt eine Information: Wieviel bringt Nichtlinearität? Wieviel bringt das Ensemble? Wer sofort den Wald rechnet, hat eine Zahl und keine Antwort.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zwei davon laut vor und fragen Sie, ob das plausibel ist. Residenz und Alte Mainbrücke sind touristisch, Zellerau und Grombühl sind Wohn- und Klinikgebiet. Das Modell hat die Stadt gelernt, ohne je einen Stadtplan gesehen zu haben.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gemittelte Zahl kurz stehen, bevor Sie die zweite Zeile aufdecken. 0,91 € heißt: Projekt gescheitert, Anzeige wird nicht gebaut. Die getrennte Betrachtung dreht das Urteil für 53 Prozent aller Fahrten ins Gegenteil.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wichtigste Zelle des ganzen Notebooks. Bis hierher sah alles gut aus. Die Multiplikation mit dem Minutenpreis macht aus einem ordentlichen Modell ein Urteil — und das fällt je Radtyp anders aus.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Modell ist für alle drei Radtypen gleich gut. Was sich unterscheidet, ist der Minutenpreis: 0,10 gegen 0,50 Euro. Derselbe Schätzfehler kostet beim Lastenrad das Fünffache. Die Statistik ist unschuldig — die Fachlichkeit entscheidet.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zwischen „falsches Modell“ und „falsche Zusage“ ist der Kern dieser Folie. Ein besseres Verfahren würde hier nichts retten — die Information fehlt in den Daten. Was hilft, ist eine andere Zusage.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Streifen ist der wichtigste. Die Versuchung, die Schwelle auf 1,00 Euro zu setzen, ist groß und wäre in fünf Sekunden getan. Genau davor schützt die Regel, das Kriterium vor den Daten festzulegen — es gehört einem anderen, nämlich dem Fach.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Beachten Sie die Reihenfolge der Kosten: Phase 3 ist eine Zeile Code, Phase 2 ist ein Beschaffungsprojekt, Phase 1 ist ein Gespräch mit dem Produktmanagement. Man beginnt mit dem Billigsten — aber man verschweigt die anderen nicht.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Feld gilt_fuer ist die technische Umsetzung des Urteils aus Phase 5. Die Freigabe steht nicht in einer Aktennotiz, sondern im Paket selbst — so kann die Anwendung gar nicht auf die Idee kommen, das Modell für ein Lastenrad zu befragen.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Punkt 3 ist eine Wiederholung der Entscheidung aus Phase 1: Der Preis wird gerechnet, nicht geschätzt. Geschätzt wird nur, was man nicht wissen kann — die Dauer.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feinste: Ändert VeloCity den Minutenpreis, ändert sich die erlaubte Minuten-Toleranz — und ein Modell, das gestern bestanden hat, fällt heute durch, ohne dass sich an ihm etwas geändert hätte. Das Erfolgskriterium hängt am Geschäft.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Gold wert für die Berufspraxis. Fast jedes Modell wird im Betrieb schlechter als im Test. Wer das erwartet, plant einen Schattenbetrieb ein. Wer es nicht erwartet, erklärt später, warum die Zahlen in der Präsentation anders waren.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Beachten Sie die letzte Zeile der Ausgabe: Das Notebook stellt die Ampel selbst und begründet sie. Ein Bericht, der die Bewertung dem Leser überlässt, ist kein Bericht.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steht wörtlich am Ende von Notebook 1. Die Studierenden finden sie dort wieder — das ist Absicht: Folie und Notebook sollen sich decken, damit die Vorlesung und die Nacharbeit dieselbe Sprache sprechen.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Er endet mit einem Ergebnis, das in Lehrbüchern selten vorkommt: Das Modell wird gebaut, geprüft — und dann NICHT ausgeliefert, weil eine einzeilige Regel genauso gut ist.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Kostenmatrix in Zeile 4 ist der Unterschied zu Fall 1. Dort waren beide Fehlerrichtungen gleich ärgerlich; hier kostet die eine das Siebenfache der anderen. Das gehört ins Modell, nicht in die Nachbetrachtung.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woher solche Zahlen kommen. Antwort: aus dem Betrieb, nicht aus den Daten. Ein Datenprojekt, das sie nicht erfragt, erfindet sie implizit — meist als 1 : 1, und das ist fast immer falsch.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Ein Nullmodell zu schlagen ist leicht. Den Menschen zu schlagen, der die Arbeit heute macht, ist die eigentliche Messlatte — und die fehlt in fast allen Lehrbeispielen.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„44 Prozent melden sich, die Werkstatt schafft 26“ ist der Grund, warum es überhaupt eine Rangfolge braucht. Es geht nicht darum, alle Defekte zu finden, sondern die richtigen 60 Räder auszuwählen.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Zeilenzahlen stehen mit Absicht in der Ausgabe. Wer sie nicht ausgibt, merkt nicht, wenn ein Stichtag leer bleibt oder ein Filter mehr wegnimmt als gedacht.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beiden Regeln kosten zusammen zwei Zeilen und zehn Minuten. Wer sie nicht rechnet, kann am Ende nicht sagen, ob das Modell etwas beigetragen hat — er kann nur sagen, dass es funktioniert.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Zahlen wirken. Studierende erwarten hier, dass der Wald gewinnt — er ist ja das stärkere Verfahren. Dass er es nicht tut, heißt: Der Verschleiß hängt fast ausschließlich an den gefahrenen Kilometern. Mehr Information steckt in den Daten nicht.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Notebook prüft hier ausdrücklich gegen die Kriterien, die in Phase 1 festgelegt wurden, und nicht gegen das, was sich gerade anbietet. Genau deshalb ist der Gleichstand ein Ergebnis und keine Enttäuschung.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rechts ist der eigentliche Gewinn: Eine Regel, der man widersprechen kann, wird benutzt. Eine Blackbox, die man nur glauben kann, wird umgangen. Das entscheidet über den Erfolg im Betrieb mehr als jede Trefferquote.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Modell sabotiert sich selbst, wenn es erfolgreich ist. Der Ausweg ist eine Kontrollgruppe: ein Teil der Flotte wird bewusst nicht nach Liste gewartet, damit man weiter lernt, was ohne Eingriff passiert wäre. Das kostet Geld und ist trotzdem richtig.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Dieser Satz ist die Quintessenz des Falls — und er gilt weit über die Wartung hinaus.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erste Fall ohne Label. Niemand sagt dem Verfahren, was richtig ist. Genau deshalb zeigt dieser Fall Phase 1 von innen: Die Erfolgskriterien müssen völlig anders gebaut werden — und sie sind trotzdem prüfbar.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der Kern dieses Kapitels. Vier Kriterien, keines davon eine Kennzahl aus der Statistik. Sie sind trotzdem prüfbar — und sie stehen vor der Analyse fest, genau wie in Fall 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Welches dieser vier Kriterien ist statistisch? Keines. Und trotzdem kann man an jedem scheitern. Das ist der Beweis, dass Erfolgskriterien aus dem Fach kommen und nicht aus dem Verfahren.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Standardisieren ist bei k-Means nicht optional. Das Verfahren misst Abstände; eine Spalte in Euro und eine in Stückzahl haben völlig verschiedene Größenordnungen. Ohne Standardisierung entscheidet allein die Spalte mit den größten Zahlen.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Unterschied zu den überwachten Verfahren: Dort sagt eine Kennzahl, welches Modell besser ist. Hier sagt keine Kennzahl, welches k richtig ist. Die Fachlichkeit entscheidet — und deshalb standen die Kriterien vorher fest.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Silhouette: Der Unterschied zwischen k=3 und k=4 ist klein. Wer allein danach ginge, könnte würfeln. Erst die Frage, ob die Disposition den Gruppen einen Namen geben kann, entscheidet.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passiert das, wovon CRISP-DM lebt: Die Analyse bringt eine Frage hervor, die vorher niemand gestellt hatte. Nicht „welche Segmente gibt es?“, sondern „sind die Freiminuten dort richtig eingesetzt, wo sie liegen?“ Betonen Sie: Es gibt bei VeloCity keine Grundgebühr — das ist Teil des Produktversprechens, nicht ein Versäumnis.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handwerklich vorbildlich und gehört betont: Eine Rechnung, die auf einer Annahme beruht, kennzeichnet sich selbst — im Code, nicht nur im Fließtext daneben. Wer nur die Ausgabe kopiert, kopiert die Warnung mit.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Datenschutzvorbehalt gehört auf die Folie und nicht in eine Fußnote. Studierende bauen später Segmentierungen in Unternehmen — und die Frage nach der Rechtsgrundlage kommt dort garantiert.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100 Prozent in Zeile 5 sind eine Besonderheit dieses Lehrdatensatzes: Die Stationstypen sind beim Erzeugen bewusst eingebaut worden, deshalb gibt es eine verdeckte Wahrheit zum Gegenprüfen. In echten Daten hat man die nicht — dort bleiben nur die vier Kriterien aus Phase 1.</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hier anders als in allen bisherigen Fällen: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ungewöhnlich und wichtig: ein Erfolgskriterium, das nichts mit Genauigkeit zu tun hat. Ein Modell, das um 20 Uhr fertig wird, hat die Aufgabe verfehlt, auch wenn es perfekt trifft.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Prüfstein: Vergleichen Sie Ferien- und Nichtferientage BEI gleicher Temperatur. Dann schrumpft der Effekt zusammen. Genau diese Kontrolle unterscheidet eine Datenanalyse von einer Korrelationsjagd.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schärfste Zelle des Notebooks. Die rohe Zahl legt nahe, Ferien wirkten schwach dämpfend. Kontrolliert man die Temperatur, ist der Effekt deutlich stärker — er war vorher vom Sommer überdeckt. Lassen Sie die beiden Faktoren nebeneinander stehen.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Fehler ist deshalb so gefährlich, weil er sich nicht durch eine schlechte Kennzahl verrät — im Gegenteil, die Kennzahl wird besser. Auffallen würde er erst im Betrieb, Wochen später.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Faustregel lautet sinngemäß: so viele wie am gleichen Wochentag der Vorwoche. Das ist erstaunlich stark und schlägt das Nullmodell deutlich. Wer sie nicht mitrechnet, hält sein Modell für besser, als es ist.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für viele die überraschendste Folie des ganzen Decks. Ein absichtlich schlechteres Modell ist das bessere Werkzeug. Der Grund steht in Phase 1: die ungleichen Fehlerkosten. Wer Phase 1 übersprungen hat, kann diese Entscheidung gar nicht treffen.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Ohne diese Rechnung wäre der Aufschlag reine Bauchentscheidung. Mit ihr ist er eine belegte Optimierung — und genau das ist der Unterschied zwischen Erfahrung und Willkür.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Versuchung, den schönen Wert zu berichten, ist groß — er ist ja korrekt gerechnet. Er beantwortet nur nicht die Frage, die im Betrieb gestellt wird. Dasselbe Muster wie der Schattenbetrieb in Fall 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 sagt es selbst: „unrealistisch“ und „realistisch“. Wer in einem Bericht nur die erste Zahl zeigt, hat nicht gelogen und trotzdem getäuscht. Das Notebook nimmt einem die Entscheidung ab, indem es beide nebeneinander stellt.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für diesen Fall: Bei allem, was mit Zeit zu tun hat, ist die Aufteilung die erste Frage — nicht das Verfahren.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Er ist der beste Beleg dafür, wozu vorab festgelegte Kriterien gut sind: Von 42 gefundenen Regeln überlebt genau eine.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drei Kennzahlen sind mit Absicht von Hand gerechnet und nicht aus einer Bibliothek geholt. Wer die drei Divisionen einmal selbst gemacht hat, verwechselt Konfidenz und Lift nie wieder.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klassische Handelsbeispiel: Brot und Milch haben hohen Support und hohe Konfidenz — aber Lift um 1,0. Sie werden zusammen gekauft, weil beide oft gekauft werden, nicht weil sie zusammengehören.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Erfolgskriterium aus Phase 1 tut hier genau seine Arbeit. Ohne es wäre die stärkste Regel des Datensatzes das Hauptergebnis gewesen — und der Bericht wertlos.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Vorbehalt rechts ist wichtig: Eine Entscheidung, die gesetzt und nicht geprüft wurde, gehört benannt. Sonst liest sie sich später wie ein Befund.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 diese drei Divisionen einmal selbst gesehen hat, verwechselt Konfidenz und Lift nicht mehr. Deshalb steht die Rechnung im Notebook ausgeschrieben und nicht als Bibliotheksaufruf.</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schließen sie einander fast aus? Ein sehr spezifisches Muster ist selten (niedriger Support), ein sehr häufiges ist unspezifisch (niedriger Lift). Wer nur eine der beiden Hürden setzt, findet entweder Belangloses oder Zufälliges.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Ausgabe ist der beste Beleg des ganzen Decks dafür, wozu vorab gesetzte Kriterien gut sind. Hätte man sie nach dem Ergebnis gewählt, stünde hier eine komfortable Zahl statt einer ehrlichen.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Hinweis rechts unten ist kein Beiwerk. Aus Start-Ziel-Paaren mit Zeitstempel lassen sich Bewegungsprofile bilden. Wer damit arbeitet, braucht eine Rechtsgrundlage.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Die auffälligste Regel ist meistens die uninteressanteste. Erst die vorab gesetzten Hürden trennen Fund von Rauschen.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einzige Fall, in dem der Rücksprung nicht am Ende steht, sondern mitten im Notebook Zelle für Zelle mitzulesen ist. Und der einzige, der mit einem ausdrücklich negativen Ergebnis endet.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5 Prozent in Zeile 3 überraschen. Sie kommen aus einer Kosten-Nutzen-Rechnung: Ein gefundener Vorgang spart mehr, als neun Fehlalarme an Prüfzeit kosten. Erfolgskriterien sind nicht immer anspruchsvoll — sie müssen begründet sein.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Dazu kommt: Die Distanz fehlt bei 42 Prozent der Fahrten — derselbe Befund wie in Fall 1. Ein Merkmal, das bei zwei von fünf Fahrten fehlt und ansonsten nur Bekanntes wiederholt, ist keine gute Wahl.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wichtigste Folie dieses Kapitels. Jede Kennzahl hätte hier grün gemeldet — das Verfahren hat sauber gearbeitet und stabile Ausreißer gefunden. Nur der Blick auf die Fälle zeigt, dass es die Preisklasse war.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Keine Kennzahl hätte das gemeldet. Der Isolation Forest hat sauber gearbeitet und stabile Ausreißer gefunden. Erst die Tabelle zeigt, dass es die falschen sind. Das ist die Begründung für die Regel: Sehen Sie sich immer die Extremfälle an.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auf vierzig Prozent durch eine Normierung. Studierende sollen mitnehmen: Der größte Hebel lag nicht im Verfahren, sondern in der Datenaufbereitung — wie so oft.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Vergleichen Sie mit der Folie davor. Dieselbe Auswertung, dieselben Daten, ein normiertes Merkmal — und ein völlig anderes Bild. Der Hebel lag in Phase 3, nicht im Verfahren.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der bleiben soll: Kein Verfahren kann Information erzeugen, die in den Daten nicht steckt. Ein negatives Ergebnis, sauber begründet, ist ein vollwertiges Projektergebnis — es verhindert, dass jemand anderes dieselbe Sackgasse noch einmal ausprobiert.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negatives Ergebnis, das ausgerechnet und dokumentiert ist, hat einen echten Wert: Es verhindert, dass jemand anderes dieselbe Sackgasse noch einmal ausprobiert.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Punkt ist der Gegensatz zu Fall 2: Dort zerstörte die Nutzung die Lerngrundlage, hier schafft sie eine. Es lohnt sich, bei jedem Projekt zu fragen, in welche Richtung die Rückkopplung läuft.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Sätze aus diesem Notebook gehören an die Tafel: „Sehen Sie sich immer die Extremfälle an, die ein Modell meldet.“ Und: „Kein Verfahren kann Information erzeugen, die in den Daten nicht steckt.“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Empfehlen Sie, die Vorführfassung zu lesen und die Übungsfassung zu rechnen. Beide tragen dieselbe Phasenstruktur, sodass man beim Steckenbleiben in der einen die Antwort in der anderen findet.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MAE liegt bei 0,91 €</a:t>
            </a:r>
          </a:p>
          <a:p>
            <a:pPr algn="l">
              <a:lnSpc>
                <a:spcPct val="95000"/>
              </a:lnSpc>
              <a:spcBef>
                <a:spcPts val="300"/>
              </a:spcBef>
            </a:pPr>
            <a:r>
              <a:rPr sz="1300" b="0">
                <a:solidFill>
                  <a:srgbClr val="404040"/>
                </a:solidFill>
              </a:rPr>
              <a:t>3. „Unter einem Euro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0,91 € — Kriterium gerissen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gemittelte Kennzahl verdeckt, dass ein Drittel besteht</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Ausgeliefert wird die Regel, nicht das Modell</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genaueste Prognose ist nicht die günstigste</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Von 42 Regeln erfüllt genau eine beide Hürden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Verfahren erzeugt Information, die in den Daten nicht steckt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262831"/>
            <a:ext cx="11677650" cy="296733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364431"/>
            <a:ext cx="11474450" cy="27641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lange dauert diese Fahrt — und reicht die Schätzung, um vorher einen Preis anzuzeigen?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Bevor wir loslaufen: wohin die Reise geht. Das Urteil steht hier schon — die interessante Frage ist, wie man dorthin kommt.</a:t>
            </a:r>
          </a:p>
        </p:txBody>
      </p:sp>
      <p:sp>
        <p:nvSpPr>
          <p:cNvPr id="6" name="Rectangle 5"/>
          <p:cNvSpPr/>
          <p:nvPr/>
        </p:nvSpPr>
        <p:spPr>
          <a:xfrm>
            <a:off x="1153160" y="18796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07160" y="1981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9" name="TextBox 8"/>
          <p:cNvSpPr txBox="1"/>
          <p:nvPr/>
        </p:nvSpPr>
        <p:spPr>
          <a:xfrm>
            <a:off x="3820160" y="1981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Kann VeloCity beim Entsperren anzeigen, was die Fahrt kosten wird?</a:t>
            </a:r>
          </a:p>
        </p:txBody>
      </p:sp>
      <p:sp>
        <p:nvSpPr>
          <p:cNvPr id="10" name="TextBox 9"/>
          <p:cNvSpPr txBox="1"/>
          <p:nvPr/>
        </p:nvSpPr>
        <p:spPr>
          <a:xfrm>
            <a:off x="1407160" y="2413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1" name="TextBox 10"/>
          <p:cNvSpPr txBox="1"/>
          <p:nvPr/>
        </p:nvSpPr>
        <p:spPr>
          <a:xfrm>
            <a:off x="3820160" y="2413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Fahrtdauer in Minuten schätzen, aus dem, was beim Entsperren bekannt ist</a:t>
            </a:r>
          </a:p>
        </p:txBody>
      </p:sp>
      <p:sp>
        <p:nvSpPr>
          <p:cNvPr id="12" name="TextBox 11"/>
          <p:cNvSpPr txBox="1"/>
          <p:nvPr/>
        </p:nvSpPr>
        <p:spPr>
          <a:xfrm>
            <a:off x="1407160" y="2844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3" name="TextBox 12"/>
          <p:cNvSpPr txBox="1"/>
          <p:nvPr/>
        </p:nvSpPr>
        <p:spPr>
          <a:xfrm>
            <a:off x="3820160" y="2844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Mittlerer Preisfehler unter 50 Cent — festgelegt vor dem ersten Blick in die Daten</a:t>
            </a:r>
          </a:p>
        </p:txBody>
      </p:sp>
      <p:sp>
        <p:nvSpPr>
          <p:cNvPr id="14" name="TextBox 13"/>
          <p:cNvSpPr txBox="1"/>
          <p:nvPr/>
        </p:nvSpPr>
        <p:spPr>
          <a:xfrm>
            <a:off x="1407160" y="3276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a:t>
            </a:r>
          </a:p>
        </p:txBody>
      </p:sp>
      <p:sp>
        <p:nvSpPr>
          <p:cNvPr id="15" name="TextBox 14"/>
          <p:cNvSpPr txBox="1"/>
          <p:nvPr/>
        </p:nvSpPr>
        <p:spPr>
          <a:xfrm>
            <a:off x="3820160" y="3276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rund 60.000 Fahrten aus drei Jahren, dazu Wetter und Kalender</a:t>
            </a:r>
          </a:p>
        </p:txBody>
      </p:sp>
      <p:sp>
        <p:nvSpPr>
          <p:cNvPr id="16" name="TextBox 15"/>
          <p:cNvSpPr txBox="1"/>
          <p:nvPr/>
        </p:nvSpPr>
        <p:spPr>
          <a:xfrm>
            <a:off x="1407160" y="3708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7" name="TextBox 16"/>
          <p:cNvSpPr txBox="1"/>
          <p:nvPr/>
        </p:nvSpPr>
        <p:spPr>
          <a:xfrm>
            <a:off x="3820160" y="3708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Nullmodell, lineare Regression, Entscheidungsbaum, Random Forest</a:t>
            </a:r>
          </a:p>
        </p:txBody>
      </p:sp>
      <p:sp>
        <p:nvSpPr>
          <p:cNvPr id="18" name="TextBox 17"/>
          <p:cNvSpPr txBox="1"/>
          <p:nvPr/>
        </p:nvSpPr>
        <p:spPr>
          <a:xfrm>
            <a:off x="1407160" y="4140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9" name="TextBox 18"/>
          <p:cNvSpPr txBox="1"/>
          <p:nvPr/>
        </p:nvSpPr>
        <p:spPr>
          <a:xfrm>
            <a:off x="3820160" y="4140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 Drittel der Flotte besteht, zwei Drittel nicht — und das sieht man nur getrennt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Wunsch zur Zahl</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Kunde soll vorher wissen, was es kostet.“ Das ist ein Wunsch, kein Auftrag. Aus ihm wird in drei Schritten etwas Messbares.</a:t>
            </a:r>
          </a:p>
        </p:txBody>
      </p:sp>
      <p:sp>
        <p:nvSpPr>
          <p:cNvPr id="6" name="Rounded Rectangle 5"/>
          <p:cNvSpPr/>
          <p:nvPr/>
        </p:nvSpPr>
        <p:spPr>
          <a:xfrm>
            <a:off x="1153160" y="19558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Wunsch</a:t>
            </a:r>
          </a:p>
        </p:txBody>
      </p:sp>
      <p:sp>
        <p:nvSpPr>
          <p:cNvPr id="7" name="Pentagon 6"/>
          <p:cNvSpPr/>
          <p:nvPr/>
        </p:nvSpPr>
        <p:spPr>
          <a:xfrm>
            <a:off x="2880360" y="19558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Geschäfts-
ziel</a:t>
            </a:r>
          </a:p>
        </p:txBody>
      </p:sp>
      <p:sp>
        <p:nvSpPr>
          <p:cNvPr id="8" name="Pentagon 7"/>
          <p:cNvSpPr/>
          <p:nvPr/>
        </p:nvSpPr>
        <p:spPr>
          <a:xfrm>
            <a:off x="4904422" y="19558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Analytisches
Ziel</a:t>
            </a:r>
          </a:p>
        </p:txBody>
      </p:sp>
      <p:sp>
        <p:nvSpPr>
          <p:cNvPr id="9" name="Pentagon 8"/>
          <p:cNvSpPr/>
          <p:nvPr/>
        </p:nvSpPr>
        <p:spPr>
          <a:xfrm>
            <a:off x="6928484" y="19558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Erfolgs-
kriterium</a:t>
            </a:r>
          </a:p>
        </p:txBody>
      </p:sp>
      <p:sp>
        <p:nvSpPr>
          <p:cNvPr id="10" name="Pentagon 9"/>
          <p:cNvSpPr/>
          <p:nvPr/>
        </p:nvSpPr>
        <p:spPr>
          <a:xfrm>
            <a:off x="8952547" y="19558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4 · Fehler-
kosten</a:t>
            </a:r>
          </a:p>
        </p:txBody>
      </p:sp>
      <p:sp>
        <p:nvSpPr>
          <p:cNvPr id="11" name="Rounded Rectangle 10"/>
          <p:cNvSpPr/>
          <p:nvPr/>
        </p:nvSpPr>
        <p:spPr>
          <a:xfrm>
            <a:off x="10976610" y="19558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Messbar</a:t>
            </a:r>
          </a:p>
        </p:txBody>
      </p:sp>
      <p:sp>
        <p:nvSpPr>
          <p:cNvPr id="12" name="Rectangle 11"/>
          <p:cNvSpPr/>
          <p:nvPr/>
        </p:nvSpPr>
        <p:spPr>
          <a:xfrm>
            <a:off x="1153160" y="322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22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35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drei Schritte an diesem Fall</a:t>
            </a:r>
          </a:p>
          <a:p>
            <a:pPr algn="l">
              <a:lnSpc>
                <a:spcPct val="95000"/>
              </a:lnSpc>
              <a:spcBef>
                <a:spcPts val="500"/>
              </a:spcBef>
            </a:pPr>
            <a:r>
              <a:rPr sz="1300" b="0">
                <a:solidFill>
                  <a:srgbClr val="404040"/>
                </a:solidFill>
              </a:rPr>
              <a:t>Geschäftsziel: Beim Entsperren steht eine Preisangabe auf dem Bildschirm.</a:t>
            </a:r>
          </a:p>
          <a:p>
            <a:pPr algn="l">
              <a:lnSpc>
                <a:spcPct val="95000"/>
              </a:lnSpc>
              <a:spcBef>
                <a:spcPts val="500"/>
              </a:spcBef>
            </a:pPr>
            <a:r>
              <a:rPr sz="1300" b="0">
                <a:solidFill>
                  <a:srgbClr val="404040"/>
                </a:solidFill>
              </a:rPr>
              <a:t>Analytisches Ziel: Die DAUER schätzen — der Preis folgt daraus über das Tarifblatt.</a:t>
            </a:r>
          </a:p>
          <a:p>
            <a:pPr algn="l">
              <a:lnSpc>
                <a:spcPct val="95000"/>
              </a:lnSpc>
              <a:spcBef>
                <a:spcPts val="500"/>
              </a:spcBef>
            </a:pPr>
            <a:r>
              <a:rPr sz="1300" b="0">
                <a:solidFill>
                  <a:srgbClr val="404040"/>
                </a:solidFill>
              </a:rPr>
              <a:t>Erfolgskriterium: Die Angabe liegt im Mittel unter 50 Cent daneben.</a:t>
            </a:r>
          </a:p>
        </p:txBody>
      </p:sp>
      <p:sp>
        <p:nvSpPr>
          <p:cNvPr id="15" name="Rectangle 14"/>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Grenze bedeutet für jedes Rad etwas anderes</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50 Cent Preistoleranz — geteilt durch den Minutenpreis ergibt das die erlaubte Abweichung in Minuten. Und die fällt dramatisch verschieden aus.</a:t>
            </a:r>
          </a:p>
        </p:txBody>
      </p:sp>
      <p:sp>
        <p:nvSpPr>
          <p:cNvPr id="6" name="Rectangle 5"/>
          <p:cNvSpPr/>
          <p:nvPr/>
        </p:nvSpPr>
        <p:spPr>
          <a:xfrm>
            <a:off x="1153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Radtyp</a:t>
            </a:r>
          </a:p>
        </p:txBody>
      </p:sp>
      <p:sp>
        <p:nvSpPr>
          <p:cNvPr id="7" name="Rectangle 6"/>
          <p:cNvSpPr/>
          <p:nvPr/>
        </p:nvSpPr>
        <p:spPr>
          <a:xfrm>
            <a:off x="2804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Minutenpreis</a:t>
            </a:r>
          </a:p>
        </p:txBody>
      </p:sp>
      <p:sp>
        <p:nvSpPr>
          <p:cNvPr id="8" name="Rectangle 7"/>
          <p:cNvSpPr/>
          <p:nvPr/>
        </p:nvSpPr>
        <p:spPr>
          <a:xfrm>
            <a:off x="4709160" y="1879600"/>
            <a:ext cx="2794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Erlaubte Abweichung</a:t>
            </a:r>
          </a:p>
        </p:txBody>
      </p:sp>
      <p:sp>
        <p:nvSpPr>
          <p:cNvPr id="9" name="Rectangle 8"/>
          <p:cNvSpPr/>
          <p:nvPr/>
        </p:nvSpPr>
        <p:spPr>
          <a:xfrm>
            <a:off x="7503159" y="1879600"/>
            <a:ext cx="512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das heißt</a:t>
            </a:r>
          </a:p>
        </p:txBody>
      </p:sp>
      <p:sp>
        <p:nvSpPr>
          <p:cNvPr id="10" name="Rectangle 9"/>
          <p:cNvSpPr/>
          <p:nvPr/>
        </p:nvSpPr>
        <p:spPr>
          <a:xfrm>
            <a:off x="1153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CITY</a:t>
            </a:r>
          </a:p>
        </p:txBody>
      </p:sp>
      <p:sp>
        <p:nvSpPr>
          <p:cNvPr id="11" name="Rectangle 10"/>
          <p:cNvSpPr/>
          <p:nvPr/>
        </p:nvSpPr>
        <p:spPr>
          <a:xfrm>
            <a:off x="2804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0,10 €</a:t>
            </a:r>
          </a:p>
        </p:txBody>
      </p:sp>
      <p:sp>
        <p:nvSpPr>
          <p:cNvPr id="12" name="Rectangle 11"/>
          <p:cNvSpPr/>
          <p:nvPr/>
        </p:nvSpPr>
        <p:spPr>
          <a:xfrm>
            <a:off x="4709160" y="2438400"/>
            <a:ext cx="2794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 Minuten</a:t>
            </a:r>
          </a:p>
        </p:txBody>
      </p:sp>
      <p:sp>
        <p:nvSpPr>
          <p:cNvPr id="13" name="Rectangle 12"/>
          <p:cNvSpPr/>
          <p:nvPr/>
        </p:nvSpPr>
        <p:spPr>
          <a:xfrm>
            <a:off x="7503159" y="24384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komfortabel — hier ist Spielraum</a:t>
            </a:r>
          </a:p>
        </p:txBody>
      </p:sp>
      <p:sp>
        <p:nvSpPr>
          <p:cNvPr id="14" name="Rectangle 13"/>
          <p:cNvSpPr/>
          <p:nvPr/>
        </p:nvSpPr>
        <p:spPr>
          <a:xfrm>
            <a:off x="1153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EBIKE</a:t>
            </a:r>
          </a:p>
        </p:txBody>
      </p:sp>
      <p:sp>
        <p:nvSpPr>
          <p:cNvPr id="15" name="Rectangle 14"/>
          <p:cNvSpPr/>
          <p:nvPr/>
        </p:nvSpPr>
        <p:spPr>
          <a:xfrm>
            <a:off x="2804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0,25 €</a:t>
            </a:r>
          </a:p>
        </p:txBody>
      </p:sp>
      <p:sp>
        <p:nvSpPr>
          <p:cNvPr id="16" name="Rectangle 15"/>
          <p:cNvSpPr/>
          <p:nvPr/>
        </p:nvSpPr>
        <p:spPr>
          <a:xfrm>
            <a:off x="4709160" y="2997200"/>
            <a:ext cx="2794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Minuten</a:t>
            </a:r>
          </a:p>
        </p:txBody>
      </p:sp>
      <p:sp>
        <p:nvSpPr>
          <p:cNvPr id="17" name="Rectangle 16"/>
          <p:cNvSpPr/>
          <p:nvPr/>
        </p:nvSpPr>
        <p:spPr>
          <a:xfrm>
            <a:off x="7503159" y="29972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eng</a:t>
            </a:r>
          </a:p>
        </p:txBody>
      </p:sp>
      <p:sp>
        <p:nvSpPr>
          <p:cNvPr id="18" name="Rectangle 17"/>
          <p:cNvSpPr/>
          <p:nvPr/>
        </p:nvSpPr>
        <p:spPr>
          <a:xfrm>
            <a:off x="1153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CARGO</a:t>
            </a:r>
          </a:p>
        </p:txBody>
      </p:sp>
      <p:sp>
        <p:nvSpPr>
          <p:cNvPr id="19" name="Rectangle 18"/>
          <p:cNvSpPr/>
          <p:nvPr/>
        </p:nvSpPr>
        <p:spPr>
          <a:xfrm>
            <a:off x="2804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0,50 €</a:t>
            </a:r>
          </a:p>
        </p:txBody>
      </p:sp>
      <p:sp>
        <p:nvSpPr>
          <p:cNvPr id="20" name="Rectangle 19"/>
          <p:cNvSpPr/>
          <p:nvPr/>
        </p:nvSpPr>
        <p:spPr>
          <a:xfrm>
            <a:off x="4709160" y="3556000"/>
            <a:ext cx="2794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 Minuten</a:t>
            </a:r>
          </a:p>
        </p:txBody>
      </p:sp>
      <p:sp>
        <p:nvSpPr>
          <p:cNvPr id="21" name="Rectangle 20"/>
          <p:cNvSpPr/>
          <p:nvPr/>
        </p:nvSpPr>
        <p:spPr>
          <a:xfrm>
            <a:off x="7503159" y="35560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praktisch unerreichbar</a:t>
            </a:r>
          </a:p>
        </p:txBody>
      </p:sp>
      <p:sp>
        <p:nvSpPr>
          <p:cNvPr id="22" name="Rectangle 21"/>
          <p:cNvSpPr/>
          <p:nvPr/>
        </p:nvSpPr>
        <p:spPr>
          <a:xfrm>
            <a:off x="1153160" y="4292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368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Diese Tabelle entscheidet den ganzen Fall — und sie steht in Phase 1, lange bevor ein Modell gerechnet wurde. Wer sie überspringt, wundert sich in Phase 5 über ein Ergebnis, das er nicht deuten kann.</a:t>
            </a:r>
          </a:p>
        </p:txBody>
      </p:sp>
      <p:sp>
        <p:nvSpPr>
          <p:cNvPr id="24" name="Rectangle 2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Umrechnung, Zeile für Zeile</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analytics/notebooks/01_Regression_Fahrtdauer.ipynb · Abschnitt 1 — Erfolgskriterien</a:t>
            </a:r>
          </a:p>
        </p:txBody>
      </p:sp>
      <p:sp>
        <p:nvSpPr>
          <p:cNvPr id="5" name="Rectangle 4"/>
          <p:cNvSpPr/>
          <p:nvPr/>
        </p:nvSpPr>
        <p:spPr>
          <a:xfrm>
            <a:off x="1836300" y="1168400"/>
            <a:ext cx="10108169"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kriterium.png"/>
          <p:cNvPicPr>
            <a:picLocks noChangeAspect="1"/>
          </p:cNvPicPr>
          <p:nvPr/>
        </p:nvPicPr>
        <p:blipFill>
          <a:blip r:embed="rId2"/>
          <a:stretch>
            <a:fillRect/>
          </a:stretch>
        </p:blipFill>
        <p:spPr>
          <a:xfrm>
            <a:off x="1937900" y="1270000"/>
            <a:ext cx="9904969"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Drei Zeilen Code — und aus einer Preisgrenze werden drei verschiedene Anforderungen an dasselbe Modell.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Erfolgskriterien werden festgelegt, bevor jemand die Daten sieht</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passiert wäre</a:t>
            </a:r>
          </a:p>
        </p:txBody>
      </p:sp>
      <p:sp>
        <p:nvSpPr>
          <p:cNvPr id="8" name="TextBox 7"/>
          <p:cNvSpPr txBox="1"/>
          <p:nvPr/>
        </p:nvSpPr>
        <p:spPr>
          <a:xfrm>
            <a:off x="1330960" y="18542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MAE 4,58 Minuten, R² 0,754.</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„Drei Viertel der Streuung erklärt —</a:t>
            </a:r>
          </a:p>
          <a:p>
            <a:pPr algn="l">
              <a:lnSpc>
                <a:spcPct val="95000"/>
              </a:lnSpc>
              <a:spcBef>
                <a:spcPts val="300"/>
              </a:spcBef>
            </a:pPr>
            <a:r>
              <a:rPr sz="1300" b="0">
                <a:solidFill>
                  <a:srgbClr val="404040"/>
                </a:solidFill>
              </a:rPr>
              <a:t>das ist ein gutes Modell.“</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Stimmt sogar. Nur beantwortet es</a:t>
            </a:r>
          </a:p>
          <a:p>
            <a:pPr algn="l">
              <a:lnSpc>
                <a:spcPct val="95000"/>
              </a:lnSpc>
              <a:spcBef>
                <a:spcPts val="300"/>
              </a:spcBef>
            </a:pPr>
            <a:r>
              <a:rPr sz="1300" b="0">
                <a:solidFill>
                  <a:srgbClr val="404040"/>
                </a:solidFill>
              </a:rPr>
              <a:t>die Frage nicht, die gestellt war.</a:t>
            </a:r>
          </a:p>
        </p:txBody>
      </p:sp>
      <p:sp>
        <p:nvSpPr>
          <p:cNvPr id="9" name="Rectangle 8"/>
          <p:cNvSpPr/>
          <p:nvPr/>
        </p:nvSpPr>
        <p:spPr>
          <a:xfrm>
            <a:off x="7096759" y="1346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tatsächlich steht</a:t>
            </a:r>
          </a:p>
        </p:txBody>
      </p:sp>
      <p:sp>
        <p:nvSpPr>
          <p:cNvPr id="12" name="TextBox 11"/>
          <p:cNvSpPr txBox="1"/>
          <p:nvPr/>
        </p:nvSpPr>
        <p:spPr>
          <a:xfrm>
            <a:off x="7274559" y="18542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„Unter 50 Cent Preisfehler.“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Daraus: 5,0 / 2,0 / 1,0 Minuten</a:t>
            </a:r>
          </a:p>
          <a:p>
            <a:pPr algn="l">
              <a:lnSpc>
                <a:spcPct val="95000"/>
              </a:lnSpc>
              <a:spcBef>
                <a:spcPts val="300"/>
              </a:spcBef>
            </a:pPr>
            <a:r>
              <a:rPr sz="1300" b="0">
                <a:solidFill>
                  <a:srgbClr val="404040"/>
                </a:solidFill>
              </a:rPr>
              <a:t>je nach Radtyp.</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Erst diese Grenze macht aus einem</a:t>
            </a:r>
          </a:p>
          <a:p>
            <a:pPr algn="l">
              <a:lnSpc>
                <a:spcPct val="95000"/>
              </a:lnSpc>
              <a:spcBef>
                <a:spcPts val="300"/>
              </a:spcBef>
            </a:pPr>
            <a:r>
              <a:rPr sz="1300" b="0">
                <a:solidFill>
                  <a:srgbClr val="404040"/>
                </a:solidFill>
              </a:rPr>
              <a:t>guten R² ein brauchbares oder ein</a:t>
            </a:r>
          </a:p>
          <a:p>
            <a:pPr algn="l">
              <a:lnSpc>
                <a:spcPct val="95000"/>
              </a:lnSpc>
              <a:spcBef>
                <a:spcPts val="300"/>
              </a:spcBef>
            </a:pPr>
            <a:r>
              <a:rPr sz="1300" b="0">
                <a:solidFill>
                  <a:srgbClr val="404040"/>
                </a:solidFill>
              </a:rPr>
              <a:t>unbrauchbares Ergebnis.</a:t>
            </a:r>
          </a:p>
        </p:txBody>
      </p:sp>
      <p:sp>
        <p:nvSpPr>
          <p:cNvPr id="13" name="Rectangle 12"/>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in dieser Phase noch entschieden wird</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Fehlerkosten</a:t>
            </a:r>
          </a:p>
          <a:p>
            <a:pPr algn="l">
              <a:lnSpc>
                <a:spcPct val="95000"/>
              </a:lnSpc>
              <a:spcBef>
                <a:spcPts val="500"/>
              </a:spcBef>
            </a:pPr>
            <a:r>
              <a:rPr sz="1300" b="0">
                <a:solidFill>
                  <a:srgbClr val="404040"/>
                </a:solidFill>
              </a:rPr>
              <a:t>Ist Unterschätzen so schlimm</a:t>
            </a:r>
          </a:p>
          <a:p>
            <a:pPr algn="l">
              <a:lnSpc>
                <a:spcPct val="95000"/>
              </a:lnSpc>
              <a:spcBef>
                <a:spcPts val="500"/>
              </a:spcBef>
            </a:pPr>
            <a:r>
              <a:rPr sz="1300" b="0">
                <a:solidFill>
                  <a:srgbClr val="404040"/>
                </a:solidFill>
              </a:rPr>
              <a:t>wie Überschätzen?</a:t>
            </a:r>
          </a:p>
          <a:p>
            <a:pPr algn="l">
              <a:lnSpc>
                <a:spcPct val="95000"/>
              </a:lnSpc>
              <a:spcBef>
                <a:spcPts val="500"/>
              </a:spcBef>
            </a:pPr>
            <a:r>
              <a:rPr sz="1300" b="0">
                <a:solidFill>
                  <a:srgbClr val="404040"/>
                </a:solidFill>
              </a:rPr>
              <a:t>Hier: ja, beide Richtungen</a:t>
            </a:r>
          </a:p>
          <a:p>
            <a:pPr algn="l">
              <a:lnSpc>
                <a:spcPct val="95000"/>
              </a:lnSpc>
              <a:spcBef>
                <a:spcPts val="500"/>
              </a:spcBef>
            </a:pPr>
            <a:r>
              <a:rPr sz="1300" b="0">
                <a:solidFill>
                  <a:srgbClr val="404040"/>
                </a:solidFill>
              </a:rPr>
              <a:t>ärgern gleich. In Fall 2 und 4</a:t>
            </a:r>
          </a:p>
          <a:p>
            <a:pPr algn="l">
              <a:lnSpc>
                <a:spcPct val="95000"/>
              </a:lnSpc>
              <a:spcBef>
                <a:spcPts val="500"/>
              </a:spcBef>
            </a:pPr>
            <a:r>
              <a:rPr sz="1300" b="0">
                <a:solidFill>
                  <a:srgbClr val="404040"/>
                </a:solidFill>
              </a:rPr>
              <a:t>ist das anders — dort steht</a:t>
            </a:r>
          </a:p>
          <a:p>
            <a:pPr algn="l">
              <a:lnSpc>
                <a:spcPct val="95000"/>
              </a:lnSpc>
              <a:spcBef>
                <a:spcPts val="500"/>
              </a:spcBef>
            </a:pPr>
            <a:r>
              <a:rPr sz="1300" b="0">
                <a:solidFill>
                  <a:srgbClr val="404040"/>
                </a:solidFill>
              </a:rPr>
              <a:t>ein Preisschild an jeder Seite.</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Datenzugang</a:t>
            </a:r>
          </a:p>
          <a:p>
            <a:pPr algn="l">
              <a:lnSpc>
                <a:spcPct val="95000"/>
              </a:lnSpc>
              <a:spcBef>
                <a:spcPts val="500"/>
              </a:spcBef>
            </a:pPr>
            <a:r>
              <a:rPr sz="1300" b="0">
                <a:solidFill>
                  <a:srgbClr val="404040"/>
                </a:solidFill>
              </a:rPr>
              <a:t>Was ist zum Zeitpunkt der</a:t>
            </a:r>
          </a:p>
          <a:p>
            <a:pPr algn="l">
              <a:lnSpc>
                <a:spcPct val="95000"/>
              </a:lnSpc>
              <a:spcBef>
                <a:spcPts val="500"/>
              </a:spcBef>
            </a:pPr>
            <a:r>
              <a:rPr sz="1300" b="0">
                <a:solidFill>
                  <a:srgbClr val="404040"/>
                </a:solidFill>
              </a:rPr>
              <a:t>Vorhersage tatsächlich</a:t>
            </a:r>
          </a:p>
          <a:p>
            <a:pPr algn="l">
              <a:lnSpc>
                <a:spcPct val="95000"/>
              </a:lnSpc>
              <a:spcBef>
                <a:spcPts val="500"/>
              </a:spcBef>
            </a:pPr>
            <a:r>
              <a:rPr sz="1300" b="0">
                <a:solidFill>
                  <a:srgbClr val="404040"/>
                </a:solidFill>
              </a:rPr>
              <a:t>bekannt?</a:t>
            </a:r>
          </a:p>
          <a:p>
            <a:pPr algn="l">
              <a:lnSpc>
                <a:spcPct val="95000"/>
              </a:lnSpc>
              <a:spcBef>
                <a:spcPts val="500"/>
              </a:spcBef>
            </a:pPr>
            <a:r>
              <a:rPr sz="1300" b="0">
                <a:solidFill>
                  <a:srgbClr val="404040"/>
                </a:solidFill>
              </a:rPr>
              <a:t>Beim Entsperren: Station,</a:t>
            </a:r>
          </a:p>
          <a:p>
            <a:pPr algn="l">
              <a:lnSpc>
                <a:spcPct val="95000"/>
              </a:lnSpc>
              <a:spcBef>
                <a:spcPts val="500"/>
              </a:spcBef>
            </a:pPr>
            <a:r>
              <a:rPr sz="1300" b="0">
                <a:solidFill>
                  <a:srgbClr val="404040"/>
                </a:solidFill>
              </a:rPr>
              <a:t>Uhrzeit, Radtyp, Wetter.</a:t>
            </a:r>
          </a:p>
          <a:p>
            <a:pPr algn="l">
              <a:lnSpc>
                <a:spcPct val="95000"/>
              </a:lnSpc>
              <a:spcBef>
                <a:spcPts val="500"/>
              </a:spcBef>
            </a:pPr>
            <a:r>
              <a:rPr sz="1300" b="0">
                <a:solidFill>
                  <a:srgbClr val="404040"/>
                </a:solidFill>
              </a:rPr>
              <a:t>Sonst nichts.</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Abbruchkriterium</a:t>
            </a:r>
          </a:p>
          <a:p>
            <a:pPr algn="l">
              <a:lnSpc>
                <a:spcPct val="95000"/>
              </a:lnSpc>
              <a:spcBef>
                <a:spcPts val="500"/>
              </a:spcBef>
            </a:pPr>
            <a:r>
              <a:rPr sz="1300" b="0">
                <a:solidFill>
                  <a:srgbClr val="404040"/>
                </a:solidFill>
              </a:rPr>
              <a:t>Wann sagen wir ehrlich,</a:t>
            </a:r>
          </a:p>
          <a:p>
            <a:pPr algn="l">
              <a:lnSpc>
                <a:spcPct val="95000"/>
              </a:lnSpc>
              <a:spcBef>
                <a:spcPts val="500"/>
              </a:spcBef>
            </a:pPr>
            <a:r>
              <a:rPr sz="1300" b="0">
                <a:solidFill>
                  <a:srgbClr val="404040"/>
                </a:solidFill>
              </a:rPr>
              <a:t>dass es nicht geht?</a:t>
            </a:r>
          </a:p>
          <a:p>
            <a:pPr algn="l">
              <a:lnSpc>
                <a:spcPct val="95000"/>
              </a:lnSpc>
              <a:spcBef>
                <a:spcPts val="500"/>
              </a:spcBef>
            </a:pPr>
            <a:r>
              <a:rPr sz="1300" b="0">
                <a:solidFill>
                  <a:srgbClr val="404040"/>
                </a:solidFill>
              </a:rPr>
              <a:t>Hier: Wenn auch nach einem</a:t>
            </a:r>
          </a:p>
          <a:p>
            <a:pPr algn="l">
              <a:lnSpc>
                <a:spcPct val="95000"/>
              </a:lnSpc>
              <a:spcBef>
                <a:spcPts val="500"/>
              </a:spcBef>
            </a:pPr>
            <a:r>
              <a:rPr sz="1300" b="0">
                <a:solidFill>
                  <a:srgbClr val="404040"/>
                </a:solidFill>
              </a:rPr>
              <a:t>Rücksprung kein Radtyp die</a:t>
            </a:r>
          </a:p>
          <a:p>
            <a:pPr algn="l">
              <a:lnSpc>
                <a:spcPct val="95000"/>
              </a:lnSpc>
              <a:spcBef>
                <a:spcPts val="500"/>
              </a:spcBef>
            </a:pPr>
            <a:r>
              <a:rPr sz="1300" b="0">
                <a:solidFill>
                  <a:srgbClr val="404040"/>
                </a:solidFill>
              </a:rPr>
              <a:t>Grenze hält, wird die Anzeige</a:t>
            </a:r>
          </a:p>
          <a:p>
            <a:pPr algn="l">
              <a:lnSpc>
                <a:spcPct val="95000"/>
              </a:lnSpc>
              <a:spcBef>
                <a:spcPts val="500"/>
              </a:spcBef>
            </a:pPr>
            <a:r>
              <a:rPr sz="1300" b="0">
                <a:solidFill>
                  <a:srgbClr val="404040"/>
                </a:solidFill>
              </a:rPr>
              <a:t>nicht gebaut.</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Erst sehen, dann rechnen</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In dieser Phase wird nichts modelliert. Es wird beschrieben, erkundet und geprüft — in dieser Reihenfolge.</a:t>
            </a:r>
          </a:p>
        </p:txBody>
      </p:sp>
      <p:sp>
        <p:nvSpPr>
          <p:cNvPr id="6" name="Rectangle 5"/>
          <p:cNvSpPr/>
          <p:nvPr/>
        </p:nvSpPr>
        <p:spPr>
          <a:xfrm>
            <a:off x="1153160" y="165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2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2.1 Beschaffen  </a:t>
            </a:r>
            <a:r>
              <a:rPr sz="1300">
                <a:solidFill>
                  <a:srgbClr val="404040"/>
                </a:solidFill>
              </a:rPr>
              <a:t>Sieben CSV-Dateien, kein Zugriff auf die Produktivdatenbank</a:t>
            </a:r>
          </a:p>
        </p:txBody>
      </p:sp>
      <p:sp>
        <p:nvSpPr>
          <p:cNvPr id="10" name="Rectangle 9"/>
          <p:cNvSpPr/>
          <p:nvPr/>
        </p:nvSpPr>
        <p:spPr>
          <a:xfrm>
            <a:off x="1153160" y="243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3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1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1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2.2 Beschreiben  </a:t>
            </a:r>
            <a:r>
              <a:rPr sz="1300">
                <a:solidFill>
                  <a:srgbClr val="404040"/>
                </a:solidFill>
              </a:rPr>
              <a:t>Wie viele Zeilen, welche Spalten, wo sind Lücken?</a:t>
            </a:r>
          </a:p>
        </p:txBody>
      </p:sp>
      <p:sp>
        <p:nvSpPr>
          <p:cNvPr id="14" name="Rectangle 13"/>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020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2.3 Zielgröße  </a:t>
            </a:r>
            <a:r>
              <a:rPr sz="1300">
                <a:solidFill>
                  <a:srgbClr val="404040"/>
                </a:solidFill>
              </a:rPr>
              <a:t>Zuerst die Dauer selbst ansehen — Verteilung, Ausläufer, Schiefe</a:t>
            </a:r>
          </a:p>
        </p:txBody>
      </p:sp>
      <p:sp>
        <p:nvSpPr>
          <p:cNvPr id="18" name="Rectangle 17"/>
          <p:cNvSpPr/>
          <p:nvPr/>
        </p:nvSpPr>
        <p:spPr>
          <a:xfrm>
            <a:off x="1153160" y="4013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13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191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089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2.4 Zusammenhänge  </a:t>
            </a:r>
            <a:r>
              <a:rPr sz="1300">
                <a:solidFill>
                  <a:srgbClr val="404040"/>
                </a:solidFill>
              </a:rPr>
              <a:t>Welche Merkmale trennen? Station, Stunde und Tagesart deutlich</a:t>
            </a:r>
          </a:p>
        </p:txBody>
      </p:sp>
      <p:sp>
        <p:nvSpPr>
          <p:cNvPr id="22" name="Rectangle 2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4" name="Rectangle 23"/>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Qualitätsbefunde — und die Frage, ob sie Fehler sind</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Nicht jede Auffälligkeit ist ein Fehler. Der Unterschied entscheidet darüber, ob man bereinigt oder ob man etwas gelernt hat.</a:t>
            </a:r>
          </a:p>
        </p:txBody>
      </p:sp>
      <p:sp>
        <p:nvSpPr>
          <p:cNvPr id="6" name="Rectangle 5"/>
          <p:cNvSpPr/>
          <p:nvPr/>
        </p:nvSpPr>
        <p:spPr>
          <a:xfrm>
            <a:off x="1153160" y="1879600"/>
            <a:ext cx="3048000" cy="914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Befund</a:t>
            </a:r>
          </a:p>
        </p:txBody>
      </p:sp>
      <p:sp>
        <p:nvSpPr>
          <p:cNvPr id="7" name="Rectangle 6"/>
          <p:cNvSpPr/>
          <p:nvPr/>
        </p:nvSpPr>
        <p:spPr>
          <a:xfrm>
            <a:off x="4201160" y="1879600"/>
            <a:ext cx="1143000" cy="914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Umfang</a:t>
            </a:r>
          </a:p>
        </p:txBody>
      </p:sp>
      <p:sp>
        <p:nvSpPr>
          <p:cNvPr id="8" name="Rectangle 7"/>
          <p:cNvSpPr/>
          <p:nvPr/>
        </p:nvSpPr>
        <p:spPr>
          <a:xfrm>
            <a:off x="5344160" y="1879600"/>
            <a:ext cx="7283450" cy="914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Fehler oder Erkenntnis?</a:t>
            </a:r>
          </a:p>
        </p:txBody>
      </p:sp>
      <p:sp>
        <p:nvSpPr>
          <p:cNvPr id="9" name="Rectangle 8"/>
          <p:cNvSpPr/>
          <p:nvPr/>
        </p:nvSpPr>
        <p:spPr>
          <a:xfrm>
            <a:off x="1153160" y="2794000"/>
            <a:ext cx="3048000" cy="914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Fahrten ohne Distanzangabe</a:t>
            </a:r>
          </a:p>
        </p:txBody>
      </p:sp>
      <p:sp>
        <p:nvSpPr>
          <p:cNvPr id="10" name="Rectangle 9"/>
          <p:cNvSpPr/>
          <p:nvPr/>
        </p:nvSpPr>
        <p:spPr>
          <a:xfrm>
            <a:off x="4201160" y="2794000"/>
            <a:ext cx="1143000" cy="914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42 %</a:t>
            </a:r>
          </a:p>
        </p:txBody>
      </p:sp>
      <p:sp>
        <p:nvSpPr>
          <p:cNvPr id="11" name="Rectangle 10"/>
          <p:cNvSpPr/>
          <p:nvPr/>
        </p:nvSpPr>
        <p:spPr>
          <a:xfrm>
            <a:off x="5344160" y="2794000"/>
            <a:ext cx="7283450" cy="914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Erkenntnis: Nicht jedes Rad hat den Sensor. Die Spalte darf deshalb kein Pflichtmerkmal werden — sie fehlt bei zwei von fünf Fahrten</a:t>
            </a:r>
          </a:p>
        </p:txBody>
      </p:sp>
      <p:sp>
        <p:nvSpPr>
          <p:cNvPr id="12" name="Rectangle 11"/>
          <p:cNvSpPr/>
          <p:nvPr/>
        </p:nvSpPr>
        <p:spPr>
          <a:xfrm>
            <a:off x="1153160" y="3708400"/>
            <a:ext cx="3048000" cy="914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Vorgänge unter einer Minute</a:t>
            </a:r>
          </a:p>
        </p:txBody>
      </p:sp>
      <p:sp>
        <p:nvSpPr>
          <p:cNvPr id="13" name="Rectangle 12"/>
          <p:cNvSpPr/>
          <p:nvPr/>
        </p:nvSpPr>
        <p:spPr>
          <a:xfrm>
            <a:off x="4201160" y="3708400"/>
            <a:ext cx="1143000" cy="914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2,7 %</a:t>
            </a:r>
          </a:p>
        </p:txBody>
      </p:sp>
      <p:sp>
        <p:nvSpPr>
          <p:cNvPr id="14" name="Rectangle 13"/>
          <p:cNvSpPr/>
          <p:nvPr/>
        </p:nvSpPr>
        <p:spPr>
          <a:xfrm>
            <a:off x="5344160" y="3708400"/>
            <a:ext cx="7283450" cy="914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Fehler: Das sind keine Fahrten, sondern Fehlentsperrungen. Sie werden begründet ausgeschlossen — mit Zeilenzahl davor und danach</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Zielgröße ist rechtsschief — und das hat Folgen</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man sieht</a:t>
            </a:r>
          </a:p>
          <a:p>
            <a:pPr algn="l">
              <a:lnSpc>
                <a:spcPct val="95000"/>
              </a:lnSpc>
              <a:spcBef>
                <a:spcPts val="500"/>
              </a:spcBef>
            </a:pPr>
            <a:r>
              <a:rPr sz="1300" b="0">
                <a:solidFill>
                  <a:srgbClr val="404040"/>
                </a:solidFill>
              </a:rPr>
              <a:t>Die meisten Fahrten sind kurz.</a:t>
            </a:r>
          </a:p>
          <a:p>
            <a:pPr algn="l">
              <a:lnSpc>
                <a:spcPct val="95000"/>
              </a:lnSpc>
              <a:spcBef>
                <a:spcPts val="500"/>
              </a:spcBef>
            </a:pPr>
            <a:r>
              <a:rPr sz="1300" b="0">
                <a:solidFill>
                  <a:srgbClr val="404040"/>
                </a:solidFill>
              </a:rPr>
              <a:t>Ein langer Ausläufer nach rechts:</a:t>
            </a:r>
          </a:p>
          <a:p>
            <a:pPr algn="l">
              <a:lnSpc>
                <a:spcPct val="95000"/>
              </a:lnSpc>
              <a:spcBef>
                <a:spcPts val="500"/>
              </a:spcBef>
            </a:pPr>
            <a:r>
              <a:rPr sz="1300" b="0">
                <a:solidFill>
                  <a:srgbClr val="404040"/>
                </a:solidFill>
              </a:rPr>
              <a:t>wenige sehr lange 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Mittelwert und Median fallen</a:t>
            </a:r>
          </a:p>
          <a:p>
            <a:pPr algn="l">
              <a:lnSpc>
                <a:spcPct val="95000"/>
              </a:lnSpc>
              <a:spcBef>
                <a:spcPts val="500"/>
              </a:spcBef>
            </a:pPr>
            <a:r>
              <a:rPr sz="1300" b="0">
                <a:solidFill>
                  <a:srgbClr val="404040"/>
                </a:solidFill>
              </a:rPr>
              <a:t>deutlich auseinander.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Warum das zählt</a:t>
            </a:r>
          </a:p>
          <a:p>
            <a:pPr algn="l">
              <a:lnSpc>
                <a:spcPct val="95000"/>
              </a:lnSpc>
              <a:spcBef>
                <a:spcPts val="500"/>
              </a:spcBef>
            </a:pPr>
            <a:r>
              <a:rPr sz="1300" b="0">
                <a:solidFill>
                  <a:srgbClr val="404040"/>
                </a:solidFill>
              </a:rPr>
              <a:t>Der mittlere absolute Fehler</a:t>
            </a:r>
          </a:p>
          <a:p>
            <a:pPr algn="l">
              <a:lnSpc>
                <a:spcPct val="95000"/>
              </a:lnSpc>
              <a:spcBef>
                <a:spcPts val="500"/>
              </a:spcBef>
            </a:pPr>
            <a:r>
              <a:rPr sz="1300" b="0">
                <a:solidFill>
                  <a:srgbClr val="404040"/>
                </a:solidFill>
              </a:rPr>
              <a:t>behandelt eine Abweichung von</a:t>
            </a:r>
          </a:p>
          <a:p>
            <a:pPr algn="l">
              <a:lnSpc>
                <a:spcPct val="95000"/>
              </a:lnSpc>
              <a:spcBef>
                <a:spcPts val="500"/>
              </a:spcBef>
            </a:pPr>
            <a:r>
              <a:rPr sz="1300" b="0">
                <a:solidFill>
                  <a:srgbClr val="404040"/>
                </a:solidFill>
              </a:rPr>
              <a:t>5 Minuten bei einer 10-Minuten-</a:t>
            </a:r>
          </a:p>
          <a:p>
            <a:pPr algn="l">
              <a:lnSpc>
                <a:spcPct val="95000"/>
              </a:lnSpc>
              <a:spcBef>
                <a:spcPts val="500"/>
              </a:spcBef>
            </a:pPr>
            <a:r>
              <a:rPr sz="1300" b="0">
                <a:solidFill>
                  <a:srgbClr val="404040"/>
                </a:solidFill>
              </a:rPr>
              <a:t>Fahrt genauso wie bei einer</a:t>
            </a:r>
          </a:p>
          <a:p>
            <a:pPr algn="l">
              <a:lnSpc>
                <a:spcPct val="95000"/>
              </a:lnSpc>
              <a:spcBef>
                <a:spcPts val="500"/>
              </a:spcBef>
            </a:pPr>
            <a:r>
              <a:rPr sz="1300" b="0">
                <a:solidFill>
                  <a:srgbClr val="404040"/>
                </a:solidFill>
              </a:rPr>
              <a:t>Stunde — fachlich ist das</a:t>
            </a:r>
          </a:p>
          <a:p>
            <a:pPr algn="l">
              <a:lnSpc>
                <a:spcPct val="95000"/>
              </a:lnSpc>
              <a:spcBef>
                <a:spcPts val="500"/>
              </a:spcBef>
            </a:pPr>
            <a:r>
              <a:rPr sz="1300" b="0">
                <a:solidFill>
                  <a:srgbClr val="404040"/>
                </a:solidFill>
              </a:rPr>
              <a:t>aber nicht dasselbe.</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Vermerkt für Phase 3 und für</a:t>
            </a:r>
          </a:p>
          <a:p>
            <a:pPr algn="l">
              <a:lnSpc>
                <a:spcPct val="95000"/>
              </a:lnSpc>
              <a:spcBef>
                <a:spcPts val="500"/>
              </a:spcBef>
            </a:pPr>
            <a:r>
              <a:rPr sz="1300" b="0">
                <a:solidFill>
                  <a:srgbClr val="404040"/>
                </a:solidFill>
              </a:rPr>
              <a:t>den Rücksprung: Ein Modell auf</a:t>
            </a:r>
          </a:p>
          <a:p>
            <a:pPr algn="l">
              <a:lnSpc>
                <a:spcPct val="95000"/>
              </a:lnSpc>
              <a:spcBef>
                <a:spcPts val="500"/>
              </a:spcBef>
            </a:pPr>
            <a:r>
              <a:rPr sz="1300" b="0">
                <a:solidFill>
                  <a:srgbClr val="404040"/>
                </a:solidFill>
              </a:rPr>
              <a:t>dem Logarithmus der Dauer</a:t>
            </a:r>
          </a:p>
          <a:p>
            <a:pPr algn="l">
              <a:lnSpc>
                <a:spcPct val="95000"/>
              </a:lnSpc>
              <a:spcBef>
                <a:spcPts val="500"/>
              </a:spcBef>
            </a:pPr>
            <a:r>
              <a:rPr sz="1300" b="0">
                <a:solidFill>
                  <a:srgbClr val="404040"/>
                </a:solidFill>
              </a:rPr>
              <a:t>träfe solche Verteilungen</a:t>
            </a:r>
          </a:p>
          <a:p>
            <a:pPr algn="l">
              <a:lnSpc>
                <a:spcPct val="95000"/>
              </a:lnSpc>
              <a:spcBef>
                <a:spcPts val="500"/>
              </a:spcBef>
            </a:pPr>
            <a:r>
              <a:rPr sz="1300" b="0">
                <a:solidFill>
                  <a:srgbClr val="404040"/>
                </a:solidFill>
              </a:rPr>
              <a:t>oft besser.</a:t>
            </a:r>
          </a:p>
          <a:p>
            <a:pPr algn="l">
              <a:lnSpc>
                <a:spcPct val="95000"/>
              </a:lnSpc>
              <a:spcBef>
                <a:spcPts val="500"/>
              </a:spcBef>
            </a:pPr>
            <a:r>
              <a:rPr sz="1300" b="0">
                <a:solidFill>
                  <a:srgbClr val="404040"/>
                </a:solidFill>
              </a:rPr>
              <a:t>Eine Zeile, große Wirkung.</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Erkundung über die Merkmale sagt</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späteren Koeffizienten der linearen Regression bestätigen, was hier schon sichtbar wird — in Minuten je Einheit.</a:t>
            </a:r>
          </a:p>
        </p:txBody>
      </p:sp>
      <p:sp>
        <p:nvSpPr>
          <p:cNvPr id="6" name="Rectangle 5"/>
          <p:cNvSpPr/>
          <p:nvPr/>
        </p:nvSpPr>
        <p:spPr>
          <a:xfrm>
            <a:off x="1153160" y="1651000"/>
            <a:ext cx="2667000" cy="48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Merkmal</a:t>
            </a:r>
          </a:p>
        </p:txBody>
      </p:sp>
      <p:sp>
        <p:nvSpPr>
          <p:cNvPr id="7" name="Rectangle 6"/>
          <p:cNvSpPr/>
          <p:nvPr/>
        </p:nvSpPr>
        <p:spPr>
          <a:xfrm>
            <a:off x="3820160" y="1651000"/>
            <a:ext cx="2413000" cy="48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Wirkung auf die Dauer</a:t>
            </a:r>
          </a:p>
        </p:txBody>
      </p:sp>
      <p:sp>
        <p:nvSpPr>
          <p:cNvPr id="8" name="Rectangle 7"/>
          <p:cNvSpPr/>
          <p:nvPr/>
        </p:nvSpPr>
        <p:spPr>
          <a:xfrm>
            <a:off x="6233160" y="1651000"/>
            <a:ext cx="6394450" cy="48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Deutung</a:t>
            </a:r>
          </a:p>
        </p:txBody>
      </p:sp>
      <p:sp>
        <p:nvSpPr>
          <p:cNvPr id="9" name="Rectangle 8"/>
          <p:cNvSpPr/>
          <p:nvPr/>
        </p:nvSpPr>
        <p:spPr>
          <a:xfrm>
            <a:off x="1153160" y="2133600"/>
            <a:ext cx="266700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Wochenende</a:t>
            </a:r>
          </a:p>
        </p:txBody>
      </p:sp>
      <p:sp>
        <p:nvSpPr>
          <p:cNvPr id="10" name="Rectangle 9"/>
          <p:cNvSpPr/>
          <p:nvPr/>
        </p:nvSpPr>
        <p:spPr>
          <a:xfrm>
            <a:off x="3820160" y="2133600"/>
            <a:ext cx="241300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+ 8,8 Minuten</a:t>
            </a:r>
          </a:p>
        </p:txBody>
      </p:sp>
      <p:sp>
        <p:nvSpPr>
          <p:cNvPr id="11" name="Rectangle 10"/>
          <p:cNvSpPr/>
          <p:nvPr/>
        </p:nvSpPr>
        <p:spPr>
          <a:xfrm>
            <a:off x="6233160" y="2133600"/>
            <a:ext cx="639445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Freizeitfahrten sind länger als Pendelfahrten</a:t>
            </a:r>
          </a:p>
        </p:txBody>
      </p:sp>
      <p:sp>
        <p:nvSpPr>
          <p:cNvPr id="12" name="Rectangle 11"/>
          <p:cNvSpPr/>
          <p:nvPr/>
        </p:nvSpPr>
        <p:spPr>
          <a:xfrm>
            <a:off x="1153160" y="2616200"/>
            <a:ext cx="2667000" cy="482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Feiertag</a:t>
            </a:r>
          </a:p>
        </p:txBody>
      </p:sp>
      <p:sp>
        <p:nvSpPr>
          <p:cNvPr id="13" name="Rectangle 12"/>
          <p:cNvSpPr/>
          <p:nvPr/>
        </p:nvSpPr>
        <p:spPr>
          <a:xfrm>
            <a:off x="3820160" y="2616200"/>
            <a:ext cx="2413000" cy="482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+ 7,3 Minuten</a:t>
            </a:r>
          </a:p>
        </p:txBody>
      </p:sp>
      <p:sp>
        <p:nvSpPr>
          <p:cNvPr id="14" name="Rectangle 13"/>
          <p:cNvSpPr/>
          <p:nvPr/>
        </p:nvSpPr>
        <p:spPr>
          <a:xfrm>
            <a:off x="6233160" y="2616200"/>
            <a:ext cx="6394450" cy="482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derselbe Effekt, noch stärker</a:t>
            </a:r>
          </a:p>
        </p:txBody>
      </p:sp>
      <p:sp>
        <p:nvSpPr>
          <p:cNvPr id="15" name="Rectangle 14"/>
          <p:cNvSpPr/>
          <p:nvPr/>
        </p:nvSpPr>
        <p:spPr>
          <a:xfrm>
            <a:off x="1153160" y="3098800"/>
            <a:ext cx="266700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 Residenz</a:t>
            </a:r>
          </a:p>
        </p:txBody>
      </p:sp>
      <p:sp>
        <p:nvSpPr>
          <p:cNvPr id="16" name="Rectangle 15"/>
          <p:cNvSpPr/>
          <p:nvPr/>
        </p:nvSpPr>
        <p:spPr>
          <a:xfrm>
            <a:off x="3820160" y="3098800"/>
            <a:ext cx="241300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+ 8,6 Minuten</a:t>
            </a:r>
          </a:p>
        </p:txBody>
      </p:sp>
      <p:sp>
        <p:nvSpPr>
          <p:cNvPr id="17" name="Rectangle 16"/>
          <p:cNvSpPr/>
          <p:nvPr/>
        </p:nvSpPr>
        <p:spPr>
          <a:xfrm>
            <a:off x="6233160" y="3098800"/>
            <a:ext cx="639445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touristischer Ausgangspunkt</a:t>
            </a:r>
          </a:p>
        </p:txBody>
      </p:sp>
      <p:sp>
        <p:nvSpPr>
          <p:cNvPr id="18" name="Rectangle 17"/>
          <p:cNvSpPr/>
          <p:nvPr/>
        </p:nvSpPr>
        <p:spPr>
          <a:xfrm>
            <a:off x="1153160" y="3581400"/>
            <a:ext cx="2667000" cy="482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 Zellerau</a:t>
            </a:r>
          </a:p>
        </p:txBody>
      </p:sp>
      <p:sp>
        <p:nvSpPr>
          <p:cNvPr id="19" name="Rectangle 18"/>
          <p:cNvSpPr/>
          <p:nvPr/>
        </p:nvSpPr>
        <p:spPr>
          <a:xfrm>
            <a:off x="3820160" y="3581400"/>
            <a:ext cx="2413000" cy="482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− 10,2 Minuten</a:t>
            </a:r>
          </a:p>
        </p:txBody>
      </p:sp>
      <p:sp>
        <p:nvSpPr>
          <p:cNvPr id="20" name="Rectangle 19"/>
          <p:cNvSpPr/>
          <p:nvPr/>
        </p:nvSpPr>
        <p:spPr>
          <a:xfrm>
            <a:off x="6233160" y="3581400"/>
            <a:ext cx="6394450" cy="482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Wohngebiet, kurze Wege in die Stadt</a:t>
            </a:r>
          </a:p>
        </p:txBody>
      </p:sp>
      <p:sp>
        <p:nvSpPr>
          <p:cNvPr id="21" name="Rectangle 20"/>
          <p:cNvSpPr/>
          <p:nvPr/>
        </p:nvSpPr>
        <p:spPr>
          <a:xfrm>
            <a:off x="1153160" y="4064000"/>
            <a:ext cx="266700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Radtyp EBIKE</a:t>
            </a:r>
          </a:p>
        </p:txBody>
      </p:sp>
      <p:sp>
        <p:nvSpPr>
          <p:cNvPr id="22" name="Rectangle 21"/>
          <p:cNvSpPr/>
          <p:nvPr/>
        </p:nvSpPr>
        <p:spPr>
          <a:xfrm>
            <a:off x="3820160" y="4064000"/>
            <a:ext cx="241300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− 3,4 Minuten</a:t>
            </a:r>
          </a:p>
        </p:txBody>
      </p:sp>
      <p:sp>
        <p:nvSpPr>
          <p:cNvPr id="23" name="Rectangle 22"/>
          <p:cNvSpPr/>
          <p:nvPr/>
        </p:nvSpPr>
        <p:spPr>
          <a:xfrm>
            <a:off x="6233160" y="4064000"/>
            <a:ext cx="6394450" cy="482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schneller unterwegs, gleiche Strecke</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gefährlichste Falle des ganzen Kreislaufs</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Leakage: Merkmale, die im Training vorhanden sind, zum Zeitpunkt der Vorhersage aber noch gar nicht existieren. Das Modell wird großartig — und im Betrieb unbrauchbar.</a:t>
            </a:r>
          </a:p>
        </p:txBody>
      </p:sp>
      <p:sp>
        <p:nvSpPr>
          <p:cNvPr id="6" name="Rectangle 5"/>
          <p:cNvSpPr/>
          <p:nvPr/>
        </p:nvSpPr>
        <p:spPr>
          <a:xfrm>
            <a:off x="1153160" y="1879600"/>
            <a:ext cx="5524500" cy="2743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a:t>
            </a:r>
          </a:p>
        </p:txBody>
      </p:sp>
      <p:sp>
        <p:nvSpPr>
          <p:cNvPr id="9" name="TextBox 8"/>
          <p:cNvSpPr txBox="1"/>
          <p:nvPr/>
        </p:nvSpPr>
        <p:spPr>
          <a:xfrm>
            <a:off x="1330960" y="2387600"/>
            <a:ext cx="5194300" cy="2108200"/>
          </a:xfrm>
          <a:prstGeom prst="rect">
            <a:avLst/>
          </a:prstGeom>
          <a:noFill/>
        </p:spPr>
        <p:txBody>
          <a:bodyPr wrap="square" lIns="0" tIns="0" rIns="0" bIns="0">
            <a:spAutoFit/>
          </a:bodyPr>
          <a:lstStyle/>
          <a:p>
            <a:pPr algn="l">
              <a:lnSpc>
                <a:spcPct val="95000"/>
              </a:lnSpc>
            </a:pPr>
            <a:r>
              <a:rPr sz="1400" b="1">
                <a:solidFill>
                  <a:srgbClr val="A32638"/>
                </a:solidFill>
              </a:rPr>
              <a:t>Was in den Daten steht</a:t>
            </a:r>
          </a:p>
          <a:p>
            <a:pPr algn="l">
              <a:lnSpc>
                <a:spcPct val="95000"/>
              </a:lnSpc>
              <a:spcBef>
                <a:spcPts val="300"/>
              </a:spcBef>
            </a:pPr>
            <a:r>
              <a:rPr sz="1300" b="0">
                <a:solidFill>
                  <a:srgbClr val="404040"/>
                </a:solidFill>
                <a:latin typeface="Consolas"/>
              </a:rPr>
              <a:t>endzeit</a:t>
            </a:r>
          </a:p>
          <a:p>
            <a:pPr algn="l">
              <a:lnSpc>
                <a:spcPct val="95000"/>
              </a:lnSpc>
              <a:spcBef>
                <a:spcPts val="300"/>
              </a:spcBef>
            </a:pPr>
            <a:r>
              <a:rPr sz="1300" b="0">
                <a:solidFill>
                  <a:srgbClr val="404040"/>
                </a:solidFill>
                <a:latin typeface="Consolas"/>
              </a:rPr>
              <a:t>distanz_km</a:t>
            </a:r>
          </a:p>
          <a:p>
            <a:pPr algn="l">
              <a:lnSpc>
                <a:spcPct val="95000"/>
              </a:lnSpc>
              <a:spcBef>
                <a:spcPts val="300"/>
              </a:spcBef>
            </a:pPr>
            <a:r>
              <a:rPr sz="1300" b="0">
                <a:solidFill>
                  <a:srgbClr val="404040"/>
                </a:solidFill>
                <a:latin typeface="Consolas"/>
              </a:rPr>
              <a:t>zielstation</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Alle drei sagen die Dauer</a:t>
            </a:r>
          </a:p>
          <a:p>
            <a:pPr algn="l">
              <a:lnSpc>
                <a:spcPct val="95000"/>
              </a:lnSpc>
              <a:spcBef>
                <a:spcPts val="300"/>
              </a:spcBef>
            </a:pPr>
            <a:r>
              <a:rPr sz="1300" b="0">
                <a:solidFill>
                  <a:srgbClr val="404040"/>
                </a:solidFill>
                <a:latin typeface="Consolas"/>
              </a:rPr>
              <a:t>hervorragend voraus.</a:t>
            </a:r>
          </a:p>
          <a:p>
            <a:pPr algn="l">
              <a:lnSpc>
                <a:spcPct val="95000"/>
              </a:lnSpc>
              <a:spcBef>
                <a:spcPts val="300"/>
              </a:spcBef>
            </a:pPr>
            <a:r>
              <a:rPr sz="1300" b="0">
                <a:solidFill>
                  <a:srgbClr val="404040"/>
                </a:solidFill>
                <a:latin typeface="Consolas"/>
              </a:rPr>
              <a:t>R² ginge Richtung 1,0.</a:t>
            </a:r>
          </a:p>
        </p:txBody>
      </p:sp>
      <p:sp>
        <p:nvSpPr>
          <p:cNvPr id="10" name="Rectangle 9"/>
          <p:cNvSpPr/>
          <p:nvPr/>
        </p:nvSpPr>
        <p:spPr>
          <a:xfrm>
            <a:off x="7096759" y="1879600"/>
            <a:ext cx="5524500" cy="2743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Zulässig</a:t>
            </a:r>
          </a:p>
        </p:txBody>
      </p:sp>
      <p:sp>
        <p:nvSpPr>
          <p:cNvPr id="13" name="TextBox 12"/>
          <p:cNvSpPr txBox="1"/>
          <p:nvPr/>
        </p:nvSpPr>
        <p:spPr>
          <a:xfrm>
            <a:off x="7274559" y="2387600"/>
            <a:ext cx="5194300" cy="2108200"/>
          </a:xfrm>
          <a:prstGeom prst="rect">
            <a:avLst/>
          </a:prstGeom>
          <a:noFill/>
        </p:spPr>
        <p:txBody>
          <a:bodyPr wrap="square" lIns="0" tIns="0" rIns="0" bIns="0">
            <a:spAutoFit/>
          </a:bodyPr>
          <a:lstStyle/>
          <a:p>
            <a:pPr algn="l">
              <a:lnSpc>
                <a:spcPct val="95000"/>
              </a:lnSpc>
            </a:pPr>
            <a:r>
              <a:rPr sz="1400" b="1">
                <a:solidFill>
                  <a:srgbClr val="55801C"/>
                </a:solidFill>
              </a:rPr>
              <a:t>Was beim Entsperren bekannt ist</a:t>
            </a:r>
          </a:p>
          <a:p>
            <a:pPr algn="l">
              <a:lnSpc>
                <a:spcPct val="95000"/>
              </a:lnSpc>
              <a:spcBef>
                <a:spcPts val="300"/>
              </a:spcBef>
            </a:pPr>
            <a:r>
              <a:rPr sz="1300" b="0">
                <a:solidFill>
                  <a:srgbClr val="404040"/>
                </a:solidFill>
                <a:latin typeface="Consolas"/>
              </a:rPr>
              <a:t>startstation, startzeit</a:t>
            </a:r>
          </a:p>
          <a:p>
            <a:pPr algn="l">
              <a:lnSpc>
                <a:spcPct val="95000"/>
              </a:lnSpc>
              <a:spcBef>
                <a:spcPts val="300"/>
              </a:spcBef>
            </a:pPr>
            <a:r>
              <a:rPr sz="1300" b="0">
                <a:solidFill>
                  <a:srgbClr val="404040"/>
                </a:solidFill>
                <a:latin typeface="Consolas"/>
              </a:rPr>
              <a:t>typ_code</a:t>
            </a:r>
          </a:p>
          <a:p>
            <a:pPr algn="l">
              <a:lnSpc>
                <a:spcPct val="95000"/>
              </a:lnSpc>
              <a:spcBef>
                <a:spcPts val="300"/>
              </a:spcBef>
            </a:pPr>
            <a:r>
              <a:rPr sz="1300" b="0">
                <a:solidFill>
                  <a:srgbClr val="404040"/>
                </a:solidFill>
                <a:latin typeface="Consolas"/>
              </a:rPr>
              <a:t>temperatur, niederschlag</a:t>
            </a:r>
          </a:p>
          <a:p>
            <a:pPr algn="l">
              <a:lnSpc>
                <a:spcPct val="95000"/>
              </a:lnSpc>
              <a:spcBef>
                <a:spcPts val="300"/>
              </a:spcBef>
            </a:pPr>
            <a:r>
              <a:rPr sz="1300" b="0">
                <a:solidFill>
                  <a:srgbClr val="404040"/>
                </a:solidFill>
                <a:latin typeface="Consolas"/>
              </a:rPr>
              <a:t>ist_wochenende, ist_feiertag</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Die Endzeit kennt man erst,</a:t>
            </a:r>
          </a:p>
          <a:p>
            <a:pPr algn="l">
              <a:lnSpc>
                <a:spcPct val="95000"/>
              </a:lnSpc>
              <a:spcBef>
                <a:spcPts val="300"/>
              </a:spcBef>
            </a:pPr>
            <a:r>
              <a:rPr sz="1300" b="0">
                <a:solidFill>
                  <a:srgbClr val="404040"/>
                </a:solidFill>
                <a:latin typeface="Consolas"/>
              </a:rPr>
              <a:t>wenn die Fahrt vorbei ist.</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Wann weiß man was? Der Leakage-Test</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Rectangle 5"/>
          <p:cNvSpPr/>
          <p:nvPr/>
        </p:nvSpPr>
        <p:spPr>
          <a:xfrm>
            <a:off x="1606666" y="1778000"/>
            <a:ext cx="10567436" cy="4165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leakage.png"/>
          <p:cNvPicPr>
            <a:picLocks noChangeAspect="1"/>
          </p:cNvPicPr>
          <p:nvPr/>
        </p:nvPicPr>
        <p:blipFill>
          <a:blip r:embed="rId2"/>
          <a:stretch>
            <a:fillRect/>
          </a:stretch>
        </p:blipFill>
        <p:spPr>
          <a:xfrm>
            <a:off x="1708266" y="1879600"/>
            <a:ext cx="10364236" cy="39624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gesperrten Spalten, im Klartext</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Rectangle 4"/>
          <p:cNvSpPr/>
          <p:nvPr/>
        </p:nvSpPr>
        <p:spPr>
          <a:xfrm>
            <a:off x="1340916" y="1168400"/>
            <a:ext cx="11098936"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leakage.png"/>
          <p:cNvPicPr>
            <a:picLocks noChangeAspect="1"/>
          </p:cNvPicPr>
          <p:nvPr/>
        </p:nvPicPr>
        <p:blipFill>
          <a:blip r:embed="rId2"/>
          <a:stretch>
            <a:fillRect/>
          </a:stretch>
        </p:blipFill>
        <p:spPr>
          <a:xfrm>
            <a:off x="1442516" y="1270000"/>
            <a:ext cx="10895736"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Im Notebook stehen die drei gesperrten Spalten mit Begründung — nicht kommentarlos weggelassen, sondern benannt.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Jeder Filter mit Zeilenzahl davor und danach</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begründete Ausschlüsse. Wer nicht mitzählt, merkt nicht, wenn ein Filter die halbe Datenmenge frisst.</a:t>
            </a:r>
          </a:p>
        </p:txBody>
      </p:sp>
      <p:sp>
        <p:nvSpPr>
          <p:cNvPr id="6" name="Rectangle 5"/>
          <p:cNvSpPr/>
          <p:nvPr/>
        </p:nvSpPr>
        <p:spPr>
          <a:xfrm>
            <a:off x="1153160" y="1651000"/>
            <a:ext cx="3810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Filter</a:t>
            </a:r>
          </a:p>
        </p:txBody>
      </p:sp>
      <p:sp>
        <p:nvSpPr>
          <p:cNvPr id="7" name="Rectangle 6"/>
          <p:cNvSpPr/>
          <p:nvPr/>
        </p:nvSpPr>
        <p:spPr>
          <a:xfrm>
            <a:off x="4963160" y="1651000"/>
            <a:ext cx="766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Begründung</a:t>
            </a:r>
          </a:p>
        </p:txBody>
      </p:sp>
      <p:sp>
        <p:nvSpPr>
          <p:cNvPr id="8" name="Rectangle 7"/>
          <p:cNvSpPr/>
          <p:nvPr/>
        </p:nvSpPr>
        <p:spPr>
          <a:xfrm>
            <a:off x="1153160" y="2209800"/>
            <a:ext cx="381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Vorgänge unter 1 Minute</a:t>
            </a:r>
          </a:p>
        </p:txBody>
      </p:sp>
      <p:sp>
        <p:nvSpPr>
          <p:cNvPr id="9" name="Rectangle 8"/>
          <p:cNvSpPr/>
          <p:nvPr/>
        </p:nvSpPr>
        <p:spPr>
          <a:xfrm>
            <a:off x="4963160" y="2209800"/>
            <a:ext cx="766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Fehlentsperrungen, keine Fahrten — 2,7 % der Zeilen</a:t>
            </a:r>
          </a:p>
        </p:txBody>
      </p:sp>
      <p:sp>
        <p:nvSpPr>
          <p:cNvPr id="10" name="Rectangle 9"/>
          <p:cNvSpPr/>
          <p:nvPr/>
        </p:nvSpPr>
        <p:spPr>
          <a:xfrm>
            <a:off x="1153160" y="2768600"/>
            <a:ext cx="381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Fahrten über 24 Stunden</a:t>
            </a:r>
          </a:p>
        </p:txBody>
      </p:sp>
      <p:sp>
        <p:nvSpPr>
          <p:cNvPr id="11" name="Rectangle 10"/>
          <p:cNvSpPr/>
          <p:nvPr/>
        </p:nvSpPr>
        <p:spPr>
          <a:xfrm>
            <a:off x="4963160" y="2768600"/>
            <a:ext cx="766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Rückgabeprobleme, ein anderer Sachverhalt</a:t>
            </a:r>
          </a:p>
        </p:txBody>
      </p:sp>
      <p:sp>
        <p:nvSpPr>
          <p:cNvPr id="12" name="Rectangle 11"/>
          <p:cNvSpPr/>
          <p:nvPr/>
        </p:nvSpPr>
        <p:spPr>
          <a:xfrm>
            <a:off x="1153160" y="3327400"/>
            <a:ext cx="381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Ausgemusterte Räder</a:t>
            </a:r>
          </a:p>
        </p:txBody>
      </p:sp>
      <p:sp>
        <p:nvSpPr>
          <p:cNvPr id="13" name="Rectangle 12"/>
          <p:cNvSpPr/>
          <p:nvPr/>
        </p:nvSpPr>
        <p:spPr>
          <a:xfrm>
            <a:off x="4963160" y="3327400"/>
            <a:ext cx="766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Ihre Fahrten stammen aus einem anderen Flottenzustand</a:t>
            </a:r>
          </a:p>
        </p:txBody>
      </p:sp>
      <p:sp>
        <p:nvSpPr>
          <p:cNvPr id="14" name="Rectangle 13"/>
          <p:cNvSpPr/>
          <p:nvPr/>
        </p:nvSpPr>
        <p:spPr>
          <a:xfrm>
            <a:off x="1153160" y="3937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13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Filter ohne Zeilenzahl ist eine Behauptung. Mit Zeilenzahl ist er ein nachprüfbarer Schritt — und genau daran erkennt man in einem fremden Notebook, ob sorgfältig gearbeitet wurde.</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 einem Zeitstempel werden fünf Merkmale</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Merkmale bauen heißt: dem Verfahren das zeigen, was ein Mensch in den Daten sieht. Ein Zeitstempel allein sagt einem Modell nichts.</a:t>
            </a:r>
          </a:p>
        </p:txBody>
      </p:sp>
      <p:sp>
        <p:nvSpPr>
          <p:cNvPr id="6" name="Rectangle 5"/>
          <p:cNvSpPr/>
          <p:nvPr/>
        </p:nvSpPr>
        <p:spPr>
          <a:xfrm>
            <a:off x="1153160" y="18796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Aus der Zeit</a:t>
            </a:r>
          </a:p>
          <a:p>
            <a:pPr algn="l">
              <a:lnSpc>
                <a:spcPct val="95000"/>
              </a:lnSpc>
              <a:spcBef>
                <a:spcPts val="500"/>
              </a:spcBef>
            </a:pPr>
            <a:r>
              <a:rPr sz="1300" b="0">
                <a:solidFill>
                  <a:srgbClr val="404040"/>
                </a:solidFill>
              </a:rPr>
              <a:t>stunde  — 0 bis 23</a:t>
            </a:r>
          </a:p>
          <a:p>
            <a:pPr algn="l">
              <a:lnSpc>
                <a:spcPct val="95000"/>
              </a:lnSpc>
              <a:spcBef>
                <a:spcPts val="500"/>
              </a:spcBef>
            </a:pPr>
            <a:r>
              <a:rPr sz="1300" b="0">
                <a:solidFill>
                  <a:srgbClr val="404040"/>
                </a:solidFill>
              </a:rPr>
              <a:t>wochentag — 0 bis 6</a:t>
            </a:r>
          </a:p>
          <a:p>
            <a:pPr algn="l">
              <a:lnSpc>
                <a:spcPct val="95000"/>
              </a:lnSpc>
              <a:spcBef>
                <a:spcPts val="500"/>
              </a:spcBef>
            </a:pPr>
            <a:r>
              <a:rPr sz="1300" b="0">
                <a:solidFill>
                  <a:srgbClr val="404040"/>
                </a:solidFill>
              </a:rPr>
              <a:t>monat — Jahresgang</a:t>
            </a:r>
          </a:p>
          <a:p>
            <a:pPr algn="l">
              <a:lnSpc>
                <a:spcPct val="95000"/>
              </a:lnSpc>
              <a:spcBef>
                <a:spcPts val="500"/>
              </a:spcBef>
            </a:pPr>
            <a:r>
              <a:rPr sz="1300" b="0">
                <a:solidFill>
                  <a:srgbClr val="404040"/>
                </a:solidFill>
              </a:rPr>
              <a:t>ist_wochenende</a:t>
            </a:r>
          </a:p>
          <a:p>
            <a:pPr algn="l">
              <a:lnSpc>
                <a:spcPct val="95000"/>
              </a:lnSpc>
              <a:spcBef>
                <a:spcPts val="500"/>
              </a:spcBef>
            </a:pPr>
            <a:r>
              <a:rPr sz="1300" b="0">
                <a:solidFill>
                  <a:srgbClr val="404040"/>
                </a:solidFill>
              </a:rPr>
              <a:t>ist_feiertag</a:t>
            </a:r>
          </a:p>
        </p:txBody>
      </p:sp>
      <p:sp>
        <p:nvSpPr>
          <p:cNvPr id="9" name="Rectangle 8"/>
          <p:cNvSpPr/>
          <p:nvPr/>
        </p:nvSpPr>
        <p:spPr>
          <a:xfrm>
            <a:off x="5113020" y="18796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Aus dem Wetter</a:t>
            </a:r>
          </a:p>
          <a:p>
            <a:pPr algn="l">
              <a:lnSpc>
                <a:spcPct val="95000"/>
              </a:lnSpc>
              <a:spcBef>
                <a:spcPts val="500"/>
              </a:spcBef>
            </a:pPr>
            <a:r>
              <a:rPr sz="1300" b="0">
                <a:solidFill>
                  <a:srgbClr val="404040"/>
                </a:solidFill>
              </a:rPr>
              <a:t>temperatur</a:t>
            </a:r>
          </a:p>
          <a:p>
            <a:pPr algn="l">
              <a:lnSpc>
                <a:spcPct val="95000"/>
              </a:lnSpc>
              <a:spcBef>
                <a:spcPts val="500"/>
              </a:spcBef>
            </a:pPr>
            <a:r>
              <a:rPr sz="1300" b="0">
                <a:solidFill>
                  <a:srgbClr val="404040"/>
                </a:solidFill>
              </a:rPr>
              <a:t>niederschlag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Angejoint über das Datum,</a:t>
            </a:r>
          </a:p>
          <a:p>
            <a:pPr algn="l">
              <a:lnSpc>
                <a:spcPct val="95000"/>
              </a:lnSpc>
              <a:spcBef>
                <a:spcPts val="500"/>
              </a:spcBef>
            </a:pPr>
            <a:r>
              <a:rPr sz="1300" b="0">
                <a:solidFill>
                  <a:srgbClr val="404040"/>
                </a:solidFill>
              </a:rPr>
              <a:t>aus echten ERA5-Daten</a:t>
            </a:r>
          </a:p>
          <a:p>
            <a:pPr algn="l">
              <a:lnSpc>
                <a:spcPct val="95000"/>
              </a:lnSpc>
              <a:spcBef>
                <a:spcPts val="500"/>
              </a:spcBef>
            </a:pPr>
            <a:r>
              <a:rPr sz="1300" b="0">
                <a:solidFill>
                  <a:srgbClr val="404040"/>
                </a:solidFill>
              </a:rPr>
              <a:t>für Würzburg.</a:t>
            </a:r>
          </a:p>
        </p:txBody>
      </p:sp>
      <p:sp>
        <p:nvSpPr>
          <p:cNvPr id="12" name="Rectangle 11"/>
          <p:cNvSpPr/>
          <p:nvPr/>
        </p:nvSpPr>
        <p:spPr>
          <a:xfrm>
            <a:off x="9081770" y="18796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Kodieren</a:t>
            </a:r>
          </a:p>
          <a:p>
            <a:pPr algn="l">
              <a:lnSpc>
                <a:spcPct val="95000"/>
              </a:lnSpc>
              <a:spcBef>
                <a:spcPts val="500"/>
              </a:spcBef>
            </a:pPr>
            <a:r>
              <a:rPr sz="1300" b="0">
                <a:solidFill>
                  <a:srgbClr val="404040"/>
                </a:solidFill>
              </a:rPr>
              <a:t>Station und Radtyp sind</a:t>
            </a:r>
          </a:p>
          <a:p>
            <a:pPr algn="l">
              <a:lnSpc>
                <a:spcPct val="95000"/>
              </a:lnSpc>
              <a:spcBef>
                <a:spcPts val="500"/>
              </a:spcBef>
            </a:pPr>
            <a:r>
              <a:rPr sz="1300" b="0">
                <a:solidFill>
                  <a:srgbClr val="404040"/>
                </a:solidFill>
              </a:rPr>
              <a:t>Kategorien, keine Zahlen.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One-Hot: aus einer Spalte</a:t>
            </a:r>
          </a:p>
          <a:p>
            <a:pPr algn="l">
              <a:lnSpc>
                <a:spcPct val="95000"/>
              </a:lnSpc>
              <a:spcBef>
                <a:spcPts val="500"/>
              </a:spcBef>
            </a:pPr>
            <a:r>
              <a:rPr sz="1300" b="0">
                <a:solidFill>
                  <a:srgbClr val="404040"/>
                </a:solidFill>
              </a:rPr>
              <a:t>mit zehn Werten werden</a:t>
            </a:r>
          </a:p>
          <a:p>
            <a:pPr algn="l">
              <a:lnSpc>
                <a:spcPct val="95000"/>
              </a:lnSpc>
              <a:spcBef>
                <a:spcPts val="500"/>
              </a:spcBef>
            </a:pPr>
            <a:r>
              <a:rPr sz="1300" b="0">
                <a:solidFill>
                  <a:srgbClr val="404040"/>
                </a:solidFill>
              </a:rPr>
              <a:t>zehn Ja-Nein-Spalten.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Aufteilen — und warum es hier zufällig sein darf</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743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In diesem Fall</a:t>
            </a:r>
          </a:p>
        </p:txBody>
      </p:sp>
      <p:sp>
        <p:nvSpPr>
          <p:cNvPr id="8" name="TextBox 7"/>
          <p:cNvSpPr txBox="1"/>
          <p:nvPr/>
        </p:nvSpPr>
        <p:spPr>
          <a:xfrm>
            <a:off x="1330960" y="1854200"/>
            <a:ext cx="5194300" cy="2108200"/>
          </a:xfrm>
          <a:prstGeom prst="rect">
            <a:avLst/>
          </a:prstGeom>
          <a:noFill/>
        </p:spPr>
        <p:txBody>
          <a:bodyPr wrap="square" lIns="0" tIns="0" rIns="0" bIns="0">
            <a:spAutoFit/>
          </a:bodyPr>
          <a:lstStyle/>
          <a:p>
            <a:pPr algn="l">
              <a:lnSpc>
                <a:spcPct val="95000"/>
              </a:lnSpc>
            </a:pPr>
            <a:r>
              <a:rPr sz="1400" b="1">
                <a:solidFill>
                  <a:srgbClr val="A32638"/>
                </a:solidFill>
              </a:rPr>
              <a:t>Zufälliger Schnitt, 80/20</a:t>
            </a:r>
          </a:p>
          <a:p>
            <a:pPr algn="l">
              <a:lnSpc>
                <a:spcPct val="95000"/>
              </a:lnSpc>
              <a:spcBef>
                <a:spcPts val="300"/>
              </a:spcBef>
            </a:pPr>
            <a:r>
              <a:rPr sz="1300" b="0">
                <a:solidFill>
                  <a:srgbClr val="404040"/>
                </a:solidFill>
              </a:rPr>
              <a:t>Die Frage lautet: Wie lange</a:t>
            </a:r>
          </a:p>
          <a:p>
            <a:pPr algn="l">
              <a:lnSpc>
                <a:spcPct val="95000"/>
              </a:lnSpc>
              <a:spcBef>
                <a:spcPts val="300"/>
              </a:spcBef>
            </a:pPr>
            <a:r>
              <a:rPr sz="1300" b="0">
                <a:solidFill>
                  <a:srgbClr val="404040"/>
                </a:solidFill>
              </a:rPr>
              <a:t>dauert DIESE Fahrt?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Es wird nichts über die Zukunft</a:t>
            </a:r>
          </a:p>
          <a:p>
            <a:pPr algn="l">
              <a:lnSpc>
                <a:spcPct val="95000"/>
              </a:lnSpc>
              <a:spcBef>
                <a:spcPts val="300"/>
              </a:spcBef>
            </a:pPr>
            <a:r>
              <a:rPr sz="1300" b="0">
                <a:solidFill>
                  <a:srgbClr val="404040"/>
                </a:solidFill>
              </a:rPr>
              <a:t>ausgesagt, sondern über eine</a:t>
            </a:r>
          </a:p>
          <a:p>
            <a:pPr algn="l">
              <a:lnSpc>
                <a:spcPct val="95000"/>
              </a:lnSpc>
              <a:spcBef>
                <a:spcPts val="300"/>
              </a:spcBef>
            </a:pPr>
            <a:r>
              <a:rPr sz="1300" b="0">
                <a:solidFill>
                  <a:srgbClr val="404040"/>
                </a:solidFill>
              </a:rPr>
              <a:t>einzelne Fahrt mit bekannten</a:t>
            </a:r>
          </a:p>
          <a:p>
            <a:pPr algn="l">
              <a:lnSpc>
                <a:spcPct val="95000"/>
              </a:lnSpc>
              <a:spcBef>
                <a:spcPts val="300"/>
              </a:spcBef>
            </a:pPr>
            <a:r>
              <a:rPr sz="1300" b="0">
                <a:solidFill>
                  <a:srgbClr val="404040"/>
                </a:solidFill>
              </a:rPr>
              <a:t>Umständen. Zufällig ist zulässig.</a:t>
            </a:r>
          </a:p>
        </p:txBody>
      </p:sp>
      <p:sp>
        <p:nvSpPr>
          <p:cNvPr id="9" name="Rectangle 8"/>
          <p:cNvSpPr/>
          <p:nvPr/>
        </p:nvSpPr>
        <p:spPr>
          <a:xfrm>
            <a:off x="7096759" y="1346200"/>
            <a:ext cx="5524500" cy="2743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In Fall 2 und 4</a:t>
            </a:r>
          </a:p>
        </p:txBody>
      </p:sp>
      <p:sp>
        <p:nvSpPr>
          <p:cNvPr id="12" name="TextBox 11"/>
          <p:cNvSpPr txBox="1"/>
          <p:nvPr/>
        </p:nvSpPr>
        <p:spPr>
          <a:xfrm>
            <a:off x="7274559" y="1854200"/>
            <a:ext cx="5194300" cy="2108200"/>
          </a:xfrm>
          <a:prstGeom prst="rect">
            <a:avLst/>
          </a:prstGeom>
          <a:noFill/>
        </p:spPr>
        <p:txBody>
          <a:bodyPr wrap="square" lIns="0" tIns="0" rIns="0" bIns="0">
            <a:spAutoFit/>
          </a:bodyPr>
          <a:lstStyle/>
          <a:p>
            <a:pPr algn="l">
              <a:lnSpc>
                <a:spcPct val="95000"/>
              </a:lnSpc>
            </a:pPr>
            <a:r>
              <a:rPr sz="1400" b="1">
                <a:solidFill>
                  <a:srgbClr val="55801C"/>
                </a:solidFill>
              </a:rPr>
              <a:t>Schnitt entlang der Zeit</a:t>
            </a:r>
          </a:p>
          <a:p>
            <a:pPr algn="l">
              <a:lnSpc>
                <a:spcPct val="95000"/>
              </a:lnSpc>
              <a:spcBef>
                <a:spcPts val="300"/>
              </a:spcBef>
            </a:pPr>
            <a:r>
              <a:rPr sz="1300" b="0">
                <a:solidFill>
                  <a:srgbClr val="404040"/>
                </a:solidFill>
              </a:rPr>
              <a:t>Dort lautet die Frage: Was</a:t>
            </a:r>
          </a:p>
          <a:p>
            <a:pPr algn="l">
              <a:lnSpc>
                <a:spcPct val="95000"/>
              </a:lnSpc>
              <a:spcBef>
                <a:spcPts val="300"/>
              </a:spcBef>
            </a:pPr>
            <a:r>
              <a:rPr sz="1300" b="0">
                <a:solidFill>
                  <a:srgbClr val="404040"/>
                </a:solidFill>
              </a:rPr>
              <a:t>passiert MORGEN?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zufälliger Schnitt ließe das</a:t>
            </a:r>
          </a:p>
          <a:p>
            <a:pPr algn="l">
              <a:lnSpc>
                <a:spcPct val="95000"/>
              </a:lnSpc>
              <a:spcBef>
                <a:spcPts val="300"/>
              </a:spcBef>
            </a:pPr>
            <a:r>
              <a:rPr sz="1300" b="0">
                <a:solidFill>
                  <a:srgbClr val="404040"/>
                </a:solidFill>
              </a:rPr>
              <a:t>Modell aus der Zukunft lernen.</a:t>
            </a:r>
          </a:p>
          <a:p>
            <a:pPr algn="l">
              <a:lnSpc>
                <a:spcPct val="95000"/>
              </a:lnSpc>
              <a:spcBef>
                <a:spcPts val="300"/>
              </a:spcBef>
            </a:pPr>
            <a:r>
              <a:rPr sz="1300" b="0">
                <a:solidFill>
                  <a:srgbClr val="404040"/>
                </a:solidFill>
              </a:rPr>
              <a:t>Das Ergebnis wäre glänzend</a:t>
            </a:r>
          </a:p>
          <a:p>
            <a:pPr algn="l">
              <a:lnSpc>
                <a:spcPct val="95000"/>
              </a:lnSpc>
              <a:spcBef>
                <a:spcPts val="300"/>
              </a:spcBef>
            </a:pPr>
            <a:r>
              <a:rPr sz="1300" b="0">
                <a:solidFill>
                  <a:srgbClr val="404040"/>
                </a:solidFill>
              </a:rPr>
              <a:t>und wertlos.</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Zuerst das Nullmodell — sonst weiß man nicht, was man gewonnen hat</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Nullmodell tippt immer den Mittelwert. Es ist absichtlich dumm. Seine Zahl ist der Maßstab, an dem alles andere gemessen wird.</a:t>
            </a:r>
          </a:p>
        </p:txBody>
      </p:sp>
      <p:sp>
        <p:nvSpPr>
          <p:cNvPr id="6" name="Rectangle 5"/>
          <p:cNvSpPr/>
          <p:nvPr/>
        </p:nvSpPr>
        <p:spPr>
          <a:xfrm>
            <a:off x="1153160" y="1879600"/>
            <a:ext cx="381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Modell</a:t>
            </a:r>
          </a:p>
        </p:txBody>
      </p:sp>
      <p:sp>
        <p:nvSpPr>
          <p:cNvPr id="7" name="Rectangle 6"/>
          <p:cNvSpPr/>
          <p:nvPr/>
        </p:nvSpPr>
        <p:spPr>
          <a:xfrm>
            <a:off x="4963160" y="1879600"/>
            <a:ext cx="127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a:t>
            </a:r>
          </a:p>
        </p:txBody>
      </p:sp>
      <p:sp>
        <p:nvSpPr>
          <p:cNvPr id="8" name="Rectangle 7"/>
          <p:cNvSpPr/>
          <p:nvPr/>
        </p:nvSpPr>
        <p:spPr>
          <a:xfrm>
            <a:off x="6233160" y="1879600"/>
            <a:ext cx="1143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R²</a:t>
            </a:r>
          </a:p>
        </p:txBody>
      </p:sp>
      <p:sp>
        <p:nvSpPr>
          <p:cNvPr id="9" name="Rectangle 8"/>
          <p:cNvSpPr/>
          <p:nvPr/>
        </p:nvSpPr>
        <p:spPr>
          <a:xfrm>
            <a:off x="7376159" y="1879600"/>
            <a:ext cx="5251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es bedeutet</a:t>
            </a:r>
          </a:p>
        </p:txBody>
      </p:sp>
      <p:sp>
        <p:nvSpPr>
          <p:cNvPr id="10" name="Rectangle 9"/>
          <p:cNvSpPr/>
          <p:nvPr/>
        </p:nvSpPr>
        <p:spPr>
          <a:xfrm>
            <a:off x="1153160" y="23876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 (immer der Mittelwert)</a:t>
            </a:r>
          </a:p>
        </p:txBody>
      </p:sp>
      <p:sp>
        <p:nvSpPr>
          <p:cNvPr id="11" name="Rectangle 10"/>
          <p:cNvSpPr/>
          <p:nvPr/>
        </p:nvSpPr>
        <p:spPr>
          <a:xfrm>
            <a:off x="4963160" y="2387600"/>
            <a:ext cx="127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11,58</a:t>
            </a:r>
          </a:p>
        </p:txBody>
      </p:sp>
      <p:sp>
        <p:nvSpPr>
          <p:cNvPr id="12" name="Rectangle 11"/>
          <p:cNvSpPr/>
          <p:nvPr/>
        </p:nvSpPr>
        <p:spPr>
          <a:xfrm>
            <a:off x="6233160" y="2387600"/>
            <a:ext cx="1143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−0,000</a:t>
            </a:r>
          </a:p>
        </p:txBody>
      </p:sp>
      <p:sp>
        <p:nvSpPr>
          <p:cNvPr id="13" name="Rectangle 12"/>
          <p:cNvSpPr/>
          <p:nvPr/>
        </p:nvSpPr>
        <p:spPr>
          <a:xfrm>
            <a:off x="7376159" y="2387600"/>
            <a:ext cx="5251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Maßstab</a:t>
            </a:r>
          </a:p>
        </p:txBody>
      </p:sp>
      <p:sp>
        <p:nvSpPr>
          <p:cNvPr id="14" name="Rectangle 13"/>
          <p:cNvSpPr/>
          <p:nvPr/>
        </p:nvSpPr>
        <p:spPr>
          <a:xfrm>
            <a:off x="1153160" y="28956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5" name="Rectangle 14"/>
          <p:cNvSpPr/>
          <p:nvPr/>
        </p:nvSpPr>
        <p:spPr>
          <a:xfrm>
            <a:off x="4963160" y="2895600"/>
            <a:ext cx="127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5,93</a:t>
            </a:r>
          </a:p>
        </p:txBody>
      </p:sp>
      <p:sp>
        <p:nvSpPr>
          <p:cNvPr id="16" name="Rectangle 15"/>
          <p:cNvSpPr/>
          <p:nvPr/>
        </p:nvSpPr>
        <p:spPr>
          <a:xfrm>
            <a:off x="6233160" y="2895600"/>
            <a:ext cx="1143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0,655</a:t>
            </a:r>
          </a:p>
        </p:txBody>
      </p:sp>
      <p:sp>
        <p:nvSpPr>
          <p:cNvPr id="17" name="Rectangle 16"/>
          <p:cNvSpPr/>
          <p:nvPr/>
        </p:nvSpPr>
        <p:spPr>
          <a:xfrm>
            <a:off x="7376159" y="2895600"/>
            <a:ext cx="5251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Hälfte des Fehlers weg</a:t>
            </a:r>
          </a:p>
        </p:txBody>
      </p:sp>
      <p:sp>
        <p:nvSpPr>
          <p:cNvPr id="18" name="Rectangle 17"/>
          <p:cNvSpPr/>
          <p:nvPr/>
        </p:nvSpPr>
        <p:spPr>
          <a:xfrm>
            <a:off x="1153160" y="34036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Entscheidungsbaum (Tiefe 8)</a:t>
            </a:r>
          </a:p>
        </p:txBody>
      </p:sp>
      <p:sp>
        <p:nvSpPr>
          <p:cNvPr id="19" name="Rectangle 18"/>
          <p:cNvSpPr/>
          <p:nvPr/>
        </p:nvSpPr>
        <p:spPr>
          <a:xfrm>
            <a:off x="4963160" y="3403600"/>
            <a:ext cx="127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4,88</a:t>
            </a:r>
          </a:p>
        </p:txBody>
      </p:sp>
      <p:sp>
        <p:nvSpPr>
          <p:cNvPr id="20" name="Rectangle 19"/>
          <p:cNvSpPr/>
          <p:nvPr/>
        </p:nvSpPr>
        <p:spPr>
          <a:xfrm>
            <a:off x="6233160" y="3403600"/>
            <a:ext cx="1143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0,729</a:t>
            </a:r>
          </a:p>
        </p:txBody>
      </p:sp>
      <p:sp>
        <p:nvSpPr>
          <p:cNvPr id="21" name="Rectangle 20"/>
          <p:cNvSpPr/>
          <p:nvPr/>
        </p:nvSpPr>
        <p:spPr>
          <a:xfrm>
            <a:off x="7376159" y="3403600"/>
            <a:ext cx="5251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nichtlineare Zusammenhänge</a:t>
            </a:r>
          </a:p>
        </p:txBody>
      </p:sp>
      <p:sp>
        <p:nvSpPr>
          <p:cNvPr id="22" name="Rectangle 21"/>
          <p:cNvSpPr/>
          <p:nvPr/>
        </p:nvSpPr>
        <p:spPr>
          <a:xfrm>
            <a:off x="1153160" y="39116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 (200 Bäume)</a:t>
            </a:r>
          </a:p>
        </p:txBody>
      </p:sp>
      <p:sp>
        <p:nvSpPr>
          <p:cNvPr id="23" name="Rectangle 22"/>
          <p:cNvSpPr/>
          <p:nvPr/>
        </p:nvSpPr>
        <p:spPr>
          <a:xfrm>
            <a:off x="4963160" y="3911600"/>
            <a:ext cx="127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4,58</a:t>
            </a:r>
          </a:p>
        </p:txBody>
      </p:sp>
      <p:sp>
        <p:nvSpPr>
          <p:cNvPr id="24" name="Rectangle 23"/>
          <p:cNvSpPr/>
          <p:nvPr/>
        </p:nvSpPr>
        <p:spPr>
          <a:xfrm>
            <a:off x="6233160" y="3911600"/>
            <a:ext cx="1143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0,754</a:t>
            </a:r>
          </a:p>
        </p:txBody>
      </p:sp>
      <p:sp>
        <p:nvSpPr>
          <p:cNvPr id="25" name="Rectangle 24"/>
          <p:cNvSpPr/>
          <p:nvPr/>
        </p:nvSpPr>
        <p:spPr>
          <a:xfrm>
            <a:off x="7376159" y="3911600"/>
            <a:ext cx="5251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beste — 60,4 % besser als null</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4" name="Rectangle 3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6" name="Rectangle 3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Modellvergleich, wie er im Notebook steht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analytics/notebooks/01_Regression_Fahrtdauer.ipynb · Abschnitt 4.3</a:t>
            </a:r>
          </a:p>
        </p:txBody>
      </p:sp>
      <p:sp>
        <p:nvSpPr>
          <p:cNvPr id="5" name="Rectangle 4"/>
          <p:cNvSpPr/>
          <p:nvPr/>
        </p:nvSpPr>
        <p:spPr>
          <a:xfrm>
            <a:off x="3696977" y="1168400"/>
            <a:ext cx="6386814"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modelle.png"/>
          <p:cNvPicPr>
            <a:picLocks noChangeAspect="1"/>
          </p:cNvPicPr>
          <p:nvPr/>
        </p:nvPicPr>
        <p:blipFill>
          <a:blip r:embed="rId2"/>
          <a:stretch>
            <a:fillRect/>
          </a:stretch>
        </p:blipFill>
        <p:spPr>
          <a:xfrm>
            <a:off x="3798577" y="1270000"/>
            <a:ext cx="6183614"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Vier Zeilen, von oben nach unten immer besser — und die oberste ist absichtlich dumm.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Durchschaubaren zum Stärkeren, nicht umgekehrt</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ounded Rectangle 4"/>
          <p:cNvSpPr/>
          <p:nvPr/>
        </p:nvSpPr>
        <p:spPr>
          <a:xfrm>
            <a:off x="1153160" y="1473200"/>
            <a:ext cx="1651000" cy="11430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Null-
modell</a:t>
            </a:r>
          </a:p>
        </p:txBody>
      </p:sp>
      <p:sp>
        <p:nvSpPr>
          <p:cNvPr id="6" name="Pentagon 5"/>
          <p:cNvSpPr/>
          <p:nvPr/>
        </p:nvSpPr>
        <p:spPr>
          <a:xfrm>
            <a:off x="2880360" y="1473200"/>
            <a:ext cx="2622550" cy="11430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Lineare
Regression</a:t>
            </a:r>
          </a:p>
        </p:txBody>
      </p:sp>
      <p:sp>
        <p:nvSpPr>
          <p:cNvPr id="7" name="Pentagon 6"/>
          <p:cNvSpPr/>
          <p:nvPr/>
        </p:nvSpPr>
        <p:spPr>
          <a:xfrm>
            <a:off x="5579110" y="1473200"/>
            <a:ext cx="2622550" cy="11430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Entscheidungs-
baum</a:t>
            </a:r>
          </a:p>
        </p:txBody>
      </p:sp>
      <p:sp>
        <p:nvSpPr>
          <p:cNvPr id="8" name="Pentagon 7"/>
          <p:cNvSpPr/>
          <p:nvPr/>
        </p:nvSpPr>
        <p:spPr>
          <a:xfrm>
            <a:off x="8277859" y="1473200"/>
            <a:ext cx="2622550" cy="11430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Random
Forest</a:t>
            </a:r>
          </a:p>
        </p:txBody>
      </p:sp>
      <p:sp>
        <p:nvSpPr>
          <p:cNvPr id="9" name="Rounded Rectangle 8"/>
          <p:cNvSpPr/>
          <p:nvPr/>
        </p:nvSpPr>
        <p:spPr>
          <a:xfrm>
            <a:off x="10976610" y="1473200"/>
            <a:ext cx="1651000" cy="11430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Bestes
Modell</a:t>
            </a:r>
          </a:p>
        </p:txBody>
      </p:sp>
      <p:sp>
        <p:nvSpPr>
          <p:cNvPr id="10" name="Rectangle 9"/>
          <p:cNvSpPr/>
          <p:nvPr/>
        </p:nvSpPr>
        <p:spPr>
          <a:xfrm>
            <a:off x="1153160" y="2921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921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3048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diese Reihenfolge</a:t>
            </a:r>
          </a:p>
          <a:p>
            <a:pPr algn="l">
              <a:lnSpc>
                <a:spcPct val="95000"/>
              </a:lnSpc>
              <a:spcBef>
                <a:spcPts val="500"/>
              </a:spcBef>
            </a:pPr>
            <a:r>
              <a:rPr sz="1300" b="0">
                <a:solidFill>
                  <a:srgbClr val="404040"/>
                </a:solidFill>
              </a:rPr>
              <a:t>Die lineare Regression liefert Koeffizienten, die man LESEN kann — „Wochenende: +8,8 Minuten“.</a:t>
            </a:r>
          </a:p>
          <a:p>
            <a:pPr algn="l">
              <a:lnSpc>
                <a:spcPct val="95000"/>
              </a:lnSpc>
              <a:spcBef>
                <a:spcPts val="500"/>
              </a:spcBef>
            </a:pPr>
            <a:r>
              <a:rPr sz="1300" b="0">
                <a:solidFill>
                  <a:srgbClr val="404040"/>
                </a:solidFill>
              </a:rPr>
              <a:t>Der Wald ist stärker, aber stumm. Wer mit ihm anfängt, verliert die Möglichkeit zu prüfen, ob das Modell fachlich Sinn ergibt.</a:t>
            </a:r>
          </a:p>
          <a:p>
            <a:pPr algn="l">
              <a:lnSpc>
                <a:spcPct val="95000"/>
              </a:lnSpc>
              <a:spcBef>
                <a:spcPts val="500"/>
              </a:spcBef>
            </a:pPr>
            <a:r>
              <a:rPr sz="1300" b="0">
                <a:solidFill>
                  <a:srgbClr val="404040"/>
                </a:solidFill>
              </a:rPr>
              <a:t>Und wenn der Abstand klein bleibt, gewinnt das einfachere Modell — siehe Fall 2, wo genau das passiert.</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Koeffizienten verraten — und warum man sie ansieht</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lineare Regression ist hier nicht das beste Modell. Sie ist das Modell, das erklärt, was in den Daten steckt.</a:t>
            </a:r>
          </a:p>
        </p:txBody>
      </p:sp>
      <p:sp>
        <p:nvSpPr>
          <p:cNvPr id="6" name="Rectangle 5"/>
          <p:cNvSpPr/>
          <p:nvPr/>
        </p:nvSpPr>
        <p:spPr>
          <a:xfrm>
            <a:off x="1153160" y="16510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286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057400"/>
          </a:xfrm>
          <a:prstGeom prst="rect">
            <a:avLst/>
          </a:prstGeom>
          <a:noFill/>
        </p:spPr>
        <p:txBody>
          <a:bodyPr wrap="square" lIns="0" tIns="0" rIns="0" bIns="0">
            <a:spAutoFit/>
          </a:bodyPr>
          <a:lstStyle/>
          <a:p>
            <a:pPr algn="l">
              <a:lnSpc>
                <a:spcPct val="95000"/>
              </a:lnSpc>
            </a:pPr>
            <a:r>
              <a:rPr sz="1400" b="1">
                <a:solidFill>
                  <a:srgbClr val="55801C"/>
                </a:solidFill>
              </a:rPr>
              <a:t>Die stärksten Verlängerer</a:t>
            </a:r>
          </a:p>
          <a:p>
            <a:pPr algn="l">
              <a:lnSpc>
                <a:spcPct val="95000"/>
              </a:lnSpc>
              <a:spcBef>
                <a:spcPts val="200"/>
              </a:spcBef>
            </a:pPr>
            <a:r>
              <a:rPr sz="1300" b="0">
                <a:solidFill>
                  <a:srgbClr val="404040"/>
                </a:solidFill>
                <a:latin typeface="Consolas"/>
              </a:rPr>
              <a:t>ist_wochenende        +8.78</a:t>
            </a:r>
          </a:p>
          <a:p>
            <a:pPr algn="l">
              <a:lnSpc>
                <a:spcPct val="95000"/>
              </a:lnSpc>
              <a:spcBef>
                <a:spcPts val="200"/>
              </a:spcBef>
            </a:pPr>
            <a:r>
              <a:rPr sz="1300" b="0">
                <a:solidFill>
                  <a:srgbClr val="404040"/>
                </a:solidFill>
                <a:latin typeface="Consolas"/>
              </a:rPr>
              <a:t>startstation_Residenz +8.55</a:t>
            </a:r>
          </a:p>
          <a:p>
            <a:pPr algn="l">
              <a:lnSpc>
                <a:spcPct val="95000"/>
              </a:lnSpc>
              <a:spcBef>
                <a:spcPts val="200"/>
              </a:spcBef>
            </a:pPr>
            <a:r>
              <a:rPr sz="1300" b="0">
                <a:solidFill>
                  <a:srgbClr val="404040"/>
                </a:solidFill>
                <a:latin typeface="Consolas"/>
              </a:rPr>
              <a:t>ist_feiertag          +7.30</a:t>
            </a:r>
          </a:p>
          <a:p>
            <a:pPr algn="l">
              <a:lnSpc>
                <a:spcPct val="95000"/>
              </a:lnSpc>
              <a:spcBef>
                <a:spcPts val="200"/>
              </a:spcBef>
            </a:pPr>
            <a:r>
              <a:rPr sz="1300" b="0">
                <a:solidFill>
                  <a:srgbClr val="404040"/>
                </a:solidFill>
                <a:latin typeface="Consolas"/>
              </a:rPr>
              <a:t>startstation_Alte     +5.80</a:t>
            </a:r>
          </a:p>
          <a:p>
            <a:pPr algn="l">
              <a:lnSpc>
                <a:spcPct val="95000"/>
              </a:lnSpc>
              <a:spcBef>
                <a:spcPts val="200"/>
              </a:spcBef>
            </a:pPr>
            <a:r>
              <a:rPr sz="1300" b="0">
                <a:solidFill>
                  <a:srgbClr val="404040"/>
                </a:solidFill>
                <a:latin typeface="Consolas"/>
              </a:rPr>
              <a:t>  Mainbruecke</a:t>
            </a:r>
          </a:p>
        </p:txBody>
      </p:sp>
      <p:sp>
        <p:nvSpPr>
          <p:cNvPr id="9" name="Rectangle 8"/>
          <p:cNvSpPr/>
          <p:nvPr/>
        </p:nvSpPr>
        <p:spPr>
          <a:xfrm>
            <a:off x="7096759" y="16510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286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057400"/>
          </a:xfrm>
          <a:prstGeom prst="rect">
            <a:avLst/>
          </a:prstGeom>
          <a:noFill/>
        </p:spPr>
        <p:txBody>
          <a:bodyPr wrap="square" lIns="0" tIns="0" rIns="0" bIns="0">
            <a:spAutoFit/>
          </a:bodyPr>
          <a:lstStyle/>
          <a:p>
            <a:pPr algn="l">
              <a:lnSpc>
                <a:spcPct val="95000"/>
              </a:lnSpc>
            </a:pPr>
            <a:r>
              <a:rPr sz="1400" b="1">
                <a:solidFill>
                  <a:srgbClr val="A32638"/>
                </a:solidFill>
              </a:rPr>
              <a:t>Die stärksten Verkürzer</a:t>
            </a:r>
          </a:p>
          <a:p>
            <a:pPr algn="l">
              <a:lnSpc>
                <a:spcPct val="95000"/>
              </a:lnSpc>
              <a:spcBef>
                <a:spcPts val="200"/>
              </a:spcBef>
            </a:pPr>
            <a:r>
              <a:rPr sz="1300" b="0">
                <a:solidFill>
                  <a:srgbClr val="404040"/>
                </a:solidFill>
                <a:latin typeface="Consolas"/>
              </a:rPr>
              <a:t>startstation_Zellerau  -10.18</a:t>
            </a:r>
          </a:p>
          <a:p>
            <a:pPr algn="l">
              <a:lnSpc>
                <a:spcPct val="95000"/>
              </a:lnSpc>
              <a:spcBef>
                <a:spcPts val="200"/>
              </a:spcBef>
            </a:pPr>
            <a:r>
              <a:rPr sz="1300" b="0">
                <a:solidFill>
                  <a:srgbClr val="404040"/>
                </a:solidFill>
                <a:latin typeface="Consolas"/>
              </a:rPr>
              <a:t>startstation_Grombuehl  -5.42</a:t>
            </a:r>
          </a:p>
          <a:p>
            <a:pPr algn="l">
              <a:lnSpc>
                <a:spcPct val="95000"/>
              </a:lnSpc>
              <a:spcBef>
                <a:spcPts val="200"/>
              </a:spcBef>
            </a:pPr>
            <a:r>
              <a:rPr sz="1300" b="0">
                <a:solidFill>
                  <a:srgbClr val="404040"/>
                </a:solidFill>
                <a:latin typeface="Consolas"/>
              </a:rPr>
              <a:t>typ_code_EBIKE          -3.38</a:t>
            </a:r>
          </a:p>
          <a:p>
            <a:pPr algn="l">
              <a:lnSpc>
                <a:spcPct val="95000"/>
              </a:lnSpc>
              <a:spcBef>
                <a:spcPts val="200"/>
              </a:spcBef>
            </a:pPr>
            <a:r>
              <a:rPr sz="1300" b="0">
                <a:solidFill>
                  <a:srgbClr val="404040"/>
                </a:solidFill>
                <a:latin typeface="Consolas"/>
              </a:rPr>
              <a:t>startstation_Sanderring -3.35</a:t>
            </a:r>
          </a:p>
          <a:p>
            <a:pPr algn="l">
              <a:lnSpc>
                <a:spcPct val="95000"/>
              </a:lnSpc>
              <a:spcBef>
                <a:spcPts val="200"/>
              </a:spcBef>
            </a:pPr>
            <a:r>
              <a:rPr sz="1300" b="0">
                <a:solidFill>
                  <a:srgbClr val="404040"/>
                </a:solidFill>
                <a:latin typeface="Consolas"/>
              </a:rPr>
              <a:t>startstation_Marktplatz -3.05</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technische Güte ist gut. Die Frage ist, ob sie reicht.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MAE 4,58 Minuten, 60 Prozent besser als das Nullmodell. Ein zufriedenes Nicken — und genau hier hören die meisten Projekte auf.</a:t>
            </a:r>
          </a:p>
        </p:txBody>
      </p:sp>
      <p:sp>
        <p:nvSpPr>
          <p:cNvPr id="6" name="Rectangle 5"/>
          <p:cNvSpPr/>
          <p:nvPr/>
        </p:nvSpPr>
        <p:spPr>
          <a:xfrm>
            <a:off x="1153160" y="1879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2006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Was jetzt kommt, ist der entscheidende Schritt</a:t>
            </a:r>
          </a:p>
          <a:p>
            <a:pPr algn="l">
              <a:lnSpc>
                <a:spcPct val="95000"/>
              </a:lnSpc>
              <a:spcBef>
                <a:spcPts val="500"/>
              </a:spcBef>
            </a:pPr>
            <a:r>
              <a:rPr sz="1300" b="0">
                <a:solidFill>
                  <a:srgbClr val="404040"/>
                </a:solidFill>
              </a:rPr>
              <a:t>Die 4,58 Minuten müssen in die Währung der Phase 1 übersetzt werden: in Euro.</a:t>
            </a:r>
          </a:p>
          <a:p>
            <a:pPr algn="l">
              <a:lnSpc>
                <a:spcPct val="95000"/>
              </a:lnSpc>
              <a:spcBef>
                <a:spcPts val="500"/>
              </a:spcBef>
            </a:pPr>
            <a:r>
              <a:rPr sz="1300" b="0">
                <a:solidFill>
                  <a:srgbClr val="404040"/>
                </a:solidFill>
              </a:rPr>
              <a:t>Minuten × Minutenpreis = Preisfehler. Und der Minutenpreis ist je Radtyp verschieden.</a:t>
            </a:r>
          </a:p>
          <a:p>
            <a:pPr algn="l">
              <a:lnSpc>
                <a:spcPct val="95000"/>
              </a:lnSpc>
              <a:spcBef>
                <a:spcPts val="500"/>
              </a:spcBef>
            </a:pPr>
            <a:r>
              <a:rPr sz="1300" b="0">
                <a:solidFill>
                  <a:srgbClr val="404040"/>
                </a:solidFill>
              </a:rPr>
              <a:t>Erst diese Umrechnung beantwortet die Frage, die tatsächlich gestellt war.</a:t>
            </a:r>
          </a:p>
        </p:txBody>
      </p:sp>
      <p:sp>
        <p:nvSpPr>
          <p:cNvPr id="9" name="Rectangle 8"/>
          <p:cNvSpPr/>
          <p:nvPr/>
        </p:nvSpPr>
        <p:spPr>
          <a:xfrm>
            <a:off x="1153160" y="3530600"/>
            <a:ext cx="3048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Blickwinkel</a:t>
            </a:r>
          </a:p>
        </p:txBody>
      </p:sp>
      <p:sp>
        <p:nvSpPr>
          <p:cNvPr id="10" name="Rectangle 9"/>
          <p:cNvSpPr/>
          <p:nvPr/>
        </p:nvSpPr>
        <p:spPr>
          <a:xfrm>
            <a:off x="4201160" y="3530600"/>
            <a:ext cx="4318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11" name="Rectangle 10"/>
          <p:cNvSpPr/>
          <p:nvPr/>
        </p:nvSpPr>
        <p:spPr>
          <a:xfrm>
            <a:off x="8519160" y="3530600"/>
            <a:ext cx="410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Urteil</a:t>
            </a:r>
          </a:p>
        </p:txBody>
      </p:sp>
      <p:sp>
        <p:nvSpPr>
          <p:cNvPr id="12" name="Rectangle 11"/>
          <p:cNvSpPr/>
          <p:nvPr/>
        </p:nvSpPr>
        <p:spPr>
          <a:xfrm>
            <a:off x="1153160" y="4089400"/>
            <a:ext cx="3048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Über alle Räder gemittelt</a:t>
            </a:r>
          </a:p>
        </p:txBody>
      </p:sp>
      <p:sp>
        <p:nvSpPr>
          <p:cNvPr id="13" name="Rectangle 12"/>
          <p:cNvSpPr/>
          <p:nvPr/>
        </p:nvSpPr>
        <p:spPr>
          <a:xfrm>
            <a:off x="4201160" y="4089400"/>
            <a:ext cx="4318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0,91 € Preisfehler</a:t>
            </a:r>
          </a:p>
        </p:txBody>
      </p:sp>
      <p:sp>
        <p:nvSpPr>
          <p:cNvPr id="14" name="Rectangle 13"/>
          <p:cNvSpPr/>
          <p:nvPr/>
        </p:nvSpPr>
        <p:spPr>
          <a:xfrm>
            <a:off x="8519160" y="4089400"/>
            <a:ext cx="410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Kriterium gerissen</a:t>
            </a:r>
          </a:p>
        </p:txBody>
      </p:sp>
      <p:sp>
        <p:nvSpPr>
          <p:cNvPr id="15" name="Rectangle 14"/>
          <p:cNvSpPr/>
          <p:nvPr/>
        </p:nvSpPr>
        <p:spPr>
          <a:xfrm>
            <a:off x="1153160" y="4648200"/>
            <a:ext cx="3048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Getrennt nach Radtyp</a:t>
            </a:r>
          </a:p>
        </p:txBody>
      </p:sp>
      <p:sp>
        <p:nvSpPr>
          <p:cNvPr id="16" name="Rectangle 15"/>
          <p:cNvSpPr/>
          <p:nvPr/>
        </p:nvSpPr>
        <p:spPr>
          <a:xfrm>
            <a:off x="4201160" y="4648200"/>
            <a:ext cx="4318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CITY 0,464 € · EBIKE 1,01 € · CARGO 3,09 €</a:t>
            </a:r>
          </a:p>
        </p:txBody>
      </p:sp>
      <p:sp>
        <p:nvSpPr>
          <p:cNvPr id="17" name="Rectangle 16"/>
          <p:cNvSpPr/>
          <p:nvPr/>
        </p:nvSpPr>
        <p:spPr>
          <a:xfrm>
            <a:off x="8519160" y="4648200"/>
            <a:ext cx="410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einer besteht, zwei nicht</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entscheidende Rechnung: Minuten werden zu Euro</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5.2</a:t>
            </a:r>
          </a:p>
        </p:txBody>
      </p:sp>
      <p:sp>
        <p:nvSpPr>
          <p:cNvPr id="5" name="Rectangle 4"/>
          <p:cNvSpPr/>
          <p:nvPr/>
        </p:nvSpPr>
        <p:spPr>
          <a:xfrm>
            <a:off x="1992357" y="1168400"/>
            <a:ext cx="9796055"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preisfehler.png"/>
          <p:cNvPicPr>
            <a:picLocks noChangeAspect="1"/>
          </p:cNvPicPr>
          <p:nvPr/>
        </p:nvPicPr>
        <p:blipFill>
          <a:blip r:embed="rId2"/>
          <a:stretch>
            <a:fillRect/>
          </a:stretch>
        </p:blipFill>
        <p:spPr>
          <a:xfrm>
            <a:off x="2093957" y="1270000"/>
            <a:ext cx="9592855"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Hier kippt das Projekt — und zwar nicht in der Statistik, sondern in der Umrechnung ins Preisblatt.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gemittelte Kennzahl hat ein bestehendes Drittel verdeckt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 ist der wichtigste Satz des ganzen Falls — und er hat nichts mit Statistik zu tun, sondern mit dem Preisblatt.</a:t>
            </a:r>
          </a:p>
        </p:txBody>
      </p:sp>
      <p:sp>
        <p:nvSpPr>
          <p:cNvPr id="6" name="TextBox 5"/>
          <p:cNvSpPr txBox="1"/>
          <p:nvPr/>
        </p:nvSpPr>
        <p:spPr>
          <a:xfrm>
            <a:off x="5140960" y="16510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unter 0,50 €</a:t>
            </a:r>
          </a:p>
        </p:txBody>
      </p:sp>
      <p:sp>
        <p:nvSpPr>
          <p:cNvPr id="7" name="Rectangle 6"/>
          <p:cNvSpPr/>
          <p:nvPr/>
        </p:nvSpPr>
        <p:spPr>
          <a:xfrm>
            <a:off x="1153160" y="19812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19812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044700"/>
            <a:ext cx="3556000" cy="482600"/>
          </a:xfrm>
          <a:prstGeom prst="rect">
            <a:avLst/>
          </a:prstGeom>
          <a:noFill/>
        </p:spPr>
        <p:txBody>
          <a:bodyPr wrap="square" lIns="0" tIns="0" rIns="0" bIns="0" anchor="ctr">
            <a:spAutoFit/>
          </a:bodyPr>
          <a:lstStyle/>
          <a:p>
            <a:pPr algn="l">
              <a:lnSpc>
                <a:spcPct val="95000"/>
              </a:lnSpc>
            </a:pPr>
            <a:r>
              <a:rPr sz="1300" b="1">
                <a:solidFill>
                  <a:srgbClr val="003E6E"/>
                </a:solidFill>
              </a:rPr>
              <a:t>CITY — 0,464 € Preisfehler</a:t>
            </a:r>
          </a:p>
        </p:txBody>
      </p:sp>
      <p:sp>
        <p:nvSpPr>
          <p:cNvPr id="10" name="Rounded Rectangle 9"/>
          <p:cNvSpPr/>
          <p:nvPr/>
        </p:nvSpPr>
        <p:spPr>
          <a:xfrm>
            <a:off x="5140960" y="2108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512559" y="2044700"/>
            <a:ext cx="5988050" cy="482600"/>
          </a:xfrm>
          <a:prstGeom prst="rect">
            <a:avLst/>
          </a:prstGeom>
          <a:noFill/>
        </p:spPr>
        <p:txBody>
          <a:bodyPr wrap="square" lIns="0" tIns="0" rIns="0" bIns="0" anchor="ctr">
            <a:spAutoFit/>
          </a:bodyPr>
          <a:lstStyle/>
          <a:p>
            <a:pPr algn="l">
              <a:lnSpc>
                <a:spcPct val="95000"/>
              </a:lnSpc>
            </a:pPr>
            <a:r>
              <a:rPr sz="1300" b="0">
                <a:solidFill>
                  <a:srgbClr val="555148"/>
                </a:solidFill>
              </a:rPr>
              <a:t>Freigabe. Betrifft rund 53 % aller Fahrten</a:t>
            </a:r>
          </a:p>
        </p:txBody>
      </p:sp>
      <p:sp>
        <p:nvSpPr>
          <p:cNvPr id="12" name="Rectangle 11"/>
          <p:cNvSpPr/>
          <p:nvPr/>
        </p:nvSpPr>
        <p:spPr>
          <a:xfrm>
            <a:off x="1153160" y="2692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692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755900"/>
            <a:ext cx="3556000" cy="482600"/>
          </a:xfrm>
          <a:prstGeom prst="rect">
            <a:avLst/>
          </a:prstGeom>
          <a:noFill/>
        </p:spPr>
        <p:txBody>
          <a:bodyPr wrap="square" lIns="0" tIns="0" rIns="0" bIns="0" anchor="ctr">
            <a:spAutoFit/>
          </a:bodyPr>
          <a:lstStyle/>
          <a:p>
            <a:pPr algn="l">
              <a:lnSpc>
                <a:spcPct val="95000"/>
              </a:lnSpc>
            </a:pPr>
            <a:r>
              <a:rPr sz="1300" b="1">
                <a:solidFill>
                  <a:srgbClr val="003E6E"/>
                </a:solidFill>
              </a:rPr>
              <a:t>EBIKE — 1,01 € Preisfehler</a:t>
            </a:r>
          </a:p>
        </p:txBody>
      </p:sp>
      <p:sp>
        <p:nvSpPr>
          <p:cNvPr id="15" name="Rounded Rectangle 14"/>
          <p:cNvSpPr/>
          <p:nvPr/>
        </p:nvSpPr>
        <p:spPr>
          <a:xfrm>
            <a:off x="5140960" y="28194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512559" y="2755900"/>
            <a:ext cx="5988050" cy="482600"/>
          </a:xfrm>
          <a:prstGeom prst="rect">
            <a:avLst/>
          </a:prstGeom>
          <a:noFill/>
        </p:spPr>
        <p:txBody>
          <a:bodyPr wrap="square" lIns="0" tIns="0" rIns="0" bIns="0" anchor="ctr">
            <a:spAutoFit/>
          </a:bodyPr>
          <a:lstStyle/>
          <a:p>
            <a:pPr algn="l">
              <a:lnSpc>
                <a:spcPct val="95000"/>
              </a:lnSpc>
            </a:pPr>
            <a:r>
              <a:rPr sz="1300" b="0">
                <a:solidFill>
                  <a:srgbClr val="555148"/>
                </a:solidFill>
              </a:rPr>
              <a:t>Rücksprung. Mehr als doppelt so hoch wie erlaubt</a:t>
            </a:r>
          </a:p>
        </p:txBody>
      </p:sp>
      <p:sp>
        <p:nvSpPr>
          <p:cNvPr id="17" name="Rectangle 16"/>
          <p:cNvSpPr/>
          <p:nvPr/>
        </p:nvSpPr>
        <p:spPr>
          <a:xfrm>
            <a:off x="1153160" y="3403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403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467100"/>
            <a:ext cx="3556000" cy="482600"/>
          </a:xfrm>
          <a:prstGeom prst="rect">
            <a:avLst/>
          </a:prstGeom>
          <a:noFill/>
        </p:spPr>
        <p:txBody>
          <a:bodyPr wrap="square" lIns="0" tIns="0" rIns="0" bIns="0" anchor="ctr">
            <a:spAutoFit/>
          </a:bodyPr>
          <a:lstStyle/>
          <a:p>
            <a:pPr algn="l">
              <a:lnSpc>
                <a:spcPct val="95000"/>
              </a:lnSpc>
            </a:pPr>
            <a:r>
              <a:rPr sz="1300" b="1">
                <a:solidFill>
                  <a:srgbClr val="003E6E"/>
                </a:solidFill>
              </a:rPr>
              <a:t>CARGO — 3,09 € Preisfehler</a:t>
            </a:r>
          </a:p>
        </p:txBody>
      </p:sp>
      <p:sp>
        <p:nvSpPr>
          <p:cNvPr id="20" name="Rounded Rectangle 19"/>
          <p:cNvSpPr/>
          <p:nvPr/>
        </p:nvSpPr>
        <p:spPr>
          <a:xfrm>
            <a:off x="5140960" y="3530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512559" y="3467100"/>
            <a:ext cx="5988050" cy="482600"/>
          </a:xfrm>
          <a:prstGeom prst="rect">
            <a:avLst/>
          </a:prstGeom>
          <a:noFill/>
        </p:spPr>
        <p:txBody>
          <a:bodyPr wrap="square" lIns="0" tIns="0" rIns="0" bIns="0" anchor="ctr">
            <a:spAutoFit/>
          </a:bodyPr>
          <a:lstStyle/>
          <a:p>
            <a:pPr algn="l">
              <a:lnSpc>
                <a:spcPct val="95000"/>
              </a:lnSpc>
            </a:pPr>
            <a:r>
              <a:rPr sz="1300" b="0">
                <a:solidFill>
                  <a:srgbClr val="555148"/>
                </a:solidFill>
              </a:rPr>
              <a:t>Rücksprung. Die Punktschätzung ist hier die falsche Zusage</a:t>
            </a:r>
          </a:p>
        </p:txBody>
      </p:sp>
      <p:sp>
        <p:nvSpPr>
          <p:cNvPr id="22" name="Rectangle 21"/>
          <p:cNvSpPr/>
          <p:nvPr/>
        </p:nvSpPr>
        <p:spPr>
          <a:xfrm>
            <a:off x="1153160" y="4089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165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CITY betrifft rund 53 % aller Fahrten — der Nutzen ist real. Wer nur auf MAE und R² schaut, sieht das nie: Die technische Kennzahl ist für alle drei Radtypen dieselbe, das fachliche Urteil ist es nicht.</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irrt das Modell? — Fehleranalyse</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Nicht nur WIE gut, sondern WORAN es scheitert. Eine Kennzahl sagt das erste, nur der Blick auf die Fälle sagt das zweite.</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Lange Fahrten werden</a:t>
            </a:r>
          </a:p>
          <a:p>
            <a:pPr algn="l">
              <a:lnSpc>
                <a:spcPct val="95000"/>
              </a:lnSpc>
              <a:spcBef>
                <a:spcPts val="500"/>
              </a:spcBef>
            </a:pPr>
            <a:r>
              <a:rPr sz="1300" b="0">
                <a:solidFill>
                  <a:srgbClr val="404040"/>
                </a:solidFill>
              </a:rPr>
              <a:t>systematisch unterschätzt.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Modell zieht alles zur</a:t>
            </a:r>
          </a:p>
          <a:p>
            <a:pPr algn="l">
              <a:lnSpc>
                <a:spcPct val="95000"/>
              </a:lnSpc>
              <a:spcBef>
                <a:spcPts val="500"/>
              </a:spcBef>
            </a:pPr>
            <a:r>
              <a:rPr sz="1300" b="0">
                <a:solidFill>
                  <a:srgbClr val="404040"/>
                </a:solidFill>
              </a:rPr>
              <a:t>Mitte — eine Eigenschaft</a:t>
            </a:r>
          </a:p>
          <a:p>
            <a:pPr algn="l">
              <a:lnSpc>
                <a:spcPct val="95000"/>
              </a:lnSpc>
              <a:spcBef>
                <a:spcPts val="500"/>
              </a:spcBef>
            </a:pPr>
            <a:r>
              <a:rPr sz="1300" b="0">
                <a:solidFill>
                  <a:srgbClr val="404040"/>
                </a:solidFill>
              </a:rPr>
              <a:t>aller Mittelwertverfahren.</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Die Erklärung</a:t>
            </a:r>
          </a:p>
          <a:p>
            <a:pPr algn="l">
              <a:lnSpc>
                <a:spcPct val="95000"/>
              </a:lnSpc>
              <a:spcBef>
                <a:spcPts val="500"/>
              </a:spcBef>
            </a:pPr>
            <a:r>
              <a:rPr sz="1300" b="0">
                <a:solidFill>
                  <a:srgbClr val="404040"/>
                </a:solidFill>
              </a:rPr>
              <a:t>Die Zielgröße ist rechtsschief</a:t>
            </a:r>
          </a:p>
          <a:p>
            <a:pPr algn="l">
              <a:lnSpc>
                <a:spcPct val="95000"/>
              </a:lnSpc>
              <a:spcBef>
                <a:spcPts val="500"/>
              </a:spcBef>
            </a:pPr>
            <a:r>
              <a:rPr sz="1300" b="0">
                <a:solidFill>
                  <a:srgbClr val="404040"/>
                </a:solidFill>
              </a:rPr>
              <a:t>(Befund aus Phase 2).</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Was eine Fahrt lang macht,</a:t>
            </a:r>
          </a:p>
          <a:p>
            <a:pPr algn="l">
              <a:lnSpc>
                <a:spcPct val="95000"/>
              </a:lnSpc>
              <a:spcBef>
                <a:spcPts val="500"/>
              </a:spcBef>
            </a:pPr>
            <a:r>
              <a:rPr sz="1300" b="0">
                <a:solidFill>
                  <a:srgbClr val="404040"/>
                </a:solidFill>
              </a:rPr>
              <a:t>steht nicht in den Daten:</a:t>
            </a:r>
          </a:p>
          <a:p>
            <a:pPr algn="l">
              <a:lnSpc>
                <a:spcPct val="95000"/>
              </a:lnSpc>
              <a:spcBef>
                <a:spcPts val="500"/>
              </a:spcBef>
            </a:pPr>
            <a:r>
              <a:rPr sz="1300" b="0">
                <a:solidFill>
                  <a:srgbClr val="404040"/>
                </a:solidFill>
              </a:rPr>
              <a:t>Umwege, Pausen, Wetterwechsel.</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Für CARGO ist die</a:t>
            </a:r>
          </a:p>
          <a:p>
            <a:pPr algn="l">
              <a:lnSpc>
                <a:spcPct val="95000"/>
              </a:lnSpc>
              <a:spcBef>
                <a:spcPts val="500"/>
              </a:spcBef>
            </a:pPr>
            <a:r>
              <a:rPr sz="1300" b="0">
                <a:solidFill>
                  <a:srgbClr val="404040"/>
                </a:solidFill>
              </a:rPr>
              <a:t>Punktschätzung die falsche</a:t>
            </a:r>
          </a:p>
          <a:p>
            <a:pPr algn="l">
              <a:lnSpc>
                <a:spcPct val="95000"/>
              </a:lnSpc>
              <a:spcBef>
                <a:spcPts val="500"/>
              </a:spcBef>
            </a:pPr>
            <a:r>
              <a:rPr sz="1300" b="0">
                <a:solidFill>
                  <a:srgbClr val="404040"/>
                </a:solidFill>
              </a:rPr>
              <a:t>Zusage — nicht das falsche</a:t>
            </a:r>
          </a:p>
          <a:p>
            <a:pPr algn="l">
              <a:lnSpc>
                <a:spcPct val="95000"/>
              </a:lnSpc>
              <a:spcBef>
                <a:spcPts val="500"/>
              </a:spcBef>
            </a:pPr>
            <a:r>
              <a:rPr sz="1300" b="0">
                <a:solidFill>
                  <a:srgbClr val="404040"/>
                </a:solidFill>
              </a:rPr>
              <a:t>Modell.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führt zum Rücksprung.</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Urteil: weiter, zurück oder abbrechen</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CITY — weiter  </a:t>
            </a:r>
            <a:r>
              <a:rPr sz="1300">
                <a:solidFill>
                  <a:srgbClr val="404040"/>
                </a:solidFill>
              </a:rPr>
              <a:t>Kriterium erfüllt, Phase 6 für diesen Radtyp</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EBIKE — zurück  </a:t>
            </a:r>
            <a:r>
              <a:rPr sz="1300">
                <a:solidFill>
                  <a:srgbClr val="404040"/>
                </a:solidFill>
              </a:rPr>
              <a:t>1,01 € gegen 0,50 € — mehr als doppelt so hoch</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CARGO — zurück  </a:t>
            </a:r>
            <a:r>
              <a:rPr sz="1300">
                <a:solidFill>
                  <a:srgbClr val="404040"/>
                </a:solidFill>
              </a:rPr>
              <a:t>3,09 € — die Punktschätzung ist die falsche Zusage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Nicht: Schwelle senken  </a:t>
            </a:r>
            <a:r>
              <a:rPr sz="1300">
                <a:solidFill>
                  <a:srgbClr val="404040"/>
                </a:solidFill>
              </a:rPr>
              <a:t>Die Grenze kam aus dem Produktmanagement. Sie nachträglich zu lockern hieße, das Kriterium abzuschaffen</a:t>
            </a:r>
          </a:p>
        </p:txBody>
      </p:sp>
      <p:sp>
        <p:nvSpPr>
          <p:cNvPr id="21" name="Rectangle 20"/>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nicht das Modell ändern, die Frage ändern</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Wege zurück, jeder in eine andere Phase. So sieht ein Rücksprung konkret aus.</a:t>
            </a:r>
          </a:p>
        </p:txBody>
      </p:sp>
      <p:sp>
        <p:nvSpPr>
          <p:cNvPr id="6" name="Rectangle 5"/>
          <p:cNvSpPr/>
          <p:nvPr/>
        </p:nvSpPr>
        <p:spPr>
          <a:xfrm>
            <a:off x="1153160" y="1651000"/>
            <a:ext cx="1397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Zurück nach</a:t>
            </a:r>
          </a:p>
        </p:txBody>
      </p:sp>
      <p:sp>
        <p:nvSpPr>
          <p:cNvPr id="7" name="Rectangle 6"/>
          <p:cNvSpPr/>
          <p:nvPr/>
        </p:nvSpPr>
        <p:spPr>
          <a:xfrm>
            <a:off x="2550160" y="1651000"/>
            <a:ext cx="4191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sich ändert</a:t>
            </a:r>
          </a:p>
        </p:txBody>
      </p:sp>
      <p:sp>
        <p:nvSpPr>
          <p:cNvPr id="8" name="Rectangle 7"/>
          <p:cNvSpPr/>
          <p:nvPr/>
        </p:nvSpPr>
        <p:spPr>
          <a:xfrm>
            <a:off x="6741159" y="1651000"/>
            <a:ext cx="588645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387600"/>
            <a:ext cx="1397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Phase 1</a:t>
            </a:r>
          </a:p>
        </p:txBody>
      </p:sp>
      <p:sp>
        <p:nvSpPr>
          <p:cNvPr id="10" name="Rectangle 9"/>
          <p:cNvSpPr/>
          <p:nvPr/>
        </p:nvSpPr>
        <p:spPr>
          <a:xfrm>
            <a:off x="2550160" y="2387600"/>
            <a:ext cx="4191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Statt einer Zahl eine Spanne: „zwischen 4 und 9 €“</a:t>
            </a:r>
          </a:p>
        </p:txBody>
      </p:sp>
      <p:sp>
        <p:nvSpPr>
          <p:cNvPr id="11" name="Rectangle 10"/>
          <p:cNvSpPr/>
          <p:nvPr/>
        </p:nvSpPr>
        <p:spPr>
          <a:xfrm>
            <a:off x="6741159" y="2387600"/>
            <a:ext cx="5886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ändert die Geschäftszusage — und damit das Verfahren: gefragt wären Quantile, nicht Mittelwerte</a:t>
            </a:r>
          </a:p>
        </p:txBody>
      </p:sp>
      <p:sp>
        <p:nvSpPr>
          <p:cNvPr id="12" name="Rectangle 11"/>
          <p:cNvSpPr/>
          <p:nvPr/>
        </p:nvSpPr>
        <p:spPr>
          <a:xfrm>
            <a:off x="1153160" y="3124200"/>
            <a:ext cx="1397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Phase 2</a:t>
            </a:r>
          </a:p>
        </p:txBody>
      </p:sp>
      <p:sp>
        <p:nvSpPr>
          <p:cNvPr id="13" name="Rectangle 12"/>
          <p:cNvSpPr/>
          <p:nvPr/>
        </p:nvSpPr>
        <p:spPr>
          <a:xfrm>
            <a:off x="2550160" y="3124200"/>
            <a:ext cx="4191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Neue Merkmale beschaffen: Steigungsprofil, Wetterumschwung</a:t>
            </a:r>
          </a:p>
        </p:txBody>
      </p:sp>
      <p:sp>
        <p:nvSpPr>
          <p:cNvPr id="14" name="Rectangle 13"/>
          <p:cNvSpPr/>
          <p:nvPr/>
        </p:nvSpPr>
        <p:spPr>
          <a:xfrm>
            <a:off x="6741159" y="3124200"/>
            <a:ext cx="588645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eine Fahrt lang macht, steht heute nicht in den Daten</a:t>
            </a:r>
          </a:p>
        </p:txBody>
      </p:sp>
      <p:sp>
        <p:nvSpPr>
          <p:cNvPr id="15" name="Rectangle 14"/>
          <p:cNvSpPr/>
          <p:nvPr/>
        </p:nvSpPr>
        <p:spPr>
          <a:xfrm>
            <a:off x="1153160" y="3860800"/>
            <a:ext cx="1397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Phase 3</a:t>
            </a:r>
          </a:p>
        </p:txBody>
      </p:sp>
      <p:sp>
        <p:nvSpPr>
          <p:cNvPr id="16" name="Rectangle 15"/>
          <p:cNvSpPr/>
          <p:nvPr/>
        </p:nvSpPr>
        <p:spPr>
          <a:xfrm>
            <a:off x="2550160" y="3860800"/>
            <a:ext cx="4191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Modell auf dem Logarithmus der Dauer rechnen</a:t>
            </a:r>
          </a:p>
        </p:txBody>
      </p:sp>
      <p:sp>
        <p:nvSpPr>
          <p:cNvPr id="17" name="Rectangle 16"/>
          <p:cNvSpPr/>
          <p:nvPr/>
        </p:nvSpPr>
        <p:spPr>
          <a:xfrm>
            <a:off x="6741159" y="3860800"/>
            <a:ext cx="5886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Trifft rechtsschiefe Verteilungen besser — eine Zeile, möglicherweise große Wirkung</a:t>
            </a:r>
          </a:p>
        </p:txBody>
      </p:sp>
      <p:sp>
        <p:nvSpPr>
          <p:cNvPr id="18" name="Rectangle 17"/>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0" name="Rectangle 19"/>
          <p:cNvSpPr/>
          <p:nvPr/>
        </p:nvSpPr>
        <p:spPr>
          <a:xfrm>
            <a:off x="3076151"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2 Data</a:t>
            </a:r>
          </a:p>
          <a:p>
            <a:pPr algn="ctr">
              <a:lnSpc>
                <a:spcPct val="95000"/>
              </a:lnSpc>
            </a:pPr>
            <a:r>
              <a:rPr sz="1300" b="0">
                <a:solidFill>
                  <a:srgbClr val="A32638"/>
                </a:solidFill>
              </a:rPr>
              <a:t>Understanding</a:t>
            </a:r>
          </a:p>
        </p:txBody>
      </p:sp>
      <p:sp>
        <p:nvSpPr>
          <p:cNvPr id="22" name="Rectangle 21"/>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nicht das Modell, sondern ein Paket</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gespeichertes Modell ohne seine Merkmalsliste ist wertlos — niemand weiß mehr, in welcher Reihenfolge die Spalten erwartet werden.</a:t>
            </a:r>
          </a:p>
        </p:txBody>
      </p:sp>
      <p:sp>
        <p:nvSpPr>
          <p:cNvPr id="6" name="Rectangle 5"/>
          <p:cNvSpPr/>
          <p:nvPr/>
        </p:nvSpPr>
        <p:spPr>
          <a:xfrm>
            <a:off x="1153160" y="18796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993900"/>
            <a:ext cx="5194300" cy="2184400"/>
          </a:xfrm>
          <a:prstGeom prst="rect">
            <a:avLst/>
          </a:prstGeom>
          <a:noFill/>
        </p:spPr>
        <p:txBody>
          <a:bodyPr wrap="square" lIns="0" tIns="0" rIns="0" bIns="0">
            <a:spAutoFit/>
          </a:bodyPr>
          <a:lstStyle/>
          <a:p>
            <a:pPr algn="l">
              <a:lnSpc>
                <a:spcPct val="95000"/>
              </a:lnSpc>
            </a:pPr>
            <a:r>
              <a:rPr sz="1400" b="1">
                <a:solidFill>
                  <a:srgbClr val="003E6E"/>
                </a:solidFill>
              </a:rPr>
              <a:t>Was gespeichert wird</a:t>
            </a:r>
          </a:p>
          <a:p>
            <a:pPr algn="l">
              <a:lnSpc>
                <a:spcPct val="95000"/>
              </a:lnSpc>
              <a:spcBef>
                <a:spcPts val="200"/>
              </a:spcBef>
            </a:pPr>
            <a:r>
              <a:rPr sz="1300" b="0">
                <a:solidFill>
                  <a:srgbClr val="404040"/>
                </a:solidFill>
                <a:latin typeface="Consolas"/>
              </a:rPr>
              <a:t>paket = {</a:t>
            </a:r>
          </a:p>
          <a:p>
            <a:pPr algn="l">
              <a:lnSpc>
                <a:spcPct val="95000"/>
              </a:lnSpc>
              <a:spcBef>
                <a:spcPts val="200"/>
              </a:spcBef>
            </a:pPr>
            <a:r>
              <a:rPr sz="1300" b="0">
                <a:solidFill>
                  <a:srgbClr val="404040"/>
                </a:solidFill>
                <a:latin typeface="Consolas"/>
              </a:rPr>
              <a:t>  'modell':   wald,</a:t>
            </a:r>
          </a:p>
          <a:p>
            <a:pPr algn="l">
              <a:lnSpc>
                <a:spcPct val="95000"/>
              </a:lnSpc>
              <a:spcBef>
                <a:spcPts val="200"/>
              </a:spcBef>
            </a:pPr>
            <a:r>
              <a:rPr sz="1300" b="0">
                <a:solidFill>
                  <a:srgbClr val="404040"/>
                </a:solidFill>
                <a:latin typeface="Consolas"/>
              </a:rPr>
              <a:t>  'merkmale': spalten,</a:t>
            </a:r>
          </a:p>
          <a:p>
            <a:pPr algn="l">
              <a:lnSpc>
                <a:spcPct val="95000"/>
              </a:lnSpc>
              <a:spcBef>
                <a:spcPts val="200"/>
              </a:spcBef>
            </a:pPr>
            <a:r>
              <a:rPr sz="1300" b="0">
                <a:solidFill>
                  <a:srgbClr val="404040"/>
                </a:solidFill>
                <a:latin typeface="Consolas"/>
              </a:rPr>
              <a:t>  'gilt_fuer': ['CITY'],</a:t>
            </a:r>
          </a:p>
          <a:p>
            <a:pPr algn="l">
              <a:lnSpc>
                <a:spcPct val="95000"/>
              </a:lnSpc>
              <a:spcBef>
                <a:spcPts val="200"/>
              </a:spcBef>
            </a:pPr>
            <a:r>
              <a:rPr sz="1300" b="0">
                <a:solidFill>
                  <a:srgbClr val="404040"/>
                </a:solidFill>
                <a:latin typeface="Consolas"/>
              </a:rPr>
              <a:t>  'stand':    '2026-08-31',</a:t>
            </a:r>
          </a:p>
          <a:p>
            <a:pPr algn="l">
              <a:lnSpc>
                <a:spcPct val="95000"/>
              </a:lnSpc>
              <a:spcBef>
                <a:spcPts val="200"/>
              </a:spcBef>
            </a:pPr>
            <a:r>
              <a:rPr sz="1300" b="0">
                <a:solidFill>
                  <a:srgbClr val="404040"/>
                </a:solidFill>
                <a:latin typeface="Consolas"/>
              </a:rPr>
              <a:t>}</a:t>
            </a:r>
          </a:p>
        </p:txBody>
      </p:sp>
      <p:sp>
        <p:nvSpPr>
          <p:cNvPr id="9" name="Rectangle 8"/>
          <p:cNvSpPr/>
          <p:nvPr/>
        </p:nvSpPr>
        <p:spPr>
          <a:xfrm>
            <a:off x="7096759" y="18796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879600"/>
            <a:ext cx="50800" cy="2413000"/>
          </a:xfrm>
          <a:prstGeom prst="rect">
            <a:avLst/>
          </a:prstGeom>
          <a:solidFill>
            <a:srgbClr val="4AB5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993900"/>
            <a:ext cx="5194300" cy="2184400"/>
          </a:xfrm>
          <a:prstGeom prst="rect">
            <a:avLst/>
          </a:prstGeom>
          <a:noFill/>
        </p:spPr>
        <p:txBody>
          <a:bodyPr wrap="square" lIns="0" tIns="0" rIns="0" bIns="0">
            <a:spAutoFit/>
          </a:bodyPr>
          <a:lstStyle/>
          <a:p>
            <a:pPr algn="l">
              <a:lnSpc>
                <a:spcPct val="95000"/>
              </a:lnSpc>
            </a:pPr>
            <a:r>
              <a:rPr sz="1400" b="1">
                <a:solidFill>
                  <a:srgbClr val="4AB5C4"/>
                </a:solidFill>
              </a:rPr>
              <a:t>Warum jedes Feld</a:t>
            </a:r>
          </a:p>
          <a:p>
            <a:pPr algn="l">
              <a:lnSpc>
                <a:spcPct val="95000"/>
              </a:lnSpc>
              <a:spcBef>
                <a:spcPts val="200"/>
              </a:spcBef>
            </a:pPr>
            <a:r>
              <a:rPr sz="1300" b="0">
                <a:solidFill>
                  <a:srgbClr val="404040"/>
                </a:solidFill>
                <a:latin typeface="Consolas"/>
              </a:rPr>
              <a:t>modell    — das Gelernte</a:t>
            </a:r>
          </a:p>
          <a:p>
            <a:pPr algn="l">
              <a:lnSpc>
                <a:spcPct val="95000"/>
              </a:lnSpc>
              <a:spcBef>
                <a:spcPts val="200"/>
              </a:spcBef>
            </a:pPr>
            <a:r>
              <a:rPr sz="1300" b="0">
                <a:solidFill>
                  <a:srgbClr val="404040"/>
                </a:solidFill>
                <a:latin typeface="Consolas"/>
              </a:rPr>
              <a:t>merkmale  — Reihenfolge und</a:t>
            </a:r>
          </a:p>
          <a:p>
            <a:pPr algn="l">
              <a:lnSpc>
                <a:spcPct val="95000"/>
              </a:lnSpc>
              <a:spcBef>
                <a:spcPts val="200"/>
              </a:spcBef>
            </a:pPr>
            <a:r>
              <a:rPr sz="1300" b="0">
                <a:solidFill>
                  <a:srgbClr val="404040"/>
                </a:solidFill>
                <a:latin typeface="Consolas"/>
              </a:rPr>
              <a:t>            Namen der Spalten</a:t>
            </a:r>
          </a:p>
          <a:p>
            <a:pPr algn="l">
              <a:lnSpc>
                <a:spcPct val="95000"/>
              </a:lnSpc>
              <a:spcBef>
                <a:spcPts val="200"/>
              </a:spcBef>
            </a:pPr>
            <a:r>
              <a:rPr sz="1300" b="0">
                <a:solidFill>
                  <a:srgbClr val="404040"/>
                </a:solidFill>
                <a:latin typeface="Consolas"/>
              </a:rPr>
              <a:t>gilt_fuer — NUR CITY ist</a:t>
            </a:r>
          </a:p>
          <a:p>
            <a:pPr algn="l">
              <a:lnSpc>
                <a:spcPct val="95000"/>
              </a:lnSpc>
              <a:spcBef>
                <a:spcPts val="200"/>
              </a:spcBef>
            </a:pPr>
            <a:r>
              <a:rPr sz="1300" b="0">
                <a:solidFill>
                  <a:srgbClr val="404040"/>
                </a:solidFill>
                <a:latin typeface="Consolas"/>
              </a:rPr>
              <a:t>            freigegeben</a:t>
            </a:r>
          </a:p>
          <a:p>
            <a:pPr algn="l">
              <a:lnSpc>
                <a:spcPct val="95000"/>
              </a:lnSpc>
              <a:spcBef>
                <a:spcPts val="200"/>
              </a:spcBef>
            </a:pPr>
            <a:r>
              <a:rPr sz="1300" b="0">
                <a:solidFill>
                  <a:srgbClr val="404040"/>
                </a:solidFill>
                <a:latin typeface="Consolas"/>
              </a:rPr>
              <a:t>stand     — wann veraltet es?</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Funktion, die der Entsperr-Dialog tatsächlich aufruft</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Modell, das niemand aufruft, hat keinen Wert. Hier wird aus dem Gelernten eine Funktion mit einer klaren Schnittstelle.</a:t>
            </a:r>
          </a:p>
        </p:txBody>
      </p:sp>
      <p:sp>
        <p:nvSpPr>
          <p:cNvPr id="6" name="Rectangle 5"/>
          <p:cNvSpPr/>
          <p:nvPr/>
        </p:nvSpPr>
        <p:spPr>
          <a:xfrm>
            <a:off x="1153160" y="18796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13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9939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Aufruf</a:t>
            </a:r>
          </a:p>
          <a:p>
            <a:pPr algn="l">
              <a:lnSpc>
                <a:spcPct val="95000"/>
              </a:lnSpc>
              <a:spcBef>
                <a:spcPts val="200"/>
              </a:spcBef>
            </a:pPr>
            <a:r>
              <a:rPr sz="1300" b="0">
                <a:solidFill>
                  <a:srgbClr val="404040"/>
                </a:solidFill>
                <a:latin typeface="Consolas"/>
              </a:rPr>
              <a:t>preis_schaetzen(</a:t>
            </a:r>
          </a:p>
          <a:p>
            <a:pPr algn="l">
              <a:lnSpc>
                <a:spcPct val="95000"/>
              </a:lnSpc>
              <a:spcBef>
                <a:spcPts val="200"/>
              </a:spcBef>
            </a:pPr>
            <a:r>
              <a:rPr sz="1300" b="0">
                <a:solidFill>
                  <a:srgbClr val="404040"/>
                </a:solidFill>
                <a:latin typeface="Consolas"/>
              </a:rPr>
              <a:t>  station='Hauptbahnhof',</a:t>
            </a:r>
          </a:p>
          <a:p>
            <a:pPr algn="l">
              <a:lnSpc>
                <a:spcPct val="95000"/>
              </a:lnSpc>
              <a:spcBef>
                <a:spcPts val="200"/>
              </a:spcBef>
            </a:pPr>
            <a:r>
              <a:rPr sz="1300" b="0">
                <a:solidFill>
                  <a:srgbClr val="404040"/>
                </a:solidFill>
                <a:latin typeface="Consolas"/>
              </a:rPr>
              <a:t>  zeitpunkt=jetzt,</a:t>
            </a:r>
          </a:p>
          <a:p>
            <a:pPr algn="l">
              <a:lnSpc>
                <a:spcPct val="95000"/>
              </a:lnSpc>
              <a:spcBef>
                <a:spcPts val="200"/>
              </a:spcBef>
            </a:pPr>
            <a:r>
              <a:rPr sz="1300" b="0">
                <a:solidFill>
                  <a:srgbClr val="404040"/>
                </a:solidFill>
                <a:latin typeface="Consolas"/>
              </a:rPr>
              <a:t>  typ='CITY',</a:t>
            </a:r>
          </a:p>
          <a:p>
            <a:pPr algn="l">
              <a:lnSpc>
                <a:spcPct val="95000"/>
              </a:lnSpc>
              <a:spcBef>
                <a:spcPts val="200"/>
              </a:spcBef>
            </a:pPr>
            <a:r>
              <a:rPr sz="1300" b="0">
                <a:solidFill>
                  <a:srgbClr val="404040"/>
                </a:solidFill>
                <a:latin typeface="Consolas"/>
              </a:rPr>
              <a:t>)</a:t>
            </a:r>
          </a:p>
          <a:p>
            <a:pPr algn="l">
              <a:lnSpc>
                <a:spcPct val="95000"/>
              </a:lnSpc>
              <a:spcBef>
                <a:spcPts val="200"/>
              </a:spcBef>
            </a:pPr>
            <a:r>
              <a:rPr sz="1300" b="0">
                <a:solidFill>
                  <a:srgbClr val="404040"/>
                </a:solidFill>
                <a:latin typeface="Consolas"/>
              </a:rPr>
              <a:t>-&gt; 'etwa 3,10 EUR'</a:t>
            </a:r>
          </a:p>
        </p:txBody>
      </p:sp>
      <p:sp>
        <p:nvSpPr>
          <p:cNvPr id="9" name="Rectangle 8"/>
          <p:cNvSpPr/>
          <p:nvPr/>
        </p:nvSpPr>
        <p:spPr>
          <a:xfrm>
            <a:off x="7096759" y="18796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879600"/>
            <a:ext cx="50800" cy="2413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993900"/>
            <a:ext cx="5194300" cy="2184400"/>
          </a:xfrm>
          <a:prstGeom prst="rect">
            <a:avLst/>
          </a:prstGeom>
          <a:noFill/>
        </p:spPr>
        <p:txBody>
          <a:bodyPr wrap="square" lIns="0" tIns="0" rIns="0" bIns="0">
            <a:spAutoFit/>
          </a:bodyPr>
          <a:lstStyle/>
          <a:p>
            <a:pPr algn="l">
              <a:lnSpc>
                <a:spcPct val="95000"/>
              </a:lnSpc>
            </a:pPr>
            <a:r>
              <a:rPr sz="1400" b="1">
                <a:solidFill>
                  <a:srgbClr val="ED7004"/>
                </a:solidFill>
              </a:rPr>
              <a:t>Was die Funktion prüft</a:t>
            </a:r>
          </a:p>
          <a:p>
            <a:pPr algn="l">
              <a:lnSpc>
                <a:spcPct val="95000"/>
              </a:lnSpc>
              <a:spcBef>
                <a:spcPts val="200"/>
              </a:spcBef>
            </a:pPr>
            <a:r>
              <a:rPr sz="1300" b="0">
                <a:solidFill>
                  <a:srgbClr val="404040"/>
                </a:solidFill>
                <a:latin typeface="Consolas"/>
              </a:rPr>
              <a:t>1. Ist typ freigegeben?</a:t>
            </a:r>
          </a:p>
          <a:p>
            <a:pPr algn="l">
              <a:lnSpc>
                <a:spcPct val="95000"/>
              </a:lnSpc>
              <a:spcBef>
                <a:spcPts val="200"/>
              </a:spcBef>
            </a:pPr>
            <a:r>
              <a:rPr sz="1300" b="0">
                <a:solidFill>
                  <a:srgbClr val="404040"/>
                </a:solidFill>
                <a:latin typeface="Consolas"/>
              </a:rPr>
              <a:t>   Sonst: keine Anzeige.</a:t>
            </a:r>
          </a:p>
          <a:p>
            <a:pPr algn="l">
              <a:lnSpc>
                <a:spcPct val="95000"/>
              </a:lnSpc>
              <a:spcBef>
                <a:spcPts val="200"/>
              </a:spcBef>
            </a:pPr>
            <a:r>
              <a:rPr sz="1300" b="0">
                <a:solidFill>
                  <a:srgbClr val="404040"/>
                </a:solidFill>
                <a:latin typeface="Consolas"/>
              </a:rPr>
              <a:t>2. Merkmale in der</a:t>
            </a:r>
          </a:p>
          <a:p>
            <a:pPr algn="l">
              <a:lnSpc>
                <a:spcPct val="95000"/>
              </a:lnSpc>
              <a:spcBef>
                <a:spcPts val="200"/>
              </a:spcBef>
            </a:pPr>
            <a:r>
              <a:rPr sz="1300" b="0">
                <a:solidFill>
                  <a:srgbClr val="404040"/>
                </a:solidFill>
                <a:latin typeface="Consolas"/>
              </a:rPr>
              <a:t>   gespeicherten Reihenfolge</a:t>
            </a:r>
          </a:p>
          <a:p>
            <a:pPr algn="l">
              <a:lnSpc>
                <a:spcPct val="95000"/>
              </a:lnSpc>
              <a:spcBef>
                <a:spcPts val="200"/>
              </a:spcBef>
            </a:pPr>
            <a:r>
              <a:rPr sz="1300" b="0">
                <a:solidFill>
                  <a:srgbClr val="404040"/>
                </a:solidFill>
                <a:latin typeface="Consolas"/>
              </a:rPr>
              <a:t>3. Dauer -&gt; Preis ueber das</a:t>
            </a:r>
          </a:p>
          <a:p>
            <a:pPr algn="l">
              <a:lnSpc>
                <a:spcPct val="95000"/>
              </a:lnSpc>
              <a:spcBef>
                <a:spcPts val="200"/>
              </a:spcBef>
            </a:pPr>
            <a:r>
              <a:rPr sz="1300" b="0">
                <a:solidFill>
                  <a:srgbClr val="404040"/>
                </a:solidFill>
                <a:latin typeface="Consolas"/>
              </a:rPr>
              <a:t>   Tarifblatt, nicht geschaetzt</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nach der Auslieferung passieren muss</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Modell ist kein Bauwerk, sondern ein Lebensmittel. Es hat ein Haltbarkeitsdatum, das niemand kennt — deshalb wird gemessen.</a:t>
            </a:r>
          </a:p>
        </p:txBody>
      </p:sp>
      <p:sp>
        <p:nvSpPr>
          <p:cNvPr id="6" name="Rectangle 5"/>
          <p:cNvSpPr/>
          <p:nvPr/>
        </p:nvSpPr>
        <p:spPr>
          <a:xfrm>
            <a:off x="1153160" y="1879600"/>
            <a:ext cx="2794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Auslöser</a:t>
            </a:r>
          </a:p>
        </p:txBody>
      </p:sp>
      <p:sp>
        <p:nvSpPr>
          <p:cNvPr id="7" name="Rectangle 6"/>
          <p:cNvSpPr/>
          <p:nvPr/>
        </p:nvSpPr>
        <p:spPr>
          <a:xfrm>
            <a:off x="3947160" y="1879600"/>
            <a:ext cx="2032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8" name="Rectangle 7"/>
          <p:cNvSpPr/>
          <p:nvPr/>
        </p:nvSpPr>
        <p:spPr>
          <a:xfrm>
            <a:off x="5979160" y="1879600"/>
            <a:ext cx="6648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Handlung</a:t>
            </a:r>
          </a:p>
        </p:txBody>
      </p:sp>
      <p:sp>
        <p:nvSpPr>
          <p:cNvPr id="9" name="Rectangle 8"/>
          <p:cNvSpPr/>
          <p:nvPr/>
        </p:nvSpPr>
        <p:spPr>
          <a:xfrm>
            <a:off x="1153160" y="2387600"/>
            <a:ext cx="2794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Laufende Messung</a:t>
            </a:r>
          </a:p>
        </p:txBody>
      </p:sp>
      <p:sp>
        <p:nvSpPr>
          <p:cNvPr id="10" name="Rectangle 9"/>
          <p:cNvSpPr/>
          <p:nvPr/>
        </p:nvSpPr>
        <p:spPr>
          <a:xfrm>
            <a:off x="3947160" y="23876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0,45 €</a:t>
            </a:r>
          </a:p>
        </p:txBody>
      </p:sp>
      <p:sp>
        <p:nvSpPr>
          <p:cNvPr id="11" name="Rectangle 10"/>
          <p:cNvSpPr/>
          <p:nvPr/>
        </p:nvSpPr>
        <p:spPr>
          <a:xfrm>
            <a:off x="5979160" y="2387600"/>
            <a:ext cx="664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alles in Ordnung</a:t>
            </a:r>
          </a:p>
        </p:txBody>
      </p:sp>
      <p:sp>
        <p:nvSpPr>
          <p:cNvPr id="12" name="Rectangle 11"/>
          <p:cNvSpPr/>
          <p:nvPr/>
        </p:nvSpPr>
        <p:spPr>
          <a:xfrm>
            <a:off x="1153160" y="2895600"/>
            <a:ext cx="2794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3" name="Rectangle 12"/>
          <p:cNvSpPr/>
          <p:nvPr/>
        </p:nvSpPr>
        <p:spPr>
          <a:xfrm>
            <a:off x="3947160" y="28956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bis 0,55 €</a:t>
            </a:r>
          </a:p>
        </p:txBody>
      </p:sp>
      <p:sp>
        <p:nvSpPr>
          <p:cNvPr id="14" name="Rectangle 13"/>
          <p:cNvSpPr/>
          <p:nvPr/>
        </p:nvSpPr>
        <p:spPr>
          <a:xfrm>
            <a:off x="5979160" y="2895600"/>
            <a:ext cx="664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beobachten, nicht handeln</a:t>
            </a:r>
          </a:p>
        </p:txBody>
      </p:sp>
      <p:sp>
        <p:nvSpPr>
          <p:cNvPr id="15" name="Rectangle 14"/>
          <p:cNvSpPr/>
          <p:nvPr/>
        </p:nvSpPr>
        <p:spPr>
          <a:xfrm>
            <a:off x="1153160" y="3403600"/>
            <a:ext cx="2794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6" name="Rectangle 15"/>
          <p:cNvSpPr/>
          <p:nvPr/>
        </p:nvSpPr>
        <p:spPr>
          <a:xfrm>
            <a:off x="3947160" y="34036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über 0,55 €</a:t>
            </a:r>
          </a:p>
        </p:txBody>
      </p:sp>
      <p:sp>
        <p:nvSpPr>
          <p:cNvPr id="17" name="Rectangle 16"/>
          <p:cNvSpPr/>
          <p:nvPr/>
        </p:nvSpPr>
        <p:spPr>
          <a:xfrm>
            <a:off x="5979160" y="3403600"/>
            <a:ext cx="664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nachtrainieren</a:t>
            </a:r>
          </a:p>
        </p:txBody>
      </p:sp>
      <p:sp>
        <p:nvSpPr>
          <p:cNvPr id="18" name="Rectangle 17"/>
          <p:cNvSpPr/>
          <p:nvPr/>
        </p:nvSpPr>
        <p:spPr>
          <a:xfrm>
            <a:off x="1153160" y="3911600"/>
            <a:ext cx="2794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Tarifblatt ändert sich</a:t>
            </a:r>
          </a:p>
        </p:txBody>
      </p:sp>
      <p:sp>
        <p:nvSpPr>
          <p:cNvPr id="19" name="Rectangle 18"/>
          <p:cNvSpPr/>
          <p:nvPr/>
        </p:nvSpPr>
        <p:spPr>
          <a:xfrm>
            <a:off x="3947160" y="39116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Minutenpreis neu</a:t>
            </a:r>
          </a:p>
        </p:txBody>
      </p:sp>
      <p:sp>
        <p:nvSpPr>
          <p:cNvPr id="20" name="Rectangle 19"/>
          <p:cNvSpPr/>
          <p:nvPr/>
        </p:nvSpPr>
        <p:spPr>
          <a:xfrm>
            <a:off x="5979160" y="3911600"/>
            <a:ext cx="664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Erfolgskriterium neu rechnen — die erlaubte Minuten-Toleranz hängt daran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Testwert war optimistisch — und das ist der Normalfall</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Schattenbetrieb rechnet 30 Tage lang mit, ohne dem Kunden etwas anzuzeigen. Erst er sagt, was das Modell im Betrieb leistet.</a:t>
            </a:r>
          </a:p>
        </p:txBody>
      </p:sp>
      <p:sp>
        <p:nvSpPr>
          <p:cNvPr id="6" name="Rectangle 5"/>
          <p:cNvSpPr/>
          <p:nvPr/>
        </p:nvSpPr>
        <p:spPr>
          <a:xfrm>
            <a:off x="1153160" y="1879600"/>
            <a:ext cx="3810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Messung</a:t>
            </a:r>
          </a:p>
        </p:txBody>
      </p:sp>
      <p:sp>
        <p:nvSpPr>
          <p:cNvPr id="7" name="Rectangle 6"/>
          <p:cNvSpPr/>
          <p:nvPr/>
        </p:nvSpPr>
        <p:spPr>
          <a:xfrm>
            <a:off x="496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Preisfehler</a:t>
            </a:r>
          </a:p>
        </p:txBody>
      </p:sp>
      <p:sp>
        <p:nvSpPr>
          <p:cNvPr id="8" name="Rectangle 7"/>
          <p:cNvSpPr/>
          <p:nvPr/>
        </p:nvSpPr>
        <p:spPr>
          <a:xfrm>
            <a:off x="6868159" y="1879600"/>
            <a:ext cx="5759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Bewertung</a:t>
            </a:r>
          </a:p>
        </p:txBody>
      </p:sp>
      <p:sp>
        <p:nvSpPr>
          <p:cNvPr id="9" name="Rectangle 8"/>
          <p:cNvSpPr/>
          <p:nvPr/>
        </p:nvSpPr>
        <p:spPr>
          <a:xfrm>
            <a:off x="1153160" y="2438400"/>
            <a:ext cx="381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Testmenge aus Phase 5</a:t>
            </a:r>
          </a:p>
        </p:txBody>
      </p:sp>
      <p:sp>
        <p:nvSpPr>
          <p:cNvPr id="10" name="Rectangle 9"/>
          <p:cNvSpPr/>
          <p:nvPr/>
        </p:nvSpPr>
        <p:spPr>
          <a:xfrm>
            <a:off x="496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0,464 €</a:t>
            </a:r>
          </a:p>
        </p:txBody>
      </p:sp>
      <p:sp>
        <p:nvSpPr>
          <p:cNvPr id="11" name="Rectangle 10"/>
          <p:cNvSpPr/>
          <p:nvPr/>
        </p:nvSpPr>
        <p:spPr>
          <a:xfrm>
            <a:off x="6868159" y="2438400"/>
            <a:ext cx="5759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Kriterium erfüllt</a:t>
            </a:r>
          </a:p>
        </p:txBody>
      </p:sp>
      <p:sp>
        <p:nvSpPr>
          <p:cNvPr id="12" name="Rectangle 11"/>
          <p:cNvSpPr/>
          <p:nvPr/>
        </p:nvSpPr>
        <p:spPr>
          <a:xfrm>
            <a:off x="1153160" y="2997200"/>
            <a:ext cx="381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Schattenbetrieb, letzte 30 Tage</a:t>
            </a:r>
          </a:p>
        </p:txBody>
      </p:sp>
      <p:sp>
        <p:nvSpPr>
          <p:cNvPr id="13" name="Rectangle 12"/>
          <p:cNvSpPr/>
          <p:nvPr/>
        </p:nvSpPr>
        <p:spPr>
          <a:xfrm>
            <a:off x="496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0,493 €</a:t>
            </a:r>
          </a:p>
        </p:txBody>
      </p:sp>
      <p:sp>
        <p:nvSpPr>
          <p:cNvPr id="14" name="Rectangle 13"/>
          <p:cNvSpPr/>
          <p:nvPr/>
        </p:nvSpPr>
        <p:spPr>
          <a:xfrm>
            <a:off x="6868159" y="2997200"/>
            <a:ext cx="5759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gerade eben gehalten — aber ohne jede Reserve</a:t>
            </a:r>
          </a:p>
        </p:txBody>
      </p:sp>
      <p:sp>
        <p:nvSpPr>
          <p:cNvPr id="15" name="Rectangle 14"/>
          <p:cNvSpPr/>
          <p:nvPr/>
        </p:nvSpPr>
        <p:spPr>
          <a:xfrm>
            <a:off x="1153160" y="3657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3657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3784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der Testwert schöner ist als die Wirklichkeit</a:t>
            </a:r>
          </a:p>
          <a:p>
            <a:pPr algn="l">
              <a:lnSpc>
                <a:spcPct val="95000"/>
              </a:lnSpc>
              <a:spcBef>
                <a:spcPts val="500"/>
              </a:spcBef>
            </a:pPr>
            <a:r>
              <a:rPr sz="1300" b="0">
                <a:solidFill>
                  <a:srgbClr val="404040"/>
                </a:solidFill>
              </a:rPr>
              <a:t>Die Testmenge ist ein zufälliger Schnitt durch drei Jahre — der Schattenbetrieb sind 30 zusammenhängende Tage.</a:t>
            </a:r>
          </a:p>
          <a:p>
            <a:pPr algn="l">
              <a:lnSpc>
                <a:spcPct val="95000"/>
              </a:lnSpc>
              <a:spcBef>
                <a:spcPts val="500"/>
              </a:spcBef>
            </a:pPr>
            <a:r>
              <a:rPr sz="1300" b="0">
                <a:solidFill>
                  <a:srgbClr val="404040"/>
                </a:solidFill>
              </a:rPr>
              <a:t>Die Ampel steht deshalb auf GELB: weiterlaufen lassen, noch nicht anzeigen.</a:t>
            </a:r>
          </a:p>
          <a:p>
            <a:pPr algn="l">
              <a:lnSpc>
                <a:spcPct val="95000"/>
              </a:lnSpc>
              <a:spcBef>
                <a:spcPts val="500"/>
              </a:spcBef>
            </a:pPr>
            <a:r>
              <a:rPr sz="1300" b="0">
                <a:solidFill>
                  <a:srgbClr val="404040"/>
                </a:solidFill>
              </a:rPr>
              <a:t>Die ehrliche Antwort ist nicht, die Schwelle zu senken, sondern weiter zu messen.</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Schattenbetrieb, gerechnet statt behauptet</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6.4</a:t>
            </a:r>
          </a:p>
        </p:txBody>
      </p:sp>
      <p:sp>
        <p:nvSpPr>
          <p:cNvPr id="5" name="Rectangle 4"/>
          <p:cNvSpPr/>
          <p:nvPr/>
        </p:nvSpPr>
        <p:spPr>
          <a:xfrm>
            <a:off x="3778655" y="1168400"/>
            <a:ext cx="6223458"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schatten.png"/>
          <p:cNvPicPr>
            <a:picLocks noChangeAspect="1"/>
          </p:cNvPicPr>
          <p:nvPr/>
        </p:nvPicPr>
        <p:blipFill>
          <a:blip r:embed="rId2"/>
          <a:stretch>
            <a:fillRect/>
          </a:stretch>
        </p:blipFill>
        <p:spPr>
          <a:xfrm>
            <a:off x="3880255" y="1270000"/>
            <a:ext cx="6020258"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0,493 € gegen 0,464 € auf der Testmenge — die Ampel steht auf GELB, und das Notebook sagt es selbst.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Sechs Phasen, ein Durchlauf, ein geteiltes Urteil — und drei benannte Wege zurück.</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 „Preis vorher anzeigen“ wurde: unter 50 Cent — und daraus je Radtyp eine Minuten-Toleranz</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Daten tragen die Frage. Zwei Befunde: 42 % ohne Distanz, 2,7 % keine echten Fahrten</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Leakage vermieden, drei begründete Filter, Wetter und Kalender angejoint</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als Maßstab, dann linear, Baum, Wald — 60,4 % besser</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Gemittelt gerissen (0,91 €), getrennt besteht CITY (0,464 €)</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Paket, Funktion, Überwachung, Schattenbetrieb — GELB</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wenn die Regel gewinnt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müssen als Nächstes in die Werkstatt — und braucht es dafür überhaupt ein Modell?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soll die Werkstatt im nächsten Quartal prüfen?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 Rad die Wahrscheinlichkeit einer Schadensmeldung in den nächsten 90 Tagen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Hürden — und eine davon ist der Vergleich mit der heutigen Faustregel</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verpasstem Ausfall gegen 25 € je unnötiger Prüfung — rund 7 : 1</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Faustregeln als Maßstab, dann Entscheidungsbaum und Random Forest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Regel und Wald treffen gleich gut — ausgeliefert wird die Regel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Kostenmatrix, aus der alles Weitere folgt</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analytics/notebooks/02_Klassifikation_Wartungsrisiko.ipynb · Abschnitt 1 — Fehlerkosten</a:t>
            </a:r>
          </a:p>
        </p:txBody>
      </p:sp>
      <p:sp>
        <p:nvSpPr>
          <p:cNvPr id="5" name="Rectangle 4"/>
          <p:cNvSpPr/>
          <p:nvPr/>
        </p:nvSpPr>
        <p:spPr>
          <a:xfrm>
            <a:off x="3641646" y="1168400"/>
            <a:ext cx="6497476"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osten.png"/>
          <p:cNvPicPr>
            <a:picLocks noChangeAspect="1"/>
          </p:cNvPicPr>
          <p:nvPr/>
        </p:nvPicPr>
        <p:blipFill>
          <a:blip r:embed="rId2"/>
          <a:stretch>
            <a:fillRect/>
          </a:stretch>
        </p:blipFill>
        <p:spPr>
          <a:xfrm>
            <a:off x="3743246" y="1270000"/>
            <a:ext cx="6294276"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180 € gegen 25 €. Diese beiden Zahlen bestimmen das Erfolgskriterium, die Klassengewichte und am Ende die Auslieferung.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hier anders ist als in Fall 1</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Unterschiede — und jeder verändert eine Phase.</a:t>
            </a:r>
          </a:p>
        </p:txBody>
      </p:sp>
      <p:sp>
        <p:nvSpPr>
          <p:cNvPr id="6" name="Rectangle 5"/>
          <p:cNvSpPr/>
          <p:nvPr/>
        </p:nvSpPr>
        <p:spPr>
          <a:xfrm>
            <a:off x="1153160" y="1651000"/>
            <a:ext cx="190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058160" y="1651000"/>
            <a:ext cx="355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1 — Regression</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2 — Klassifikation</a:t>
            </a:r>
          </a:p>
        </p:txBody>
      </p:sp>
      <p:sp>
        <p:nvSpPr>
          <p:cNvPr id="9" name="Rectangle 8"/>
          <p:cNvSpPr/>
          <p:nvPr/>
        </p:nvSpPr>
        <p:spPr>
          <a:xfrm>
            <a:off x="1153160" y="22606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Zielgröße</a:t>
            </a:r>
          </a:p>
        </p:txBody>
      </p:sp>
      <p:sp>
        <p:nvSpPr>
          <p:cNvPr id="10" name="Rectangle 9"/>
          <p:cNvSpPr/>
          <p:nvPr/>
        </p:nvSpPr>
        <p:spPr>
          <a:xfrm>
            <a:off x="3058160" y="22606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Zahl: Minuten</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 oder nein: meldet sich das Rad?</a:t>
            </a:r>
          </a:p>
        </p:txBody>
      </p:sp>
      <p:sp>
        <p:nvSpPr>
          <p:cNvPr id="12" name="Rectangle 11"/>
          <p:cNvSpPr/>
          <p:nvPr/>
        </p:nvSpPr>
        <p:spPr>
          <a:xfrm>
            <a:off x="1153160" y="28702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Fehlerkosten</a:t>
            </a:r>
          </a:p>
        </p:txBody>
      </p:sp>
      <p:sp>
        <p:nvSpPr>
          <p:cNvPr id="13" name="Rectangle 12"/>
          <p:cNvSpPr/>
          <p:nvPr/>
        </p:nvSpPr>
        <p:spPr>
          <a:xfrm>
            <a:off x="3058160" y="28702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beide Richtungen gleich</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180 € gegen 25 € — rund 7 : 1</a:t>
            </a:r>
          </a:p>
        </p:txBody>
      </p:sp>
      <p:sp>
        <p:nvSpPr>
          <p:cNvPr id="15" name="Rectangle 14"/>
          <p:cNvSpPr/>
          <p:nvPr/>
        </p:nvSpPr>
        <p:spPr>
          <a:xfrm>
            <a:off x="1153160" y="34798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Aufteilung</a:t>
            </a:r>
          </a:p>
        </p:txBody>
      </p:sp>
      <p:sp>
        <p:nvSpPr>
          <p:cNvPr id="16" name="Rectangle 15"/>
          <p:cNvSpPr/>
          <p:nvPr/>
        </p:nvSpPr>
        <p:spPr>
          <a:xfrm>
            <a:off x="3058160" y="34798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zufällig zulässig</a:t>
            </a:r>
          </a:p>
        </p:txBody>
      </p:sp>
      <p:sp>
        <p:nvSpPr>
          <p:cNvPr id="17" name="Rectangle 16"/>
          <p:cNvSpPr/>
          <p:nvPr/>
        </p:nvSpPr>
        <p:spPr>
          <a:xfrm>
            <a:off x="6614159" y="34798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 zwingend: Merkmale aus 180 Tagen davor, Label aus 90 Tagen danach</a:t>
            </a:r>
          </a:p>
        </p:txBody>
      </p:sp>
      <p:sp>
        <p:nvSpPr>
          <p:cNvPr id="18" name="Rectangle 17"/>
          <p:cNvSpPr/>
          <p:nvPr/>
        </p:nvSpPr>
        <p:spPr>
          <a:xfrm>
            <a:off x="1153160" y="40894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Maßstab</a:t>
            </a:r>
          </a:p>
        </p:txBody>
      </p:sp>
      <p:sp>
        <p:nvSpPr>
          <p:cNvPr id="19" name="Rectangle 18"/>
          <p:cNvSpPr/>
          <p:nvPr/>
        </p:nvSpPr>
        <p:spPr>
          <a:xfrm>
            <a:off x="3058160" y="40894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a:t>
            </a:r>
          </a:p>
        </p:txBody>
      </p:sp>
      <p:sp>
        <p:nvSpPr>
          <p:cNvPr id="20" name="Rectangle 19"/>
          <p:cNvSpPr/>
          <p:nvPr/>
        </p:nvSpPr>
        <p:spPr>
          <a:xfrm>
            <a:off x="6614159" y="40894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UND die heutige Faustregel der Werkstatt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2 · Phasen 1 bis 3</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ersten drei Phasen laufen wie in Fall 1. Was sie hier hervorbringen, steht in drei Zeilen.</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1  </a:t>
            </a:r>
            <a:r>
              <a:rPr sz="1300">
                <a:solidFill>
                  <a:srgbClr val="404040"/>
                </a:solidFill>
              </a:rPr>
              <a:t>Aus „vorausschauend warten“ wird eine Kostenmatrix: 180 € gegen 25 €, und zwei Erfolgskriterien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Nutzung und Meldungen hängen zusammen (r ≈ 0,7), aber nicht deterministisch. 44 % der Räder melden sich je Quartal, die Werkstatt schafft 26 %</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  </a:t>
            </a:r>
            <a:r>
              <a:rPr sz="1300">
                <a:solidFill>
                  <a:srgbClr val="404040"/>
                </a:solidFill>
              </a:rPr>
              <a:t>Zeitlicher Schnitt: acht Stichtage, Merkmale aus 180 Tagen davor, Label aus 90 Tagen danach, Testmenge ist der jüngste Stichtag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zeitliche Schnitt, in Zahlen</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analytics/notebooks/02_Klassifikation_Wartungsrisiko.ipynb · Abschnitt 3.3</a:t>
            </a:r>
          </a:p>
        </p:txBody>
      </p:sp>
      <p:sp>
        <p:nvSpPr>
          <p:cNvPr id="5" name="Rectangle 4"/>
          <p:cNvSpPr/>
          <p:nvPr/>
        </p:nvSpPr>
        <p:spPr>
          <a:xfrm>
            <a:off x="1051560" y="1178279"/>
            <a:ext cx="11677650" cy="434904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schnitt.png"/>
          <p:cNvPicPr>
            <a:picLocks noChangeAspect="1"/>
          </p:cNvPicPr>
          <p:nvPr/>
        </p:nvPicPr>
        <p:blipFill>
          <a:blip r:embed="rId2"/>
          <a:stretch>
            <a:fillRect/>
          </a:stretch>
        </p:blipFill>
        <p:spPr>
          <a:xfrm>
            <a:off x="1153160" y="1279879"/>
            <a:ext cx="11474450" cy="414584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1458 Trainingszeilen aus sieben Stichtagen, getestet am jüngsten — kein einziger Blick in die Zukunft.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Zuerst die Faustregeln — dann erst die Modelle</a:t>
            </a:r>
          </a:p>
        </p:txBody>
      </p:sp>
      <p:sp>
        <p:nvSpPr>
          <p:cNvPr id="3" name="Text Placeholder 2"/>
          <p:cNvSpPr>
            <a:spLocks noGrp="1"/>
          </p:cNvSpPr>
          <p:nvPr>
            <p:ph type="body" idx="12" sz="quarter"/>
          </p:nvPr>
        </p:nvSpPr>
        <p:spPr/>
        <p:txBody>
          <a:bodyPr/>
          <a:lstStyle/>
          <a:p>
            <a:r>
              <a:t>Fall 2 · Phase 4</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Regeln, wie sie die Werkstatt heute im Kopf hat. Sie sind der Maßstab, an dem sich jedes Modell messen lassen muss.</a:t>
            </a:r>
          </a:p>
        </p:txBody>
      </p:sp>
      <p:sp>
        <p:nvSpPr>
          <p:cNvPr id="6" name="Rectangle 5"/>
          <p:cNvSpPr/>
          <p:nvPr/>
        </p:nvSpPr>
        <p:spPr>
          <a:xfrm>
            <a:off x="1153160"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86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993900"/>
            <a:ext cx="5194300" cy="2057400"/>
          </a:xfrm>
          <a:prstGeom prst="rect">
            <a:avLst/>
          </a:prstGeom>
          <a:noFill/>
        </p:spPr>
        <p:txBody>
          <a:bodyPr wrap="square" lIns="0" tIns="0" rIns="0" bIns="0">
            <a:spAutoFit/>
          </a:bodyPr>
          <a:lstStyle/>
          <a:p>
            <a:pPr algn="l">
              <a:lnSpc>
                <a:spcPct val="95000"/>
              </a:lnSpc>
            </a:pPr>
            <a:r>
              <a:rPr sz="1400" b="1">
                <a:solidFill>
                  <a:srgbClr val="ED7004"/>
                </a:solidFill>
              </a:rPr>
              <a:t>Regel A — Kilometerstand</a:t>
            </a:r>
          </a:p>
          <a:p>
            <a:pPr algn="l">
              <a:lnSpc>
                <a:spcPct val="95000"/>
              </a:lnSpc>
              <a:spcBef>
                <a:spcPts val="200"/>
              </a:spcBef>
            </a:pPr>
            <a:r>
              <a:rPr sz="1300" b="0">
                <a:solidFill>
                  <a:srgbClr val="404040"/>
                </a:solidFill>
                <a:latin typeface="Consolas"/>
              </a:rPr>
              <a:t>Die 60 Raeder mit den</a:t>
            </a:r>
          </a:p>
          <a:p>
            <a:pPr algn="l">
              <a:lnSpc>
                <a:spcPct val="95000"/>
              </a:lnSpc>
              <a:spcBef>
                <a:spcPts val="200"/>
              </a:spcBef>
            </a:pPr>
            <a:r>
              <a:rPr sz="1300" b="0">
                <a:solidFill>
                  <a:srgbClr val="404040"/>
                </a:solidFill>
                <a:latin typeface="Consolas"/>
              </a:rPr>
              <a:t>meisten Kilometern seit</a:t>
            </a:r>
          </a:p>
          <a:p>
            <a:pPr algn="l">
              <a:lnSpc>
                <a:spcPct val="95000"/>
              </a:lnSpc>
              <a:spcBef>
                <a:spcPts val="200"/>
              </a:spcBef>
            </a:pPr>
            <a:r>
              <a:rPr sz="1300" b="0">
                <a:solidFill>
                  <a:srgbClr val="404040"/>
                </a:solidFill>
                <a:latin typeface="Consolas"/>
              </a:rPr>
              <a:t>der letzten Wartung.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Eine Zeile Code.</a:t>
            </a:r>
          </a:p>
        </p:txBody>
      </p:sp>
      <p:sp>
        <p:nvSpPr>
          <p:cNvPr id="9" name="Rectangle 8"/>
          <p:cNvSpPr/>
          <p:nvPr/>
        </p:nvSpPr>
        <p:spPr>
          <a:xfrm>
            <a:off x="7096759"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879600"/>
            <a:ext cx="50800" cy="2286000"/>
          </a:xfrm>
          <a:prstGeom prst="rect">
            <a:avLst/>
          </a:prstGeom>
          <a:solidFill>
            <a:srgbClr val="5551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993900"/>
            <a:ext cx="5194300" cy="2057400"/>
          </a:xfrm>
          <a:prstGeom prst="rect">
            <a:avLst/>
          </a:prstGeom>
          <a:noFill/>
        </p:spPr>
        <p:txBody>
          <a:bodyPr wrap="square" lIns="0" tIns="0" rIns="0" bIns="0">
            <a:spAutoFit/>
          </a:bodyPr>
          <a:lstStyle/>
          <a:p>
            <a:pPr algn="l">
              <a:lnSpc>
                <a:spcPct val="95000"/>
              </a:lnSpc>
            </a:pPr>
            <a:r>
              <a:rPr sz="1400" b="1">
                <a:solidFill>
                  <a:srgbClr val="555148"/>
                </a:solidFill>
              </a:rPr>
              <a:t>Regel B — Alter</a:t>
            </a:r>
          </a:p>
          <a:p>
            <a:pPr algn="l">
              <a:lnSpc>
                <a:spcPct val="95000"/>
              </a:lnSpc>
              <a:spcBef>
                <a:spcPts val="200"/>
              </a:spcBef>
            </a:pPr>
            <a:r>
              <a:rPr sz="1300" b="0">
                <a:solidFill>
                  <a:srgbClr val="404040"/>
                </a:solidFill>
                <a:latin typeface="Consolas"/>
              </a:rPr>
              <a:t>Die 60 aeltesten Raeder</a:t>
            </a:r>
          </a:p>
          <a:p>
            <a:pPr algn="l">
              <a:lnSpc>
                <a:spcPct val="95000"/>
              </a:lnSpc>
              <a:spcBef>
                <a:spcPts val="200"/>
              </a:spcBef>
            </a:pPr>
            <a:r>
              <a:rPr sz="1300" b="0">
                <a:solidFill>
                  <a:srgbClr val="404040"/>
                </a:solidFill>
                <a:latin typeface="Consolas"/>
              </a:rPr>
              <a:t>der Flotte.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Ebenfalls eine Zeile.</a:t>
            </a:r>
          </a:p>
          <a:p>
            <a:pPr algn="l">
              <a:lnSpc>
                <a:spcPct val="95000"/>
              </a:lnSpc>
              <a:spcBef>
                <a:spcPts val="200"/>
              </a:spcBef>
            </a:pPr>
            <a:r>
              <a:rPr sz="1300" b="0">
                <a:solidFill>
                  <a:srgbClr val="404040"/>
                </a:solidFill>
                <a:latin typeface="Consolas"/>
              </a:rPr>
              <a:t>Deutlich schwaecher als A.</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Gleichstand — und was das bedeutet</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Trefferquote und Kosten sind auf die zweite Stelle identisch. Das ist kein Zufall, sondern eine Aussage über die Aufgabe.</a:t>
            </a:r>
          </a:p>
        </p:txBody>
      </p:sp>
      <p:sp>
        <p:nvSpPr>
          <p:cNvPr id="6" name="Rectangle 5"/>
          <p:cNvSpPr/>
          <p:nvPr/>
        </p:nvSpPr>
        <p:spPr>
          <a:xfrm>
            <a:off x="1153160" y="1879600"/>
            <a:ext cx="3810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7" name="Rectangle 6"/>
          <p:cNvSpPr/>
          <p:nvPr/>
        </p:nvSpPr>
        <p:spPr>
          <a:xfrm>
            <a:off x="4963160" y="1879600"/>
            <a:ext cx="190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6868159" y="1879600"/>
            <a:ext cx="190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Kosten</a:t>
            </a:r>
          </a:p>
        </p:txBody>
      </p:sp>
      <p:sp>
        <p:nvSpPr>
          <p:cNvPr id="9" name="Rectangle 8"/>
          <p:cNvSpPr/>
          <p:nvPr/>
        </p:nvSpPr>
        <p:spPr>
          <a:xfrm>
            <a:off x="8773160" y="1879600"/>
            <a:ext cx="385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Aufwand</a:t>
            </a:r>
          </a:p>
        </p:txBody>
      </p:sp>
      <p:sp>
        <p:nvSpPr>
          <p:cNvPr id="10" name="Rectangle 9"/>
          <p:cNvSpPr/>
          <p:nvPr/>
        </p:nvSpPr>
        <p:spPr>
          <a:xfrm>
            <a:off x="1153160" y="2489200"/>
            <a:ext cx="3810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Regel A (Kilometerstand)</a:t>
            </a:r>
          </a:p>
        </p:txBody>
      </p:sp>
      <p:sp>
        <p:nvSpPr>
          <p:cNvPr id="11" name="Rectangle 10"/>
          <p:cNvSpPr/>
          <p:nvPr/>
        </p:nvSpPr>
        <p:spPr>
          <a:xfrm>
            <a:off x="4963160" y="24892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70,0 %</a:t>
            </a:r>
          </a:p>
        </p:txBody>
      </p:sp>
      <p:sp>
        <p:nvSpPr>
          <p:cNvPr id="12" name="Rectangle 11"/>
          <p:cNvSpPr/>
          <p:nvPr/>
        </p:nvSpPr>
        <p:spPr>
          <a:xfrm>
            <a:off x="6868159" y="24892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10.890 €</a:t>
            </a:r>
          </a:p>
        </p:txBody>
      </p:sp>
      <p:sp>
        <p:nvSpPr>
          <p:cNvPr id="13" name="Rectangle 12"/>
          <p:cNvSpPr/>
          <p:nvPr/>
        </p:nvSpPr>
        <p:spPr>
          <a:xfrm>
            <a:off x="8773160" y="2489200"/>
            <a:ext cx="3854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Zeile</a:t>
            </a:r>
          </a:p>
        </p:txBody>
      </p:sp>
      <p:sp>
        <p:nvSpPr>
          <p:cNvPr id="14" name="Rectangle 13"/>
          <p:cNvSpPr/>
          <p:nvPr/>
        </p:nvSpPr>
        <p:spPr>
          <a:xfrm>
            <a:off x="1153160" y="3098800"/>
            <a:ext cx="3810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a:t>
            </a:r>
          </a:p>
        </p:txBody>
      </p:sp>
      <p:sp>
        <p:nvSpPr>
          <p:cNvPr id="15" name="Rectangle 14"/>
          <p:cNvSpPr/>
          <p:nvPr/>
        </p:nvSpPr>
        <p:spPr>
          <a:xfrm>
            <a:off x="4963160" y="30988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70,0 %</a:t>
            </a:r>
          </a:p>
        </p:txBody>
      </p:sp>
      <p:sp>
        <p:nvSpPr>
          <p:cNvPr id="16" name="Rectangle 15"/>
          <p:cNvSpPr/>
          <p:nvPr/>
        </p:nvSpPr>
        <p:spPr>
          <a:xfrm>
            <a:off x="6868159" y="30988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10.890 €</a:t>
            </a:r>
          </a:p>
        </p:txBody>
      </p:sp>
      <p:sp>
        <p:nvSpPr>
          <p:cNvPr id="17" name="Rectangle 16"/>
          <p:cNvSpPr/>
          <p:nvPr/>
        </p:nvSpPr>
        <p:spPr>
          <a:xfrm>
            <a:off x="8773160" y="3098800"/>
            <a:ext cx="3854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Training, Pflege, Überwachung</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Gleichstand, gegen die Kriterien aus Phase 1 gehalten</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analytics/notebooks/02_Klassifikation_Wartungsrisiko.ipynb · Abschnitt 5.4</a:t>
            </a:r>
          </a:p>
        </p:txBody>
      </p:sp>
      <p:sp>
        <p:nvSpPr>
          <p:cNvPr id="5" name="Rectangle 4"/>
          <p:cNvSpPr/>
          <p:nvPr/>
        </p:nvSpPr>
        <p:spPr>
          <a:xfrm>
            <a:off x="1051560" y="1512242"/>
            <a:ext cx="11677650" cy="368111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gleichstand.png"/>
          <p:cNvPicPr>
            <a:picLocks noChangeAspect="1"/>
          </p:cNvPicPr>
          <p:nvPr/>
        </p:nvPicPr>
        <p:blipFill>
          <a:blip r:embed="rId2"/>
          <a:stretch>
            <a:fillRect/>
          </a:stretch>
        </p:blipFill>
        <p:spPr>
          <a:xfrm>
            <a:off x="1153160" y="1613842"/>
            <a:ext cx="11474450" cy="3477914"/>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Beide Kandidaten, beide Kriterien, eine Tabelle — und kein Unterschied.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die Regel, nicht das Modell</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Gleichstand gewinnt die einfachere Lösung. Das ist keine Bescheidenheit, sondern eine Kostenrechnung über die Lebensdauer.</a:t>
            </a:r>
          </a:p>
        </p:txBody>
      </p:sp>
      <p:sp>
        <p:nvSpPr>
          <p:cNvPr id="6" name="Rectangle 5"/>
          <p:cNvSpPr/>
          <p:nvPr/>
        </p:nvSpPr>
        <p:spPr>
          <a:xfrm>
            <a:off x="1153160"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Modell</a:t>
            </a:r>
          </a:p>
        </p:txBody>
      </p:sp>
      <p:sp>
        <p:nvSpPr>
          <p:cNvPr id="9" name="TextBox 8"/>
          <p:cNvSpPr txBox="1"/>
          <p:nvPr/>
        </p:nvSpPr>
        <p:spPr>
          <a:xfrm>
            <a:off x="1330960" y="23876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Was seine Auslieferung kostet</a:t>
            </a:r>
          </a:p>
          <a:p>
            <a:pPr algn="l">
              <a:lnSpc>
                <a:spcPct val="95000"/>
              </a:lnSpc>
              <a:spcBef>
                <a:spcPts val="300"/>
              </a:spcBef>
            </a:pPr>
            <a:r>
              <a:rPr sz="1300" b="0">
                <a:solidFill>
                  <a:srgbClr val="404040"/>
                </a:solidFill>
              </a:rPr>
              <a:t>Trainingsdaten vorhalten</a:t>
            </a:r>
          </a:p>
          <a:p>
            <a:pPr algn="l">
              <a:lnSpc>
                <a:spcPct val="95000"/>
              </a:lnSpc>
              <a:spcBef>
                <a:spcPts val="300"/>
              </a:spcBef>
            </a:pPr>
            <a:r>
              <a:rPr sz="1300" b="0">
                <a:solidFill>
                  <a:srgbClr val="404040"/>
                </a:solidFill>
              </a:rPr>
              <a:t>Regelmäßig nachtrainieren</a:t>
            </a:r>
          </a:p>
          <a:p>
            <a:pPr algn="l">
              <a:lnSpc>
                <a:spcPct val="95000"/>
              </a:lnSpc>
              <a:spcBef>
                <a:spcPts val="300"/>
              </a:spcBef>
            </a:pPr>
            <a:r>
              <a:rPr sz="1300" b="0">
                <a:solidFill>
                  <a:srgbClr val="404040"/>
                </a:solidFill>
              </a:rPr>
              <a:t>Überwachen, ob es abdriftet</a:t>
            </a:r>
          </a:p>
          <a:p>
            <a:pPr algn="l">
              <a:lnSpc>
                <a:spcPct val="95000"/>
              </a:lnSpc>
              <a:spcBef>
                <a:spcPts val="300"/>
              </a:spcBef>
            </a:pPr>
            <a:r>
              <a:rPr sz="1300" b="0">
                <a:solidFill>
                  <a:srgbClr val="404040"/>
                </a:solidFill>
              </a:rPr>
              <a:t>Erklären, warum Rad 47 auf</a:t>
            </a:r>
          </a:p>
          <a:p>
            <a:pPr algn="l">
              <a:lnSpc>
                <a:spcPct val="95000"/>
              </a:lnSpc>
              <a:spcBef>
                <a:spcPts val="300"/>
              </a:spcBef>
            </a:pPr>
            <a:r>
              <a:rPr sz="1300" b="0">
                <a:solidFill>
                  <a:srgbClr val="404040"/>
                </a:solidFill>
              </a:rPr>
              <a:t>  der Liste steht</a:t>
            </a:r>
          </a:p>
          <a:p>
            <a:pPr algn="l">
              <a:lnSpc>
                <a:spcPct val="95000"/>
              </a:lnSpc>
              <a:spcBef>
                <a:spcPts val="300"/>
              </a:spcBef>
            </a:pPr>
            <a:r>
              <a:rPr sz="1300" b="0">
                <a:solidFill>
                  <a:srgbClr val="404040"/>
                </a:solidFill>
              </a:rPr>
              <a:t>Jemanden vorhalten, der das kann</a:t>
            </a:r>
          </a:p>
        </p:txBody>
      </p:sp>
      <p:sp>
        <p:nvSpPr>
          <p:cNvPr id="10" name="Rectangle 9"/>
          <p:cNvSpPr/>
          <p:nvPr/>
        </p:nvSpPr>
        <p:spPr>
          <a:xfrm>
            <a:off x="7096759"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Die Regel</a:t>
            </a:r>
          </a:p>
        </p:txBody>
      </p:sp>
      <p:sp>
        <p:nvSpPr>
          <p:cNvPr id="13" name="TextBox 12"/>
          <p:cNvSpPr txBox="1"/>
          <p:nvPr/>
        </p:nvSpPr>
        <p:spPr>
          <a:xfrm>
            <a:off x="7274559" y="23876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Was ihre Auslieferung kostet</a:t>
            </a:r>
          </a:p>
          <a:p>
            <a:pPr algn="l">
              <a:lnSpc>
                <a:spcPct val="95000"/>
              </a:lnSpc>
              <a:spcBef>
                <a:spcPts val="300"/>
              </a:spcBef>
            </a:pPr>
            <a:r>
              <a:rPr sz="1300" b="0">
                <a:solidFill>
                  <a:srgbClr val="404040"/>
                </a:solidFill>
              </a:rPr>
              <a:t>Eine SQL-Abfrage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Jede Werkstattkraft versteht,</a:t>
            </a:r>
          </a:p>
          <a:p>
            <a:pPr algn="l">
              <a:lnSpc>
                <a:spcPct val="95000"/>
              </a:lnSpc>
              <a:spcBef>
                <a:spcPts val="300"/>
              </a:spcBef>
            </a:pPr>
            <a:r>
              <a:rPr sz="1300" b="0">
                <a:solidFill>
                  <a:srgbClr val="404040"/>
                </a:solidFill>
              </a:rPr>
              <a:t>warum ein Rad auf der Liste</a:t>
            </a:r>
          </a:p>
          <a:p>
            <a:pPr algn="l">
              <a:lnSpc>
                <a:spcPct val="95000"/>
              </a:lnSpc>
              <a:spcBef>
                <a:spcPts val="300"/>
              </a:spcBef>
            </a:pPr>
            <a:r>
              <a:rPr sz="1300" b="0">
                <a:solidFill>
                  <a:srgbClr val="404040"/>
                </a:solidFill>
              </a:rPr>
              <a:t>steht — und kann widersprechen,</a:t>
            </a:r>
          </a:p>
          <a:p>
            <a:pPr algn="l">
              <a:lnSpc>
                <a:spcPct val="95000"/>
              </a:lnSpc>
              <a:spcBef>
                <a:spcPts val="300"/>
              </a:spcBef>
            </a:pPr>
            <a:r>
              <a:rPr sz="1300" b="0">
                <a:solidFill>
                  <a:srgbClr val="404040"/>
                </a:solidFill>
              </a:rPr>
              <a:t>wenn es falsch ist.</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Rückkopplung, die dieses Verfahren schwierig macht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Wer die Liste abarbeitet, verändert die Daten, aus denen das nächste Modell lernt. Diese Falle betrifft jede vorausschauende Wartung.</a:t>
            </a:r>
          </a:p>
        </p:txBody>
      </p:sp>
      <p:sp>
        <p:nvSpPr>
          <p:cNvPr id="6" name="Rectangle 5"/>
          <p:cNvSpPr/>
          <p:nvPr/>
        </p:nvSpPr>
        <p:spPr>
          <a:xfrm>
            <a:off x="1051560" y="2079887"/>
            <a:ext cx="11677650" cy="356182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2-rueckkopplung.png"/>
          <p:cNvPicPr>
            <a:picLocks noChangeAspect="1"/>
          </p:cNvPicPr>
          <p:nvPr/>
        </p:nvPicPr>
        <p:blipFill>
          <a:blip r:embed="rId2"/>
          <a:stretch>
            <a:fillRect/>
          </a:stretch>
        </p:blipFill>
        <p:spPr>
          <a:xfrm>
            <a:off x="1153160" y="2181487"/>
            <a:ext cx="11474450" cy="3358624"/>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2 · Abschluss</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Fall, der mit einem negativen Modellurteil endet — und trotzdem ein Erfolg ist.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Kostenmatrix 180 € gegen 25 €, zwei Kriterien — eines davon der Vergleich mit der Faustregel</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 ≈ 0,7, aber nicht deterministisch. 44 % melden sich, die Werkstatt schafft 26 %</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Zeitlicher Schnitt, acht Stichtage, jüngster als Test</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Erst zwei Faustregeln, dann Baum und Wald mit class_weight aus der Kostenmatrix</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Gleichstand: je 70,0 % und je 10.890 €</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Regel — mit Wartungsliste, Überwachung und der Rückkopplungsfalle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legt man Erfolgskriterien fest, wenn es gar keine richtige Antwort gibt, an der man messen könnte?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Fragen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Welche Stationstypen gibt es? B) Welche Kundengruppen?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finden, die niemand vorgegeben hat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 also auch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Benennbar · unterschiedlich behandelbar · groß genug · stabil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k über Ellenbogenmethode und Silhouettenwert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Stationstypen, gegen die verdeckte Wahrheit geprüft: 100 % — und zwei Befunde, die weh tun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Erfolgskriterien ohne richtige Antwort</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Label gibt es keine Trefferquote. Die Kriterien kommen deshalb aus dem Betrieb — und sie sind schärfer, als sie klingen.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Benennbar  </a:t>
            </a:r>
            <a:r>
              <a:rPr sz="1300">
                <a:solidFill>
                  <a:srgbClr val="404040"/>
                </a:solidFill>
              </a:rPr>
              <a:t>Wenn die Disposition der Gruppe keinen Namen geben kann, ist sie keine Gruppe</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Behandelbar  </a:t>
            </a:r>
            <a:r>
              <a:rPr sz="1300">
                <a:solidFill>
                  <a:srgbClr val="404040"/>
                </a:solidFill>
              </a:rPr>
              <a:t>Zwei Gruppen, die man gleich behandelt, sind eine Gruppe</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Groß genug  </a:t>
            </a:r>
            <a:r>
              <a:rPr sz="1300">
                <a:solidFill>
                  <a:srgbClr val="404040"/>
                </a:solidFill>
              </a:rPr>
              <a:t>Eine Gruppe mit drei Mitgliedern rechtfertigt keinen eigenen Prozess</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Stabil  </a:t>
            </a:r>
            <a:r>
              <a:rPr sz="1300">
                <a:solidFill>
                  <a:srgbClr val="404040"/>
                </a:solidFill>
              </a:rPr>
              <a:t>Andere Zeiträume, ähnliche Gruppen — sonst hat man Rauschen gruppiert</a:t>
            </a:r>
          </a:p>
        </p:txBody>
      </p:sp>
      <p:sp>
        <p:nvSpPr>
          <p:cNvPr id="22" name="Rectangle 21"/>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3 · Phasen 2 und 3</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Daten hergeben — und warum hier zwingend standardisiert werden muss.</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Die Stammdaten enthalten keinen Stationstyp. Das Muster steckt nicht in den Attributen, sondern im Verhalten über den Tag</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3.A  </a:t>
            </a:r>
            <a:r>
              <a:rPr sz="1300">
                <a:solidFill>
                  <a:srgbClr val="404040"/>
                </a:solidFill>
              </a:rPr>
              <a:t>Tagesgang je Station, normiert und standardisiert</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3.B  </a:t>
            </a:r>
            <a:r>
              <a:rPr sz="1300">
                <a:solidFill>
                  <a:srgbClr val="404040"/>
                </a:solidFill>
              </a:rPr>
              <a:t>RFM über 365 Tage: Recency, Frequency, Monetary — Frequenz und Umsatz logarithmiert, weil beide stark rechtsschief sind</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viele Gruppen? Zwei Hinweise, keine Antwort</a:t>
            </a:r>
          </a:p>
        </p:txBody>
      </p:sp>
      <p:sp>
        <p:nvSpPr>
          <p:cNvPr id="3" name="Text Placeholder 2"/>
          <p:cNvSpPr>
            <a:spLocks noGrp="1"/>
          </p:cNvSpPr>
          <p:nvPr>
            <p:ph type="body" idx="12" sz="quarter"/>
          </p:nvPr>
        </p:nvSpPr>
        <p:spPr/>
        <p:txBody>
          <a:bodyPr/>
          <a:lstStyle/>
          <a:p>
            <a:r>
              <a:t>Fall 3 · Phase 4</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 wird nicht berechnet, sondern begründet. Zwei Werkzeuge helfen — entscheiden muss der Mensch.</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Ellenbogenmethode</a:t>
            </a:r>
          </a:p>
          <a:p>
            <a:pPr algn="l">
              <a:lnSpc>
                <a:spcPct val="95000"/>
              </a:lnSpc>
              <a:spcBef>
                <a:spcPts val="500"/>
              </a:spcBef>
            </a:pPr>
            <a:r>
              <a:rPr sz="1300" b="0">
                <a:solidFill>
                  <a:srgbClr val="404040"/>
                </a:solidFill>
              </a:rPr>
              <a:t>Man rechnet k = 2, 3, 4 …</a:t>
            </a:r>
          </a:p>
          <a:p>
            <a:pPr algn="l">
              <a:lnSpc>
                <a:spcPct val="95000"/>
              </a:lnSpc>
              <a:spcBef>
                <a:spcPts val="500"/>
              </a:spcBef>
            </a:pPr>
            <a:r>
              <a:rPr sz="1300" b="0">
                <a:solidFill>
                  <a:srgbClr val="404040"/>
                </a:solidFill>
              </a:rPr>
              <a:t>und trägt die Streuung</a:t>
            </a:r>
          </a:p>
          <a:p>
            <a:pPr algn="l">
              <a:lnSpc>
                <a:spcPct val="95000"/>
              </a:lnSpc>
              <a:spcBef>
                <a:spcPts val="500"/>
              </a:spcBef>
            </a:pPr>
            <a:r>
              <a:rPr sz="1300" b="0">
                <a:solidFill>
                  <a:srgbClr val="404040"/>
                </a:solidFill>
              </a:rPr>
              <a:t>innerhalb der Gruppen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Wo der Knick ist, bringt eine</a:t>
            </a:r>
          </a:p>
          <a:p>
            <a:pPr algn="l">
              <a:lnSpc>
                <a:spcPct val="95000"/>
              </a:lnSpc>
              <a:spcBef>
                <a:spcPts val="500"/>
              </a:spcBef>
            </a:pPr>
            <a:r>
              <a:rPr sz="1300" b="0">
                <a:solidFill>
                  <a:srgbClr val="404040"/>
                </a:solidFill>
              </a:rPr>
              <a:t>weitere Gruppe wenig.</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Silhouettenwert</a:t>
            </a:r>
          </a:p>
          <a:p>
            <a:pPr algn="l">
              <a:lnSpc>
                <a:spcPct val="95000"/>
              </a:lnSpc>
              <a:spcBef>
                <a:spcPts val="500"/>
              </a:spcBef>
            </a:pPr>
            <a:r>
              <a:rPr sz="1300" b="0">
                <a:solidFill>
                  <a:srgbClr val="404040"/>
                </a:solidFill>
              </a:rPr>
              <a:t>Misst je Punkt: Wie nah bin</a:t>
            </a:r>
          </a:p>
          <a:p>
            <a:pPr algn="l">
              <a:lnSpc>
                <a:spcPct val="95000"/>
              </a:lnSpc>
              <a:spcBef>
                <a:spcPts val="500"/>
              </a:spcBef>
            </a:pPr>
            <a:r>
              <a:rPr sz="1300" b="0">
                <a:solidFill>
                  <a:srgbClr val="404040"/>
                </a:solidFill>
              </a:rPr>
              <a:t>ich meiner Gruppe gegenüber</a:t>
            </a:r>
          </a:p>
          <a:p>
            <a:pPr algn="l">
              <a:lnSpc>
                <a:spcPct val="95000"/>
              </a:lnSpc>
              <a:spcBef>
                <a:spcPts val="500"/>
              </a:spcBef>
            </a:pPr>
            <a:r>
              <a:rPr sz="1300" b="0">
                <a:solidFill>
                  <a:srgbClr val="404040"/>
                </a:solidFill>
              </a:rPr>
              <a:t>der nächsten fremden?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Höher ist besser.</a:t>
            </a:r>
          </a:p>
          <a:p>
            <a:pPr algn="l">
              <a:lnSpc>
                <a:spcPct val="95000"/>
              </a:lnSpc>
              <a:spcBef>
                <a:spcPts val="500"/>
              </a:spcBef>
            </a:pPr>
            <a:r>
              <a:rPr sz="1300" b="0">
                <a:solidFill>
                  <a:srgbClr val="404040"/>
                </a:solidFill>
              </a:rPr>
              <a:t>Bereich −1 bis +1.</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Und dann?</a:t>
            </a:r>
          </a:p>
          <a:p>
            <a:pPr algn="l">
              <a:lnSpc>
                <a:spcPct val="95000"/>
              </a:lnSpc>
              <a:spcBef>
                <a:spcPts val="500"/>
              </a:spcBef>
            </a:pPr>
            <a:r>
              <a:rPr sz="1300" b="0">
                <a:solidFill>
                  <a:srgbClr val="404040"/>
                </a:solidFill>
              </a:rPr>
              <a:t>Beide Werkzeuge geben einen</a:t>
            </a:r>
          </a:p>
          <a:p>
            <a:pPr algn="l">
              <a:lnSpc>
                <a:spcPct val="95000"/>
              </a:lnSpc>
              <a:spcBef>
                <a:spcPts val="500"/>
              </a:spcBef>
            </a:pPr>
            <a:r>
              <a:rPr sz="1300" b="0">
                <a:solidFill>
                  <a:srgbClr val="404040"/>
                </a:solidFill>
              </a:rPr>
              <a:t>Hinweis, keinen Beweis.</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Entscheidung fällt an</a:t>
            </a:r>
          </a:p>
          <a:p>
            <a:pPr algn="l">
              <a:lnSpc>
                <a:spcPct val="95000"/>
              </a:lnSpc>
              <a:spcBef>
                <a:spcPts val="500"/>
              </a:spcBef>
            </a:pPr>
            <a:r>
              <a:rPr sz="1300" b="0">
                <a:solidFill>
                  <a:srgbClr val="404040"/>
                </a:solidFill>
              </a:rPr>
              <a:t>Kriterium 1 aus Phase 1:</a:t>
            </a:r>
          </a:p>
          <a:p>
            <a:pPr algn="l">
              <a:lnSpc>
                <a:spcPct val="95000"/>
              </a:lnSpc>
              <a:spcBef>
                <a:spcPts val="500"/>
              </a:spcBef>
            </a:pPr>
            <a:r>
              <a:rPr sz="1300" b="0">
                <a:solidFill>
                  <a:srgbClr val="404040"/>
                </a:solidFill>
              </a:rPr>
              <a:t>Kann man sie benennen?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Ellenbogen und Silhouette, nebeneinander 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analytics/notebooks/03_Clustering_Stationen_und_Kunden.ipynb · Abschnitt 4.2</a:t>
            </a:r>
          </a:p>
        </p:txBody>
      </p:sp>
      <p:sp>
        <p:nvSpPr>
          <p:cNvPr id="5" name="Rectangle 4"/>
          <p:cNvSpPr/>
          <p:nvPr/>
        </p:nvSpPr>
        <p:spPr>
          <a:xfrm>
            <a:off x="1762641" y="1168400"/>
            <a:ext cx="1025548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k.png"/>
          <p:cNvPicPr>
            <a:picLocks noChangeAspect="1"/>
          </p:cNvPicPr>
          <p:nvPr/>
        </p:nvPicPr>
        <p:blipFill>
          <a:blip r:embed="rId2"/>
          <a:stretch>
            <a:fillRect/>
          </a:stretch>
        </p:blipFill>
        <p:spPr>
          <a:xfrm>
            <a:off x="1864241" y="1270000"/>
            <a:ext cx="1005228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Zwei Kennzahlen je k — und keine davon entscheidet. Die Entscheidung fällt am Kriterium „benennbar“ aus Phase 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Befunde, die weh tun</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Segmentierung sollte Zielgruppen für den Newsletter liefern. Herausgekommen ist eine Frage an die Preisgestaltung.</a:t>
            </a:r>
          </a:p>
        </p:txBody>
      </p:sp>
      <p:sp>
        <p:nvSpPr>
          <p:cNvPr id="6" name="Rectangle 5"/>
          <p:cNvSpPr/>
          <p:nvPr/>
        </p:nvSpPr>
        <p:spPr>
          <a:xfrm>
            <a:off x="115316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1</a:t>
            </a:r>
          </a:p>
          <a:p>
            <a:pPr algn="l">
              <a:lnSpc>
                <a:spcPct val="95000"/>
              </a:lnSpc>
              <a:spcBef>
                <a:spcPts val="500"/>
              </a:spcBef>
            </a:pPr>
            <a:r>
              <a:rPr sz="1300" b="0">
                <a:solidFill>
                  <a:srgbClr val="404040"/>
                </a:solidFill>
              </a:rPr>
              <a:t>Die Vielfahrer bringen den</a:t>
            </a:r>
          </a:p>
          <a:p>
            <a:pPr algn="l">
              <a:lnSpc>
                <a:spcPct val="95000"/>
              </a:lnSpc>
              <a:spcBef>
                <a:spcPts val="500"/>
              </a:spcBef>
            </a:pPr>
            <a:r>
              <a:rPr sz="1300" b="0">
                <a:solidFill>
                  <a:srgbClr val="404040"/>
                </a:solidFill>
              </a:rPr>
              <a:t>GERINGSTEN Umsatz.</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Ihre Tarife enthalten</a:t>
            </a:r>
          </a:p>
          <a:p>
            <a:pPr algn="l">
              <a:lnSpc>
                <a:spcPct val="95000"/>
              </a:lnSpc>
              <a:spcBef>
                <a:spcPts val="500"/>
              </a:spcBef>
            </a:pPr>
            <a:r>
              <a:rPr sz="1300" b="0">
                <a:solidFill>
                  <a:srgbClr val="404040"/>
                </a:solidFill>
              </a:rPr>
              <a:t>Freiminuten — und weil es</a:t>
            </a:r>
          </a:p>
          <a:p>
            <a:pPr algn="l">
              <a:lnSpc>
                <a:spcPct val="95000"/>
              </a:lnSpc>
              <a:spcBef>
                <a:spcPts val="500"/>
              </a:spcBef>
            </a:pPr>
            <a:r>
              <a:rPr sz="1300" b="0">
                <a:solidFill>
                  <a:srgbClr val="404040"/>
                </a:solidFill>
              </a:rPr>
              <a:t>keine Grundgebühr gibt, ist</a:t>
            </a:r>
          </a:p>
          <a:p>
            <a:pPr algn="l">
              <a:lnSpc>
                <a:spcPct val="95000"/>
              </a:lnSpc>
              <a:spcBef>
                <a:spcPts val="500"/>
              </a:spcBef>
            </a:pPr>
            <a:r>
              <a:rPr sz="1300" b="0">
                <a:solidFill>
                  <a:srgbClr val="404040"/>
                </a:solidFill>
              </a:rPr>
              <a:t>das Nutzungsentgelt der</a:t>
            </a:r>
          </a:p>
          <a:p>
            <a:pPr algn="l">
              <a:lnSpc>
                <a:spcPct val="95000"/>
              </a:lnSpc>
              <a:spcBef>
                <a:spcPts val="500"/>
              </a:spcBef>
            </a:pPr>
            <a:r>
              <a:rPr sz="1300" b="0">
                <a:solidFill>
                  <a:srgbClr val="404040"/>
                </a:solidFill>
              </a:rPr>
              <a:t>gesamte Umsatz.</a:t>
            </a:r>
          </a:p>
        </p:txBody>
      </p:sp>
      <p:sp>
        <p:nvSpPr>
          <p:cNvPr id="9" name="Rectangle 8"/>
          <p:cNvSpPr/>
          <p:nvPr/>
        </p:nvSpPr>
        <p:spPr>
          <a:xfrm>
            <a:off x="511302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2</a:t>
            </a:r>
          </a:p>
          <a:p>
            <a:pPr algn="l">
              <a:lnSpc>
                <a:spcPct val="95000"/>
              </a:lnSpc>
              <a:spcBef>
                <a:spcPts val="500"/>
              </a:spcBef>
            </a:pPr>
            <a:r>
              <a:rPr sz="1300" b="0">
                <a:solidFill>
                  <a:srgbClr val="404040"/>
                </a:solidFill>
              </a:rPr>
              <a:t>Knapp 30 % der Kundschaft</a:t>
            </a:r>
          </a:p>
          <a:p>
            <a:pPr algn="l">
              <a:lnSpc>
                <a:spcPct val="95000"/>
              </a:lnSpc>
              <a:spcBef>
                <a:spcPts val="500"/>
              </a:spcBef>
            </a:pPr>
            <a:r>
              <a:rPr sz="1300" b="0">
                <a:solidFill>
                  <a:srgbClr val="404040"/>
                </a:solidFill>
              </a:rPr>
              <a:t>taucht in der Segmentierung</a:t>
            </a:r>
          </a:p>
          <a:p>
            <a:pPr algn="l">
              <a:lnSpc>
                <a:spcPct val="95000"/>
              </a:lnSpc>
              <a:spcBef>
                <a:spcPts val="500"/>
              </a:spcBef>
            </a:pPr>
            <a:r>
              <a:rPr sz="1300" b="0">
                <a:solidFill>
                  <a:srgbClr val="404040"/>
                </a:solidFill>
              </a:rPr>
              <a:t>gar nicht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RFM sieht nur, wer kauft.</a:t>
            </a:r>
          </a:p>
          <a:p>
            <a:pPr algn="l">
              <a:lnSpc>
                <a:spcPct val="95000"/>
              </a:lnSpc>
              <a:spcBef>
                <a:spcPts val="500"/>
              </a:spcBef>
            </a:pPr>
            <a:r>
              <a:rPr sz="1300" b="0">
                <a:solidFill>
                  <a:srgbClr val="404040"/>
                </a:solidFill>
              </a:rPr>
              <a:t>Wer aufgehört hat, fällt aus</a:t>
            </a:r>
          </a:p>
          <a:p>
            <a:pPr algn="l">
              <a:lnSpc>
                <a:spcPct val="95000"/>
              </a:lnSpc>
              <a:spcBef>
                <a:spcPts val="500"/>
              </a:spcBef>
            </a:pPr>
            <a:r>
              <a:rPr sz="1300" b="0">
                <a:solidFill>
                  <a:srgbClr val="404040"/>
                </a:solidFill>
              </a:rPr>
              <a:t>der Tabelle — und aus dem</a:t>
            </a:r>
          </a:p>
          <a:p>
            <a:pPr algn="l">
              <a:lnSpc>
                <a:spcPct val="95000"/>
              </a:lnSpc>
              <a:spcBef>
                <a:spcPts val="500"/>
              </a:spcBef>
            </a:pPr>
            <a:r>
              <a:rPr sz="1300" b="0">
                <a:solidFill>
                  <a:srgbClr val="404040"/>
                </a:solidFill>
              </a:rPr>
              <a:t>Blick.</a:t>
            </a:r>
          </a:p>
        </p:txBody>
      </p:sp>
      <p:sp>
        <p:nvSpPr>
          <p:cNvPr id="12" name="Rectangle 11"/>
          <p:cNvSpPr/>
          <p:nvPr/>
        </p:nvSpPr>
        <p:spPr>
          <a:xfrm>
            <a:off x="908177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Kein Messfehler, sondern ein</a:t>
            </a:r>
          </a:p>
          <a:p>
            <a:pPr algn="l">
              <a:lnSpc>
                <a:spcPct val="95000"/>
              </a:lnSpc>
              <a:spcBef>
                <a:spcPts val="500"/>
              </a:spcBef>
            </a:pPr>
            <a:r>
              <a:rPr sz="1300" b="0">
                <a:solidFill>
                  <a:srgbClr val="404040"/>
                </a:solidFill>
              </a:rPr>
              <a:t>Preisproblem, das die</a:t>
            </a:r>
          </a:p>
          <a:p>
            <a:pPr algn="l">
              <a:lnSpc>
                <a:spcPct val="95000"/>
              </a:lnSpc>
              <a:spcBef>
                <a:spcPts val="500"/>
              </a:spcBef>
            </a:pPr>
            <a:r>
              <a:rPr sz="1300" b="0">
                <a:solidFill>
                  <a:srgbClr val="404040"/>
                </a:solidFill>
              </a:rPr>
              <a:t>Segmentierung sichtbar</a:t>
            </a:r>
          </a:p>
          <a:p>
            <a:pPr algn="l">
              <a:lnSpc>
                <a:spcPct val="95000"/>
              </a:lnSpc>
              <a:spcBef>
                <a:spcPts val="500"/>
              </a:spcBef>
            </a:pPr>
            <a:r>
              <a:rPr sz="1300" b="0">
                <a:solidFill>
                  <a:srgbClr val="404040"/>
                </a:solidFill>
              </a:rPr>
              <a:t>gemacht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ein Rücksprung nach</a:t>
            </a:r>
          </a:p>
          <a:p>
            <a:pPr algn="l">
              <a:lnSpc>
                <a:spcPct val="95000"/>
              </a:lnSpc>
              <a:spcBef>
                <a:spcPts val="500"/>
              </a:spcBef>
            </a:pPr>
            <a:r>
              <a:rPr sz="1300" b="0">
                <a:solidFill>
                  <a:srgbClr val="404040"/>
                </a:solidFill>
              </a:rPr>
              <a:t>Phase 1 — mit einer besseren</a:t>
            </a:r>
          </a:p>
          <a:p>
            <a:pPr algn="l">
              <a:lnSpc>
                <a:spcPct val="95000"/>
              </a:lnSpc>
              <a:spcBef>
                <a:spcPts val="500"/>
              </a:spcBef>
            </a:pPr>
            <a:r>
              <a:rPr sz="1300" b="0">
                <a:solidFill>
                  <a:srgbClr val="404040"/>
                </a:solidFill>
              </a:rPr>
              <a:t>Frage als der ersten.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Idee für die Geschäftsführung — ausdrücklich als Hypothese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analytics/notebooks/03_Clustering_Stationen_und_Kunden.ipynb · Abschnitt 5.B.3</a:t>
            </a:r>
          </a:p>
        </p:txBody>
      </p:sp>
      <p:sp>
        <p:nvSpPr>
          <p:cNvPr id="5" name="Rectangle 4"/>
          <p:cNvSpPr/>
          <p:nvPr/>
        </p:nvSpPr>
        <p:spPr>
          <a:xfrm>
            <a:off x="2632355" y="1168400"/>
            <a:ext cx="8516058"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hypothese.png"/>
          <p:cNvPicPr>
            <a:picLocks noChangeAspect="1"/>
          </p:cNvPicPr>
          <p:nvPr/>
        </p:nvPicPr>
        <p:blipFill>
          <a:blip r:embed="rId2"/>
          <a:stretch>
            <a:fillRect/>
          </a:stretch>
        </p:blipFill>
        <p:spPr>
          <a:xfrm>
            <a:off x="2733955" y="1270000"/>
            <a:ext cx="8312858"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schreibt „HYPOTHESE, kein Befund“ in die Ausgabe selbst. Damit kann die Zahl nicht als Ergebnis missverstanden werden.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Auslieferungen, zwei Vorbehalte</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Analyse werden zwei sehr verschiedene Produkte — und beide tragen eine Einschränkung.</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A — Disposition</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Dispositionsplan als CSV</a:t>
            </a:r>
          </a:p>
          <a:p>
            <a:pPr algn="l">
              <a:lnSpc>
                <a:spcPct val="95000"/>
              </a:lnSpc>
              <a:spcBef>
                <a:spcPts val="300"/>
              </a:spcBef>
            </a:pPr>
            <a:r>
              <a:rPr sz="1300" b="0">
                <a:solidFill>
                  <a:srgbClr val="404040"/>
                </a:solidFill>
              </a:rPr>
              <a:t>Je Station der Typ und die</a:t>
            </a:r>
          </a:p>
          <a:p>
            <a:pPr algn="l">
              <a:lnSpc>
                <a:spcPct val="95000"/>
              </a:lnSpc>
              <a:spcBef>
                <a:spcPts val="300"/>
              </a:spcBef>
            </a:pPr>
            <a:r>
              <a:rPr sz="1300" b="0">
                <a:solidFill>
                  <a:srgbClr val="404040"/>
                </a:solidFill>
              </a:rPr>
              <a:t>empfohlene Umverteilung.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Die Gruppen sind</a:t>
            </a:r>
          </a:p>
          <a:p>
            <a:pPr algn="l">
              <a:lnSpc>
                <a:spcPct val="95000"/>
              </a:lnSpc>
              <a:spcBef>
                <a:spcPts val="300"/>
              </a:spcBef>
            </a:pPr>
            <a:r>
              <a:rPr sz="1300" b="0">
                <a:solidFill>
                  <a:srgbClr val="404040"/>
                </a:solidFill>
              </a:rPr>
              <a:t>aus einem Jahr gerechnet.</a:t>
            </a:r>
          </a:p>
          <a:p>
            <a:pPr algn="l">
              <a:lnSpc>
                <a:spcPct val="95000"/>
              </a:lnSpc>
              <a:spcBef>
                <a:spcPts val="300"/>
              </a:spcBef>
            </a:pPr>
            <a:r>
              <a:rPr sz="1300" b="0">
                <a:solidFill>
                  <a:srgbClr val="404040"/>
                </a:solidFill>
              </a:rPr>
              <a:t>Ändert sich das Netz, muss</a:t>
            </a:r>
          </a:p>
          <a:p>
            <a:pPr algn="l">
              <a:lnSpc>
                <a:spcPct val="95000"/>
              </a:lnSpc>
              <a:spcBef>
                <a:spcPts val="300"/>
              </a:spcBef>
            </a:pPr>
            <a:r>
              <a:rPr sz="1300" b="0">
                <a:solidFill>
                  <a:srgbClr val="404040"/>
                </a:solidFill>
              </a:rPr>
              <a:t>neu gruppiert werden.</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B — Marketing</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Kampagnenplan je Segment</a:t>
            </a:r>
          </a:p>
          <a:p>
            <a:pPr algn="l">
              <a:lnSpc>
                <a:spcPct val="95000"/>
              </a:lnSpc>
              <a:spcBef>
                <a:spcPts val="300"/>
              </a:spcBef>
            </a:pPr>
            <a:r>
              <a:rPr sz="1300" b="0">
                <a:solidFill>
                  <a:srgbClr val="404040"/>
                </a:solidFill>
              </a:rPr>
              <a:t>Vier Segmente, vier Ansprachen.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Datenschutz. Eine</a:t>
            </a:r>
          </a:p>
          <a:p>
            <a:pPr algn="l">
              <a:lnSpc>
                <a:spcPct val="95000"/>
              </a:lnSpc>
              <a:spcBef>
                <a:spcPts val="300"/>
              </a:spcBef>
            </a:pPr>
            <a:r>
              <a:rPr sz="1300" b="0">
                <a:solidFill>
                  <a:srgbClr val="404040"/>
                </a:solidFill>
              </a:rPr>
              <a:t>Segmentierung ist eine</a:t>
            </a:r>
          </a:p>
          <a:p>
            <a:pPr algn="l">
              <a:lnSpc>
                <a:spcPct val="95000"/>
              </a:lnSpc>
              <a:spcBef>
                <a:spcPts val="300"/>
              </a:spcBef>
            </a:pPr>
            <a:r>
              <a:rPr sz="1300" b="0">
                <a:solidFill>
                  <a:srgbClr val="404040"/>
                </a:solidFill>
              </a:rPr>
              <a:t>Profilbildung — sie braucht</a:t>
            </a:r>
          </a:p>
          <a:p>
            <a:pPr algn="l">
              <a:lnSpc>
                <a:spcPct val="95000"/>
              </a:lnSpc>
              <a:spcBef>
                <a:spcPts val="300"/>
              </a:spcBef>
            </a:pPr>
            <a:r>
              <a:rPr sz="1300" b="0">
                <a:solidFill>
                  <a:srgbClr val="404040"/>
                </a:solidFill>
              </a:rPr>
              <a:t>eine Rechtsgrundlage, keine</a:t>
            </a:r>
          </a:p>
          <a:p>
            <a:pPr algn="l">
              <a:lnSpc>
                <a:spcPct val="95000"/>
              </a:lnSpc>
              <a:spcBef>
                <a:spcPts val="300"/>
              </a:spcBef>
            </a:pPr>
            <a:r>
              <a:rPr sz="1300" b="0">
                <a:solidFill>
                  <a:srgbClr val="404040"/>
                </a:solidFill>
              </a:rPr>
              <a:t>gute Absicht.</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3 · Abschluss</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Fragen, ein Verfahren — und ein Ergebnis, das die Ausgangsfrage übertroffen hat.</a:t>
            </a:r>
          </a:p>
        </p:txBody>
      </p:sp>
      <p:sp>
        <p:nvSpPr>
          <p:cNvPr id="6" name="Rectangle 5"/>
          <p:cNvSpPr/>
          <p:nvPr/>
        </p:nvSpPr>
        <p:spPr>
          <a:xfrm>
            <a:off x="1153160" y="1651000"/>
            <a:ext cx="2032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3185160" y="1651000"/>
            <a:ext cx="4318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 Stationen</a:t>
            </a:r>
          </a:p>
        </p:txBody>
      </p:sp>
      <p:sp>
        <p:nvSpPr>
          <p:cNvPr id="8" name="Rectangle 7"/>
          <p:cNvSpPr/>
          <p:nvPr/>
        </p:nvSpPr>
        <p:spPr>
          <a:xfrm>
            <a:off x="7503159" y="1651000"/>
            <a:ext cx="5124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 Kundschaft</a:t>
            </a:r>
          </a:p>
        </p:txBody>
      </p:sp>
      <p:sp>
        <p:nvSpPr>
          <p:cNvPr id="9" name="Rectangle 8"/>
          <p:cNvSpPr/>
          <p:nvPr/>
        </p:nvSpPr>
        <p:spPr>
          <a:xfrm>
            <a:off x="1153160" y="2159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a:t>
            </a:r>
          </a:p>
        </p:txBody>
      </p:sp>
      <p:sp>
        <p:nvSpPr>
          <p:cNvPr id="10" name="Rectangle 9"/>
          <p:cNvSpPr/>
          <p:nvPr/>
        </p:nvSpPr>
        <p:spPr>
          <a:xfrm>
            <a:off x="3185160" y="2159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Umverteilung nach Regeln</a:t>
            </a:r>
          </a:p>
        </p:txBody>
      </p:sp>
      <p:sp>
        <p:nvSpPr>
          <p:cNvPr id="11" name="Rectangle 10"/>
          <p:cNvSpPr/>
          <p:nvPr/>
        </p:nvSpPr>
        <p:spPr>
          <a:xfrm>
            <a:off x="7503159" y="2159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Newsletter nach Segmenten</a:t>
            </a:r>
          </a:p>
        </p:txBody>
      </p:sp>
      <p:sp>
        <p:nvSpPr>
          <p:cNvPr id="12" name="Rectangle 11"/>
          <p:cNvSpPr/>
          <p:nvPr/>
        </p:nvSpPr>
        <p:spPr>
          <a:xfrm>
            <a:off x="1153160" y="2667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a:t>
            </a:r>
          </a:p>
        </p:txBody>
      </p:sp>
      <p:sp>
        <p:nvSpPr>
          <p:cNvPr id="13" name="Rectangle 12"/>
          <p:cNvSpPr/>
          <p:nvPr/>
        </p:nvSpPr>
        <p:spPr>
          <a:xfrm>
            <a:off x="3185160" y="2667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Typ in den Stammdaten</a:t>
            </a:r>
          </a:p>
        </p:txBody>
      </p:sp>
      <p:sp>
        <p:nvSpPr>
          <p:cNvPr id="14" name="Rectangle 13"/>
          <p:cNvSpPr/>
          <p:nvPr/>
        </p:nvSpPr>
        <p:spPr>
          <a:xfrm>
            <a:off x="7503159" y="2667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Segment in der Kundentabelle</a:t>
            </a:r>
          </a:p>
        </p:txBody>
      </p:sp>
      <p:sp>
        <p:nvSpPr>
          <p:cNvPr id="15" name="Rectangle 14"/>
          <p:cNvSpPr/>
          <p:nvPr/>
        </p:nvSpPr>
        <p:spPr>
          <a:xfrm>
            <a:off x="1153160" y="3175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Preparation</a:t>
            </a:r>
          </a:p>
        </p:txBody>
      </p:sp>
      <p:sp>
        <p:nvSpPr>
          <p:cNvPr id="16" name="Rectangle 15"/>
          <p:cNvSpPr/>
          <p:nvPr/>
        </p:nvSpPr>
        <p:spPr>
          <a:xfrm>
            <a:off x="3185160" y="3175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Tagesgang, standardisiert</a:t>
            </a:r>
          </a:p>
        </p:txBody>
      </p:sp>
      <p:sp>
        <p:nvSpPr>
          <p:cNvPr id="17" name="Rectangle 16"/>
          <p:cNvSpPr/>
          <p:nvPr/>
        </p:nvSpPr>
        <p:spPr>
          <a:xfrm>
            <a:off x="7503159" y="3175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RFM, logarithmiert</a:t>
            </a:r>
          </a:p>
        </p:txBody>
      </p:sp>
      <p:sp>
        <p:nvSpPr>
          <p:cNvPr id="18" name="Rectangle 17"/>
          <p:cNvSpPr/>
          <p:nvPr/>
        </p:nvSpPr>
        <p:spPr>
          <a:xfrm>
            <a:off x="1153160" y="3683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9" name="Rectangle 18"/>
          <p:cNvSpPr/>
          <p:nvPr/>
        </p:nvSpPr>
        <p:spPr>
          <a:xfrm>
            <a:off x="3185160" y="3683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k-Means, Ellenbogen + Silhouette</a:t>
            </a:r>
          </a:p>
        </p:txBody>
      </p:sp>
      <p:sp>
        <p:nvSpPr>
          <p:cNvPr id="20" name="Rectangle 19"/>
          <p:cNvSpPr/>
          <p:nvPr/>
        </p:nvSpPr>
        <p:spPr>
          <a:xfrm>
            <a:off x="7503159" y="3683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Verfahren</a:t>
            </a:r>
          </a:p>
        </p:txBody>
      </p:sp>
      <p:sp>
        <p:nvSpPr>
          <p:cNvPr id="21" name="Rectangle 20"/>
          <p:cNvSpPr/>
          <p:nvPr/>
        </p:nvSpPr>
        <p:spPr>
          <a:xfrm>
            <a:off x="1153160" y="4191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22" name="Rectangle 21"/>
          <p:cNvSpPr/>
          <p:nvPr/>
        </p:nvSpPr>
        <p:spPr>
          <a:xfrm>
            <a:off x="3185160" y="4191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Typen, 100 % Übereinstimmung</a:t>
            </a:r>
          </a:p>
        </p:txBody>
      </p:sp>
      <p:sp>
        <p:nvSpPr>
          <p:cNvPr id="23" name="Rectangle 22"/>
          <p:cNvSpPr/>
          <p:nvPr/>
        </p:nvSpPr>
        <p:spPr>
          <a:xfrm>
            <a:off x="7503159" y="4191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 zwei Befunde</a:t>
            </a:r>
          </a:p>
        </p:txBody>
      </p:sp>
      <p:sp>
        <p:nvSpPr>
          <p:cNvPr id="24" name="Rectangle 23"/>
          <p:cNvSpPr/>
          <p:nvPr/>
        </p:nvSpPr>
        <p:spPr>
          <a:xfrm>
            <a:off x="1153160" y="4699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25" name="Rectangle 24"/>
          <p:cNvSpPr/>
          <p:nvPr/>
        </p:nvSpPr>
        <p:spPr>
          <a:xfrm>
            <a:off x="3185160" y="4699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Dispositionsplan</a:t>
            </a:r>
          </a:p>
        </p:txBody>
      </p:sp>
      <p:sp>
        <p:nvSpPr>
          <p:cNvPr id="26" name="Rectangle 25"/>
          <p:cNvSpPr/>
          <p:nvPr/>
        </p:nvSpPr>
        <p:spPr>
          <a:xfrm>
            <a:off x="7503159" y="4699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Kampagnenplan, mit Vorbehalt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warum ist die genaueste Prognose nicht die beste?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Räder müssen morgen früh bereitstehen, und braucht es einen Frühdienst?</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 — die Richtungen sind ungleich teuer</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Nullmodell, die echte Faustregel der Disposition, linear, Gradient Boosting</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Klar besser als die Faustregel — und die genaueste Prognose ist nicht die günstigste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die man hier zwangsläufig tappt</a:t>
            </a:r>
          </a:p>
        </p:txBody>
      </p:sp>
      <p:sp>
        <p:nvSpPr>
          <p:cNvPr id="3" name="Text Placeholder 2"/>
          <p:cNvSpPr>
            <a:spLocks noGrp="1"/>
          </p:cNvSpPr>
          <p:nvPr>
            <p:ph type="body" idx="12" sz="quarter"/>
          </p:nvPr>
        </p:nvSpPr>
        <p:spPr/>
        <p:txBody>
          <a:bodyPr/>
          <a:lstStyle/>
          <a:p>
            <a:r>
              <a:t>Fall 4 · Phase 2</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rohe Ferieneffekt sagt: In den Ferien wird mehr gefahren. Das stimmt — und es ist trotzdem irreführend.</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man misst</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Ferien = mehr Fahrten</a:t>
            </a:r>
          </a:p>
          <a:p>
            <a:pPr algn="l">
              <a:lnSpc>
                <a:spcPct val="95000"/>
              </a:lnSpc>
              <a:spcBef>
                <a:spcPts val="300"/>
              </a:spcBef>
            </a:pPr>
            <a:r>
              <a:rPr sz="1300" b="0">
                <a:solidFill>
                  <a:srgbClr val="404040"/>
                </a:solidFill>
              </a:rPr>
              <a:t>Die Differenz ist deutlich</a:t>
            </a:r>
          </a:p>
          <a:p>
            <a:pPr algn="l">
              <a:lnSpc>
                <a:spcPct val="95000"/>
              </a:lnSpc>
              <a:spcBef>
                <a:spcPts val="300"/>
              </a:spcBef>
            </a:pPr>
            <a:r>
              <a:rPr sz="1300" b="0">
                <a:solidFill>
                  <a:srgbClr val="404040"/>
                </a:solidFill>
              </a:rPr>
              <a:t>und statistisch belastbar.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Schlussfolgerung:</a:t>
            </a:r>
          </a:p>
          <a:p>
            <a:pPr algn="l">
              <a:lnSpc>
                <a:spcPct val="95000"/>
              </a:lnSpc>
              <a:spcBef>
                <a:spcPts val="300"/>
              </a:spcBef>
            </a:pPr>
            <a:r>
              <a:rPr sz="1300" b="0">
                <a:solidFill>
                  <a:srgbClr val="404040"/>
                </a:solidFill>
              </a:rPr>
              <a:t>„Ferien treiben die Nachfrage.“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Und das ist falsch.</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wirklich wirkt</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Ferien liegen im Sommer</a:t>
            </a:r>
          </a:p>
          <a:p>
            <a:pPr algn="l">
              <a:lnSpc>
                <a:spcPct val="95000"/>
              </a:lnSpc>
              <a:spcBef>
                <a:spcPts val="300"/>
              </a:spcBef>
            </a:pPr>
            <a:r>
              <a:rPr sz="1300" b="0">
                <a:solidFill>
                  <a:srgbClr val="404040"/>
                </a:solidFill>
              </a:rPr>
              <a:t>Die langen Ferien fallen mit</a:t>
            </a:r>
          </a:p>
          <a:p>
            <a:pPr algn="l">
              <a:lnSpc>
                <a:spcPct val="95000"/>
              </a:lnSpc>
              <a:spcBef>
                <a:spcPts val="300"/>
              </a:spcBef>
            </a:pPr>
            <a:r>
              <a:rPr sz="1300" b="0">
                <a:solidFill>
                  <a:srgbClr val="404040"/>
                </a:solidFill>
              </a:rPr>
              <a:t>der warmen Jahreszeit zusammen.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Gemessen wird das Wetter,</a:t>
            </a:r>
          </a:p>
          <a:p>
            <a:pPr algn="l">
              <a:lnSpc>
                <a:spcPct val="95000"/>
              </a:lnSpc>
              <a:spcBef>
                <a:spcPts val="300"/>
              </a:spcBef>
            </a:pPr>
            <a:r>
              <a:rPr sz="1300" b="0">
                <a:solidFill>
                  <a:srgbClr val="404040"/>
                </a:solidFill>
              </a:rPr>
              <a:t>benannt werden die Ferien.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Klassische Störgröße.</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zwei Zeilen entlarvt</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analytics/notebooks/04_Zeitreihe_Nachfrageprognose.ipynb · Abschnitt 2.3</a:t>
            </a:r>
          </a:p>
        </p:txBody>
      </p:sp>
      <p:sp>
        <p:nvSpPr>
          <p:cNvPr id="5" name="Rectangle 4"/>
          <p:cNvSpPr/>
          <p:nvPr/>
        </p:nvSpPr>
        <p:spPr>
          <a:xfrm>
            <a:off x="1051560" y="1443510"/>
            <a:ext cx="11677650" cy="381857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stoergroesse.png"/>
          <p:cNvPicPr>
            <a:picLocks noChangeAspect="1"/>
          </p:cNvPicPr>
          <p:nvPr/>
        </p:nvPicPr>
        <p:blipFill>
          <a:blip r:embed="rId2"/>
          <a:stretch>
            <a:fillRect/>
          </a:stretch>
        </p:blipFill>
        <p:spPr>
          <a:xfrm>
            <a:off x="1153160" y="1545110"/>
            <a:ext cx="11474450" cy="3615378"/>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Roh: Faktor 0,91. Bei gleicher Temperatur: 0,74. Derselbe Datensatz, zwei völlig verschiedene Aussagen.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Schnitt folgt der Zeit, nicht dem Zufall</a:t>
            </a:r>
          </a:p>
        </p:txBody>
      </p:sp>
      <p:sp>
        <p:nvSpPr>
          <p:cNvPr id="3" name="Text Placeholder 2"/>
          <p:cNvSpPr>
            <a:spLocks noGrp="1"/>
          </p:cNvSpPr>
          <p:nvPr>
            <p:ph type="body" idx="12" sz="quarter"/>
          </p:nvPr>
        </p:nvSpPr>
        <p:spPr/>
        <p:txBody>
          <a:bodyPr/>
          <a:lstStyle/>
          <a:p>
            <a:r>
              <a:t>Fall 4 · Phase 3</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 ist die Folie, wegen der dieser Fall im Deck steht. Ein zufälliger Schnitt wäre hier ein schwerer, aber unsichtbarer Fehler.</a:t>
            </a:r>
          </a:p>
        </p:txBody>
      </p:sp>
      <p:sp>
        <p:nvSpPr>
          <p:cNvPr id="6" name="Rectangle 5"/>
          <p:cNvSpPr/>
          <p:nvPr/>
        </p:nvSpPr>
        <p:spPr>
          <a:xfrm>
            <a:off x="1153160"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Falsch</a:t>
            </a:r>
          </a:p>
        </p:txBody>
      </p:sp>
      <p:sp>
        <p:nvSpPr>
          <p:cNvPr id="9" name="TextBox 8"/>
          <p:cNvSpPr txBox="1"/>
          <p:nvPr/>
        </p:nvSpPr>
        <p:spPr>
          <a:xfrm>
            <a:off x="1330960" y="23876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Zufällig, 80/20</a:t>
            </a:r>
          </a:p>
          <a:p>
            <a:pPr algn="l">
              <a:lnSpc>
                <a:spcPct val="95000"/>
              </a:lnSpc>
              <a:spcBef>
                <a:spcPts val="300"/>
              </a:spcBef>
            </a:pPr>
            <a:r>
              <a:rPr sz="1300" b="0">
                <a:solidFill>
                  <a:srgbClr val="404040"/>
                </a:solidFill>
              </a:rPr>
              <a:t>Das Modell lernt aus dem</a:t>
            </a:r>
          </a:p>
          <a:p>
            <a:pPr algn="l">
              <a:lnSpc>
                <a:spcPct val="95000"/>
              </a:lnSpc>
              <a:spcBef>
                <a:spcPts val="300"/>
              </a:spcBef>
            </a:pPr>
            <a:r>
              <a:rPr sz="1300" b="0">
                <a:solidFill>
                  <a:srgbClr val="404040"/>
                </a:solidFill>
              </a:rPr>
              <a:t>August 2026 und sagt den</a:t>
            </a:r>
          </a:p>
          <a:p>
            <a:pPr algn="l">
              <a:lnSpc>
                <a:spcPct val="95000"/>
              </a:lnSpc>
              <a:spcBef>
                <a:spcPts val="300"/>
              </a:spcBef>
            </a:pPr>
            <a:r>
              <a:rPr sz="1300" b="0">
                <a:solidFill>
                  <a:srgbClr val="404040"/>
                </a:solidFill>
              </a:rPr>
              <a:t>Juli 2026 vorher.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Es kennt die Zukunft.</a:t>
            </a:r>
          </a:p>
          <a:p>
            <a:pPr algn="l">
              <a:lnSpc>
                <a:spcPct val="95000"/>
              </a:lnSpc>
              <a:spcBef>
                <a:spcPts val="300"/>
              </a:spcBef>
            </a:pPr>
            <a:r>
              <a:rPr sz="1300" b="0">
                <a:solidFill>
                  <a:srgbClr val="404040"/>
                </a:solidFill>
              </a:rPr>
              <a:t>Das Ergebnis wird glänzend</a:t>
            </a:r>
          </a:p>
          <a:p>
            <a:pPr algn="l">
              <a:lnSpc>
                <a:spcPct val="95000"/>
              </a:lnSpc>
              <a:spcBef>
                <a:spcPts val="300"/>
              </a:spcBef>
            </a:pPr>
            <a:r>
              <a:rPr sz="1300" b="0">
                <a:solidFill>
                  <a:srgbClr val="404040"/>
                </a:solidFill>
              </a:rPr>
              <a:t>und ist wertlos.</a:t>
            </a:r>
          </a:p>
        </p:txBody>
      </p:sp>
      <p:sp>
        <p:nvSpPr>
          <p:cNvPr id="10" name="Rectangle 9"/>
          <p:cNvSpPr/>
          <p:nvPr/>
        </p:nvSpPr>
        <p:spPr>
          <a:xfrm>
            <a:off x="7096759"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3876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Entlang der Zeit</a:t>
            </a:r>
          </a:p>
          <a:p>
            <a:pPr algn="l">
              <a:lnSpc>
                <a:spcPct val="95000"/>
              </a:lnSpc>
              <a:spcBef>
                <a:spcPts val="300"/>
              </a:spcBef>
            </a:pPr>
            <a:r>
              <a:rPr sz="1300" b="0">
                <a:solidFill>
                  <a:srgbClr val="404040"/>
                </a:solidFill>
              </a:rPr>
              <a:t>Training bis Frühjahr 2026,</a:t>
            </a:r>
          </a:p>
          <a:p>
            <a:pPr algn="l">
              <a:lnSpc>
                <a:spcPct val="95000"/>
              </a:lnSpc>
              <a:spcBef>
                <a:spcPts val="300"/>
              </a:spcBef>
            </a:pPr>
            <a:r>
              <a:rPr sz="1300" b="0">
                <a:solidFill>
                  <a:srgbClr val="404040"/>
                </a:solidFill>
              </a:rPr>
              <a:t>Test ist der Sommer 2026.</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entspricht genau der</a:t>
            </a:r>
          </a:p>
          <a:p>
            <a:pPr algn="l">
              <a:lnSpc>
                <a:spcPct val="95000"/>
              </a:lnSpc>
              <a:spcBef>
                <a:spcPts val="300"/>
              </a:spcBef>
            </a:pPr>
            <a:r>
              <a:rPr sz="1300" b="0">
                <a:solidFill>
                  <a:srgbClr val="404040"/>
                </a:solidFill>
              </a:rPr>
              <a:t>Lage im Betrieb: Man kennt</a:t>
            </a:r>
          </a:p>
          <a:p>
            <a:pPr algn="l">
              <a:lnSpc>
                <a:spcPct val="95000"/>
              </a:lnSpc>
              <a:spcBef>
                <a:spcPts val="300"/>
              </a:spcBef>
            </a:pPr>
            <a:r>
              <a:rPr sz="1300" b="0">
                <a:solidFill>
                  <a:srgbClr val="404040"/>
                </a:solidFill>
              </a:rPr>
              <a:t>die Vergangenheit und sagt</a:t>
            </a:r>
          </a:p>
          <a:p>
            <a:pPr algn="l">
              <a:lnSpc>
                <a:spcPct val="95000"/>
              </a:lnSpc>
              <a:spcBef>
                <a:spcPts val="300"/>
              </a:spcBef>
            </a:pPr>
            <a:r>
              <a:rPr sz="1300" b="0">
                <a:solidFill>
                  <a:srgbClr val="404040"/>
                </a:solidFill>
              </a:rPr>
              <a:t>den nächsten Tag vorher.</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und die zweite ist ein Mensch</a:t>
            </a:r>
          </a:p>
        </p:txBody>
      </p:sp>
      <p:sp>
        <p:nvSpPr>
          <p:cNvPr id="3" name="Text Placeholder 2"/>
          <p:cNvSpPr>
            <a:spLocks noGrp="1"/>
          </p:cNvSpPr>
          <p:nvPr>
            <p:ph type="body" idx="12" sz="quarter"/>
          </p:nvPr>
        </p:nvSpPr>
        <p:spPr/>
        <p:txBody>
          <a:bodyPr/>
          <a:lstStyle/>
          <a:p>
            <a:r>
              <a:t>Fall 4 · Phase 4</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Wieder gilt: erst der Maßstab, dann die Verfahren. Der wichtigste Maßstab ist hier die Regel, nach der die Disposition heute arbeitet.</a:t>
            </a:r>
          </a:p>
        </p:txBody>
      </p:sp>
      <p:sp>
        <p:nvSpPr>
          <p:cNvPr id="6" name="Rounded Rectangle 5"/>
          <p:cNvSpPr/>
          <p:nvPr/>
        </p:nvSpPr>
        <p:spPr>
          <a:xfrm>
            <a:off x="1153160" y="2133600"/>
            <a:ext cx="1651000" cy="1219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Null-
modell</a:t>
            </a:r>
          </a:p>
        </p:txBody>
      </p:sp>
      <p:sp>
        <p:nvSpPr>
          <p:cNvPr id="7" name="Pentagon 6"/>
          <p:cNvSpPr/>
          <p:nvPr/>
        </p:nvSpPr>
        <p:spPr>
          <a:xfrm>
            <a:off x="288036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Faustregel der
Disposition</a:t>
            </a:r>
          </a:p>
        </p:txBody>
      </p:sp>
      <p:sp>
        <p:nvSpPr>
          <p:cNvPr id="8" name="Pentagon 7"/>
          <p:cNvSpPr/>
          <p:nvPr/>
        </p:nvSpPr>
        <p:spPr>
          <a:xfrm>
            <a:off x="557911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Lineare
Regression</a:t>
            </a:r>
          </a:p>
        </p:txBody>
      </p:sp>
      <p:sp>
        <p:nvSpPr>
          <p:cNvPr id="9" name="Pentagon 8"/>
          <p:cNvSpPr/>
          <p:nvPr/>
        </p:nvSpPr>
        <p:spPr>
          <a:xfrm>
            <a:off x="8277859"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Gradient
Boosting</a:t>
            </a:r>
          </a:p>
        </p:txBody>
      </p:sp>
      <p:sp>
        <p:nvSpPr>
          <p:cNvPr id="10" name="Rounded Rectangle 9"/>
          <p:cNvSpPr/>
          <p:nvPr/>
        </p:nvSpPr>
        <p:spPr>
          <a:xfrm>
            <a:off x="10976610" y="2133600"/>
            <a:ext cx="1651000" cy="12192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Bestes
Modell</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genaueste Prognose ist nicht die günstigste</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Weil ein fehlendes Rad 4,00 € kostet und ein überzähliges 0,80 €, verschiebt sich das Optimum — weg vom kleinsten Fehler.</a:t>
            </a:r>
          </a:p>
        </p:txBody>
      </p:sp>
      <p:sp>
        <p:nvSpPr>
          <p:cNvPr id="6" name="Rectangle 5"/>
          <p:cNvSpPr/>
          <p:nvPr/>
        </p:nvSpPr>
        <p:spPr>
          <a:xfrm>
            <a:off x="115316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Ohne Aufschlag</a:t>
            </a:r>
          </a:p>
          <a:p>
            <a:pPr algn="l">
              <a:lnSpc>
                <a:spcPct val="95000"/>
              </a:lnSpc>
              <a:spcBef>
                <a:spcPts val="500"/>
              </a:spcBef>
            </a:pPr>
            <a:r>
              <a:rPr sz="1300" b="0">
                <a:solidFill>
                  <a:srgbClr val="404040"/>
                </a:solidFill>
              </a:rPr>
              <a:t>Die Prognose trifft im Mittel</a:t>
            </a:r>
          </a:p>
          <a:p>
            <a:pPr algn="l">
              <a:lnSpc>
                <a:spcPct val="95000"/>
              </a:lnSpc>
              <a:spcBef>
                <a:spcPts val="500"/>
              </a:spcBef>
            </a:pPr>
            <a:r>
              <a:rPr sz="1300" b="0">
                <a:solidFill>
                  <a:srgbClr val="404040"/>
                </a:solidFill>
              </a:rPr>
              <a:t>am besten.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liegt genauso oft zu hoch</a:t>
            </a:r>
          </a:p>
          <a:p>
            <a:pPr algn="l">
              <a:lnSpc>
                <a:spcPct val="95000"/>
              </a:lnSpc>
              <a:spcBef>
                <a:spcPts val="500"/>
              </a:spcBef>
            </a:pPr>
            <a:r>
              <a:rPr sz="1300" b="0">
                <a:solidFill>
                  <a:srgbClr val="404040"/>
                </a:solidFill>
              </a:rPr>
              <a:t>wie zu tief — und jede zu</a:t>
            </a:r>
          </a:p>
          <a:p>
            <a:pPr algn="l">
              <a:lnSpc>
                <a:spcPct val="95000"/>
              </a:lnSpc>
              <a:spcBef>
                <a:spcPts val="500"/>
              </a:spcBef>
            </a:pPr>
            <a:r>
              <a:rPr sz="1300" b="0">
                <a:solidFill>
                  <a:srgbClr val="404040"/>
                </a:solidFill>
              </a:rPr>
              <a:t>tiefe Schätzung kostet das</a:t>
            </a:r>
          </a:p>
          <a:p>
            <a:pPr algn="l">
              <a:lnSpc>
                <a:spcPct val="95000"/>
              </a:lnSpc>
              <a:spcBef>
                <a:spcPts val="500"/>
              </a:spcBef>
            </a:pPr>
            <a:r>
              <a:rPr sz="1300" b="0">
                <a:solidFill>
                  <a:srgbClr val="404040"/>
                </a:solidFill>
              </a:rPr>
              <a:t>Fünffache einer zu hohen.</a:t>
            </a:r>
          </a:p>
        </p:txBody>
      </p:sp>
      <p:sp>
        <p:nvSpPr>
          <p:cNvPr id="9" name="Rectangle 8"/>
          <p:cNvSpPr/>
          <p:nvPr/>
        </p:nvSpPr>
        <p:spPr>
          <a:xfrm>
            <a:off x="511302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Mit Aufschlag</a:t>
            </a:r>
          </a:p>
          <a:p>
            <a:pPr algn="l">
              <a:lnSpc>
                <a:spcPct val="95000"/>
              </a:lnSpc>
              <a:spcBef>
                <a:spcPts val="500"/>
              </a:spcBef>
            </a:pPr>
            <a:r>
              <a:rPr sz="1300" b="0">
                <a:solidFill>
                  <a:srgbClr val="404040"/>
                </a:solidFill>
              </a:rPr>
              <a:t>Rund 14 % werden auf die</a:t>
            </a:r>
          </a:p>
          <a:p>
            <a:pPr algn="l">
              <a:lnSpc>
                <a:spcPct val="95000"/>
              </a:lnSpc>
              <a:spcBef>
                <a:spcPts val="500"/>
              </a:spcBef>
            </a:pPr>
            <a:r>
              <a:rPr sz="1300" b="0">
                <a:solidFill>
                  <a:srgbClr val="404040"/>
                </a:solidFill>
              </a:rPr>
              <a:t>Prognose aufgeschlagen.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mittlere Fehler steigt.</a:t>
            </a:r>
          </a:p>
          <a:p>
            <a:pPr algn="l">
              <a:lnSpc>
                <a:spcPct val="95000"/>
              </a:lnSpc>
              <a:spcBef>
                <a:spcPts val="500"/>
              </a:spcBef>
            </a:pPr>
            <a:r>
              <a:rPr sz="1300" b="0">
                <a:solidFill>
                  <a:srgbClr val="404040"/>
                </a:solidFill>
              </a:rPr>
              <a:t>Die Kosten sinken.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Beides gleichzeitig.</a:t>
            </a:r>
          </a:p>
        </p:txBody>
      </p:sp>
      <p:sp>
        <p:nvSpPr>
          <p:cNvPr id="12" name="Rectangle 11"/>
          <p:cNvSpPr/>
          <p:nvPr/>
        </p:nvSpPr>
        <p:spPr>
          <a:xfrm>
            <a:off x="908177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Was man lernt</a:t>
            </a:r>
          </a:p>
          <a:p>
            <a:pPr algn="l">
              <a:lnSpc>
                <a:spcPct val="95000"/>
              </a:lnSpc>
              <a:spcBef>
                <a:spcPts val="500"/>
              </a:spcBef>
            </a:pPr>
            <a:r>
              <a:rPr sz="1300" b="0">
                <a:solidFill>
                  <a:srgbClr val="404040"/>
                </a:solidFill>
              </a:rPr>
              <a:t>Die Kennzahl, die man</a:t>
            </a:r>
          </a:p>
          <a:p>
            <a:pPr algn="l">
              <a:lnSpc>
                <a:spcPct val="95000"/>
              </a:lnSpc>
              <a:spcBef>
                <a:spcPts val="500"/>
              </a:spcBef>
            </a:pPr>
            <a:r>
              <a:rPr sz="1300" b="0">
                <a:solidFill>
                  <a:srgbClr val="404040"/>
                </a:solidFill>
              </a:rPr>
              <a:t>optimiert, muss die Kosten</a:t>
            </a:r>
          </a:p>
          <a:p>
            <a:pPr algn="l">
              <a:lnSpc>
                <a:spcPct val="95000"/>
              </a:lnSpc>
              <a:spcBef>
                <a:spcPts val="500"/>
              </a:spcBef>
            </a:pPr>
            <a:r>
              <a:rPr sz="1300" b="0">
                <a:solidFill>
                  <a:srgbClr val="404040"/>
                </a:solidFill>
              </a:rPr>
              <a:t>abbilden — nicht die</a:t>
            </a:r>
          </a:p>
          <a:p>
            <a:pPr algn="l">
              <a:lnSpc>
                <a:spcPct val="95000"/>
              </a:lnSpc>
              <a:spcBef>
                <a:spcPts val="500"/>
              </a:spcBef>
            </a:pPr>
            <a:r>
              <a:rPr sz="1300" b="0">
                <a:solidFill>
                  <a:srgbClr val="404040"/>
                </a:solidFill>
              </a:rPr>
              <a:t>Genauigkeit.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Sonst optimiert man das</a:t>
            </a:r>
          </a:p>
          <a:p>
            <a:pPr algn="l">
              <a:lnSpc>
                <a:spcPct val="95000"/>
              </a:lnSpc>
              <a:spcBef>
                <a:spcPts val="500"/>
              </a:spcBef>
            </a:pPr>
            <a:r>
              <a:rPr sz="1300" b="0">
                <a:solidFill>
                  <a:srgbClr val="404040"/>
                </a:solidFill>
              </a:rPr>
              <a:t>Falsche, sehr sorgfältig.</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Kostenrechnung, die den Aufschlag begründet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analytics/notebooks/04_Zeitreihe_Nachfrageprognose.ipynb · Abschnitt 5.1</a:t>
            </a:r>
          </a:p>
        </p:txBody>
      </p:sp>
      <p:sp>
        <p:nvSpPr>
          <p:cNvPr id="5" name="Rectangle 4"/>
          <p:cNvSpPr/>
          <p:nvPr/>
        </p:nvSpPr>
        <p:spPr>
          <a:xfrm>
            <a:off x="3027950" y="1168400"/>
            <a:ext cx="7724869"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aufschlag.png"/>
          <p:cNvPicPr>
            <a:picLocks noChangeAspect="1"/>
          </p:cNvPicPr>
          <p:nvPr/>
        </p:nvPicPr>
        <p:blipFill>
          <a:blip r:embed="rId2"/>
          <a:stretch>
            <a:fillRect/>
          </a:stretch>
        </p:blipFill>
        <p:spPr>
          <a:xfrm>
            <a:off x="3129550" y="1270000"/>
            <a:ext cx="7521669"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rechnet beides aus: die Kosten ohne und mit Sicherheitsaufschlag. Erst dieser Vergleich rechtfertigt ein absichtlich ungenaueres Modell.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ehrliche Eingeständnis gehört in den Bericht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Modell rechnete mit dem TATSÄCHLICHEN Wetter. Im Betrieb steht nur eine Wettervorhersage zur Verfügung.</a:t>
            </a:r>
          </a:p>
        </p:txBody>
      </p:sp>
      <p:sp>
        <p:nvSpPr>
          <p:cNvPr id="6" name="Rectangle 5"/>
          <p:cNvSpPr/>
          <p:nvPr/>
        </p:nvSpPr>
        <p:spPr>
          <a:xfrm>
            <a:off x="1153160" y="1651000"/>
            <a:ext cx="279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Rechnung</a:t>
            </a:r>
          </a:p>
        </p:txBody>
      </p:sp>
      <p:sp>
        <p:nvSpPr>
          <p:cNvPr id="7" name="Rectangle 6"/>
          <p:cNvSpPr/>
          <p:nvPr/>
        </p:nvSpPr>
        <p:spPr>
          <a:xfrm>
            <a:off x="3947160" y="16510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Grundlage</a:t>
            </a:r>
          </a:p>
        </p:txBody>
      </p:sp>
      <p:sp>
        <p:nvSpPr>
          <p:cNvPr id="8" name="Rectangle 7"/>
          <p:cNvSpPr/>
          <p:nvPr/>
        </p:nvSpPr>
        <p:spPr>
          <a:xfrm>
            <a:off x="8138159" y="1651000"/>
            <a:ext cx="4489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9" name="Rectangle 8"/>
          <p:cNvSpPr/>
          <p:nvPr/>
        </p:nvSpPr>
        <p:spPr>
          <a:xfrm>
            <a:off x="1153160" y="2260600"/>
            <a:ext cx="279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In der Evaluation</a:t>
            </a:r>
          </a:p>
        </p:txBody>
      </p:sp>
      <p:sp>
        <p:nvSpPr>
          <p:cNvPr id="10" name="Rectangle 9"/>
          <p:cNvSpPr/>
          <p:nvPr/>
        </p:nvSpPr>
        <p:spPr>
          <a:xfrm>
            <a:off x="3947160" y="22606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tatsächliches Wetter des Tages</a:t>
            </a:r>
          </a:p>
        </p:txBody>
      </p:sp>
      <p:sp>
        <p:nvSpPr>
          <p:cNvPr id="11" name="Rectangle 10"/>
          <p:cNvSpPr/>
          <p:nvPr/>
        </p:nvSpPr>
        <p:spPr>
          <a:xfrm>
            <a:off x="8138159" y="2260600"/>
            <a:ext cx="4489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schöne Wert</a:t>
            </a:r>
          </a:p>
        </p:txBody>
      </p:sp>
      <p:sp>
        <p:nvSpPr>
          <p:cNvPr id="12" name="Rectangle 11"/>
          <p:cNvSpPr/>
          <p:nvPr/>
        </p:nvSpPr>
        <p:spPr>
          <a:xfrm>
            <a:off x="1153160" y="2870200"/>
            <a:ext cx="279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Im Betrieb</a:t>
            </a:r>
          </a:p>
        </p:txBody>
      </p:sp>
      <p:sp>
        <p:nvSpPr>
          <p:cNvPr id="13" name="Rectangle 12"/>
          <p:cNvSpPr/>
          <p:nvPr/>
        </p:nvSpPr>
        <p:spPr>
          <a:xfrm>
            <a:off x="3947160" y="28702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Wettervorhersage von gestern 18 Uhr</a:t>
            </a:r>
          </a:p>
        </p:txBody>
      </p:sp>
      <p:sp>
        <p:nvSpPr>
          <p:cNvPr id="14" name="Rectangle 13"/>
          <p:cNvSpPr/>
          <p:nvPr/>
        </p:nvSpPr>
        <p:spPr>
          <a:xfrm>
            <a:off x="8138159" y="2870200"/>
            <a:ext cx="4489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spürbar höherer Fehler — und das ist die Zahl, die zählt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Fehlerwerte — und nur einer zählt</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analytics/notebooks/04_Zeitreihe_Nachfrageprognose.ipynb · Abschnitt 6.1</a:t>
            </a:r>
          </a:p>
        </p:txBody>
      </p:sp>
      <p:sp>
        <p:nvSpPr>
          <p:cNvPr id="5" name="Rectangle 4"/>
          <p:cNvSpPr/>
          <p:nvPr/>
        </p:nvSpPr>
        <p:spPr>
          <a:xfrm>
            <a:off x="1213939" y="1168400"/>
            <a:ext cx="11352890"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ehrlich.png"/>
          <p:cNvPicPr>
            <a:picLocks noChangeAspect="1"/>
          </p:cNvPicPr>
          <p:nvPr/>
        </p:nvPicPr>
        <p:blipFill>
          <a:blip r:embed="rId2"/>
          <a:stretch>
            <a:fillRect/>
          </a:stretch>
        </p:blipFill>
        <p:spPr>
          <a:xfrm>
            <a:off x="1315539" y="1270000"/>
            <a:ext cx="11149690"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MAE 12,65 mit dem tatsächlichen Wetter, 16,96 mit einer simulierten Vorhersage. Die zweite Zahl ist die ehrliche.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4 · Abschluss</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Entscheidungen, zwei ungleich teure Fehlerrichtungen (4,00 € gegen 0,80 €), ein Betriebskriterium: 18 Uhr</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Jahresgang und Wochenrhythmus übereinander — und eine Störgröße: Ferien liegen im Sommer</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Schnitt entlang der Zeit, Testmenge ist der Sommer 2026</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echte Faustregel, linear, Gradient Boosting</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Klar besser als die Faustregel — und ein Sicherheitsaufschlag senkt die Kosten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Mit simulierter Vorhersage steigt der Fehler. Die ehrliche Zahl gehört in den Bericht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wenn die Hürde fast alles wegnimmt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Wege gehören zusammen — und wieviel von dem, was auffällt, ist überhaupt brauchbar?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wird gefahren — und wo muss der Transporter Räder umverteilen?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Weder Zielgröße noch Gruppen, sondern Regeln: Was hängt mit was zusammen?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Drei Kriterien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 1 % · Lift ≥ 1,3 · die Regel muss eine Transporterfahrt begründen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Datensicht</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Fahrt ist ein Warenkorb: Startort und Zielort zusammen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 drei Divisionen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42 Regeln erfüllen 10 das Lift-, 2 das Support- und nur EINE beide Kriterien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Kennzahlen — am Beispiel aus dem Handel</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Support, Konfidenz und Lift beantworten drei verschiedene Fragen. Nur die dritte sagt, ob ein Zusammenhang überhaupt einer ist.</a:t>
            </a:r>
          </a:p>
        </p:txBody>
      </p:sp>
      <p:sp>
        <p:nvSpPr>
          <p:cNvPr id="6" name="Rectangle 5"/>
          <p:cNvSpPr/>
          <p:nvPr/>
        </p:nvSpPr>
        <p:spPr>
          <a:xfrm>
            <a:off x="1153160" y="1879600"/>
            <a:ext cx="1651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Kennzahl</a:t>
            </a:r>
          </a:p>
        </p:txBody>
      </p:sp>
      <p:sp>
        <p:nvSpPr>
          <p:cNvPr id="7" name="Rectangle 6"/>
          <p:cNvSpPr/>
          <p:nvPr/>
        </p:nvSpPr>
        <p:spPr>
          <a:xfrm>
            <a:off x="2804160" y="1879600"/>
            <a:ext cx="3810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a:t>
            </a:r>
          </a:p>
        </p:txBody>
      </p:sp>
      <p:sp>
        <p:nvSpPr>
          <p:cNvPr id="8" name="Rectangle 7"/>
          <p:cNvSpPr/>
          <p:nvPr/>
        </p:nvSpPr>
        <p:spPr>
          <a:xfrm>
            <a:off x="6614159" y="1879600"/>
            <a:ext cx="601345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Falle</a:t>
            </a:r>
          </a:p>
        </p:txBody>
      </p:sp>
      <p:sp>
        <p:nvSpPr>
          <p:cNvPr id="9" name="Rectangle 8"/>
          <p:cNvSpPr/>
          <p:nvPr/>
        </p:nvSpPr>
        <p:spPr>
          <a:xfrm>
            <a:off x="1153160" y="25908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a:t>
            </a:r>
          </a:p>
        </p:txBody>
      </p:sp>
      <p:sp>
        <p:nvSpPr>
          <p:cNvPr id="10" name="Rectangle 9"/>
          <p:cNvSpPr/>
          <p:nvPr/>
        </p:nvSpPr>
        <p:spPr>
          <a:xfrm>
            <a:off x="2804160" y="25908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kommt die Kombination überhaupt vor?</a:t>
            </a:r>
          </a:p>
        </p:txBody>
      </p:sp>
      <p:sp>
        <p:nvSpPr>
          <p:cNvPr id="11" name="Rectangle 10"/>
          <p:cNvSpPr/>
          <p:nvPr/>
        </p:nvSpPr>
        <p:spPr>
          <a:xfrm>
            <a:off x="6614159" y="25908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Hoher Support heißt nur: es ist häufig. Nicht: es hängt zusammen</a:t>
            </a:r>
          </a:p>
        </p:txBody>
      </p:sp>
      <p:sp>
        <p:nvSpPr>
          <p:cNvPr id="12" name="Rectangle 11"/>
          <p:cNvSpPr/>
          <p:nvPr/>
        </p:nvSpPr>
        <p:spPr>
          <a:xfrm>
            <a:off x="1153160" y="3302000"/>
            <a:ext cx="1651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Konfidenz</a:t>
            </a:r>
          </a:p>
        </p:txBody>
      </p:sp>
      <p:sp>
        <p:nvSpPr>
          <p:cNvPr id="13" name="Rectangle 12"/>
          <p:cNvSpPr/>
          <p:nvPr/>
        </p:nvSpPr>
        <p:spPr>
          <a:xfrm>
            <a:off x="2804160" y="3302000"/>
            <a:ext cx="3810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Wenn A, wie oft dann auch B?</a:t>
            </a:r>
          </a:p>
        </p:txBody>
      </p:sp>
      <p:sp>
        <p:nvSpPr>
          <p:cNvPr id="14" name="Rectangle 13"/>
          <p:cNvSpPr/>
          <p:nvPr/>
        </p:nvSpPr>
        <p:spPr>
          <a:xfrm>
            <a:off x="6614159" y="3302000"/>
            <a:ext cx="601345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Hoch, wenn B einfach oft vorkommt — auch ohne jeden Zusammenhang</a:t>
            </a:r>
          </a:p>
        </p:txBody>
      </p:sp>
      <p:sp>
        <p:nvSpPr>
          <p:cNvPr id="15" name="Rectangle 14"/>
          <p:cNvSpPr/>
          <p:nvPr/>
        </p:nvSpPr>
        <p:spPr>
          <a:xfrm>
            <a:off x="1153160" y="40132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a:t>
            </a:r>
          </a:p>
        </p:txBody>
      </p:sp>
      <p:sp>
        <p:nvSpPr>
          <p:cNvPr id="16" name="Rectangle 15"/>
          <p:cNvSpPr/>
          <p:nvPr/>
        </p:nvSpPr>
        <p:spPr>
          <a:xfrm>
            <a:off x="2804160" y="40132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passiert es gemeinsam, verglichen mit Zufall?</a:t>
            </a:r>
          </a:p>
        </p:txBody>
      </p:sp>
      <p:sp>
        <p:nvSpPr>
          <p:cNvPr id="17" name="Rectangle 16"/>
          <p:cNvSpPr/>
          <p:nvPr/>
        </p:nvSpPr>
        <p:spPr>
          <a:xfrm>
            <a:off x="6614159" y="40132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Lift 1,0 heißt: kein Zusammenhang. Das ist die einzige der drei Kennzahlen, die das erkennt</a:t>
            </a:r>
          </a:p>
        </p:txBody>
      </p:sp>
      <p:sp>
        <p:nvSpPr>
          <p:cNvPr id="18" name="Rectangle 17"/>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stärkste Zusammenhang ist wahr und nutzlos</a:t>
            </a:r>
          </a:p>
        </p:txBody>
      </p:sp>
      <p:sp>
        <p:nvSpPr>
          <p:cNvPr id="3" name="Text Placeholder 2"/>
          <p:cNvSpPr>
            <a:spLocks noGrp="1"/>
          </p:cNvSpPr>
          <p:nvPr>
            <p:ph type="body" idx="12" sz="quarter"/>
          </p:nvPr>
        </p:nvSpPr>
        <p:spPr/>
        <p:txBody>
          <a:bodyPr/>
          <a:lstStyle/>
          <a:p>
            <a:r>
              <a:t>Fall 5 · Phase 2</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das Verfahren zuerst findet, sind die Rundtouren: Start und Ziel sind dieselbe Station, bei knapp 20 % der angedockten Fahrten.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Rundtouren sind mit Abstand</a:t>
            </a:r>
          </a:p>
          <a:p>
            <a:pPr algn="l">
              <a:lnSpc>
                <a:spcPct val="95000"/>
              </a:lnSpc>
              <a:spcBef>
                <a:spcPts val="500"/>
              </a:spcBef>
            </a:pPr>
            <a:r>
              <a:rPr sz="1300" b="0">
                <a:solidFill>
                  <a:srgbClr val="404040"/>
                </a:solidFill>
              </a:rPr>
              <a:t>das häufigste Muster.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hoch, Konfidenz hoch,</a:t>
            </a:r>
          </a:p>
          <a:p>
            <a:pPr algn="l">
              <a:lnSpc>
                <a:spcPct val="95000"/>
              </a:lnSpc>
              <a:spcBef>
                <a:spcPts val="500"/>
              </a:spcBef>
            </a:pPr>
            <a:r>
              <a:rPr sz="1300" b="0">
                <a:solidFill>
                  <a:srgbClr val="404040"/>
                </a:solidFill>
              </a:rPr>
              <a:t>Lift hoch.</a:t>
            </a:r>
          </a:p>
          <a:p>
            <a:pPr algn="l">
              <a:lnSpc>
                <a:spcPct val="95000"/>
              </a:lnSpc>
              <a:spcBef>
                <a:spcPts val="500"/>
              </a:spcBef>
            </a:pPr>
            <a:r>
              <a:rPr sz="1300" b="0">
                <a:solidFill>
                  <a:srgbClr val="404040"/>
                </a:solidFill>
              </a:rPr>
              <a:t>Eine perfekte Regel.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 nutzlos</a:t>
            </a:r>
          </a:p>
          <a:p>
            <a:pPr algn="l">
              <a:lnSpc>
                <a:spcPct val="95000"/>
              </a:lnSpc>
              <a:spcBef>
                <a:spcPts val="500"/>
              </a:spcBef>
            </a:pPr>
            <a:r>
              <a:rPr sz="1300" b="0">
                <a:solidFill>
                  <a:srgbClr val="404040"/>
                </a:solidFill>
              </a:rPr>
              <a:t>Kriterium 3 aus Phase 1:</a:t>
            </a:r>
          </a:p>
          <a:p>
            <a:pPr algn="l">
              <a:lnSpc>
                <a:spcPct val="95000"/>
              </a:lnSpc>
              <a:spcBef>
                <a:spcPts val="500"/>
              </a:spcBef>
            </a:pPr>
            <a:r>
              <a:rPr sz="1300" b="0">
                <a:solidFill>
                  <a:srgbClr val="404040"/>
                </a:solidFill>
              </a:rPr>
              <a:t>Die Regel muss eine Fahrt</a:t>
            </a:r>
          </a:p>
          <a:p>
            <a:pPr algn="l">
              <a:lnSpc>
                <a:spcPct val="95000"/>
              </a:lnSpc>
              <a:spcBef>
                <a:spcPts val="500"/>
              </a:spcBef>
            </a:pPr>
            <a:r>
              <a:rPr sz="1300" b="0">
                <a:solidFill>
                  <a:srgbClr val="404040"/>
                </a:solidFill>
              </a:rPr>
              <a:t>des Transporters begründen.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einer Rundtour steht das</a:t>
            </a:r>
          </a:p>
          <a:p>
            <a:pPr algn="l">
              <a:lnSpc>
                <a:spcPct val="95000"/>
              </a:lnSpc>
              <a:spcBef>
                <a:spcPts val="500"/>
              </a:spcBef>
            </a:pPr>
            <a:r>
              <a:rPr sz="1300" b="0">
                <a:solidFill>
                  <a:srgbClr val="404040"/>
                </a:solidFill>
              </a:rPr>
              <a:t>Rad am Ende dort, wo es</a:t>
            </a:r>
          </a:p>
          <a:p>
            <a:pPr algn="l">
              <a:lnSpc>
                <a:spcPct val="95000"/>
              </a:lnSpc>
              <a:spcBef>
                <a:spcPts val="500"/>
              </a:spcBef>
            </a:pPr>
            <a:r>
              <a:rPr sz="1300" b="0">
                <a:solidFill>
                  <a:srgbClr val="404040"/>
                </a:solidFill>
              </a:rPr>
              <a:t>gestartet ist. Nichts zu tun.</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Lehre</a:t>
            </a:r>
          </a:p>
          <a:p>
            <a:pPr algn="l">
              <a:lnSpc>
                <a:spcPct val="95000"/>
              </a:lnSpc>
              <a:spcBef>
                <a:spcPts val="500"/>
              </a:spcBef>
            </a:pPr>
            <a:r>
              <a:rPr sz="1300" b="0">
                <a:solidFill>
                  <a:srgbClr val="404040"/>
                </a:solidFill>
              </a:rPr>
              <a:t>Ein starker Zusammenhang</a:t>
            </a:r>
          </a:p>
          <a:p>
            <a:pPr algn="l">
              <a:lnSpc>
                <a:spcPct val="95000"/>
              </a:lnSpc>
              <a:spcBef>
                <a:spcPts val="500"/>
              </a:spcBef>
            </a:pPr>
            <a:r>
              <a:rPr sz="1300" b="0">
                <a:solidFill>
                  <a:srgbClr val="404040"/>
                </a:solidFill>
              </a:rPr>
              <a:t>ist nicht dasselbe wie ein</a:t>
            </a:r>
          </a:p>
          <a:p>
            <a:pPr algn="l">
              <a:lnSpc>
                <a:spcPct val="95000"/>
              </a:lnSpc>
              <a:spcBef>
                <a:spcPts val="500"/>
              </a:spcBef>
            </a:pPr>
            <a:r>
              <a:rPr sz="1300" b="0">
                <a:solidFill>
                  <a:srgbClr val="404040"/>
                </a:solidFill>
              </a:rPr>
              <a:t>brauchbarer.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Rundtouren werden</a:t>
            </a:r>
          </a:p>
          <a:p>
            <a:pPr algn="l">
              <a:lnSpc>
                <a:spcPct val="95000"/>
              </a:lnSpc>
              <a:spcBef>
                <a:spcPts val="500"/>
              </a:spcBef>
            </a:pPr>
            <a:r>
              <a:rPr sz="1300" b="0">
                <a:solidFill>
                  <a:srgbClr val="404040"/>
                </a:solidFill>
              </a:rPr>
              <a:t>ausgeschlossen — begründet</a:t>
            </a:r>
          </a:p>
          <a:p>
            <a:pPr algn="l">
              <a:lnSpc>
                <a:spcPct val="95000"/>
              </a:lnSpc>
              <a:spcBef>
                <a:spcPts val="500"/>
              </a:spcBef>
            </a:pPr>
            <a:r>
              <a:rPr sz="1300" b="0">
                <a:solidFill>
                  <a:srgbClr val="404040"/>
                </a:solidFill>
              </a:rPr>
              <a:t>und dokumentiert.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Zeitfenster statt vierundzwanzig Stunden</a:t>
            </a:r>
          </a:p>
        </p:txBody>
      </p:sp>
      <p:sp>
        <p:nvSpPr>
          <p:cNvPr id="3" name="Text Placeholder 2"/>
          <p:cNvSpPr>
            <a:spLocks noGrp="1"/>
          </p:cNvSpPr>
          <p:nvPr>
            <p:ph type="body" idx="12" sz="quarter"/>
          </p:nvPr>
        </p:nvSpPr>
        <p:spPr/>
        <p:txBody>
          <a:bodyPr/>
          <a:lstStyle/>
          <a:p>
            <a:r>
              <a:t>Fall 5 · Phase 3</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diese Entscheidung wäre jede Regel unbelegt — bei 24 Stunden fällt auf jede einzelne zu wenig, um irgendetwas zu zeigen.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Das Problem</a:t>
            </a:r>
          </a:p>
          <a:p>
            <a:pPr algn="l">
              <a:lnSpc>
                <a:spcPct val="95000"/>
              </a:lnSpc>
              <a:spcBef>
                <a:spcPts val="500"/>
              </a:spcBef>
            </a:pPr>
            <a:r>
              <a:rPr sz="1300" b="0">
                <a:solidFill>
                  <a:srgbClr val="404040"/>
                </a:solidFill>
              </a:rPr>
              <a:t>Teilt man den Tag in Stunden,</a:t>
            </a:r>
          </a:p>
          <a:p>
            <a:pPr algn="l">
              <a:lnSpc>
                <a:spcPct val="95000"/>
              </a:lnSpc>
              <a:spcBef>
                <a:spcPts val="500"/>
              </a:spcBef>
            </a:pPr>
            <a:r>
              <a:rPr sz="1300" b="0">
                <a:solidFill>
                  <a:srgbClr val="404040"/>
                </a:solidFill>
              </a:rPr>
              <a:t>hat jede Start-Ziel-Stunden-</a:t>
            </a:r>
          </a:p>
          <a:p>
            <a:pPr algn="l">
              <a:lnSpc>
                <a:spcPct val="95000"/>
              </a:lnSpc>
              <a:spcBef>
                <a:spcPts val="500"/>
              </a:spcBef>
            </a:pPr>
            <a:r>
              <a:rPr sz="1300" b="0">
                <a:solidFill>
                  <a:srgbClr val="404040"/>
                </a:solidFill>
              </a:rPr>
              <a:t>Kombination eine Handvoll</a:t>
            </a:r>
          </a:p>
          <a:p>
            <a:pPr algn="l">
              <a:lnSpc>
                <a:spcPct val="95000"/>
              </a:lnSpc>
              <a:spcBef>
                <a:spcPts val="500"/>
              </a:spcBef>
            </a:pPr>
            <a:r>
              <a:rPr sz="1300" b="0">
                <a:solidFill>
                  <a:srgbClr val="404040"/>
                </a:solidFill>
              </a:rPr>
              <a:t>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nahe null, jede Regel</a:t>
            </a:r>
          </a:p>
          <a:p>
            <a:pPr algn="l">
              <a:lnSpc>
                <a:spcPct val="95000"/>
              </a:lnSpc>
              <a:spcBef>
                <a:spcPts val="500"/>
              </a:spcBef>
            </a:pPr>
            <a:r>
              <a:rPr sz="1300" b="0">
                <a:solidFill>
                  <a:srgbClr val="404040"/>
                </a:solidFill>
              </a:rPr>
              <a:t>ununterscheidbar vom Zufall.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Vier Fenster, an den</a:t>
            </a:r>
          </a:p>
          <a:p>
            <a:pPr algn="l">
              <a:lnSpc>
                <a:spcPct val="95000"/>
              </a:lnSpc>
              <a:spcBef>
                <a:spcPts val="500"/>
              </a:spcBef>
            </a:pPr>
            <a:r>
              <a:rPr sz="1300" b="0">
                <a:solidFill>
                  <a:srgbClr val="404040"/>
                </a:solidFill>
              </a:rPr>
              <a:t>tatsächlichen Spitzen</a:t>
            </a:r>
          </a:p>
          <a:p>
            <a:pPr algn="l">
              <a:lnSpc>
                <a:spcPct val="95000"/>
              </a:lnSpc>
              <a:spcBef>
                <a:spcPts val="500"/>
              </a:spcBef>
            </a:pPr>
            <a:r>
              <a:rPr sz="1300" b="0">
                <a:solidFill>
                  <a:srgbClr val="404040"/>
                </a:solidFill>
              </a:rPr>
              <a:t>orientiert: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Früh · Vormittag ·</a:t>
            </a:r>
          </a:p>
          <a:p>
            <a:pPr algn="l">
              <a:lnSpc>
                <a:spcPct val="95000"/>
              </a:lnSpc>
              <a:spcBef>
                <a:spcPts val="500"/>
              </a:spcBef>
            </a:pPr>
            <a:r>
              <a:rPr sz="1300" b="0">
                <a:solidFill>
                  <a:srgbClr val="404040"/>
                </a:solidFill>
              </a:rPr>
              <a:t>Nachmittag · Abend</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Vorbehalt</a:t>
            </a:r>
          </a:p>
          <a:p>
            <a:pPr algn="l">
              <a:lnSpc>
                <a:spcPct val="95000"/>
              </a:lnSpc>
              <a:spcBef>
                <a:spcPts val="500"/>
              </a:spcBef>
            </a:pPr>
            <a:r>
              <a:rPr sz="1300" b="0">
                <a:solidFill>
                  <a:srgbClr val="404040"/>
                </a:solidFill>
              </a:rPr>
              <a:t>Die vier Fenster sind gesetzt,</a:t>
            </a:r>
          </a:p>
          <a:p>
            <a:pPr algn="l">
              <a:lnSpc>
                <a:spcPct val="95000"/>
              </a:lnSpc>
              <a:spcBef>
                <a:spcPts val="500"/>
              </a:spcBef>
            </a:pPr>
            <a:r>
              <a:rPr sz="1300" b="0">
                <a:solidFill>
                  <a:srgbClr val="404040"/>
                </a:solidFill>
              </a:rPr>
              <a:t>nicht gefunden.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Aufteilung nach den</a:t>
            </a:r>
          </a:p>
          <a:p>
            <a:pPr algn="l">
              <a:lnSpc>
                <a:spcPct val="95000"/>
              </a:lnSpc>
              <a:spcBef>
                <a:spcPts val="500"/>
              </a:spcBef>
            </a:pPr>
            <a:r>
              <a:rPr sz="1300" b="0">
                <a:solidFill>
                  <a:srgbClr val="404040"/>
                </a:solidFill>
              </a:rPr>
              <a:t>Spitzen aus Notebook 3 könnte</a:t>
            </a:r>
          </a:p>
          <a:p>
            <a:pPr algn="l">
              <a:lnSpc>
                <a:spcPct val="95000"/>
              </a:lnSpc>
              <a:spcBef>
                <a:spcPts val="500"/>
              </a:spcBef>
            </a:pPr>
            <a:r>
              <a:rPr sz="1300" b="0">
                <a:solidFill>
                  <a:srgbClr val="404040"/>
                </a:solidFill>
              </a:rPr>
              <a:t>schärfere Regeln liefern —</a:t>
            </a:r>
          </a:p>
          <a:p>
            <a:pPr algn="l">
              <a:lnSpc>
                <a:spcPct val="95000"/>
              </a:lnSpc>
              <a:spcBef>
                <a:spcPts val="500"/>
              </a:spcBef>
            </a:pPr>
            <a:r>
              <a:rPr sz="1300" b="0">
                <a:solidFill>
                  <a:srgbClr val="404040"/>
                </a:solidFill>
              </a:rPr>
              <a:t>notiert für die zweite Runde.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einzelne Regel, von Hand nachgerechnet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analytics/notebooks/05_Assoziation_Wege_im_Netz.ipynb · Abschnitt 4</a:t>
            </a:r>
          </a:p>
        </p:txBody>
      </p:sp>
      <p:sp>
        <p:nvSpPr>
          <p:cNvPr id="5" name="Rectangle 4"/>
          <p:cNvSpPr/>
          <p:nvPr/>
        </p:nvSpPr>
        <p:spPr>
          <a:xfrm>
            <a:off x="2839441" y="1168400"/>
            <a:ext cx="8101886"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regel.png"/>
          <p:cNvPicPr>
            <a:picLocks noChangeAspect="1"/>
          </p:cNvPicPr>
          <p:nvPr/>
        </p:nvPicPr>
        <p:blipFill>
          <a:blip r:embed="rId2"/>
          <a:stretch>
            <a:fillRect/>
          </a:stretch>
        </p:blipFill>
        <p:spPr>
          <a:xfrm>
            <a:off x="2941041" y="1270000"/>
            <a:ext cx="7898686"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Support, Konfidenz und Lift für eine konkrete Regel — drei Divisionen, Zeile für Zeile nachvollziehbar.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42 Regeln bleibt eine</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Hoher Lift und hoher Support schließen einander fast aus. Wer beide Hürden vorab setzt, siebt radikal.</a:t>
            </a:r>
          </a:p>
        </p:txBody>
      </p:sp>
      <p:sp>
        <p:nvSpPr>
          <p:cNvPr id="6" name="Rectangle 5"/>
          <p:cNvSpPr/>
          <p:nvPr/>
        </p:nvSpPr>
        <p:spPr>
          <a:xfrm>
            <a:off x="1153160" y="1651000"/>
            <a:ext cx="6350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Hürde</a:t>
            </a:r>
          </a:p>
        </p:txBody>
      </p:sp>
      <p:sp>
        <p:nvSpPr>
          <p:cNvPr id="7" name="Rectangle 6"/>
          <p:cNvSpPr/>
          <p:nvPr/>
        </p:nvSpPr>
        <p:spPr>
          <a:xfrm>
            <a:off x="7503159" y="1651000"/>
            <a:ext cx="512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Regeln, die sie erfüllen</a:t>
            </a:r>
          </a:p>
        </p:txBody>
      </p:sp>
      <p:sp>
        <p:nvSpPr>
          <p:cNvPr id="8" name="Rectangle 7"/>
          <p:cNvSpPr/>
          <p:nvPr/>
        </p:nvSpPr>
        <p:spPr>
          <a:xfrm>
            <a:off x="1153160" y="22098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Alle gefundenen Regeln</a:t>
            </a:r>
          </a:p>
        </p:txBody>
      </p:sp>
      <p:sp>
        <p:nvSpPr>
          <p:cNvPr id="9" name="Rectangle 8"/>
          <p:cNvSpPr/>
          <p:nvPr/>
        </p:nvSpPr>
        <p:spPr>
          <a:xfrm>
            <a:off x="7503159" y="22098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a:t>
            </a:r>
          </a:p>
        </p:txBody>
      </p:sp>
      <p:sp>
        <p:nvSpPr>
          <p:cNvPr id="10" name="Rectangle 9"/>
          <p:cNvSpPr/>
          <p:nvPr/>
        </p:nvSpPr>
        <p:spPr>
          <a:xfrm>
            <a:off x="1153160" y="27686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 ≥ 1,3</a:t>
            </a:r>
          </a:p>
        </p:txBody>
      </p:sp>
      <p:sp>
        <p:nvSpPr>
          <p:cNvPr id="11" name="Rectangle 10"/>
          <p:cNvSpPr/>
          <p:nvPr/>
        </p:nvSpPr>
        <p:spPr>
          <a:xfrm>
            <a:off x="7503159" y="27686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a:t>
            </a:r>
          </a:p>
        </p:txBody>
      </p:sp>
      <p:sp>
        <p:nvSpPr>
          <p:cNvPr id="12" name="Rectangle 11"/>
          <p:cNvSpPr/>
          <p:nvPr/>
        </p:nvSpPr>
        <p:spPr>
          <a:xfrm>
            <a:off x="1153160" y="33274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 ≥ 1 %</a:t>
            </a:r>
          </a:p>
        </p:txBody>
      </p:sp>
      <p:sp>
        <p:nvSpPr>
          <p:cNvPr id="13" name="Rectangle 12"/>
          <p:cNvSpPr/>
          <p:nvPr/>
        </p:nvSpPr>
        <p:spPr>
          <a:xfrm>
            <a:off x="7503159" y="33274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4" name="Rectangle 13"/>
          <p:cNvSpPr/>
          <p:nvPr/>
        </p:nvSpPr>
        <p:spPr>
          <a:xfrm>
            <a:off x="1153160" y="38862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Beide zugleich</a:t>
            </a:r>
          </a:p>
        </p:txBody>
      </p:sp>
      <p:sp>
        <p:nvSpPr>
          <p:cNvPr id="15" name="Rectangle 14"/>
          <p:cNvSpPr/>
          <p:nvPr/>
        </p:nvSpPr>
        <p:spPr>
          <a:xfrm>
            <a:off x="7503159" y="38862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Hürden sieben — 42, dann 10, dann 2, dann 1</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analytics/notebooks/05_Assoziation_Wege_im_Netz.ipynb · Abschnitt 5.2</a:t>
            </a:r>
          </a:p>
        </p:txBody>
      </p:sp>
      <p:sp>
        <p:nvSpPr>
          <p:cNvPr id="5" name="Rectangle 4"/>
          <p:cNvSpPr/>
          <p:nvPr/>
        </p:nvSpPr>
        <p:spPr>
          <a:xfrm>
            <a:off x="3731798" y="1168400"/>
            <a:ext cx="6317173"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huerden.png"/>
          <p:cNvPicPr>
            <a:picLocks noChangeAspect="1"/>
          </p:cNvPicPr>
          <p:nvPr/>
        </p:nvPicPr>
        <p:blipFill>
          <a:blip r:embed="rId2"/>
          <a:stretch>
            <a:fillRect/>
          </a:stretch>
        </p:blipFill>
        <p:spPr>
          <a:xfrm>
            <a:off x="3833398" y="1270000"/>
            <a:ext cx="6113973"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Jede Hürde einzeln aufgeführt, mit der Zahl der Regeln, die sie überstehen. Die letzte Zeile ist das Ergebnis des Notebooks.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Pläne aus einer Analyse</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eine überlebende Regel begründet zwei verschiedene Einsätze — und beide tragen denselben Vorbehalt.</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A</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Umverteilen zwischen Stationen</a:t>
            </a:r>
          </a:p>
          <a:p>
            <a:pPr algn="l">
              <a:lnSpc>
                <a:spcPct val="95000"/>
              </a:lnSpc>
              <a:spcBef>
                <a:spcPts val="300"/>
              </a:spcBef>
            </a:pPr>
            <a:r>
              <a:rPr sz="1300" b="0">
                <a:solidFill>
                  <a:srgbClr val="404040"/>
                </a:solidFill>
              </a:rPr>
              <a:t>Der Pendelstrom morgens</a:t>
            </a:r>
          </a:p>
          <a:p>
            <a:pPr algn="l">
              <a:lnSpc>
                <a:spcPct val="95000"/>
              </a:lnSpc>
              <a:spcBef>
                <a:spcPts val="300"/>
              </a:spcBef>
            </a:pPr>
            <a:r>
              <a:rPr sz="1300" b="0">
                <a:solidFill>
                  <a:srgbClr val="404040"/>
                </a:solidFill>
              </a:rPr>
              <a:t>leert eine Station und füllt</a:t>
            </a:r>
          </a:p>
          <a:p>
            <a:pPr algn="l">
              <a:lnSpc>
                <a:spcPct val="95000"/>
              </a:lnSpc>
              <a:spcBef>
                <a:spcPts val="300"/>
              </a:spcBef>
            </a:pPr>
            <a:r>
              <a:rPr sz="1300" b="0">
                <a:solidFill>
                  <a:srgbClr val="404040"/>
                </a:solidFill>
              </a:rPr>
              <a:t>eine andere.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Gegengeprüft über die</a:t>
            </a:r>
          </a:p>
          <a:p>
            <a:pPr algn="l">
              <a:lnSpc>
                <a:spcPct val="95000"/>
              </a:lnSpc>
              <a:spcBef>
                <a:spcPts val="300"/>
              </a:spcBef>
            </a:pPr>
            <a:r>
              <a:rPr sz="1300" b="0">
                <a:solidFill>
                  <a:srgbClr val="404040"/>
                </a:solidFill>
              </a:rPr>
              <a:t>kunde_id: Es sind tatsächlich</a:t>
            </a:r>
          </a:p>
          <a:p>
            <a:pPr algn="l">
              <a:lnSpc>
                <a:spcPct val="95000"/>
              </a:lnSpc>
              <a:spcBef>
                <a:spcPts val="300"/>
              </a:spcBef>
            </a:pPr>
            <a:r>
              <a:rPr sz="1300" b="0">
                <a:solidFill>
                  <a:srgbClr val="404040"/>
                </a:solidFill>
              </a:rPr>
              <a:t>dieselben Personen.</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B</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Frei abgestellte Räder einsammeln</a:t>
            </a:r>
          </a:p>
          <a:p>
            <a:pPr algn="l">
              <a:lnSpc>
                <a:spcPct val="95000"/>
              </a:lnSpc>
              <a:spcBef>
                <a:spcPts val="300"/>
              </a:spcBef>
            </a:pPr>
            <a:r>
              <a:rPr sz="1300" b="0">
                <a:solidFill>
                  <a:srgbClr val="404040"/>
                </a:solidFill>
              </a:rPr>
              <a:t>„Frei abgestellt“ wurde ein</a:t>
            </a:r>
          </a:p>
          <a:p>
            <a:pPr algn="l">
              <a:lnSpc>
                <a:spcPct val="95000"/>
              </a:lnSpc>
              <a:spcBef>
                <a:spcPts val="300"/>
              </a:spcBef>
            </a:pPr>
            <a:r>
              <a:rPr sz="1300" b="0">
                <a:solidFill>
                  <a:srgbClr val="404040"/>
                </a:solidFill>
              </a:rPr>
              <a:t>eigenes Ziel — sonst wären</a:t>
            </a:r>
          </a:p>
          <a:p>
            <a:pPr algn="l">
              <a:lnSpc>
                <a:spcPct val="95000"/>
              </a:lnSpc>
              <a:spcBef>
                <a:spcPts val="300"/>
              </a:spcBef>
            </a:pPr>
            <a:r>
              <a:rPr sz="1300" b="0">
                <a:solidFill>
                  <a:srgbClr val="404040"/>
                </a:solidFill>
              </a:rPr>
              <a:t>23 % der Fahrten unsichtbar</a:t>
            </a:r>
          </a:p>
          <a:p>
            <a:pPr algn="l">
              <a:lnSpc>
                <a:spcPct val="95000"/>
              </a:lnSpc>
              <a:spcBef>
                <a:spcPts val="300"/>
              </a:spcBef>
            </a:pPr>
            <a:r>
              <a:rPr sz="1300" b="0">
                <a:solidFill>
                  <a:srgbClr val="404040"/>
                </a:solidFill>
              </a:rPr>
              <a:t>geblieben.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Wegeketten sind</a:t>
            </a:r>
          </a:p>
          <a:p>
            <a:pPr algn="l">
              <a:lnSpc>
                <a:spcPct val="95000"/>
              </a:lnSpc>
              <a:spcBef>
                <a:spcPts val="300"/>
              </a:spcBef>
            </a:pPr>
            <a:r>
              <a:rPr sz="1300" b="0">
                <a:solidFill>
                  <a:srgbClr val="404040"/>
                </a:solidFill>
              </a:rPr>
              <a:t>personenbezogene Daten.</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5 · Abschluss</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„Von wo nach wo?“ statt „wie viele?“. Drei Kriterien, darunter eines, das rein fachlich ist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Fahrt ist ein Warenkorb. Rundtouren: wahr und nutzlos, deshalb ausgeschlossen</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Zeitfenster statt 24 Stunden, sonst wäre jede Regel unbelegt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Konfidenz und Lift von Hand — eine Regel Zeile für Zeile nachgerechnet</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 Regeln, 10 mit Lift, 2 mit Support, 1 mit beidem</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Pläne, mit Datenschutzvorbehalt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gestern schiefgelaufen — und was tut man, wenn das Modell sauber rechnet und trotzdem Unbrauchbares liefert?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Aufgaben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Auffällige Fahrten finden  B) Stationsausfälle erkennen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Produkt</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Tagesliste mit zehn Plätzen für die Disposition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Erstaunlich niedrig: ab 5 % Treffer lohnt sich die Liste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als Maßstab, dann Isolation Forest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Rücksprung</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Phase 4 zurück nach Phase 3 — das Modell fand die Preisklasse statt der Anomalien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Aufgabe A besteht mit 40 % · Aufgabe B scheitert bei 9,5 % und wird nicht freigegeben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Sackgasse, die man kennen sollte</a:t>
            </a:r>
          </a:p>
        </p:txBody>
      </p:sp>
      <p:sp>
        <p:nvSpPr>
          <p:cNvPr id="3" name="Text Placeholder 2"/>
          <p:cNvSpPr>
            <a:spLocks noGrp="1"/>
          </p:cNvSpPr>
          <p:nvPr>
            <p:ph type="body" idx="12" sz="quarter"/>
          </p:nvPr>
        </p:nvSpPr>
        <p:spPr/>
        <p:txBody>
          <a:bodyPr/>
          <a:lstStyle/>
          <a:p>
            <a:r>
              <a:t>Fall 6 · Phase 2</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Geschwindigkeit wäre ein naheliegendes Merkmal für auffällige Fahrten. Sie taugt hier nichts — und zwar aus einem lehrreichen Grund.</a:t>
            </a:r>
          </a:p>
        </p:txBody>
      </p:sp>
      <p:sp>
        <p:nvSpPr>
          <p:cNvPr id="6" name="Rectangle 5"/>
          <p:cNvSpPr/>
          <p:nvPr/>
        </p:nvSpPr>
        <p:spPr>
          <a:xfrm>
            <a:off x="1153160"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Einfall</a:t>
            </a:r>
          </a:p>
        </p:txBody>
      </p:sp>
      <p:sp>
        <p:nvSpPr>
          <p:cNvPr id="9" name="TextBox 8"/>
          <p:cNvSpPr txBox="1"/>
          <p:nvPr/>
        </p:nvSpPr>
        <p:spPr>
          <a:xfrm>
            <a:off x="1330960" y="23876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Geschwindigkeit als Merkmal</a:t>
            </a:r>
          </a:p>
          <a:p>
            <a:pPr algn="l">
              <a:lnSpc>
                <a:spcPct val="95000"/>
              </a:lnSpc>
              <a:spcBef>
                <a:spcPts val="300"/>
              </a:spcBef>
            </a:pPr>
            <a:r>
              <a:rPr sz="1300" b="0">
                <a:solidFill>
                  <a:srgbClr val="404040"/>
                </a:solidFill>
              </a:rPr>
              <a:t>Ungewöhnlich schnell oder</a:t>
            </a:r>
          </a:p>
          <a:p>
            <a:pPr algn="l">
              <a:lnSpc>
                <a:spcPct val="95000"/>
              </a:lnSpc>
              <a:spcBef>
                <a:spcPts val="300"/>
              </a:spcBef>
            </a:pPr>
            <a:r>
              <a:rPr sz="1300" b="0">
                <a:solidFill>
                  <a:srgbClr val="404040"/>
                </a:solidFill>
              </a:rPr>
              <a:t>langsam — klingt nach genau</a:t>
            </a:r>
          </a:p>
          <a:p>
            <a:pPr algn="l">
              <a:lnSpc>
                <a:spcPct val="95000"/>
              </a:lnSpc>
              <a:spcBef>
                <a:spcPts val="300"/>
              </a:spcBef>
            </a:pPr>
            <a:r>
              <a:rPr sz="1300" b="0">
                <a:solidFill>
                  <a:srgbClr val="404040"/>
                </a:solidFill>
              </a:rPr>
              <a:t>dem, was eine Anomalie</a:t>
            </a:r>
          </a:p>
          <a:p>
            <a:pPr algn="l">
              <a:lnSpc>
                <a:spcPct val="95000"/>
              </a:lnSpc>
              <a:spcBef>
                <a:spcPts val="300"/>
              </a:spcBef>
            </a:pPr>
            <a:r>
              <a:rPr sz="1300" b="0">
                <a:solidFill>
                  <a:srgbClr val="404040"/>
                </a:solidFill>
              </a:rPr>
              <a:t>ausmacht.</a:t>
            </a:r>
          </a:p>
        </p:txBody>
      </p:sp>
      <p:sp>
        <p:nvSpPr>
          <p:cNvPr id="10" name="Rectangle 9"/>
          <p:cNvSpPr/>
          <p:nvPr/>
        </p:nvSpPr>
        <p:spPr>
          <a:xfrm>
            <a:off x="7096759"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Haken</a:t>
            </a:r>
          </a:p>
        </p:txBody>
      </p:sp>
      <p:sp>
        <p:nvSpPr>
          <p:cNvPr id="13" name="TextBox 12"/>
          <p:cNvSpPr txBox="1"/>
          <p:nvPr/>
        </p:nvSpPr>
        <p:spPr>
          <a:xfrm>
            <a:off x="7274559" y="23876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Sie ist abgeleitet</a:t>
            </a:r>
          </a:p>
          <a:p>
            <a:pPr algn="l">
              <a:lnSpc>
                <a:spcPct val="95000"/>
              </a:lnSpc>
              <a:spcBef>
                <a:spcPts val="300"/>
              </a:spcBef>
            </a:pPr>
            <a:r>
              <a:rPr sz="1300" b="0">
                <a:solidFill>
                  <a:srgbClr val="404040"/>
                </a:solidFill>
              </a:rPr>
              <a:t>Geschwindigkeit = Distanz</a:t>
            </a:r>
          </a:p>
          <a:p>
            <a:pPr algn="l">
              <a:lnSpc>
                <a:spcPct val="95000"/>
              </a:lnSpc>
              <a:spcBef>
                <a:spcPts val="300"/>
              </a:spcBef>
            </a:pPr>
            <a:r>
              <a:rPr sz="1300" b="0">
                <a:solidFill>
                  <a:srgbClr val="404040"/>
                </a:solidFill>
              </a:rPr>
              <a:t>geteilt durch Dauer.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Dauer ist schon ein</a:t>
            </a:r>
          </a:p>
          <a:p>
            <a:pPr algn="l">
              <a:lnSpc>
                <a:spcPct val="95000"/>
              </a:lnSpc>
              <a:spcBef>
                <a:spcPts val="300"/>
              </a:spcBef>
            </a:pPr>
            <a:r>
              <a:rPr sz="1300" b="0">
                <a:solidFill>
                  <a:srgbClr val="404040"/>
                </a:solidFill>
              </a:rPr>
              <a:t>Merkmal. Man fügt keine</a:t>
            </a:r>
          </a:p>
          <a:p>
            <a:pPr algn="l">
              <a:lnSpc>
                <a:spcPct val="95000"/>
              </a:lnSpc>
              <a:spcBef>
                <a:spcPts val="300"/>
              </a:spcBef>
            </a:pPr>
            <a:r>
              <a:rPr sz="1300" b="0">
                <a:solidFill>
                  <a:srgbClr val="404040"/>
                </a:solidFill>
              </a:rPr>
              <a:t>Information hinzu, sondern</a:t>
            </a:r>
          </a:p>
          <a:p>
            <a:pPr algn="l">
              <a:lnSpc>
                <a:spcPct val="95000"/>
              </a:lnSpc>
              <a:spcBef>
                <a:spcPts val="300"/>
              </a:spcBef>
            </a:pPr>
            <a:r>
              <a:rPr sz="1300" b="0">
                <a:solidFill>
                  <a:srgbClr val="404040"/>
                </a:solidFill>
              </a:rPr>
              <a:t>dieselbe noch einmal.</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Modell rechnete sauber und fand das Falsche</a:t>
            </a:r>
          </a:p>
        </p:txBody>
      </p:sp>
      <p:sp>
        <p:nvSpPr>
          <p:cNvPr id="3" name="Text Placeholder 2"/>
          <p:cNvSpPr>
            <a:spLocks noGrp="1"/>
          </p:cNvSpPr>
          <p:nvPr>
            <p:ph type="body" idx="12" sz="quarter"/>
          </p:nvPr>
        </p:nvSpPr>
        <p:spPr/>
        <p:txBody>
          <a:bodyPr/>
          <a:lstStyle/>
          <a:p>
            <a:r>
              <a:t>Fall 6 · Phase 4</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Isolation Forest lieferte beim ersten Versuch eine Liste, die sich beim Ansehen als völlig unbrauchbar erwies.</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Was oben stand</a:t>
            </a:r>
          </a:p>
          <a:p>
            <a:pPr algn="l">
              <a:lnSpc>
                <a:spcPct val="95000"/>
              </a:lnSpc>
              <a:spcBef>
                <a:spcPts val="500"/>
              </a:spcBef>
            </a:pPr>
            <a:r>
              <a:rPr sz="1300" b="0">
                <a:solidFill>
                  <a:srgbClr val="404040"/>
                </a:solidFill>
              </a:rPr>
              <a:t>Fast ausschließlich</a:t>
            </a:r>
          </a:p>
          <a:p>
            <a:pPr algn="l">
              <a:lnSpc>
                <a:spcPct val="95000"/>
              </a:lnSpc>
              <a:spcBef>
                <a:spcPts val="500"/>
              </a:spcBef>
            </a:pPr>
            <a:r>
              <a:rPr sz="1300" b="0">
                <a:solidFill>
                  <a:srgbClr val="404040"/>
                </a:solidFill>
              </a:rPr>
              <a:t>E-Cargo-Fahrten.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Modell hatte etwas</a:t>
            </a:r>
          </a:p>
          <a:p>
            <a:pPr algn="l">
              <a:lnSpc>
                <a:spcPct val="95000"/>
              </a:lnSpc>
              <a:spcBef>
                <a:spcPts val="500"/>
              </a:spcBef>
            </a:pPr>
            <a:r>
              <a:rPr sz="1300" b="0">
                <a:solidFill>
                  <a:srgbClr val="404040"/>
                </a:solidFill>
              </a:rPr>
              <a:t>gefunden — nur nicht das,</a:t>
            </a:r>
          </a:p>
          <a:p>
            <a:pPr algn="l">
              <a:lnSpc>
                <a:spcPct val="95000"/>
              </a:lnSpc>
              <a:spcBef>
                <a:spcPts val="500"/>
              </a:spcBef>
            </a:pPr>
            <a:r>
              <a:rPr sz="1300" b="0">
                <a:solidFill>
                  <a:srgbClr val="404040"/>
                </a:solidFill>
              </a:rPr>
              <a:t>wonach gesucht war.</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Ein CARGO-Rad kostet 0,50 €</a:t>
            </a:r>
          </a:p>
          <a:p>
            <a:pPr algn="l">
              <a:lnSpc>
                <a:spcPct val="95000"/>
              </a:lnSpc>
              <a:spcBef>
                <a:spcPts val="500"/>
              </a:spcBef>
            </a:pPr>
            <a:r>
              <a:rPr sz="1300" b="0">
                <a:solidFill>
                  <a:srgbClr val="404040"/>
                </a:solidFill>
              </a:rPr>
              <a:t>je Minute, ein CITY-Rad</a:t>
            </a:r>
          </a:p>
          <a:p>
            <a:pPr algn="l">
              <a:lnSpc>
                <a:spcPct val="95000"/>
              </a:lnSpc>
              <a:spcBef>
                <a:spcPts val="500"/>
              </a:spcBef>
            </a:pPr>
            <a:r>
              <a:rPr sz="1300" b="0">
                <a:solidFill>
                  <a:srgbClr val="404040"/>
                </a:solidFill>
              </a:rPr>
              <a:t>0,10 €.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Beim Entgelt ist jede</a:t>
            </a:r>
          </a:p>
          <a:p>
            <a:pPr algn="l">
              <a:lnSpc>
                <a:spcPct val="95000"/>
              </a:lnSpc>
              <a:spcBef>
                <a:spcPts val="500"/>
              </a:spcBef>
            </a:pPr>
            <a:r>
              <a:rPr sz="1300" b="0">
                <a:solidFill>
                  <a:srgbClr val="404040"/>
                </a:solidFill>
              </a:rPr>
              <a:t>Cargo-Fahrt ein Ausreißer —</a:t>
            </a:r>
          </a:p>
          <a:p>
            <a:pPr algn="l">
              <a:lnSpc>
                <a:spcPct val="95000"/>
              </a:lnSpc>
              <a:spcBef>
                <a:spcPts val="500"/>
              </a:spcBef>
            </a:pPr>
            <a:r>
              <a:rPr sz="1300" b="0">
                <a:solidFill>
                  <a:srgbClr val="404040"/>
                </a:solidFill>
              </a:rPr>
              <a:t>völlig zu Recht.</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Wie es auffiel</a:t>
            </a:r>
          </a:p>
          <a:p>
            <a:pPr algn="l">
              <a:lnSpc>
                <a:spcPct val="95000"/>
              </a:lnSpc>
              <a:spcBef>
                <a:spcPts val="500"/>
              </a:spcBef>
            </a:pPr>
            <a:r>
              <a:rPr sz="1300" b="0">
                <a:solidFill>
                  <a:srgbClr val="404040"/>
                </a:solidFill>
              </a:rPr>
              <a:t>Nicht durch eine Kennzahl.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Sondern dadurch, dass jemand</a:t>
            </a:r>
          </a:p>
          <a:p>
            <a:pPr algn="l">
              <a:lnSpc>
                <a:spcPct val="95000"/>
              </a:lnSpc>
              <a:spcBef>
                <a:spcPts val="500"/>
              </a:spcBef>
            </a:pPr>
            <a:r>
              <a:rPr sz="1300" b="0">
                <a:solidFill>
                  <a:srgbClr val="404040"/>
                </a:solidFill>
              </a:rPr>
              <a:t>die zehn obersten Zeilen</a:t>
            </a:r>
          </a:p>
          <a:p>
            <a:pPr algn="l">
              <a:lnSpc>
                <a:spcPct val="95000"/>
              </a:lnSpc>
              <a:spcBef>
                <a:spcPts val="500"/>
              </a:spcBef>
            </a:pPr>
            <a:r>
              <a:rPr sz="1300" b="0">
                <a:solidFill>
                  <a:srgbClr val="404040"/>
                </a:solidFill>
              </a:rPr>
              <a:t>ANGESEHEN hat.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Fehlschlag, den nur der Blick auf die Zeilen zeigt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4.4</a:t>
            </a:r>
          </a:p>
        </p:txBody>
      </p:sp>
      <p:sp>
        <p:nvSpPr>
          <p:cNvPr id="5" name="Rectangle 4"/>
          <p:cNvSpPr/>
          <p:nvPr/>
        </p:nvSpPr>
        <p:spPr>
          <a:xfrm>
            <a:off x="2640877" y="1168400"/>
            <a:ext cx="849901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fehlschlag.png"/>
          <p:cNvPicPr>
            <a:picLocks noChangeAspect="1"/>
          </p:cNvPicPr>
          <p:nvPr/>
        </p:nvPicPr>
        <p:blipFill>
          <a:blip r:embed="rId2"/>
          <a:stretch>
            <a:fillRect/>
          </a:stretch>
        </p:blipFill>
        <p:spPr>
          <a:xfrm>
            <a:off x="2742477" y="1270000"/>
            <a:ext cx="829581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Oben in der Liste: fast nur CARGO. Die Spalte entgelt_je_minute verrät, warum — das Modell hat die Preisklasse gefunden.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Zurück nach Phase 3 — und was es brachte</a:t>
            </a:r>
          </a:p>
        </p:txBody>
      </p:sp>
      <p:sp>
        <p:nvSpPr>
          <p:cNvPr id="3" name="Text Placeholder 2"/>
          <p:cNvSpPr>
            <a:spLocks noGrp="1"/>
          </p:cNvSpPr>
          <p:nvPr>
            <p:ph type="body" idx="12" sz="quarter"/>
          </p:nvPr>
        </p:nvSpPr>
        <p:spPr/>
        <p:txBody>
          <a:bodyPr/>
          <a:lstStyle/>
          <a:p>
            <a:r>
              <a:t>Fall 6 · Rücksprung</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Korrektur ist klein: das Entgelt innerhalb des Radtyps normieren. Die Wirkung ist groß.</a:t>
            </a:r>
          </a:p>
        </p:txBody>
      </p:sp>
      <p:sp>
        <p:nvSpPr>
          <p:cNvPr id="6" name="Rectangle 5"/>
          <p:cNvSpPr/>
          <p:nvPr/>
        </p:nvSpPr>
        <p:spPr>
          <a:xfrm>
            <a:off x="1153160" y="1651000"/>
            <a:ext cx="317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328160" y="1651000"/>
            <a:ext cx="228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Bewertung</a:t>
            </a:r>
          </a:p>
        </p:txBody>
      </p:sp>
      <p:sp>
        <p:nvSpPr>
          <p:cNvPr id="9" name="Rectangle 8"/>
          <p:cNvSpPr/>
          <p:nvPr/>
        </p:nvSpPr>
        <p:spPr>
          <a:xfrm>
            <a:off x="1153160" y="2260600"/>
            <a:ext cx="317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Erster Versuch</a:t>
            </a:r>
          </a:p>
        </p:txBody>
      </p:sp>
      <p:sp>
        <p:nvSpPr>
          <p:cNvPr id="10" name="Rectangle 9"/>
          <p:cNvSpPr/>
          <p:nvPr/>
        </p:nvSpPr>
        <p:spPr>
          <a:xfrm>
            <a:off x="4328160" y="2260600"/>
            <a:ext cx="228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unbrauchbar — gefunden wurde die Preisklasse</a:t>
            </a:r>
          </a:p>
        </p:txBody>
      </p:sp>
      <p:sp>
        <p:nvSpPr>
          <p:cNvPr id="12" name="Rectangle 11"/>
          <p:cNvSpPr/>
          <p:nvPr/>
        </p:nvSpPr>
        <p:spPr>
          <a:xfrm>
            <a:off x="1153160" y="2870200"/>
            <a:ext cx="317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Nach der Normierung</a:t>
            </a:r>
          </a:p>
        </p:txBody>
      </p:sp>
      <p:sp>
        <p:nvSpPr>
          <p:cNvPr id="13" name="Rectangle 12"/>
          <p:cNvSpPr/>
          <p:nvPr/>
        </p:nvSpPr>
        <p:spPr>
          <a:xfrm>
            <a:off x="4328160" y="2870200"/>
            <a:ext cx="228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40 %</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Kriterium aus Phase 1 (5 %) deutlich erfüllt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Auswertung, nach der Normierung</a:t>
            </a:r>
          </a:p>
        </p:txBody>
      </p:sp>
      <p:sp>
        <p:nvSpPr>
          <p:cNvPr id="3" name="Text Placeholder 2"/>
          <p:cNvSpPr>
            <a:spLocks noGrp="1"/>
          </p:cNvSpPr>
          <p:nvPr>
            <p:ph type="body" idx="12" sz="quarter"/>
          </p:nvPr>
        </p:nvSpPr>
        <p:spPr/>
        <p:txBody>
          <a:bodyPr/>
          <a:lstStyle/>
          <a:p>
            <a:r>
              <a:t>Nach dem Rücksprung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4.5</a:t>
            </a:r>
          </a:p>
        </p:txBody>
      </p:sp>
      <p:sp>
        <p:nvSpPr>
          <p:cNvPr id="5" name="Rectangle 4"/>
          <p:cNvSpPr/>
          <p:nvPr/>
        </p:nvSpPr>
        <p:spPr>
          <a:xfrm>
            <a:off x="2037545" y="1168400"/>
            <a:ext cx="9705679"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korrektur.png"/>
          <p:cNvPicPr>
            <a:picLocks noChangeAspect="1"/>
          </p:cNvPicPr>
          <p:nvPr/>
        </p:nvPicPr>
        <p:blipFill>
          <a:blip r:embed="rId2"/>
          <a:stretch>
            <a:fillRect/>
          </a:stretch>
        </p:blipFill>
        <p:spPr>
          <a:xfrm>
            <a:off x="2139145" y="1270000"/>
            <a:ext cx="9502479"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Radtyp-Verteilung der fünfzig auffälligsten Vorgänge ist jetzt gemischt statt einseitig. Genau das war das Ziel der Korrektur.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Aufgabe B scheitert — und das ist ein Ergebnis</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Stationsausfälle sollten aus dem Fahrtaufkommen erkennbar sein. Sie sind es nicht. Der Grund liegt nicht am Verfahren.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Trefferquote 9,5 %.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Kriterium für Aufgabe B</a:t>
            </a:r>
          </a:p>
          <a:p>
            <a:pPr algn="l">
              <a:lnSpc>
                <a:spcPct val="95000"/>
              </a:lnSpc>
              <a:spcBef>
                <a:spcPts val="500"/>
              </a:spcBef>
            </a:pPr>
            <a:r>
              <a:rPr sz="1300" b="0">
                <a:solidFill>
                  <a:srgbClr val="404040"/>
                </a:solidFill>
              </a:rPr>
              <a:t>wird deutlich verfehlt.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Rund fünf Fahrten je Station</a:t>
            </a:r>
          </a:p>
          <a:p>
            <a:pPr algn="l">
              <a:lnSpc>
                <a:spcPct val="95000"/>
              </a:lnSpc>
              <a:spcBef>
                <a:spcPts val="500"/>
              </a:spcBef>
            </a:pPr>
            <a:r>
              <a:rPr sz="1300" b="0">
                <a:solidFill>
                  <a:srgbClr val="404040"/>
                </a:solidFill>
              </a:rPr>
              <a:t>und Tag.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 Störungstag sieht bei</a:t>
            </a:r>
          </a:p>
          <a:p>
            <a:pPr algn="l">
              <a:lnSpc>
                <a:spcPct val="95000"/>
              </a:lnSpc>
              <a:spcBef>
                <a:spcPts val="500"/>
              </a:spcBef>
            </a:pPr>
            <a:r>
              <a:rPr sz="1300" b="0">
                <a:solidFill>
                  <a:srgbClr val="404040"/>
                </a:solidFill>
              </a:rPr>
              <a:t>dieser Grundrate genauso aus</a:t>
            </a:r>
          </a:p>
          <a:p>
            <a:pPr algn="l">
              <a:lnSpc>
                <a:spcPct val="95000"/>
              </a:lnSpc>
              <a:spcBef>
                <a:spcPts val="500"/>
              </a:spcBef>
            </a:pPr>
            <a:r>
              <a:rPr sz="1300" b="0">
                <a:solidFill>
                  <a:srgbClr val="404040"/>
                </a:solidFill>
              </a:rPr>
              <a:t>wie ein verregneter</a:t>
            </a:r>
          </a:p>
          <a:p>
            <a:pPr algn="l">
              <a:lnSpc>
                <a:spcPct val="95000"/>
              </a:lnSpc>
              <a:spcBef>
                <a:spcPts val="500"/>
              </a:spcBef>
            </a:pPr>
            <a:r>
              <a:rPr sz="1300" b="0">
                <a:solidFill>
                  <a:srgbClr val="404040"/>
                </a:solidFill>
              </a:rPr>
              <a:t>Januarsonntag.</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Keine bessere Mathematik,</a:t>
            </a:r>
          </a:p>
          <a:p>
            <a:pPr algn="l">
              <a:lnSpc>
                <a:spcPct val="95000"/>
              </a:lnSpc>
              <a:spcBef>
                <a:spcPts val="500"/>
              </a:spcBef>
            </a:pPr>
            <a:r>
              <a:rPr sz="1300" b="0">
                <a:solidFill>
                  <a:srgbClr val="404040"/>
                </a:solidFill>
              </a:rPr>
              <a:t>sondern eine bessere</a:t>
            </a:r>
          </a:p>
          <a:p>
            <a:pPr algn="l">
              <a:lnSpc>
                <a:spcPct val="95000"/>
              </a:lnSpc>
              <a:spcBef>
                <a:spcPts val="500"/>
              </a:spcBef>
            </a:pPr>
            <a:r>
              <a:rPr sz="1300" b="0">
                <a:solidFill>
                  <a:srgbClr val="404040"/>
                </a:solidFill>
              </a:rPr>
              <a:t>Datenquelle: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Statusmeldungen der</a:t>
            </a:r>
          </a:p>
          <a:p>
            <a:pPr algn="l">
              <a:lnSpc>
                <a:spcPct val="95000"/>
              </a:lnSpc>
              <a:spcBef>
                <a:spcPts val="500"/>
              </a:spcBef>
            </a:pPr>
            <a:r>
              <a:rPr sz="1300" b="0">
                <a:solidFill>
                  <a:srgbClr val="404040"/>
                </a:solidFill>
              </a:rPr>
              <a:t>Terminals, die ohnehin</a:t>
            </a:r>
          </a:p>
          <a:p>
            <a:pPr algn="l">
              <a:lnSpc>
                <a:spcPct val="95000"/>
              </a:lnSpc>
              <a:spcBef>
                <a:spcPts val="500"/>
              </a:spcBef>
            </a:pPr>
            <a:r>
              <a:rPr sz="1300" b="0">
                <a:solidFill>
                  <a:srgbClr val="404040"/>
                </a:solidFill>
              </a:rPr>
              <a:t>anfallen.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Aufgabe B, ausgerechnet und verworfen</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5.4</a:t>
            </a:r>
          </a:p>
        </p:txBody>
      </p:sp>
      <p:sp>
        <p:nvSpPr>
          <p:cNvPr id="5" name="Rectangle 4"/>
          <p:cNvSpPr/>
          <p:nvPr/>
        </p:nvSpPr>
        <p:spPr>
          <a:xfrm>
            <a:off x="1630402" y="1168400"/>
            <a:ext cx="1051996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aufgabeB.png"/>
          <p:cNvPicPr>
            <a:picLocks noChangeAspect="1"/>
          </p:cNvPicPr>
          <p:nvPr/>
        </p:nvPicPr>
        <p:blipFill>
          <a:blip r:embed="rId2"/>
          <a:stretch>
            <a:fillRect/>
          </a:stretch>
        </p:blipFill>
        <p:spPr>
          <a:xfrm>
            <a:off x="1732002" y="1270000"/>
            <a:ext cx="1031676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Null gefundene Störungen bei einer Listenlänge von 50. Das Notebook rechnet das Scheitern aus, statt es zu verschweigen.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nur, was besteht</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Aufgaben, ein Ergebnis. Aufgabe B wird ausdrücklich nicht freigegeben — und das steht im Bericht.</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Aufgabe A  </a:t>
            </a:r>
            <a:r>
              <a:rPr sz="1300">
                <a:solidFill>
                  <a:srgbClr val="404040"/>
                </a:solidFill>
              </a:rPr>
              <a:t>Tagesliste mit zehn Plätzen, je Vorgang mit Begründung, WARUM er auffällt — sonst kann die Disposition nichts damit anfangen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Aufgabe B  </a:t>
            </a:r>
            <a:r>
              <a:rPr sz="1300">
                <a:solidFill>
                  <a:srgbClr val="404040"/>
                </a:solidFill>
              </a:rPr>
              <a:t>Nicht freigegeben. Die Empfehlung lautet: Terminalmeldungen anbinden, statt aus dem Fahrtaufkommen zu schließen</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Rückkopplungsvorteil  </a:t>
            </a:r>
            <a:r>
              <a:rPr sz="1300">
                <a:solidFill>
                  <a:srgbClr val="404040"/>
                </a:solidFill>
              </a:rPr>
              <a:t>Anders als in Fall 2 verbessert die Nutzung hier die Datenlage: Jede geprüfte Meldung ist ein Label für die nächste Runde</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6 · Abschluss</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Aufgaben, zehn Listenplätze, und eine niedrige, aber begründete Hürde: 5 % Treffer</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Lücke in der Dauerverteilung trennt Fahrten von Rückgabeproblemen. Sackgasse: die Geschwindigkeit</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Merkmale; distanz_km bleibt draußen, weil ein fehlender Sensor kein auffälliger Vorgang ist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Interquartilsregel unbrauchbar (über 2.000 Treffer), dann Isolation Forest — der die Preisklasse fand</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Nach der Korrektur 6 % → 40 %. Aufgabe A besteht, B scheitert an den Grundraten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Tagesliste mit Begründung; Aufgabe B ausdrücklich nicht freigegeben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gemittelte Kennzahl verdeckte ein bestehendes Drittel — 0,91 € gegen 0,464 €</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Gleichstand gewinnt die einfachere Lösung: ausgeliefert wird die Regel</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Und die genaueste Prognose ist nicht die günstigste</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Von 42 Regeln überlebt eine — dank Hürden, die vorher standen</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Verfahren erzeugt Information, die in den Daten nicht steckt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zwei Fassungen: eine vollständig gerechnete und eine mit Lücken zum Selbstausfüllen.</a:t>
            </a:r>
          </a:p>
        </p:txBody>
      </p:sp>
      <p:sp>
        <p:nvSpPr>
          <p:cNvPr id="6" name="Rectangle 5"/>
          <p:cNvSpPr/>
          <p:nvPr/>
        </p:nvSpPr>
        <p:spPr>
          <a:xfrm>
            <a:off x="1153160" y="16510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651000"/>
            <a:ext cx="5080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Vorführfassung</a:t>
            </a:r>
          </a:p>
        </p:txBody>
      </p:sp>
      <p:sp>
        <p:nvSpPr>
          <p:cNvPr id="8" name="Rectangle 7"/>
          <p:cNvSpPr/>
          <p:nvPr/>
        </p:nvSpPr>
        <p:spPr>
          <a:xfrm>
            <a:off x="8011159" y="1651000"/>
            <a:ext cx="461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Übungsfassung</a:t>
            </a:r>
          </a:p>
        </p:txBody>
      </p:sp>
      <p:sp>
        <p:nvSpPr>
          <p:cNvPr id="9" name="Rectangle 8"/>
          <p:cNvSpPr/>
          <p:nvPr/>
        </p:nvSpPr>
        <p:spPr>
          <a:xfrm>
            <a:off x="1153160" y="21844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10" name="Rectangle 9"/>
          <p:cNvSpPr/>
          <p:nvPr/>
        </p:nvSpPr>
        <p:spPr>
          <a:xfrm>
            <a:off x="2931160" y="21844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a:t>
            </a:r>
          </a:p>
        </p:txBody>
      </p:sp>
      <p:sp>
        <p:nvSpPr>
          <p:cNvPr id="11" name="Rectangle 10"/>
          <p:cNvSpPr/>
          <p:nvPr/>
        </p:nvSpPr>
        <p:spPr>
          <a:xfrm>
            <a:off x="8011159" y="21844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analytics/notebooks/uebung/</a:t>
            </a:r>
          </a:p>
        </p:txBody>
      </p:sp>
      <p:sp>
        <p:nvSpPr>
          <p:cNvPr id="12" name="Rectangle 11"/>
          <p:cNvSpPr/>
          <p:nvPr/>
        </p:nvSpPr>
        <p:spPr>
          <a:xfrm>
            <a:off x="1153160" y="27178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3" name="Rectangle 12"/>
          <p:cNvSpPr/>
          <p:nvPr/>
        </p:nvSpPr>
        <p:spPr>
          <a:xfrm>
            <a:off x="2931160" y="27178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sofort lesbar</a:t>
            </a:r>
          </a:p>
        </p:txBody>
      </p:sp>
      <p:sp>
        <p:nvSpPr>
          <p:cNvPr id="14" name="Rectangle 13"/>
          <p:cNvSpPr/>
          <p:nvPr/>
        </p:nvSpPr>
        <p:spPr>
          <a:xfrm>
            <a:off x="8011159" y="27178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leer — sie entstehen beim Rechnen</a:t>
            </a:r>
          </a:p>
        </p:txBody>
      </p:sp>
      <p:sp>
        <p:nvSpPr>
          <p:cNvPr id="15" name="Rectangle 14"/>
          <p:cNvSpPr/>
          <p:nvPr/>
        </p:nvSpPr>
        <p:spPr>
          <a:xfrm>
            <a:off x="1153160" y="32512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Code</a:t>
            </a:r>
          </a:p>
        </p:txBody>
      </p:sp>
      <p:sp>
        <p:nvSpPr>
          <p:cNvPr id="16" name="Rectangle 15"/>
          <p:cNvSpPr/>
          <p:nvPr/>
        </p:nvSpPr>
        <p:spPr>
          <a:xfrm>
            <a:off x="2931160" y="32512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a:t>
            </a:r>
          </a:p>
        </p:txBody>
      </p:sp>
      <p:sp>
        <p:nvSpPr>
          <p:cNvPr id="17" name="Rectangle 16"/>
          <p:cNvSpPr/>
          <p:nvPr/>
        </p:nvSpPr>
        <p:spPr>
          <a:xfrm>
            <a:off x="8011159" y="32512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 den Kernstellen ausgeschnitten</a:t>
            </a:r>
          </a:p>
        </p:txBody>
      </p:sp>
      <p:sp>
        <p:nvSpPr>
          <p:cNvPr id="18" name="Rectangle 17"/>
          <p:cNvSpPr/>
          <p:nvPr/>
        </p:nvSpPr>
        <p:spPr>
          <a:xfrm>
            <a:off x="1153160" y="37846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Aufgaben</a:t>
            </a:r>
          </a:p>
        </p:txBody>
      </p:sp>
      <p:sp>
        <p:nvSpPr>
          <p:cNvPr id="19" name="Rectangle 18"/>
          <p:cNvSpPr/>
          <p:nvPr/>
        </p:nvSpPr>
        <p:spPr>
          <a:xfrm>
            <a:off x="2931160" y="37846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0" name="Rectangle 19"/>
          <p:cNvSpPr/>
          <p:nvPr/>
        </p:nvSpPr>
        <p:spPr>
          <a:xfrm>
            <a:off x="8011159" y="37846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bis 4 je Notebook, an der jeweils lehrreichsten Stelle</a:t>
            </a:r>
          </a:p>
        </p:txBody>
      </p:sp>
      <p:sp>
        <p:nvSpPr>
          <p:cNvPr id="21" name="Rectangle 20"/>
          <p:cNvSpPr/>
          <p:nvPr/>
        </p:nvSpPr>
        <p:spPr>
          <a:xfrm>
            <a:off x="1153160" y="4318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22" name="Rectangle 21"/>
          <p:cNvSpPr/>
          <p:nvPr/>
        </p:nvSpPr>
        <p:spPr>
          <a:xfrm>
            <a:off x="2931160" y="43180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Phasen als Überschriften</a:t>
            </a:r>
          </a:p>
        </p:txBody>
      </p:sp>
      <p:sp>
        <p:nvSpPr>
          <p:cNvPr id="23" name="Rectangle 22"/>
          <p:cNvSpPr/>
          <p:nvPr/>
        </p:nvSpPr>
        <p:spPr>
          <a:xfrm>
            <a:off x="8011159" y="43180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identisch — auch die Übungsfassung führt durch alle sechs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