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 id="378" r:id="rId248"/>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248" Type="http://schemas.openxmlformats.org/officeDocument/2006/relationships/slide" Target="slides/slide123.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Ergebnis ist gut — aber es war vorher nicht belegt, sondern behauptet. Der Unterschied zählt: Hätte die Messung eine Instabilität gezeigt, wäre sie unbemerkt in die Auslieferung gewandert. Für den Kampagnenplan hat der Befund eine praktische Folge: Er wird nicht über Cluster-Nummern ausgeliefert, sondern über nachvollziehbare Schwellen — die sind reproduzierbar, die Nummern nicht.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stand in einer früheren Fassung in Phase 6, also NACH der Freigabe. Die Freigabe fiel damit auf einer Zahl, die das ausgelieferte Produkt nie erreicht — mit Ist-Wetter 1.727 €, im Betrieb 3.523 €. Jetzt steht die Zelle vor dem Urteil. Wer in einem Bericht nur die erste Zahl zeigt, hat nicht gelogen und trotzdem getäuscht.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frühere Fassung dieses Notebooks druckte hier „+1205 Räder laufen auf“ — die Summe über 741 Werktage, gedruckt wie eine Anweisung an den Fahrer. Die Zahl war richtig, die Einheit fehlte, und mit ihr die Einsicht, dass der Plan nichts trägt. Merksatz: Eine Zahl ohne Zeitbezug ist keine Betriebsanweisung. Der Hinweis rechts unten ist ebenfalls kein Beiwerk — aus Start-Ziel-Paaren mit Zeitstempel lassen sich Bewegungsprofile bilden.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Gegenstück zu Fall 2. Dort ließ eine schlecht gebaute Baseline ein Modell zu gut aussehen. Hier ließ eine FEHLENDE Baseline eine Aufgabe unlösbar aussehen — eine frühere Fassung des Notebooks schrieb, Aufgabe B sei mit diesen Daten nicht lösbar. Beide Male hilft dasselbe: erst die einfachste Lösung bauen, dann das Verfahren daran messen.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erste Spalte lesen, bevor Sie die zweite aufdecken. Ein Modell, das bei fünfzig Plätzen null Treffer hat, sieht nach einem unlösbaren Problem aus — bis jemand die Regel danebenstellt.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2291797"/>
            <a:ext cx="11677649" cy="212200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60" y="2393397"/>
            <a:ext cx="11474449" cy="191880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fahren 2,4-mal</a:t>
            </a:r>
          </a:p>
          <a:p>
            <a:pPr algn="l">
              <a:lnSpc>
                <a:spcPct val="95000"/>
              </a:lnSpc>
              <a:spcBef>
                <a:spcPts val="500"/>
              </a:spcBef>
            </a:pPr>
            <a:r>
              <a:rPr sz="1300" b="0">
                <a:solidFill>
                  <a:srgbClr val="404040"/>
                </a:solidFill>
              </a:rPr>
              <a:t>so oft wie die Umsatzträger</a:t>
            </a:r>
          </a:p>
          <a:p>
            <a:pPr algn="l">
              <a:lnSpc>
                <a:spcPct val="95000"/>
              </a:lnSpc>
              <a:spcBef>
                <a:spcPts val="500"/>
              </a:spcBef>
            </a:pPr>
            <a:r>
              <a:rPr sz="1300" b="0">
                <a:solidFill>
                  <a:srgbClr val="404040"/>
                </a:solidFill>
              </a:rPr>
              <a:t>und bringen ein Viertel des</a:t>
            </a:r>
          </a:p>
          <a:p>
            <a:pPr algn="l">
              <a:lnSpc>
                <a:spcPct val="95000"/>
              </a:lnSpc>
              <a:spcBef>
                <a:spcPts val="500"/>
              </a:spcBef>
            </a:pPr>
            <a:r>
              <a:rPr sz="1300" b="0">
                <a:solidFill>
                  <a:srgbClr val="404040"/>
                </a:solidFill>
              </a:rPr>
              <a:t>Jahresumsatzes.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 Fahrt: 0,59 € gegen 5,49 €.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der geringste Umsatz —</a:t>
            </a:r>
          </a:p>
          <a:p>
            <a:pPr algn="l">
              <a:lnSpc>
                <a:spcPct val="95000"/>
              </a:lnSpc>
              <a:spcBef>
                <a:spcPts val="500"/>
              </a:spcBef>
            </a:pPr>
            <a:r>
              <a:rPr sz="1300" b="0">
                <a:solidFill>
                  <a:srgbClr val="404040"/>
                </a:solidFill>
              </a:rPr>
              <a:t>der geringste JE FAHRT.</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Kampagnenliste je Kunde</a:t>
            </a:r>
          </a:p>
          <a:p>
            <a:pPr algn="l">
              <a:lnSpc>
                <a:spcPct val="95000"/>
              </a:lnSpc>
              <a:spcBef>
                <a:spcPts val="300"/>
              </a:spcBef>
            </a:pPr>
            <a:r>
              <a:rPr sz="1300" b="0">
                <a:solidFill>
                  <a:srgbClr val="404040"/>
                </a:solidFill>
              </a:rPr>
              <a:t>NICHT die Cluster-Nummer, sondern</a:t>
            </a:r>
          </a:p>
          <a:p>
            <a:pPr algn="l">
              <a:lnSpc>
                <a:spcPct val="95000"/>
              </a:lnSpc>
              <a:spcBef>
                <a:spcPts val="300"/>
              </a:spcBef>
            </a:pPr>
            <a:r>
              <a:rPr sz="1300" b="0">
                <a:solidFill>
                  <a:srgbClr val="404040"/>
                </a:solidFill>
              </a:rPr>
              <a:t>die Schwellen dahinter — weil</a:t>
            </a:r>
          </a:p>
          <a:p>
            <a:pPr algn="l">
              <a:lnSpc>
                <a:spcPct val="95000"/>
              </a:lnSpc>
              <a:spcBef>
                <a:spcPts val="300"/>
              </a:spcBef>
            </a:pPr>
            <a:r>
              <a:rPr sz="1300" b="0">
                <a:solidFill>
                  <a:srgbClr val="404040"/>
                </a:solidFill>
              </a:rPr>
              <a:t>binnen eines Quartals jeder</a:t>
            </a:r>
          </a:p>
          <a:p>
            <a:pPr algn="l">
              <a:lnSpc>
                <a:spcPct val="95000"/>
              </a:lnSpc>
              <a:spcBef>
                <a:spcPts val="300"/>
              </a:spcBef>
            </a:pPr>
            <a:r>
              <a:rPr sz="1300" b="0">
                <a:solidFill>
                  <a:srgbClr val="404040"/>
                </a:solidFill>
              </a:rPr>
              <a:t>vierte Kunde das Cluster</a:t>
            </a:r>
          </a:p>
          <a:p>
            <a:pPr algn="l">
              <a:lnSpc>
                <a:spcPct val="95000"/>
              </a:lnSpc>
              <a:spcBef>
                <a:spcPts val="300"/>
              </a:spcBef>
            </a:pPr>
            <a:r>
              <a:rPr sz="1300" b="0">
                <a:solidFill>
                  <a:srgbClr val="404040"/>
                </a:solidFill>
              </a:rPr>
              <a:t>wechselt.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Profilbildung</a:t>
            </a:r>
          </a:p>
          <a:p>
            <a:pPr algn="l">
              <a:lnSpc>
                <a:spcPct val="95000"/>
              </a:lnSpc>
              <a:spcBef>
                <a:spcPts val="300"/>
              </a:spcBef>
            </a:pPr>
            <a:r>
              <a:rPr sz="1300" b="0">
                <a:solidFill>
                  <a:srgbClr val="404040"/>
                </a:solidFill>
              </a:rPr>
              <a:t>und braucht eine Rechtsgrundlage.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Kriterium, das man behauptet, ist keines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Kriterium 4 aus Phase 1 lautete: „Ein zweiter Lauf mit anderem Zufallsstart muss dieselben Gruppen liefern.“ Belegt wurde es zunächst mit `n_init=25` — und das prüft etwas anderes.</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behauptet wurde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n_init=25 als Beleg</a:t>
            </a:r>
          </a:p>
          <a:p>
            <a:pPr algn="l">
              <a:lnSpc>
                <a:spcPct val="95000"/>
              </a:lnSpc>
              <a:spcBef>
                <a:spcPts val="300"/>
              </a:spcBef>
            </a:pPr>
            <a:r>
              <a:rPr sz="1300" b="0">
                <a:solidFill>
                  <a:srgbClr val="404040"/>
                </a:solidFill>
              </a:rPr>
              <a:t>„25 Zufallsstarts, der beste</a:t>
            </a:r>
          </a:p>
          <a:p>
            <a:pPr algn="l">
              <a:lnSpc>
                <a:spcPct val="95000"/>
              </a:lnSpc>
              <a:spcBef>
                <a:spcPts val="300"/>
              </a:spcBef>
            </a:pPr>
            <a:r>
              <a:rPr sz="1300" b="0">
                <a:solidFill>
                  <a:srgbClr val="404040"/>
                </a:solidFill>
              </a:rPr>
              <a:t>wird genommen.“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Qualitätssicherung</a:t>
            </a:r>
          </a:p>
          <a:p>
            <a:pPr algn="l">
              <a:lnSpc>
                <a:spcPct val="95000"/>
              </a:lnSpc>
              <a:spcBef>
                <a:spcPts val="300"/>
              </a:spcBef>
            </a:pPr>
            <a:r>
              <a:rPr sz="1300" b="0">
                <a:solidFill>
                  <a:srgbClr val="404040"/>
                </a:solidFill>
              </a:rPr>
              <a:t>INNERHALB eines Laufs — nicht</a:t>
            </a:r>
          </a:p>
          <a:p>
            <a:pPr algn="l">
              <a:lnSpc>
                <a:spcPct val="95000"/>
              </a:lnSpc>
              <a:spcBef>
                <a:spcPts val="300"/>
              </a:spcBef>
            </a:pPr>
            <a:r>
              <a:rPr sz="1300" b="0">
                <a:solidFill>
                  <a:srgbClr val="404040"/>
                </a:solidFill>
              </a:rPr>
              <a:t>die Frage, ob ein anderer</a:t>
            </a:r>
          </a:p>
          <a:p>
            <a:pPr algn="l">
              <a:lnSpc>
                <a:spcPct val="95000"/>
              </a:lnSpc>
              <a:spcBef>
                <a:spcPts val="300"/>
              </a:spcBef>
            </a:pPr>
            <a:r>
              <a:rPr sz="1300" b="0">
                <a:solidFill>
                  <a:srgbClr val="404040"/>
                </a:solidFill>
              </a:rPr>
              <a:t>Start dasselbe Ergebnis</a:t>
            </a:r>
          </a:p>
          <a:p>
            <a:pPr algn="l">
              <a:lnSpc>
                <a:spcPct val="95000"/>
              </a:lnSpc>
              <a:spcBef>
                <a:spcPts val="300"/>
              </a:spcBef>
            </a:pPr>
            <a:r>
              <a:rPr sz="1300" b="0">
                <a:solidFill>
                  <a:srgbClr val="404040"/>
                </a:solidFill>
              </a:rPr>
              <a:t>liefert.</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gemessen wurde</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Adjustierter Rand-Index</a:t>
            </a:r>
          </a:p>
          <a:p>
            <a:pPr algn="l">
              <a:lnSpc>
                <a:spcPct val="95000"/>
              </a:lnSpc>
              <a:spcBef>
                <a:spcPts val="300"/>
              </a:spcBef>
            </a:pPr>
            <a:r>
              <a:rPr sz="1300" b="0">
                <a:solidFill>
                  <a:srgbClr val="404040"/>
                </a:solidFill>
              </a:rPr>
              <a:t>Fünf Startwerte, jeder gegen</a:t>
            </a:r>
          </a:p>
          <a:p>
            <a:pPr algn="l">
              <a:lnSpc>
                <a:spcPct val="95000"/>
              </a:lnSpc>
              <a:spcBef>
                <a:spcPts val="300"/>
              </a:spcBef>
            </a:pPr>
            <a:r>
              <a:rPr sz="1300" b="0">
                <a:solidFill>
                  <a:srgbClr val="404040"/>
                </a:solidFill>
              </a:rPr>
              <a:t>den Grundlauf verglichen.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Stationen:   1,000 bis 1,000</a:t>
            </a:r>
          </a:p>
          <a:p>
            <a:pPr algn="l">
              <a:lnSpc>
                <a:spcPct val="95000"/>
              </a:lnSpc>
              <a:spcBef>
                <a:spcPts val="300"/>
              </a:spcBef>
            </a:pPr>
            <a:r>
              <a:rPr sz="1300" b="0">
                <a:solidFill>
                  <a:srgbClr val="404040"/>
                </a:solidFill>
              </a:rPr>
              <a:t>Kundschaft:  0,895 bis 0,993</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sind stabil,</a:t>
            </a:r>
          </a:p>
          <a:p>
            <a:pPr algn="l">
              <a:lnSpc>
                <a:spcPct val="95000"/>
              </a:lnSpc>
              <a:spcBef>
                <a:spcPts val="300"/>
              </a:spcBef>
            </a:pPr>
            <a:r>
              <a:rPr sz="1300" b="0">
                <a:solidFill>
                  <a:srgbClr val="404040"/>
                </a:solidFill>
              </a:rPr>
              <a:t>die Segmente nur annähernd.</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Dispositionstypen je Station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Kampagnenliste je Kunde — über Schwellen, nicht über Cluster-Nummern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12 % werden auf die</a:t>
            </a:r>
          </a:p>
          <a:p>
            <a:pPr algn="l">
              <a:lnSpc>
                <a:spcPct val="95000"/>
              </a:lnSpc>
              <a:spcBef>
                <a:spcPts val="500"/>
              </a:spcBef>
            </a:pPr>
            <a:r>
              <a:rPr sz="1300" b="0">
                <a:solidFill>
                  <a:srgbClr val="404040"/>
                </a:solidFill>
              </a:rPr>
              <a:t>Prognose aufgeschlagen —</a:t>
            </a:r>
          </a:p>
          <a:p>
            <a:pPr algn="l">
              <a:lnSpc>
                <a:spcPct val="95000"/>
              </a:lnSpc>
              <a:spcBef>
                <a:spcPts val="500"/>
              </a:spcBef>
            </a:pPr>
            <a:r>
              <a:rPr sz="1300" b="0">
                <a:solidFill>
                  <a:srgbClr val="404040"/>
                </a:solidFill>
              </a:rPr>
              <a:t>gewählt auf der Validierung,</a:t>
            </a:r>
          </a:p>
          <a:p>
            <a:pPr algn="l">
              <a:lnSpc>
                <a:spcPct val="95000"/>
              </a:lnSpc>
              <a:spcBef>
                <a:spcPts val="500"/>
              </a:spcBef>
            </a:pPr>
            <a:r>
              <a:rPr sz="1300" b="0">
                <a:solidFill>
                  <a:srgbClr val="404040"/>
                </a:solidFill>
              </a:rPr>
              <a:t>nicht auf dem Test.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 Beides</a:t>
            </a:r>
          </a:p>
          <a:p>
            <a:pPr algn="l">
              <a:lnSpc>
                <a:spcPct val="95000"/>
              </a:lnSpc>
              <a:spcBef>
                <a:spcPts val="500"/>
              </a:spcBef>
            </a:pPr>
            <a:r>
              <a:rPr sz="1300" b="0">
                <a:solidFill>
                  <a:srgbClr val="404040"/>
                </a:solidFill>
              </a:rPr>
              <a:t>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409067" y="1168400"/>
            <a:ext cx="696263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510667" y="1270000"/>
            <a:ext cx="675943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5.2</a:t>
            </a:r>
          </a:p>
        </p:txBody>
      </p:sp>
      <p:sp>
        <p:nvSpPr>
          <p:cNvPr id="5" name="Rectangle 4"/>
          <p:cNvSpPr/>
          <p:nvPr/>
        </p:nvSpPr>
        <p:spPr>
          <a:xfrm>
            <a:off x="1885463" y="1168400"/>
            <a:ext cx="10009842"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987063" y="1270000"/>
            <a:ext cx="9806642"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MAE 12,25 mit dem tatsächlichen Wetter, 16,90 mit einer simulierten Vorhersage. Geurteilt wird auf der zweiten Zahl — davor, nicht danach.</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zwei Plänen trägt einer</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entstehen aus den Salden je Station und Zeitfenster, nicht aus den Regeln. Nur einer von beiden ergibt eine Anweisung, die jemand ausführen kann.</a:t>
            </a:r>
          </a:p>
        </p:txBody>
      </p:sp>
      <p:sp>
        <p:nvSpPr>
          <p:cNvPr id="6" name="Rectangle 5"/>
          <p:cNvSpPr/>
          <p:nvPr/>
        </p:nvSpPr>
        <p:spPr>
          <a:xfrm>
            <a:off x="1153160"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 — trägt nicht</a:t>
            </a:r>
          </a:p>
        </p:txBody>
      </p:sp>
      <p:sp>
        <p:nvSpPr>
          <p:cNvPr id="9" name="TextBox 8"/>
          <p:cNvSpPr txBox="1"/>
          <p:nvPr/>
        </p:nvSpPr>
        <p:spPr>
          <a:xfrm>
            <a:off x="1330960" y="2387600"/>
            <a:ext cx="5194300" cy="20828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Größter Überschuss:</a:t>
            </a:r>
          </a:p>
          <a:p>
            <a:pPr algn="l">
              <a:lnSpc>
                <a:spcPct val="95000"/>
              </a:lnSpc>
              <a:spcBef>
                <a:spcPts val="300"/>
              </a:spcBef>
            </a:pPr>
            <a:r>
              <a:rPr sz="1300" b="0">
                <a:solidFill>
                  <a:srgbClr val="404040"/>
                </a:solidFill>
              </a:rPr>
              <a:t>1,8 Räder je Werktag.</a:t>
            </a:r>
          </a:p>
          <a:p>
            <a:pPr algn="l">
              <a:lnSpc>
                <a:spcPct val="95000"/>
              </a:lnSpc>
              <a:spcBef>
                <a:spcPts val="300"/>
              </a:spcBef>
            </a:pPr>
            <a:r>
              <a:rPr sz="1300" b="0">
                <a:solidFill>
                  <a:srgbClr val="404040"/>
                </a:solidFill>
              </a:rPr>
              <a:t>Größter Fehlbestand: 1,1.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fassen 20 bis 40.</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Für 1,8 Räder fährt kein</a:t>
            </a:r>
          </a:p>
          <a:p>
            <a:pPr algn="l">
              <a:lnSpc>
                <a:spcPct val="95000"/>
              </a:lnSpc>
              <a:spcBef>
                <a:spcPts val="300"/>
              </a:spcBef>
            </a:pPr>
            <a:r>
              <a:rPr sz="1300" b="0">
                <a:solidFill>
                  <a:srgbClr val="404040"/>
                </a:solidFill>
              </a:rPr>
              <a:t>Transporter durch Würzburg.</a:t>
            </a:r>
          </a:p>
        </p:txBody>
      </p:sp>
      <p:sp>
        <p:nvSpPr>
          <p:cNvPr id="10" name="Rectangle 9"/>
          <p:cNvSpPr/>
          <p:nvPr/>
        </p:nvSpPr>
        <p:spPr>
          <a:xfrm>
            <a:off x="7096759"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 — trägt</a:t>
            </a:r>
          </a:p>
        </p:txBody>
      </p:sp>
      <p:sp>
        <p:nvSpPr>
          <p:cNvPr id="13" name="TextBox 12"/>
          <p:cNvSpPr txBox="1"/>
          <p:nvPr/>
        </p:nvSpPr>
        <p:spPr>
          <a:xfrm>
            <a:off x="7274559" y="2387600"/>
            <a:ext cx="5194300" cy="20828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Rund elf Räder je Werktag</a:t>
            </a:r>
          </a:p>
          <a:p>
            <a:pPr algn="l">
              <a:lnSpc>
                <a:spcPct val="95000"/>
              </a:lnSpc>
              <a:spcBef>
                <a:spcPts val="300"/>
              </a:spcBef>
            </a:pPr>
            <a:r>
              <a:rPr sz="1300" b="0">
                <a:solidFill>
                  <a:srgbClr val="404040"/>
                </a:solidFill>
              </a:rPr>
              <a:t>bleiben frei im Gebiet.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eine Runde, die sich</a:t>
            </a:r>
          </a:p>
          <a:p>
            <a:pPr algn="l">
              <a:lnSpc>
                <a:spcPct val="95000"/>
              </a:lnSpc>
              <a:spcBef>
                <a:spcPts val="300"/>
              </a:spcBef>
            </a:pPr>
            <a:r>
              <a:rPr sz="1300" b="0">
                <a:solidFill>
                  <a:srgbClr val="404040"/>
                </a:solidFill>
              </a:rPr>
              <a:t>lohnt — und sie braucht keine</a:t>
            </a:r>
          </a:p>
          <a:p>
            <a:pPr algn="l">
              <a:lnSpc>
                <a:spcPct val="95000"/>
              </a:lnSpc>
              <a:spcBef>
                <a:spcPts val="300"/>
              </a:spcBef>
            </a:pPr>
            <a:r>
              <a:rPr sz="1300" b="0">
                <a:solidFill>
                  <a:srgbClr val="404040"/>
                </a:solidFill>
              </a:rPr>
              <a:t>einzige Assoziationsregel.</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Umverteilungsplan trägt nicht — 1,8 Räder je Werktag. Was trägt, ist die Einsammelrunde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Beide Aufgaben lösbar — aber je einmal gewinnt eine Regel gegen das Modell</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3108247" y="1168400"/>
            <a:ext cx="756427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3209847" y="1270000"/>
            <a:ext cx="736107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scheitert — die Aufgabe nicht</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Der Isolation Forest findet sie nicht. Eine Zeile Fachwissen schon.</a:t>
            </a:r>
          </a:p>
        </p:txBody>
      </p:sp>
      <p:sp>
        <p:nvSpPr>
          <p:cNvPr id="6" name="Rectangle 5"/>
          <p:cNvSpPr/>
          <p:nvPr/>
        </p:nvSpPr>
        <p:spPr>
          <a:xfrm>
            <a:off x="1153160" y="1879600"/>
            <a:ext cx="6604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7757159" y="1879600"/>
            <a:ext cx="2540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10297160" y="1879600"/>
            <a:ext cx="2330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 20 %</a:t>
            </a:r>
          </a:p>
        </p:txBody>
      </p:sp>
      <p:sp>
        <p:nvSpPr>
          <p:cNvPr id="9" name="Rectangle 8"/>
          <p:cNvSpPr/>
          <p:nvPr/>
        </p:nvSpPr>
        <p:spPr>
          <a:xfrm>
            <a:off x="1153160" y="2540000"/>
            <a:ext cx="6604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Isolation Forest über alle 10.890 Stationstage</a:t>
            </a:r>
          </a:p>
        </p:txBody>
      </p:sp>
      <p:sp>
        <p:nvSpPr>
          <p:cNvPr id="10" name="Rectangle 9"/>
          <p:cNvSpPr/>
          <p:nvPr/>
        </p:nvSpPr>
        <p:spPr>
          <a:xfrm>
            <a:off x="7757159" y="2540000"/>
            <a:ext cx="2540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14 %</a:t>
            </a:r>
          </a:p>
        </p:txBody>
      </p:sp>
      <p:sp>
        <p:nvSpPr>
          <p:cNvPr id="11" name="Rectangle 10"/>
          <p:cNvSpPr/>
          <p:nvPr/>
        </p:nvSpPr>
        <p:spPr>
          <a:xfrm>
            <a:off x="10297160" y="2540000"/>
            <a:ext cx="233045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12" name="Rectangle 11"/>
          <p:cNvSpPr/>
          <p:nvPr/>
        </p:nvSpPr>
        <p:spPr>
          <a:xfrm>
            <a:off x="1153160" y="3200400"/>
            <a:ext cx="6604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 nur die 1.041 Tage ohne Fahrt, nach Einbruch sortiert</a:t>
            </a:r>
          </a:p>
        </p:txBody>
      </p:sp>
      <p:sp>
        <p:nvSpPr>
          <p:cNvPr id="13" name="Rectangle 12"/>
          <p:cNvSpPr/>
          <p:nvPr/>
        </p:nvSpPr>
        <p:spPr>
          <a:xfrm>
            <a:off x="7757159" y="3200400"/>
            <a:ext cx="2540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a:t>
            </a:r>
          </a:p>
        </p:txBody>
      </p:sp>
      <p:sp>
        <p:nvSpPr>
          <p:cNvPr id="14" name="Rectangle 13"/>
          <p:cNvSpPr/>
          <p:nvPr/>
        </p:nvSpPr>
        <p:spPr>
          <a:xfrm>
            <a:off x="10297160" y="3200400"/>
            <a:ext cx="233045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5" name="Rectangle 14"/>
          <p:cNvSpPr/>
          <p:nvPr/>
        </p:nvSpPr>
        <p:spPr>
          <a:xfrm>
            <a:off x="1153160" y="4038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4038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165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die Regel gewinnt</a:t>
            </a:r>
          </a:p>
          <a:p>
            <a:pPr algn="l">
              <a:lnSpc>
                <a:spcPct val="95000"/>
              </a:lnSpc>
              <a:spcBef>
                <a:spcPts val="500"/>
              </a:spcBef>
            </a:pPr>
            <a:r>
              <a:rPr sz="1300" b="0">
                <a:solidFill>
                  <a:srgbClr val="404040"/>
                </a:solidFill>
              </a:rPr>
              <a:t>Alle 107 Störungen liegen an Tagen ohne jede Fahrt. Diese Eingrenzung ist Fachwissen, keine Statistik.</a:t>
            </a:r>
          </a:p>
          <a:p>
            <a:pPr algn="l">
              <a:lnSpc>
                <a:spcPct val="95000"/>
              </a:lnSpc>
              <a:spcBef>
                <a:spcPts val="500"/>
              </a:spcBef>
            </a:pPr>
            <a:r>
              <a:rPr sz="1300" b="0">
                <a:solidFill>
                  <a:srgbClr val="404040"/>
                </a:solidFill>
              </a:rPr>
              <a:t>Ein Verfahren, das über alle 10.890 Tage sucht, verbringt seine Kraft damit, die Eingrenzung nachzuerfinden — und schafft es schlechter, als ein Satz sie vorgibt.</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Modell gegen Regel,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4084844" y="1168400"/>
            <a:ext cx="5611081"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4186444" y="1270000"/>
            <a:ext cx="5407881"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Bei jeder Listenlänge liegt die Regel vorn. Bei 50 Plätzen findet das Modell keine einzige Störung, die Regel jede dritte.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Sorten Auffälligkeit, drei Antworten</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Auswertung hat die Aufgabe geteilt. Nur eine der drei Sorten rechtfertigt ein Modell.</a:t>
            </a:r>
          </a:p>
        </p:txBody>
      </p:sp>
      <p:sp>
        <p:nvSpPr>
          <p:cNvPr id="6" name="Rectangle 5"/>
          <p:cNvSpPr/>
          <p:nvPr/>
        </p:nvSpPr>
        <p:spPr>
          <a:xfrm>
            <a:off x="1153160" y="1651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79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Vergessene Rückgaben  </a:t>
            </a:r>
            <a:r>
              <a:rPr sz="1300">
                <a:solidFill>
                  <a:srgbClr val="404040"/>
                </a:solidFill>
              </a:rPr>
              <a:t>Eine Zeile SQL: dauer_min &gt; 480. Vollständig, nachprüfbar, kein Modell nötig</a:t>
            </a:r>
          </a:p>
        </p:txBody>
      </p:sp>
      <p:sp>
        <p:nvSpPr>
          <p:cNvPr id="10" name="Rectangle 9"/>
          <p:cNvSpPr/>
          <p:nvPr/>
        </p:nvSpPr>
        <p:spPr>
          <a:xfrm>
            <a:off x="1153160" y="2540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540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68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16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Auffällige Stationstage  </a:t>
            </a:r>
            <a:r>
              <a:rPr sz="1300">
                <a:solidFill>
                  <a:srgbClr val="404040"/>
                </a:solidFill>
              </a:rPr>
              <a:t>Die Regel aus 5.5 — nur Nulltage, nach Einbruch sortiert. Schlägt das Modell und erfüllt das Kriterium</a:t>
            </a:r>
          </a:p>
        </p:txBody>
      </p:sp>
      <p:sp>
        <p:nvSpPr>
          <p:cNvPr id="14" name="Rectangle 13"/>
          <p:cNvSpPr/>
          <p:nvPr/>
        </p:nvSpPr>
        <p:spPr>
          <a:xfrm>
            <a:off x="1153160" y="3429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429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5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505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Alles andere  </a:t>
            </a:r>
            <a:r>
              <a:rPr sz="1300">
                <a:solidFill>
                  <a:srgbClr val="404040"/>
                </a:solidFill>
              </a:rPr>
              <a:t>Die Tagesliste des Isolation Forest. Dafür gibt es keine Regel — und keine Trefferquote, weil niemand vorher weiß, wonach er sucht</a:t>
            </a:r>
          </a:p>
        </p:txBody>
      </p:sp>
      <p:sp>
        <p:nvSpPr>
          <p:cNvPr id="18" name="Rectangle 17"/>
          <p:cNvSpPr/>
          <p:nvPr/>
        </p:nvSpPr>
        <p:spPr>
          <a:xfrm>
            <a:off x="1153160" y="4318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318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546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394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beiden Aufgaben schlägt eine Regel das Modell: 90 % gegen 28 % und 32 % gegen 14 %</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Regeln und eine Tagesliste — jede für die Sorte Auffälligkeit, für die sie taugt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