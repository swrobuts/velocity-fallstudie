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Notebooks sind zum Lesen gebaut, nicht nur zum Ausführen: Wer sie auf GitHub öffnet, sieht jedes Ergebnis sofort. Wer selbst rechnen will, öffnet sie über den Colab-Knopf.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Prognoseliste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schattenpilot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schattenpilot.</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Schattenpilot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schatten,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schatten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schatten: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ein Notebook: vollständig gerechnet, mit allen Ausgaben, lesbar ohne eine Zeile auszuführen.</a:t>
            </a:r>
          </a:p>
        </p:txBody>
      </p:sp>
      <p:sp>
        <p:nvSpPr>
          <p:cNvPr id="6" name="Rectangle 5"/>
          <p:cNvSpPr/>
          <p:nvPr/>
        </p:nvSpPr>
        <p:spPr>
          <a:xfrm>
            <a:off x="1153160" y="18796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879600"/>
            <a:ext cx="969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vorfinden</a:t>
            </a:r>
          </a:p>
        </p:txBody>
      </p:sp>
      <p:sp>
        <p:nvSpPr>
          <p:cNvPr id="8" name="Rectangle 7"/>
          <p:cNvSpPr/>
          <p:nvPr/>
        </p:nvSpPr>
        <p:spPr>
          <a:xfrm>
            <a:off x="1153160" y="2413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9" name="Rectangle 8"/>
          <p:cNvSpPr/>
          <p:nvPr/>
        </p:nvSpPr>
        <p:spPr>
          <a:xfrm>
            <a:off x="2931160" y="24130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 — sechs Dateien, eine je Verfahren</a:t>
            </a:r>
          </a:p>
        </p:txBody>
      </p:sp>
      <p:sp>
        <p:nvSpPr>
          <p:cNvPr id="10" name="Rectangle 9"/>
          <p:cNvSpPr/>
          <p:nvPr/>
        </p:nvSpPr>
        <p:spPr>
          <a:xfrm>
            <a:off x="1153160" y="29464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1" name="Rectangle 10"/>
          <p:cNvSpPr/>
          <p:nvPr/>
        </p:nvSpPr>
        <p:spPr>
          <a:xfrm>
            <a:off x="2931160" y="29464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Zahlen, Tabellen und Diagramme stehen im Notebook, auch ohne Rechnen</a:t>
            </a:r>
          </a:p>
        </p:txBody>
      </p:sp>
      <p:sp>
        <p:nvSpPr>
          <p:cNvPr id="12" name="Rectangle 11"/>
          <p:cNvSpPr/>
          <p:nvPr/>
        </p:nvSpPr>
        <p:spPr>
          <a:xfrm>
            <a:off x="1153160" y="34798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Öffnen</a:t>
            </a:r>
          </a:p>
        </p:txBody>
      </p:sp>
      <p:sp>
        <p:nvSpPr>
          <p:cNvPr id="13" name="Rectangle 12"/>
          <p:cNvSpPr/>
          <p:nvPr/>
        </p:nvSpPr>
        <p:spPr>
          <a:xfrm>
            <a:off x="2931160" y="34798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Colab-Knopf oben in jedem Notebook. Die Daten lädt es selbst — kein Upload, kein Drive</a:t>
            </a:r>
          </a:p>
        </p:txBody>
      </p:sp>
      <p:sp>
        <p:nvSpPr>
          <p:cNvPr id="14" name="Rectangle 13"/>
          <p:cNvSpPr/>
          <p:nvPr/>
        </p:nvSpPr>
        <p:spPr>
          <a:xfrm>
            <a:off x="1153160" y="40132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15" name="Rectangle 14"/>
          <p:cNvSpPr/>
          <p:nvPr/>
        </p:nvSpPr>
        <p:spPr>
          <a:xfrm>
            <a:off x="2931160" y="40132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CRISP-DM-Phasen als Überschriften, in allen sechs Notebooks dieselben</a:t>
            </a:r>
          </a:p>
        </p:txBody>
      </p:sp>
      <p:sp>
        <p:nvSpPr>
          <p:cNvPr id="16" name="Rectangle 15"/>
          <p:cNvSpPr/>
          <p:nvPr/>
        </p:nvSpPr>
        <p:spPr>
          <a:xfrm>
            <a:off x="1153160" y="45466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Zahlen</a:t>
            </a:r>
          </a:p>
        </p:txBody>
      </p:sp>
      <p:sp>
        <p:nvSpPr>
          <p:cNvPr id="17" name="Rectangle 16"/>
          <p:cNvSpPr/>
          <p:nvPr/>
        </p:nvSpPr>
        <p:spPr>
          <a:xfrm>
            <a:off x="2931160" y="45466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Zahl im Fließtext stammt aus einer Ausgabe desselben Laufs; eine Prüfung erzwingt das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