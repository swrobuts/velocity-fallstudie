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 id="312" r:id="rId182"/>
    <p:sldId id="313" r:id="rId183"/>
    <p:sldId id="314" r:id="rId184"/>
    <p:sldId id="315" r:id="rId185"/>
    <p:sldId id="316" r:id="rId186"/>
    <p:sldId id="317" r:id="rId187"/>
    <p:sldId id="318" r:id="rId188"/>
    <p:sldId id="319" r:id="rId189"/>
    <p:sldId id="320" r:id="rId190"/>
    <p:sldId id="321" r:id="rId191"/>
    <p:sldId id="322" r:id="rId192"/>
    <p:sldId id="323" r:id="rId193"/>
    <p:sldId id="324" r:id="rId194"/>
    <p:sldId id="325" r:id="rId195"/>
    <p:sldId id="326" r:id="rId196"/>
    <p:sldId id="327" r:id="rId197"/>
    <p:sldId id="328" r:id="rId198"/>
    <p:sldId id="329" r:id="rId199"/>
    <p:sldId id="330" r:id="rId200"/>
    <p:sldId id="331" r:id="rId201"/>
    <p:sldId id="332" r:id="rId202"/>
    <p:sldId id="333" r:id="rId203"/>
    <p:sldId id="334" r:id="rId204"/>
    <p:sldId id="335" r:id="rId205"/>
    <p:sldId id="336" r:id="rId206"/>
    <p:sldId id="337" r:id="rId207"/>
    <p:sldId id="338" r:id="rId208"/>
    <p:sldId id="339" r:id="rId209"/>
    <p:sldId id="340" r:id="rId210"/>
    <p:sldId id="341" r:id="rId211"/>
    <p:sldId id="342" r:id="rId212"/>
    <p:sldId id="343" r:id="rId213"/>
    <p:sldId id="344" r:id="rId214"/>
    <p:sldId id="345" r:id="rId215"/>
    <p:sldId id="346" r:id="rId216"/>
    <p:sldId id="347" r:id="rId217"/>
    <p:sldId id="348" r:id="rId218"/>
    <p:sldId id="349" r:id="rId219"/>
    <p:sldId id="350" r:id="rId220"/>
    <p:sldId id="351" r:id="rId221"/>
    <p:sldId id="352" r:id="rId222"/>
    <p:sldId id="353" r:id="rId223"/>
    <p:sldId id="354" r:id="rId224"/>
    <p:sldId id="355" r:id="rId225"/>
    <p:sldId id="356" r:id="rId226"/>
    <p:sldId id="357" r:id="rId227"/>
    <p:sldId id="358" r:id="rId228"/>
    <p:sldId id="359" r:id="rId229"/>
    <p:sldId id="360" r:id="rId230"/>
    <p:sldId id="361" r:id="rId231"/>
    <p:sldId id="362" r:id="rId232"/>
    <p:sldId id="363" r:id="rId233"/>
    <p:sldId id="364" r:id="rId234"/>
    <p:sldId id="365" r:id="rId235"/>
    <p:sldId id="366" r:id="rId236"/>
    <p:sldId id="367" r:id="rId237"/>
    <p:sldId id="368" r:id="rId238"/>
    <p:sldId id="369" r:id="rId239"/>
    <p:sldId id="370" r:id="rId240"/>
    <p:sldId id="371" r:id="rId241"/>
    <p:sldId id="372" r:id="rId242"/>
    <p:sldId id="373" r:id="rId243"/>
    <p:sldId id="374" r:id="rId244"/>
    <p:sldId id="375" r:id="rId245"/>
    <p:sldId id="376" r:id="rId246"/>
    <p:sldId id="377" r:id="rId247"/>
    <p:sldId id="378" r:id="rId248"/>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182" Type="http://schemas.openxmlformats.org/officeDocument/2006/relationships/slide" Target="slides/slide57.xml"/><Relationship Id="rId183" Type="http://schemas.openxmlformats.org/officeDocument/2006/relationships/slide" Target="slides/slide58.xml"/><Relationship Id="rId184" Type="http://schemas.openxmlformats.org/officeDocument/2006/relationships/slide" Target="slides/slide59.xml"/><Relationship Id="rId185" Type="http://schemas.openxmlformats.org/officeDocument/2006/relationships/slide" Target="slides/slide60.xml"/><Relationship Id="rId186" Type="http://schemas.openxmlformats.org/officeDocument/2006/relationships/slide" Target="slides/slide61.xml"/><Relationship Id="rId187" Type="http://schemas.openxmlformats.org/officeDocument/2006/relationships/slide" Target="slides/slide62.xml"/><Relationship Id="rId188" Type="http://schemas.openxmlformats.org/officeDocument/2006/relationships/slide" Target="slides/slide63.xml"/><Relationship Id="rId189" Type="http://schemas.openxmlformats.org/officeDocument/2006/relationships/slide" Target="slides/slide64.xml"/><Relationship Id="rId190" Type="http://schemas.openxmlformats.org/officeDocument/2006/relationships/slide" Target="slides/slide65.xml"/><Relationship Id="rId191" Type="http://schemas.openxmlformats.org/officeDocument/2006/relationships/slide" Target="slides/slide66.xml"/><Relationship Id="rId192" Type="http://schemas.openxmlformats.org/officeDocument/2006/relationships/slide" Target="slides/slide67.xml"/><Relationship Id="rId193" Type="http://schemas.openxmlformats.org/officeDocument/2006/relationships/slide" Target="slides/slide68.xml"/><Relationship Id="rId194" Type="http://schemas.openxmlformats.org/officeDocument/2006/relationships/slide" Target="slides/slide69.xml"/><Relationship Id="rId195" Type="http://schemas.openxmlformats.org/officeDocument/2006/relationships/slide" Target="slides/slide70.xml"/><Relationship Id="rId196" Type="http://schemas.openxmlformats.org/officeDocument/2006/relationships/slide" Target="slides/slide71.xml"/><Relationship Id="rId197" Type="http://schemas.openxmlformats.org/officeDocument/2006/relationships/slide" Target="slides/slide72.xml"/><Relationship Id="rId198" Type="http://schemas.openxmlformats.org/officeDocument/2006/relationships/slide" Target="slides/slide73.xml"/><Relationship Id="rId199" Type="http://schemas.openxmlformats.org/officeDocument/2006/relationships/slide" Target="slides/slide74.xml"/><Relationship Id="rId200" Type="http://schemas.openxmlformats.org/officeDocument/2006/relationships/slide" Target="slides/slide75.xml"/><Relationship Id="rId201" Type="http://schemas.openxmlformats.org/officeDocument/2006/relationships/slide" Target="slides/slide76.xml"/><Relationship Id="rId202" Type="http://schemas.openxmlformats.org/officeDocument/2006/relationships/slide" Target="slides/slide77.xml"/><Relationship Id="rId203" Type="http://schemas.openxmlformats.org/officeDocument/2006/relationships/slide" Target="slides/slide78.xml"/><Relationship Id="rId204" Type="http://schemas.openxmlformats.org/officeDocument/2006/relationships/slide" Target="slides/slide79.xml"/><Relationship Id="rId205" Type="http://schemas.openxmlformats.org/officeDocument/2006/relationships/slide" Target="slides/slide80.xml"/><Relationship Id="rId206" Type="http://schemas.openxmlformats.org/officeDocument/2006/relationships/slide" Target="slides/slide81.xml"/><Relationship Id="rId207" Type="http://schemas.openxmlformats.org/officeDocument/2006/relationships/slide" Target="slides/slide82.xml"/><Relationship Id="rId208" Type="http://schemas.openxmlformats.org/officeDocument/2006/relationships/slide" Target="slides/slide83.xml"/><Relationship Id="rId209" Type="http://schemas.openxmlformats.org/officeDocument/2006/relationships/slide" Target="slides/slide84.xml"/><Relationship Id="rId210" Type="http://schemas.openxmlformats.org/officeDocument/2006/relationships/slide" Target="slides/slide85.xml"/><Relationship Id="rId211" Type="http://schemas.openxmlformats.org/officeDocument/2006/relationships/slide" Target="slides/slide86.xml"/><Relationship Id="rId212" Type="http://schemas.openxmlformats.org/officeDocument/2006/relationships/slide" Target="slides/slide87.xml"/><Relationship Id="rId213" Type="http://schemas.openxmlformats.org/officeDocument/2006/relationships/slide" Target="slides/slide88.xml"/><Relationship Id="rId214" Type="http://schemas.openxmlformats.org/officeDocument/2006/relationships/slide" Target="slides/slide89.xml"/><Relationship Id="rId215" Type="http://schemas.openxmlformats.org/officeDocument/2006/relationships/slide" Target="slides/slide90.xml"/><Relationship Id="rId216" Type="http://schemas.openxmlformats.org/officeDocument/2006/relationships/slide" Target="slides/slide91.xml"/><Relationship Id="rId217" Type="http://schemas.openxmlformats.org/officeDocument/2006/relationships/slide" Target="slides/slide92.xml"/><Relationship Id="rId218" Type="http://schemas.openxmlformats.org/officeDocument/2006/relationships/slide" Target="slides/slide93.xml"/><Relationship Id="rId219" Type="http://schemas.openxmlformats.org/officeDocument/2006/relationships/slide" Target="slides/slide94.xml"/><Relationship Id="rId220" Type="http://schemas.openxmlformats.org/officeDocument/2006/relationships/slide" Target="slides/slide95.xml"/><Relationship Id="rId221" Type="http://schemas.openxmlformats.org/officeDocument/2006/relationships/slide" Target="slides/slide96.xml"/><Relationship Id="rId222" Type="http://schemas.openxmlformats.org/officeDocument/2006/relationships/slide" Target="slides/slide97.xml"/><Relationship Id="rId223" Type="http://schemas.openxmlformats.org/officeDocument/2006/relationships/slide" Target="slides/slide98.xml"/><Relationship Id="rId224" Type="http://schemas.openxmlformats.org/officeDocument/2006/relationships/slide" Target="slides/slide99.xml"/><Relationship Id="rId225" Type="http://schemas.openxmlformats.org/officeDocument/2006/relationships/slide" Target="slides/slide100.xml"/><Relationship Id="rId226" Type="http://schemas.openxmlformats.org/officeDocument/2006/relationships/slide" Target="slides/slide101.xml"/><Relationship Id="rId227" Type="http://schemas.openxmlformats.org/officeDocument/2006/relationships/slide" Target="slides/slide102.xml"/><Relationship Id="rId228" Type="http://schemas.openxmlformats.org/officeDocument/2006/relationships/slide" Target="slides/slide103.xml"/><Relationship Id="rId229" Type="http://schemas.openxmlformats.org/officeDocument/2006/relationships/slide" Target="slides/slide104.xml"/><Relationship Id="rId230" Type="http://schemas.openxmlformats.org/officeDocument/2006/relationships/slide" Target="slides/slide105.xml"/><Relationship Id="rId231" Type="http://schemas.openxmlformats.org/officeDocument/2006/relationships/slide" Target="slides/slide106.xml"/><Relationship Id="rId232" Type="http://schemas.openxmlformats.org/officeDocument/2006/relationships/slide" Target="slides/slide107.xml"/><Relationship Id="rId233" Type="http://schemas.openxmlformats.org/officeDocument/2006/relationships/slide" Target="slides/slide108.xml"/><Relationship Id="rId234" Type="http://schemas.openxmlformats.org/officeDocument/2006/relationships/slide" Target="slides/slide109.xml"/><Relationship Id="rId235" Type="http://schemas.openxmlformats.org/officeDocument/2006/relationships/slide" Target="slides/slide110.xml"/><Relationship Id="rId236" Type="http://schemas.openxmlformats.org/officeDocument/2006/relationships/slide" Target="slides/slide111.xml"/><Relationship Id="rId237" Type="http://schemas.openxmlformats.org/officeDocument/2006/relationships/slide" Target="slides/slide112.xml"/><Relationship Id="rId238" Type="http://schemas.openxmlformats.org/officeDocument/2006/relationships/slide" Target="slides/slide113.xml"/><Relationship Id="rId239" Type="http://schemas.openxmlformats.org/officeDocument/2006/relationships/slide" Target="slides/slide114.xml"/><Relationship Id="rId240" Type="http://schemas.openxmlformats.org/officeDocument/2006/relationships/slide" Target="slides/slide115.xml"/><Relationship Id="rId241" Type="http://schemas.openxmlformats.org/officeDocument/2006/relationships/slide" Target="slides/slide116.xml"/><Relationship Id="rId242" Type="http://schemas.openxmlformats.org/officeDocument/2006/relationships/slide" Target="slides/slide117.xml"/><Relationship Id="rId243" Type="http://schemas.openxmlformats.org/officeDocument/2006/relationships/slide" Target="slides/slide118.xml"/><Relationship Id="rId244" Type="http://schemas.openxmlformats.org/officeDocument/2006/relationships/slide" Target="slides/slide119.xml"/><Relationship Id="rId245" Type="http://schemas.openxmlformats.org/officeDocument/2006/relationships/slide" Target="slides/slide120.xml"/><Relationship Id="rId246" Type="http://schemas.openxmlformats.org/officeDocument/2006/relationships/slide" Target="slides/slide121.xml"/><Relationship Id="rId247" Type="http://schemas.openxmlformats.org/officeDocument/2006/relationships/slide" Target="slides/slide122.xml"/><Relationship Id="rId248" Type="http://schemas.openxmlformats.org/officeDocument/2006/relationships/slide" Target="slides/slide123.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Notebooks, sechs Verfahren, ein Vorgehensmodell. Wir laufen einen Fall vollständig durch und sehen an den fünf anderen, was jeweils anders 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Lesen Sie die sechs Fragen laut vor. Sie klingen nach sechs völlig verschiedenen Aufgaben — und das sind sie auch. Genau deshalb ist es bemerkenswert, dass der Weg zur Antwort in allen sechs derselbe ist. Dieser Weg heißt CRISP-DM.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Weisen Sie auf die Leiste am Fuß der Folien hin: Sie zeigt jederzeit, in welcher Phase wir gerade sind. Wo ein Feld sandfarben mit rotem Rand erscheint, ist an dieser Stelle zurückgesprungen worden.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bauen in diesem Kapitel die Landkarte. Sie ist bewusst knapp gehalten — sechs Phasen, was jede beantwortet, wo die Rücksprünge sitzen. Konkret wird das erst im nächsten Kapitel am ersten Fall. Wer die Karte jetzt abstrakt findet, hat recht: Sie IST abstrakt, bis der erste Fall sie füllt. Deshalb steht sie hier nur zwölf Folien lang.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hier in den Raum: Wer hat schon einmal eine Auswertung gemacht und dabei das Erfolgskriterium erst festgelegt, als das Ergebnis schon auf dem Tisch lag? Fast alle haben. Das ist keine Nachlässigkeit, sondern die natürliche Reihenfolge — und genau deshalb braucht es ein Modell, das dagegen hält.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Kette liest sich von links nach rechts, aber sie ist ein KREIS. Das Wort Kreislauf steht nicht zufällig im Namen. Auf der übernächsten Folie sehen wir, wo in unseren sechs Fällen tatsächlich zurückgesprungen wurde — in vier von sechs.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Phase, die am häufigsten übersprungen wird — und die einzige, die man nicht nachholen kann. Ein Erfolgskriterium, das nach dem Ergebnis festgelegt wird, ist keins.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nicht modelliert, hier wird GESEHEN. Wer diese Phase abkürzt, modelliert später Artefakte. In Notebook 6 kostet genau das eine ganze Runde.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teuerste Phase, und die mit der gefährlichsten Falle: Merkmale, die es zum Vorhersagezeitpunkt gar nicht gibt. Dazu gleich mehr.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kürzeste Phase. Sie wirkt in jedem Lehrbuch wie die Hauptsache und ist in der Praxis der kleinste Teil.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entscheidet sich, ob das Projekt weitergeht. Und hier zeigt sich, ob die Kriterien aus Phase 1 etwas taugten.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Phase, die in Lehrbeispielen fast immer fehlt. Ein Modell, das niemand aufruft, hat keinen Wert — und eines, das niemand überwacht, ist eine tickende Uhr.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das Herz des Kapitels. Studierende lesen CRISP-DM als Abarbeitungsliste und empfinden einen Rücksprung als Fehler. In Wahrheit ist der Rücksprung der Beleg dafür, dass jemand hingesehen hat. In Notebook 6 kann man ihn Zelle für Zelle mitlesen.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zweite Fehler steht auf der nächsten Folie: das Verfahren wählen, bevor die Frage steht. Beide Fehler haben dieselbe Wurzel — man fängt bei dem an, was Spaß macht, statt bei dem, was entschieden werden soll.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der Fahrplan für den Rest des Decks. Sie taucht in der Synthese am Ende noch einmal auf, dann ausgefüllt mit dem, was wir unterwegs gesehen haben.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Fälle zeigen auf Phase 5 — Fall 1 und Fall 5 —, aber aus verschiedenen Richtungen: der eine, weil die gemittelte Kennzahl täuscht, der andere, weil vorab gesetzte Hürden radikal sieben. Das ist kein Zufall: Phase 5 ist die Phase, in der sich entscheidet, ob die Arbeit der Phasen 1 bis 4 etwas taugte.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Dieses Kapitel ist das Rückgrat des Decks. Es läuft alle sechs Phasen vollständig durch, mit den echten Zahlen aus Notebook 1. Die Regression ist bewusst gewählt: Sie ist das vertrauteste Verfahren, deshalb bleibt die Aufmerksamkeit beim VORGEHEN statt beim Verfahren. Alle folgenden Fälle setzen dieses Kapitel voraus. Bitten Sie die Studierenden, das Notebook parallel offen zu haben — jede Folie nennt in der Fußzeile ihren Abschnitt.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der Einstieg in den ganzen Fall, und sie ist unbequem: Der Einwand kommt nicht aus der Statistik, sondern aus dem Produkt. Ein Modell, das eine Zahl liefert, die der Nutzer selbst besser kennt, ist technisch einwandfrei und trotzdem nutzlos. Lassen Sie die Studierenden zuerst selbst überlegen, was man dagegen tun kann — die meisten schlagen ein besseres Verfahren vor. Die Antwort auf der nächsten Folie ist eine andere.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Satz, den die Studierenden aus Notebook 1 mitnehmen sollen. Leakage wird meistens als Liste verbotener Spaltennamen gelehrt. Hier sieht man, dass dieselbe Spalte je nach Prozess verboten oder erlaubt ist. Wer nur die Liste gelernt hat, hätte die Zielstation weiterhin gesperrt — und damit das bessere Produkt verhindert.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der Grund, warum das Notebook glaubwürdig ist. Es wäre leicht gewesen, den Unterschied zwischen geplantem und tatsächlichem Ziel zu übergehen — niemand hätte es gemerkt. Fragen Sie die Studierenden, welche Zahl auf den folgenden Folien dadurch kleiner würde. Antwort: alle.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der ungewöhnliche Teil. In den meisten Lehrbeispielen kommt der Rücksprung, weil etwas schiefgeht. Hier kommt er, obwohl das Kriterium hält. Warum, sehen wir in Phase 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Sprung vom Preis zur Dauer ist die eigentliche Modellierungsentscheidung dieser Phase, und sie fällt hier, nicht in Phase 4. Wer den Preis direkt schätzt, schätzt zwei Dinge auf einmal: die Dauer und die Tariflogik. Die zweite kennt er aber genau.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Geltungsbereich entscheidet mit darüber, wie gut ein Modell aussieht. Wer ihn eng zieht, bekommt bessere Zahlen für ein kleineres Produkt. Deshalb gehört er in Phase 1 und nicht in die Datenaufbereitung — sonst gerät er zur nachträglichen Ausrede.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Zeigen Sie auf die Spalte preis_pro_minute_eur: 0,10 gegen 0,25 gegen 0,50 Euro. Dieselbe 50-Cent-Grenze bedeutet damit für das City-Rad fünf Minuten Spielraum und für das Lastenrad eine einzige. Diese Spreizung entscheidet in Phase 5 über das Urteil — und sie steht schon hier, in Phase 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steht bewusst vor allen Kennzahlen. Studierende beginnen Phase 2 meistens mit einer Verteilung der Zielgröße. Sinnvoller ist die Frage, ob jede Zeile überhaupt den Sachverhalt beschreibt, um den es geht — hier tut das jede fünfte Zeile nicht.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 20 Prozent der Fahrten enden frei im Geschäftsgebiet und haben deshalb kein Ziel. Das sieht aus wie ein Datenqualitätsproblem und ist in Wahrheit ein beworbenes Produktmerkmal. Wer es wegbereinigt, verliert ein Fünftel der Daten für nichts — wer es als Fehler meldet, blamiert sich vor dem Fachbereich.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16,5 Prozent klingt nach einer Randgruppe. Es sind aber genau die Fahrten, bei denen das neue Verfahren nichts gewinnt — der Kunde wählt als Ziel den Start und bekommt trotzdem keine belastbare Auskunft. Die App sagt das später offen.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eine Vorwarnung an die Studierenden: Das ganze Notebook ist um die Zielinformation herum gebaut, und schon in Phase 2 zeigt sich, dass sie wenig beiträgt. Ein Projekt, das diese Zahl verschweigt, verkauft seinen eigenen Umbau schöner, als er ist.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Grün, was beim Antippen von „Preis schätzen“ bekannt ist. Rot, was erst beim Abstellen entsteht. Die Zielstation steht auf der grünen Seite — im alten Entwurf stand sie auf der roten. Nichts an den Daten hat sich geändert, nur der Prozess. Der sandfarbene Kasten rechts hält den Vorbehalt fest, damit das Bild nicht mehr verspricht, als das Notebook belegen kann.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Lassen Sie die Studierenden die letzte Zeile lesen. end_station_id ist erlaubt, weil der Kunde sie gewählt hat — mit dem Vorbehalt aus dem Kasten. Auch temp_mittel_c ist gesperrt: Das Tagesmittel der Temperatur kennt man erst am Abend. Wer Wetter verwenden will, braucht archivierte Prognosen, keine Messwerte.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übliche Fehler ist ein zweigeteilter Datensatz. Dann prüft man nach dem Rücksprung auf demselben Testzeitraum, auf dem man schon einmal geprüft hat — und weiß nicht mehr, ob das Ergebnis hält oder ob man sich an den Testdaten entlanggehangelt hat. Vier Abschnitte kosten nichts außer Vorausdenken.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Punkt 2 der Ausgabe ist der wichtigere: Test 2 trägt in Phase 6 die Auswahl des Artefakts UND die Freigabe. Damit ist er eine Kalibrierung, keine unabhängige Endprüfung mehr. Das steht so im Notebook — und es ist die Sorte Satz, die man in Projektberichten selten liest.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Vergleich B gegen C ist lehrreich: Der Radtyp — also die Eigenschaft, an der das Preisblatt hängt — sagt über die Dauer fast nichts. Die Startstation sagt viel. Studierende erwarten das umgekehrt, weil E-Bikes schneller sind. Sie sind schneller, aber die Leute fahren mit ihnen weiter.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an dieser Stelle: Rechtfertigen 0,27 Minuten einen Umbau der App? Die ehrliche Antwort ist, dass die Zahl allein es nicht tut. Was sie rechtfertigt, ist das ANDERE Produkt, das dadurch möglich wird — eine Auskunft zum gewählten Ziel statt einer Zahl, die der Kunde ohnehin besser kennt.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Pipeline ist keine Stilfrage. Wer den Kodierer getrennt vom Modell speichert, hat zwei Dateien, die zusammenpassen müssen — und irgendwann tun sie es nicht mehr. handle_unknown='ignore' ist die zweite Vorsorge: Eine Station, die es beim Training noch nicht gab, führt zu einer Vorhersage aus lauter Nullen statt zu einem Absturz. Ob diese Vorhersage etwas taugt, ist eine andere Frage — in Phase 6 wird sie deshalb gar nicht erst angeboten.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Vergleich in der dritten Spalte ist der ehrliche: nicht gegen das Nullmodell, sondern gegen die beste Baseline. Gegen das Nullmodell wären es 51 Prozent — eine Zahl, die gut klingt und nichts bedeutet, weil niemand das Nullmodell ausliefern würde.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Ablation ist die billigste Selbstkontrolle, die es gibt: einmal ohne das Merkmal rechnen, an dem das Projekt hängt. Wer sie weglässt, kann nicht ausschließen, dass sein Umbau nichts bringt. Hier bringt er etwas — nur weniger, als die Erzählung nahelegt.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Spalte ganz rechts ist die eigentliche Nachricht dieser Folie: Bei CITY liegt die Anzeige in 74 Prozent der Fälle innerhalb der Toleranz — also bei rund jeder vierten Fahrt außerhalb. Der Mittelwert von 0,41 Euro sagt darüber nichts. Merken Sie sich diese 26 Prozent; sie sind gleich der Grund für den Rücksprung.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der Kern von Phase 5. Das Modell ist für alle drei Radtypen gleich gut; das fachliche Urteil fällt trotzdem verschieden aus. Wer nur MAE und R² berichtet, sieht das nie.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schützt vor einer bequemen Fehldiagnose. Man könnte aus der vorigen Tabelle schließen, das Modell tauge für teure Räder nicht — und dann Monate mit besseren Verfahren verbringen. Es liegt aber nicht am Modell, sondern daran, dass 50 Cent von 1,67 Euro etwas anderes sind als 50 Cent von 11,97 Euro.</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beiden schlechteren Fenster sind Sommer. Das Modell wird im Sommer schlechter, weil dann mehr aus Vergnügen gefahren wird. Diese Beobachtung erklärt später, warum die Tabelle quartalsweise neu gerechnet werden muss — und sie ist ein Beispiel dafür, dass eine einzelne Testzahl eine Jahreszeit sein kann.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zweiter Befund derselben Zelle: Rundtouren haben 6,05 Minuten MAE gegen 3,49 bei echten Wegen. Beides sagt dasselbe — was eine Fahrt lang macht, ist der Zweck, und der steht in keiner Spalte. Ob überhaupt kein Merkmal das könnte, wissen wir nicht: Nutzerabsicht, Höhenprofil und Stationsauslastung sind ungeprüfte Kandidaten.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ungewöhnlichste Moment des Falls. Der Rücksprung kommt nicht aus einem Fehlschlag, sondern aus zwei Beobachtungen, die das Erfolgskriterium selbst nicht abbildet. Genau deshalb reicht es nicht, Kriterien abzuhaken — man muss sie auch daraufhin ansehen, was sie NICHT messen.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Zeilen zusammen sind ein gutes Beispiel dafür, wie ein Kriterium aussehen muss: Eine Bedingung allein lässt sich immer erfüllen, indem man die andere verletzt. Erst das Paar beschreibt ein Produkt.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Zeile „verworfen, weil zu breit“ ist die interessanteste: Über die Hälfte der Spannen des Modells wäre für den Kunden wertlos. Was das Modell gut macht, ist gerade das Weglassen — es antwortet nur dort, wo es eine schmale Spanne bilden kann.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Weisen Sie darauf hin, dass die Bewertung nur zählt, was die App tatsächlich ANZEIGEN würde. Eine Spanne über einem Euro wird nicht angezeigt, also darf sie auch nicht in die Abdeckung eingehen. Über den Median gerechnet hätte ein Kandidat mit wenigen sehr breiten Spannen deutlich besser ausgesehen, als er ist.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dritte Weg wäre, die Vorhersagen des Modells für jede Kombination vorab auszurechnen und zu tabellieren: bessere Treffsicherheit, gleiche Betriebsform. Der Preis wäre, dass die Zeilen nicht mehr für sich sprechen — eine Modellvorhersage kann man nicht nachrechnen, indem man in die Historie sieht. Diese Abwägung gehört dem Auftraggeber, nicht der Analyse.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den Weg einmal von rechts nach links: Jede Zeile, die es in das grüne Feld geschafft hat, hat drei Prüfungen bestanden. Und jede Zeile, die im roten Feld gelandet ist, führt in der App nicht zu einer schlechteren Anzeige, sondern zu gar keiner. Das ist der Unterschied zwischen einem Produkt mit Geltungsbereich und einem, das auf jede Frage irgendetwas antwortet.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zweite Punkt der Sandkarte ist eine ehrliche Einschränkung, die man leicht übergeht: Die 80 Prozent sind insgesamt und je Radtyp geprüft, nicht je Verbindung. Ausgeschlossen wird nur, was messbar durchfällt — nicht alles, was ungeprüft ist. Das steht so auch in der Liste der offenen Punkte am Ende des Notebooks.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Achten Sie auf die letzte Spalte: fahrten_grundlage. Jede Zeile sagt, auf wie vielen vergleichbaren Fahrten sie beruht. Damit kann jeder im Betrieb nachsehen, wie belastbar eine einzelne Auskunft ist — bei 192 Fahrten anders als bei 42. Genau das kann eine Modellvorhersage nicht.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22,5 Prozent klingen nach einem mageren Ergebnis, und in einer Projektpräsentation würde diese Zahl gern fehlen. Sie ist aber die einzige, die beschreibt, was der Kunde erlebt. Fragen Sie die Studierenden, welche Zahl sie stattdessen berichtet hätten — die meisten nennen die 84,5 Prozent Abdeckung, und die gilt nur für die Fahrten, bei denen überhaupt etwas angezeigt wird.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Antwort deckt zwei sehr verschiedene Fälle ab: eine bekannte Verbindung ohne genügend Fahrten und eine Station, die es gar nicht gibt. Beide führen zur selben Auskunft, und das ist richtig so — der Kunde soll nicht erfahren, wie die Tabelle gebaut ist, sondern nur, ob er eine Zahl bekommt.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Zelle ist die Brücke zwischen Notebook und Produkt. Die Tabelle wird nach velocity.preisschaetzung geladen, die Website liest sie über eine Sicht und zeigt beim Radtyp einen kleinen Preisschätzer an — ein- und ausschaltbar über eine Option im Kundenkonto. Damit ist Phase 6 hier keine Übung, sondern eine ausgelieferte Funktion.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Maßgeblich ist das Wilson-Intervall zum Niveau 95 Prozent, nicht der Schätzwert. Damit entscheidet nicht eine gesetzte Ersatzschwelle, sondern die Frage, ob die Daten überhaupt für eine Aussage reichen. Wer schneller abschalten will, braucht mehr Fahrten je Fenster — keine andere Zahl. Die letzte Zeile ist die feinste: Die Tabelle enthält Euro, nicht nur Minuten. Eine Tarifänderung macht sie in einer Nacht falsch.</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schließt sich der Kreis zur dritten Folie dieses Kapitels. Die Annahme wurde am Anfang benannt, hat das ganze Notebook getragen — und am Ende steht, wie man sie prüfen würde und dass es noch nicht geschehen ist. Das ist der Unterschied zwischen einer offenen Frage und einer verschwiegenen.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steht wörtlich am Ende von Notebook 1. Die Studierenden finden sie dort wieder — Folie und Notebook sollen dieselbe Sprache sprechen, damit die Nacharbeit nicht bei null anfängt.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diese Liste langsam durch. Sie ist der beste Teil des Notebooks: Jeder Punkt ist eine Einschränkung, die niemand bemerkt hätte. Ein Bericht, der so etwas aufschreibt, ist mehr wert als einer mit besseren Zahlen — weil man auf ihm aufbauen kann.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6 von innen und endet mit einem Ergebnis, das in Lehrbüchern selten vorkommt: Das Modell wird gebaut, geprüft — und nicht ausgeliefert, weil eine einzeilige Faustregel genauso gut ist. Zwei Dinge machen den Fall lehrreich: Der Maßstab entsteht VOR dem Modell, und er wird über mehrere Quartale geprüft statt über eines.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Kostenmatrix in Zeile 4 ist der Unterschied zu Fall 1. Dort waren beide Fehlerrichtungen gleich ärgerlich; hier kostet die eine das Siebenfache der anderen. Das gehört ins Modell, nicht in die Nachbetrachtung.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woher solche Zahlen kommen. Antwort: aus dem Betrieb, nicht aus den Daten. Ein Datenprojekt, das sie nicht erfragt, erfindet sie implizit — meist als 1 : 1, und das ist fast immer falsch.</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Ein Nullmodell zu schlagen ist leicht. Den Menschen zu schlagen, der die Arbeit heute macht, ist die eigentliche Messlatte — und die fehlt in fast allen Lehrbeispielen.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Satz „44 Prozent melden sich, die Werkstatt schafft 26“ ist der Grund, warum es überhaupt eine Rangfolge braucht. Es geht nicht darum, alle Defekte zu finden, sondern die richtigen 60 Räder auszuwählen.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Zeilenzahlen stehen mit Absicht in der Ausgabe. Wer sie nicht ausgibt, merkt nicht, wenn ein Stichtag leer bleibt oder ein Filter mehr wegnimmt als gedacht.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beiden Regeln kosten zusammen zwei Zeilen und zehn Minuten. Wer sie nicht rechnet, kann am Ende nicht sagen, ob das Modell etwas beigetragen hat — er kann nur sagen, dass es funktioniert.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Lassen Sie die letzten beiden Zeilen wirken. Studierende erwarten hier, dass der Wald gewinnt — er ist ja das stärkere Verfahren. Dass er es nicht tut, heißt: Der Verschleiß hängt fast ausschließlich an den Kilometern seit der Reparatur. Mehr Information steckt in diesen Merkmalen nicht. Und beachten Sie die beiden schwächeren Regeln: 45 und 52 Prozent. Der Gewinn steckt nicht darin, eine bessere Kennzahl zu suchen, sondern die richtige Frage zu stellen.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Für jedes Quartal wird neu trainiert, mit allem, was zu diesem Zeitpunkt bekannt war. Das letzte Quartal bleibt unangetastet — es ist der Test, nicht die Entscheidungsgrundlage. Genau daran war eine frühere Fassung dieses Falls gescheitert: Sie hat auf dem einen günstigen Quartal entschieden.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gehört zu den wichtigsten des Decks. Studierende lesen 71,7 Prozent als eine Tatsache. Sie ist eine Schätzung aus 60 Beobachtungen, und die Unsicherheit ist größer als jeder Unterschied, über den hier gestritten wird.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dritte Kriterium ist erst nach dem Review dazugekommen, und es ist das wichtigste: Ein Verfahren muss über mehrere Perioden vorn liegen, nicht über eine. Ohne dieses Kriterium hätte das Notebook das Modell ausgeliefert — auf Grundlage eines einzigen günstigen Quartals.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Modell muss seinen Unterhalt verdienen. Hier verdient es ihn nicht — und der Bericht muss das so schreiben, statt das Modell auszuliefern, weil man es nun einmal gebaut hat. Zum zweiten Mal in dieser Fallstudie hält ein durchschaubares Verfahren mit einem Modell mit; in Notebook 1 war es eine Nachschlagetabelle.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mittlere Kachel ist der eigentliche Ertrag. „Mehr Modell hilft nicht, mehr Information vielleicht schon“ ist eine belastbare Aussage über die Daten — und sie sagt dem Auftraggeber, wo er als Nächstes investieren muss: nicht in Rechenleistung, sondern in Erfassung.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Modell sabotiert sich selbst, wenn es erfolgreich ist. Der Ausweg ist eine Kontrollgruppe: ein Teil der Flotte wird bewusst nicht nach Liste gewartet, damit man weiter lernt, was ohne Eingriff passiert wäre. Das kostet Geld und ist trotzdem richtig.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Modell muss seinen Unterhalt verdienen. Dieser Satz ist die Quintessenz des Falls — und er gilt weit über die Wartung hinaus.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erste Fall ohne Label. Niemand sagt dem Verfahren, was richtig ist. Genau deshalb zeigt dieser Fall Phase 1 von innen: Die Erfolgskriterien müssen völlig anders gebaut werden — und sie sind trotzdem prüfbar.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Zeile 4 ist der Kern dieses Kapitels. Vier Kriterien, keines davon eine Kennzahl aus der Statistik. Sie sind trotzdem prüfbar — und sie stehen vor der Analyse fest, genau wie in Fall 1.</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Welches dieser vier Kriterien ist statistisch? Keines. Und trotzdem kann man an jedem scheitern. Das ist der Beweis, dass Erfolgskriterien aus dem Fach kommen und nicht aus dem Verfahren.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Standardisieren ist bei k-Means nicht optional. Das Verfahren misst Abstände; eine Spalte in Euro und eine in Stückzahl haben völlig verschiedene Größenordnungen. Ohne Standardisierung entscheidet allein die Spalte mit den größten Zahlen.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Unterschied zu den überwachten Verfahren: Dort sagt eine Kennzahl, welches Modell besser ist. Hier sagt keine Kennzahl, welches k richtig ist. Die Fachlichkeit entscheidet — und deshalb standen die Kriterien vorher fest.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Zeigen Sie auf die Spalte Silhouette: Der Unterschied zwischen k=3 und k=4 ist klein. Wer allein danach ginge, könnte würfeln. Erst die Frage, ob die Disposition den Gruppen einen Namen geben kann, entscheidet.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passiert das, wovon CRISP-DM lebt: Die Analyse bringt eine Frage hervor, die vorher niemand gestellt hatte. Nicht „welche Segmente gibt es?“, sondern „sind die Freiminuten dort richtig eingesetzt, wo sie liegen?“ Betonen Sie: Es gibt bei VeloCity keine Grundgebühr — das ist Teil des Produktversprechens, nicht ein Versäumnis.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handwerklich vorbildlich und gehört betont: Eine Rechnung, die auf einer Annahme beruht, kennzeichnet sich selbst — im Code, nicht nur im Fließtext daneben. Wer nur die Ausgabe kopiert, kopiert die Warnung mit.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Datenschutzvorbehalt gehört auf die Folie und nicht in eine Fußnote. Studierende bauen später Segmentierungen in Unternehmen — und die Frage nach der Rechtsgrundlage kommt dort garantiert.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Ergebnis ist gut — aber es war vorher nicht belegt, sondern behauptet. Der Unterschied zählt: Hätte die Messung eine Instabilität gezeigt, wäre sie unbemerkt in die Auslieferung gewandert. Für den Kampagnenplan hat der Befund eine praktische Folge: Er wird nicht über Cluster-Nummern ausgeliefert, sondern über nachvollziehbare Schwellen — die sind reproduzierbar, die Nummern nicht.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100 Prozent in Zeile 5 sind eine Besonderheit dieses Lehrdatensatzes: Die Stationstypen sind beim Erzeugen bewusst eingebaut worden, deshalb gibt es eine verdeckte Wahrheit zum Gegenprüfen. In echten Daten hat man die nicht — dort bleiben nur die vier Kriterien aus Phase 1.</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3 von innen. Zwei Dinge gehen hier anders als in allen bisherigen Fällen: Die Aufteilung muss der Zeit folgen, und eine Störgröße macht einen Effekt vor, den es so nicht gibt.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Zeile 4 ist ungewöhnlich und wichtig: ein Erfolgskriterium, das nichts mit Genauigkeit zu tun hat. Ein Modell, das um 20 Uhr fertig wird, hat die Aufgabe verfehlt, auch wenn es perfekt trifft.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Prüfstein: Vergleichen Sie Ferien- und Nichtferientage BEI gleicher Temperatur. Dann schrumpft der Effekt zusammen. Genau diese Kontrolle unterscheidet eine Datenanalyse von einer Korrelationsjagd.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schärfste Zelle des Notebooks. Die rohe Zahl legt nahe, Ferien wirkten schwach dämpfend. Kontrolliert man die Temperatur, ist der Effekt deutlich stärker — er war vorher vom Sommer überdeckt. Lassen Sie die beiden Faktoren nebeneinander stehen.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Fehler ist deshalb so gefährlich, weil er sich nicht durch eine schlechte Kennzahl verrät — im Gegenteil, die Kennzahl wird besser. Auffallen würde er erst im Betrieb, Wochen später.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Faustregel lautet sinngemäß: so viele wie am gleichen Wochentag der Vorwoche. Das ist erstaunlich stark und schlägt das Nullmodell deutlich. Wer sie nicht mitrechnet, hält sein Modell für besser, als es ist.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für viele die überraschendste Folie des ganzen Decks. Ein absichtlich schlechteres Modell ist das bessere Werkzeug. Der Grund steht in Phase 1: die ungleichen Fehlerkosten. Wer Phase 1 übersprungen hat, kann diese Entscheidung gar nicht treffen.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Ohne diese Rechnung wäre der Aufschlag reine Bauchentscheidung. Mit ihr ist er eine belegte Optimierung — und genau das ist der Unterschied zwischen Erfahrung und Willkür.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Versuchung, den schönen Wert zu berichten, ist groß — er ist ja korrekt gerechnet. Er beantwortet nur nicht die Frage, die im Betrieb gestellt wird. Dasselbe Muster wie der Schattenbetrieb in Fall 1.</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Zelle stand in einer früheren Fassung in Phase 6, also NACH der Freigabe. Die Freigabe fiel damit auf einer Zahl, die das ausgelieferte Produkt nie erreicht — mit Ist-Wetter 1.727 €, im Betrieb 3.523 €. Jetzt steht die Zelle vor dem Urteil. Wer in einem Bericht nur die erste Zahl zeigt, hat nicht gelogen und trotzdem getäuscht.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 für diesen Fall: Bei allem, was mit Zeit zu tun hat, ist die Aufteilung die erste Frage — nicht das Verfahren.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5 von innen. Er ist der beste Beleg dafür, wozu vorab festgelegte Kriterien gut sind: Von 32 gefundenen Regeln übersteht keine einzige beide Hürden — und die stärkste verfehlt sie um ein Hundertstel Prozentpunkt. Genau das ist der Moment, in dem die Versuchung am größten ist, das Kriterium nachträglich zu senken.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drei Kennzahlen sind mit Absicht von Hand gerechnet und nicht aus einer Bibliothek geholt. Wer die drei Divisionen einmal selbst gemacht hat, verwechselt Konfidenz und Lift nie wieder.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klassische Handelsbeispiel: Brot und Milch haben hohen Support und hohe Konfidenz — aber Lift um 1,0. Sie werden zusammen gekauft, weil beide oft gekauft werden, nicht weil sie zusammengehören.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dritte Erfolgskriterium aus Phase 1 tut hier genau seine Arbeit. Ohne es wäre die stärkste Regel des Datensatzes das Hauptergebnis gewesen — und der Bericht wertlos.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Vorbehalt rechts ist wichtig: Eine Entscheidung, die gesetzt und nicht geprüft wurde, gehört benannt. Sonst liest sie sich später wie ein Befund.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 diese drei Divisionen einmal selbst gesehen hat, verwechselt Konfidenz und Lift nicht mehr. Deshalb steht die Rechnung im Notebook ausgeschrieben und nicht als Bibliotheksaufruf.</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Warum schließen sie einander fast aus? Ein sehr spezifisches Muster ist selten (niedriger Support), ein sehr häufiges ist unspezifisch (niedriger Lift). Wer nur eine der beiden Hürden setzt, findet entweder Belangloses oder Zufälliges. Hier kommt beides zusammen — und das Ergebnis ist eine leere Liste.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 ist die vielleicht wichtigste Folie des ganzen Decks. Der Fall ist so knapp, dass jede Ausrede greifbar wäre — und genau daran zeigt sich, ob ein Erfolgskriterium ernst gemeint war. Fragen Sie die Studierenden ehrlich, was sie täten. Die meisten würden senken. Genau deshalb steht diese Folie hier.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Ausgabe ist der beste Beleg des ganzen Decks dafür, wozu vorab gesetzte Kriterien gut sind. Beachten Sie die letzten Zeilen: Das Notebook rechnet aus, wie weit die beste Regel danebenliegt, statt das Scheitern nur zu behaupten. Wer den Abstand kennt, kann in Phase 1 begründet darüber reden — wer ihn nicht kennt, senkt die Hürde aus dem Bauch heraus.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frühere Fassung dieses Notebooks druckte hier „+1205 Räder laufen auf“ — die Summe über 741 Werktage, gedruckt wie eine Anweisung an den Fahrer. Die Zahl war richtig, die Einheit fehlte, und mit ihr die Einsicht, dass der Plan nichts trägt. Merksatz: Eine Zahl ohne Zeitbezug ist keine Betriebsanweisung. Der Hinweis rechts unten ist ebenfalls kein Beiwerk — aus Start-Ziel-Paaren mit Zeitstempel lassen sich Bewegungsprofile bilden.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 Die auffälligste Regel ist meistens die uninteressanteste. Erst die vorab gesetzten Hürden trennen Fund von Rauschen.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einzige Fall, in dem der Rücksprung nicht am Ende steht, sondern mitten im Notebook Zelle für Zelle mitzulesen ist. Und der einzige, der mit einem ausdrücklich negativen Ergebnis endet.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5 Prozent in Zeile 3 überraschen. Sie kommen aus einer Kosten-Nutzen-Rechnung: Ein gefundener Vorgang spart mehr, als neun Fehlalarme an Prüfzeit kosten. Erfolgskriterien sind nicht immer anspruchsvoll — sie müssen begründet sein.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Dazu kommt: Die Distanz fehlt bei 42 Prozent der Fahrten — derselbe Befund wie in Fall 1. Ein Merkmal, das bei zwei von fünf Fahrten fehlt und ansonsten nur Bekanntes wiederholt, ist keine gute Wahl.</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wichtigste Folie dieses Kapitels. Jede Kennzahl hätte hier grün gemeldet — das Verfahren hat sauber gearbeitet und stabile Ausreißer gefunden. Nur der Blick auf die Fälle zeigt, dass es die Preisklasse war.</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Keine Kennzahl hätte das gemeldet. Der Isolation Forest hat sauber gearbeitet und stabile Ausreißer gefunden. Erst die Tabelle zeigt, dass es die falschen sind. Das ist die Begründung für die Regel: Sehen Sie sich immer die Extremfälle an.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Von 2 auf 36 Prozent durch eine Normierung — von einem Treffer unter fünfzig auf achtzehn. Studierende sollen mitnehmen: Der größte Hebel lag nicht im Verfahren, sondern in der Datenaufbereitung, wie so oft. Und beachten Sie den Maßstab: 20 Prozent sind das Erfolgskriterium, nicht die Rentabilitätsschwelle. Rechnen würde sich die Liste schon ab 5 Prozent — aber eine Liste, bei der neunzehn von zwanzig Einträgen unnötig sind, öffnet nach zwei Wochen niemand mehr.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Vergleichen Sie mit der Folie davor. Dieselbe Auswertung, dieselben Daten, ein normiertes Merkmal — und ein völlig anderes Bild. Der Hebel lag in Phase 3, nicht im Verfahren.</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das Gegenstück zu Fall 2. Dort ließ eine schlecht gebaute Baseline ein Modell zu gut aussehen. Hier ließ eine FEHLENDE Baseline eine Aufgabe unlösbar aussehen — eine frühere Fassung des Notebooks schrieb, Aufgabe B sei mit diesen Daten nicht lösbar. Beide Male hilft dasselbe: erst die einfachste Lösung bauen, dann das Verfahren daran messen.</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Lassen Sie die Studierenden die erste Spalte lesen, bevor Sie die zweite aufdecken. Ein Modell, das bei fünfzig Plätzen null Treffer hat, sieht nach einem unlösbaren Problem aus — bis jemand die Regel danebenstellt.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dritte Punkt ist der Gegensatz zu Fall 2: Dort zerstörte die Nutzung die Lerngrundlage, hier schafft sie eine. Es lohnt sich, bei jedem Projekt zu fragen, in welche Richtung die Rückkopplung läuft.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Sätze aus diesem Notebook gehören an die Tafel: „Sehen Sie sich immer die Extremfälle an, die ein Modell meldet.“ Und: „Kein Verfahren kann Information erzeugen, die in den Daten nicht steckt.“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Abschluss legen wir die sechs Fälle zurück auf die Karte aus Kapitel 1. Jetzt ist sie nicht mehr abstrakt.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die sechs Zeilen einzeln durch und lassen Sie die Studierenden sagen, an welcher Stelle im jeweiligen Notebook das stand. Wer das kann, hat den Kreislauf verstanden.</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fünf Punkte sind das eigentliche Lernziel des Blocks. Die Verfahren kann man nachschlagen; diese Reihenfolge muss man sich angewöhnen.</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Wenn die Studierenden aus diesem Block eine Sache mitnehmen: Der spannende Teil ist nicht der, den man erwartet. Wer Data Science lernt, um Modelle zu bauen, verbringt 70 Prozent seiner Zeit mit etwas anderem.</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Empfehlen Sie, die Vorführfassung zu lesen und die Übungsfassung zu rechnen. Beide tragen dieselbe Phasenstruktur, sodass man beim Steckenbleiben in der einen die Antwort in der anderen findet.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acht Sätze fassen die sechs Fälle zusammen. Keiner davon ist verfahrensspezifisch — sie gelten für die Regression genauso wie für die Anomalieerkennung. Das ist der Sinn eines Vorgehensmodells.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letzte Punkt ist der wichtigste für die Berufspraxis. Ein Modell, das Zusammenhänge findet, wird im Unternehmen regelmäßig als Beleg für Ursachen gelesen. Fall 4 ist das beste Gegenbeispiel, das dieses Deck zu bieten 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8.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1.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2.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4.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CRISP-DM an sechs Fallbeispielen</a:t>
            </a:r>
          </a:p>
        </p:txBody>
      </p:sp>
      <p:sp>
        <p:nvSpPr>
          <p:cNvPr id="3" name="Text Placeholder 2"/>
          <p:cNvSpPr>
            <a:spLocks noGrp="1"/>
          </p:cNvSpPr>
          <p:nvPr>
            <p:ph type="body" idx="11" sz="quarter"/>
          </p:nvPr>
        </p:nvSpPr>
        <p:spPr/>
        <p:txBody>
          <a:bodyPr/>
          <a:lstStyle/>
          <a:p>
            <a:r>
              <a:t>Sechs Datenprojekte bei VeloCity — und ein Vorgehen, das in allen sechs dasselbe ist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Projekte, sechs Verfahren — und sechsmal dieselbe Reihenfolge</a:t>
            </a:r>
          </a:p>
        </p:txBody>
      </p:sp>
      <p:sp>
        <p:nvSpPr>
          <p:cNvPr id="3" name="Text Placeholder 2"/>
          <p:cNvSpPr>
            <a:spLocks noGrp="1"/>
          </p:cNvSpPr>
          <p:nvPr>
            <p:ph type="body" idx="12" sz="quarter"/>
          </p:nvPr>
        </p:nvSpPr>
        <p:spPr/>
        <p:txBody>
          <a:bodyPr/>
          <a:lstStyle/>
          <a:p>
            <a:r>
              <a:t>Der Ausgangspunkt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Regression, Klassifikation, Clustering, Zeitreihe, Assoziation, Anomalieerkennung. Verschiedene Fragen, verschiedene Mathematik. Der Weg zum Ergebnis ist in allen sechs Fällen derselbe.</a:t>
            </a:r>
          </a:p>
        </p:txBody>
      </p:sp>
      <p:sp>
        <p:nvSpPr>
          <p:cNvPr id="6" name="Rectangle 5"/>
          <p:cNvSpPr/>
          <p:nvPr/>
        </p:nvSpPr>
        <p:spPr>
          <a:xfrm>
            <a:off x="1153160" y="1879600"/>
            <a:ext cx="3175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Notebook</a:t>
            </a:r>
          </a:p>
        </p:txBody>
      </p:sp>
      <p:sp>
        <p:nvSpPr>
          <p:cNvPr id="7" name="Rectangle 6"/>
          <p:cNvSpPr/>
          <p:nvPr/>
        </p:nvSpPr>
        <p:spPr>
          <a:xfrm>
            <a:off x="4328160" y="1879600"/>
            <a:ext cx="8299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 an die Daten</a:t>
            </a:r>
          </a:p>
        </p:txBody>
      </p:sp>
      <p:sp>
        <p:nvSpPr>
          <p:cNvPr id="8" name="Rectangle 7"/>
          <p:cNvSpPr/>
          <p:nvPr/>
        </p:nvSpPr>
        <p:spPr>
          <a:xfrm>
            <a:off x="1153160" y="2387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9" name="Rectangle 8"/>
          <p:cNvSpPr/>
          <p:nvPr/>
        </p:nvSpPr>
        <p:spPr>
          <a:xfrm>
            <a:off x="4328160" y="2387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lange dauert diese Fahrt?</a:t>
            </a:r>
          </a:p>
        </p:txBody>
      </p:sp>
      <p:sp>
        <p:nvSpPr>
          <p:cNvPr id="10" name="Rectangle 9"/>
          <p:cNvSpPr/>
          <p:nvPr/>
        </p:nvSpPr>
        <p:spPr>
          <a:xfrm>
            <a:off x="1153160" y="2895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1" name="Rectangle 10"/>
          <p:cNvSpPr/>
          <p:nvPr/>
        </p:nvSpPr>
        <p:spPr>
          <a:xfrm>
            <a:off x="4328160" y="2895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Räder müssen als Nächstes in die Werkstatt?</a:t>
            </a:r>
          </a:p>
        </p:txBody>
      </p:sp>
      <p:sp>
        <p:nvSpPr>
          <p:cNvPr id="12" name="Rectangle 11"/>
          <p:cNvSpPr/>
          <p:nvPr/>
        </p:nvSpPr>
        <p:spPr>
          <a:xfrm>
            <a:off x="1153160" y="3403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4328160" y="3403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Gruppen stecken in den Daten?</a:t>
            </a:r>
          </a:p>
        </p:txBody>
      </p:sp>
      <p:sp>
        <p:nvSpPr>
          <p:cNvPr id="14" name="Rectangle 13"/>
          <p:cNvSpPr/>
          <p:nvPr/>
        </p:nvSpPr>
        <p:spPr>
          <a:xfrm>
            <a:off x="1153160" y="3911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5" name="Rectangle 14"/>
          <p:cNvSpPr/>
          <p:nvPr/>
        </p:nvSpPr>
        <p:spPr>
          <a:xfrm>
            <a:off x="4328160" y="3911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viele Fahrten kommen morgen?</a:t>
            </a:r>
          </a:p>
        </p:txBody>
      </p:sp>
      <p:sp>
        <p:nvSpPr>
          <p:cNvPr id="16" name="Rectangle 15"/>
          <p:cNvSpPr/>
          <p:nvPr/>
        </p:nvSpPr>
        <p:spPr>
          <a:xfrm>
            <a:off x="1153160" y="4419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17" name="Rectangle 16"/>
          <p:cNvSpPr/>
          <p:nvPr/>
        </p:nvSpPr>
        <p:spPr>
          <a:xfrm>
            <a:off x="4328160" y="4419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Wege gehören zusammen?</a:t>
            </a:r>
          </a:p>
        </p:txBody>
      </p:sp>
      <p:sp>
        <p:nvSpPr>
          <p:cNvPr id="18" name="Rectangle 17"/>
          <p:cNvSpPr/>
          <p:nvPr/>
        </p:nvSpPr>
        <p:spPr>
          <a:xfrm>
            <a:off x="1153160" y="4927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Anomalieerkennung</a:t>
            </a:r>
          </a:p>
        </p:txBody>
      </p:sp>
      <p:sp>
        <p:nvSpPr>
          <p:cNvPr id="19" name="Rectangle 18"/>
          <p:cNvSpPr/>
          <p:nvPr/>
        </p:nvSpPr>
        <p:spPr>
          <a:xfrm>
            <a:off x="4328160" y="4927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ist gestern schiefgelaufen?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dieses Deck gebaut ist — und warum so</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Kreislauf wird nicht sechsmal wiederholt. Ein Fall läuft vollständig durch, die anderen fünf gehen dort in die Tiefe, wo sie etwas Neues zeigen.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1 — Die Karte  </a:t>
            </a:r>
            <a:r>
              <a:rPr sz="1300">
                <a:solidFill>
                  <a:srgbClr val="404040"/>
                </a:solidFill>
              </a:rPr>
              <a:t>Der Kreislauf einmal kompakt. Bewusst knapp: Er bleibt abstrakt, bis der erste Fall ihn füllt</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2 — Fall 1 ganz  </a:t>
            </a:r>
            <a:r>
              <a:rPr sz="1300">
                <a:solidFill>
                  <a:srgbClr val="404040"/>
                </a:solidFill>
              </a:rPr>
              <a:t>Regression, alle sechs Phasen, mit den echten Zahlen. Hier wird die Karte konkret</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3 bis 7 — fünf Fälle  </a:t>
            </a:r>
            <a:r>
              <a:rPr sz="1300">
                <a:solidFill>
                  <a:srgbClr val="404040"/>
                </a:solidFill>
              </a:rPr>
              <a:t>Gleiches Gerüst, Tiefe nur an der Stelle, an der dieser Fall etwas beisteuert</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8 — Synthese  </a:t>
            </a:r>
            <a:r>
              <a:rPr sz="1300">
                <a:solidFill>
                  <a:srgbClr val="404040"/>
                </a:solidFill>
              </a:rPr>
              <a:t>Die sechs Fälle zurück auf die Karte gelegt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Der Kreislauf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braucht ein Datenprojekt überhaupt eine feste Schrittfolge?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Ohne Reihenfolge ist ein Werkzeugkasten nur ein Haufen Werkzeug</a:t>
            </a:r>
          </a:p>
        </p:txBody>
      </p:sp>
      <p:sp>
        <p:nvSpPr>
          <p:cNvPr id="3" name="Text Placeholder 2"/>
          <p:cNvSpPr>
            <a:spLocks noGrp="1"/>
          </p:cNvSpPr>
          <p:nvPr>
            <p:ph type="body" idx="12" sz="quarter"/>
          </p:nvPr>
        </p:nvSpPr>
        <p:spPr/>
        <p:txBody>
          <a:bodyPr/>
          <a:lstStyle/>
          <a:p>
            <a:r>
              <a:t>Ausgangslage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Verfahren sind lernbar und in wenigen Zeilen aufgerufen. Was Projekte scheitern lässt, ist fast nie die Mathematik — es ist die Reihenfolge.</a:t>
            </a:r>
          </a:p>
        </p:txBody>
      </p:sp>
      <p:sp>
        <p:nvSpPr>
          <p:cNvPr id="6" name="Rectangle 5"/>
          <p:cNvSpPr/>
          <p:nvPr/>
        </p:nvSpPr>
        <p:spPr>
          <a:xfrm>
            <a:off x="115316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Ohne Modell</a:t>
            </a:r>
          </a:p>
          <a:p>
            <a:pPr algn="l">
              <a:lnSpc>
                <a:spcPct val="95000"/>
              </a:lnSpc>
              <a:spcBef>
                <a:spcPts val="500"/>
              </a:spcBef>
            </a:pPr>
            <a:r>
              <a:rPr sz="1300" b="0">
                <a:solidFill>
                  <a:srgbClr val="404040"/>
                </a:solidFill>
              </a:rPr>
              <a:t>Man beginnt mit den Daten, die da sind</a:t>
            </a:r>
          </a:p>
          <a:p>
            <a:pPr algn="l">
              <a:lnSpc>
                <a:spcPct val="95000"/>
              </a:lnSpc>
              <a:spcBef>
                <a:spcPts val="500"/>
              </a:spcBef>
            </a:pPr>
            <a:r>
              <a:rPr sz="1300" b="0">
                <a:solidFill>
                  <a:srgbClr val="404040"/>
                </a:solidFill>
              </a:rPr>
              <a:t>Das Ziel entsteht unterwegs</a:t>
            </a:r>
          </a:p>
          <a:p>
            <a:pPr algn="l">
              <a:lnSpc>
                <a:spcPct val="95000"/>
              </a:lnSpc>
              <a:spcBef>
                <a:spcPts val="500"/>
              </a:spcBef>
            </a:pPr>
            <a:r>
              <a:rPr sz="1300" b="0">
                <a:solidFill>
                  <a:srgbClr val="404040"/>
                </a:solidFill>
              </a:rPr>
              <a:t>Erfolg wird beurteilt, nachdem</a:t>
            </a:r>
          </a:p>
          <a:p>
            <a:pPr algn="l">
              <a:lnSpc>
                <a:spcPct val="95000"/>
              </a:lnSpc>
              <a:spcBef>
                <a:spcPts val="500"/>
              </a:spcBef>
            </a:pPr>
            <a:r>
              <a:rPr sz="1300" b="0">
                <a:solidFill>
                  <a:srgbClr val="404040"/>
                </a:solidFill>
              </a:rPr>
              <a:t>man das Ergebnis gesehen hat</a:t>
            </a:r>
          </a:p>
        </p:txBody>
      </p:sp>
      <p:sp>
        <p:nvSpPr>
          <p:cNvPr id="9" name="Rectangle 8"/>
          <p:cNvSpPr/>
          <p:nvPr/>
        </p:nvSpPr>
        <p:spPr>
          <a:xfrm>
            <a:off x="511302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Die Folge</a:t>
            </a:r>
          </a:p>
          <a:p>
            <a:pPr algn="l">
              <a:lnSpc>
                <a:spcPct val="95000"/>
              </a:lnSpc>
              <a:spcBef>
                <a:spcPts val="500"/>
              </a:spcBef>
            </a:pPr>
            <a:r>
              <a:rPr sz="1300" b="0">
                <a:solidFill>
                  <a:srgbClr val="404040"/>
                </a:solidFill>
              </a:rPr>
              <a:t>Jedes Ergebnis lässt sich</a:t>
            </a:r>
          </a:p>
          <a:p>
            <a:pPr algn="l">
              <a:lnSpc>
                <a:spcPct val="95000"/>
              </a:lnSpc>
              <a:spcBef>
                <a:spcPts val="500"/>
              </a:spcBef>
            </a:pPr>
            <a:r>
              <a:rPr sz="1300" b="0">
                <a:solidFill>
                  <a:srgbClr val="404040"/>
                </a:solidFill>
              </a:rPr>
              <a:t>im Nachhinein gut finden</a:t>
            </a:r>
          </a:p>
          <a:p>
            <a:pPr algn="l">
              <a:lnSpc>
                <a:spcPct val="95000"/>
              </a:lnSpc>
              <a:spcBef>
                <a:spcPts val="500"/>
              </a:spcBef>
            </a:pPr>
            <a:r>
              <a:rPr sz="1300" b="0">
                <a:solidFill>
                  <a:srgbClr val="404040"/>
                </a:solidFill>
              </a:rPr>
              <a:t>Niemand kann sagen, ob das</a:t>
            </a:r>
          </a:p>
          <a:p>
            <a:pPr algn="l">
              <a:lnSpc>
                <a:spcPct val="95000"/>
              </a:lnSpc>
              <a:spcBef>
                <a:spcPts val="500"/>
              </a:spcBef>
            </a:pPr>
            <a:r>
              <a:rPr sz="1300" b="0">
                <a:solidFill>
                  <a:srgbClr val="404040"/>
                </a:solidFill>
              </a:rPr>
              <a:t>Projekt sein Ziel erreicht hat</a:t>
            </a:r>
          </a:p>
        </p:txBody>
      </p:sp>
      <p:sp>
        <p:nvSpPr>
          <p:cNvPr id="12" name="Rectangle 11"/>
          <p:cNvSpPr/>
          <p:nvPr/>
        </p:nvSpPr>
        <p:spPr>
          <a:xfrm>
            <a:off x="908177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Mit CRISP-DM</a:t>
            </a:r>
          </a:p>
          <a:p>
            <a:pPr algn="l">
              <a:lnSpc>
                <a:spcPct val="95000"/>
              </a:lnSpc>
              <a:spcBef>
                <a:spcPts val="500"/>
              </a:spcBef>
            </a:pPr>
            <a:r>
              <a:rPr sz="1300" b="0">
                <a:solidFill>
                  <a:srgbClr val="404040"/>
                </a:solidFill>
              </a:rPr>
              <a:t>Die Frage steht vor den Daten</a:t>
            </a:r>
          </a:p>
          <a:p>
            <a:pPr algn="l">
              <a:lnSpc>
                <a:spcPct val="95000"/>
              </a:lnSpc>
              <a:spcBef>
                <a:spcPts val="500"/>
              </a:spcBef>
            </a:pPr>
            <a:r>
              <a:rPr sz="1300" b="0">
                <a:solidFill>
                  <a:srgbClr val="404040"/>
                </a:solidFill>
              </a:rPr>
              <a:t>Die Hürde steht vor dem Ergebnis</a:t>
            </a:r>
          </a:p>
          <a:p>
            <a:pPr algn="l">
              <a:lnSpc>
                <a:spcPct val="95000"/>
              </a:lnSpc>
              <a:spcBef>
                <a:spcPts val="500"/>
              </a:spcBef>
            </a:pPr>
            <a:r>
              <a:rPr sz="1300" b="0">
                <a:solidFill>
                  <a:srgbClr val="404040"/>
                </a:solidFill>
              </a:rPr>
              <a:t>Und es gibt einen benannten Ort</a:t>
            </a:r>
          </a:p>
          <a:p>
            <a:pPr algn="l">
              <a:lnSpc>
                <a:spcPct val="95000"/>
              </a:lnSpc>
              <a:spcBef>
                <a:spcPts val="500"/>
              </a:spcBef>
            </a:pPr>
            <a:r>
              <a:rPr sz="1300" b="0">
                <a:solidFill>
                  <a:srgbClr val="404040"/>
                </a:solidFill>
              </a:rPr>
              <a:t>für das Eingeständnis: zurück</a:t>
            </a:r>
          </a:p>
        </p:txBody>
      </p:sp>
      <p:sp>
        <p:nvSpPr>
          <p:cNvPr id="15" name="Rectangle 14"/>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CRISP-DM ist kein Werkzeug, sondern eine Reihenfolge mit verbindlichen Zwischenständen. Der Wert steckt nicht in den sechs Namen, sondern darin, dass man sie NICHT überspringen darf.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Phasen, und jede beantwortet genau eine Frage</a:t>
            </a:r>
          </a:p>
        </p:txBody>
      </p:sp>
      <p:sp>
        <p:nvSpPr>
          <p:cNvPr id="3" name="Text Placeholder 2"/>
          <p:cNvSpPr>
            <a:spLocks noGrp="1"/>
          </p:cNvSpPr>
          <p:nvPr>
            <p:ph type="body" idx="12" sz="quarter"/>
          </p:nvPr>
        </p:nvSpPr>
        <p:spPr/>
        <p:txBody>
          <a:bodyPr/>
          <a:lstStyle/>
          <a:p>
            <a:r>
              <a:t>Überblick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Von der Geschäftsfrage zum laufenden Betrieb. Die Reihenfolge ist verbindlich, aber sie ist keine Einbahnstraße.</a:t>
            </a:r>
          </a:p>
        </p:txBody>
      </p:sp>
      <p:sp>
        <p:nvSpPr>
          <p:cNvPr id="6" name="Rectangle 5"/>
          <p:cNvSpPr/>
          <p:nvPr/>
        </p:nvSpPr>
        <p:spPr>
          <a:xfrm>
            <a:off x="1051560" y="3011971"/>
            <a:ext cx="11677650" cy="190085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kreis.png"/>
          <p:cNvPicPr>
            <a:picLocks noChangeAspect="1"/>
          </p:cNvPicPr>
          <p:nvPr/>
        </p:nvPicPr>
        <p:blipFill>
          <a:blip r:embed="rId2"/>
          <a:stretch>
            <a:fillRect/>
          </a:stretch>
        </p:blipFill>
        <p:spPr>
          <a:xfrm>
            <a:off x="1153160" y="3113571"/>
            <a:ext cx="11474450" cy="1697656"/>
          </a:xfrm>
          <a:prstGeom prst="rect">
            <a:avLst/>
          </a:prstGeom>
        </p:spPr>
      </p:pic>
      <p:sp>
        <p:nvSpPr>
          <p:cNvPr id="8" name="Rectangle 7"/>
          <p:cNvSpPr/>
          <p:nvPr/>
        </p:nvSpPr>
        <p:spPr>
          <a:xfrm>
            <a:off x="1153160" y="3302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3302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3429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Die Faustregel, die alle unterschätzen</a:t>
            </a:r>
          </a:p>
          <a:p>
            <a:pPr algn="l">
              <a:lnSpc>
                <a:spcPct val="95000"/>
              </a:lnSpc>
              <a:spcBef>
                <a:spcPts val="500"/>
              </a:spcBef>
            </a:pPr>
            <a:r>
              <a:rPr sz="1300" b="0">
                <a:solidFill>
                  <a:srgbClr val="404040"/>
                </a:solidFill>
              </a:rPr>
              <a:t>Phase 2 und 3 kosten in echten Projekten 60 bis 80 Prozent der Zeit.</a:t>
            </a:r>
          </a:p>
          <a:p>
            <a:pPr algn="l">
              <a:lnSpc>
                <a:spcPct val="95000"/>
              </a:lnSpc>
              <a:spcBef>
                <a:spcPts val="500"/>
              </a:spcBef>
            </a:pPr>
            <a:r>
              <a:rPr sz="1300" b="0">
                <a:solidFill>
                  <a:srgbClr val="404040"/>
                </a:solidFill>
              </a:rPr>
              <a:t>Phase 4 — das Modellieren, an das alle denken — sind oft zehn Zeilen Code.</a:t>
            </a:r>
          </a:p>
          <a:p>
            <a:pPr algn="l">
              <a:lnSpc>
                <a:spcPct val="95000"/>
              </a:lnSpc>
              <a:spcBef>
                <a:spcPts val="500"/>
              </a:spcBef>
            </a:pPr>
            <a:r>
              <a:rPr sz="1300" b="0">
                <a:solidFill>
                  <a:srgbClr val="404040"/>
                </a:solidFill>
              </a:rPr>
              <a:t>Wer beim Lesen eines Notebooks die Zeilen zählt, sieht dasselbe Verhältnis.</a:t>
            </a:r>
          </a:p>
        </p:txBody>
      </p:sp>
      <p:sp>
        <p:nvSpPr>
          <p:cNvPr id="11" name="Rectangle 1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3" name="Rectangle 1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5" name="Rectangle 1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7" name="Rectangle 1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19" name="Rectangle 1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1" name="Rectangle 2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Understanding: Was ist das Problem — und woran messen wir Erfolg?</a:t>
            </a:r>
          </a:p>
        </p:txBody>
      </p:sp>
      <p:sp>
        <p:nvSpPr>
          <p:cNvPr id="3" name="Text Placeholder 2"/>
          <p:cNvSpPr>
            <a:spLocks noGrp="1"/>
          </p:cNvSpPr>
          <p:nvPr>
            <p:ph type="body" idx="12" sz="quarter"/>
          </p:nvPr>
        </p:nvSpPr>
        <p:spPr/>
        <p:txBody>
          <a:bodyPr/>
          <a:lstStyle/>
          <a:p>
            <a:r>
              <a:t>Phase 1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Geschäftsziel  </a:t>
            </a:r>
            <a:r>
              <a:rPr sz="1300">
                <a:solidFill>
                  <a:srgbClr val="404040"/>
                </a:solidFill>
              </a:rPr>
              <a:t>Was soll sich im Betrieb ändern? In der Sprache des Fachs, nicht der Statistik</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Analytisches Ziel  </a:t>
            </a:r>
            <a:r>
              <a:rPr sz="1300">
                <a:solidFill>
                  <a:srgbClr val="404040"/>
                </a:solidFill>
              </a:rPr>
              <a:t>Was genau soll geschätzt, sortiert oder gruppiert werden?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Erfolgskriterium  </a:t>
            </a:r>
            <a:r>
              <a:rPr sz="1300">
                <a:solidFill>
                  <a:srgbClr val="404040"/>
                </a:solidFill>
              </a:rPr>
              <a:t>Eine Zahl mit einer Hürde — festgelegt, BEVOR jemand die Daten gesehen hat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Fehlerkosten  </a:t>
            </a:r>
            <a:r>
              <a:rPr sz="1300">
                <a:solidFill>
                  <a:srgbClr val="404040"/>
                </a:solidFill>
              </a:rPr>
              <a:t>Welcher Fehler ist teurer? Fast nie sind beide gleich teuer</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Understanding: Tragen die Daten die Frage überhaupt?</a:t>
            </a:r>
          </a:p>
        </p:txBody>
      </p:sp>
      <p:sp>
        <p:nvSpPr>
          <p:cNvPr id="3" name="Text Placeholder 2"/>
          <p:cNvSpPr>
            <a:spLocks noGrp="1"/>
          </p:cNvSpPr>
          <p:nvPr>
            <p:ph type="body" idx="12" sz="quarter"/>
          </p:nvPr>
        </p:nvSpPr>
        <p:spPr/>
        <p:txBody>
          <a:bodyPr/>
          <a:lstStyle/>
          <a:p>
            <a:r>
              <a:t>Phase 2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Beschaffen  </a:t>
            </a:r>
            <a:r>
              <a:rPr sz="1300">
                <a:solidFill>
                  <a:srgbClr val="404040"/>
                </a:solidFill>
              </a:rPr>
              <a:t>Woher kommen die Daten, und was fehlt?</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Beschreiben  </a:t>
            </a:r>
            <a:r>
              <a:rPr sz="1300">
                <a:solidFill>
                  <a:srgbClr val="404040"/>
                </a:solidFill>
              </a:rPr>
              <a:t>Wie viele Zeilen, welche Spalten, welche Lücken?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Erkunden  </a:t>
            </a:r>
            <a:r>
              <a:rPr sz="1300">
                <a:solidFill>
                  <a:srgbClr val="404040"/>
                </a:solidFill>
              </a:rPr>
              <a:t>Zuerst die Zielgröße ansehen, dann die Zusammenhänge</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Qualität prüfen  </a:t>
            </a:r>
            <a:r>
              <a:rPr sz="1300">
                <a:solidFill>
                  <a:srgbClr val="404040"/>
                </a:solidFill>
              </a:rPr>
              <a:t>Was ist unplausibel — und ist es ein Fehler oder ein Befund?</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Preparation: Wie werden aus Rohdaten Merkmale, die man verwenden darf?</a:t>
            </a:r>
          </a:p>
        </p:txBody>
      </p:sp>
      <p:sp>
        <p:nvSpPr>
          <p:cNvPr id="3" name="Text Placeholder 2"/>
          <p:cNvSpPr>
            <a:spLocks noGrp="1"/>
          </p:cNvSpPr>
          <p:nvPr>
            <p:ph type="body" idx="12" sz="quarter"/>
          </p:nvPr>
        </p:nvSpPr>
        <p:spPr/>
        <p:txBody>
          <a:bodyPr/>
          <a:lstStyle/>
          <a:p>
            <a:r>
              <a:t>Phase 3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Auswählen  </a:t>
            </a:r>
            <a:r>
              <a:rPr sz="1300">
                <a:solidFill>
                  <a:srgbClr val="404040"/>
                </a:solidFill>
              </a:rPr>
              <a:t>Zeilen und Spalten begründet ausschließen — jeder Filter mit Zeilenzahl davor und danach</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Bereinigen  </a:t>
            </a:r>
            <a:r>
              <a:rPr sz="1300">
                <a:solidFill>
                  <a:srgbClr val="404040"/>
                </a:solidFill>
              </a:rPr>
              <a:t>Fehlende Werte, Ausreißer, Dubletten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Merkmale bauen  </a:t>
            </a:r>
            <a:r>
              <a:rPr sz="1300">
                <a:solidFill>
                  <a:srgbClr val="404040"/>
                </a:solidFill>
              </a:rPr>
              <a:t>Aus Zeitstempel wird Stunde, Wochentag, Feiertag</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Aufteilen  </a:t>
            </a:r>
            <a:r>
              <a:rPr sz="1300">
                <a:solidFill>
                  <a:srgbClr val="404040"/>
                </a:solidFill>
              </a:rPr>
              <a:t>Trainings- und Testmenge — bei Zeitbezug entlang der Zeit, nicht zufällig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Modeling: Welches Verfahren, und woran messen wir es?</a:t>
            </a:r>
          </a:p>
        </p:txBody>
      </p:sp>
      <p:sp>
        <p:nvSpPr>
          <p:cNvPr id="3" name="Text Placeholder 2"/>
          <p:cNvSpPr>
            <a:spLocks noGrp="1"/>
          </p:cNvSpPr>
          <p:nvPr>
            <p:ph type="body" idx="12" sz="quarter"/>
          </p:nvPr>
        </p:nvSpPr>
        <p:spPr/>
        <p:txBody>
          <a:bodyPr/>
          <a:lstStyle/>
          <a:p>
            <a:r>
              <a:t>Phase 4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Nullmodell zuerst  </a:t>
            </a:r>
            <a:r>
              <a:rPr sz="1300">
                <a:solidFill>
                  <a:srgbClr val="404040"/>
                </a:solidFill>
              </a:rPr>
              <a:t>Der einfachste denkbare Tipp. Wer den nicht schlägt, hat nichts gewonnen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Faustregel als Maßstab  </a:t>
            </a:r>
            <a:r>
              <a:rPr sz="1300">
                <a:solidFill>
                  <a:srgbClr val="404040"/>
                </a:solidFill>
              </a:rPr>
              <a:t>Was macht der Betrieb heute ohne Modell?</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Dann erst Verfahren  </a:t>
            </a:r>
            <a:r>
              <a:rPr sz="1300">
                <a:solidFill>
                  <a:srgbClr val="404040"/>
                </a:solidFill>
              </a:rPr>
              <a:t>Vom Durchschaubaren zum Stärkeren, nicht umgekehrt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Kosten einbauen  </a:t>
            </a:r>
            <a:r>
              <a:rPr sz="1300">
                <a:solidFill>
                  <a:srgbClr val="404040"/>
                </a:solidFill>
              </a:rPr>
              <a:t>Ungleiche Fehlerkosten gehören ins Modell, nicht in die Nachbetrachtung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Reicht das für die Entscheidung, um die es geht?</a:t>
            </a:r>
          </a:p>
        </p:txBody>
      </p:sp>
      <p:sp>
        <p:nvSpPr>
          <p:cNvPr id="3" name="Text Placeholder 2"/>
          <p:cNvSpPr>
            <a:spLocks noGrp="1"/>
          </p:cNvSpPr>
          <p:nvPr>
            <p:ph type="body" idx="12" sz="quarter"/>
          </p:nvPr>
        </p:nvSpPr>
        <p:spPr/>
        <p:txBody>
          <a:bodyPr/>
          <a:lstStyle/>
          <a:p>
            <a:r>
              <a:t>Phase 5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Technische Güte  </a:t>
            </a:r>
            <a:r>
              <a:rPr sz="1300">
                <a:solidFill>
                  <a:srgbClr val="404040"/>
                </a:solidFill>
              </a:rPr>
              <a:t>MAE, Trefferquote, Silhouette — notwendig, aber nie hinreichend</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Gegen die Hürde  </a:t>
            </a:r>
            <a:r>
              <a:rPr sz="1300">
                <a:solidFill>
                  <a:srgbClr val="404040"/>
                </a:solidFill>
              </a:rPr>
              <a:t>Die Zahl aus Phase 1 — bestanden oder nicht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 ansehen  </a:t>
            </a:r>
            <a:r>
              <a:rPr sz="1300">
                <a:solidFill>
                  <a:srgbClr val="404040"/>
                </a:solidFill>
              </a:rPr>
              <a:t>Nicht nur wie gut, sondern WORAN es scheitert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Urteil fällen  </a:t>
            </a:r>
            <a:r>
              <a:rPr sz="1300">
                <a:solidFill>
                  <a:srgbClr val="404040"/>
                </a:solidFill>
              </a:rPr>
              <a:t>Weiter, zurück, oder ehrlich abbrechen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Wie kommt das Ergebnis in den Betrieb — und wer merkt, wenn es kippt?</a:t>
            </a:r>
          </a:p>
        </p:txBody>
      </p:sp>
      <p:sp>
        <p:nvSpPr>
          <p:cNvPr id="3" name="Text Placeholder 2"/>
          <p:cNvSpPr>
            <a:spLocks noGrp="1"/>
          </p:cNvSpPr>
          <p:nvPr>
            <p:ph type="body" idx="12" sz="quarter"/>
          </p:nvPr>
        </p:nvSpPr>
        <p:spPr/>
        <p:txBody>
          <a:bodyPr/>
          <a:lstStyle/>
          <a:p>
            <a:r>
              <a:t>Phase 6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Haltbar machen  </a:t>
            </a:r>
            <a:r>
              <a:rPr sz="1300">
                <a:solidFill>
                  <a:srgbClr val="404040"/>
                </a:solidFill>
              </a:rPr>
              <a:t>Modell und Merkmalsliste zusammen speichern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Einbauen  </a:t>
            </a:r>
            <a:r>
              <a:rPr sz="1300">
                <a:solidFill>
                  <a:srgbClr val="404040"/>
                </a:solidFill>
              </a:rPr>
              <a:t>Die Funktion, die der Betrieb tatsächlich aufruft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Überwachen  </a:t>
            </a:r>
            <a:r>
              <a:rPr sz="1300">
                <a:solidFill>
                  <a:srgbClr val="404040"/>
                </a:solidFill>
              </a:rPr>
              <a:t>Woran erkennt man, dass das Modell veraltet?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Rückkopplung bedenken  </a:t>
            </a:r>
            <a:r>
              <a:rPr sz="1300">
                <a:solidFill>
                  <a:srgbClr val="404040"/>
                </a:solidFill>
              </a:rPr>
              <a:t>Verändert die Auslieferung die Daten, aus denen wir künftig lernen?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ist kein Scheitern — er ist das Verfahren</a:t>
            </a:r>
          </a:p>
        </p:txBody>
      </p:sp>
      <p:sp>
        <p:nvSpPr>
          <p:cNvPr id="3" name="Text Placeholder 2"/>
          <p:cNvSpPr>
            <a:spLocks noGrp="1"/>
          </p:cNvSpPr>
          <p:nvPr>
            <p:ph type="body" idx="12" sz="quarter"/>
          </p:nvPr>
        </p:nvSpPr>
        <p:spPr/>
        <p:txBody>
          <a:bodyPr/>
          <a:lstStyle/>
          <a:p>
            <a:r>
              <a:t>Der Kern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CRISP-DM von einer Checkliste unterscheidet, sind die Pfeile zurück. In unseren sechs Fällen wurde viermal zurückgesprungen.</a:t>
            </a:r>
          </a:p>
        </p:txBody>
      </p:sp>
      <p:sp>
        <p:nvSpPr>
          <p:cNvPr id="6" name="Rectangle 5"/>
          <p:cNvSpPr/>
          <p:nvPr/>
        </p:nvSpPr>
        <p:spPr>
          <a:xfrm>
            <a:off x="1153160" y="1879600"/>
            <a:ext cx="1905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058160" y="1879600"/>
            <a:ext cx="165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Rücksprung</a:t>
            </a:r>
          </a:p>
        </p:txBody>
      </p:sp>
      <p:sp>
        <p:nvSpPr>
          <p:cNvPr id="8" name="Rectangle 7"/>
          <p:cNvSpPr/>
          <p:nvPr/>
        </p:nvSpPr>
        <p:spPr>
          <a:xfrm>
            <a:off x="4709160" y="1879600"/>
            <a:ext cx="7918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4384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058160" y="24384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1" name="Rectangle 10"/>
          <p:cNvSpPr/>
          <p:nvPr/>
        </p:nvSpPr>
        <p:spPr>
          <a:xfrm>
            <a:off x="4709160" y="24384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Für zwei von drei Radtypen ist eine Punktschätzung die falsche Zusage — eine Spanne wäre ehrlich</a:t>
            </a:r>
          </a:p>
        </p:txBody>
      </p:sp>
      <p:sp>
        <p:nvSpPr>
          <p:cNvPr id="12" name="Rectangle 11"/>
          <p:cNvSpPr/>
          <p:nvPr/>
        </p:nvSpPr>
        <p:spPr>
          <a:xfrm>
            <a:off x="1153160" y="29972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3058160" y="29972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4" name="Rectangle 13"/>
          <p:cNvSpPr/>
          <p:nvPr/>
        </p:nvSpPr>
        <p:spPr>
          <a:xfrm>
            <a:off x="4709160" y="29972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Analyse brachte eine bessere Frage hervor, als die war, mit der wir angefangen hatten</a:t>
            </a:r>
          </a:p>
        </p:txBody>
      </p:sp>
      <p:sp>
        <p:nvSpPr>
          <p:cNvPr id="15" name="Rectangle 14"/>
          <p:cNvSpPr/>
          <p:nvPr/>
        </p:nvSpPr>
        <p:spPr>
          <a:xfrm>
            <a:off x="1153160" y="35560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6" name="Rectangle 15"/>
          <p:cNvSpPr/>
          <p:nvPr/>
        </p:nvSpPr>
        <p:spPr>
          <a:xfrm>
            <a:off x="3058160" y="35560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 → 3</a:t>
            </a:r>
          </a:p>
        </p:txBody>
      </p:sp>
      <p:sp>
        <p:nvSpPr>
          <p:cNvPr id="17" name="Rectangle 16"/>
          <p:cNvSpPr/>
          <p:nvPr/>
        </p:nvSpPr>
        <p:spPr>
          <a:xfrm>
            <a:off x="4709160" y="35560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fand die Preisklasse statt der Anomalien — die Merkmale mussten normiert werden</a:t>
            </a:r>
          </a:p>
        </p:txBody>
      </p:sp>
      <p:sp>
        <p:nvSpPr>
          <p:cNvPr id="18" name="Rectangle 17"/>
          <p:cNvSpPr/>
          <p:nvPr/>
        </p:nvSpPr>
        <p:spPr>
          <a:xfrm>
            <a:off x="1153160" y="41148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9" name="Rectangle 18"/>
          <p:cNvSpPr/>
          <p:nvPr/>
        </p:nvSpPr>
        <p:spPr>
          <a:xfrm>
            <a:off x="3058160" y="41148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Ende</a:t>
            </a:r>
          </a:p>
        </p:txBody>
      </p:sp>
      <p:sp>
        <p:nvSpPr>
          <p:cNvPr id="20" name="Rectangle 19"/>
          <p:cNvSpPr/>
          <p:nvPr/>
        </p:nvSpPr>
        <p:spPr>
          <a:xfrm>
            <a:off x="4709160" y="41148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Aufgabe B scheitert an den Grunddaten. Ein negatives Ergebnis, ausdrücklich nicht ausgeliefert</a:t>
            </a:r>
          </a:p>
        </p:txBody>
      </p:sp>
      <p:sp>
        <p:nvSpPr>
          <p:cNvPr id="21" name="Rectangle 20"/>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 Projekt, das ohne einen einzigen Rücksprung durchläuft, hat entweder eine triviale Frage gestellt — oder nicht genau genug hingesehen.</a:t>
            </a:r>
          </a:p>
        </p:txBody>
      </p:sp>
      <p:sp>
        <p:nvSpPr>
          <p:cNvPr id="23" name="Rectangle 22"/>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3 Data</a:t>
            </a:r>
          </a:p>
          <a:p>
            <a:pPr algn="ctr">
              <a:lnSpc>
                <a:spcPct val="95000"/>
              </a:lnSpc>
            </a:pPr>
            <a:r>
              <a:rPr sz="1300" b="0">
                <a:solidFill>
                  <a:srgbClr val="A32638"/>
                </a:solidFill>
              </a:rPr>
              <a:t>Preparation</a:t>
            </a:r>
          </a:p>
        </p:txBody>
      </p:sp>
      <p:sp>
        <p:nvSpPr>
          <p:cNvPr id="29" name="Rectangle 2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Fehler, die man in fast jedem Erstprojekt sieht</a:t>
            </a:r>
          </a:p>
        </p:txBody>
      </p:sp>
      <p:sp>
        <p:nvSpPr>
          <p:cNvPr id="3" name="Text Placeholder 2"/>
          <p:cNvSpPr>
            <a:spLocks noGrp="1"/>
          </p:cNvSpPr>
          <p:nvPr>
            <p:ph type="body" idx="12" sz="quarter"/>
          </p:nvPr>
        </p:nvSpPr>
        <p:spPr/>
        <p:txBody>
          <a:bodyPr/>
          <a:lstStyle/>
          <a:p>
            <a:r>
              <a:t>Zwei Fehler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05560"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läuft es meistens</a:t>
            </a:r>
          </a:p>
        </p:txBody>
      </p:sp>
      <p:sp>
        <p:nvSpPr>
          <p:cNvPr id="8" name="TextBox 7"/>
          <p:cNvSpPr txBox="1"/>
          <p:nvPr/>
        </p:nvSpPr>
        <p:spPr>
          <a:xfrm>
            <a:off x="1330960" y="1854200"/>
            <a:ext cx="5194300" cy="2184400"/>
          </a:xfrm>
          <a:prstGeom prst="rect">
            <a:avLst/>
          </a:prstGeom>
          <a:noFill/>
        </p:spPr>
        <p:txBody>
          <a:bodyPr wrap="square" lIns="0" tIns="0" rIns="0" bIns="0">
            <a:spAutoFit/>
          </a:bodyPr>
          <a:lstStyle/>
          <a:p>
            <a:pPr algn="l">
              <a:lnSpc>
                <a:spcPct val="95000"/>
              </a:lnSpc>
            </a:pPr>
            <a:r>
              <a:rPr sz="1400" b="1">
                <a:solidFill>
                  <a:srgbClr val="A32638"/>
                </a:solidFill>
              </a:rPr>
              <a:t>Kriterium nach dem Ergebnis</a:t>
            </a:r>
          </a:p>
          <a:p>
            <a:pPr algn="l">
              <a:lnSpc>
                <a:spcPct val="95000"/>
              </a:lnSpc>
              <a:spcBef>
                <a:spcPts val="300"/>
              </a:spcBef>
            </a:pPr>
            <a:r>
              <a:rPr sz="1300" b="0">
                <a:solidFill>
                  <a:srgbClr val="404040"/>
                </a:solidFill>
              </a:rPr>
              <a:t>1. Daten laden, Modell rechnen</a:t>
            </a:r>
          </a:p>
          <a:p>
            <a:pPr algn="l">
              <a:lnSpc>
                <a:spcPct val="95000"/>
              </a:lnSpc>
              <a:spcBef>
                <a:spcPts val="300"/>
              </a:spcBef>
            </a:pPr>
            <a:r>
              <a:rPr sz="1300" b="0">
                <a:solidFill>
                  <a:srgbClr val="404040"/>
                </a:solidFill>
              </a:rPr>
              <a:t>2. Der Fehler liegt bei 3,96 Minuten</a:t>
            </a:r>
          </a:p>
          <a:p>
            <a:pPr algn="l">
              <a:lnSpc>
                <a:spcPct val="95000"/>
              </a:lnSpc>
              <a:spcBef>
                <a:spcPts val="300"/>
              </a:spcBef>
            </a:pPr>
            <a:r>
              <a:rPr sz="1300" b="0">
                <a:solidFill>
                  <a:srgbClr val="404040"/>
                </a:solidFill>
              </a:rPr>
              <a:t>3. „Unter vier Minuten — ordentlich.“</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Hürde wurde an das Ergebnis</a:t>
            </a:r>
          </a:p>
          <a:p>
            <a:pPr algn="l">
              <a:lnSpc>
                <a:spcPct val="95000"/>
              </a:lnSpc>
              <a:spcBef>
                <a:spcPts val="300"/>
              </a:spcBef>
            </a:pPr>
            <a:r>
              <a:rPr sz="1300" b="0">
                <a:solidFill>
                  <a:srgbClr val="404040"/>
                </a:solidFill>
              </a:rPr>
              <a:t>angelegt, nicht umgekehrt. So kann</a:t>
            </a:r>
          </a:p>
          <a:p>
            <a:pPr algn="l">
              <a:lnSpc>
                <a:spcPct val="95000"/>
              </a:lnSpc>
              <a:spcBef>
                <a:spcPts val="300"/>
              </a:spcBef>
            </a:pPr>
            <a:r>
              <a:rPr sz="1300" b="0">
                <a:solidFill>
                  <a:srgbClr val="404040"/>
                </a:solidFill>
              </a:rPr>
              <a:t>kein Projekt scheitern — und deshalb</a:t>
            </a:r>
          </a:p>
          <a:p>
            <a:pPr algn="l">
              <a:lnSpc>
                <a:spcPct val="95000"/>
              </a:lnSpc>
              <a:spcBef>
                <a:spcPts val="300"/>
              </a:spcBef>
            </a:pPr>
            <a:r>
              <a:rPr sz="1300" b="0">
                <a:solidFill>
                  <a:srgbClr val="404040"/>
                </a:solidFill>
              </a:rPr>
              <a:t>sagt sein Erfolg auch nichts.</a:t>
            </a:r>
          </a:p>
        </p:txBody>
      </p:sp>
      <p:sp>
        <p:nvSpPr>
          <p:cNvPr id="9" name="Rectangle 8"/>
          <p:cNvSpPr/>
          <p:nvPr/>
        </p:nvSpPr>
        <p:spPr>
          <a:xfrm>
            <a:off x="7096759"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346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49159"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gehört es</a:t>
            </a:r>
          </a:p>
        </p:txBody>
      </p:sp>
      <p:sp>
        <p:nvSpPr>
          <p:cNvPr id="12" name="TextBox 11"/>
          <p:cNvSpPr txBox="1"/>
          <p:nvPr/>
        </p:nvSpPr>
        <p:spPr>
          <a:xfrm>
            <a:off x="7274559" y="1854200"/>
            <a:ext cx="5194300" cy="2184400"/>
          </a:xfrm>
          <a:prstGeom prst="rect">
            <a:avLst/>
          </a:prstGeom>
          <a:noFill/>
        </p:spPr>
        <p:txBody>
          <a:bodyPr wrap="square" lIns="0" tIns="0" rIns="0" bIns="0">
            <a:spAutoFit/>
          </a:bodyPr>
          <a:lstStyle/>
          <a:p>
            <a:pPr algn="l">
              <a:lnSpc>
                <a:spcPct val="95000"/>
              </a:lnSpc>
            </a:pPr>
            <a:r>
              <a:rPr sz="1400" b="1">
                <a:solidFill>
                  <a:srgbClr val="55801C"/>
                </a:solidFill>
              </a:rPr>
              <a:t>Kriterium vor den Daten</a:t>
            </a:r>
          </a:p>
          <a:p>
            <a:pPr algn="l">
              <a:lnSpc>
                <a:spcPct val="95000"/>
              </a:lnSpc>
              <a:spcBef>
                <a:spcPts val="300"/>
              </a:spcBef>
            </a:pPr>
            <a:r>
              <a:rPr sz="1300" b="0">
                <a:solidFill>
                  <a:srgbClr val="404040"/>
                </a:solidFill>
              </a:rPr>
              <a:t>1. „Der Preisfehler muss unter</a:t>
            </a:r>
          </a:p>
          <a:p>
            <a:pPr algn="l">
              <a:lnSpc>
                <a:spcPct val="95000"/>
              </a:lnSpc>
              <a:spcBef>
                <a:spcPts val="300"/>
              </a:spcBef>
            </a:pPr>
            <a:r>
              <a:rPr sz="1300" b="0">
                <a:solidFill>
                  <a:srgbClr val="404040"/>
                </a:solidFill>
              </a:rPr>
              <a:t>   50 Cent liegen“ — vor allem</a:t>
            </a:r>
          </a:p>
          <a:p>
            <a:pPr algn="l">
              <a:lnSpc>
                <a:spcPct val="95000"/>
              </a:lnSpc>
              <a:spcBef>
                <a:spcPts val="300"/>
              </a:spcBef>
            </a:pPr>
            <a:r>
              <a:rPr sz="1300" b="0">
                <a:solidFill>
                  <a:srgbClr val="404040"/>
                </a:solidFill>
              </a:rPr>
              <a:t>   anderen festgelegt</a:t>
            </a:r>
          </a:p>
          <a:p>
            <a:pPr algn="l">
              <a:lnSpc>
                <a:spcPct val="95000"/>
              </a:lnSpc>
              <a:spcBef>
                <a:spcPts val="300"/>
              </a:spcBef>
            </a:pPr>
            <a:r>
              <a:rPr sz="1300" b="0">
                <a:solidFill>
                  <a:srgbClr val="404040"/>
                </a:solidFill>
              </a:rPr>
              <a:t>2. Daten laden, Modell rechnen</a:t>
            </a:r>
          </a:p>
          <a:p>
            <a:pPr algn="l">
              <a:lnSpc>
                <a:spcPct val="95000"/>
              </a:lnSpc>
              <a:spcBef>
                <a:spcPts val="300"/>
              </a:spcBef>
            </a:pPr>
            <a:r>
              <a:rPr sz="1300" b="0">
                <a:solidFill>
                  <a:srgbClr val="404040"/>
                </a:solidFill>
              </a:rPr>
              <a:t>3. CITY 0,41 € hält, EBIKE 0,85 €</a:t>
            </a:r>
          </a:p>
          <a:p>
            <a:pPr algn="l">
              <a:lnSpc>
                <a:spcPct val="95000"/>
              </a:lnSpc>
              <a:spcBef>
                <a:spcPts val="300"/>
              </a:spcBef>
            </a:pPr>
            <a:r>
              <a:rPr sz="1300" b="0">
                <a:solidFill>
                  <a:srgbClr val="404040"/>
                </a:solidFill>
              </a:rPr>
              <a:t>   und CARGO 2,48 € reißen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Genau so steht es in Notebook 1 —</a:t>
            </a:r>
          </a:p>
          <a:p>
            <a:pPr algn="l">
              <a:lnSpc>
                <a:spcPct val="95000"/>
              </a:lnSpc>
              <a:spcBef>
                <a:spcPts val="300"/>
              </a:spcBef>
            </a:pPr>
            <a:r>
              <a:rPr sz="1300" b="0">
                <a:solidFill>
                  <a:srgbClr val="404040"/>
                </a:solidFill>
              </a:rPr>
              <a:t>und deshalb ist das Ergebnis dort</a:t>
            </a:r>
          </a:p>
          <a:p>
            <a:pPr algn="l">
              <a:lnSpc>
                <a:spcPct val="95000"/>
              </a:lnSpc>
              <a:spcBef>
                <a:spcPts val="300"/>
              </a:spcBef>
            </a:pPr>
            <a:r>
              <a:rPr sz="1300" b="0">
                <a:solidFill>
                  <a:srgbClr val="404040"/>
                </a:solidFill>
              </a:rPr>
              <a:t>eine Erkenntnis statt einer Ausrede.</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 und jeder zeigt eine andere Phase von innen</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Deshalb wird der Kreislauf hier nicht sechsmal wiederholt. Fall 1 läuft vollständig durch; die übrigen fünf gehen dort in die Tiefe, wo sie etwas Neues zu zeigen haben.</a:t>
            </a:r>
          </a:p>
        </p:txBody>
      </p:sp>
      <p:sp>
        <p:nvSpPr>
          <p:cNvPr id="6" name="Rectangle 5"/>
          <p:cNvSpPr/>
          <p:nvPr/>
        </p:nvSpPr>
        <p:spPr>
          <a:xfrm>
            <a:off x="1153160" y="1879600"/>
            <a:ext cx="63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1788160" y="1879600"/>
            <a:ext cx="165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8" name="Rectangle 7"/>
          <p:cNvSpPr/>
          <p:nvPr/>
        </p:nvSpPr>
        <p:spPr>
          <a:xfrm>
            <a:off x="3439160" y="18796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9" name="Rectangle 8"/>
          <p:cNvSpPr/>
          <p:nvPr/>
        </p:nvSpPr>
        <p:spPr>
          <a:xfrm>
            <a:off x="4836160" y="1879600"/>
            <a:ext cx="7791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10" name="Rectangle 9"/>
          <p:cNvSpPr/>
          <p:nvPr/>
        </p:nvSpPr>
        <p:spPr>
          <a:xfrm>
            <a:off x="1153160" y="24130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a:t>
            </a:r>
          </a:p>
        </p:txBody>
      </p:sp>
      <p:sp>
        <p:nvSpPr>
          <p:cNvPr id="11" name="Rectangle 10"/>
          <p:cNvSpPr/>
          <p:nvPr/>
        </p:nvSpPr>
        <p:spPr>
          <a:xfrm>
            <a:off x="1788160" y="24130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Regression</a:t>
            </a:r>
          </a:p>
        </p:txBody>
      </p:sp>
      <p:sp>
        <p:nvSpPr>
          <p:cNvPr id="12" name="Rectangle 11"/>
          <p:cNvSpPr/>
          <p:nvPr/>
        </p:nvSpPr>
        <p:spPr>
          <a:xfrm>
            <a:off x="3439160" y="2413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a:t>
            </a:r>
          </a:p>
        </p:txBody>
      </p:sp>
      <p:sp>
        <p:nvSpPr>
          <p:cNvPr id="13" name="Rectangle 12"/>
          <p:cNvSpPr/>
          <p:nvPr/>
        </p:nvSpPr>
        <p:spPr>
          <a:xfrm>
            <a:off x="4836160" y="24130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Ob ein Merkmal erlaubt ist, entscheidet der Prozess — nicht der Spaltenname</a:t>
            </a:r>
          </a:p>
        </p:txBody>
      </p:sp>
      <p:sp>
        <p:nvSpPr>
          <p:cNvPr id="14" name="Rectangle 13"/>
          <p:cNvSpPr/>
          <p:nvPr/>
        </p:nvSpPr>
        <p:spPr>
          <a:xfrm>
            <a:off x="1153160" y="29464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a:t>
            </a:r>
          </a:p>
        </p:txBody>
      </p:sp>
      <p:sp>
        <p:nvSpPr>
          <p:cNvPr id="15" name="Rectangle 14"/>
          <p:cNvSpPr/>
          <p:nvPr/>
        </p:nvSpPr>
        <p:spPr>
          <a:xfrm>
            <a:off x="1788160" y="29464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Klassifikation</a:t>
            </a:r>
          </a:p>
        </p:txBody>
      </p:sp>
      <p:sp>
        <p:nvSpPr>
          <p:cNvPr id="16" name="Rectangle 15"/>
          <p:cNvSpPr/>
          <p:nvPr/>
        </p:nvSpPr>
        <p:spPr>
          <a:xfrm>
            <a:off x="3439160" y="2946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7" name="Rectangle 16"/>
          <p:cNvSpPr/>
          <p:nvPr/>
        </p:nvSpPr>
        <p:spPr>
          <a:xfrm>
            <a:off x="4836160" y="29464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Modell muss seinen Unterhalt verdienen — hier verdient es ihn nicht</a:t>
            </a:r>
          </a:p>
        </p:txBody>
      </p:sp>
      <p:sp>
        <p:nvSpPr>
          <p:cNvPr id="18" name="Rectangle 17"/>
          <p:cNvSpPr/>
          <p:nvPr/>
        </p:nvSpPr>
        <p:spPr>
          <a:xfrm>
            <a:off x="1153160" y="34798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a:t>
            </a:r>
          </a:p>
        </p:txBody>
      </p:sp>
      <p:sp>
        <p:nvSpPr>
          <p:cNvPr id="19" name="Rectangle 18"/>
          <p:cNvSpPr/>
          <p:nvPr/>
        </p:nvSpPr>
        <p:spPr>
          <a:xfrm>
            <a:off x="1788160" y="34798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Clustering</a:t>
            </a:r>
          </a:p>
        </p:txBody>
      </p:sp>
      <p:sp>
        <p:nvSpPr>
          <p:cNvPr id="20" name="Rectangle 19"/>
          <p:cNvSpPr/>
          <p:nvPr/>
        </p:nvSpPr>
        <p:spPr>
          <a:xfrm>
            <a:off x="3439160" y="34798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21" name="Rectangle 20"/>
          <p:cNvSpPr/>
          <p:nvPr/>
        </p:nvSpPr>
        <p:spPr>
          <a:xfrm>
            <a:off x="4836160" y="34798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auch ohne Zielgröße</a:t>
            </a:r>
          </a:p>
        </p:txBody>
      </p:sp>
      <p:sp>
        <p:nvSpPr>
          <p:cNvPr id="22" name="Rectangle 21"/>
          <p:cNvSpPr/>
          <p:nvPr/>
        </p:nvSpPr>
        <p:spPr>
          <a:xfrm>
            <a:off x="1153160" y="40132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a:t>
            </a:r>
          </a:p>
        </p:txBody>
      </p:sp>
      <p:sp>
        <p:nvSpPr>
          <p:cNvPr id="23" name="Rectangle 22"/>
          <p:cNvSpPr/>
          <p:nvPr/>
        </p:nvSpPr>
        <p:spPr>
          <a:xfrm>
            <a:off x="1788160" y="40132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Zeitreihe</a:t>
            </a:r>
          </a:p>
        </p:txBody>
      </p:sp>
      <p:sp>
        <p:nvSpPr>
          <p:cNvPr id="24" name="Rectangle 23"/>
          <p:cNvSpPr/>
          <p:nvPr/>
        </p:nvSpPr>
        <p:spPr>
          <a:xfrm>
            <a:off x="3439160" y="40132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5" name="Rectangle 24"/>
          <p:cNvSpPr/>
          <p:nvPr/>
        </p:nvSpPr>
        <p:spPr>
          <a:xfrm>
            <a:off x="4836160" y="40132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genaueste Prognose ist nicht die günstigste</a:t>
            </a:r>
          </a:p>
        </p:txBody>
      </p:sp>
      <p:sp>
        <p:nvSpPr>
          <p:cNvPr id="26" name="Rectangle 25"/>
          <p:cNvSpPr/>
          <p:nvPr/>
        </p:nvSpPr>
        <p:spPr>
          <a:xfrm>
            <a:off x="1153160" y="45466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a:t>
            </a:r>
          </a:p>
        </p:txBody>
      </p:sp>
      <p:sp>
        <p:nvSpPr>
          <p:cNvPr id="27" name="Rectangle 26"/>
          <p:cNvSpPr/>
          <p:nvPr/>
        </p:nvSpPr>
        <p:spPr>
          <a:xfrm>
            <a:off x="1788160" y="45466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Assoziation</a:t>
            </a:r>
          </a:p>
        </p:txBody>
      </p:sp>
      <p:sp>
        <p:nvSpPr>
          <p:cNvPr id="28" name="Rectangle 27"/>
          <p:cNvSpPr/>
          <p:nvPr/>
        </p:nvSpPr>
        <p:spPr>
          <a:xfrm>
            <a:off x="3439160" y="45466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9" name="Rectangle 28"/>
          <p:cNvSpPr/>
          <p:nvPr/>
        </p:nvSpPr>
        <p:spPr>
          <a:xfrm>
            <a:off x="4836160" y="45466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Regel nimmt beide Hürden — und die Hürde bleibt trotzdem stehen</a:t>
            </a:r>
          </a:p>
        </p:txBody>
      </p:sp>
      <p:sp>
        <p:nvSpPr>
          <p:cNvPr id="30" name="Rectangle 29"/>
          <p:cNvSpPr/>
          <p:nvPr/>
        </p:nvSpPr>
        <p:spPr>
          <a:xfrm>
            <a:off x="1153160" y="50800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a:t>
            </a:r>
          </a:p>
        </p:txBody>
      </p:sp>
      <p:sp>
        <p:nvSpPr>
          <p:cNvPr id="31" name="Rectangle 30"/>
          <p:cNvSpPr/>
          <p:nvPr/>
        </p:nvSpPr>
        <p:spPr>
          <a:xfrm>
            <a:off x="1788160" y="50800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Anomalie</a:t>
            </a:r>
          </a:p>
        </p:txBody>
      </p:sp>
      <p:sp>
        <p:nvSpPr>
          <p:cNvPr id="32" name="Rectangle 31"/>
          <p:cNvSpPr/>
          <p:nvPr/>
        </p:nvSpPr>
        <p:spPr>
          <a:xfrm>
            <a:off x="3439160" y="50800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33" name="Rectangle 32"/>
          <p:cNvSpPr/>
          <p:nvPr/>
        </p:nvSpPr>
        <p:spPr>
          <a:xfrm>
            <a:off x="4836160" y="50800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Verfahren, das schlechter ist als eine Zeile Fachwissen, ist an der Aufgabenstellung gescheitert</a:t>
            </a:r>
          </a:p>
        </p:txBody>
      </p:sp>
      <p:sp>
        <p:nvSpPr>
          <p:cNvPr id="34" name="Rectangle 3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6" name="Rectangle 3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8" name="Rectangle 3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40" name="Rectangle 3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2" name="Rectangle 4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44" name="Rectangle 4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Zuordnung als Bild</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Welcher Fall beleuchtet welche Phase? Diese Zuordnung ist der Grund für den Aufbau des Decks.</a:t>
            </a:r>
          </a:p>
        </p:txBody>
      </p:sp>
      <p:sp>
        <p:nvSpPr>
          <p:cNvPr id="6" name="Rectangle 5"/>
          <p:cNvSpPr/>
          <p:nvPr/>
        </p:nvSpPr>
        <p:spPr>
          <a:xfrm>
            <a:off x="1051560" y="2191191"/>
            <a:ext cx="11677650" cy="3110617"/>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faelle.png"/>
          <p:cNvPicPr>
            <a:picLocks noChangeAspect="1"/>
          </p:cNvPicPr>
          <p:nvPr/>
        </p:nvPicPr>
        <p:blipFill>
          <a:blip r:embed="rId2"/>
          <a:stretch>
            <a:fillRect/>
          </a:stretch>
        </p:blipFill>
        <p:spPr>
          <a:xfrm>
            <a:off x="1153160" y="2292791"/>
            <a:ext cx="11474450" cy="2907417"/>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Fall 1 — Regression: der volle Durchlauf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die Fahrt zu diesem Ziel — und wann sagt die App besser gar nichts?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Einwand, mit dem dieses Notebook anfängt</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naheliegende Idee: Beim Entsperren schätzt ein Modell die Fahrtdauer, das Tarifblatt macht daraus einen Preis. Diese Idee hat einen Fehler — und zwar keinen technischen.</a:t>
            </a:r>
          </a:p>
        </p:txBody>
      </p:sp>
      <p:sp>
        <p:nvSpPr>
          <p:cNvPr id="6" name="Rectangle 5"/>
          <p:cNvSpPr/>
          <p:nvPr/>
        </p:nvSpPr>
        <p:spPr>
          <a:xfrm>
            <a:off x="1153160" y="1879600"/>
            <a:ext cx="5524500"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Die naheliegende Idee</a:t>
            </a:r>
          </a:p>
        </p:txBody>
      </p:sp>
      <p:sp>
        <p:nvSpPr>
          <p:cNvPr id="9" name="TextBox 8"/>
          <p:cNvSpPr txBox="1"/>
          <p:nvPr/>
        </p:nvSpPr>
        <p:spPr>
          <a:xfrm>
            <a:off x="1330960" y="2387600"/>
            <a:ext cx="5194300" cy="1981200"/>
          </a:xfrm>
          <a:prstGeom prst="rect">
            <a:avLst/>
          </a:prstGeom>
          <a:noFill/>
        </p:spPr>
        <p:txBody>
          <a:bodyPr wrap="square" lIns="0" tIns="0" rIns="0" bIns="0">
            <a:spAutoFit/>
          </a:bodyPr>
          <a:lstStyle/>
          <a:p>
            <a:pPr algn="l">
              <a:lnSpc>
                <a:spcPct val="95000"/>
              </a:lnSpc>
            </a:pPr>
            <a:r>
              <a:rPr sz="1400" b="1">
                <a:solidFill>
                  <a:srgbClr val="A32638"/>
                </a:solidFill>
              </a:rPr>
              <a:t>Schätzen beim Entsperren</a:t>
            </a:r>
          </a:p>
          <a:p>
            <a:pPr algn="l">
              <a:lnSpc>
                <a:spcPct val="95000"/>
              </a:lnSpc>
              <a:spcBef>
                <a:spcPts val="300"/>
              </a:spcBef>
            </a:pPr>
            <a:r>
              <a:rPr sz="1300" b="0">
                <a:solidFill>
                  <a:srgbClr val="404040"/>
                </a:solidFill>
              </a:rPr>
              <a:t>Das Modell kennt Startstation,</a:t>
            </a:r>
          </a:p>
          <a:p>
            <a:pPr algn="l">
              <a:lnSpc>
                <a:spcPct val="95000"/>
              </a:lnSpc>
              <a:spcBef>
                <a:spcPts val="300"/>
              </a:spcBef>
            </a:pPr>
            <a:r>
              <a:rPr sz="1300" b="0">
                <a:solidFill>
                  <a:srgbClr val="404040"/>
                </a:solidFill>
              </a:rPr>
              <a:t>Uhrzeit und Wochentag.</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Damit kann es zwei Fahrten nicht</a:t>
            </a:r>
          </a:p>
          <a:p>
            <a:pPr algn="l">
              <a:lnSpc>
                <a:spcPct val="95000"/>
              </a:lnSpc>
              <a:spcBef>
                <a:spcPts val="300"/>
              </a:spcBef>
            </a:pPr>
            <a:r>
              <a:rPr sz="1300" b="0">
                <a:solidFill>
                  <a:srgbClr val="404040"/>
                </a:solidFill>
              </a:rPr>
              <a:t>unterscheiden, die gleich beginnen:</a:t>
            </a:r>
          </a:p>
          <a:p>
            <a:pPr algn="l">
              <a:lnSpc>
                <a:spcPct val="95000"/>
              </a:lnSpc>
              <a:spcBef>
                <a:spcPts val="300"/>
              </a:spcBef>
            </a:pPr>
            <a:r>
              <a:rPr sz="1300" b="0">
                <a:solidFill>
                  <a:srgbClr val="404040"/>
                </a:solidFill>
              </a:rPr>
              <a:t>acht Minuten zum Bahnhof gegen</a:t>
            </a:r>
          </a:p>
          <a:p>
            <a:pPr algn="l">
              <a:lnSpc>
                <a:spcPct val="95000"/>
              </a:lnSpc>
              <a:spcBef>
                <a:spcPts val="300"/>
              </a:spcBef>
            </a:pPr>
            <a:r>
              <a:rPr sz="1300" b="0">
                <a:solidFill>
                  <a:srgbClr val="404040"/>
                </a:solidFill>
              </a:rPr>
              <a:t>neunzig Minuten am Main entlang.</a:t>
            </a:r>
          </a:p>
        </p:txBody>
      </p:sp>
      <p:sp>
        <p:nvSpPr>
          <p:cNvPr id="10" name="Rectangle 9"/>
          <p:cNvSpPr/>
          <p:nvPr/>
        </p:nvSpPr>
        <p:spPr>
          <a:xfrm>
            <a:off x="7096759" y="1879600"/>
            <a:ext cx="5524500"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Einwand</a:t>
            </a:r>
          </a:p>
        </p:txBody>
      </p:sp>
      <p:sp>
        <p:nvSpPr>
          <p:cNvPr id="13" name="TextBox 12"/>
          <p:cNvSpPr txBox="1"/>
          <p:nvPr/>
        </p:nvSpPr>
        <p:spPr>
          <a:xfrm>
            <a:off x="7274559" y="2387600"/>
            <a:ext cx="5194300" cy="1981200"/>
          </a:xfrm>
          <a:prstGeom prst="rect">
            <a:avLst/>
          </a:prstGeom>
          <a:noFill/>
        </p:spPr>
        <p:txBody>
          <a:bodyPr wrap="square" lIns="0" tIns="0" rIns="0" bIns="0">
            <a:spAutoFit/>
          </a:bodyPr>
          <a:lstStyle/>
          <a:p>
            <a:pPr algn="l">
              <a:lnSpc>
                <a:spcPct val="95000"/>
              </a:lnSpc>
            </a:pPr>
            <a:r>
              <a:rPr sz="1400" b="1">
                <a:solidFill>
                  <a:srgbClr val="55801C"/>
                </a:solidFill>
              </a:rPr>
              <a:t>Der Nutzer weiß es besser</a:t>
            </a:r>
          </a:p>
          <a:p>
            <a:pPr algn="l">
              <a:lnSpc>
                <a:spcPct val="95000"/>
              </a:lnSpc>
              <a:spcBef>
                <a:spcPts val="300"/>
              </a:spcBef>
            </a:pPr>
            <a:r>
              <a:rPr sz="1300" b="0">
                <a:solidFill>
                  <a:srgbClr val="404040"/>
                </a:solidFill>
              </a:rPr>
              <a:t>Er kennt sein Ziel.</a:t>
            </a:r>
          </a:p>
          <a:p>
            <a:pPr algn="l">
              <a:lnSpc>
                <a:spcPct val="95000"/>
              </a:lnSpc>
              <a:spcBef>
                <a:spcPts val="300"/>
              </a:spcBef>
            </a:pPr>
            <a:r>
              <a:rPr sz="1300" b="0">
                <a:solidFill>
                  <a:srgbClr val="404040"/>
                </a:solidFill>
              </a:rPr>
              <a:t>Er weiß, ob er es eilig hat.</a:t>
            </a:r>
          </a:p>
          <a:p>
            <a:pPr algn="l">
              <a:lnSpc>
                <a:spcPct val="95000"/>
              </a:lnSpc>
              <a:spcBef>
                <a:spcPts val="300"/>
              </a:spcBef>
            </a:pPr>
            <a:r>
              <a:rPr sz="1300" b="0">
                <a:solidFill>
                  <a:srgbClr val="404040"/>
                </a:solidFill>
              </a:rPr>
              <a:t>Er weiß, ob er unterwegs anhält.</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Wozu soll ein Modell etwas</a:t>
            </a:r>
          </a:p>
          <a:p>
            <a:pPr algn="l">
              <a:lnSpc>
                <a:spcPct val="95000"/>
              </a:lnSpc>
              <a:spcBef>
                <a:spcPts val="300"/>
              </a:spcBef>
            </a:pPr>
            <a:r>
              <a:rPr sz="1300" b="0">
                <a:solidFill>
                  <a:srgbClr val="404040"/>
                </a:solidFill>
              </a:rPr>
              <a:t>vorhersagen, das der Mensch</a:t>
            </a:r>
          </a:p>
          <a:p>
            <a:pPr algn="l">
              <a:lnSpc>
                <a:spcPct val="95000"/>
              </a:lnSpc>
              <a:spcBef>
                <a:spcPts val="300"/>
              </a:spcBef>
            </a:pPr>
            <a:r>
              <a:rPr sz="1300" b="0">
                <a:solidFill>
                  <a:srgbClr val="404040"/>
                </a:solidFill>
              </a:rPr>
              <a:t>davor längst weiß?</a:t>
            </a:r>
          </a:p>
        </p:txBody>
      </p:sp>
      <p:sp>
        <p:nvSpPr>
          <p:cNvPr id="14" name="Rectangle 1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Nicht das Verfahren ändern — den Prozess</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Problem ist keins des Verfahrens, sondern eines der Information. Fehlende Information holt man nicht durch mehr Rechenleistung herein, sondern indem man fragt.</a:t>
            </a:r>
          </a:p>
        </p:txBody>
      </p:sp>
      <p:sp>
        <p:nvSpPr>
          <p:cNvPr id="6" name="Rounded Rectangle 5"/>
          <p:cNvSpPr/>
          <p:nvPr/>
        </p:nvSpPr>
        <p:spPr>
          <a:xfrm>
            <a:off x="1153160" y="1955800"/>
            <a:ext cx="1651000" cy="1066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App an der
Station</a:t>
            </a:r>
          </a:p>
        </p:txBody>
      </p:sp>
      <p:sp>
        <p:nvSpPr>
          <p:cNvPr id="7" name="Pentagon 6"/>
          <p:cNvSpPr/>
          <p:nvPr/>
        </p:nvSpPr>
        <p:spPr>
          <a:xfrm>
            <a:off x="2880360" y="1955800"/>
            <a:ext cx="2622550"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Ziel auf der
Karte wählen</a:t>
            </a:r>
          </a:p>
        </p:txBody>
      </p:sp>
      <p:sp>
        <p:nvSpPr>
          <p:cNvPr id="8" name="Pentagon 7"/>
          <p:cNvSpPr/>
          <p:nvPr/>
        </p:nvSpPr>
        <p:spPr>
          <a:xfrm>
            <a:off x="5579110" y="1955800"/>
            <a:ext cx="2622550"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„Preis
schätzen“</a:t>
            </a:r>
          </a:p>
        </p:txBody>
      </p:sp>
      <p:sp>
        <p:nvSpPr>
          <p:cNvPr id="9" name="Pentagon 8"/>
          <p:cNvSpPr/>
          <p:nvPr/>
        </p:nvSpPr>
        <p:spPr>
          <a:xfrm>
            <a:off x="8277859" y="1955800"/>
            <a:ext cx="2622550"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Spanne wird
angezeigt</a:t>
            </a:r>
          </a:p>
        </p:txBody>
      </p:sp>
      <p:sp>
        <p:nvSpPr>
          <p:cNvPr id="10" name="Rounded Rectangle 9"/>
          <p:cNvSpPr/>
          <p:nvPr/>
        </p:nvSpPr>
        <p:spPr>
          <a:xfrm>
            <a:off x="10976610" y="1955800"/>
            <a:ext cx="1651000" cy="10668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Kunde
entscheidet</a:t>
            </a:r>
          </a:p>
        </p:txBody>
      </p:sp>
      <p:sp>
        <p:nvSpPr>
          <p:cNvPr id="11" name="Rectangle 10"/>
          <p:cNvSpPr/>
          <p:nvPr/>
        </p:nvSpPr>
        <p:spPr>
          <a:xfrm>
            <a:off x="1153160" y="3225800"/>
            <a:ext cx="11474450" cy="15875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225800"/>
            <a:ext cx="50800" cy="15875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3352800"/>
            <a:ext cx="11093450" cy="1333500"/>
          </a:xfrm>
          <a:prstGeom prst="rect">
            <a:avLst/>
          </a:prstGeom>
          <a:noFill/>
        </p:spPr>
        <p:txBody>
          <a:bodyPr wrap="square" lIns="0" tIns="0" rIns="0" bIns="0">
            <a:spAutoFit/>
          </a:bodyPr>
          <a:lstStyle/>
          <a:p>
            <a:pPr algn="l">
              <a:lnSpc>
                <a:spcPct val="95000"/>
              </a:lnSpc>
            </a:pPr>
            <a:r>
              <a:rPr sz="1500" b="1">
                <a:solidFill>
                  <a:srgbClr val="003E6E"/>
                </a:solidFill>
              </a:rPr>
              <a:t>Und daraus folgt die Einsicht, die das ganze Notebook trägt</a:t>
            </a:r>
          </a:p>
          <a:p>
            <a:pPr algn="l">
              <a:lnSpc>
                <a:spcPct val="95000"/>
              </a:lnSpc>
              <a:spcBef>
                <a:spcPts val="500"/>
              </a:spcBef>
            </a:pPr>
            <a:r>
              <a:rPr sz="1300" b="0">
                <a:solidFill>
                  <a:srgbClr val="404040"/>
                </a:solidFill>
              </a:rPr>
              <a:t>Ob ein Merkmal verwendet werden darf, entscheidet nicht sein Spaltenname, sondern der Zeitpunkt, zu dem es im Prozess entsteht.</a:t>
            </a:r>
          </a:p>
          <a:p>
            <a:pPr algn="l">
              <a:lnSpc>
                <a:spcPct val="95000"/>
              </a:lnSpc>
              <a:spcBef>
                <a:spcPts val="500"/>
              </a:spcBef>
            </a:pPr>
            <a:r>
              <a:rPr sz="1300" b="0">
                <a:solidFill>
                  <a:srgbClr val="404040"/>
                </a:solidFill>
              </a:rPr>
              <a:t>Die Zielstation war im alten Entwurf verboten. Im neuen ist sie erlaubt — nicht, weil sich die Daten geändert hätten, sondern weil der Kunde sie jetzt vorher eingibt.</a:t>
            </a:r>
          </a:p>
          <a:p>
            <a:pPr algn="l">
              <a:lnSpc>
                <a:spcPct val="95000"/>
              </a:lnSpc>
              <a:spcBef>
                <a:spcPts val="500"/>
              </a:spcBef>
            </a:pPr>
            <a:r>
              <a:rPr sz="1300" b="0">
                <a:solidFill>
                  <a:srgbClr val="404040"/>
                </a:solidFill>
              </a:rPr>
              <a:t>Ändert man den Prozess, ändert sich die Antwort auf die Frage, was Leakage ist.</a:t>
            </a:r>
          </a:p>
        </p:txBody>
      </p:sp>
      <p:sp>
        <p:nvSpPr>
          <p:cNvPr id="14" name="Rectangle 1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Annahme, auf der alles Weitere ruht</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Prozess, den wir künftig ändern, macht eine historische Ergebnisspalte nicht rückwirkend zu einer Eingabe. Das muss auf den Tisch, bevor irgendeine Zahl fällt.</a:t>
            </a:r>
          </a:p>
        </p:txBody>
      </p:sp>
      <p:sp>
        <p:nvSpPr>
          <p:cNvPr id="6" name="Rectangle 5"/>
          <p:cNvSpPr/>
          <p:nvPr/>
        </p:nvSpPr>
        <p:spPr>
          <a:xfrm>
            <a:off x="115316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Worauf trainiert wird</a:t>
            </a:r>
          </a:p>
          <a:p>
            <a:pPr algn="l">
              <a:lnSpc>
                <a:spcPct val="95000"/>
              </a:lnSpc>
              <a:spcBef>
                <a:spcPts val="500"/>
              </a:spcBef>
            </a:pPr>
            <a:r>
              <a:rPr sz="1300" b="0">
                <a:solidFill>
                  <a:srgbClr val="404040"/>
                </a:solidFill>
              </a:rPr>
              <a:t>end_station_id — die Station,</a:t>
            </a:r>
          </a:p>
          <a:p>
            <a:pPr algn="l">
              <a:lnSpc>
                <a:spcPct val="95000"/>
              </a:lnSpc>
              <a:spcBef>
                <a:spcPts val="500"/>
              </a:spcBef>
            </a:pPr>
            <a:r>
              <a:rPr sz="1300" b="0">
                <a:solidFill>
                  <a:srgbClr val="404040"/>
                </a:solidFill>
              </a:rPr>
              <a:t>an der die Fahrt tatsächlich</a:t>
            </a:r>
          </a:p>
          <a:p>
            <a:pPr algn="l">
              <a:lnSpc>
                <a:spcPct val="95000"/>
              </a:lnSpc>
              <a:spcBef>
                <a:spcPts val="500"/>
              </a:spcBef>
            </a:pPr>
            <a:r>
              <a:rPr sz="1300" b="0">
                <a:solidFill>
                  <a:srgbClr val="404040"/>
                </a:solidFill>
              </a:rPr>
              <a:t>geendet hat.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steht so in den</a:t>
            </a:r>
          </a:p>
          <a:p>
            <a:pPr algn="l">
              <a:lnSpc>
                <a:spcPct val="95000"/>
              </a:lnSpc>
              <a:spcBef>
                <a:spcPts val="500"/>
              </a:spcBef>
            </a:pPr>
            <a:r>
              <a:rPr sz="1300" b="0">
                <a:solidFill>
                  <a:srgbClr val="404040"/>
                </a:solidFill>
              </a:rPr>
              <a:t>historischen Daten.</a:t>
            </a:r>
          </a:p>
        </p:txBody>
      </p:sp>
      <p:sp>
        <p:nvSpPr>
          <p:cNvPr id="9" name="Rectangle 8"/>
          <p:cNvSpPr/>
          <p:nvPr/>
        </p:nvSpPr>
        <p:spPr>
          <a:xfrm>
            <a:off x="511302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Was im Betrieb ankommt</a:t>
            </a:r>
          </a:p>
          <a:p>
            <a:pPr algn="l">
              <a:lnSpc>
                <a:spcPct val="95000"/>
              </a:lnSpc>
              <a:spcBef>
                <a:spcPts val="500"/>
              </a:spcBef>
            </a:pPr>
            <a:r>
              <a:rPr sz="1300" b="0">
                <a:solidFill>
                  <a:srgbClr val="404040"/>
                </a:solidFill>
              </a:rPr>
              <a:t>Die Station, die der Kunde</a:t>
            </a:r>
          </a:p>
          <a:p>
            <a:pPr algn="l">
              <a:lnSpc>
                <a:spcPct val="95000"/>
              </a:lnSpc>
              <a:spcBef>
                <a:spcPts val="500"/>
              </a:spcBef>
            </a:pPr>
            <a:r>
              <a:rPr sz="1300" b="0">
                <a:solidFill>
                  <a:srgbClr val="404040"/>
                </a:solidFill>
              </a:rPr>
              <a:t>vorher gewählt hat.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Beide fallen auseinander,</a:t>
            </a:r>
          </a:p>
          <a:p>
            <a:pPr algn="l">
              <a:lnSpc>
                <a:spcPct val="95000"/>
              </a:lnSpc>
              <a:spcBef>
                <a:spcPts val="500"/>
              </a:spcBef>
            </a:pPr>
            <a:r>
              <a:rPr sz="1300" b="0">
                <a:solidFill>
                  <a:srgbClr val="404040"/>
                </a:solidFill>
              </a:rPr>
              <a:t>wenn jemand umplant oder</a:t>
            </a:r>
          </a:p>
          <a:p>
            <a:pPr algn="l">
              <a:lnSpc>
                <a:spcPct val="95000"/>
              </a:lnSpc>
              <a:spcBef>
                <a:spcPts val="500"/>
              </a:spcBef>
            </a:pPr>
            <a:r>
              <a:rPr sz="1300" b="0">
                <a:solidFill>
                  <a:srgbClr val="404040"/>
                </a:solidFill>
              </a:rPr>
              <a:t>die Zielstation voll ist.</a:t>
            </a:r>
          </a:p>
        </p:txBody>
      </p:sp>
      <p:sp>
        <p:nvSpPr>
          <p:cNvPr id="12" name="Rectangle 11"/>
          <p:cNvSpPr/>
          <p:nvPr/>
        </p:nvSpPr>
        <p:spPr>
          <a:xfrm>
            <a:off x="908177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Was daraus folgt</a:t>
            </a:r>
          </a:p>
          <a:p>
            <a:pPr algn="l">
              <a:lnSpc>
                <a:spcPct val="95000"/>
              </a:lnSpc>
              <a:spcBef>
                <a:spcPts val="500"/>
              </a:spcBef>
            </a:pPr>
            <a:r>
              <a:rPr sz="1300" b="0">
                <a:solidFill>
                  <a:srgbClr val="404040"/>
                </a:solidFill>
              </a:rPr>
              <a:t>Das tatsächliche Ziel ist ein</a:t>
            </a:r>
          </a:p>
          <a:p>
            <a:pPr algn="l">
              <a:lnSpc>
                <a:spcPct val="95000"/>
              </a:lnSpc>
              <a:spcBef>
                <a:spcPts val="500"/>
              </a:spcBef>
            </a:pPr>
            <a:r>
              <a:rPr sz="1300" b="0">
                <a:solidFill>
                  <a:srgbClr val="404040"/>
                </a:solidFill>
              </a:rPr>
              <a:t>unvalidierter Stellvertreter</a:t>
            </a:r>
          </a:p>
          <a:p>
            <a:pPr algn="l">
              <a:lnSpc>
                <a:spcPct val="95000"/>
              </a:lnSpc>
              <a:spcBef>
                <a:spcPts val="500"/>
              </a:spcBef>
            </a:pPr>
            <a:r>
              <a:rPr sz="1300" b="0">
                <a:solidFill>
                  <a:srgbClr val="404040"/>
                </a:solidFill>
              </a:rPr>
              <a:t>für das geplante.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Jede Zahl in diesem Notebook</a:t>
            </a:r>
          </a:p>
          <a:p>
            <a:pPr algn="l">
              <a:lnSpc>
                <a:spcPct val="95000"/>
              </a:lnSpc>
              <a:spcBef>
                <a:spcPts val="500"/>
              </a:spcBef>
            </a:pPr>
            <a:r>
              <a:rPr sz="1300" b="0">
                <a:solidFill>
                  <a:srgbClr val="404040"/>
                </a:solidFill>
              </a:rPr>
              <a:t>ist deshalb eine Obergrenze.</a:t>
            </a:r>
          </a:p>
        </p:txBody>
      </p:sp>
      <p:sp>
        <p:nvSpPr>
          <p:cNvPr id="15" name="Rectangle 14"/>
          <p:cNvSpPr/>
          <p:nvPr/>
        </p:nvSpPr>
        <p:spPr>
          <a:xfrm>
            <a:off x="1153160" y="4368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445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lässt sich diese Annahme erst, wenn die App das geplante Ziel speichert. Bis dahin steht sie als Vorbehalt im Notebook — nicht in einer Fußnote am Ende.</a:t>
            </a:r>
          </a:p>
        </p:txBody>
      </p:sp>
      <p:sp>
        <p:nvSpPr>
          <p:cNvPr id="17" name="Rectangle 16"/>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Bevor wir loslaufen: wohin die Reise geht. Das Urteil steht hier schon — interessant ist der Weg dorthin.</a:t>
            </a:r>
          </a:p>
        </p:txBody>
      </p:sp>
      <p:sp>
        <p:nvSpPr>
          <p:cNvPr id="6" name="Rectangle 5"/>
          <p:cNvSpPr/>
          <p:nvPr/>
        </p:nvSpPr>
        <p:spPr>
          <a:xfrm>
            <a:off x="1153160" y="16510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407160" y="1752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9" name="TextBox 8"/>
          <p:cNvSpPr txBox="1"/>
          <p:nvPr/>
        </p:nvSpPr>
        <p:spPr>
          <a:xfrm>
            <a:off x="3820160" y="1752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Kann die App den Preis nennen, nachdem der Kunde sein Ziel gewählt hat?</a:t>
            </a:r>
          </a:p>
        </p:txBody>
      </p:sp>
      <p:sp>
        <p:nvSpPr>
          <p:cNvPr id="10" name="TextBox 9"/>
          <p:cNvSpPr txBox="1"/>
          <p:nvPr/>
        </p:nvSpPr>
        <p:spPr>
          <a:xfrm>
            <a:off x="1407160" y="2184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1" name="TextBox 10"/>
          <p:cNvSpPr txBox="1"/>
          <p:nvPr/>
        </p:nvSpPr>
        <p:spPr>
          <a:xfrm>
            <a:off x="3820160" y="2184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Die Dauer in Minuten schätzen — der Preis folgt daraus über das Tarifblatt</a:t>
            </a:r>
          </a:p>
        </p:txBody>
      </p:sp>
      <p:sp>
        <p:nvSpPr>
          <p:cNvPr id="12" name="TextBox 11"/>
          <p:cNvSpPr txBox="1"/>
          <p:nvPr/>
        </p:nvSpPr>
        <p:spPr>
          <a:xfrm>
            <a:off x="1407160" y="2616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3" name="TextBox 12"/>
          <p:cNvSpPr txBox="1"/>
          <p:nvPr/>
        </p:nvSpPr>
        <p:spPr>
          <a:xfrm>
            <a:off x="3820160" y="2616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Preisfehler unter 50 Cent, festgelegt vor dem ersten Blick in die Daten</a:t>
            </a:r>
          </a:p>
        </p:txBody>
      </p:sp>
      <p:sp>
        <p:nvSpPr>
          <p:cNvPr id="14" name="TextBox 13"/>
          <p:cNvSpPr txBox="1"/>
          <p:nvPr/>
        </p:nvSpPr>
        <p:spPr>
          <a:xfrm>
            <a:off x="1407160" y="3048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Daten</a:t>
            </a:r>
          </a:p>
        </p:txBody>
      </p:sp>
      <p:sp>
        <p:nvSpPr>
          <p:cNvPr id="15" name="TextBox 14"/>
          <p:cNvSpPr txBox="1"/>
          <p:nvPr/>
        </p:nvSpPr>
        <p:spPr>
          <a:xfrm>
            <a:off x="3820160" y="3048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60.425 Vorgänge aus drei Jahren, davon 47.054 im Geltungsbereich</a:t>
            </a:r>
          </a:p>
        </p:txBody>
      </p:sp>
      <p:sp>
        <p:nvSpPr>
          <p:cNvPr id="16" name="TextBox 15"/>
          <p:cNvSpPr txBox="1"/>
          <p:nvPr/>
        </p:nvSpPr>
        <p:spPr>
          <a:xfrm>
            <a:off x="1407160" y="3479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7" name="TextBox 16"/>
          <p:cNvSpPr txBox="1"/>
          <p:nvPr/>
        </p:nvSpPr>
        <p:spPr>
          <a:xfrm>
            <a:off x="3820160" y="3479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Vier Baselines, dann lineare Regression, Baum, Random Forest</a:t>
            </a:r>
          </a:p>
        </p:txBody>
      </p:sp>
      <p:sp>
        <p:nvSpPr>
          <p:cNvPr id="18" name="TextBox 17"/>
          <p:cNvSpPr txBox="1"/>
          <p:nvPr/>
        </p:nvSpPr>
        <p:spPr>
          <a:xfrm>
            <a:off x="1407160" y="3911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9" name="TextBox 18"/>
          <p:cNvSpPr txBox="1"/>
          <p:nvPr/>
        </p:nvSpPr>
        <p:spPr>
          <a:xfrm>
            <a:off x="3820160" y="3911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CITY hält die Grenze — und wir springen trotzdem zurück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Wunsch zur Zahl</a:t>
            </a:r>
          </a:p>
        </p:txBody>
      </p:sp>
      <p:sp>
        <p:nvSpPr>
          <p:cNvPr id="3" name="Text Placeholder 2"/>
          <p:cNvSpPr>
            <a:spLocks noGrp="1"/>
          </p:cNvSpPr>
          <p:nvPr>
            <p:ph type="body" idx="12" sz="quarter"/>
          </p:nvPr>
        </p:nvSpPr>
        <p:spPr/>
        <p:txBody>
          <a:bodyPr/>
          <a:lstStyle/>
          <a:p>
            <a:r>
              <a:t>Phase 1 · Business Understanding</a:t>
            </a:r>
          </a:p>
        </p:txBody>
      </p:sp>
      <p:sp>
        <p:nvSpPr>
          <p:cNvPr id="4" name="Text Placeholder 3"/>
          <p:cNvSpPr>
            <a:spLocks noGrp="1"/>
          </p:cNvSpPr>
          <p:nvPr>
            <p:ph type="body" idx="13" sz="quarter"/>
          </p:nvPr>
        </p:nvSpPr>
        <p:spPr/>
        <p:txBody>
          <a:bodyPr/>
          <a:lstStyle/>
          <a:p>
            <a:r>
              <a:t>analytics/notebooks/01_Regression_Fahrtdauer.ipynb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Kunde soll wissen, was es kostet.“ Das ist ein Wunsch, kein Auftrag. Aus ihm wird in drei Schritten etwas Messbares.</a:t>
            </a:r>
          </a:p>
        </p:txBody>
      </p:sp>
      <p:sp>
        <p:nvSpPr>
          <p:cNvPr id="6" name="Rectangle 5"/>
          <p:cNvSpPr/>
          <p:nvPr/>
        </p:nvSpPr>
        <p:spPr>
          <a:xfrm>
            <a:off x="1153160" y="18796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019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Geschäftsziel  </a:t>
            </a:r>
            <a:r>
              <a:rPr sz="1300">
                <a:solidFill>
                  <a:srgbClr val="404040"/>
                </a:solidFill>
              </a:rPr>
              <a:t>Nach der Zielwahl steht eine Preisangabe auf dem Bildschirm</a:t>
            </a:r>
          </a:p>
        </p:txBody>
      </p:sp>
      <p:sp>
        <p:nvSpPr>
          <p:cNvPr id="10" name="Rectangle 9"/>
          <p:cNvSpPr/>
          <p:nvPr/>
        </p:nvSpPr>
        <p:spPr>
          <a:xfrm>
            <a:off x="1153160" y="26035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6035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743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6797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Analytisches Ziel  </a:t>
            </a:r>
            <a:r>
              <a:rPr sz="1300">
                <a:solidFill>
                  <a:srgbClr val="404040"/>
                </a:solidFill>
              </a:rPr>
              <a:t>Geschätzt wird die DAUER, nicht der Preis</a:t>
            </a:r>
          </a:p>
        </p:txBody>
      </p:sp>
      <p:sp>
        <p:nvSpPr>
          <p:cNvPr id="14" name="Rectangle 13"/>
          <p:cNvSpPr/>
          <p:nvPr/>
        </p:nvSpPr>
        <p:spPr>
          <a:xfrm>
            <a:off x="1153160" y="3327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3274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67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4036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Erfolgskriterium  </a:t>
            </a:r>
            <a:r>
              <a:rPr sz="1300">
                <a:solidFill>
                  <a:srgbClr val="404040"/>
                </a:solidFill>
              </a:rPr>
              <a:t>Die Angabe liegt im Mittel unter 50 Cent daneben — die Grenze kommt aus dem Produktmanagement</a:t>
            </a:r>
          </a:p>
        </p:txBody>
      </p:sp>
      <p:sp>
        <p:nvSpPr>
          <p:cNvPr id="18" name="Rectangle 17"/>
          <p:cNvSpPr/>
          <p:nvPr/>
        </p:nvSpPr>
        <p:spPr>
          <a:xfrm>
            <a:off x="1153160" y="40513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513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191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1275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Gemessen auf  </a:t>
            </a:r>
            <a:r>
              <a:rPr sz="1300">
                <a:solidFill>
                  <a:srgbClr val="404040"/>
                </a:solidFill>
              </a:rPr>
              <a:t>einem Zeitraum, den das Modell beim Training nie gesehen hat</a:t>
            </a:r>
          </a:p>
        </p:txBody>
      </p:sp>
      <p:sp>
        <p:nvSpPr>
          <p:cNvPr id="22" name="Rectangle 21"/>
          <p:cNvSpPr/>
          <p:nvPr/>
        </p:nvSpPr>
        <p:spPr>
          <a:xfrm>
            <a:off x="1153160" y="48387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9149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Man schätzt nie, was man ausrechnen kann. Das Tarifblatt ist exakt bekannt — es zu schätzen wäre ein zusätzlicher Fehler ohne jeden Gegenwert.</a:t>
            </a:r>
          </a:p>
        </p:txBody>
      </p:sp>
      <p:sp>
        <p:nvSpPr>
          <p:cNvPr id="24" name="Rectangle 2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6" name="Rectangle 2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Geltungsbereich — was ausdrücklich nicht dazugehört</a:t>
            </a:r>
          </a:p>
        </p:txBody>
      </p:sp>
      <p:sp>
        <p:nvSpPr>
          <p:cNvPr id="3" name="Text Placeholder 2"/>
          <p:cNvSpPr>
            <a:spLocks noGrp="1"/>
          </p:cNvSpPr>
          <p:nvPr>
            <p:ph type="body" idx="12" sz="quarter"/>
          </p:nvPr>
        </p:nvSpPr>
        <p:spPr/>
        <p:txBody>
          <a:bodyPr/>
          <a:lstStyle/>
          <a:p>
            <a:r>
              <a:t>Phase 1 · Business Understanding</a:t>
            </a:r>
          </a:p>
        </p:txBody>
      </p:sp>
      <p:sp>
        <p:nvSpPr>
          <p:cNvPr id="4" name="Text Placeholder 3"/>
          <p:cNvSpPr>
            <a:spLocks noGrp="1"/>
          </p:cNvSpPr>
          <p:nvPr>
            <p:ph type="body" idx="13" sz="quarter"/>
          </p:nvPr>
        </p:nvSpPr>
        <p:spPr/>
        <p:txBody>
          <a:bodyPr/>
          <a:lstStyle/>
          <a:p>
            <a:r>
              <a:t>analytics/notebooks/01_Regression_Fahrtdauer.ipynb · Abschnitt 1</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Drei Einschränkungen, und die dritte ist eine Setzung. Der Unterschied gehört benannt, nicht versteckt.</a:t>
            </a:r>
          </a:p>
        </p:txBody>
      </p:sp>
      <p:sp>
        <p:nvSpPr>
          <p:cNvPr id="6" name="Rectangle 5"/>
          <p:cNvSpPr/>
          <p:nvPr/>
        </p:nvSpPr>
        <p:spPr>
          <a:xfrm>
            <a:off x="1153160" y="1651000"/>
            <a:ext cx="279400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Einschränkung</a:t>
            </a:r>
          </a:p>
        </p:txBody>
      </p:sp>
      <p:sp>
        <p:nvSpPr>
          <p:cNvPr id="7" name="Rectangle 6"/>
          <p:cNvSpPr/>
          <p:nvPr/>
        </p:nvSpPr>
        <p:spPr>
          <a:xfrm>
            <a:off x="3947160" y="1651000"/>
            <a:ext cx="444500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8" name="Rectangle 7"/>
          <p:cNvSpPr/>
          <p:nvPr/>
        </p:nvSpPr>
        <p:spPr>
          <a:xfrm>
            <a:off x="8392160" y="1651000"/>
            <a:ext cx="423545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Belegt oder gesetzt?</a:t>
            </a:r>
          </a:p>
        </p:txBody>
      </p:sp>
      <p:sp>
        <p:nvSpPr>
          <p:cNvPr id="9" name="Rectangle 8"/>
          <p:cNvSpPr/>
          <p:nvPr/>
        </p:nvSpPr>
        <p:spPr>
          <a:xfrm>
            <a:off x="1153160" y="2387600"/>
            <a:ext cx="2794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Nur abgeschlossene Fahrten</a:t>
            </a:r>
          </a:p>
        </p:txBody>
      </p:sp>
      <p:sp>
        <p:nvSpPr>
          <p:cNvPr id="10" name="Rectangle 9"/>
          <p:cNvSpPr/>
          <p:nvPr/>
        </p:nvSpPr>
        <p:spPr>
          <a:xfrm>
            <a:off x="3947160" y="2387600"/>
            <a:ext cx="4445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Abbrüche und Stornierungen sind keine Fahrten</a:t>
            </a:r>
          </a:p>
        </p:txBody>
      </p:sp>
      <p:sp>
        <p:nvSpPr>
          <p:cNvPr id="11" name="Rectangle 10"/>
          <p:cNvSpPr/>
          <p:nvPr/>
        </p:nvSpPr>
        <p:spPr>
          <a:xfrm>
            <a:off x="8392160" y="2387600"/>
            <a:ext cx="423545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belegt — sie dauern zwei Minuten</a:t>
            </a:r>
          </a:p>
        </p:txBody>
      </p:sp>
      <p:sp>
        <p:nvSpPr>
          <p:cNvPr id="12" name="Rectangle 11"/>
          <p:cNvSpPr/>
          <p:nvPr/>
        </p:nvSpPr>
        <p:spPr>
          <a:xfrm>
            <a:off x="1153160" y="3124200"/>
            <a:ext cx="279400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Nur Station zu Station</a:t>
            </a:r>
          </a:p>
        </p:txBody>
      </p:sp>
      <p:sp>
        <p:nvSpPr>
          <p:cNvPr id="13" name="Rectangle 12"/>
          <p:cNvSpPr/>
          <p:nvPr/>
        </p:nvSpPr>
        <p:spPr>
          <a:xfrm>
            <a:off x="3947160" y="3124200"/>
            <a:ext cx="444500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frei im Gebiet abstellt, hat kein Ziel gewählt</a:t>
            </a:r>
          </a:p>
        </p:txBody>
      </p:sp>
      <p:sp>
        <p:nvSpPr>
          <p:cNvPr id="14" name="Rectangle 13"/>
          <p:cNvSpPr/>
          <p:nvPr/>
        </p:nvSpPr>
        <p:spPr>
          <a:xfrm>
            <a:off x="8392160" y="3124200"/>
            <a:ext cx="423545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belegt — betrifft ein Fünftel</a:t>
            </a:r>
          </a:p>
        </p:txBody>
      </p:sp>
      <p:sp>
        <p:nvSpPr>
          <p:cNvPr id="15" name="Rectangle 14"/>
          <p:cNvSpPr/>
          <p:nvPr/>
        </p:nvSpPr>
        <p:spPr>
          <a:xfrm>
            <a:off x="1153160" y="3860800"/>
            <a:ext cx="2794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Nur Fahrten bis acht Stunden</a:t>
            </a:r>
          </a:p>
        </p:txBody>
      </p:sp>
      <p:sp>
        <p:nvSpPr>
          <p:cNvPr id="16" name="Rectangle 15"/>
          <p:cNvSpPr/>
          <p:nvPr/>
        </p:nvSpPr>
        <p:spPr>
          <a:xfrm>
            <a:off x="3947160" y="3860800"/>
            <a:ext cx="4445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Darüber liegt eine vergessene Rückgabe, ein eigener Geschäftsfall</a:t>
            </a:r>
          </a:p>
        </p:txBody>
      </p:sp>
      <p:sp>
        <p:nvSpPr>
          <p:cNvPr id="17" name="Rectangle 16"/>
          <p:cNvSpPr/>
          <p:nvPr/>
        </p:nvSpPr>
        <p:spPr>
          <a:xfrm>
            <a:off x="8392160" y="3860800"/>
            <a:ext cx="423545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gesetzt — es gibt keine Statusangabe, die das trennt</a:t>
            </a:r>
          </a:p>
        </p:txBody>
      </p:sp>
      <p:sp>
        <p:nvSpPr>
          <p:cNvPr id="18" name="Rectangle 17"/>
          <p:cNvSpPr/>
          <p:nvPr/>
        </p:nvSpPr>
        <p:spPr>
          <a:xfrm>
            <a:off x="1153160" y="4775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851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dritte Zeile ist die ehrlichste der Folie: Acht Stunden sind eine Verabredung, keine Messung. Sie gehört fachlich abgesichert — und bis dahin steht sie als offener Punkt im Notebook.</a:t>
            </a:r>
          </a:p>
        </p:txBody>
      </p:sp>
      <p:sp>
        <p:nvSpPr>
          <p:cNvPr id="20" name="Rectangle 19"/>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2" name="Rectangle 21"/>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4" name="Rectangle 23"/>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6" name="Rectangle 25"/>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8" name="Rectangle 27"/>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0" name="Rectangle 29"/>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Tarifblatt: drei Räder, drei Minutenpreise</a:t>
            </a:r>
          </a:p>
        </p:txBody>
      </p:sp>
      <p:sp>
        <p:nvSpPr>
          <p:cNvPr id="3" name="Text Placeholder 2"/>
          <p:cNvSpPr>
            <a:spLocks noGrp="1"/>
          </p:cNvSpPr>
          <p:nvPr>
            <p:ph type="body" idx="12" sz="quarter"/>
          </p:nvPr>
        </p:nvSpPr>
        <p:spPr/>
        <p:txBody>
          <a:bodyPr/>
          <a:lstStyle/>
          <a:p>
            <a:r>
              <a:t>Phase 1 · im Notebook</a:t>
            </a:r>
          </a:p>
        </p:txBody>
      </p:sp>
      <p:sp>
        <p:nvSpPr>
          <p:cNvPr id="4" name="Text Placeholder 3"/>
          <p:cNvSpPr>
            <a:spLocks noGrp="1"/>
          </p:cNvSpPr>
          <p:nvPr>
            <p:ph type="body" idx="13" sz="quarter"/>
          </p:nvPr>
        </p:nvSpPr>
        <p:spPr/>
        <p:txBody>
          <a:bodyPr/>
          <a:lstStyle/>
          <a:p>
            <a:r>
              <a:t>analytics/notebooks/01_Regression_Fahrtdauer.ipynb · Abschnitt 1 — Das Tarifblatt</a:t>
            </a:r>
          </a:p>
        </p:txBody>
      </p:sp>
      <p:sp>
        <p:nvSpPr>
          <p:cNvPr id="5" name="Rectangle 4"/>
          <p:cNvSpPr/>
          <p:nvPr/>
        </p:nvSpPr>
        <p:spPr>
          <a:xfrm>
            <a:off x="1825706" y="1168400"/>
            <a:ext cx="10129357"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tarif.png"/>
          <p:cNvPicPr>
            <a:picLocks noChangeAspect="1"/>
          </p:cNvPicPr>
          <p:nvPr/>
        </p:nvPicPr>
        <p:blipFill>
          <a:blip r:embed="rId2"/>
          <a:stretch>
            <a:fillRect/>
          </a:stretch>
        </p:blipFill>
        <p:spPr>
          <a:xfrm>
            <a:off x="1927306" y="1270000"/>
            <a:ext cx="9926157"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Startgebühr, Minutenpreis, Tageshöchstpreis — daraus wird später der Preis gerechnet, nicht geschätzt.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Nicht jeder Vorgang ist eine Fahrt</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analytics/notebooks/01_Regression_Fahrtdauer.ipynb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Bevor irgendetwas gerechnet wird: Was steht überhaupt in der Tabelle? Die Antwort ändert die Datenmenge um ein Fünftel.</a:t>
            </a:r>
          </a:p>
        </p:txBody>
      </p:sp>
      <p:sp>
        <p:nvSpPr>
          <p:cNvPr id="6" name="Rectangle 5"/>
          <p:cNvSpPr/>
          <p:nvPr/>
        </p:nvSpPr>
        <p:spPr>
          <a:xfrm>
            <a:off x="1153160" y="1879600"/>
            <a:ext cx="2413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Status</a:t>
            </a:r>
          </a:p>
        </p:txBody>
      </p:sp>
      <p:sp>
        <p:nvSpPr>
          <p:cNvPr id="7" name="Rectangle 6"/>
          <p:cNvSpPr/>
          <p:nvPr/>
        </p:nvSpPr>
        <p:spPr>
          <a:xfrm>
            <a:off x="3566160" y="1879600"/>
            <a:ext cx="1524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Anzahl</a:t>
            </a:r>
          </a:p>
        </p:txBody>
      </p:sp>
      <p:sp>
        <p:nvSpPr>
          <p:cNvPr id="8" name="Rectangle 7"/>
          <p:cNvSpPr/>
          <p:nvPr/>
        </p:nvSpPr>
        <p:spPr>
          <a:xfrm>
            <a:off x="5090160" y="1879600"/>
            <a:ext cx="1905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Mediandauer</a:t>
            </a:r>
          </a:p>
        </p:txBody>
      </p:sp>
      <p:sp>
        <p:nvSpPr>
          <p:cNvPr id="9" name="Rectangle 8"/>
          <p:cNvSpPr/>
          <p:nvPr/>
        </p:nvSpPr>
        <p:spPr>
          <a:xfrm>
            <a:off x="6995159" y="1879600"/>
            <a:ext cx="563245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das heißt</a:t>
            </a:r>
          </a:p>
        </p:txBody>
      </p:sp>
      <p:sp>
        <p:nvSpPr>
          <p:cNvPr id="10" name="Rectangle 9"/>
          <p:cNvSpPr/>
          <p:nvPr/>
        </p:nvSpPr>
        <p:spPr>
          <a:xfrm>
            <a:off x="1153160" y="2463800"/>
            <a:ext cx="2413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abgeschlossen</a:t>
            </a:r>
          </a:p>
        </p:txBody>
      </p:sp>
      <p:sp>
        <p:nvSpPr>
          <p:cNvPr id="11" name="Rectangle 10"/>
          <p:cNvSpPr/>
          <p:nvPr/>
        </p:nvSpPr>
        <p:spPr>
          <a:xfrm>
            <a:off x="3566160" y="2463800"/>
            <a:ext cx="1524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58.737</a:t>
            </a:r>
          </a:p>
        </p:txBody>
      </p:sp>
      <p:sp>
        <p:nvSpPr>
          <p:cNvPr id="12" name="Rectangle 11"/>
          <p:cNvSpPr/>
          <p:nvPr/>
        </p:nvSpPr>
        <p:spPr>
          <a:xfrm>
            <a:off x="5090160" y="2463800"/>
            <a:ext cx="190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 Minuten</a:t>
            </a:r>
          </a:p>
        </p:txBody>
      </p:sp>
      <p:sp>
        <p:nvSpPr>
          <p:cNvPr id="13" name="Rectangle 12"/>
          <p:cNvSpPr/>
          <p:nvPr/>
        </p:nvSpPr>
        <p:spPr>
          <a:xfrm>
            <a:off x="6995159" y="2463800"/>
            <a:ext cx="5632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sind Fahrten</a:t>
            </a:r>
          </a:p>
        </p:txBody>
      </p:sp>
      <p:sp>
        <p:nvSpPr>
          <p:cNvPr id="14" name="Rectangle 13"/>
          <p:cNvSpPr/>
          <p:nvPr/>
        </p:nvSpPr>
        <p:spPr>
          <a:xfrm>
            <a:off x="1153160" y="3048000"/>
            <a:ext cx="2413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abgebrochen</a:t>
            </a:r>
          </a:p>
        </p:txBody>
      </p:sp>
      <p:sp>
        <p:nvSpPr>
          <p:cNvPr id="15" name="Rectangle 14"/>
          <p:cNvSpPr/>
          <p:nvPr/>
        </p:nvSpPr>
        <p:spPr>
          <a:xfrm>
            <a:off x="3566160" y="3048000"/>
            <a:ext cx="1524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1.364</a:t>
            </a:r>
          </a:p>
        </p:txBody>
      </p:sp>
      <p:sp>
        <p:nvSpPr>
          <p:cNvPr id="16" name="Rectangle 15"/>
          <p:cNvSpPr/>
          <p:nvPr/>
        </p:nvSpPr>
        <p:spPr>
          <a:xfrm>
            <a:off x="5090160" y="3048000"/>
            <a:ext cx="1905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 Minuten</a:t>
            </a:r>
          </a:p>
        </p:txBody>
      </p:sp>
      <p:sp>
        <p:nvSpPr>
          <p:cNvPr id="17" name="Rectangle 16"/>
          <p:cNvSpPr/>
          <p:nvPr/>
        </p:nvSpPr>
        <p:spPr>
          <a:xfrm>
            <a:off x="6995159" y="3048000"/>
            <a:ext cx="563245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Vorgänge, die nie eine wurden</a:t>
            </a:r>
          </a:p>
        </p:txBody>
      </p:sp>
      <p:sp>
        <p:nvSpPr>
          <p:cNvPr id="18" name="Rectangle 17"/>
          <p:cNvSpPr/>
          <p:nvPr/>
        </p:nvSpPr>
        <p:spPr>
          <a:xfrm>
            <a:off x="1153160" y="3632200"/>
            <a:ext cx="2413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storniert</a:t>
            </a:r>
          </a:p>
        </p:txBody>
      </p:sp>
      <p:sp>
        <p:nvSpPr>
          <p:cNvPr id="19" name="Rectangle 18"/>
          <p:cNvSpPr/>
          <p:nvPr/>
        </p:nvSpPr>
        <p:spPr>
          <a:xfrm>
            <a:off x="3566160" y="3632200"/>
            <a:ext cx="1524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324</a:t>
            </a:r>
          </a:p>
        </p:txBody>
      </p:sp>
      <p:sp>
        <p:nvSpPr>
          <p:cNvPr id="20" name="Rectangle 19"/>
          <p:cNvSpPr/>
          <p:nvPr/>
        </p:nvSpPr>
        <p:spPr>
          <a:xfrm>
            <a:off x="5090160" y="3632200"/>
            <a:ext cx="190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 Minute</a:t>
            </a:r>
          </a:p>
        </p:txBody>
      </p:sp>
      <p:sp>
        <p:nvSpPr>
          <p:cNvPr id="21" name="Rectangle 20"/>
          <p:cNvSpPr/>
          <p:nvPr/>
        </p:nvSpPr>
        <p:spPr>
          <a:xfrm>
            <a:off x="6995159" y="3632200"/>
            <a:ext cx="5632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dito — und beide verzerren die kurzen Wege</a:t>
            </a:r>
          </a:p>
        </p:txBody>
      </p:sp>
      <p:sp>
        <p:nvSpPr>
          <p:cNvPr id="22" name="Rectangle 21"/>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Zwei Minuten sind keine Fahrt, sondern ein Fehlgriff am Schloss. Wer sie mitzählt, drückt genau die kurzen Strecken nach unten, um die es hier geht.</a:t>
            </a:r>
          </a:p>
        </p:txBody>
      </p:sp>
      <p:sp>
        <p:nvSpPr>
          <p:cNvPr id="24" name="Rectangle 2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6" name="Rectangle 2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Trichter: von 60.425 auf 47.054 Fahrten</a:t>
            </a:r>
          </a:p>
        </p:txBody>
      </p:sp>
      <p:sp>
        <p:nvSpPr>
          <p:cNvPr id="3" name="Text Placeholder 2"/>
          <p:cNvSpPr>
            <a:spLocks noGrp="1"/>
          </p:cNvSpPr>
          <p:nvPr>
            <p:ph type="body" idx="12" sz="quarter"/>
          </p:nvPr>
        </p:nvSpPr>
        <p:spPr/>
        <p:txBody>
          <a:bodyPr/>
          <a:lstStyle/>
          <a:p>
            <a:r>
              <a:t>Phase 2 · im Notebook</a:t>
            </a:r>
          </a:p>
        </p:txBody>
      </p:sp>
      <p:sp>
        <p:nvSpPr>
          <p:cNvPr id="4" name="Text Placeholder 3"/>
          <p:cNvSpPr>
            <a:spLocks noGrp="1"/>
          </p:cNvSpPr>
          <p:nvPr>
            <p:ph type="body" idx="13" sz="quarter"/>
          </p:nvPr>
        </p:nvSpPr>
        <p:spPr/>
        <p:txBody>
          <a:bodyPr/>
          <a:lstStyle/>
          <a:p>
            <a:r>
              <a:t>analytics/notebooks/01_Regression_Fahrtdauer.ipynb · Abschnitt 2.2</a:t>
            </a:r>
          </a:p>
        </p:txBody>
      </p:sp>
      <p:sp>
        <p:nvSpPr>
          <p:cNvPr id="5" name="Rectangle 4"/>
          <p:cNvSpPr/>
          <p:nvPr/>
        </p:nvSpPr>
        <p:spPr>
          <a:xfrm>
            <a:off x="1051560" y="1440036"/>
            <a:ext cx="11677650" cy="382552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trichter.png"/>
          <p:cNvPicPr>
            <a:picLocks noChangeAspect="1"/>
          </p:cNvPicPr>
          <p:nvPr/>
        </p:nvPicPr>
        <p:blipFill>
          <a:blip r:embed="rId2"/>
          <a:stretch>
            <a:fillRect/>
          </a:stretch>
        </p:blipFill>
        <p:spPr>
          <a:xfrm>
            <a:off x="1153160" y="1541636"/>
            <a:ext cx="11474450" cy="3622326"/>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Jeder Schritt mit Zeilenzahl. 77,9 Prozent bleiben übrig — und ein Fünftel fehlt aus einem Grund, der kein Fehler ist.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Rundtouren: dieselbe Verbindung, jede beliebige Dauer</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analytics/notebooks/01_Regression_Fahrtdauer.ipynb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 jeder sechsten Fahrt mit Ziel ist das Ziel der Start. Für ein Modell, das aus der Verbindung lernt, ist das ein Problem.</a:t>
            </a:r>
          </a:p>
        </p:txBody>
      </p:sp>
      <p:sp>
        <p:nvSpPr>
          <p:cNvPr id="6" name="Rectangle 5"/>
          <p:cNvSpPr/>
          <p:nvPr/>
        </p:nvSpPr>
        <p:spPr>
          <a:xfrm>
            <a:off x="1153160" y="1879600"/>
            <a:ext cx="4191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Art der Fahrt</a:t>
            </a:r>
          </a:p>
        </p:txBody>
      </p:sp>
      <p:sp>
        <p:nvSpPr>
          <p:cNvPr id="7" name="Rectangle 6"/>
          <p:cNvSpPr/>
          <p:nvPr/>
        </p:nvSpPr>
        <p:spPr>
          <a:xfrm>
            <a:off x="5344160" y="1879600"/>
            <a:ext cx="1524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Anzahl</a:t>
            </a:r>
          </a:p>
        </p:txBody>
      </p:sp>
      <p:sp>
        <p:nvSpPr>
          <p:cNvPr id="8" name="Rectangle 7"/>
          <p:cNvSpPr/>
          <p:nvPr/>
        </p:nvSpPr>
        <p:spPr>
          <a:xfrm>
            <a:off x="6868159" y="1879600"/>
            <a:ext cx="2032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Mediandauer</a:t>
            </a:r>
          </a:p>
        </p:txBody>
      </p:sp>
      <p:sp>
        <p:nvSpPr>
          <p:cNvPr id="9" name="Rectangle 8"/>
          <p:cNvSpPr/>
          <p:nvPr/>
        </p:nvSpPr>
        <p:spPr>
          <a:xfrm>
            <a:off x="8900160" y="1879600"/>
            <a:ext cx="3727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Mittlere Hälfte</a:t>
            </a:r>
          </a:p>
        </p:txBody>
      </p:sp>
      <p:sp>
        <p:nvSpPr>
          <p:cNvPr id="10" name="Rectangle 9"/>
          <p:cNvSpPr/>
          <p:nvPr/>
        </p:nvSpPr>
        <p:spPr>
          <a:xfrm>
            <a:off x="1153160" y="2489200"/>
            <a:ext cx="4191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Rundtour — Start ist gleich Ziel</a:t>
            </a:r>
          </a:p>
        </p:txBody>
      </p:sp>
      <p:sp>
        <p:nvSpPr>
          <p:cNvPr id="11" name="Rectangle 10"/>
          <p:cNvSpPr/>
          <p:nvPr/>
        </p:nvSpPr>
        <p:spPr>
          <a:xfrm>
            <a:off x="5344160" y="2489200"/>
            <a:ext cx="1524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7.749</a:t>
            </a:r>
          </a:p>
        </p:txBody>
      </p:sp>
      <p:sp>
        <p:nvSpPr>
          <p:cNvPr id="12" name="Rectangle 11"/>
          <p:cNvSpPr/>
          <p:nvPr/>
        </p:nvSpPr>
        <p:spPr>
          <a:xfrm>
            <a:off x="6868159" y="2489200"/>
            <a:ext cx="2032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18 Minuten</a:t>
            </a:r>
          </a:p>
        </p:txBody>
      </p:sp>
      <p:sp>
        <p:nvSpPr>
          <p:cNvPr id="13" name="Rectangle 12"/>
          <p:cNvSpPr/>
          <p:nvPr/>
        </p:nvSpPr>
        <p:spPr>
          <a:xfrm>
            <a:off x="8900160" y="2489200"/>
            <a:ext cx="3727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 bis 33 Minuten</a:t>
            </a:r>
          </a:p>
        </p:txBody>
      </p:sp>
      <p:sp>
        <p:nvSpPr>
          <p:cNvPr id="14" name="Rectangle 13"/>
          <p:cNvSpPr/>
          <p:nvPr/>
        </p:nvSpPr>
        <p:spPr>
          <a:xfrm>
            <a:off x="1153160" y="3098800"/>
            <a:ext cx="4191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echter Weg</a:t>
            </a:r>
          </a:p>
        </p:txBody>
      </p:sp>
      <p:sp>
        <p:nvSpPr>
          <p:cNvPr id="15" name="Rectangle 14"/>
          <p:cNvSpPr/>
          <p:nvPr/>
        </p:nvSpPr>
        <p:spPr>
          <a:xfrm>
            <a:off x="5344160" y="3098800"/>
            <a:ext cx="1524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39.305</a:t>
            </a:r>
          </a:p>
        </p:txBody>
      </p:sp>
      <p:sp>
        <p:nvSpPr>
          <p:cNvPr id="16" name="Rectangle 15"/>
          <p:cNvSpPr/>
          <p:nvPr/>
        </p:nvSpPr>
        <p:spPr>
          <a:xfrm>
            <a:off x="6868159" y="3098800"/>
            <a:ext cx="2032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 Minuten</a:t>
            </a:r>
          </a:p>
        </p:txBody>
      </p:sp>
      <p:sp>
        <p:nvSpPr>
          <p:cNvPr id="17" name="Rectangle 16"/>
          <p:cNvSpPr/>
          <p:nvPr/>
        </p:nvSpPr>
        <p:spPr>
          <a:xfrm>
            <a:off x="8900160" y="3098800"/>
            <a:ext cx="3727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 bis 16 Minuten</a:t>
            </a:r>
          </a:p>
        </p:txBody>
      </p:sp>
      <p:sp>
        <p:nvSpPr>
          <p:cNvPr id="18" name="Rectangle 17"/>
          <p:cNvSpPr/>
          <p:nvPr/>
        </p:nvSpPr>
        <p:spPr>
          <a:xfrm>
            <a:off x="1153160" y="38862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38862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40132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Warum das zählt</a:t>
            </a:r>
          </a:p>
          <a:p>
            <a:pPr algn="l">
              <a:lnSpc>
                <a:spcPct val="95000"/>
              </a:lnSpc>
              <a:spcBef>
                <a:spcPts val="500"/>
              </a:spcBef>
            </a:pPr>
            <a:r>
              <a:rPr sz="1300" b="0">
                <a:solidFill>
                  <a:srgbClr val="404040"/>
                </a:solidFill>
              </a:rPr>
              <a:t>Bei einer Rundtour trägt das Ziel per Definition nichts zur Dauer bei — es ist ja der Start.</a:t>
            </a:r>
          </a:p>
          <a:p>
            <a:pPr algn="l">
              <a:lnSpc>
                <a:spcPct val="95000"/>
              </a:lnSpc>
              <a:spcBef>
                <a:spcPts val="500"/>
              </a:spcBef>
            </a:pPr>
            <a:r>
              <a:rPr sz="1300" b="0">
                <a:solidFill>
                  <a:srgbClr val="404040"/>
                </a:solidFill>
              </a:rPr>
              <a:t>Und sie streuen doppelt so stark: 22 Minuten Spannweite gegen 9.</a:t>
            </a:r>
          </a:p>
          <a:p>
            <a:pPr algn="l">
              <a:lnSpc>
                <a:spcPct val="95000"/>
              </a:lnSpc>
              <a:spcBef>
                <a:spcPts val="500"/>
              </a:spcBef>
            </a:pPr>
            <a:r>
              <a:rPr sz="1300" b="0">
                <a:solidFill>
                  <a:srgbClr val="404040"/>
                </a:solidFill>
              </a:rPr>
              <a:t>Das ausgelieferte Produkt wird Rundtouren deshalb gar nicht beantworten. Diese Entscheidung fällt hier, nicht in Phase 6.</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Verbindung erklärt — ein erster Blick ohne Modell</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analytics/notebooks/01_Regression_Fahrtdauer.ipynb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Man kann den Nutzen der Zielinformation schätzen, bevor man ein Verfahren wählt: Wie weit kommt man mit dem bloßen Median?</a:t>
            </a:r>
          </a:p>
        </p:txBody>
      </p:sp>
      <p:sp>
        <p:nvSpPr>
          <p:cNvPr id="6" name="Rectangle 5"/>
          <p:cNvSpPr/>
          <p:nvPr/>
        </p:nvSpPr>
        <p:spPr>
          <a:xfrm>
            <a:off x="1153160" y="1879600"/>
            <a:ext cx="5715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man weiß</a:t>
            </a:r>
          </a:p>
        </p:txBody>
      </p:sp>
      <p:sp>
        <p:nvSpPr>
          <p:cNvPr id="7" name="Rectangle 6"/>
          <p:cNvSpPr/>
          <p:nvPr/>
        </p:nvSpPr>
        <p:spPr>
          <a:xfrm>
            <a:off x="6868159" y="1879600"/>
            <a:ext cx="575945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Mittlerer absoluter Fehler</a:t>
            </a:r>
          </a:p>
        </p:txBody>
      </p:sp>
      <p:sp>
        <p:nvSpPr>
          <p:cNvPr id="8" name="Rectangle 7"/>
          <p:cNvSpPr/>
          <p:nvPr/>
        </p:nvSpPr>
        <p:spPr>
          <a:xfrm>
            <a:off x="1153160" y="2463800"/>
            <a:ext cx="571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gar nichts — der Median aller Fahrten</a:t>
            </a:r>
          </a:p>
        </p:txBody>
      </p:sp>
      <p:sp>
        <p:nvSpPr>
          <p:cNvPr id="9" name="Rectangle 8"/>
          <p:cNvSpPr/>
          <p:nvPr/>
        </p:nvSpPr>
        <p:spPr>
          <a:xfrm>
            <a:off x="6868159" y="2463800"/>
            <a:ext cx="5759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8,04 Minuten</a:t>
            </a:r>
          </a:p>
        </p:txBody>
      </p:sp>
      <p:sp>
        <p:nvSpPr>
          <p:cNvPr id="10" name="Rectangle 9"/>
          <p:cNvSpPr/>
          <p:nvPr/>
        </p:nvSpPr>
        <p:spPr>
          <a:xfrm>
            <a:off x="1153160" y="3048000"/>
            <a:ext cx="5715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die Startstation</a:t>
            </a:r>
          </a:p>
        </p:txBody>
      </p:sp>
      <p:sp>
        <p:nvSpPr>
          <p:cNvPr id="11" name="Rectangle 10"/>
          <p:cNvSpPr/>
          <p:nvPr/>
        </p:nvSpPr>
        <p:spPr>
          <a:xfrm>
            <a:off x="6868159" y="3048000"/>
            <a:ext cx="575945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5,29 Minuten</a:t>
            </a:r>
          </a:p>
        </p:txBody>
      </p:sp>
      <p:sp>
        <p:nvSpPr>
          <p:cNvPr id="12" name="Rectangle 11"/>
          <p:cNvSpPr/>
          <p:nvPr/>
        </p:nvSpPr>
        <p:spPr>
          <a:xfrm>
            <a:off x="1153160" y="3632200"/>
            <a:ext cx="571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 UND Ziel — die Verbindung</a:t>
            </a:r>
          </a:p>
        </p:txBody>
      </p:sp>
      <p:sp>
        <p:nvSpPr>
          <p:cNvPr id="13" name="Rectangle 12"/>
          <p:cNvSpPr/>
          <p:nvPr/>
        </p:nvSpPr>
        <p:spPr>
          <a:xfrm>
            <a:off x="6868159" y="3632200"/>
            <a:ext cx="5759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5,03 Minuten</a:t>
            </a:r>
          </a:p>
        </p:txBody>
      </p:sp>
      <p:sp>
        <p:nvSpPr>
          <p:cNvPr id="14" name="Rectangle 13"/>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Der große Sprung kommt von der Startstation, nicht vom Ziel. Diese Zahl steht in Phase 2 — und sie wird in Phase 4 mit einem Modell noch einmal überprüft.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Leakage-Test: nicht welche Spalte, sondern wann sie entsteht</a:t>
            </a:r>
          </a:p>
        </p:txBody>
      </p:sp>
      <p:sp>
        <p:nvSpPr>
          <p:cNvPr id="3" name="Text Placeholder 2"/>
          <p:cNvSpPr>
            <a:spLocks noGrp="1"/>
          </p:cNvSpPr>
          <p:nvPr>
            <p:ph type="body" idx="12" sz="quarter"/>
          </p:nvPr>
        </p:nvSpPr>
        <p:spPr/>
        <p:txBody>
          <a:bodyPr/>
          <a:lstStyle/>
          <a:p>
            <a:r>
              <a:t>Phase 3 · Data Preparation</a:t>
            </a:r>
          </a:p>
        </p:txBody>
      </p:sp>
      <p:sp>
        <p:nvSpPr>
          <p:cNvPr id="4" name="Text Placeholder 3"/>
          <p:cNvSpPr>
            <a:spLocks noGrp="1"/>
          </p:cNvSpPr>
          <p:nvPr>
            <p:ph type="body" idx="13" sz="quarter"/>
          </p:nvPr>
        </p:nvSpPr>
        <p:spPr/>
        <p:txBody>
          <a:bodyPr/>
          <a:lstStyle/>
          <a:p>
            <a:r>
              <a:t>analytics/notebooks/01_Regression_Fahrtdauer.ipynb · Abschnitt 3.1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Frage ist nicht statistisch, sondern zeitlich: Was steht in dem Moment zur Verfügung, in dem die Anzeige erscheinen soll?</a:t>
            </a:r>
          </a:p>
        </p:txBody>
      </p:sp>
      <p:sp>
        <p:nvSpPr>
          <p:cNvPr id="6" name="Rectangle 5"/>
          <p:cNvSpPr/>
          <p:nvPr/>
        </p:nvSpPr>
        <p:spPr>
          <a:xfrm>
            <a:off x="1051560" y="1952122"/>
            <a:ext cx="11677650" cy="3817355"/>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b1-leakage.png"/>
          <p:cNvPicPr>
            <a:picLocks noChangeAspect="1"/>
          </p:cNvPicPr>
          <p:nvPr/>
        </p:nvPicPr>
        <p:blipFill>
          <a:blip r:embed="rId2"/>
          <a:stretch>
            <a:fillRect/>
          </a:stretch>
        </p:blipFill>
        <p:spPr>
          <a:xfrm>
            <a:off x="1153160" y="2053722"/>
            <a:ext cx="11474450" cy="3614155"/>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Gesperrt und erlaubt, jeweils mit Begründung</a:t>
            </a:r>
          </a:p>
        </p:txBody>
      </p:sp>
      <p:sp>
        <p:nvSpPr>
          <p:cNvPr id="3" name="Text Placeholder 2"/>
          <p:cNvSpPr>
            <a:spLocks noGrp="1"/>
          </p:cNvSpPr>
          <p:nvPr>
            <p:ph type="body" idx="12" sz="quarter"/>
          </p:nvPr>
        </p:nvSpPr>
        <p:spPr/>
        <p:txBody>
          <a:bodyPr/>
          <a:lstStyle/>
          <a:p>
            <a:r>
              <a:t>Phase 3 · im Notebook</a:t>
            </a:r>
          </a:p>
        </p:txBody>
      </p:sp>
      <p:sp>
        <p:nvSpPr>
          <p:cNvPr id="4" name="Text Placeholder 3"/>
          <p:cNvSpPr>
            <a:spLocks noGrp="1"/>
          </p:cNvSpPr>
          <p:nvPr>
            <p:ph type="body" idx="13" sz="quarter"/>
          </p:nvPr>
        </p:nvSpPr>
        <p:spPr/>
        <p:txBody>
          <a:bodyPr/>
          <a:lstStyle/>
          <a:p>
            <a:r>
              <a:t>analytics/notebooks/01_Regression_Fahrtdauer.ipynb · Abschnitt 3.1</a:t>
            </a:r>
          </a:p>
        </p:txBody>
      </p:sp>
      <p:sp>
        <p:nvSpPr>
          <p:cNvPr id="5" name="Rectangle 4"/>
          <p:cNvSpPr/>
          <p:nvPr/>
        </p:nvSpPr>
        <p:spPr>
          <a:xfrm>
            <a:off x="1051560" y="1179506"/>
            <a:ext cx="11677650" cy="416878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gesperrt.png"/>
          <p:cNvPicPr>
            <a:picLocks noChangeAspect="1"/>
          </p:cNvPicPr>
          <p:nvPr/>
        </p:nvPicPr>
        <p:blipFill>
          <a:blip r:embed="rId2"/>
          <a:stretch>
            <a:fillRect/>
          </a:stretch>
        </p:blipFill>
        <p:spPr>
          <a:xfrm>
            <a:off x="1153160" y="1281106"/>
            <a:ext cx="11474450" cy="3965586"/>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Fünf Spalten sind gesperrt, weil sie zum Anfragezeitpunkt nicht existieren. Eine ist erlaubt, obwohl sie nach „Ende“ klingt.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Aufteilen: vier Abschnitte entlang der Zeit, nicht zwei</a:t>
            </a:r>
          </a:p>
        </p:txBody>
      </p:sp>
      <p:sp>
        <p:nvSpPr>
          <p:cNvPr id="3" name="Text Placeholder 2"/>
          <p:cNvSpPr>
            <a:spLocks noGrp="1"/>
          </p:cNvSpPr>
          <p:nvPr>
            <p:ph type="body" idx="12" sz="quarter"/>
          </p:nvPr>
        </p:nvSpPr>
        <p:spPr/>
        <p:txBody>
          <a:bodyPr/>
          <a:lstStyle/>
          <a:p>
            <a:r>
              <a:t>Phase 3 · Data Preparation</a:t>
            </a:r>
          </a:p>
        </p:txBody>
      </p:sp>
      <p:sp>
        <p:nvSpPr>
          <p:cNvPr id="4" name="Text Placeholder 3"/>
          <p:cNvSpPr>
            <a:spLocks noGrp="1"/>
          </p:cNvSpPr>
          <p:nvPr>
            <p:ph type="body" idx="13" sz="quarter"/>
          </p:nvPr>
        </p:nvSpPr>
        <p:spPr/>
        <p:txBody>
          <a:bodyPr/>
          <a:lstStyle/>
          <a:p>
            <a:r>
              <a:t>analytics/notebooks/01_Regression_Fahrtdauer.ipynb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Rücksprung ist eine neue Runde — und eine neue Runde braucht einen Zeitraum, den die alte nicht schon aufgebraucht hat.</a:t>
            </a:r>
          </a:p>
        </p:txBody>
      </p:sp>
      <p:sp>
        <p:nvSpPr>
          <p:cNvPr id="6" name="Rectangle 5"/>
          <p:cNvSpPr/>
          <p:nvPr/>
        </p:nvSpPr>
        <p:spPr>
          <a:xfrm>
            <a:off x="1153160" y="1879600"/>
            <a:ext cx="190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Abschnitt</a:t>
            </a:r>
          </a:p>
        </p:txBody>
      </p:sp>
      <p:sp>
        <p:nvSpPr>
          <p:cNvPr id="7" name="Rectangle 6"/>
          <p:cNvSpPr/>
          <p:nvPr/>
        </p:nvSpPr>
        <p:spPr>
          <a:xfrm>
            <a:off x="3058160" y="18796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Fahrten</a:t>
            </a:r>
          </a:p>
        </p:txBody>
      </p:sp>
      <p:sp>
        <p:nvSpPr>
          <p:cNvPr id="8" name="Rectangle 7"/>
          <p:cNvSpPr/>
          <p:nvPr/>
        </p:nvSpPr>
        <p:spPr>
          <a:xfrm>
            <a:off x="4455160" y="1879600"/>
            <a:ext cx="3048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Zeitraum</a:t>
            </a:r>
          </a:p>
        </p:txBody>
      </p:sp>
      <p:sp>
        <p:nvSpPr>
          <p:cNvPr id="9" name="Rectangle 8"/>
          <p:cNvSpPr/>
          <p:nvPr/>
        </p:nvSpPr>
        <p:spPr>
          <a:xfrm>
            <a:off x="7503159" y="1879600"/>
            <a:ext cx="5124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Wofür</a:t>
            </a:r>
          </a:p>
        </p:txBody>
      </p:sp>
      <p:sp>
        <p:nvSpPr>
          <p:cNvPr id="10" name="Rectangle 9"/>
          <p:cNvSpPr/>
          <p:nvPr/>
        </p:nvSpPr>
        <p:spPr>
          <a:xfrm>
            <a:off x="1153160" y="2413000"/>
            <a:ext cx="190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Training</a:t>
            </a:r>
          </a:p>
        </p:txBody>
      </p:sp>
      <p:sp>
        <p:nvSpPr>
          <p:cNvPr id="11" name="Rectangle 10"/>
          <p:cNvSpPr/>
          <p:nvPr/>
        </p:nvSpPr>
        <p:spPr>
          <a:xfrm>
            <a:off x="3058160" y="2413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28.232</a:t>
            </a:r>
          </a:p>
        </p:txBody>
      </p:sp>
      <p:sp>
        <p:nvSpPr>
          <p:cNvPr id="12" name="Rectangle 11"/>
          <p:cNvSpPr/>
          <p:nvPr/>
        </p:nvSpPr>
        <p:spPr>
          <a:xfrm>
            <a:off x="4455160" y="2413000"/>
            <a:ext cx="304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09/2023 bis 07/2025</a:t>
            </a:r>
          </a:p>
        </p:txBody>
      </p:sp>
      <p:sp>
        <p:nvSpPr>
          <p:cNvPr id="13" name="Rectangle 12"/>
          <p:cNvSpPr/>
          <p:nvPr/>
        </p:nvSpPr>
        <p:spPr>
          <a:xfrm>
            <a:off x="7503159" y="2413000"/>
            <a:ext cx="5124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lernt</a:t>
            </a:r>
          </a:p>
        </p:txBody>
      </p:sp>
      <p:sp>
        <p:nvSpPr>
          <p:cNvPr id="14" name="Rectangle 13"/>
          <p:cNvSpPr/>
          <p:nvPr/>
        </p:nvSpPr>
        <p:spPr>
          <a:xfrm>
            <a:off x="1153160" y="2946400"/>
            <a:ext cx="190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Validierung</a:t>
            </a:r>
          </a:p>
        </p:txBody>
      </p:sp>
      <p:sp>
        <p:nvSpPr>
          <p:cNvPr id="15" name="Rectangle 14"/>
          <p:cNvSpPr/>
          <p:nvPr/>
        </p:nvSpPr>
        <p:spPr>
          <a:xfrm>
            <a:off x="3058160" y="2946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7.058</a:t>
            </a:r>
          </a:p>
        </p:txBody>
      </p:sp>
      <p:sp>
        <p:nvSpPr>
          <p:cNvPr id="16" name="Rectangle 15"/>
          <p:cNvSpPr/>
          <p:nvPr/>
        </p:nvSpPr>
        <p:spPr>
          <a:xfrm>
            <a:off x="4455160" y="2946400"/>
            <a:ext cx="304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07/2025 bis 12/2025</a:t>
            </a:r>
          </a:p>
        </p:txBody>
      </p:sp>
      <p:sp>
        <p:nvSpPr>
          <p:cNvPr id="17" name="Rectangle 16"/>
          <p:cNvSpPr/>
          <p:nvPr/>
        </p:nvSpPr>
        <p:spPr>
          <a:xfrm>
            <a:off x="7503159" y="2946400"/>
            <a:ext cx="5124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Modellwahl</a:t>
            </a:r>
          </a:p>
        </p:txBody>
      </p:sp>
      <p:sp>
        <p:nvSpPr>
          <p:cNvPr id="18" name="Rectangle 17"/>
          <p:cNvSpPr/>
          <p:nvPr/>
        </p:nvSpPr>
        <p:spPr>
          <a:xfrm>
            <a:off x="1153160" y="3479800"/>
            <a:ext cx="190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Test 1</a:t>
            </a:r>
          </a:p>
        </p:txBody>
      </p:sp>
      <p:sp>
        <p:nvSpPr>
          <p:cNvPr id="19" name="Rectangle 18"/>
          <p:cNvSpPr/>
          <p:nvPr/>
        </p:nvSpPr>
        <p:spPr>
          <a:xfrm>
            <a:off x="3058160" y="34798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5.882</a:t>
            </a:r>
          </a:p>
        </p:txBody>
      </p:sp>
      <p:sp>
        <p:nvSpPr>
          <p:cNvPr id="20" name="Rectangle 19"/>
          <p:cNvSpPr/>
          <p:nvPr/>
        </p:nvSpPr>
        <p:spPr>
          <a:xfrm>
            <a:off x="4455160" y="3479800"/>
            <a:ext cx="304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12/2025 bis 06/2026</a:t>
            </a:r>
          </a:p>
        </p:txBody>
      </p:sp>
      <p:sp>
        <p:nvSpPr>
          <p:cNvPr id="21" name="Rectangle 20"/>
          <p:cNvSpPr/>
          <p:nvPr/>
        </p:nvSpPr>
        <p:spPr>
          <a:xfrm>
            <a:off x="7503159" y="3479800"/>
            <a:ext cx="5124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der Punktschätzung</a:t>
            </a:r>
          </a:p>
        </p:txBody>
      </p:sp>
      <p:sp>
        <p:nvSpPr>
          <p:cNvPr id="22" name="Rectangle 21"/>
          <p:cNvSpPr/>
          <p:nvPr/>
        </p:nvSpPr>
        <p:spPr>
          <a:xfrm>
            <a:off x="1153160" y="4013200"/>
            <a:ext cx="190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Test 2</a:t>
            </a:r>
          </a:p>
        </p:txBody>
      </p:sp>
      <p:sp>
        <p:nvSpPr>
          <p:cNvPr id="23" name="Rectangle 22"/>
          <p:cNvSpPr/>
          <p:nvPr/>
        </p:nvSpPr>
        <p:spPr>
          <a:xfrm>
            <a:off x="3058160" y="40132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5.882</a:t>
            </a:r>
          </a:p>
        </p:txBody>
      </p:sp>
      <p:sp>
        <p:nvSpPr>
          <p:cNvPr id="24" name="Rectangle 23"/>
          <p:cNvSpPr/>
          <p:nvPr/>
        </p:nvSpPr>
        <p:spPr>
          <a:xfrm>
            <a:off x="4455160" y="4013200"/>
            <a:ext cx="304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06/2026 bis 08/2026</a:t>
            </a:r>
          </a:p>
        </p:txBody>
      </p:sp>
      <p:sp>
        <p:nvSpPr>
          <p:cNvPr id="25" name="Rectangle 24"/>
          <p:cNvSpPr/>
          <p:nvPr/>
        </p:nvSpPr>
        <p:spPr>
          <a:xfrm>
            <a:off x="7503159" y="4013200"/>
            <a:ext cx="5124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der Spanne nach dem Rücksprung</a:t>
            </a:r>
          </a:p>
        </p:txBody>
      </p:sp>
      <p:sp>
        <p:nvSpPr>
          <p:cNvPr id="26" name="Rectangle 25"/>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Test 1 ist Winter und Frühjahr, Test 2 ist Sommer. Das ist kein Zufall der Aufteilung, sondern eine Eigenschaft der Daten — und es wird uns in Phase 5 beschäftigen.</a:t>
            </a:r>
          </a:p>
        </p:txBody>
      </p:sp>
      <p:sp>
        <p:nvSpPr>
          <p:cNvPr id="28" name="Rectangle 2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0" name="Rectangle 2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2" name="Rectangle 31"/>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34" name="Rectangle 3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6" name="Rectangle 3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8" name="Rectangle 3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Aufteilung — samt zweier unbequemer Hinweise</a:t>
            </a:r>
          </a:p>
        </p:txBody>
      </p:sp>
      <p:sp>
        <p:nvSpPr>
          <p:cNvPr id="3" name="Text Placeholder 2"/>
          <p:cNvSpPr>
            <a:spLocks noGrp="1"/>
          </p:cNvSpPr>
          <p:nvPr>
            <p:ph type="body" idx="12" sz="quarter"/>
          </p:nvPr>
        </p:nvSpPr>
        <p:spPr/>
        <p:txBody>
          <a:bodyPr/>
          <a:lstStyle/>
          <a:p>
            <a:r>
              <a:t>Phase 3 · im Notebook</a:t>
            </a:r>
          </a:p>
        </p:txBody>
      </p:sp>
      <p:sp>
        <p:nvSpPr>
          <p:cNvPr id="4" name="Text Placeholder 3"/>
          <p:cNvSpPr>
            <a:spLocks noGrp="1"/>
          </p:cNvSpPr>
          <p:nvPr>
            <p:ph type="body" idx="13" sz="quarter"/>
          </p:nvPr>
        </p:nvSpPr>
        <p:spPr/>
        <p:txBody>
          <a:bodyPr/>
          <a:lstStyle/>
          <a:p>
            <a:r>
              <a:t>analytics/notebooks/01_Regression_Fahrtdauer.ipynb · Abschnitt 3.3</a:t>
            </a:r>
          </a:p>
        </p:txBody>
      </p:sp>
      <p:sp>
        <p:nvSpPr>
          <p:cNvPr id="5" name="Rectangle 4"/>
          <p:cNvSpPr/>
          <p:nvPr/>
        </p:nvSpPr>
        <p:spPr>
          <a:xfrm>
            <a:off x="2666780" y="1168400"/>
            <a:ext cx="8447209"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abschnitte.png"/>
          <p:cNvPicPr>
            <a:picLocks noChangeAspect="1"/>
          </p:cNvPicPr>
          <p:nvPr/>
        </p:nvPicPr>
        <p:blipFill>
          <a:blip r:embed="rId2"/>
          <a:stretch>
            <a:fillRect/>
          </a:stretch>
        </p:blipFill>
        <p:spPr>
          <a:xfrm>
            <a:off x="2768380" y="1270000"/>
            <a:ext cx="8244009"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Notebook sagt selbst, wo seine Aufteilung nicht sauber ist: Die Erkundung in Phase 2 lief über den gesamten Datensatz.</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Baselines, bevor ein Modell gerechnet wird</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Maßstab ist jede Zahl gut. Diese vier Zeilen kosten zusammen zehn Minuten und entscheiden, was später als Erfolg gelten darf.</a:t>
            </a:r>
          </a:p>
        </p:txBody>
      </p:sp>
      <p:sp>
        <p:nvSpPr>
          <p:cNvPr id="6" name="Rectangle 5"/>
          <p:cNvSpPr/>
          <p:nvPr/>
        </p:nvSpPr>
        <p:spPr>
          <a:xfrm>
            <a:off x="1153160" y="1879600"/>
            <a:ext cx="3683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Baseline</a:t>
            </a:r>
          </a:p>
        </p:txBody>
      </p:sp>
      <p:sp>
        <p:nvSpPr>
          <p:cNvPr id="7" name="Rectangle 6"/>
          <p:cNvSpPr/>
          <p:nvPr/>
        </p:nvSpPr>
        <p:spPr>
          <a:xfrm>
            <a:off x="4836160" y="1879600"/>
            <a:ext cx="2032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(Minuten)</a:t>
            </a:r>
          </a:p>
        </p:txBody>
      </p:sp>
      <p:sp>
        <p:nvSpPr>
          <p:cNvPr id="8" name="Rectangle 7"/>
          <p:cNvSpPr/>
          <p:nvPr/>
        </p:nvSpPr>
        <p:spPr>
          <a:xfrm>
            <a:off x="6868159" y="1879600"/>
            <a:ext cx="5759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sie beweist</a:t>
            </a:r>
          </a:p>
        </p:txBody>
      </p:sp>
      <p:sp>
        <p:nvSpPr>
          <p:cNvPr id="9" name="Rectangle 8"/>
          <p:cNvSpPr/>
          <p:nvPr/>
        </p:nvSpPr>
        <p:spPr>
          <a:xfrm>
            <a:off x="1153160" y="2413000"/>
            <a:ext cx="3683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  Median aller Fahrten</a:t>
            </a:r>
          </a:p>
        </p:txBody>
      </p:sp>
      <p:sp>
        <p:nvSpPr>
          <p:cNvPr id="10" name="Rectangle 9"/>
          <p:cNvSpPr/>
          <p:nvPr/>
        </p:nvSpPr>
        <p:spPr>
          <a:xfrm>
            <a:off x="4836160" y="2413000"/>
            <a:ext cx="2032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8,10</a:t>
            </a:r>
          </a:p>
        </p:txBody>
      </p:sp>
      <p:sp>
        <p:nvSpPr>
          <p:cNvPr id="11" name="Rectangle 10"/>
          <p:cNvSpPr/>
          <p:nvPr/>
        </p:nvSpPr>
        <p:spPr>
          <a:xfrm>
            <a:off x="6868159" y="2413000"/>
            <a:ext cx="575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Untergrenze des Nichtwissens</a:t>
            </a:r>
          </a:p>
        </p:txBody>
      </p:sp>
      <p:sp>
        <p:nvSpPr>
          <p:cNvPr id="12" name="Rectangle 11"/>
          <p:cNvSpPr/>
          <p:nvPr/>
        </p:nvSpPr>
        <p:spPr>
          <a:xfrm>
            <a:off x="1153160" y="2946400"/>
            <a:ext cx="3683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Median je Radtyp</a:t>
            </a:r>
          </a:p>
        </p:txBody>
      </p:sp>
      <p:sp>
        <p:nvSpPr>
          <p:cNvPr id="13" name="Rectangle 12"/>
          <p:cNvSpPr/>
          <p:nvPr/>
        </p:nvSpPr>
        <p:spPr>
          <a:xfrm>
            <a:off x="4836160" y="2946400"/>
            <a:ext cx="2032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8,01</a:t>
            </a:r>
          </a:p>
        </p:txBody>
      </p:sp>
      <p:sp>
        <p:nvSpPr>
          <p:cNvPr id="14" name="Rectangle 13"/>
          <p:cNvSpPr/>
          <p:nvPr/>
        </p:nvSpPr>
        <p:spPr>
          <a:xfrm>
            <a:off x="6868159" y="2946400"/>
            <a:ext cx="575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Radtyp allein bringt fast nichts</a:t>
            </a:r>
          </a:p>
        </p:txBody>
      </p:sp>
      <p:sp>
        <p:nvSpPr>
          <p:cNvPr id="15" name="Rectangle 14"/>
          <p:cNvSpPr/>
          <p:nvPr/>
        </p:nvSpPr>
        <p:spPr>
          <a:xfrm>
            <a:off x="1153160" y="3479800"/>
            <a:ext cx="3683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  Median je Startstation</a:t>
            </a:r>
          </a:p>
        </p:txBody>
      </p:sp>
      <p:sp>
        <p:nvSpPr>
          <p:cNvPr id="16" name="Rectangle 15"/>
          <p:cNvSpPr/>
          <p:nvPr/>
        </p:nvSpPr>
        <p:spPr>
          <a:xfrm>
            <a:off x="4836160" y="3479800"/>
            <a:ext cx="2032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5,29</a:t>
            </a:r>
          </a:p>
        </p:txBody>
      </p:sp>
      <p:sp>
        <p:nvSpPr>
          <p:cNvPr id="17" name="Rectangle 16"/>
          <p:cNvSpPr/>
          <p:nvPr/>
        </p:nvSpPr>
        <p:spPr>
          <a:xfrm>
            <a:off x="6868159" y="3479800"/>
            <a:ext cx="575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große Sprung — 2,81 Minuten</a:t>
            </a:r>
          </a:p>
        </p:txBody>
      </p:sp>
      <p:sp>
        <p:nvSpPr>
          <p:cNvPr id="18" name="Rectangle 17"/>
          <p:cNvSpPr/>
          <p:nvPr/>
        </p:nvSpPr>
        <p:spPr>
          <a:xfrm>
            <a:off x="1153160" y="4013200"/>
            <a:ext cx="3683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  Median je Verbindung</a:t>
            </a:r>
          </a:p>
        </p:txBody>
      </p:sp>
      <p:sp>
        <p:nvSpPr>
          <p:cNvPr id="19" name="Rectangle 18"/>
          <p:cNvSpPr/>
          <p:nvPr/>
        </p:nvSpPr>
        <p:spPr>
          <a:xfrm>
            <a:off x="4836160" y="4013200"/>
            <a:ext cx="2032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5,02</a:t>
            </a:r>
          </a:p>
        </p:txBody>
      </p:sp>
      <p:sp>
        <p:nvSpPr>
          <p:cNvPr id="20" name="Rectangle 19"/>
          <p:cNvSpPr/>
          <p:nvPr/>
        </p:nvSpPr>
        <p:spPr>
          <a:xfrm>
            <a:off x="6868159" y="4013200"/>
            <a:ext cx="575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Ziel bringt 0,27 Minuten dazu</a:t>
            </a:r>
          </a:p>
        </p:txBody>
      </p:sp>
      <p:sp>
        <p:nvSpPr>
          <p:cNvPr id="21" name="Rectangle 20"/>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Baseline D ist der eigentliche Gegner: Sie ist eine Nachschlagetabelle aus Medianen und kostet keine Zeile Modellcode. Alles, was ein Verfahren später beiträgt, muss über diesen 5,02 Minuten liegen.</a:t>
            </a:r>
          </a:p>
        </p:txBody>
      </p:sp>
      <p:sp>
        <p:nvSpPr>
          <p:cNvPr id="23" name="Rectangle 2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9" name="Rectangle 28"/>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vier Baselines, wie sie im Notebook stehen</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analytics/notebooks/01_Regression_Fahrtdauer.ipynb · Abschnitt 4.1</a:t>
            </a:r>
          </a:p>
        </p:txBody>
      </p:sp>
      <p:sp>
        <p:nvSpPr>
          <p:cNvPr id="5" name="Rectangle 4"/>
          <p:cNvSpPr/>
          <p:nvPr/>
        </p:nvSpPr>
        <p:spPr>
          <a:xfrm>
            <a:off x="1051560" y="1403895"/>
            <a:ext cx="11677650" cy="372000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baselines.png"/>
          <p:cNvPicPr>
            <a:picLocks noChangeAspect="1"/>
          </p:cNvPicPr>
          <p:nvPr/>
        </p:nvPicPr>
        <p:blipFill>
          <a:blip r:embed="rId2"/>
          <a:stretch>
            <a:fillRect/>
          </a:stretch>
        </p:blipFill>
        <p:spPr>
          <a:xfrm>
            <a:off x="1153160" y="1505495"/>
            <a:ext cx="11474450" cy="3516808"/>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2,81 Minuten kommen von der Startstation, 0,27 vom Ziel. Diese beiden Zahlen tragen die ganze Diskussion um den Prozessumbau.</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Eine Pipeline, damit im Betrieb nichts auseinanderfällt</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Kodierung und Modell gehören in ein Objekt. Getrennt gespeichert überleben sie den ersten Betriebsmonat nicht.</a:t>
            </a:r>
          </a:p>
        </p:txBody>
      </p:sp>
      <p:sp>
        <p:nvSpPr>
          <p:cNvPr id="6" name="Rectangle 5"/>
          <p:cNvSpPr/>
          <p:nvPr/>
        </p:nvSpPr>
        <p:spPr>
          <a:xfrm>
            <a:off x="1153160"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65300"/>
            <a:ext cx="5194300" cy="2311400"/>
          </a:xfrm>
          <a:prstGeom prst="rect">
            <a:avLst/>
          </a:prstGeom>
          <a:noFill/>
        </p:spPr>
        <p:txBody>
          <a:bodyPr wrap="square" lIns="0" tIns="0" rIns="0" bIns="0">
            <a:spAutoFit/>
          </a:bodyPr>
          <a:lstStyle/>
          <a:p>
            <a:pPr algn="l">
              <a:lnSpc>
                <a:spcPct val="95000"/>
              </a:lnSpc>
            </a:pPr>
            <a:r>
              <a:rPr sz="1400" b="1">
                <a:solidFill>
                  <a:srgbClr val="003E6E"/>
                </a:solidFill>
              </a:rPr>
              <a:t>Was zusammengehört</a:t>
            </a:r>
          </a:p>
          <a:p>
            <a:pPr algn="l">
              <a:lnSpc>
                <a:spcPct val="95000"/>
              </a:lnSpc>
              <a:spcBef>
                <a:spcPts val="200"/>
              </a:spcBef>
            </a:pPr>
            <a:r>
              <a:rPr sz="1300" b="0">
                <a:solidFill>
                  <a:srgbClr val="404040"/>
                </a:solidFill>
                <a:latin typeface="Consolas"/>
              </a:rPr>
              <a:t>ColumnTransformer</a:t>
            </a:r>
          </a:p>
          <a:p>
            <a:pPr algn="l">
              <a:lnSpc>
                <a:spcPct val="95000"/>
              </a:lnSpc>
              <a:spcBef>
                <a:spcPts val="200"/>
              </a:spcBef>
            </a:pPr>
            <a:r>
              <a:rPr sz="1300" b="0">
                <a:solidFill>
                  <a:srgbClr val="404040"/>
                </a:solidFill>
                <a:latin typeface="Consolas"/>
              </a:rPr>
              <a:t>  OneHotEncoder(</a:t>
            </a:r>
          </a:p>
          <a:p>
            <a:pPr algn="l">
              <a:lnSpc>
                <a:spcPct val="95000"/>
              </a:lnSpc>
              <a:spcBef>
                <a:spcPts val="200"/>
              </a:spcBef>
            </a:pPr>
            <a:r>
              <a:rPr sz="1300" b="0">
                <a:solidFill>
                  <a:srgbClr val="404040"/>
                </a:solidFill>
                <a:latin typeface="Consolas"/>
              </a:rPr>
              <a:t>    handle_unknown='ignore')</a:t>
            </a:r>
          </a:p>
          <a:p>
            <a:pPr algn="l">
              <a:lnSpc>
                <a:spcPct val="95000"/>
              </a:lnSpc>
              <a:spcBef>
                <a:spcPts val="200"/>
              </a:spcBef>
            </a:pPr>
            <a:r>
              <a:rPr sz="1300" b="0">
                <a:solidFill>
                  <a:srgbClr val="404040"/>
                </a:solidFill>
                <a:latin typeface="Consolas"/>
              </a:rPr>
              <a:t>  numerische Spalten</a:t>
            </a:r>
          </a:p>
          <a:p>
            <a:pPr algn="l">
              <a:lnSpc>
                <a:spcPct val="95000"/>
              </a:lnSpc>
              <a:spcBef>
                <a:spcPts val="200"/>
              </a:spcBef>
            </a:pPr>
            <a:r>
              <a:rPr sz="1300" b="0">
                <a:solidFill>
                  <a:srgbClr val="404040"/>
                </a:solidFill>
                <a:latin typeface="Consolas"/>
              </a:rPr>
              <a:t>+ RandomForestRegressor</a:t>
            </a:r>
          </a:p>
          <a:p>
            <a:pPr algn="l">
              <a:lnSpc>
                <a:spcPct val="95000"/>
              </a:lnSpc>
              <a:spcBef>
                <a:spcPts val="200"/>
              </a:spcBef>
            </a:pPr>
            <a:r>
              <a:rPr sz="1300" b="0">
                <a:solidFill>
                  <a:srgbClr val="404040"/>
                </a:solidFill>
                <a:latin typeface="Consolas"/>
              </a:rPr>
              <a:t>= eine Pipeline</a:t>
            </a:r>
          </a:p>
        </p:txBody>
      </p:sp>
      <p:sp>
        <p:nvSpPr>
          <p:cNvPr id="9" name="Rectangle 8"/>
          <p:cNvSpPr/>
          <p:nvPr/>
        </p:nvSpPr>
        <p:spPr>
          <a:xfrm>
            <a:off x="7096759"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651000"/>
            <a:ext cx="50800" cy="2540000"/>
          </a:xfrm>
          <a:prstGeom prst="rect">
            <a:avLst/>
          </a:prstGeom>
          <a:solidFill>
            <a:srgbClr val="4AB5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765300"/>
            <a:ext cx="5194300" cy="2311400"/>
          </a:xfrm>
          <a:prstGeom prst="rect">
            <a:avLst/>
          </a:prstGeom>
          <a:noFill/>
        </p:spPr>
        <p:txBody>
          <a:bodyPr wrap="square" lIns="0" tIns="0" rIns="0" bIns="0">
            <a:spAutoFit/>
          </a:bodyPr>
          <a:lstStyle/>
          <a:p>
            <a:pPr algn="l">
              <a:lnSpc>
                <a:spcPct val="95000"/>
              </a:lnSpc>
            </a:pPr>
            <a:r>
              <a:rPr sz="1400" b="1">
                <a:solidFill>
                  <a:srgbClr val="4AB5C4"/>
                </a:solidFill>
              </a:rPr>
              <a:t>Warum zusammen</a:t>
            </a:r>
          </a:p>
          <a:p>
            <a:pPr algn="l">
              <a:lnSpc>
                <a:spcPct val="95000"/>
              </a:lnSpc>
              <a:spcBef>
                <a:spcPts val="200"/>
              </a:spcBef>
            </a:pPr>
            <a:r>
              <a:rPr sz="1300" b="0">
                <a:solidFill>
                  <a:srgbClr val="404040"/>
                </a:solidFill>
                <a:latin typeface="Consolas"/>
              </a:rPr>
              <a:t>Die Spaltenreihenfolge steckt</a:t>
            </a:r>
          </a:p>
          <a:p>
            <a:pPr algn="l">
              <a:lnSpc>
                <a:spcPct val="95000"/>
              </a:lnSpc>
              <a:spcBef>
                <a:spcPts val="200"/>
              </a:spcBef>
            </a:pPr>
            <a:r>
              <a:rPr sz="1300" b="0">
                <a:solidFill>
                  <a:srgbClr val="404040"/>
                </a:solidFill>
                <a:latin typeface="Consolas"/>
              </a:rPr>
              <a:t>im selben Objekt wie das</a:t>
            </a:r>
          </a:p>
          <a:p>
            <a:pPr algn="l">
              <a:lnSpc>
                <a:spcPct val="95000"/>
              </a:lnSpc>
              <a:spcBef>
                <a:spcPts val="200"/>
              </a:spcBef>
            </a:pPr>
            <a:r>
              <a:rPr sz="1300" b="0">
                <a:solidFill>
                  <a:srgbClr val="404040"/>
                </a:solidFill>
                <a:latin typeface="Consolas"/>
              </a:rPr>
              <a:t>Modell — sie kann nicht mehr</a:t>
            </a:r>
          </a:p>
          <a:p>
            <a:pPr algn="l">
              <a:lnSpc>
                <a:spcPct val="95000"/>
              </a:lnSpc>
              <a:spcBef>
                <a:spcPts val="200"/>
              </a:spcBef>
            </a:pPr>
            <a:r>
              <a:rPr sz="1300" b="0">
                <a:solidFill>
                  <a:srgbClr val="404040"/>
                </a:solidFill>
                <a:latin typeface="Consolas"/>
              </a:rPr>
              <a:t>verrutschen.</a:t>
            </a:r>
          </a:p>
          <a:p>
            <a:pPr algn="l">
              <a:lnSpc>
                <a:spcPct val="95000"/>
              </a:lnSpc>
              <a:spcBef>
                <a:spcPts val="200"/>
              </a:spcBef>
            </a:pPr>
            <a:r>
              <a:rPr sz="1300" b="0">
                <a:solidFill>
                  <a:srgbClr val="404040"/>
                </a:solidFill>
                <a:latin typeface="Consolas"/>
              </a:rPr>
              <a:t>handle_unknown: eine neue</a:t>
            </a:r>
          </a:p>
          <a:p>
            <a:pPr algn="l">
              <a:lnSpc>
                <a:spcPct val="95000"/>
              </a:lnSpc>
              <a:spcBef>
                <a:spcPts val="200"/>
              </a:spcBef>
            </a:pPr>
            <a:r>
              <a:rPr sz="1300" b="0">
                <a:solidFill>
                  <a:srgbClr val="404040"/>
                </a:solidFill>
                <a:latin typeface="Consolas"/>
              </a:rPr>
              <a:t>Station wirft keinen Fehler.</a:t>
            </a:r>
          </a:p>
        </p:txBody>
      </p:sp>
      <p:sp>
        <p:nvSpPr>
          <p:cNvPr id="12" name="Rectangle 1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4" name="Rectangle 1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6" name="Rectangle 1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8" name="Rectangle 17"/>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0" name="Rectangle 1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2" name="Rectangle 2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Modelle, gewählt wird auf der Validierung</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auf dem Test. Der Unterschied trennt eine Modellwahl von einer nachträglichen Begründung.</a:t>
            </a:r>
          </a:p>
        </p:txBody>
      </p:sp>
      <p:sp>
        <p:nvSpPr>
          <p:cNvPr id="6" name="Rectangle 5"/>
          <p:cNvSpPr/>
          <p:nvPr/>
        </p:nvSpPr>
        <p:spPr>
          <a:xfrm>
            <a:off x="1153160" y="1651000"/>
            <a:ext cx="4445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Modell</a:t>
            </a:r>
          </a:p>
        </p:txBody>
      </p:sp>
      <p:sp>
        <p:nvSpPr>
          <p:cNvPr id="7" name="Rectangle 6"/>
          <p:cNvSpPr/>
          <p:nvPr/>
        </p:nvSpPr>
        <p:spPr>
          <a:xfrm>
            <a:off x="5598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auf der Validierung</a:t>
            </a:r>
          </a:p>
        </p:txBody>
      </p:sp>
      <p:sp>
        <p:nvSpPr>
          <p:cNvPr id="8" name="Rectangle 7"/>
          <p:cNvSpPr/>
          <p:nvPr/>
        </p:nvSpPr>
        <p:spPr>
          <a:xfrm>
            <a:off x="8519160" y="1651000"/>
            <a:ext cx="4108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es beisteuert</a:t>
            </a:r>
          </a:p>
        </p:txBody>
      </p:sp>
      <p:sp>
        <p:nvSpPr>
          <p:cNvPr id="9" name="Rectangle 8"/>
          <p:cNvSpPr/>
          <p:nvPr/>
        </p:nvSpPr>
        <p:spPr>
          <a:xfrm>
            <a:off x="1153160" y="2159000"/>
            <a:ext cx="444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Nullmodell (Median)</a:t>
            </a:r>
          </a:p>
        </p:txBody>
      </p:sp>
      <p:sp>
        <p:nvSpPr>
          <p:cNvPr id="10" name="Rectangle 9"/>
          <p:cNvSpPr/>
          <p:nvPr/>
        </p:nvSpPr>
        <p:spPr>
          <a:xfrm>
            <a:off x="5598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8,10 Minuten</a:t>
            </a:r>
          </a:p>
        </p:txBody>
      </p:sp>
      <p:sp>
        <p:nvSpPr>
          <p:cNvPr id="11" name="Rectangle 10"/>
          <p:cNvSpPr/>
          <p:nvPr/>
        </p:nvSpPr>
        <p:spPr>
          <a:xfrm>
            <a:off x="8519160" y="2159000"/>
            <a:ext cx="4108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Median, ohne jedes Merkmal</a:t>
            </a:r>
          </a:p>
        </p:txBody>
      </p:sp>
      <p:sp>
        <p:nvSpPr>
          <p:cNvPr id="12" name="Rectangle 11"/>
          <p:cNvSpPr/>
          <p:nvPr/>
        </p:nvSpPr>
        <p:spPr>
          <a:xfrm>
            <a:off x="1153160" y="2667000"/>
            <a:ext cx="444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Lineare Regression</a:t>
            </a:r>
          </a:p>
        </p:txBody>
      </p:sp>
      <p:sp>
        <p:nvSpPr>
          <p:cNvPr id="13" name="Rectangle 12"/>
          <p:cNvSpPr/>
          <p:nvPr/>
        </p:nvSpPr>
        <p:spPr>
          <a:xfrm>
            <a:off x="5598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4,61 Minuten</a:t>
            </a:r>
          </a:p>
        </p:txBody>
      </p:sp>
      <p:sp>
        <p:nvSpPr>
          <p:cNvPr id="14" name="Rectangle 13"/>
          <p:cNvSpPr/>
          <p:nvPr/>
        </p:nvSpPr>
        <p:spPr>
          <a:xfrm>
            <a:off x="8519160" y="2667000"/>
            <a:ext cx="4108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schon besser als Baseline D</a:t>
            </a:r>
          </a:p>
        </p:txBody>
      </p:sp>
      <p:sp>
        <p:nvSpPr>
          <p:cNvPr id="15" name="Rectangle 14"/>
          <p:cNvSpPr/>
          <p:nvPr/>
        </p:nvSpPr>
        <p:spPr>
          <a:xfrm>
            <a:off x="1153160" y="3175000"/>
            <a:ext cx="444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Entscheidungsbaum (Tiefe 10)</a:t>
            </a:r>
          </a:p>
        </p:txBody>
      </p:sp>
      <p:sp>
        <p:nvSpPr>
          <p:cNvPr id="16" name="Rectangle 15"/>
          <p:cNvSpPr/>
          <p:nvPr/>
        </p:nvSpPr>
        <p:spPr>
          <a:xfrm>
            <a:off x="5598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4,23 Minuten</a:t>
            </a:r>
          </a:p>
        </p:txBody>
      </p:sp>
      <p:sp>
        <p:nvSpPr>
          <p:cNvPr id="17" name="Rectangle 16"/>
          <p:cNvSpPr/>
          <p:nvPr/>
        </p:nvSpPr>
        <p:spPr>
          <a:xfrm>
            <a:off x="8519160" y="3175000"/>
            <a:ext cx="4108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nichtlineare Zusammenhänge</a:t>
            </a:r>
          </a:p>
        </p:txBody>
      </p:sp>
      <p:sp>
        <p:nvSpPr>
          <p:cNvPr id="18" name="Rectangle 17"/>
          <p:cNvSpPr/>
          <p:nvPr/>
        </p:nvSpPr>
        <p:spPr>
          <a:xfrm>
            <a:off x="1153160" y="3683000"/>
            <a:ext cx="444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Random Forest (200 Bäume) — gewählt</a:t>
            </a:r>
          </a:p>
        </p:txBody>
      </p:sp>
      <p:sp>
        <p:nvSpPr>
          <p:cNvPr id="19" name="Rectangle 18"/>
          <p:cNvSpPr/>
          <p:nvPr/>
        </p:nvSpPr>
        <p:spPr>
          <a:xfrm>
            <a:off x="5598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3,96 Minuten</a:t>
            </a:r>
          </a:p>
        </p:txBody>
      </p:sp>
      <p:sp>
        <p:nvSpPr>
          <p:cNvPr id="20" name="Rectangle 19"/>
          <p:cNvSpPr/>
          <p:nvPr/>
        </p:nvSpPr>
        <p:spPr>
          <a:xfrm>
            <a:off x="8519160" y="3683000"/>
            <a:ext cx="4108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21 % besser als Baseline D</a:t>
            </a:r>
          </a:p>
        </p:txBody>
      </p:sp>
      <p:sp>
        <p:nvSpPr>
          <p:cNvPr id="21" name="Rectangle 20"/>
          <p:cNvSpPr/>
          <p:nvPr/>
        </p:nvSpPr>
        <p:spPr>
          <a:xfrm>
            <a:off x="1153160" y="4368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445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21 Prozent gegenüber einer Nachschlagetabelle aus Medianen: ein realer Gewinn, aber kein spektakulärer. Ob er den Betrieb eines Modells rechtfertigt, entscheidet Phase 6.</a:t>
            </a:r>
          </a:p>
        </p:txBody>
      </p:sp>
      <p:sp>
        <p:nvSpPr>
          <p:cNvPr id="23" name="Rectangle 2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9" name="Rectangle 28"/>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Bringt das Ziel wirklich etwas? Eine Ablation</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Das ganze Projekt ruht auf der Annahme, dass die Zielwahl hilft. Also wird sie geprüft — indem man sie wegnimmt.</a:t>
            </a:r>
          </a:p>
        </p:txBody>
      </p:sp>
      <p:sp>
        <p:nvSpPr>
          <p:cNvPr id="6" name="Rectangle 5"/>
          <p:cNvSpPr/>
          <p:nvPr/>
        </p:nvSpPr>
        <p:spPr>
          <a:xfrm>
            <a:off x="1153160"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Ohne Zielmerkmale</a:t>
            </a:r>
          </a:p>
        </p:txBody>
      </p:sp>
      <p:sp>
        <p:nvSpPr>
          <p:cNvPr id="9" name="TextBox 8"/>
          <p:cNvSpPr txBox="1"/>
          <p:nvPr/>
        </p:nvSpPr>
        <p:spPr>
          <a:xfrm>
            <a:off x="1330960" y="2159000"/>
            <a:ext cx="5194300" cy="1854200"/>
          </a:xfrm>
          <a:prstGeom prst="rect">
            <a:avLst/>
          </a:prstGeom>
          <a:noFill/>
        </p:spPr>
        <p:txBody>
          <a:bodyPr wrap="square" lIns="0" tIns="0" rIns="0" bIns="0">
            <a:spAutoFit/>
          </a:bodyPr>
          <a:lstStyle/>
          <a:p>
            <a:pPr algn="l">
              <a:lnSpc>
                <a:spcPct val="95000"/>
              </a:lnSpc>
            </a:pPr>
            <a:r>
              <a:rPr sz="1400" b="1">
                <a:solidFill>
                  <a:srgbClr val="A32638"/>
                </a:solidFill>
              </a:rPr>
              <a:t>Nur Start, Zeit, Radtyp</a:t>
            </a:r>
          </a:p>
          <a:p>
            <a:pPr algn="l">
              <a:lnSpc>
                <a:spcPct val="95000"/>
              </a:lnSpc>
              <a:spcBef>
                <a:spcPts val="300"/>
              </a:spcBef>
            </a:pPr>
            <a:r>
              <a:rPr sz="1300" b="0">
                <a:solidFill>
                  <a:srgbClr val="404040"/>
                </a:solidFill>
              </a:rPr>
              <a:t>MAE  4,35 Minuten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Das Modell weiß nicht, wohin</a:t>
            </a:r>
          </a:p>
          <a:p>
            <a:pPr algn="l">
              <a:lnSpc>
                <a:spcPct val="95000"/>
              </a:lnSpc>
              <a:spcBef>
                <a:spcPts val="300"/>
              </a:spcBef>
            </a:pPr>
            <a:r>
              <a:rPr sz="1300" b="0">
                <a:solidFill>
                  <a:srgbClr val="404040"/>
                </a:solidFill>
              </a:rPr>
              <a:t>die Fahrt geht — und ist</a:t>
            </a:r>
          </a:p>
          <a:p>
            <a:pPr algn="l">
              <a:lnSpc>
                <a:spcPct val="95000"/>
              </a:lnSpc>
              <a:spcBef>
                <a:spcPts val="300"/>
              </a:spcBef>
            </a:pPr>
            <a:r>
              <a:rPr sz="1300" b="0">
                <a:solidFill>
                  <a:srgbClr val="404040"/>
                </a:solidFill>
              </a:rPr>
              <a:t>trotzdem deutlich besser als</a:t>
            </a:r>
          </a:p>
          <a:p>
            <a:pPr algn="l">
              <a:lnSpc>
                <a:spcPct val="95000"/>
              </a:lnSpc>
              <a:spcBef>
                <a:spcPts val="300"/>
              </a:spcBef>
            </a:pPr>
            <a:r>
              <a:rPr sz="1300" b="0">
                <a:solidFill>
                  <a:srgbClr val="404040"/>
                </a:solidFill>
              </a:rPr>
              <a:t>jede Baseline.</a:t>
            </a:r>
          </a:p>
        </p:txBody>
      </p:sp>
      <p:sp>
        <p:nvSpPr>
          <p:cNvPr id="10" name="Rectangle 9"/>
          <p:cNvSpPr/>
          <p:nvPr/>
        </p:nvSpPr>
        <p:spPr>
          <a:xfrm>
            <a:off x="7096759"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Mit Zielmerkmalen</a:t>
            </a:r>
          </a:p>
        </p:txBody>
      </p:sp>
      <p:sp>
        <p:nvSpPr>
          <p:cNvPr id="13" name="TextBox 12"/>
          <p:cNvSpPr txBox="1"/>
          <p:nvPr/>
        </p:nvSpPr>
        <p:spPr>
          <a:xfrm>
            <a:off x="7274559" y="2159000"/>
            <a:ext cx="5194300" cy="1854200"/>
          </a:xfrm>
          <a:prstGeom prst="rect">
            <a:avLst/>
          </a:prstGeom>
          <a:noFill/>
        </p:spPr>
        <p:txBody>
          <a:bodyPr wrap="square" lIns="0" tIns="0" rIns="0" bIns="0">
            <a:spAutoFit/>
          </a:bodyPr>
          <a:lstStyle/>
          <a:p>
            <a:pPr algn="l">
              <a:lnSpc>
                <a:spcPct val="95000"/>
              </a:lnSpc>
            </a:pPr>
            <a:r>
              <a:rPr sz="1400" b="1">
                <a:solidFill>
                  <a:srgbClr val="55801C"/>
                </a:solidFill>
              </a:rPr>
              <a:t>Ziel und Luftlinie dazu</a:t>
            </a:r>
          </a:p>
          <a:p>
            <a:pPr algn="l">
              <a:lnSpc>
                <a:spcPct val="95000"/>
              </a:lnSpc>
              <a:spcBef>
                <a:spcPts val="300"/>
              </a:spcBef>
            </a:pPr>
            <a:r>
              <a:rPr sz="1300" b="0">
                <a:solidFill>
                  <a:srgbClr val="404040"/>
                </a:solidFill>
              </a:rPr>
              <a:t>MAE  3,96 Minuten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Beitrag des Ziels:</a:t>
            </a:r>
          </a:p>
          <a:p>
            <a:pPr algn="l">
              <a:lnSpc>
                <a:spcPct val="95000"/>
              </a:lnSpc>
              <a:spcBef>
                <a:spcPts val="300"/>
              </a:spcBef>
            </a:pPr>
            <a:r>
              <a:rPr sz="1300" b="0">
                <a:solidFill>
                  <a:srgbClr val="404040"/>
                </a:solidFill>
              </a:rPr>
              <a:t>0,39 Minuten — neun Prozent.</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Real, aber bescheiden.</a:t>
            </a:r>
          </a:p>
        </p:txBody>
      </p:sp>
      <p:sp>
        <p:nvSpPr>
          <p:cNvPr id="14" name="Rectangle 13"/>
          <p:cNvSpPr/>
          <p:nvPr/>
        </p:nvSpPr>
        <p:spPr>
          <a:xfrm>
            <a:off x="1153160" y="4267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43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gehört in den Bericht, nicht in eine Fußnote: Die neue Geschäftslogik ist richtig, ihr messbarer Zusatznutzen in diesem Datensatz ist klein.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Von Minuten zu Euro — mit der vollen Tariflogik</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3,93 Minuten auf Test 1. Diese Zahl beantwortet die Frage aus Phase 1 nicht. Erst die Umrechnung in Euro tut das.</a:t>
            </a:r>
          </a:p>
        </p:txBody>
      </p:sp>
      <p:sp>
        <p:nvSpPr>
          <p:cNvPr id="6" name="Rectangle 5"/>
          <p:cNvSpPr/>
          <p:nvPr/>
        </p:nvSpPr>
        <p:spPr>
          <a:xfrm>
            <a:off x="1153160" y="1651000"/>
            <a:ext cx="1397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Radtyp</a:t>
            </a:r>
          </a:p>
        </p:txBody>
      </p:sp>
      <p:sp>
        <p:nvSpPr>
          <p:cNvPr id="7" name="Rectangle 6"/>
          <p:cNvSpPr/>
          <p:nvPr/>
        </p:nvSpPr>
        <p:spPr>
          <a:xfrm>
            <a:off x="2550160" y="1651000"/>
            <a:ext cx="1397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Fahrten</a:t>
            </a:r>
          </a:p>
        </p:txBody>
      </p:sp>
      <p:sp>
        <p:nvSpPr>
          <p:cNvPr id="8" name="Rectangle 7"/>
          <p:cNvSpPr/>
          <p:nvPr/>
        </p:nvSpPr>
        <p:spPr>
          <a:xfrm>
            <a:off x="3947160" y="1651000"/>
            <a:ext cx="2032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 kostet</a:t>
            </a:r>
          </a:p>
        </p:txBody>
      </p:sp>
      <p:sp>
        <p:nvSpPr>
          <p:cNvPr id="9" name="Rectangle 8"/>
          <p:cNvSpPr/>
          <p:nvPr/>
        </p:nvSpPr>
        <p:spPr>
          <a:xfrm>
            <a:off x="5979160" y="1651000"/>
            <a:ext cx="2032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Abweichung</a:t>
            </a:r>
          </a:p>
        </p:txBody>
      </p:sp>
      <p:sp>
        <p:nvSpPr>
          <p:cNvPr id="10" name="Rectangle 9"/>
          <p:cNvSpPr/>
          <p:nvPr/>
        </p:nvSpPr>
        <p:spPr>
          <a:xfrm>
            <a:off x="8011159" y="1651000"/>
            <a:ext cx="2032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unter 0,50 €</a:t>
            </a:r>
          </a:p>
        </p:txBody>
      </p:sp>
      <p:sp>
        <p:nvSpPr>
          <p:cNvPr id="11" name="Rectangle 10"/>
          <p:cNvSpPr/>
          <p:nvPr/>
        </p:nvSpPr>
        <p:spPr>
          <a:xfrm>
            <a:off x="10043160" y="1651000"/>
            <a:ext cx="258445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12" name="Rectangle 11"/>
          <p:cNvSpPr/>
          <p:nvPr/>
        </p:nvSpPr>
        <p:spPr>
          <a:xfrm>
            <a:off x="1153160" y="22352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CITY</a:t>
            </a:r>
          </a:p>
        </p:txBody>
      </p:sp>
      <p:sp>
        <p:nvSpPr>
          <p:cNvPr id="13" name="Rectangle 12"/>
          <p:cNvSpPr/>
          <p:nvPr/>
        </p:nvSpPr>
        <p:spPr>
          <a:xfrm>
            <a:off x="2550160" y="22352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3.325</a:t>
            </a:r>
          </a:p>
        </p:txBody>
      </p:sp>
      <p:sp>
        <p:nvSpPr>
          <p:cNvPr id="14" name="Rectangle 13"/>
          <p:cNvSpPr/>
          <p:nvPr/>
        </p:nvSpPr>
        <p:spPr>
          <a:xfrm>
            <a:off x="3947160" y="22352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1,67 €</a:t>
            </a:r>
          </a:p>
        </p:txBody>
      </p:sp>
      <p:sp>
        <p:nvSpPr>
          <p:cNvPr id="15" name="Rectangle 14"/>
          <p:cNvSpPr/>
          <p:nvPr/>
        </p:nvSpPr>
        <p:spPr>
          <a:xfrm>
            <a:off x="5979160" y="22352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0,41 €</a:t>
            </a:r>
          </a:p>
        </p:txBody>
      </p:sp>
      <p:sp>
        <p:nvSpPr>
          <p:cNvPr id="16" name="Rectangle 15"/>
          <p:cNvSpPr/>
          <p:nvPr/>
        </p:nvSpPr>
        <p:spPr>
          <a:xfrm>
            <a:off x="8011159" y="22352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74 %</a:t>
            </a:r>
          </a:p>
        </p:txBody>
      </p:sp>
      <p:sp>
        <p:nvSpPr>
          <p:cNvPr id="17" name="Rectangle 16"/>
          <p:cNvSpPr/>
          <p:nvPr/>
        </p:nvSpPr>
        <p:spPr>
          <a:xfrm>
            <a:off x="10043160" y="2235200"/>
            <a:ext cx="2584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erfüllt</a:t>
            </a:r>
          </a:p>
        </p:txBody>
      </p:sp>
      <p:sp>
        <p:nvSpPr>
          <p:cNvPr id="18" name="Rectangle 17"/>
          <p:cNvSpPr/>
          <p:nvPr/>
        </p:nvSpPr>
        <p:spPr>
          <a:xfrm>
            <a:off x="1153160" y="2819400"/>
            <a:ext cx="1397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EBIKE</a:t>
            </a:r>
          </a:p>
        </p:txBody>
      </p:sp>
      <p:sp>
        <p:nvSpPr>
          <p:cNvPr id="19" name="Rectangle 18"/>
          <p:cNvSpPr/>
          <p:nvPr/>
        </p:nvSpPr>
        <p:spPr>
          <a:xfrm>
            <a:off x="2550160" y="2819400"/>
            <a:ext cx="1397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2.049</a:t>
            </a:r>
          </a:p>
        </p:txBody>
      </p:sp>
      <p:sp>
        <p:nvSpPr>
          <p:cNvPr id="20" name="Rectangle 19"/>
          <p:cNvSpPr/>
          <p:nvPr/>
        </p:nvSpPr>
        <p:spPr>
          <a:xfrm>
            <a:off x="3947160" y="2819400"/>
            <a:ext cx="2032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4,34 €</a:t>
            </a:r>
          </a:p>
        </p:txBody>
      </p:sp>
      <p:sp>
        <p:nvSpPr>
          <p:cNvPr id="21" name="Rectangle 20"/>
          <p:cNvSpPr/>
          <p:nvPr/>
        </p:nvSpPr>
        <p:spPr>
          <a:xfrm>
            <a:off x="5979160" y="2819400"/>
            <a:ext cx="2032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0,85 €</a:t>
            </a:r>
          </a:p>
        </p:txBody>
      </p:sp>
      <p:sp>
        <p:nvSpPr>
          <p:cNvPr id="22" name="Rectangle 21"/>
          <p:cNvSpPr/>
          <p:nvPr/>
        </p:nvSpPr>
        <p:spPr>
          <a:xfrm>
            <a:off x="8011159" y="2819400"/>
            <a:ext cx="2032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51 %</a:t>
            </a:r>
          </a:p>
        </p:txBody>
      </p:sp>
      <p:sp>
        <p:nvSpPr>
          <p:cNvPr id="23" name="Rectangle 22"/>
          <p:cNvSpPr/>
          <p:nvPr/>
        </p:nvSpPr>
        <p:spPr>
          <a:xfrm>
            <a:off x="10043160" y="2819400"/>
            <a:ext cx="258445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gerissen</a:t>
            </a:r>
          </a:p>
        </p:txBody>
      </p:sp>
      <p:sp>
        <p:nvSpPr>
          <p:cNvPr id="24" name="Rectangle 23"/>
          <p:cNvSpPr/>
          <p:nvPr/>
        </p:nvSpPr>
        <p:spPr>
          <a:xfrm>
            <a:off x="1153160" y="34036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CARGO</a:t>
            </a:r>
          </a:p>
        </p:txBody>
      </p:sp>
      <p:sp>
        <p:nvSpPr>
          <p:cNvPr id="25" name="Rectangle 24"/>
          <p:cNvSpPr/>
          <p:nvPr/>
        </p:nvSpPr>
        <p:spPr>
          <a:xfrm>
            <a:off x="2550160" y="34036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508</a:t>
            </a:r>
          </a:p>
        </p:txBody>
      </p:sp>
      <p:sp>
        <p:nvSpPr>
          <p:cNvPr id="26" name="Rectangle 25"/>
          <p:cNvSpPr/>
          <p:nvPr/>
        </p:nvSpPr>
        <p:spPr>
          <a:xfrm>
            <a:off x="3947160" y="34036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11,97 €</a:t>
            </a:r>
          </a:p>
        </p:txBody>
      </p:sp>
      <p:sp>
        <p:nvSpPr>
          <p:cNvPr id="27" name="Rectangle 26"/>
          <p:cNvSpPr/>
          <p:nvPr/>
        </p:nvSpPr>
        <p:spPr>
          <a:xfrm>
            <a:off x="5979160" y="34036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2,48 €</a:t>
            </a:r>
          </a:p>
        </p:txBody>
      </p:sp>
      <p:sp>
        <p:nvSpPr>
          <p:cNvPr id="28" name="Rectangle 27"/>
          <p:cNvSpPr/>
          <p:nvPr/>
        </p:nvSpPr>
        <p:spPr>
          <a:xfrm>
            <a:off x="8011159" y="34036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19 %</a:t>
            </a:r>
          </a:p>
        </p:txBody>
      </p:sp>
      <p:sp>
        <p:nvSpPr>
          <p:cNvPr id="29" name="Rectangle 28"/>
          <p:cNvSpPr/>
          <p:nvPr/>
        </p:nvSpPr>
        <p:spPr>
          <a:xfrm>
            <a:off x="10043160" y="3403600"/>
            <a:ext cx="2584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gerissen</a:t>
            </a:r>
          </a:p>
        </p:txBody>
      </p:sp>
      <p:sp>
        <p:nvSpPr>
          <p:cNvPr id="30" name="Rectangle 29"/>
          <p:cNvSpPr/>
          <p:nvPr/>
        </p:nvSpPr>
        <p:spPr>
          <a:xfrm>
            <a:off x="1153160" y="4165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153160" y="41656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356360" y="42926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Gerechnet wird der volle Tarif, nicht Minuten mal Minutenpreis</a:t>
            </a:r>
          </a:p>
          <a:p>
            <a:pPr algn="l">
              <a:lnSpc>
                <a:spcPct val="95000"/>
              </a:lnSpc>
              <a:spcBef>
                <a:spcPts val="500"/>
              </a:spcBef>
            </a:pPr>
            <a:r>
              <a:rPr sz="1300" b="0">
                <a:solidFill>
                  <a:srgbClr val="404040"/>
                </a:solidFill>
              </a:rPr>
              <a:t>Startgebühr plus Minuten mal Minutenpreis, gedeckelt auf den Tageshöchstpreis — für den tatsächlichen und den geschätzten Wert getrennt.</a:t>
            </a:r>
          </a:p>
          <a:p>
            <a:pPr algn="l">
              <a:lnSpc>
                <a:spcPct val="95000"/>
              </a:lnSpc>
              <a:spcBef>
                <a:spcPts val="500"/>
              </a:spcBef>
            </a:pPr>
            <a:r>
              <a:rPr sz="1300" b="0">
                <a:solidFill>
                  <a:srgbClr val="404040"/>
                </a:solidFill>
              </a:rPr>
              <a:t>Nur so entspricht die Zahl dem, was auf der Rechnung des Kunden steht.</a:t>
            </a:r>
          </a:p>
        </p:txBody>
      </p:sp>
      <p:sp>
        <p:nvSpPr>
          <p:cNvPr id="33" name="Rectangle 3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5" name="Rectangle 3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7" name="Rectangle 3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9" name="Rectangle 3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1" name="Rectangle 40"/>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43" name="Rectangle 4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entscheidende Rechnung, Zeile für Zeile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analytics/notebooks/01_Regression_Fahrtdauer.ipynb · Abschnitt 5.2</a:t>
            </a:r>
          </a:p>
        </p:txBody>
      </p:sp>
      <p:sp>
        <p:nvSpPr>
          <p:cNvPr id="5" name="Rectangle 4"/>
          <p:cNvSpPr/>
          <p:nvPr/>
        </p:nvSpPr>
        <p:spPr>
          <a:xfrm>
            <a:off x="1051560" y="2376449"/>
            <a:ext cx="11677649" cy="1774901"/>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preisfehler.png"/>
          <p:cNvPicPr>
            <a:picLocks noChangeAspect="1"/>
          </p:cNvPicPr>
          <p:nvPr/>
        </p:nvPicPr>
        <p:blipFill>
          <a:blip r:embed="rId2"/>
          <a:stretch>
            <a:fillRect/>
          </a:stretch>
        </p:blipFill>
        <p:spPr>
          <a:xfrm>
            <a:off x="1153160" y="2478049"/>
            <a:ext cx="11474449" cy="1571701"/>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Drei Zeilen, drei Urteile — und die Statistik ist bei allen dreien dieselbe. Was sich unterscheidet, ist der Minutenpreis.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Gegenproben — und beide fallen negativ aus</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Bevor man ein Ergebnis erklärt, prüft man die zwei naheliegenden Erklärungen. Hier trägt keine von beiden.</a:t>
            </a:r>
          </a:p>
        </p:txBody>
      </p:sp>
      <p:sp>
        <p:nvSpPr>
          <p:cNvPr id="6" name="Rectangle 5"/>
          <p:cNvSpPr/>
          <p:nvPr/>
        </p:nvSpPr>
        <p:spPr>
          <a:xfrm>
            <a:off x="1153160"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Vermutung 1</a:t>
            </a:r>
          </a:p>
        </p:txBody>
      </p:sp>
      <p:sp>
        <p:nvSpPr>
          <p:cNvPr id="9" name="TextBox 8"/>
          <p:cNvSpPr txBox="1"/>
          <p:nvPr/>
        </p:nvSpPr>
        <p:spPr>
          <a:xfrm>
            <a:off x="1330960" y="2159000"/>
            <a:ext cx="5194300" cy="1854200"/>
          </a:xfrm>
          <a:prstGeom prst="rect">
            <a:avLst/>
          </a:prstGeom>
          <a:noFill/>
        </p:spPr>
        <p:txBody>
          <a:bodyPr wrap="square" lIns="0" tIns="0" rIns="0" bIns="0">
            <a:spAutoFit/>
          </a:bodyPr>
          <a:lstStyle/>
          <a:p>
            <a:pPr algn="l">
              <a:lnSpc>
                <a:spcPct val="95000"/>
              </a:lnSpc>
            </a:pPr>
            <a:r>
              <a:rPr sz="1400" b="1">
                <a:solidFill>
                  <a:srgbClr val="A32638"/>
                </a:solidFill>
              </a:rPr>
              <a:t>Schätzen wir systematisch zu hoch?</a:t>
            </a:r>
          </a:p>
          <a:p>
            <a:pPr algn="l">
              <a:lnSpc>
                <a:spcPct val="95000"/>
              </a:lnSpc>
              <a:spcBef>
                <a:spcPts val="300"/>
              </a:spcBef>
            </a:pPr>
            <a:r>
              <a:rPr sz="1300" b="0">
                <a:solidFill>
                  <a:srgbClr val="404040"/>
                </a:solidFill>
              </a:rPr>
              <a:t>CARGO   − 0,25 €</a:t>
            </a:r>
          </a:p>
          <a:p>
            <a:pPr algn="l">
              <a:lnSpc>
                <a:spcPct val="95000"/>
              </a:lnSpc>
              <a:spcBef>
                <a:spcPts val="300"/>
              </a:spcBef>
            </a:pPr>
            <a:r>
              <a:rPr sz="1300" b="0">
                <a:solidFill>
                  <a:srgbClr val="404040"/>
                </a:solidFill>
              </a:rPr>
              <a:t>CITY    + 0,04 €</a:t>
            </a:r>
          </a:p>
          <a:p>
            <a:pPr algn="l">
              <a:lnSpc>
                <a:spcPct val="95000"/>
              </a:lnSpc>
              <a:spcBef>
                <a:spcPts val="300"/>
              </a:spcBef>
            </a:pPr>
            <a:r>
              <a:rPr sz="1300" b="0">
                <a:solidFill>
                  <a:srgbClr val="404040"/>
                </a:solidFill>
              </a:rPr>
              <a:t>EBIKE   + 0,11 €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Nein. Über- und Unterschätzung</a:t>
            </a:r>
          </a:p>
          <a:p>
            <a:pPr algn="l">
              <a:lnSpc>
                <a:spcPct val="95000"/>
              </a:lnSpc>
              <a:spcBef>
                <a:spcPts val="300"/>
              </a:spcBef>
            </a:pPr>
            <a:r>
              <a:rPr sz="1300" b="0">
                <a:solidFill>
                  <a:srgbClr val="404040"/>
                </a:solidFill>
              </a:rPr>
              <a:t>heben sich weitgehend auf.</a:t>
            </a:r>
          </a:p>
        </p:txBody>
      </p:sp>
      <p:sp>
        <p:nvSpPr>
          <p:cNvPr id="10" name="Rectangle 9"/>
          <p:cNvSpPr/>
          <p:nvPr/>
        </p:nvSpPr>
        <p:spPr>
          <a:xfrm>
            <a:off x="7096759"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Vermutung 2</a:t>
            </a:r>
          </a:p>
        </p:txBody>
      </p:sp>
      <p:sp>
        <p:nvSpPr>
          <p:cNvPr id="13" name="TextBox 12"/>
          <p:cNvSpPr txBox="1"/>
          <p:nvPr/>
        </p:nvSpPr>
        <p:spPr>
          <a:xfrm>
            <a:off x="7274559" y="2159000"/>
            <a:ext cx="5194300" cy="1854200"/>
          </a:xfrm>
          <a:prstGeom prst="rect">
            <a:avLst/>
          </a:prstGeom>
          <a:noFill/>
        </p:spPr>
        <p:txBody>
          <a:bodyPr wrap="square" lIns="0" tIns="0" rIns="0" bIns="0">
            <a:spAutoFit/>
          </a:bodyPr>
          <a:lstStyle/>
          <a:p>
            <a:pPr algn="l">
              <a:lnSpc>
                <a:spcPct val="95000"/>
              </a:lnSpc>
            </a:pPr>
            <a:r>
              <a:rPr sz="1400" b="1">
                <a:solidFill>
                  <a:srgbClr val="55801C"/>
                </a:solidFill>
              </a:rPr>
              <a:t>Ist das Modell bei teuren Rädern schlechter?</a:t>
            </a:r>
          </a:p>
          <a:p>
            <a:pPr algn="l">
              <a:lnSpc>
                <a:spcPct val="95000"/>
              </a:lnSpc>
              <a:spcBef>
                <a:spcPts val="300"/>
              </a:spcBef>
            </a:pPr>
            <a:r>
              <a:rPr sz="1300" b="0">
                <a:solidFill>
                  <a:srgbClr val="404040"/>
                </a:solidFill>
              </a:rPr>
              <a:t>CARGO   2,48 € von 11,97 €  = 21 %</a:t>
            </a:r>
          </a:p>
          <a:p>
            <a:pPr algn="l">
              <a:lnSpc>
                <a:spcPct val="95000"/>
              </a:lnSpc>
              <a:spcBef>
                <a:spcPts val="300"/>
              </a:spcBef>
            </a:pPr>
            <a:r>
              <a:rPr sz="1300" b="0">
                <a:solidFill>
                  <a:srgbClr val="404040"/>
                </a:solidFill>
              </a:rPr>
              <a:t>CITY    0,41 € von  1,67 €  = 24 %</a:t>
            </a:r>
          </a:p>
          <a:p>
            <a:pPr algn="l">
              <a:lnSpc>
                <a:spcPct val="95000"/>
              </a:lnSpc>
              <a:spcBef>
                <a:spcPts val="300"/>
              </a:spcBef>
            </a:pPr>
            <a:r>
              <a:rPr sz="1300" b="0">
                <a:solidFill>
                  <a:srgbClr val="404040"/>
                </a:solidFill>
              </a:rPr>
              <a:t>EBIKE   0,85 € von  4,34 €  = 20 %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Nein. Relativ zum Fahrpreis ist</a:t>
            </a:r>
          </a:p>
          <a:p>
            <a:pPr algn="l">
              <a:lnSpc>
                <a:spcPct val="95000"/>
              </a:lnSpc>
              <a:spcBef>
                <a:spcPts val="300"/>
              </a:spcBef>
            </a:pPr>
            <a:r>
              <a:rPr sz="1300" b="0">
                <a:solidFill>
                  <a:srgbClr val="404040"/>
                </a:solidFill>
              </a:rPr>
              <a:t>die Abweichung überall ähnlich.</a:t>
            </a:r>
          </a:p>
        </p:txBody>
      </p:sp>
      <p:sp>
        <p:nvSpPr>
          <p:cNvPr id="14" name="Rectangle 13"/>
          <p:cNvSpPr/>
          <p:nvPr/>
        </p:nvSpPr>
        <p:spPr>
          <a:xfrm>
            <a:off x="1153160" y="4267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43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Was sich unterscheidet, ist nicht das Modell, sondern die Strenge einer festen 50-Cent-Grenze bei drei sehr verschiedenen Fahrpreisen.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belastbar ist das? Vier Fenster statt einer Zahl</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einzelner Testzeitraum kann günstig liegen. Rollierend geprüft sieht man, wie stark das Ergebnis schwankt.</a:t>
            </a:r>
          </a:p>
        </p:txBody>
      </p:sp>
      <p:sp>
        <p:nvSpPr>
          <p:cNvPr id="6" name="Rectangle 5"/>
          <p:cNvSpPr/>
          <p:nvPr/>
        </p:nvSpPr>
        <p:spPr>
          <a:xfrm>
            <a:off x="1153160" y="1651000"/>
            <a:ext cx="3810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Fenster</a:t>
            </a:r>
          </a:p>
        </p:txBody>
      </p:sp>
      <p:sp>
        <p:nvSpPr>
          <p:cNvPr id="7" name="Rectangle 6"/>
          <p:cNvSpPr/>
          <p:nvPr/>
        </p:nvSpPr>
        <p:spPr>
          <a:xfrm>
            <a:off x="4963160" y="1651000"/>
            <a:ext cx="165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Fahrten</a:t>
            </a:r>
          </a:p>
        </p:txBody>
      </p:sp>
      <p:sp>
        <p:nvSpPr>
          <p:cNvPr id="8" name="Rectangle 7"/>
          <p:cNvSpPr/>
          <p:nvPr/>
        </p:nvSpPr>
        <p:spPr>
          <a:xfrm>
            <a:off x="6614159" y="1651000"/>
            <a:ext cx="2540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(Minuten)</a:t>
            </a:r>
          </a:p>
        </p:txBody>
      </p:sp>
      <p:sp>
        <p:nvSpPr>
          <p:cNvPr id="9" name="Rectangle 8"/>
          <p:cNvSpPr/>
          <p:nvPr/>
        </p:nvSpPr>
        <p:spPr>
          <a:xfrm>
            <a:off x="9154160" y="1651000"/>
            <a:ext cx="347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CITY-Preisfehler</a:t>
            </a:r>
          </a:p>
        </p:txBody>
      </p:sp>
      <p:sp>
        <p:nvSpPr>
          <p:cNvPr id="10" name="Rectangle 9"/>
          <p:cNvSpPr/>
          <p:nvPr/>
        </p:nvSpPr>
        <p:spPr>
          <a:xfrm>
            <a:off x="1153160" y="2159000"/>
            <a:ext cx="381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10/2024 bis 02/2025</a:t>
            </a:r>
          </a:p>
        </p:txBody>
      </p:sp>
      <p:sp>
        <p:nvSpPr>
          <p:cNvPr id="11" name="Rectangle 10"/>
          <p:cNvSpPr/>
          <p:nvPr/>
        </p:nvSpPr>
        <p:spPr>
          <a:xfrm>
            <a:off x="4963160" y="2159000"/>
            <a:ext cx="165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12" name="Rectangle 11"/>
          <p:cNvSpPr/>
          <p:nvPr/>
        </p:nvSpPr>
        <p:spPr>
          <a:xfrm>
            <a:off x="6614159" y="2159000"/>
            <a:ext cx="254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a:t>
            </a:r>
          </a:p>
        </p:txBody>
      </p:sp>
      <p:sp>
        <p:nvSpPr>
          <p:cNvPr id="13" name="Rectangle 12"/>
          <p:cNvSpPr/>
          <p:nvPr/>
        </p:nvSpPr>
        <p:spPr>
          <a:xfrm>
            <a:off x="9154160" y="2159000"/>
            <a:ext cx="347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0,37 €</a:t>
            </a:r>
          </a:p>
        </p:txBody>
      </p:sp>
      <p:sp>
        <p:nvSpPr>
          <p:cNvPr id="14" name="Rectangle 13"/>
          <p:cNvSpPr/>
          <p:nvPr/>
        </p:nvSpPr>
        <p:spPr>
          <a:xfrm>
            <a:off x="1153160" y="2667000"/>
            <a:ext cx="381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02/2025 bis 05/2025</a:t>
            </a:r>
          </a:p>
        </p:txBody>
      </p:sp>
      <p:sp>
        <p:nvSpPr>
          <p:cNvPr id="15" name="Rectangle 14"/>
          <p:cNvSpPr/>
          <p:nvPr/>
        </p:nvSpPr>
        <p:spPr>
          <a:xfrm>
            <a:off x="4963160" y="2667000"/>
            <a:ext cx="165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16" name="Rectangle 15"/>
          <p:cNvSpPr/>
          <p:nvPr/>
        </p:nvSpPr>
        <p:spPr>
          <a:xfrm>
            <a:off x="6614159" y="2667000"/>
            <a:ext cx="254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3,73</a:t>
            </a:r>
          </a:p>
        </p:txBody>
      </p:sp>
      <p:sp>
        <p:nvSpPr>
          <p:cNvPr id="17" name="Rectangle 16"/>
          <p:cNvSpPr/>
          <p:nvPr/>
        </p:nvSpPr>
        <p:spPr>
          <a:xfrm>
            <a:off x="9154160" y="2667000"/>
            <a:ext cx="347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0,38 €</a:t>
            </a:r>
          </a:p>
        </p:txBody>
      </p:sp>
      <p:sp>
        <p:nvSpPr>
          <p:cNvPr id="18" name="Rectangle 17"/>
          <p:cNvSpPr/>
          <p:nvPr/>
        </p:nvSpPr>
        <p:spPr>
          <a:xfrm>
            <a:off x="1153160" y="3175000"/>
            <a:ext cx="381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05/2025 bis 07/2025</a:t>
            </a:r>
          </a:p>
        </p:txBody>
      </p:sp>
      <p:sp>
        <p:nvSpPr>
          <p:cNvPr id="19" name="Rectangle 18"/>
          <p:cNvSpPr/>
          <p:nvPr/>
        </p:nvSpPr>
        <p:spPr>
          <a:xfrm>
            <a:off x="4963160" y="3175000"/>
            <a:ext cx="165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20" name="Rectangle 19"/>
          <p:cNvSpPr/>
          <p:nvPr/>
        </p:nvSpPr>
        <p:spPr>
          <a:xfrm>
            <a:off x="6614159" y="3175000"/>
            <a:ext cx="254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4,39</a:t>
            </a:r>
          </a:p>
        </p:txBody>
      </p:sp>
      <p:sp>
        <p:nvSpPr>
          <p:cNvPr id="21" name="Rectangle 20"/>
          <p:cNvSpPr/>
          <p:nvPr/>
        </p:nvSpPr>
        <p:spPr>
          <a:xfrm>
            <a:off x="9154160" y="3175000"/>
            <a:ext cx="347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0,45 €</a:t>
            </a:r>
          </a:p>
        </p:txBody>
      </p:sp>
      <p:sp>
        <p:nvSpPr>
          <p:cNvPr id="22" name="Rectangle 21"/>
          <p:cNvSpPr/>
          <p:nvPr/>
        </p:nvSpPr>
        <p:spPr>
          <a:xfrm>
            <a:off x="1153160" y="3683000"/>
            <a:ext cx="381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07/2025 bis 09/2025</a:t>
            </a:r>
          </a:p>
        </p:txBody>
      </p:sp>
      <p:sp>
        <p:nvSpPr>
          <p:cNvPr id="23" name="Rectangle 22"/>
          <p:cNvSpPr/>
          <p:nvPr/>
        </p:nvSpPr>
        <p:spPr>
          <a:xfrm>
            <a:off x="4963160" y="3683000"/>
            <a:ext cx="165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24" name="Rectangle 23"/>
          <p:cNvSpPr/>
          <p:nvPr/>
        </p:nvSpPr>
        <p:spPr>
          <a:xfrm>
            <a:off x="6614159" y="3683000"/>
            <a:ext cx="254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4,33</a:t>
            </a:r>
          </a:p>
        </p:txBody>
      </p:sp>
      <p:sp>
        <p:nvSpPr>
          <p:cNvPr id="25" name="Rectangle 24"/>
          <p:cNvSpPr/>
          <p:nvPr/>
        </p:nvSpPr>
        <p:spPr>
          <a:xfrm>
            <a:off x="9154160" y="3683000"/>
            <a:ext cx="347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0,45 €</a:t>
            </a:r>
          </a:p>
        </p:txBody>
      </p:sp>
      <p:sp>
        <p:nvSpPr>
          <p:cNvPr id="26" name="Rectangle 25"/>
          <p:cNvSpPr/>
          <p:nvPr/>
        </p:nvSpPr>
        <p:spPr>
          <a:xfrm>
            <a:off x="1153160" y="4368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445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Der CITY-Preisfehler schwankt zwischen 0,37 € und 0,45 €. Die Grenze von 0,50 € liegt oberhalb der gesamten Schwankung — im schlechtesten Fenster mit fünf Cent Abstand. Für CITY ist die Punktschätzung damit belastbar.</a:t>
            </a:r>
          </a:p>
        </p:txBody>
      </p:sp>
      <p:sp>
        <p:nvSpPr>
          <p:cNvPr id="28" name="Rectangle 2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0" name="Rectangle 2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2" name="Rectangle 3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4" name="Rectangle 3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6" name="Rectangle 35"/>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8" name="Rectangle 3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Woran es liegt — und woran nicht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wie gut, sondern woran es scheitert. Das Muster ist kein statistisches, sondern ein menschliches.</a:t>
            </a:r>
          </a:p>
        </p:txBody>
      </p:sp>
      <p:sp>
        <p:nvSpPr>
          <p:cNvPr id="6" name="Rectangle 5"/>
          <p:cNvSpPr/>
          <p:nvPr/>
        </p:nvSpPr>
        <p:spPr>
          <a:xfrm>
            <a:off x="1153160"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Schwierig</a:t>
            </a:r>
          </a:p>
        </p:txBody>
      </p:sp>
      <p:sp>
        <p:nvSpPr>
          <p:cNvPr id="9" name="TextBox 8"/>
          <p:cNvSpPr txBox="1"/>
          <p:nvPr/>
        </p:nvSpPr>
        <p:spPr>
          <a:xfrm>
            <a:off x="1330960" y="2159000"/>
            <a:ext cx="5194300" cy="1854200"/>
          </a:xfrm>
          <a:prstGeom prst="rect">
            <a:avLst/>
          </a:prstGeom>
          <a:noFill/>
        </p:spPr>
        <p:txBody>
          <a:bodyPr wrap="square" lIns="0" tIns="0" rIns="0" bIns="0">
            <a:spAutoFit/>
          </a:bodyPr>
          <a:lstStyle/>
          <a:p>
            <a:pPr algn="l">
              <a:lnSpc>
                <a:spcPct val="95000"/>
              </a:lnSpc>
            </a:pPr>
            <a:r>
              <a:rPr sz="1400" b="1">
                <a:solidFill>
                  <a:srgbClr val="A32638"/>
                </a:solidFill>
              </a:rPr>
              <a:t>Gefahren, um zu fahren</a:t>
            </a:r>
          </a:p>
          <a:p>
            <a:pPr algn="l">
              <a:lnSpc>
                <a:spcPct val="95000"/>
              </a:lnSpc>
              <a:spcBef>
                <a:spcPts val="300"/>
              </a:spcBef>
            </a:pPr>
            <a:r>
              <a:rPr sz="1300" b="0">
                <a:solidFill>
                  <a:srgbClr val="404040"/>
                </a:solidFill>
              </a:rPr>
              <a:t>Dom → Residenz</a:t>
            </a:r>
          </a:p>
          <a:p>
            <a:pPr algn="l">
              <a:lnSpc>
                <a:spcPct val="95000"/>
              </a:lnSpc>
              <a:spcBef>
                <a:spcPts val="300"/>
              </a:spcBef>
            </a:pPr>
            <a:r>
              <a:rPr sz="1300" b="0">
                <a:solidFill>
                  <a:srgbClr val="404040"/>
                </a:solidFill>
              </a:rPr>
              <a:t>  32 Min · Abweichung 0,77 €</a:t>
            </a:r>
          </a:p>
          <a:p>
            <a:pPr algn="l">
              <a:lnSpc>
                <a:spcPct val="95000"/>
              </a:lnSpc>
              <a:spcBef>
                <a:spcPts val="300"/>
              </a:spcBef>
            </a:pPr>
            <a:r>
              <a:rPr sz="1300" b="0">
                <a:solidFill>
                  <a:srgbClr val="404040"/>
                </a:solidFill>
              </a:rPr>
              <a:t>Residenz → Juliuspromenade</a:t>
            </a:r>
          </a:p>
          <a:p>
            <a:pPr algn="l">
              <a:lnSpc>
                <a:spcPct val="95000"/>
              </a:lnSpc>
              <a:spcBef>
                <a:spcPts val="300"/>
              </a:spcBef>
            </a:pPr>
            <a:r>
              <a:rPr sz="1300" b="0">
                <a:solidFill>
                  <a:srgbClr val="404040"/>
                </a:solidFill>
              </a:rPr>
              <a:t>  28 Min · Abweichung 0,78 €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Je nach Anlass zwanzig oder</a:t>
            </a:r>
          </a:p>
          <a:p>
            <a:pPr algn="l">
              <a:lnSpc>
                <a:spcPct val="95000"/>
              </a:lnSpc>
              <a:spcBef>
                <a:spcPts val="300"/>
              </a:spcBef>
            </a:pPr>
            <a:r>
              <a:rPr sz="1300" b="0">
                <a:solidFill>
                  <a:srgbClr val="404040"/>
                </a:solidFill>
              </a:rPr>
              <a:t>vierzig Minuten unterwegs.</a:t>
            </a:r>
          </a:p>
        </p:txBody>
      </p:sp>
      <p:sp>
        <p:nvSpPr>
          <p:cNvPr id="10" name="Rectangle 9"/>
          <p:cNvSpPr/>
          <p:nvPr/>
        </p:nvSpPr>
        <p:spPr>
          <a:xfrm>
            <a:off x="7096759"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Treffsicher</a:t>
            </a:r>
          </a:p>
        </p:txBody>
      </p:sp>
      <p:sp>
        <p:nvSpPr>
          <p:cNvPr id="13" name="TextBox 12"/>
          <p:cNvSpPr txBox="1"/>
          <p:nvPr/>
        </p:nvSpPr>
        <p:spPr>
          <a:xfrm>
            <a:off x="7274559" y="2159000"/>
            <a:ext cx="5194300" cy="1854200"/>
          </a:xfrm>
          <a:prstGeom prst="rect">
            <a:avLst/>
          </a:prstGeom>
          <a:noFill/>
        </p:spPr>
        <p:txBody>
          <a:bodyPr wrap="square" lIns="0" tIns="0" rIns="0" bIns="0">
            <a:spAutoFit/>
          </a:bodyPr>
          <a:lstStyle/>
          <a:p>
            <a:pPr algn="l">
              <a:lnSpc>
                <a:spcPct val="95000"/>
              </a:lnSpc>
            </a:pPr>
            <a:r>
              <a:rPr sz="1400" b="1">
                <a:solidFill>
                  <a:srgbClr val="55801C"/>
                </a:solidFill>
              </a:rPr>
              <a:t>Gefahren, um anzukommen</a:t>
            </a:r>
          </a:p>
          <a:p>
            <a:pPr algn="l">
              <a:lnSpc>
                <a:spcPct val="95000"/>
              </a:lnSpc>
              <a:spcBef>
                <a:spcPts val="300"/>
              </a:spcBef>
            </a:pPr>
            <a:r>
              <a:rPr sz="1300" b="0">
                <a:solidFill>
                  <a:srgbClr val="404040"/>
                </a:solidFill>
              </a:rPr>
              <a:t>Grombühl Klinikum → Sanderau</a:t>
            </a:r>
          </a:p>
          <a:p>
            <a:pPr algn="l">
              <a:lnSpc>
                <a:spcPct val="95000"/>
              </a:lnSpc>
              <a:spcBef>
                <a:spcPts val="300"/>
              </a:spcBef>
            </a:pPr>
            <a:r>
              <a:rPr sz="1300" b="0">
                <a:solidFill>
                  <a:srgbClr val="404040"/>
                </a:solidFill>
              </a:rPr>
              <a:t>  7 Min · Abweichung 0,09 €</a:t>
            </a:r>
          </a:p>
          <a:p>
            <a:pPr algn="l">
              <a:lnSpc>
                <a:spcPct val="95000"/>
              </a:lnSpc>
              <a:spcBef>
                <a:spcPts val="300"/>
              </a:spcBef>
            </a:pPr>
            <a:r>
              <a:rPr sz="1300" b="0">
                <a:solidFill>
                  <a:srgbClr val="404040"/>
                </a:solidFill>
              </a:rPr>
              <a:t>Sanderau → Uni Sanderring</a:t>
            </a:r>
          </a:p>
          <a:p>
            <a:pPr algn="l">
              <a:lnSpc>
                <a:spcPct val="95000"/>
              </a:lnSpc>
              <a:spcBef>
                <a:spcPts val="300"/>
              </a:spcBef>
            </a:pPr>
            <a:r>
              <a:rPr sz="1300" b="0">
                <a:solidFill>
                  <a:srgbClr val="404040"/>
                </a:solidFill>
              </a:rPr>
              <a:t>  7 Min · Abweichung 0,11 €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Pendelwege, jeden Tag</a:t>
            </a:r>
          </a:p>
          <a:p>
            <a:pPr algn="l">
              <a:lnSpc>
                <a:spcPct val="95000"/>
              </a:lnSpc>
              <a:spcBef>
                <a:spcPts val="300"/>
              </a:spcBef>
            </a:pPr>
            <a:r>
              <a:rPr sz="1300" b="0">
                <a:solidFill>
                  <a:srgbClr val="404040"/>
                </a:solidFill>
              </a:rPr>
              <a:t>ungefähr gleich.</a:t>
            </a:r>
          </a:p>
        </p:txBody>
      </p:sp>
      <p:sp>
        <p:nvSpPr>
          <p:cNvPr id="14" name="Rectangle 13"/>
          <p:cNvSpPr/>
          <p:nvPr/>
        </p:nvSpPr>
        <p:spPr>
          <a:xfrm>
            <a:off x="1153160" y="4267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43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Das Modell ist genau, wo gefahren wird, um anzukommen — und ungenau, wo gefahren wird, um zu fahren.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 obwohl das Kriterium hält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Für CITY könnten wir jetzt ausliefern. Wir tun es nicht, und zwar aus zwei Gründen, die nichts mit einem gerissenen Kriterium zu tun haben.</a:t>
            </a:r>
          </a:p>
        </p:txBody>
      </p:sp>
      <p:sp>
        <p:nvSpPr>
          <p:cNvPr id="6" name="Rectangle 5"/>
          <p:cNvSpPr/>
          <p:nvPr/>
        </p:nvSpPr>
        <p:spPr>
          <a:xfrm>
            <a:off x="115316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Ein Mittelwert ist
keine Erfahrung</a:t>
            </a:r>
          </a:p>
          <a:p>
            <a:pPr algn="l">
              <a:lnSpc>
                <a:spcPct val="95000"/>
              </a:lnSpc>
              <a:spcBef>
                <a:spcPts val="500"/>
              </a:spcBef>
            </a:pPr>
            <a:r>
              <a:rPr sz="1300" b="0">
                <a:solidFill>
                  <a:srgbClr val="404040"/>
                </a:solidFill>
              </a:rPr>
              <a:t>0,41 € im Mittel klingt gut.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 rund jeder vierten</a:t>
            </a:r>
          </a:p>
          <a:p>
            <a:pPr algn="l">
              <a:lnSpc>
                <a:spcPct val="95000"/>
              </a:lnSpc>
              <a:spcBef>
                <a:spcPts val="500"/>
              </a:spcBef>
            </a:pPr>
            <a:r>
              <a:rPr sz="1300" b="0">
                <a:solidFill>
                  <a:srgbClr val="404040"/>
                </a:solidFill>
              </a:rPr>
              <a:t>CITY-Fahrt liegt die Anzeige</a:t>
            </a:r>
          </a:p>
          <a:p>
            <a:pPr algn="l">
              <a:lnSpc>
                <a:spcPct val="95000"/>
              </a:lnSpc>
              <a:spcBef>
                <a:spcPts val="500"/>
              </a:spcBef>
            </a:pPr>
            <a:r>
              <a:rPr sz="1300" b="0">
                <a:solidFill>
                  <a:srgbClr val="404040"/>
                </a:solidFill>
              </a:rPr>
              <a:t>aber um mehr als 50 Cent</a:t>
            </a:r>
          </a:p>
          <a:p>
            <a:pPr algn="l">
              <a:lnSpc>
                <a:spcPct val="95000"/>
              </a:lnSpc>
              <a:spcBef>
                <a:spcPts val="500"/>
              </a:spcBef>
            </a:pPr>
            <a:r>
              <a:rPr sz="1300" b="0">
                <a:solidFill>
                  <a:srgbClr val="404040"/>
                </a:solidFill>
              </a:rPr>
              <a:t>daneben. Ein Kunde erlebt</a:t>
            </a:r>
          </a:p>
          <a:p>
            <a:pPr algn="l">
              <a:lnSpc>
                <a:spcPct val="95000"/>
              </a:lnSpc>
              <a:spcBef>
                <a:spcPts val="500"/>
              </a:spcBef>
            </a:pPr>
            <a:r>
              <a:rPr sz="1300" b="0">
                <a:solidFill>
                  <a:srgbClr val="404040"/>
                </a:solidFill>
              </a:rPr>
              <a:t>keinen Mittelwert.</a:t>
            </a:r>
          </a:p>
        </p:txBody>
      </p:sp>
      <p:sp>
        <p:nvSpPr>
          <p:cNvPr id="9" name="Rectangle 8"/>
          <p:cNvSpPr/>
          <p:nvPr/>
        </p:nvSpPr>
        <p:spPr>
          <a:xfrm>
            <a:off x="511302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Zwei von drei Radtypen
haben kein Produkt</a:t>
            </a:r>
          </a:p>
          <a:p>
            <a:pPr algn="l">
              <a:lnSpc>
                <a:spcPct val="95000"/>
              </a:lnSpc>
              <a:spcBef>
                <a:spcPts val="500"/>
              </a:spcBef>
            </a:pPr>
            <a:r>
              <a:rPr sz="1300" b="0">
                <a:solidFill>
                  <a:srgbClr val="404040"/>
                </a:solidFill>
              </a:rPr>
              <a:t>EBIKE und CARGO reißen die</a:t>
            </a:r>
          </a:p>
          <a:p>
            <a:pPr algn="l">
              <a:lnSpc>
                <a:spcPct val="95000"/>
              </a:lnSpc>
              <a:spcBef>
                <a:spcPts val="500"/>
              </a:spcBef>
            </a:pPr>
            <a:r>
              <a:rPr sz="1300" b="0">
                <a:solidFill>
                  <a:srgbClr val="404040"/>
                </a:solidFill>
              </a:rPr>
              <a:t>Grenze deutlich.</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Eine Lösung nur für das</a:t>
            </a:r>
          </a:p>
          <a:p>
            <a:pPr algn="l">
              <a:lnSpc>
                <a:spcPct val="95000"/>
              </a:lnSpc>
              <a:spcBef>
                <a:spcPts val="500"/>
              </a:spcBef>
            </a:pPr>
            <a:r>
              <a:rPr sz="1300" b="0">
                <a:solidFill>
                  <a:srgbClr val="404040"/>
                </a:solidFill>
              </a:rPr>
              <a:t>billigste Rad beantwortet</a:t>
            </a:r>
          </a:p>
          <a:p>
            <a:pPr algn="l">
              <a:lnSpc>
                <a:spcPct val="95000"/>
              </a:lnSpc>
              <a:spcBef>
                <a:spcPts val="500"/>
              </a:spcBef>
            </a:pPr>
            <a:r>
              <a:rPr sz="1300" b="0">
                <a:solidFill>
                  <a:srgbClr val="404040"/>
                </a:solidFill>
              </a:rPr>
              <a:t>die Geschäftsfrage nicht.</a:t>
            </a:r>
          </a:p>
        </p:txBody>
      </p:sp>
      <p:sp>
        <p:nvSpPr>
          <p:cNvPr id="12" name="Rectangle 11"/>
          <p:cNvSpPr/>
          <p:nvPr/>
        </p:nvSpPr>
        <p:spPr>
          <a:xfrm>
            <a:off x="908177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Also: die Zusage ändern</a:t>
            </a:r>
          </a:p>
          <a:p>
            <a:pPr algn="l">
              <a:lnSpc>
                <a:spcPct val="95000"/>
              </a:lnSpc>
              <a:spcBef>
                <a:spcPts val="500"/>
              </a:spcBef>
            </a:pPr>
            <a:r>
              <a:rPr sz="1300" b="0">
                <a:solidFill>
                  <a:srgbClr val="404040"/>
                </a:solidFill>
              </a:rPr>
              <a:t>Nicht die Grenze lockern —</a:t>
            </a:r>
          </a:p>
          <a:p>
            <a:pPr algn="l">
              <a:lnSpc>
                <a:spcPct val="95000"/>
              </a:lnSpc>
              <a:spcBef>
                <a:spcPts val="500"/>
              </a:spcBef>
            </a:pPr>
            <a:r>
              <a:rPr sz="1300" b="0">
                <a:solidFill>
                  <a:srgbClr val="404040"/>
                </a:solidFill>
              </a:rPr>
              <a:t>verboten und hier unnötig.</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das Verfahren tauschen —</a:t>
            </a:r>
          </a:p>
          <a:p>
            <a:pPr algn="l">
              <a:lnSpc>
                <a:spcPct val="95000"/>
              </a:lnSpc>
              <a:spcBef>
                <a:spcPts val="500"/>
              </a:spcBef>
            </a:pPr>
            <a:r>
              <a:rPr sz="1300" b="0">
                <a:solidFill>
                  <a:srgbClr val="404040"/>
                </a:solidFill>
              </a:rPr>
              <a:t>die Ablation zeigt, dass die</a:t>
            </a:r>
          </a:p>
          <a:p>
            <a:pPr algn="l">
              <a:lnSpc>
                <a:spcPct val="95000"/>
              </a:lnSpc>
              <a:spcBef>
                <a:spcPts val="500"/>
              </a:spcBef>
            </a:pPr>
            <a:r>
              <a:rPr sz="1300" b="0">
                <a:solidFill>
                  <a:srgbClr val="404040"/>
                </a:solidFill>
              </a:rPr>
              <a:t>Information fehlt, nicht die</a:t>
            </a:r>
          </a:p>
          <a:p>
            <a:pPr algn="l">
              <a:lnSpc>
                <a:spcPct val="95000"/>
              </a:lnSpc>
              <a:spcBef>
                <a:spcPts val="500"/>
              </a:spcBef>
            </a:pPr>
            <a:r>
              <a:rPr sz="1300" b="0">
                <a:solidFill>
                  <a:srgbClr val="404040"/>
                </a:solidFill>
              </a:rPr>
              <a:t>Rechenkraft.</a:t>
            </a:r>
          </a:p>
        </p:txBody>
      </p:sp>
      <p:sp>
        <p:nvSpPr>
          <p:cNvPr id="15" name="Rectangle 14"/>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neue Kriterium — wieder vor der Messung festgelegt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Statt einer Zahl eine Spanne. Damit ändert sich nicht die Verfahrensklasse, sondern das, was die App verspricht.</a:t>
            </a:r>
          </a:p>
        </p:txBody>
      </p:sp>
      <p:sp>
        <p:nvSpPr>
          <p:cNvPr id="6" name="Rectangle 5"/>
          <p:cNvSpPr/>
          <p:nvPr/>
        </p:nvSpPr>
        <p:spPr>
          <a:xfrm>
            <a:off x="1153160" y="1651000"/>
            <a:ext cx="22860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3439160" y="1651000"/>
            <a:ext cx="918845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Neues Erfolgskriterium</a:t>
            </a:r>
          </a:p>
        </p:txBody>
      </p:sp>
      <p:sp>
        <p:nvSpPr>
          <p:cNvPr id="8" name="Rectangle 7"/>
          <p:cNvSpPr/>
          <p:nvPr/>
        </p:nvSpPr>
        <p:spPr>
          <a:xfrm>
            <a:off x="1153160" y="2336800"/>
            <a:ext cx="2286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trifft</a:t>
            </a:r>
          </a:p>
        </p:txBody>
      </p:sp>
      <p:sp>
        <p:nvSpPr>
          <p:cNvPr id="9" name="Rectangle 8"/>
          <p:cNvSpPr/>
          <p:nvPr/>
        </p:nvSpPr>
        <p:spPr>
          <a:xfrm>
            <a:off x="3439160" y="2336800"/>
            <a:ext cx="9188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angezeigte Spanne enthält den tatsächlichen Preis in mindestens 80 % der Fälle — insgesamt UND je Radtyp</a:t>
            </a:r>
          </a:p>
        </p:txBody>
      </p:sp>
      <p:sp>
        <p:nvSpPr>
          <p:cNvPr id="10" name="Rectangle 9"/>
          <p:cNvSpPr/>
          <p:nvPr/>
        </p:nvSpPr>
        <p:spPr>
          <a:xfrm>
            <a:off x="1153160" y="3022600"/>
            <a:ext cx="2286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nützt</a:t>
            </a:r>
          </a:p>
        </p:txBody>
      </p:sp>
      <p:sp>
        <p:nvSpPr>
          <p:cNvPr id="11" name="Rectangle 10"/>
          <p:cNvSpPr/>
          <p:nvPr/>
        </p:nvSpPr>
        <p:spPr>
          <a:xfrm>
            <a:off x="3439160" y="3022600"/>
            <a:ext cx="9188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Spanne ist höchstens 1,00 € breit. Ist sie breiter, zeigt die App gar nichts an</a:t>
            </a:r>
          </a:p>
        </p:txBody>
      </p:sp>
      <p:sp>
        <p:nvSpPr>
          <p:cNvPr id="12" name="Rectangle 11"/>
          <p:cNvSpPr/>
          <p:nvPr/>
        </p:nvSpPr>
        <p:spPr>
          <a:xfrm>
            <a:off x="1153160" y="3708400"/>
            <a:ext cx="2286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gemessen auf</a:t>
            </a:r>
          </a:p>
        </p:txBody>
      </p:sp>
      <p:sp>
        <p:nvSpPr>
          <p:cNvPr id="13" name="Rectangle 12"/>
          <p:cNvSpPr/>
          <p:nvPr/>
        </p:nvSpPr>
        <p:spPr>
          <a:xfrm>
            <a:off x="3439160" y="3708400"/>
            <a:ext cx="9188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Test 2 — dem Zeitraum, den bis hierher nichts berührt hat</a:t>
            </a:r>
          </a:p>
        </p:txBody>
      </p:sp>
      <p:sp>
        <p:nvSpPr>
          <p:cNvPr id="14" name="Rectangle 13"/>
          <p:cNvSpPr/>
          <p:nvPr/>
        </p:nvSpPr>
        <p:spPr>
          <a:xfrm>
            <a:off x="1153160" y="4572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648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zweite Zeile ist die wichtigere. Eine Spanne von 4 bis 12 Euro trifft fast immer — und nützt niemandem. Ohne die Breitenregel wäre das Kriterium wertlos.</a:t>
            </a:r>
          </a:p>
        </p:txBody>
      </p:sp>
      <p:sp>
        <p:nvSpPr>
          <p:cNvPr id="16" name="Rectangle 15"/>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Kandidaten für dieselbe Zusage</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Spanne kann man rechnen lassen oder nachschlagen. Beide Wege werden gebaut und gegen dasselbe Kriterium gehalten.</a:t>
            </a:r>
          </a:p>
        </p:txBody>
      </p:sp>
      <p:sp>
        <p:nvSpPr>
          <p:cNvPr id="6" name="Rectangle 5"/>
          <p:cNvSpPr/>
          <p:nvPr/>
        </p:nvSpPr>
        <p:spPr>
          <a:xfrm>
            <a:off x="1153160" y="1651000"/>
            <a:ext cx="355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709160" y="1651000"/>
            <a:ext cx="4064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Quantilregression</a:t>
            </a:r>
          </a:p>
        </p:txBody>
      </p:sp>
      <p:sp>
        <p:nvSpPr>
          <p:cNvPr id="8" name="Rectangle 7"/>
          <p:cNvSpPr/>
          <p:nvPr/>
        </p:nvSpPr>
        <p:spPr>
          <a:xfrm>
            <a:off x="8773160" y="1651000"/>
            <a:ext cx="3854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Perzentiltabelle</a:t>
            </a:r>
          </a:p>
        </p:txBody>
      </p:sp>
      <p:sp>
        <p:nvSpPr>
          <p:cNvPr id="9" name="Rectangle 8"/>
          <p:cNvSpPr/>
          <p:nvPr/>
        </p:nvSpPr>
        <p:spPr>
          <a:xfrm>
            <a:off x="1153160" y="2057400"/>
            <a:ext cx="355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antwortet bei</a:t>
            </a:r>
          </a:p>
        </p:txBody>
      </p:sp>
      <p:sp>
        <p:nvSpPr>
          <p:cNvPr id="10" name="Rectangle 9"/>
          <p:cNvSpPr/>
          <p:nvPr/>
        </p:nvSpPr>
        <p:spPr>
          <a:xfrm>
            <a:off x="4709160" y="2057400"/>
            <a:ext cx="406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45,4 % der Anfragen</a:t>
            </a:r>
          </a:p>
        </p:txBody>
      </p:sp>
      <p:sp>
        <p:nvSpPr>
          <p:cNvPr id="11" name="Rectangle 10"/>
          <p:cNvSpPr/>
          <p:nvPr/>
        </p:nvSpPr>
        <p:spPr>
          <a:xfrm>
            <a:off x="8773160" y="2057400"/>
            <a:ext cx="3854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31,0 %</a:t>
            </a:r>
          </a:p>
        </p:txBody>
      </p:sp>
      <p:sp>
        <p:nvSpPr>
          <p:cNvPr id="12" name="Rectangle 11"/>
          <p:cNvSpPr/>
          <p:nvPr/>
        </p:nvSpPr>
        <p:spPr>
          <a:xfrm>
            <a:off x="1153160" y="2463800"/>
            <a:ext cx="355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Abdeckung (angezeigt)</a:t>
            </a:r>
          </a:p>
        </p:txBody>
      </p:sp>
      <p:sp>
        <p:nvSpPr>
          <p:cNvPr id="13" name="Rectangle 12"/>
          <p:cNvSpPr/>
          <p:nvPr/>
        </p:nvSpPr>
        <p:spPr>
          <a:xfrm>
            <a:off x="4709160" y="2463800"/>
            <a:ext cx="406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87,5 %</a:t>
            </a:r>
          </a:p>
        </p:txBody>
      </p:sp>
      <p:sp>
        <p:nvSpPr>
          <p:cNvPr id="14" name="Rectangle 13"/>
          <p:cNvSpPr/>
          <p:nvPr/>
        </p:nvSpPr>
        <p:spPr>
          <a:xfrm>
            <a:off x="8773160" y="2463800"/>
            <a:ext cx="3854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83,2 %</a:t>
            </a:r>
          </a:p>
        </p:txBody>
      </p:sp>
      <p:sp>
        <p:nvSpPr>
          <p:cNvPr id="15" name="Rectangle 14"/>
          <p:cNvSpPr/>
          <p:nvPr/>
        </p:nvSpPr>
        <p:spPr>
          <a:xfrm>
            <a:off x="1153160" y="2870200"/>
            <a:ext cx="355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schlechtester Radtyp</a:t>
            </a:r>
          </a:p>
        </p:txBody>
      </p:sp>
      <p:sp>
        <p:nvSpPr>
          <p:cNvPr id="16" name="Rectangle 15"/>
          <p:cNvSpPr/>
          <p:nvPr/>
        </p:nvSpPr>
        <p:spPr>
          <a:xfrm>
            <a:off x="4709160" y="2870200"/>
            <a:ext cx="406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86,5 %</a:t>
            </a:r>
          </a:p>
        </p:txBody>
      </p:sp>
      <p:sp>
        <p:nvSpPr>
          <p:cNvPr id="17" name="Rectangle 16"/>
          <p:cNvSpPr/>
          <p:nvPr/>
        </p:nvSpPr>
        <p:spPr>
          <a:xfrm>
            <a:off x="8773160" y="2870200"/>
            <a:ext cx="3854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74,6 % — EBIKE</a:t>
            </a:r>
          </a:p>
        </p:txBody>
      </p:sp>
      <p:sp>
        <p:nvSpPr>
          <p:cNvPr id="18" name="Rectangle 17"/>
          <p:cNvSpPr/>
          <p:nvPr/>
        </p:nvSpPr>
        <p:spPr>
          <a:xfrm>
            <a:off x="1153160" y="3276600"/>
            <a:ext cx="355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verworfen, weil zu breit</a:t>
            </a:r>
          </a:p>
        </p:txBody>
      </p:sp>
      <p:sp>
        <p:nvSpPr>
          <p:cNvPr id="19" name="Rectangle 18"/>
          <p:cNvSpPr/>
          <p:nvPr/>
        </p:nvSpPr>
        <p:spPr>
          <a:xfrm>
            <a:off x="4709160" y="3276600"/>
            <a:ext cx="406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54,6 %</a:t>
            </a:r>
          </a:p>
        </p:txBody>
      </p:sp>
      <p:sp>
        <p:nvSpPr>
          <p:cNvPr id="20" name="Rectangle 19"/>
          <p:cNvSpPr/>
          <p:nvPr/>
        </p:nvSpPr>
        <p:spPr>
          <a:xfrm>
            <a:off x="8773160" y="3276600"/>
            <a:ext cx="3854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0 % (per Konstruktion)</a:t>
            </a:r>
          </a:p>
        </p:txBody>
      </p:sp>
      <p:sp>
        <p:nvSpPr>
          <p:cNvPr id="21" name="Rectangle 20"/>
          <p:cNvSpPr/>
          <p:nvPr/>
        </p:nvSpPr>
        <p:spPr>
          <a:xfrm>
            <a:off x="1153160" y="3683000"/>
            <a:ext cx="355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Kriterium insgesamt</a:t>
            </a:r>
          </a:p>
        </p:txBody>
      </p:sp>
      <p:sp>
        <p:nvSpPr>
          <p:cNvPr id="22" name="Rectangle 21"/>
          <p:cNvSpPr/>
          <p:nvPr/>
        </p:nvSpPr>
        <p:spPr>
          <a:xfrm>
            <a:off x="4709160" y="3683000"/>
            <a:ext cx="406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erfüllt</a:t>
            </a:r>
          </a:p>
        </p:txBody>
      </p:sp>
      <p:sp>
        <p:nvSpPr>
          <p:cNvPr id="23" name="Rectangle 22"/>
          <p:cNvSpPr/>
          <p:nvPr/>
        </p:nvSpPr>
        <p:spPr>
          <a:xfrm>
            <a:off x="8773160" y="3683000"/>
            <a:ext cx="3854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verfehlt</a:t>
            </a:r>
          </a:p>
        </p:txBody>
      </p:sp>
      <p:sp>
        <p:nvSpPr>
          <p:cNvPr id="24" name="Rectangle 23"/>
          <p:cNvSpPr/>
          <p:nvPr/>
        </p:nvSpPr>
        <p:spPr>
          <a:xfrm>
            <a:off x="1153160" y="4267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343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Gemessen am eigenen Kriterium ist die Quantilregression der bessere Kandidat. Das gehört so gesagt — auch wenn die Entscheidung gleich anders ausfällt.</a:t>
            </a:r>
          </a:p>
        </p:txBody>
      </p:sp>
      <p:sp>
        <p:nvSpPr>
          <p:cNvPr id="26" name="Rectangle 2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8" name="Rectangle 2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0" name="Rectangle 2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2" name="Rectangle 3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4" name="Rectangle 3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6" name="Rectangle 3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Kandidatenvergleich, wie er im Notebook steht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analytics/notebooks/01_Regression_Fahrtdauer.ipynb · Abschnitt 5.6</a:t>
            </a:r>
          </a:p>
        </p:txBody>
      </p:sp>
      <p:sp>
        <p:nvSpPr>
          <p:cNvPr id="5" name="Rectangle 4"/>
          <p:cNvSpPr/>
          <p:nvPr/>
        </p:nvSpPr>
        <p:spPr>
          <a:xfrm>
            <a:off x="1051560" y="2373199"/>
            <a:ext cx="11677650" cy="1781401"/>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kandidaten.png"/>
          <p:cNvPicPr>
            <a:picLocks noChangeAspect="1"/>
          </p:cNvPicPr>
          <p:nvPr/>
        </p:nvPicPr>
        <p:blipFill>
          <a:blip r:embed="rId2"/>
          <a:stretch>
            <a:fillRect/>
          </a:stretch>
        </p:blipFill>
        <p:spPr>
          <a:xfrm>
            <a:off x="1153160" y="2474799"/>
            <a:ext cx="11474450" cy="1578201"/>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Hätte man nur die Dauerabdeckung gemessen, sähen beide gut aus. Erst die vollständige Prüfung — Preis, je Radtyp, Breite — trennt sie.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trotzdem die Tabelle ausgeliefert wird</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wegen der Güte — die spricht für das Modell. Sondern weil die App eine statische Seite ohne Python ist.</a:t>
            </a:r>
          </a:p>
        </p:txBody>
      </p:sp>
      <p:sp>
        <p:nvSpPr>
          <p:cNvPr id="6" name="Rectangle 5"/>
          <p:cNvSpPr/>
          <p:nvPr/>
        </p:nvSpPr>
        <p:spPr>
          <a:xfrm>
            <a:off x="1153160"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Quantilregression</a:t>
            </a:r>
          </a:p>
        </p:txBody>
      </p:sp>
      <p:sp>
        <p:nvSpPr>
          <p:cNvPr id="9" name="TextBox 8"/>
          <p:cNvSpPr txBox="1"/>
          <p:nvPr/>
        </p:nvSpPr>
        <p:spPr>
          <a:xfrm>
            <a:off x="1330960" y="21590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Was für sie spricht</a:t>
            </a:r>
          </a:p>
          <a:p>
            <a:pPr algn="l">
              <a:lnSpc>
                <a:spcPct val="95000"/>
              </a:lnSpc>
              <a:spcBef>
                <a:spcPts val="300"/>
              </a:spcBef>
            </a:pPr>
            <a:r>
              <a:rPr sz="1300" b="0">
                <a:solidFill>
                  <a:srgbClr val="404040"/>
                </a:solidFill>
              </a:rPr>
              <a:t>trifft häufiger und antwortet öfter</a:t>
            </a:r>
          </a:p>
          <a:p>
            <a:pPr algn="l">
              <a:lnSpc>
                <a:spcPct val="95000"/>
              </a:lnSpc>
              <a:spcBef>
                <a:spcPts val="300"/>
              </a:spcBef>
            </a:pPr>
            <a:r>
              <a:rPr sz="1300" b="0">
                <a:solidFill>
                  <a:srgbClr val="404040"/>
                </a:solidFill>
              </a:rPr>
              <a:t>kann eine neue Verbindung</a:t>
            </a:r>
          </a:p>
          <a:p>
            <a:pPr algn="l">
              <a:lnSpc>
                <a:spcPct val="95000"/>
              </a:lnSpc>
              <a:spcBef>
                <a:spcPts val="300"/>
              </a:spcBef>
            </a:pPr>
            <a:r>
              <a:rPr sz="1300" b="0">
                <a:solidFill>
                  <a:srgbClr val="404040"/>
                </a:solidFill>
              </a:rPr>
              <a:t>  einschätzen</a:t>
            </a:r>
          </a:p>
          <a:p>
            <a:pPr algn="l">
              <a:lnSpc>
                <a:spcPct val="95000"/>
              </a:lnSpc>
              <a:spcBef>
                <a:spcPts val="300"/>
              </a:spcBef>
            </a:pPr>
            <a:r>
              <a:rPr sz="1300" b="0">
                <a:solidFill>
                  <a:srgbClr val="404040"/>
                </a:solidFill>
              </a:rPr>
              <a:t>berücksichtigt Wochentag</a:t>
            </a:r>
          </a:p>
          <a:p>
            <a:pPr algn="l">
              <a:lnSpc>
                <a:spcPct val="95000"/>
              </a:lnSpc>
              <a:spcBef>
                <a:spcPts val="300"/>
              </a:spcBef>
            </a:pPr>
            <a:r>
              <a:rPr sz="1300" b="0">
                <a:solidFill>
                  <a:srgbClr val="404040"/>
                </a:solidFill>
              </a:rPr>
              <a:t>  und Saison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Braucht aber Python im Betrieb.</a:t>
            </a:r>
          </a:p>
        </p:txBody>
      </p:sp>
      <p:sp>
        <p:nvSpPr>
          <p:cNvPr id="10" name="Rectangle 9"/>
          <p:cNvSpPr/>
          <p:nvPr/>
        </p:nvSpPr>
        <p:spPr>
          <a:xfrm>
            <a:off x="7096759"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Perzentiltabelle</a:t>
            </a:r>
          </a:p>
        </p:txBody>
      </p:sp>
      <p:sp>
        <p:nvSpPr>
          <p:cNvPr id="13" name="TextBox 12"/>
          <p:cNvSpPr txBox="1"/>
          <p:nvPr/>
        </p:nvSpPr>
        <p:spPr>
          <a:xfrm>
            <a:off x="7274559" y="21590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Was für sie spricht</a:t>
            </a:r>
          </a:p>
          <a:p>
            <a:pPr algn="l">
              <a:lnSpc>
                <a:spcPct val="95000"/>
              </a:lnSpc>
              <a:spcBef>
                <a:spcPts val="300"/>
              </a:spcBef>
            </a:pPr>
            <a:r>
              <a:rPr sz="1300" b="0">
                <a:solidFill>
                  <a:srgbClr val="404040"/>
                </a:solidFill>
              </a:rPr>
              <a:t>läuft ohne Python — 136 Zeilen</a:t>
            </a:r>
          </a:p>
          <a:p>
            <a:pPr algn="l">
              <a:lnSpc>
                <a:spcPct val="95000"/>
              </a:lnSpc>
              <a:spcBef>
                <a:spcPts val="300"/>
              </a:spcBef>
            </a:pPr>
            <a:r>
              <a:rPr sz="1300" b="0">
                <a:solidFill>
                  <a:srgbClr val="404040"/>
                </a:solidFill>
              </a:rPr>
              <a:t>  in der Datenbank</a:t>
            </a:r>
          </a:p>
          <a:p>
            <a:pPr algn="l">
              <a:lnSpc>
                <a:spcPct val="95000"/>
              </a:lnSpc>
              <a:spcBef>
                <a:spcPts val="300"/>
              </a:spcBef>
            </a:pPr>
            <a:r>
              <a:rPr sz="1300" b="0">
                <a:solidFill>
                  <a:srgbClr val="404040"/>
                </a:solidFill>
              </a:rPr>
              <a:t>ist von Hand nachprüfbar</a:t>
            </a:r>
          </a:p>
          <a:p>
            <a:pPr algn="l">
              <a:lnSpc>
                <a:spcPct val="95000"/>
              </a:lnSpc>
              <a:spcBef>
                <a:spcPts val="300"/>
              </a:spcBef>
            </a:pPr>
            <a:r>
              <a:rPr sz="1300" b="0">
                <a:solidFill>
                  <a:srgbClr val="404040"/>
                </a:solidFill>
              </a:rPr>
              <a:t>wer Ortskenntnis hat, kann</a:t>
            </a:r>
          </a:p>
          <a:p>
            <a:pPr algn="l">
              <a:lnSpc>
                <a:spcPct val="95000"/>
              </a:lnSpc>
              <a:spcBef>
                <a:spcPts val="300"/>
              </a:spcBef>
            </a:pPr>
            <a:r>
              <a:rPr sz="1300" b="0">
                <a:solidFill>
                  <a:srgbClr val="404040"/>
                </a:solidFill>
              </a:rPr>
              <a:t>  widersprechen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Antwortet dafür seltener.</a:t>
            </a:r>
          </a:p>
        </p:txBody>
      </p:sp>
      <p:sp>
        <p:nvSpPr>
          <p:cNvPr id="14" name="Rectangle 13"/>
          <p:cNvSpPr/>
          <p:nvPr/>
        </p:nvSpPr>
        <p:spPr>
          <a:xfrm>
            <a:off x="1153160" y="4318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94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Wir liefern den schwächeren Kandidaten aus, weil der stärkere nicht dorthin passt, wo er laufen müsste. Der dritte Weg — die Modellvorhersagen vorab tabellieren — steht als offene Entscheidung im Notebook.</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Datensatz zum Artefakt — durch Streichen</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6.1 bis 6.3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Filter stehen zwischen 60.425 Rohzeilen und 136 Tabellenzeilen. Jeder von ihnen erzeugt Schweigen, wo keine Auskunft trägt.</a:t>
            </a:r>
          </a:p>
        </p:txBody>
      </p:sp>
      <p:sp>
        <p:nvSpPr>
          <p:cNvPr id="6" name="Rectangle 5"/>
          <p:cNvSpPr/>
          <p:nvPr/>
        </p:nvSpPr>
        <p:spPr>
          <a:xfrm>
            <a:off x="1051560" y="2745628"/>
            <a:ext cx="11677650" cy="2408143"/>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b1-artefakt.png"/>
          <p:cNvPicPr>
            <a:picLocks noChangeAspect="1"/>
          </p:cNvPicPr>
          <p:nvPr/>
        </p:nvPicPr>
        <p:blipFill>
          <a:blip r:embed="rId2"/>
          <a:stretch>
            <a:fillRect/>
          </a:stretch>
        </p:blipFill>
        <p:spPr>
          <a:xfrm>
            <a:off x="1153160" y="2847228"/>
            <a:ext cx="11474450" cy="2204943"/>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Freigabe steckt in der Tabelle</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in einer Aktennotiz und nicht in einer Bedingung im Anwendungscode: Was nicht trägt, hat keine Zeile.</a:t>
            </a:r>
          </a:p>
        </p:txBody>
      </p:sp>
      <p:sp>
        <p:nvSpPr>
          <p:cNvPr id="6" name="TextBox 5"/>
          <p:cNvSpPr txBox="1"/>
          <p:nvPr/>
        </p:nvSpPr>
        <p:spPr>
          <a:xfrm>
            <a:off x="5521960" y="1651000"/>
            <a:ext cx="1168400" cy="304800"/>
          </a:xfrm>
          <a:prstGeom prst="rect">
            <a:avLst/>
          </a:prstGeom>
          <a:noFill/>
        </p:spPr>
        <p:txBody>
          <a:bodyPr wrap="square" lIns="0" tIns="0" rIns="0" bIns="0">
            <a:spAutoFit/>
          </a:bodyPr>
          <a:lstStyle/>
          <a:p>
            <a:pPr algn="ctr">
              <a:lnSpc>
                <a:spcPct val="95000"/>
              </a:lnSpc>
            </a:pPr>
            <a:r>
              <a:rPr sz="1300" b="1">
                <a:solidFill>
                  <a:srgbClr val="555148"/>
                </a:solidFill>
              </a:rPr>
              <a:t>80 %</a:t>
            </a:r>
          </a:p>
        </p:txBody>
      </p:sp>
      <p:sp>
        <p:nvSpPr>
          <p:cNvPr id="7" name="Rectangle 6"/>
          <p:cNvSpPr/>
          <p:nvPr/>
        </p:nvSpPr>
        <p:spPr>
          <a:xfrm>
            <a:off x="1153160" y="19812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19812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044700"/>
            <a:ext cx="3937000" cy="482600"/>
          </a:xfrm>
          <a:prstGeom prst="rect">
            <a:avLst/>
          </a:prstGeom>
          <a:noFill/>
        </p:spPr>
        <p:txBody>
          <a:bodyPr wrap="square" lIns="0" tIns="0" rIns="0" bIns="0" anchor="ctr">
            <a:spAutoFit/>
          </a:bodyPr>
          <a:lstStyle/>
          <a:p>
            <a:pPr algn="l">
              <a:lnSpc>
                <a:spcPct val="95000"/>
              </a:lnSpc>
            </a:pPr>
            <a:r>
              <a:rPr sz="1300" b="1">
                <a:solidFill>
                  <a:srgbClr val="003E6E"/>
                </a:solidFill>
              </a:rPr>
              <a:t>CITY — 84,0 % auf Test 2</a:t>
            </a:r>
          </a:p>
        </p:txBody>
      </p:sp>
      <p:sp>
        <p:nvSpPr>
          <p:cNvPr id="10" name="Rounded Rectangle 9"/>
          <p:cNvSpPr/>
          <p:nvPr/>
        </p:nvSpPr>
        <p:spPr>
          <a:xfrm>
            <a:off x="5521960" y="21082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93559" y="2044700"/>
            <a:ext cx="5607050" cy="482600"/>
          </a:xfrm>
          <a:prstGeom prst="rect">
            <a:avLst/>
          </a:prstGeom>
          <a:noFill/>
        </p:spPr>
        <p:txBody>
          <a:bodyPr wrap="square" lIns="0" tIns="0" rIns="0" bIns="0" anchor="ctr">
            <a:spAutoFit/>
          </a:bodyPr>
          <a:lstStyle/>
          <a:p>
            <a:pPr algn="l">
              <a:lnSpc>
                <a:spcPct val="95000"/>
              </a:lnSpc>
            </a:pPr>
            <a:r>
              <a:rPr sz="1300" b="0">
                <a:solidFill>
                  <a:srgbClr val="555148"/>
                </a:solidFill>
              </a:rPr>
              <a:t>1.408 Prüffahrten. Freigegeben</a:t>
            </a:r>
          </a:p>
        </p:txBody>
      </p:sp>
      <p:sp>
        <p:nvSpPr>
          <p:cNvPr id="12" name="Rectangle 11"/>
          <p:cNvSpPr/>
          <p:nvPr/>
        </p:nvSpPr>
        <p:spPr>
          <a:xfrm>
            <a:off x="1153160" y="2692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26924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2755900"/>
            <a:ext cx="3937000" cy="482600"/>
          </a:xfrm>
          <a:prstGeom prst="rect">
            <a:avLst/>
          </a:prstGeom>
          <a:noFill/>
        </p:spPr>
        <p:txBody>
          <a:bodyPr wrap="square" lIns="0" tIns="0" rIns="0" bIns="0" anchor="ctr">
            <a:spAutoFit/>
          </a:bodyPr>
          <a:lstStyle/>
          <a:p>
            <a:pPr algn="l">
              <a:lnSpc>
                <a:spcPct val="95000"/>
              </a:lnSpc>
            </a:pPr>
            <a:r>
              <a:rPr sz="1300" b="1">
                <a:solidFill>
                  <a:srgbClr val="003E6E"/>
                </a:solidFill>
              </a:rPr>
              <a:t>EBIKE — 74,6 % auf Test 2</a:t>
            </a:r>
          </a:p>
        </p:txBody>
      </p:sp>
      <p:sp>
        <p:nvSpPr>
          <p:cNvPr id="15" name="Rounded Rectangle 14"/>
          <p:cNvSpPr/>
          <p:nvPr/>
        </p:nvSpPr>
        <p:spPr>
          <a:xfrm>
            <a:off x="5521960" y="28194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93559" y="2755900"/>
            <a:ext cx="5607050" cy="482600"/>
          </a:xfrm>
          <a:prstGeom prst="rect">
            <a:avLst/>
          </a:prstGeom>
          <a:noFill/>
        </p:spPr>
        <p:txBody>
          <a:bodyPr wrap="square" lIns="0" tIns="0" rIns="0" bIns="0" anchor="ctr">
            <a:spAutoFit/>
          </a:bodyPr>
          <a:lstStyle/>
          <a:p>
            <a:pPr algn="l">
              <a:lnSpc>
                <a:spcPct val="95000"/>
              </a:lnSpc>
            </a:pPr>
            <a:r>
              <a:rPr sz="1300" b="0">
                <a:solidFill>
                  <a:srgbClr val="555148"/>
                </a:solidFill>
              </a:rPr>
              <a:t>nur 134 Prüffahrten. Keine Zeile in der Tabelle</a:t>
            </a:r>
          </a:p>
        </p:txBody>
      </p:sp>
      <p:sp>
        <p:nvSpPr>
          <p:cNvPr id="17" name="Rectangle 16"/>
          <p:cNvSpPr/>
          <p:nvPr/>
        </p:nvSpPr>
        <p:spPr>
          <a:xfrm>
            <a:off x="1153160" y="34036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4036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3467100"/>
            <a:ext cx="3937000" cy="482600"/>
          </a:xfrm>
          <a:prstGeom prst="rect">
            <a:avLst/>
          </a:prstGeom>
          <a:noFill/>
        </p:spPr>
        <p:txBody>
          <a:bodyPr wrap="square" lIns="0" tIns="0" rIns="0" bIns="0" anchor="ctr">
            <a:spAutoFit/>
          </a:bodyPr>
          <a:lstStyle/>
          <a:p>
            <a:pPr algn="l">
              <a:lnSpc>
                <a:spcPct val="95000"/>
              </a:lnSpc>
            </a:pPr>
            <a:r>
              <a:rPr sz="1300" b="1">
                <a:solidFill>
                  <a:srgbClr val="003E6E"/>
                </a:solidFill>
              </a:rPr>
              <a:t>CARGO — keine Kombination erreicht 30 Fahrten</a:t>
            </a:r>
          </a:p>
        </p:txBody>
      </p:sp>
      <p:sp>
        <p:nvSpPr>
          <p:cNvPr id="20" name="Rounded Rectangle 19"/>
          <p:cNvSpPr/>
          <p:nvPr/>
        </p:nvSpPr>
        <p:spPr>
          <a:xfrm>
            <a:off x="5521960" y="35306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93559" y="3467100"/>
            <a:ext cx="5607050" cy="482600"/>
          </a:xfrm>
          <a:prstGeom prst="rect">
            <a:avLst/>
          </a:prstGeom>
          <a:noFill/>
        </p:spPr>
        <p:txBody>
          <a:bodyPr wrap="square" lIns="0" tIns="0" rIns="0" bIns="0" anchor="ctr">
            <a:spAutoFit/>
          </a:bodyPr>
          <a:lstStyle/>
          <a:p>
            <a:pPr algn="l">
              <a:lnSpc>
                <a:spcPct val="95000"/>
              </a:lnSpc>
            </a:pPr>
            <a:r>
              <a:rPr sz="1300" b="0">
                <a:solidFill>
                  <a:srgbClr val="555148"/>
                </a:solidFill>
              </a:rPr>
              <a:t>scheitert schon an der Datengrundlage</a:t>
            </a:r>
          </a:p>
        </p:txBody>
      </p:sp>
      <p:sp>
        <p:nvSpPr>
          <p:cNvPr id="22" name="Rectangle 21"/>
          <p:cNvSpPr/>
          <p:nvPr/>
        </p:nvSpPr>
        <p:spPr>
          <a:xfrm>
            <a:off x="1153160" y="4191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191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356360" y="4318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Und eine Ebene tiefer, je Kombination</a:t>
            </a:r>
          </a:p>
          <a:p>
            <a:pPr algn="l">
              <a:lnSpc>
                <a:spcPct val="95000"/>
              </a:lnSpc>
              <a:spcBef>
                <a:spcPts val="500"/>
              </a:spcBef>
            </a:pPr>
            <a:r>
              <a:rPr sz="1300" b="0">
                <a:solidFill>
                  <a:srgbClr val="404040"/>
                </a:solidFill>
              </a:rPr>
              <a:t>14 Kombinationen haben mindestens 20 Prüffahrten — 11 davon halten die 80 %, 3 nicht. Diese drei werden ausgeschlossen.</a:t>
            </a:r>
          </a:p>
          <a:p>
            <a:pPr algn="l">
              <a:lnSpc>
                <a:spcPct val="95000"/>
              </a:lnSpc>
              <a:spcBef>
                <a:spcPts val="500"/>
              </a:spcBef>
            </a:pPr>
            <a:r>
              <a:rPr sz="1300" b="0">
                <a:solidFill>
                  <a:srgbClr val="404040"/>
                </a:solidFill>
              </a:rPr>
              <a:t>140 Kombinationen haben weniger (im Median 7). Für sie lässt sich einzeln nichts Belastbares sagen — sie bleiben drin, aber die Zusage gilt nur insgesamt und je Radtyp.</a:t>
            </a:r>
          </a:p>
        </p:txBody>
      </p:sp>
      <p:sp>
        <p:nvSpPr>
          <p:cNvPr id="25" name="Rectangle 2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7" name="Rectangle 2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9" name="Rectangle 2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1" name="Rectangle 3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3" name="Rectangle 3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5" name="Rectangle 34"/>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ausgelieferte Artefakt, Zeile für Zeile</a:t>
            </a:r>
          </a:p>
        </p:txBody>
      </p:sp>
      <p:sp>
        <p:nvSpPr>
          <p:cNvPr id="3" name="Text Placeholder 2"/>
          <p:cNvSpPr>
            <a:spLocks noGrp="1"/>
          </p:cNvSpPr>
          <p:nvPr>
            <p:ph type="body" idx="12" sz="quarter"/>
          </p:nvPr>
        </p:nvSpPr>
        <p:spPr/>
        <p:txBody>
          <a:bodyPr/>
          <a:lstStyle/>
          <a:p>
            <a:r>
              <a:t>Phase 6 · im Notebook</a:t>
            </a:r>
          </a:p>
        </p:txBody>
      </p:sp>
      <p:sp>
        <p:nvSpPr>
          <p:cNvPr id="4" name="Text Placeholder 3"/>
          <p:cNvSpPr>
            <a:spLocks noGrp="1"/>
          </p:cNvSpPr>
          <p:nvPr>
            <p:ph type="body" idx="13" sz="quarter"/>
          </p:nvPr>
        </p:nvSpPr>
        <p:spPr/>
        <p:txBody>
          <a:bodyPr/>
          <a:lstStyle/>
          <a:p>
            <a:r>
              <a:t>analytics/notebooks/01_Regression_Fahrtdauer.ipynb · Abschnitt 6.3</a:t>
            </a:r>
          </a:p>
        </p:txBody>
      </p:sp>
      <p:sp>
        <p:nvSpPr>
          <p:cNvPr id="5" name="Rectangle 4"/>
          <p:cNvSpPr/>
          <p:nvPr/>
        </p:nvSpPr>
        <p:spPr>
          <a:xfrm>
            <a:off x="1229476" y="1168400"/>
            <a:ext cx="11321816"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tabelle.png"/>
          <p:cNvPicPr>
            <a:picLocks noChangeAspect="1"/>
          </p:cNvPicPr>
          <p:nvPr/>
        </p:nvPicPr>
        <p:blipFill>
          <a:blip r:embed="rId2"/>
          <a:stretch>
            <a:fillRect/>
          </a:stretch>
        </p:blipFill>
        <p:spPr>
          <a:xfrm>
            <a:off x="1331076" y="1270000"/>
            <a:ext cx="11118616"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136 Zeilen, 60 Verbindungen, nur CITY. Zwei Stationen, ein Radtyp, ein Zeitfenster — und zwei Zahlen in Minuten und in Euro.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ehrliche Produktreichweite</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Was die App am Ende wirklich beantworten kann. Diese Zahl steht im Notebook, weil sie sonst niemand ausrechnet.</a:t>
            </a:r>
          </a:p>
        </p:txBody>
      </p:sp>
      <p:sp>
        <p:nvSpPr>
          <p:cNvPr id="6" name="Rectangle 5"/>
          <p:cNvSpPr/>
          <p:nvPr/>
        </p:nvSpPr>
        <p:spPr>
          <a:xfrm>
            <a:off x="1153160" y="17780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5.882 Fahrten im Prüfzeitraum — abgeschlossen und mit Ziel</a:t>
            </a:r>
          </a:p>
        </p:txBody>
      </p:sp>
      <p:sp>
        <p:nvSpPr>
          <p:cNvPr id="7" name="Isosceles Triangle 6"/>
          <p:cNvSpPr/>
          <p:nvPr/>
        </p:nvSpPr>
        <p:spPr>
          <a:xfrm rot="10800000">
            <a:off x="6801484" y="2451100"/>
            <a:ext cx="177800" cy="1524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4.969 davon echte Wege, keine Rundtouren  ·  84 %</a:t>
            </a:r>
          </a:p>
        </p:txBody>
      </p:sp>
      <p:sp>
        <p:nvSpPr>
          <p:cNvPr id="9" name="Isosceles Triangle 8"/>
          <p:cNvSpPr/>
          <p:nvPr/>
        </p:nvSpPr>
        <p:spPr>
          <a:xfrm rot="10800000">
            <a:off x="6801484" y="3289300"/>
            <a:ext cx="177800" cy="1524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454400"/>
            <a:ext cx="1147445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1.326 davon mit einer freigegebenen Spanne  ·  23 % aller Fahrten</a:t>
            </a:r>
          </a:p>
        </p:txBody>
      </p:sp>
      <p:sp>
        <p:nvSpPr>
          <p:cNvPr id="11" name="Rectangle 10"/>
          <p:cNvSpPr/>
          <p:nvPr/>
        </p:nvSpPr>
        <p:spPr>
          <a:xfrm>
            <a:off x="1153160" y="4292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4368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App kann für gut jede fünfte Fahrt einen Preis nennen. Für den Rest sagt sie, dass sie es nicht kann — und das ist besser als eine Zahl, die nicht trägt.</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Funktion, die die App aufruft — und wann sie schweigt</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Vier Eingaben, eine Antwort. In drei von vier Fällen lautet die Antwort: keine Anzeige.</a:t>
            </a:r>
          </a:p>
        </p:txBody>
      </p:sp>
      <p:sp>
        <p:nvSpPr>
          <p:cNvPr id="6" name="Rectangle 5"/>
          <p:cNvSpPr/>
          <p:nvPr/>
        </p:nvSpPr>
        <p:spPr>
          <a:xfrm>
            <a:off x="1153160" y="1651000"/>
            <a:ext cx="552450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65300"/>
            <a:ext cx="5194300" cy="2133600"/>
          </a:xfrm>
          <a:prstGeom prst="rect">
            <a:avLst/>
          </a:prstGeom>
          <a:noFill/>
        </p:spPr>
        <p:txBody>
          <a:bodyPr wrap="square" lIns="0" tIns="0" rIns="0" bIns="0">
            <a:spAutoFit/>
          </a:bodyPr>
          <a:lstStyle/>
          <a:p>
            <a:pPr algn="l">
              <a:lnSpc>
                <a:spcPct val="95000"/>
              </a:lnSpc>
            </a:pPr>
            <a:r>
              <a:rPr sz="1400" b="1">
                <a:solidFill>
                  <a:srgbClr val="003E6E"/>
                </a:solidFill>
              </a:rPr>
              <a:t>Der Aufruf</a:t>
            </a:r>
          </a:p>
          <a:p>
            <a:pPr algn="l">
              <a:lnSpc>
                <a:spcPct val="95000"/>
              </a:lnSpc>
              <a:spcBef>
                <a:spcPts val="200"/>
              </a:spcBef>
            </a:pPr>
            <a:r>
              <a:rPr sz="1300" b="0">
                <a:solidFill>
                  <a:srgbClr val="404040"/>
                </a:solidFill>
                <a:latin typeface="Consolas"/>
              </a:rPr>
              <a:t>preis_schaetzen(</a:t>
            </a:r>
          </a:p>
          <a:p>
            <a:pPr algn="l">
              <a:lnSpc>
                <a:spcPct val="95000"/>
              </a:lnSpc>
              <a:spcBef>
                <a:spcPts val="200"/>
              </a:spcBef>
            </a:pPr>
            <a:r>
              <a:rPr sz="1300" b="0">
                <a:solidFill>
                  <a:srgbClr val="404040"/>
                </a:solidFill>
                <a:latin typeface="Consolas"/>
              </a:rPr>
              <a:t>  start_id=9,</a:t>
            </a:r>
          </a:p>
          <a:p>
            <a:pPr algn="l">
              <a:lnSpc>
                <a:spcPct val="95000"/>
              </a:lnSpc>
              <a:spcBef>
                <a:spcPts val="200"/>
              </a:spcBef>
            </a:pPr>
            <a:r>
              <a:rPr sz="1300" b="0">
                <a:solidFill>
                  <a:srgbClr val="404040"/>
                </a:solidFill>
                <a:latin typeface="Consolas"/>
              </a:rPr>
              <a:t>  ziel_id=6,</a:t>
            </a:r>
          </a:p>
          <a:p>
            <a:pPr algn="l">
              <a:lnSpc>
                <a:spcPct val="95000"/>
              </a:lnSpc>
              <a:spcBef>
                <a:spcPts val="200"/>
              </a:spcBef>
            </a:pPr>
            <a:r>
              <a:rPr sz="1300" b="0">
                <a:solidFill>
                  <a:srgbClr val="404040"/>
                </a:solidFill>
                <a:latin typeface="Consolas"/>
              </a:rPr>
              <a:t>  typ_code='CITY',</a:t>
            </a:r>
          </a:p>
          <a:p>
            <a:pPr algn="l">
              <a:lnSpc>
                <a:spcPct val="95000"/>
              </a:lnSpc>
              <a:spcBef>
                <a:spcPts val="200"/>
              </a:spcBef>
            </a:pPr>
            <a:r>
              <a:rPr sz="1300" b="0">
                <a:solidFill>
                  <a:srgbClr val="404040"/>
                </a:solidFill>
                <a:latin typeface="Consolas"/>
              </a:rPr>
              <a:t>  stunde=17,</a:t>
            </a:r>
          </a:p>
          <a:p>
            <a:pPr algn="l">
              <a:lnSpc>
                <a:spcPct val="95000"/>
              </a:lnSpc>
              <a:spcBef>
                <a:spcPts val="200"/>
              </a:spcBef>
            </a:pPr>
            <a:r>
              <a:rPr sz="1300" b="0">
                <a:solidFill>
                  <a:srgbClr val="404040"/>
                </a:solidFill>
                <a:latin typeface="Consolas"/>
              </a:rPr>
              <a:t>)</a:t>
            </a:r>
          </a:p>
        </p:txBody>
      </p:sp>
      <p:sp>
        <p:nvSpPr>
          <p:cNvPr id="9" name="Rectangle 8"/>
          <p:cNvSpPr/>
          <p:nvPr/>
        </p:nvSpPr>
        <p:spPr>
          <a:xfrm>
            <a:off x="7096759" y="1651000"/>
            <a:ext cx="552450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651000"/>
            <a:ext cx="50800" cy="23622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765300"/>
            <a:ext cx="5194300" cy="2133600"/>
          </a:xfrm>
          <a:prstGeom prst="rect">
            <a:avLst/>
          </a:prstGeom>
          <a:noFill/>
        </p:spPr>
        <p:txBody>
          <a:bodyPr wrap="square" lIns="0" tIns="0" rIns="0" bIns="0">
            <a:spAutoFit/>
          </a:bodyPr>
          <a:lstStyle/>
          <a:p>
            <a:pPr algn="l">
              <a:lnSpc>
                <a:spcPct val="95000"/>
              </a:lnSpc>
            </a:pPr>
            <a:r>
              <a:rPr sz="1400" b="1">
                <a:solidFill>
                  <a:srgbClr val="55801C"/>
                </a:solidFill>
              </a:rPr>
              <a:t>Die vier möglichen Antworten</a:t>
            </a:r>
          </a:p>
          <a:p>
            <a:pPr algn="l">
              <a:lnSpc>
                <a:spcPct val="95000"/>
              </a:lnSpc>
              <a:spcBef>
                <a:spcPts val="200"/>
              </a:spcBef>
            </a:pPr>
            <a:r>
              <a:rPr sz="1300" b="0">
                <a:solidFill>
                  <a:srgbClr val="404040"/>
                </a:solidFill>
                <a:latin typeface="Consolas"/>
              </a:rPr>
              <a:t>0,60 bis 1,30 € · 5 bis 12 Min</a:t>
            </a:r>
          </a:p>
          <a:p>
            <a:pPr algn="l">
              <a:lnSpc>
                <a:spcPct val="95000"/>
              </a:lnSpc>
              <a:spcBef>
                <a:spcPts val="200"/>
              </a:spcBef>
            </a:pPr>
            <a:r>
              <a:rPr sz="1300" b="0">
                <a:solidFill>
                  <a:srgbClr val="404040"/>
                </a:solidFill>
                <a:latin typeface="Consolas"/>
              </a:rPr>
              <a:t>  Grundlage: 78 Fahrten</a:t>
            </a:r>
          </a:p>
          <a:p>
            <a:pPr algn="l">
              <a:lnSpc>
                <a:spcPct val="95000"/>
              </a:lnSpc>
              <a:spcBef>
                <a:spcPts val="200"/>
              </a:spcBef>
            </a:pPr>
            <a:r>
              <a:rPr sz="1300" b="0">
                <a:solidFill>
                  <a:srgbClr val="404040"/>
                </a:solidFill>
                <a:latin typeface="Consolas"/>
              </a:rPr>
              <a:t>— Für Rundfahrten schätzen wir</a:t>
            </a:r>
          </a:p>
          <a:p>
            <a:pPr algn="l">
              <a:lnSpc>
                <a:spcPct val="95000"/>
              </a:lnSpc>
              <a:spcBef>
                <a:spcPts val="200"/>
              </a:spcBef>
            </a:pPr>
            <a:r>
              <a:rPr sz="1300" b="0">
                <a:solidFill>
                  <a:srgbClr val="404040"/>
                </a:solidFill>
                <a:latin typeface="Consolas"/>
              </a:rPr>
              <a:t>  keinen Preis.</a:t>
            </a:r>
          </a:p>
          <a:p>
            <a:pPr algn="l">
              <a:lnSpc>
                <a:spcPct val="95000"/>
              </a:lnSpc>
              <a:spcBef>
                <a:spcPts val="200"/>
              </a:spcBef>
            </a:pPr>
            <a:r>
              <a:rPr sz="1300" b="0">
                <a:solidFill>
                  <a:srgbClr val="404040"/>
                </a:solidFill>
                <a:latin typeface="Consolas"/>
              </a:rPr>
              <a:t>— Für diese Verbindung liegt</a:t>
            </a:r>
          </a:p>
          <a:p>
            <a:pPr algn="l">
              <a:lnSpc>
                <a:spcPct val="95000"/>
              </a:lnSpc>
              <a:spcBef>
                <a:spcPts val="200"/>
              </a:spcBef>
            </a:pPr>
            <a:r>
              <a:rPr sz="1300" b="0">
                <a:solidFill>
                  <a:srgbClr val="404040"/>
                </a:solidFill>
                <a:latin typeface="Consolas"/>
              </a:rPr>
              <a:t>  keine belastbare Schätzung vor.</a:t>
            </a:r>
          </a:p>
        </p:txBody>
      </p:sp>
      <p:sp>
        <p:nvSpPr>
          <p:cNvPr id="12" name="Rectangle 11"/>
          <p:cNvSpPr/>
          <p:nvPr/>
        </p:nvSpPr>
        <p:spPr>
          <a:xfrm>
            <a:off x="1153160" y="4140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4216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Begründung wird mitgeliefert, nicht nur das Schweigen. Eine App, die ohne Erklärung nichts anzeigt, wirkt kaputt — eine, die den Grund nennt, wirkt sorgfältig.</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Anfragen, drei Absagen</a:t>
            </a:r>
          </a:p>
        </p:txBody>
      </p:sp>
      <p:sp>
        <p:nvSpPr>
          <p:cNvPr id="3" name="Text Placeholder 2"/>
          <p:cNvSpPr>
            <a:spLocks noGrp="1"/>
          </p:cNvSpPr>
          <p:nvPr>
            <p:ph type="body" idx="12" sz="quarter"/>
          </p:nvPr>
        </p:nvSpPr>
        <p:spPr/>
        <p:txBody>
          <a:bodyPr/>
          <a:lstStyle/>
          <a:p>
            <a:r>
              <a:t>Phase 6 · im Notebook</a:t>
            </a:r>
          </a:p>
        </p:txBody>
      </p:sp>
      <p:sp>
        <p:nvSpPr>
          <p:cNvPr id="4" name="Text Placeholder 3"/>
          <p:cNvSpPr>
            <a:spLocks noGrp="1"/>
          </p:cNvSpPr>
          <p:nvPr>
            <p:ph type="body" idx="13" sz="quarter"/>
          </p:nvPr>
        </p:nvSpPr>
        <p:spPr/>
        <p:txBody>
          <a:bodyPr/>
          <a:lstStyle/>
          <a:p>
            <a:r>
              <a:t>analytics/notebooks/01_Regression_Fahrtdauer.ipynb · Abschnitt 6.4</a:t>
            </a:r>
          </a:p>
        </p:txBody>
      </p:sp>
      <p:sp>
        <p:nvSpPr>
          <p:cNvPr id="5" name="Rectangle 4"/>
          <p:cNvSpPr/>
          <p:nvPr/>
        </p:nvSpPr>
        <p:spPr>
          <a:xfrm>
            <a:off x="1051560" y="1801878"/>
            <a:ext cx="11677650" cy="2924042"/>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app.png"/>
          <p:cNvPicPr>
            <a:picLocks noChangeAspect="1"/>
          </p:cNvPicPr>
          <p:nvPr/>
        </p:nvPicPr>
        <p:blipFill>
          <a:blip r:embed="rId2"/>
          <a:stretch>
            <a:fillRect/>
          </a:stretch>
        </p:blipFill>
        <p:spPr>
          <a:xfrm>
            <a:off x="1153160" y="1903478"/>
            <a:ext cx="11474450" cy="2720842"/>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So sieht die Schnittstelle zur Webanwendung aus: eine Zeile mit Preis, Minuten und Fallzahl — oder eine Absage mit Grund.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Überwachung: drei Fälle, die einander ausschließen</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Eine Schwelle allein genügt nicht. Bei 78 Prozent gemessener Abdeckung muss klar sein, welche Regel gilt — sonst greifen zwei gleichzeitig.</a:t>
            </a:r>
          </a:p>
        </p:txBody>
      </p:sp>
      <p:sp>
        <p:nvSpPr>
          <p:cNvPr id="6" name="Rectangle 5"/>
          <p:cNvSpPr/>
          <p:nvPr/>
        </p:nvSpPr>
        <p:spPr>
          <a:xfrm>
            <a:off x="1153160" y="1879600"/>
            <a:ext cx="292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Auslöser</a:t>
            </a:r>
          </a:p>
        </p:txBody>
      </p:sp>
      <p:sp>
        <p:nvSpPr>
          <p:cNvPr id="7" name="Rectangle 6"/>
          <p:cNvSpPr/>
          <p:nvPr/>
        </p:nvSpPr>
        <p:spPr>
          <a:xfrm>
            <a:off x="4074160" y="1879600"/>
            <a:ext cx="3302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8" name="Rectangle 7"/>
          <p:cNvSpPr/>
          <p:nvPr/>
        </p:nvSpPr>
        <p:spPr>
          <a:xfrm>
            <a:off x="7376159" y="1879600"/>
            <a:ext cx="5251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Handlung</a:t>
            </a:r>
          </a:p>
        </p:txBody>
      </p:sp>
      <p:sp>
        <p:nvSpPr>
          <p:cNvPr id="9" name="Rectangle 8"/>
          <p:cNvSpPr/>
          <p:nvPr/>
        </p:nvSpPr>
        <p:spPr>
          <a:xfrm>
            <a:off x="1153160" y="2438400"/>
            <a:ext cx="292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Abdeckung je Kombination,
gleitend über 8 Wochen</a:t>
            </a:r>
          </a:p>
        </p:txBody>
      </p:sp>
      <p:sp>
        <p:nvSpPr>
          <p:cNvPr id="10" name="Rectangle 9"/>
          <p:cNvSpPr/>
          <p:nvPr/>
        </p:nvSpPr>
        <p:spPr>
          <a:xfrm>
            <a:off x="4074160" y="2438400"/>
            <a:ext cx="3302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untere Vertrauensgrenze ≥ 80 %</a:t>
            </a:r>
          </a:p>
        </p:txBody>
      </p:sp>
      <p:sp>
        <p:nvSpPr>
          <p:cNvPr id="11" name="Rectangle 10"/>
          <p:cNvSpPr/>
          <p:nvPr/>
        </p:nvSpPr>
        <p:spPr>
          <a:xfrm>
            <a:off x="7376159" y="2438400"/>
            <a:ext cx="5251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anzeigen</a:t>
            </a:r>
          </a:p>
        </p:txBody>
      </p:sp>
      <p:sp>
        <p:nvSpPr>
          <p:cNvPr id="12" name="Rectangle 11"/>
          <p:cNvSpPr/>
          <p:nvPr/>
        </p:nvSpPr>
        <p:spPr>
          <a:xfrm>
            <a:off x="1153160" y="2997200"/>
            <a:ext cx="292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
            </a:r>
          </a:p>
        </p:txBody>
      </p:sp>
      <p:sp>
        <p:nvSpPr>
          <p:cNvPr id="13" name="Rectangle 12"/>
          <p:cNvSpPr/>
          <p:nvPr/>
        </p:nvSpPr>
        <p:spPr>
          <a:xfrm>
            <a:off x="4074160" y="2997200"/>
            <a:ext cx="3302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Intervall überlappt 80 %</a:t>
            </a:r>
          </a:p>
        </p:txBody>
      </p:sp>
      <p:sp>
        <p:nvSpPr>
          <p:cNvPr id="14" name="Rectangle 13"/>
          <p:cNvSpPr/>
          <p:nvPr/>
        </p:nvSpPr>
        <p:spPr>
          <a:xfrm>
            <a:off x="7376159" y="2997200"/>
            <a:ext cx="5251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anzeigen, aber Warnung und Neuberechnung</a:t>
            </a:r>
          </a:p>
        </p:txBody>
      </p:sp>
      <p:sp>
        <p:nvSpPr>
          <p:cNvPr id="15" name="Rectangle 14"/>
          <p:cNvSpPr/>
          <p:nvPr/>
        </p:nvSpPr>
        <p:spPr>
          <a:xfrm>
            <a:off x="1153160" y="3556000"/>
            <a:ext cx="292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
            </a:r>
          </a:p>
        </p:txBody>
      </p:sp>
      <p:sp>
        <p:nvSpPr>
          <p:cNvPr id="16" name="Rectangle 15"/>
          <p:cNvSpPr/>
          <p:nvPr/>
        </p:nvSpPr>
        <p:spPr>
          <a:xfrm>
            <a:off x="4074160" y="3556000"/>
            <a:ext cx="3302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obere Vertrauensgrenze &lt; 80 %</a:t>
            </a:r>
          </a:p>
        </p:txBody>
      </p:sp>
      <p:sp>
        <p:nvSpPr>
          <p:cNvPr id="17" name="Rectangle 16"/>
          <p:cNvSpPr/>
          <p:nvPr/>
        </p:nvSpPr>
        <p:spPr>
          <a:xfrm>
            <a:off x="7376159" y="3556000"/>
            <a:ext cx="5251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Kombination abschalten</a:t>
            </a:r>
          </a:p>
        </p:txBody>
      </p:sp>
      <p:sp>
        <p:nvSpPr>
          <p:cNvPr id="18" name="Rectangle 17"/>
          <p:cNvSpPr/>
          <p:nvPr/>
        </p:nvSpPr>
        <p:spPr>
          <a:xfrm>
            <a:off x="1153160" y="4114800"/>
            <a:ext cx="292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Fallzahl je Kombination</a:t>
            </a:r>
          </a:p>
        </p:txBody>
      </p:sp>
      <p:sp>
        <p:nvSpPr>
          <p:cNvPr id="19" name="Rectangle 18"/>
          <p:cNvSpPr/>
          <p:nvPr/>
        </p:nvSpPr>
        <p:spPr>
          <a:xfrm>
            <a:off x="4074160" y="4114800"/>
            <a:ext cx="3302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 20 im Fenster</a:t>
            </a:r>
          </a:p>
        </p:txBody>
      </p:sp>
      <p:sp>
        <p:nvSpPr>
          <p:cNvPr id="20" name="Rectangle 19"/>
          <p:cNvSpPr/>
          <p:nvPr/>
        </p:nvSpPr>
        <p:spPr>
          <a:xfrm>
            <a:off x="7376159" y="4114800"/>
            <a:ext cx="5251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Aussage möglich, Vorwoche weiterverwenden</a:t>
            </a:r>
          </a:p>
        </p:txBody>
      </p:sp>
      <p:sp>
        <p:nvSpPr>
          <p:cNvPr id="21" name="Rectangle 20"/>
          <p:cNvSpPr/>
          <p:nvPr/>
        </p:nvSpPr>
        <p:spPr>
          <a:xfrm>
            <a:off x="1153160" y="4673600"/>
            <a:ext cx="292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 ändert sich</a:t>
            </a:r>
          </a:p>
        </p:txBody>
      </p:sp>
      <p:sp>
        <p:nvSpPr>
          <p:cNvPr id="22" name="Rectangle 21"/>
          <p:cNvSpPr/>
          <p:nvPr/>
        </p:nvSpPr>
        <p:spPr>
          <a:xfrm>
            <a:off x="4074160" y="4673600"/>
            <a:ext cx="3302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Minutenpreis neu</a:t>
            </a:r>
          </a:p>
        </p:txBody>
      </p:sp>
      <p:sp>
        <p:nvSpPr>
          <p:cNvPr id="23" name="Rectangle 22"/>
          <p:cNvSpPr/>
          <p:nvPr/>
        </p:nvSpPr>
        <p:spPr>
          <a:xfrm>
            <a:off x="7376159" y="4673600"/>
            <a:ext cx="5251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gesamte Tabelle neu rechnen — sie enthält Euro</a:t>
            </a:r>
          </a:p>
        </p:txBody>
      </p:sp>
      <p:sp>
        <p:nvSpPr>
          <p:cNvPr id="24" name="Rectangle 2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6" name="Rectangle 2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ein echter Schattenbetrieb wäre — und warum wir ihn nicht haben</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dieses Notebook Test 2 nennt, ist ein rückblickender Test auf vergangenen Daten. Ein Schattenbetrieb ist etwas anderes.</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8680450" cy="635000"/>
          </a:xfrm>
          <a:prstGeom prst="rect">
            <a:avLst/>
          </a:prstGeom>
          <a:noFill/>
        </p:spPr>
        <p:txBody>
          <a:bodyPr wrap="square" lIns="0" tIns="0" rIns="0" bIns="0" anchor="ctr">
            <a:spAutoFit/>
          </a:bodyPr>
          <a:lstStyle/>
          <a:p>
            <a:pPr>
              <a:lnSpc>
                <a:spcPct val="95000"/>
              </a:lnSpc>
            </a:pPr>
            <a:r>
              <a:rPr sz="1300" b="1">
                <a:solidFill>
                  <a:srgbClr val="003E6E"/>
                </a:solidFill>
              </a:rPr>
              <a:t>1 bis 3  </a:t>
            </a:r>
            <a:r>
              <a:rPr sz="1300">
                <a:solidFill>
                  <a:srgbClr val="404040"/>
                </a:solidFill>
              </a:rPr>
              <a:t>Tabelle einfrieren · in der App das GEPLANTE Ziel speichern · Schätzung berechnen, aber nicht anzeigen</a:t>
            </a:r>
          </a:p>
        </p:txBody>
      </p:sp>
      <p:sp>
        <p:nvSpPr>
          <p:cNvPr id="10" name="Rectangle 9"/>
          <p:cNvSpPr/>
          <p:nvPr/>
        </p:nvSpPr>
        <p:spPr>
          <a:xfrm>
            <a:off x="1153160" y="2794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94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22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70200"/>
            <a:ext cx="8680450" cy="635000"/>
          </a:xfrm>
          <a:prstGeom prst="rect">
            <a:avLst/>
          </a:prstGeom>
          <a:noFill/>
        </p:spPr>
        <p:txBody>
          <a:bodyPr wrap="square" lIns="0" tIns="0" rIns="0" bIns="0" anchor="ctr">
            <a:spAutoFit/>
          </a:bodyPr>
          <a:lstStyle/>
          <a:p>
            <a:pPr>
              <a:lnSpc>
                <a:spcPct val="95000"/>
              </a:lnSpc>
            </a:pPr>
            <a:r>
              <a:rPr sz="1300" b="1">
                <a:solidFill>
                  <a:srgbClr val="003E6E"/>
                </a:solidFill>
              </a:rPr>
              <a:t>4 und 5  </a:t>
            </a:r>
            <a:r>
              <a:rPr sz="1300">
                <a:solidFill>
                  <a:srgbClr val="404040"/>
                </a:solidFill>
              </a:rPr>
              <a:t>Nach der Fahrt tatsächliches Ziel und Dauer ergänzen · geplantes gegen tatsächliches Ziel vergleichen</a:t>
            </a:r>
          </a:p>
        </p:txBody>
      </p:sp>
      <p:sp>
        <p:nvSpPr>
          <p:cNvPr id="14" name="Rectangle 13"/>
          <p:cNvSpPr/>
          <p:nvPr/>
        </p:nvSpPr>
        <p:spPr>
          <a:xfrm>
            <a:off x="1153160" y="37084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7084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37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84600"/>
            <a:ext cx="8680450" cy="635000"/>
          </a:xfrm>
          <a:prstGeom prst="rect">
            <a:avLst/>
          </a:prstGeom>
          <a:noFill/>
        </p:spPr>
        <p:txBody>
          <a:bodyPr wrap="square" lIns="0" tIns="0" rIns="0" bIns="0" anchor="ctr">
            <a:spAutoFit/>
          </a:bodyPr>
          <a:lstStyle/>
          <a:p>
            <a:pPr>
              <a:lnSpc>
                <a:spcPct val="95000"/>
              </a:lnSpc>
            </a:pPr>
            <a:r>
              <a:rPr sz="1300" b="1">
                <a:solidFill>
                  <a:srgbClr val="003E6E"/>
                </a:solidFill>
              </a:rPr>
              <a:t>6 und 7  </a:t>
            </a:r>
            <a:r>
              <a:rPr sz="1300">
                <a:solidFill>
                  <a:srgbClr val="404040"/>
                </a:solidFill>
              </a:rPr>
              <a:t>Abdeckung, Breite, Reichweite und Ablehnungsgründe auswerten · erst danach sichtbar schalten</a:t>
            </a:r>
          </a:p>
        </p:txBody>
      </p:sp>
      <p:sp>
        <p:nvSpPr>
          <p:cNvPr id="18" name="Rectangle 17"/>
          <p:cNvSpPr/>
          <p:nvPr/>
        </p:nvSpPr>
        <p:spPr>
          <a:xfrm>
            <a:off x="1153160" y="4673600"/>
            <a:ext cx="11474450" cy="11049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673600"/>
            <a:ext cx="50800" cy="1104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4800600"/>
            <a:ext cx="11093450" cy="850900"/>
          </a:xfrm>
          <a:prstGeom prst="rect">
            <a:avLst/>
          </a:prstGeom>
          <a:noFill/>
        </p:spPr>
        <p:txBody>
          <a:bodyPr wrap="square" lIns="0" tIns="0" rIns="0" bIns="0">
            <a:spAutoFit/>
          </a:bodyPr>
          <a:lstStyle/>
          <a:p>
            <a:pPr algn="l">
              <a:lnSpc>
                <a:spcPct val="95000"/>
              </a:lnSpc>
            </a:pPr>
            <a:r>
              <a:rPr sz="1500" b="1">
                <a:solidFill>
                  <a:srgbClr val="003E6E"/>
                </a:solidFill>
              </a:rPr>
              <a:t>Schritt 2 und 5 sind der Kern</a:t>
            </a:r>
          </a:p>
          <a:p>
            <a:pPr algn="l">
              <a:lnSpc>
                <a:spcPct val="95000"/>
              </a:lnSpc>
              <a:spcBef>
                <a:spcPts val="500"/>
              </a:spcBef>
            </a:pPr>
            <a:r>
              <a:rPr sz="1300" b="0">
                <a:solidFill>
                  <a:srgbClr val="404040"/>
                </a:solidFill>
              </a:rPr>
              <a:t>Sie prüfen die Annahme vom Anfang: Ist das geplante Ziel ein brauchbarer Stellvertreter für das tatsächliche?</a:t>
            </a:r>
          </a:p>
          <a:p>
            <a:pPr algn="l">
              <a:lnSpc>
                <a:spcPct val="95000"/>
              </a:lnSpc>
              <a:spcBef>
                <a:spcPts val="500"/>
              </a:spcBef>
            </a:pPr>
            <a:r>
              <a:rPr sz="1300" b="0">
                <a:solidFill>
                  <a:srgbClr val="404040"/>
                </a:solidFill>
              </a:rPr>
              <a:t>Ohne sie bleibt die Grundannahme dieses Notebooks ungeprüft — und alle Zahlen bleiben Obergrenzen.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1 · Abschluss</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Sechs Phasen, ein Rücksprung von Phase 5 zurück in Phase 1 — und ein Produkt, das öfter schweigt als spricht.</a:t>
            </a:r>
          </a:p>
        </p:txBody>
      </p:sp>
      <p:sp>
        <p:nvSpPr>
          <p:cNvPr id="6" name="Rectangle 5"/>
          <p:cNvSpPr/>
          <p:nvPr/>
        </p:nvSpPr>
        <p:spPr>
          <a:xfrm>
            <a:off x="1153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4074160" y="1651000"/>
            <a:ext cx="855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8" name="Rectangle 7"/>
          <p:cNvSpPr/>
          <p:nvPr/>
        </p:nvSpPr>
        <p:spPr>
          <a:xfrm>
            <a:off x="1153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9" name="Rectangle 8"/>
          <p:cNvSpPr/>
          <p:nvPr/>
        </p:nvSpPr>
        <p:spPr>
          <a:xfrm>
            <a:off x="4074160" y="2159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Prozess wurde geändert, nicht das Verfahren. Kriterium: unter 50 Cent</a:t>
            </a:r>
          </a:p>
        </p:txBody>
      </p:sp>
      <p:sp>
        <p:nvSpPr>
          <p:cNvPr id="10" name="Rectangle 9"/>
          <p:cNvSpPr/>
          <p:nvPr/>
        </p:nvSpPr>
        <p:spPr>
          <a:xfrm>
            <a:off x="1153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1" name="Rectangle 10"/>
          <p:cNvSpPr/>
          <p:nvPr/>
        </p:nvSpPr>
        <p:spPr>
          <a:xfrm>
            <a:off x="4074160" y="2667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Fünftel endet frei im Gebiet, ein weiteres Fünftel sind Rundtouren</a:t>
            </a:r>
          </a:p>
        </p:txBody>
      </p:sp>
      <p:sp>
        <p:nvSpPr>
          <p:cNvPr id="12" name="Rectangle 11"/>
          <p:cNvSpPr/>
          <p:nvPr/>
        </p:nvSpPr>
        <p:spPr>
          <a:xfrm>
            <a:off x="1153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3" name="Rectangle 12"/>
          <p:cNvSpPr/>
          <p:nvPr/>
        </p:nvSpPr>
        <p:spPr>
          <a:xfrm>
            <a:off x="4074160" y="3175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Zielstation erlaubt — als Stellvertreter. Wetter gesperrt. Vier Zeitabschnitte</a:t>
            </a:r>
          </a:p>
        </p:txBody>
      </p:sp>
      <p:sp>
        <p:nvSpPr>
          <p:cNvPr id="14" name="Rectangle 13"/>
          <p:cNvSpPr/>
          <p:nvPr/>
        </p:nvSpPr>
        <p:spPr>
          <a:xfrm>
            <a:off x="1153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5" name="Rectangle 14"/>
          <p:cNvSpPr/>
          <p:nvPr/>
        </p:nvSpPr>
        <p:spPr>
          <a:xfrm>
            <a:off x="4074160" y="3683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Baselines, dann Modelle. Eine Ablation zeigt: das Ziel bringt 9 %</a:t>
            </a:r>
          </a:p>
        </p:txBody>
      </p:sp>
      <p:sp>
        <p:nvSpPr>
          <p:cNvPr id="16" name="Rectangle 15"/>
          <p:cNvSpPr/>
          <p:nvPr/>
        </p:nvSpPr>
        <p:spPr>
          <a:xfrm>
            <a:off x="1153160" y="4191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7" name="Rectangle 16"/>
          <p:cNvSpPr/>
          <p:nvPr/>
        </p:nvSpPr>
        <p:spPr>
          <a:xfrm>
            <a:off x="4074160" y="4191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CITY hält die Grenze. Trotzdem Rücksprung — der Mittelwert bildet die einzelne Fahrt nicht ab</a:t>
            </a:r>
          </a:p>
        </p:txBody>
      </p:sp>
      <p:sp>
        <p:nvSpPr>
          <p:cNvPr id="18" name="Rectangle 17"/>
          <p:cNvSpPr/>
          <p:nvPr/>
        </p:nvSpPr>
        <p:spPr>
          <a:xfrm>
            <a:off x="1153160" y="4699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9" name="Rectangle 18"/>
          <p:cNvSpPr/>
          <p:nvPr/>
        </p:nvSpPr>
        <p:spPr>
          <a:xfrm>
            <a:off x="4074160" y="4699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Ausgeliefert wird die Tabelle, nicht das Modell. 136 Zeilen, nur CITY, 22,5 % Reichweite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offen bleibt — ausdrücklich</a:t>
            </a:r>
          </a:p>
        </p:txBody>
      </p:sp>
      <p:sp>
        <p:nvSpPr>
          <p:cNvPr id="3" name="Text Placeholder 2"/>
          <p:cNvSpPr>
            <a:spLocks noGrp="1"/>
          </p:cNvSpPr>
          <p:nvPr>
            <p:ph type="body" idx="12" sz="quarter"/>
          </p:nvPr>
        </p:nvSpPr>
        <p:spPr/>
        <p:txBody>
          <a:bodyPr/>
          <a:lstStyle/>
          <a:p>
            <a:r>
              <a:t>Fall 1 · Abschluss</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Projektbericht ohne diese Liste ist unvollständig. Sie steht am Ende des Notebooks, nicht im Kleingedruckten.</a:t>
            </a:r>
          </a:p>
        </p:txBody>
      </p:sp>
      <p:sp>
        <p:nvSpPr>
          <p:cNvPr id="6" name="Rectangle 5"/>
          <p:cNvSpPr/>
          <p:nvPr/>
        </p:nvSpPr>
        <p:spPr>
          <a:xfrm>
            <a:off x="1153160" y="1651000"/>
            <a:ext cx="444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Offener Punkt</a:t>
            </a:r>
          </a:p>
        </p:txBody>
      </p:sp>
      <p:sp>
        <p:nvSpPr>
          <p:cNvPr id="7" name="Rectangle 6"/>
          <p:cNvSpPr/>
          <p:nvPr/>
        </p:nvSpPr>
        <p:spPr>
          <a:xfrm>
            <a:off x="5598160" y="1651000"/>
            <a:ext cx="7029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daraus folgt</a:t>
            </a:r>
          </a:p>
        </p:txBody>
      </p:sp>
      <p:sp>
        <p:nvSpPr>
          <p:cNvPr id="8" name="Rectangle 7"/>
          <p:cNvSpPr/>
          <p:nvPr/>
        </p:nvSpPr>
        <p:spPr>
          <a:xfrm>
            <a:off x="1153160" y="2184400"/>
            <a:ext cx="444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Das geplante Ziel wird nicht erfasst</a:t>
            </a:r>
          </a:p>
        </p:txBody>
      </p:sp>
      <p:sp>
        <p:nvSpPr>
          <p:cNvPr id="9" name="Rectangle 8"/>
          <p:cNvSpPr/>
          <p:nvPr/>
        </p:nvSpPr>
        <p:spPr>
          <a:xfrm>
            <a:off x="5598160" y="2184400"/>
            <a:ext cx="702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Zahlen sind Obergrenzen</a:t>
            </a:r>
          </a:p>
        </p:txBody>
      </p:sp>
      <p:sp>
        <p:nvSpPr>
          <p:cNvPr id="10" name="Rectangle 9"/>
          <p:cNvSpPr/>
          <p:nvPr/>
        </p:nvSpPr>
        <p:spPr>
          <a:xfrm>
            <a:off x="1153160" y="2717800"/>
            <a:ext cx="444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 echter Schattenbetrieb</a:t>
            </a:r>
          </a:p>
        </p:txBody>
      </p:sp>
      <p:sp>
        <p:nvSpPr>
          <p:cNvPr id="11" name="Rectangle 10"/>
          <p:cNvSpPr/>
          <p:nvPr/>
        </p:nvSpPr>
        <p:spPr>
          <a:xfrm>
            <a:off x="5598160" y="2717800"/>
            <a:ext cx="702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Test 2 hat kalibriert und freigegeben — die unabhängige Endprüfung steht aus</a:t>
            </a:r>
          </a:p>
        </p:txBody>
      </p:sp>
      <p:sp>
        <p:nvSpPr>
          <p:cNvPr id="12" name="Rectangle 11"/>
          <p:cNvSpPr/>
          <p:nvPr/>
        </p:nvSpPr>
        <p:spPr>
          <a:xfrm>
            <a:off x="1153160" y="3251200"/>
            <a:ext cx="444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Keine Zusage je Verbindung</a:t>
            </a:r>
          </a:p>
        </p:txBody>
      </p:sp>
      <p:sp>
        <p:nvSpPr>
          <p:cNvPr id="13" name="Rectangle 12"/>
          <p:cNvSpPr/>
          <p:nvPr/>
        </p:nvSpPr>
        <p:spPr>
          <a:xfrm>
            <a:off x="5598160" y="3251200"/>
            <a:ext cx="702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80 % gelten insgesamt und je Radtyp</a:t>
            </a:r>
          </a:p>
        </p:txBody>
      </p:sp>
      <p:sp>
        <p:nvSpPr>
          <p:cNvPr id="14" name="Rectangle 13"/>
          <p:cNvSpPr/>
          <p:nvPr/>
        </p:nvSpPr>
        <p:spPr>
          <a:xfrm>
            <a:off x="1153160" y="3784600"/>
            <a:ext cx="444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 Wetter</a:t>
            </a:r>
          </a:p>
        </p:txBody>
      </p:sp>
      <p:sp>
        <p:nvSpPr>
          <p:cNvPr id="15" name="Rectangle 14"/>
          <p:cNvSpPr/>
          <p:nvPr/>
        </p:nvSpPr>
        <p:spPr>
          <a:xfrm>
            <a:off x="5598160" y="3784600"/>
            <a:ext cx="702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Ohne archivierte Prognosen fehlt ein vermutlich starkes Merkmal</a:t>
            </a:r>
          </a:p>
        </p:txBody>
      </p:sp>
      <p:sp>
        <p:nvSpPr>
          <p:cNvPr id="16" name="Rectangle 15"/>
          <p:cNvSpPr/>
          <p:nvPr/>
        </p:nvSpPr>
        <p:spPr>
          <a:xfrm>
            <a:off x="1153160" y="4318000"/>
            <a:ext cx="444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 Produkt für EBIKE und CARGO</a:t>
            </a:r>
          </a:p>
        </p:txBody>
      </p:sp>
      <p:sp>
        <p:nvSpPr>
          <p:cNvPr id="17" name="Rectangle 16"/>
          <p:cNvSpPr/>
          <p:nvPr/>
        </p:nvSpPr>
        <p:spPr>
          <a:xfrm>
            <a:off x="5598160" y="4318000"/>
            <a:ext cx="702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Weder als Zahl noch als Spanne</a:t>
            </a:r>
          </a:p>
        </p:txBody>
      </p:sp>
      <p:sp>
        <p:nvSpPr>
          <p:cNvPr id="18" name="Rectangle 17"/>
          <p:cNvSpPr/>
          <p:nvPr/>
        </p:nvSpPr>
        <p:spPr>
          <a:xfrm>
            <a:off x="1153160" y="4851400"/>
            <a:ext cx="444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Der bessere Kandidat wird nicht ausgeliefert</a:t>
            </a:r>
          </a:p>
        </p:txBody>
      </p:sp>
      <p:sp>
        <p:nvSpPr>
          <p:cNvPr id="19" name="Rectangle 18"/>
          <p:cNvSpPr/>
          <p:nvPr/>
        </p:nvSpPr>
        <p:spPr>
          <a:xfrm>
            <a:off x="5598160" y="4851400"/>
            <a:ext cx="702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Modellvorhersagen zu tabellieren wäre der nächste Schritt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Fall 2 — Klassifikation: was ein Modell wert sein muss</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Räder müssen als Nächstes in die Werkstatt — und lohnt sich dafür der Betrieb eines Modells?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Welche 60 Räder soll die Werkstatt im nächsten Quartal prüfen?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Je Rad die Wahrscheinlichkeit einer Schadensmeldung in den nächsten 90 Tagen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Zwei Hürden — und eine davon ist der Vergleich mit der heutigen Faustregel</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180 € je verpasstem Ausfall gegen 25 € je unnötiger Prüfung — rund 7 : 1</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Zwei Faustregeln als Maßstab, dann Entscheidungsbaum und Random Forest</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Gleichstand auf dem Test, über fünf Quartale liegt die Regel vorn — ausgeliefert wird die Regel</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Kostenmatrix, aus der alles Weitere folgt</a:t>
            </a:r>
          </a:p>
        </p:txBody>
      </p:sp>
      <p:sp>
        <p:nvSpPr>
          <p:cNvPr id="3" name="Text Placeholder 2"/>
          <p:cNvSpPr>
            <a:spLocks noGrp="1"/>
          </p:cNvSpPr>
          <p:nvPr>
            <p:ph type="body" idx="12" sz="quarter"/>
          </p:nvPr>
        </p:nvSpPr>
        <p:spPr/>
        <p:txBody>
          <a:bodyPr/>
          <a:lstStyle/>
          <a:p>
            <a:r>
              <a:t>Phase 1 · im Notebook</a:t>
            </a:r>
          </a:p>
        </p:txBody>
      </p:sp>
      <p:sp>
        <p:nvSpPr>
          <p:cNvPr id="4" name="Text Placeholder 3"/>
          <p:cNvSpPr>
            <a:spLocks noGrp="1"/>
          </p:cNvSpPr>
          <p:nvPr>
            <p:ph type="body" idx="13" sz="quarter"/>
          </p:nvPr>
        </p:nvSpPr>
        <p:spPr/>
        <p:txBody>
          <a:bodyPr/>
          <a:lstStyle/>
          <a:p>
            <a:r>
              <a:t>analytics/notebooks/02_Klassifikation_Wartungsrisiko.ipynb · Abschnitt 1 — Fehlerkosten</a:t>
            </a:r>
          </a:p>
        </p:txBody>
      </p:sp>
      <p:sp>
        <p:nvSpPr>
          <p:cNvPr id="5" name="Rectangle 4"/>
          <p:cNvSpPr/>
          <p:nvPr/>
        </p:nvSpPr>
        <p:spPr>
          <a:xfrm>
            <a:off x="4523244" y="1168400"/>
            <a:ext cx="4734280"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2-kosten.png"/>
          <p:cNvPicPr>
            <a:picLocks noChangeAspect="1"/>
          </p:cNvPicPr>
          <p:nvPr/>
        </p:nvPicPr>
        <p:blipFill>
          <a:blip r:embed="rId2"/>
          <a:stretch>
            <a:fillRect/>
          </a:stretch>
        </p:blipFill>
        <p:spPr>
          <a:xfrm>
            <a:off x="4624844" y="1270000"/>
            <a:ext cx="4531080"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180 € gegen 25 €. Diese beiden Zahlen bestimmen das Erfolgskriterium, die Klassengewichte und am Ende die Auslieferung.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hier anders ist als in Fall 1</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Drei Unterschiede — und jeder verändert eine Phase.</a:t>
            </a:r>
          </a:p>
        </p:txBody>
      </p:sp>
      <p:sp>
        <p:nvSpPr>
          <p:cNvPr id="6" name="Rectangle 5"/>
          <p:cNvSpPr/>
          <p:nvPr/>
        </p:nvSpPr>
        <p:spPr>
          <a:xfrm>
            <a:off x="1153160" y="1651000"/>
            <a:ext cx="1905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3058160" y="1651000"/>
            <a:ext cx="3556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 1 — Regression</a:t>
            </a:r>
          </a:p>
        </p:txBody>
      </p:sp>
      <p:sp>
        <p:nvSpPr>
          <p:cNvPr id="8" name="Rectangle 7"/>
          <p:cNvSpPr/>
          <p:nvPr/>
        </p:nvSpPr>
        <p:spPr>
          <a:xfrm>
            <a:off x="6614159" y="1651000"/>
            <a:ext cx="6013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 2 — Klassifikation</a:t>
            </a:r>
          </a:p>
        </p:txBody>
      </p:sp>
      <p:sp>
        <p:nvSpPr>
          <p:cNvPr id="9" name="Rectangle 8"/>
          <p:cNvSpPr/>
          <p:nvPr/>
        </p:nvSpPr>
        <p:spPr>
          <a:xfrm>
            <a:off x="1153160" y="2260600"/>
            <a:ext cx="190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Zielgröße</a:t>
            </a:r>
          </a:p>
        </p:txBody>
      </p:sp>
      <p:sp>
        <p:nvSpPr>
          <p:cNvPr id="10" name="Rectangle 9"/>
          <p:cNvSpPr/>
          <p:nvPr/>
        </p:nvSpPr>
        <p:spPr>
          <a:xfrm>
            <a:off x="3058160" y="2260600"/>
            <a:ext cx="355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Zahl: Minuten</a:t>
            </a:r>
          </a:p>
        </p:txBody>
      </p:sp>
      <p:sp>
        <p:nvSpPr>
          <p:cNvPr id="11" name="Rectangle 10"/>
          <p:cNvSpPr/>
          <p:nvPr/>
        </p:nvSpPr>
        <p:spPr>
          <a:xfrm>
            <a:off x="6614159" y="22606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ja oder nein: meldet sich das Rad?</a:t>
            </a:r>
          </a:p>
        </p:txBody>
      </p:sp>
      <p:sp>
        <p:nvSpPr>
          <p:cNvPr id="12" name="Rectangle 11"/>
          <p:cNvSpPr/>
          <p:nvPr/>
        </p:nvSpPr>
        <p:spPr>
          <a:xfrm>
            <a:off x="1153160" y="2870200"/>
            <a:ext cx="190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Fehlerkosten</a:t>
            </a:r>
          </a:p>
        </p:txBody>
      </p:sp>
      <p:sp>
        <p:nvSpPr>
          <p:cNvPr id="13" name="Rectangle 12"/>
          <p:cNvSpPr/>
          <p:nvPr/>
        </p:nvSpPr>
        <p:spPr>
          <a:xfrm>
            <a:off x="3058160" y="2870200"/>
            <a:ext cx="355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beide Richtungen gleich</a:t>
            </a:r>
          </a:p>
        </p:txBody>
      </p:sp>
      <p:sp>
        <p:nvSpPr>
          <p:cNvPr id="14" name="Rectangle 13"/>
          <p:cNvSpPr/>
          <p:nvPr/>
        </p:nvSpPr>
        <p:spPr>
          <a:xfrm>
            <a:off x="6614159" y="28702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180 € gegen 25 € — rund 7 : 1</a:t>
            </a:r>
          </a:p>
        </p:txBody>
      </p:sp>
      <p:sp>
        <p:nvSpPr>
          <p:cNvPr id="15" name="Rectangle 14"/>
          <p:cNvSpPr/>
          <p:nvPr/>
        </p:nvSpPr>
        <p:spPr>
          <a:xfrm>
            <a:off x="1153160" y="3479800"/>
            <a:ext cx="190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Aufteilung</a:t>
            </a:r>
          </a:p>
        </p:txBody>
      </p:sp>
      <p:sp>
        <p:nvSpPr>
          <p:cNvPr id="16" name="Rectangle 15"/>
          <p:cNvSpPr/>
          <p:nvPr/>
        </p:nvSpPr>
        <p:spPr>
          <a:xfrm>
            <a:off x="3058160" y="3479800"/>
            <a:ext cx="355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zufällig zulässig</a:t>
            </a:r>
          </a:p>
        </p:txBody>
      </p:sp>
      <p:sp>
        <p:nvSpPr>
          <p:cNvPr id="17" name="Rectangle 16"/>
          <p:cNvSpPr/>
          <p:nvPr/>
        </p:nvSpPr>
        <p:spPr>
          <a:xfrm>
            <a:off x="6614159" y="34798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zeitlich zwingend: Merkmale aus 180 Tagen davor, Label aus 90 Tagen danach</a:t>
            </a:r>
          </a:p>
        </p:txBody>
      </p:sp>
      <p:sp>
        <p:nvSpPr>
          <p:cNvPr id="18" name="Rectangle 17"/>
          <p:cNvSpPr/>
          <p:nvPr/>
        </p:nvSpPr>
        <p:spPr>
          <a:xfrm>
            <a:off x="1153160" y="4089400"/>
            <a:ext cx="190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Maßstab</a:t>
            </a:r>
          </a:p>
        </p:txBody>
      </p:sp>
      <p:sp>
        <p:nvSpPr>
          <p:cNvPr id="19" name="Rectangle 18"/>
          <p:cNvSpPr/>
          <p:nvPr/>
        </p:nvSpPr>
        <p:spPr>
          <a:xfrm>
            <a:off x="3058160" y="4089400"/>
            <a:ext cx="355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a:t>
            </a:r>
          </a:p>
        </p:txBody>
      </p:sp>
      <p:sp>
        <p:nvSpPr>
          <p:cNvPr id="20" name="Rectangle 19"/>
          <p:cNvSpPr/>
          <p:nvPr/>
        </p:nvSpPr>
        <p:spPr>
          <a:xfrm>
            <a:off x="6614159" y="40894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 UND die heutige Faustregel der Werkstatt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Schnelldurchlauf</a:t>
            </a:r>
          </a:p>
        </p:txBody>
      </p:sp>
      <p:sp>
        <p:nvSpPr>
          <p:cNvPr id="3" name="Text Placeholder 2"/>
          <p:cNvSpPr>
            <a:spLocks noGrp="1"/>
          </p:cNvSpPr>
          <p:nvPr>
            <p:ph type="body" idx="12" sz="quarter"/>
          </p:nvPr>
        </p:nvSpPr>
        <p:spPr/>
        <p:txBody>
          <a:bodyPr/>
          <a:lstStyle/>
          <a:p>
            <a:r>
              <a:t>Fall 2 · Phasen 1 bis 3</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ersten drei Phasen laufen wie in Fall 1. Was sie hier hervorbringen, steht in drei Zeilen.</a:t>
            </a:r>
          </a:p>
        </p:txBody>
      </p:sp>
      <p:sp>
        <p:nvSpPr>
          <p:cNvPr id="6" name="Rectangle 5"/>
          <p:cNvSpPr/>
          <p:nvPr/>
        </p:nvSpPr>
        <p:spPr>
          <a:xfrm>
            <a:off x="1153160" y="16510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968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1  </a:t>
            </a:r>
            <a:r>
              <a:rPr sz="1300">
                <a:solidFill>
                  <a:srgbClr val="404040"/>
                </a:solidFill>
              </a:rPr>
              <a:t>Aus „vorausschauend warten“ wird eine Kostenmatrix: 180 € gegen 25 €, und zwei Erfolgskriterien</a:t>
            </a:r>
          </a:p>
        </p:txBody>
      </p:sp>
      <p:sp>
        <p:nvSpPr>
          <p:cNvPr id="10" name="Rectangle 9"/>
          <p:cNvSpPr/>
          <p:nvPr/>
        </p:nvSpPr>
        <p:spPr>
          <a:xfrm>
            <a:off x="1153160" y="27432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432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194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2  </a:t>
            </a:r>
            <a:r>
              <a:rPr sz="1300">
                <a:solidFill>
                  <a:srgbClr val="404040"/>
                </a:solidFill>
              </a:rPr>
              <a:t>Nutzung und Meldungen hängen zusammen (r ≈ 0,7), aber nicht deterministisch. 44 % der Räder melden sich je Quartal, die Werkstatt schafft 26 %</a:t>
            </a:r>
          </a:p>
        </p:txBody>
      </p:sp>
      <p:sp>
        <p:nvSpPr>
          <p:cNvPr id="14" name="Rectangle 13"/>
          <p:cNvSpPr/>
          <p:nvPr/>
        </p:nvSpPr>
        <p:spPr>
          <a:xfrm>
            <a:off x="1153160" y="38354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8354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4152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9116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  </a:t>
            </a:r>
            <a:r>
              <a:rPr sz="1300">
                <a:solidFill>
                  <a:srgbClr val="404040"/>
                </a:solidFill>
              </a:rPr>
              <a:t>Zeitlicher Schnitt: acht Stichtage, Merkmale aus 180 Tagen davor, Label aus 90 Tagen danach, Testmenge ist der jüngste Stichtag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zeitliche Schnitt, in Zahlen</a:t>
            </a:r>
          </a:p>
        </p:txBody>
      </p:sp>
      <p:sp>
        <p:nvSpPr>
          <p:cNvPr id="3" name="Text Placeholder 2"/>
          <p:cNvSpPr>
            <a:spLocks noGrp="1"/>
          </p:cNvSpPr>
          <p:nvPr>
            <p:ph type="body" idx="12" sz="quarter"/>
          </p:nvPr>
        </p:nvSpPr>
        <p:spPr/>
        <p:txBody>
          <a:bodyPr/>
          <a:lstStyle/>
          <a:p>
            <a:r>
              <a:t>Phase 3 · im Notebook</a:t>
            </a:r>
          </a:p>
        </p:txBody>
      </p:sp>
      <p:sp>
        <p:nvSpPr>
          <p:cNvPr id="4" name="Text Placeholder 3"/>
          <p:cNvSpPr>
            <a:spLocks noGrp="1"/>
          </p:cNvSpPr>
          <p:nvPr>
            <p:ph type="body" idx="13" sz="quarter"/>
          </p:nvPr>
        </p:nvSpPr>
        <p:spPr/>
        <p:txBody>
          <a:bodyPr/>
          <a:lstStyle/>
          <a:p>
            <a:r>
              <a:t>analytics/notebooks/02_Klassifikation_Wartungsrisiko.ipynb · Abschnitt 3.3</a:t>
            </a:r>
          </a:p>
        </p:txBody>
      </p:sp>
      <p:sp>
        <p:nvSpPr>
          <p:cNvPr id="5" name="Rectangle 4"/>
          <p:cNvSpPr/>
          <p:nvPr/>
        </p:nvSpPr>
        <p:spPr>
          <a:xfrm>
            <a:off x="1051560" y="1178279"/>
            <a:ext cx="11677650" cy="434904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2-schnitt.png"/>
          <p:cNvPicPr>
            <a:picLocks noChangeAspect="1"/>
          </p:cNvPicPr>
          <p:nvPr/>
        </p:nvPicPr>
        <p:blipFill>
          <a:blip r:embed="rId2"/>
          <a:stretch>
            <a:fillRect/>
          </a:stretch>
        </p:blipFill>
        <p:spPr>
          <a:xfrm>
            <a:off x="1153160" y="1279879"/>
            <a:ext cx="11474450" cy="414584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Sieben Stichtage zum Trainieren, der jüngste zum Testen — und ein Anteil positiver Fälle, der sich dabei verdoppelt.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Zuerst die Faustregeln — dann erst die Modelle</a:t>
            </a:r>
          </a:p>
        </p:txBody>
      </p:sp>
      <p:sp>
        <p:nvSpPr>
          <p:cNvPr id="3" name="Text Placeholder 2"/>
          <p:cNvSpPr>
            <a:spLocks noGrp="1"/>
          </p:cNvSpPr>
          <p:nvPr>
            <p:ph type="body" idx="12" sz="quarter"/>
          </p:nvPr>
        </p:nvSpPr>
        <p:spPr/>
        <p:txBody>
          <a:bodyPr/>
          <a:lstStyle/>
          <a:p>
            <a:r>
              <a:t>Fall 2 · Phase 4</a:t>
            </a:r>
          </a:p>
        </p:txBody>
      </p:sp>
      <p:sp>
        <p:nvSpPr>
          <p:cNvPr id="4" name="Text Placeholder 3"/>
          <p:cNvSpPr>
            <a:spLocks noGrp="1"/>
          </p:cNvSpPr>
          <p:nvPr>
            <p:ph type="body" idx="13" sz="quarter"/>
          </p:nvPr>
        </p:nvSpPr>
        <p:spPr/>
        <p:txBody>
          <a:bodyPr/>
          <a:lstStyle/>
          <a:p>
            <a:r>
              <a:t>analytics/notebooks/02_Klassifikation_Wartungsrisiko.ipynb · Abschnitt 4</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Regeln, wie sie die Werkstatt heute im Kopf hat. Sie sind der Maßstab, an dem sich jedes Modell messen lassen muss.</a:t>
            </a:r>
          </a:p>
        </p:txBody>
      </p:sp>
      <p:sp>
        <p:nvSpPr>
          <p:cNvPr id="6" name="Rectangle 5"/>
          <p:cNvSpPr/>
          <p:nvPr/>
        </p:nvSpPr>
        <p:spPr>
          <a:xfrm>
            <a:off x="1153160" y="1879600"/>
            <a:ext cx="5524500" cy="2286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86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993900"/>
            <a:ext cx="5194300" cy="2057400"/>
          </a:xfrm>
          <a:prstGeom prst="rect">
            <a:avLst/>
          </a:prstGeom>
          <a:noFill/>
        </p:spPr>
        <p:txBody>
          <a:bodyPr wrap="square" lIns="0" tIns="0" rIns="0" bIns="0">
            <a:spAutoFit/>
          </a:bodyPr>
          <a:lstStyle/>
          <a:p>
            <a:pPr algn="l">
              <a:lnSpc>
                <a:spcPct val="95000"/>
              </a:lnSpc>
            </a:pPr>
            <a:r>
              <a:rPr sz="1400" b="1">
                <a:solidFill>
                  <a:srgbClr val="ED7004"/>
                </a:solidFill>
              </a:rPr>
              <a:t>Regel A — Kilometerstand</a:t>
            </a:r>
          </a:p>
          <a:p>
            <a:pPr algn="l">
              <a:lnSpc>
                <a:spcPct val="95000"/>
              </a:lnSpc>
              <a:spcBef>
                <a:spcPts val="200"/>
              </a:spcBef>
            </a:pPr>
            <a:r>
              <a:rPr sz="1300" b="0">
                <a:solidFill>
                  <a:srgbClr val="404040"/>
                </a:solidFill>
                <a:latin typeface="Consolas"/>
              </a:rPr>
              <a:t>Die 60 Raeder mit den</a:t>
            </a:r>
          </a:p>
          <a:p>
            <a:pPr algn="l">
              <a:lnSpc>
                <a:spcPct val="95000"/>
              </a:lnSpc>
              <a:spcBef>
                <a:spcPts val="200"/>
              </a:spcBef>
            </a:pPr>
            <a:r>
              <a:rPr sz="1300" b="0">
                <a:solidFill>
                  <a:srgbClr val="404040"/>
                </a:solidFill>
                <a:latin typeface="Consolas"/>
              </a:rPr>
              <a:t>meisten Kilometern seit</a:t>
            </a:r>
          </a:p>
          <a:p>
            <a:pPr algn="l">
              <a:lnSpc>
                <a:spcPct val="95000"/>
              </a:lnSpc>
              <a:spcBef>
                <a:spcPts val="200"/>
              </a:spcBef>
            </a:pPr>
            <a:r>
              <a:rPr sz="1300" b="0">
                <a:solidFill>
                  <a:srgbClr val="404040"/>
                </a:solidFill>
                <a:latin typeface="Consolas"/>
              </a:rPr>
              <a:t>der letzten Wartung.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Eine Zeile Code.</a:t>
            </a:r>
          </a:p>
        </p:txBody>
      </p:sp>
      <p:sp>
        <p:nvSpPr>
          <p:cNvPr id="9" name="Rectangle 8"/>
          <p:cNvSpPr/>
          <p:nvPr/>
        </p:nvSpPr>
        <p:spPr>
          <a:xfrm>
            <a:off x="7096759" y="1879600"/>
            <a:ext cx="5524500" cy="2286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879600"/>
            <a:ext cx="50800" cy="2286000"/>
          </a:xfrm>
          <a:prstGeom prst="rect">
            <a:avLst/>
          </a:prstGeom>
          <a:solidFill>
            <a:srgbClr val="5551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993900"/>
            <a:ext cx="5194300" cy="2057400"/>
          </a:xfrm>
          <a:prstGeom prst="rect">
            <a:avLst/>
          </a:prstGeom>
          <a:noFill/>
        </p:spPr>
        <p:txBody>
          <a:bodyPr wrap="square" lIns="0" tIns="0" rIns="0" bIns="0">
            <a:spAutoFit/>
          </a:bodyPr>
          <a:lstStyle/>
          <a:p>
            <a:pPr algn="l">
              <a:lnSpc>
                <a:spcPct val="95000"/>
              </a:lnSpc>
            </a:pPr>
            <a:r>
              <a:rPr sz="1400" b="1">
                <a:solidFill>
                  <a:srgbClr val="555148"/>
                </a:solidFill>
              </a:rPr>
              <a:t>Regel B — Alter</a:t>
            </a:r>
          </a:p>
          <a:p>
            <a:pPr algn="l">
              <a:lnSpc>
                <a:spcPct val="95000"/>
              </a:lnSpc>
              <a:spcBef>
                <a:spcPts val="200"/>
              </a:spcBef>
            </a:pPr>
            <a:r>
              <a:rPr sz="1300" b="0">
                <a:solidFill>
                  <a:srgbClr val="404040"/>
                </a:solidFill>
                <a:latin typeface="Consolas"/>
              </a:rPr>
              <a:t>Die 60 aeltesten Raeder</a:t>
            </a:r>
          </a:p>
          <a:p>
            <a:pPr algn="l">
              <a:lnSpc>
                <a:spcPct val="95000"/>
              </a:lnSpc>
              <a:spcBef>
                <a:spcPts val="200"/>
              </a:spcBef>
            </a:pPr>
            <a:r>
              <a:rPr sz="1300" b="0">
                <a:solidFill>
                  <a:srgbClr val="404040"/>
                </a:solidFill>
                <a:latin typeface="Consolas"/>
              </a:rPr>
              <a:t>der Flotte.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Ebenfalls eine Zeile.</a:t>
            </a:r>
          </a:p>
          <a:p>
            <a:pPr algn="l">
              <a:lnSpc>
                <a:spcPct val="95000"/>
              </a:lnSpc>
              <a:spcBef>
                <a:spcPts val="200"/>
              </a:spcBef>
            </a:pPr>
            <a:r>
              <a:rPr sz="1300" b="0">
                <a:solidFill>
                  <a:srgbClr val="404040"/>
                </a:solidFill>
                <a:latin typeface="Consolas"/>
              </a:rPr>
              <a:t>Deutlich schwaecher als A.</a:t>
            </a:r>
          </a:p>
        </p:txBody>
      </p:sp>
      <p:sp>
        <p:nvSpPr>
          <p:cNvPr id="12" name="Rectangle 1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4" name="Rectangle 1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6" name="Rectangle 1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8" name="Rectangle 17"/>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0" name="Rectangle 1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2" name="Rectangle 2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Gleichstand auf dem Testquartal</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Erfolgskriterien standen vor der Messung fest: mindestens 70 % Trefferquote, und günstiger als die heutige Faustregel.</a:t>
            </a:r>
          </a:p>
        </p:txBody>
      </p:sp>
      <p:sp>
        <p:nvSpPr>
          <p:cNvPr id="6" name="Rectangle 5"/>
          <p:cNvSpPr/>
          <p:nvPr/>
        </p:nvSpPr>
        <p:spPr>
          <a:xfrm>
            <a:off x="1153160" y="1879600"/>
            <a:ext cx="4826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Vorgehen</a:t>
            </a:r>
          </a:p>
        </p:txBody>
      </p:sp>
      <p:sp>
        <p:nvSpPr>
          <p:cNvPr id="7" name="Rectangle 6"/>
          <p:cNvSpPr/>
          <p:nvPr/>
        </p:nvSpPr>
        <p:spPr>
          <a:xfrm>
            <a:off x="5979160" y="1879600"/>
            <a:ext cx="1524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a:t>
            </a:r>
          </a:p>
        </p:txBody>
      </p:sp>
      <p:sp>
        <p:nvSpPr>
          <p:cNvPr id="8" name="Rectangle 7"/>
          <p:cNvSpPr/>
          <p:nvPr/>
        </p:nvSpPr>
        <p:spPr>
          <a:xfrm>
            <a:off x="7503159" y="1879600"/>
            <a:ext cx="2286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Trefferquote</a:t>
            </a:r>
          </a:p>
        </p:txBody>
      </p:sp>
      <p:sp>
        <p:nvSpPr>
          <p:cNvPr id="9" name="Rectangle 8"/>
          <p:cNvSpPr/>
          <p:nvPr/>
        </p:nvSpPr>
        <p:spPr>
          <a:xfrm>
            <a:off x="9789160" y="1879600"/>
            <a:ext cx="283845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Kosten je Quartal</a:t>
            </a:r>
          </a:p>
        </p:txBody>
      </p:sp>
      <p:sp>
        <p:nvSpPr>
          <p:cNvPr id="10" name="Rectangle 9"/>
          <p:cNvSpPr/>
          <p:nvPr/>
        </p:nvSpPr>
        <p:spPr>
          <a:xfrm>
            <a:off x="1153160" y="2336800"/>
            <a:ext cx="482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gar nicht vorsorglich prüfen</a:t>
            </a:r>
          </a:p>
        </p:txBody>
      </p:sp>
      <p:sp>
        <p:nvSpPr>
          <p:cNvPr id="11" name="Rectangle 10"/>
          <p:cNvSpPr/>
          <p:nvPr/>
        </p:nvSpPr>
        <p:spPr>
          <a:xfrm>
            <a:off x="5979160" y="2336800"/>
            <a:ext cx="152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12" name="Rectangle 11"/>
          <p:cNvSpPr/>
          <p:nvPr/>
        </p:nvSpPr>
        <p:spPr>
          <a:xfrm>
            <a:off x="7503159" y="2336800"/>
            <a:ext cx="228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0 %</a:t>
            </a:r>
          </a:p>
        </p:txBody>
      </p:sp>
      <p:sp>
        <p:nvSpPr>
          <p:cNvPr id="13" name="Rectangle 12"/>
          <p:cNvSpPr/>
          <p:nvPr/>
        </p:nvSpPr>
        <p:spPr>
          <a:xfrm>
            <a:off x="9789160" y="2336800"/>
            <a:ext cx="283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18.360 €</a:t>
            </a:r>
          </a:p>
        </p:txBody>
      </p:sp>
      <p:sp>
        <p:nvSpPr>
          <p:cNvPr id="14" name="Rectangle 13"/>
          <p:cNvSpPr/>
          <p:nvPr/>
        </p:nvSpPr>
        <p:spPr>
          <a:xfrm>
            <a:off x="1153160" y="2794000"/>
            <a:ext cx="482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ältestes Rad</a:t>
            </a:r>
          </a:p>
        </p:txBody>
      </p:sp>
      <p:sp>
        <p:nvSpPr>
          <p:cNvPr id="15" name="Rectangle 14"/>
          <p:cNvSpPr/>
          <p:nvPr/>
        </p:nvSpPr>
        <p:spPr>
          <a:xfrm>
            <a:off x="5979160" y="2794000"/>
            <a:ext cx="152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27</a:t>
            </a:r>
          </a:p>
        </p:txBody>
      </p:sp>
      <p:sp>
        <p:nvSpPr>
          <p:cNvPr id="16" name="Rectangle 15"/>
          <p:cNvSpPr/>
          <p:nvPr/>
        </p:nvSpPr>
        <p:spPr>
          <a:xfrm>
            <a:off x="7503159" y="2794000"/>
            <a:ext cx="228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45,0 %</a:t>
            </a:r>
          </a:p>
        </p:txBody>
      </p:sp>
      <p:sp>
        <p:nvSpPr>
          <p:cNvPr id="17" name="Rectangle 16"/>
          <p:cNvSpPr/>
          <p:nvPr/>
        </p:nvSpPr>
        <p:spPr>
          <a:xfrm>
            <a:off x="9789160" y="2794000"/>
            <a:ext cx="283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14.325 €</a:t>
            </a:r>
          </a:p>
        </p:txBody>
      </p:sp>
      <p:sp>
        <p:nvSpPr>
          <p:cNvPr id="18" name="Rectangle 17"/>
          <p:cNvSpPr/>
          <p:nvPr/>
        </p:nvSpPr>
        <p:spPr>
          <a:xfrm>
            <a:off x="1153160" y="3251200"/>
            <a:ext cx="482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meiste Kilometer</a:t>
            </a:r>
          </a:p>
        </p:txBody>
      </p:sp>
      <p:sp>
        <p:nvSpPr>
          <p:cNvPr id="19" name="Rectangle 18"/>
          <p:cNvSpPr/>
          <p:nvPr/>
        </p:nvSpPr>
        <p:spPr>
          <a:xfrm>
            <a:off x="5979160" y="3251200"/>
            <a:ext cx="152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31</a:t>
            </a:r>
          </a:p>
        </p:txBody>
      </p:sp>
      <p:sp>
        <p:nvSpPr>
          <p:cNvPr id="20" name="Rectangle 19"/>
          <p:cNvSpPr/>
          <p:nvPr/>
        </p:nvSpPr>
        <p:spPr>
          <a:xfrm>
            <a:off x="7503159" y="3251200"/>
            <a:ext cx="228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51,7 %</a:t>
            </a:r>
          </a:p>
        </p:txBody>
      </p:sp>
      <p:sp>
        <p:nvSpPr>
          <p:cNvPr id="21" name="Rectangle 20"/>
          <p:cNvSpPr/>
          <p:nvPr/>
        </p:nvSpPr>
        <p:spPr>
          <a:xfrm>
            <a:off x="9789160" y="3251200"/>
            <a:ext cx="283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13.505 €</a:t>
            </a:r>
          </a:p>
        </p:txBody>
      </p:sp>
      <p:sp>
        <p:nvSpPr>
          <p:cNvPr id="22" name="Rectangle 21"/>
          <p:cNvSpPr/>
          <p:nvPr/>
        </p:nvSpPr>
        <p:spPr>
          <a:xfrm>
            <a:off x="1153160" y="3708400"/>
            <a:ext cx="482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km seit letzter Reparatur</a:t>
            </a:r>
          </a:p>
        </p:txBody>
      </p:sp>
      <p:sp>
        <p:nvSpPr>
          <p:cNvPr id="23" name="Rectangle 22"/>
          <p:cNvSpPr/>
          <p:nvPr/>
        </p:nvSpPr>
        <p:spPr>
          <a:xfrm>
            <a:off x="5979160" y="3708400"/>
            <a:ext cx="152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a:t>
            </a:r>
          </a:p>
        </p:txBody>
      </p:sp>
      <p:sp>
        <p:nvSpPr>
          <p:cNvPr id="24" name="Rectangle 23"/>
          <p:cNvSpPr/>
          <p:nvPr/>
        </p:nvSpPr>
        <p:spPr>
          <a:xfrm>
            <a:off x="7503159" y="3708400"/>
            <a:ext cx="228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25" name="Rectangle 24"/>
          <p:cNvSpPr/>
          <p:nvPr/>
        </p:nvSpPr>
        <p:spPr>
          <a:xfrm>
            <a:off x="9789160" y="3708400"/>
            <a:ext cx="283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11.045 €</a:t>
            </a:r>
          </a:p>
        </p:txBody>
      </p:sp>
      <p:sp>
        <p:nvSpPr>
          <p:cNvPr id="26" name="Rectangle 25"/>
          <p:cNvSpPr/>
          <p:nvPr/>
        </p:nvSpPr>
        <p:spPr>
          <a:xfrm>
            <a:off x="1153160" y="4165600"/>
            <a:ext cx="482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Random Forest</a:t>
            </a:r>
          </a:p>
        </p:txBody>
      </p:sp>
      <p:sp>
        <p:nvSpPr>
          <p:cNvPr id="27" name="Rectangle 26"/>
          <p:cNvSpPr/>
          <p:nvPr/>
        </p:nvSpPr>
        <p:spPr>
          <a:xfrm>
            <a:off x="5979160" y="4165600"/>
            <a:ext cx="152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a:t>
            </a:r>
          </a:p>
        </p:txBody>
      </p:sp>
      <p:sp>
        <p:nvSpPr>
          <p:cNvPr id="28" name="Rectangle 27"/>
          <p:cNvSpPr/>
          <p:nvPr/>
        </p:nvSpPr>
        <p:spPr>
          <a:xfrm>
            <a:off x="7503159" y="4165600"/>
            <a:ext cx="228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29" name="Rectangle 28"/>
          <p:cNvSpPr/>
          <p:nvPr/>
        </p:nvSpPr>
        <p:spPr>
          <a:xfrm>
            <a:off x="9789160" y="4165600"/>
            <a:ext cx="283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11.045 €</a:t>
            </a:r>
          </a:p>
        </p:txBody>
      </p:sp>
      <p:sp>
        <p:nvSpPr>
          <p:cNvPr id="30" name="Rectangle 29"/>
          <p:cNvSpPr/>
          <p:nvPr/>
        </p:nvSpPr>
        <p:spPr>
          <a:xfrm>
            <a:off x="1153160" y="4800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4876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Treffer für Treffer identisch. Der Wald mit 300 Bäumen findet nichts, was über „Kilometer seit der Reparatur“ hinausgeht.</a:t>
            </a:r>
          </a:p>
        </p:txBody>
      </p:sp>
      <p:sp>
        <p:nvSpPr>
          <p:cNvPr id="32" name="Rectangle 3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4" name="Rectangle 3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6" name="Rectangle 3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8" name="Rectangle 3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0" name="Rectangle 39"/>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42" name="Rectangle 4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Quartal ist keine Aussage — fünf schon eher</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Anteil auffälliger Räder schwankt zwischen 8 % im November und 46 % im Mai. Wer auf einem Quartal entscheidet, entscheidet über die Jahreszeit mit.</a:t>
            </a:r>
          </a:p>
        </p:txBody>
      </p:sp>
      <p:sp>
        <p:nvSpPr>
          <p:cNvPr id="6" name="Rectangle 5"/>
          <p:cNvSpPr/>
          <p:nvPr/>
        </p:nvSpPr>
        <p:spPr>
          <a:xfrm>
            <a:off x="1153160" y="1879600"/>
            <a:ext cx="2794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Stichtag</a:t>
            </a:r>
          </a:p>
        </p:txBody>
      </p:sp>
      <p:sp>
        <p:nvSpPr>
          <p:cNvPr id="7" name="Rectangle 6"/>
          <p:cNvSpPr/>
          <p:nvPr/>
        </p:nvSpPr>
        <p:spPr>
          <a:xfrm>
            <a:off x="3947160" y="1879600"/>
            <a:ext cx="254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Grundrate</a:t>
            </a:r>
          </a:p>
        </p:txBody>
      </p:sp>
      <p:sp>
        <p:nvSpPr>
          <p:cNvPr id="8" name="Rectangle 7"/>
          <p:cNvSpPr/>
          <p:nvPr/>
        </p:nvSpPr>
        <p:spPr>
          <a:xfrm>
            <a:off x="6487160" y="1879600"/>
            <a:ext cx="3175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Random Forest</a:t>
            </a:r>
          </a:p>
        </p:txBody>
      </p:sp>
      <p:sp>
        <p:nvSpPr>
          <p:cNvPr id="9" name="Rectangle 8"/>
          <p:cNvSpPr/>
          <p:nvPr/>
        </p:nvSpPr>
        <p:spPr>
          <a:xfrm>
            <a:off x="9662160" y="1879600"/>
            <a:ext cx="2965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Faustregel</a:t>
            </a:r>
          </a:p>
        </p:txBody>
      </p:sp>
      <p:sp>
        <p:nvSpPr>
          <p:cNvPr id="10" name="Rectangle 9"/>
          <p:cNvSpPr/>
          <p:nvPr/>
        </p:nvSpPr>
        <p:spPr>
          <a:xfrm>
            <a:off x="1153160" y="2286000"/>
            <a:ext cx="279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03/2025</a:t>
            </a:r>
          </a:p>
        </p:txBody>
      </p:sp>
      <p:sp>
        <p:nvSpPr>
          <p:cNvPr id="11" name="Rectangle 10"/>
          <p:cNvSpPr/>
          <p:nvPr/>
        </p:nvSpPr>
        <p:spPr>
          <a:xfrm>
            <a:off x="3947160" y="2286000"/>
            <a:ext cx="254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22,7 %</a:t>
            </a:r>
          </a:p>
        </p:txBody>
      </p:sp>
      <p:sp>
        <p:nvSpPr>
          <p:cNvPr id="12" name="Rectangle 11"/>
          <p:cNvSpPr/>
          <p:nvPr/>
        </p:nvSpPr>
        <p:spPr>
          <a:xfrm>
            <a:off x="6487160" y="2286000"/>
            <a:ext cx="3175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21</a:t>
            </a:r>
          </a:p>
        </p:txBody>
      </p:sp>
      <p:sp>
        <p:nvSpPr>
          <p:cNvPr id="13" name="Rectangle 12"/>
          <p:cNvSpPr/>
          <p:nvPr/>
        </p:nvSpPr>
        <p:spPr>
          <a:xfrm>
            <a:off x="9662160" y="2286000"/>
            <a:ext cx="2965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25</a:t>
            </a:r>
          </a:p>
        </p:txBody>
      </p:sp>
      <p:sp>
        <p:nvSpPr>
          <p:cNvPr id="14" name="Rectangle 13"/>
          <p:cNvSpPr/>
          <p:nvPr/>
        </p:nvSpPr>
        <p:spPr>
          <a:xfrm>
            <a:off x="1153160" y="2692400"/>
            <a:ext cx="279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05/2025</a:t>
            </a:r>
          </a:p>
        </p:txBody>
      </p:sp>
      <p:sp>
        <p:nvSpPr>
          <p:cNvPr id="15" name="Rectangle 14"/>
          <p:cNvSpPr/>
          <p:nvPr/>
        </p:nvSpPr>
        <p:spPr>
          <a:xfrm>
            <a:off x="3947160" y="2692400"/>
            <a:ext cx="254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46,9 %</a:t>
            </a:r>
          </a:p>
        </p:txBody>
      </p:sp>
      <p:sp>
        <p:nvSpPr>
          <p:cNvPr id="16" name="Rectangle 15"/>
          <p:cNvSpPr/>
          <p:nvPr/>
        </p:nvSpPr>
        <p:spPr>
          <a:xfrm>
            <a:off x="6487160" y="2692400"/>
            <a:ext cx="3175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42</a:t>
            </a:r>
          </a:p>
        </p:txBody>
      </p:sp>
      <p:sp>
        <p:nvSpPr>
          <p:cNvPr id="17" name="Rectangle 16"/>
          <p:cNvSpPr/>
          <p:nvPr/>
        </p:nvSpPr>
        <p:spPr>
          <a:xfrm>
            <a:off x="9662160" y="2692400"/>
            <a:ext cx="2965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45</a:t>
            </a:r>
          </a:p>
        </p:txBody>
      </p:sp>
      <p:sp>
        <p:nvSpPr>
          <p:cNvPr id="18" name="Rectangle 17"/>
          <p:cNvSpPr/>
          <p:nvPr/>
        </p:nvSpPr>
        <p:spPr>
          <a:xfrm>
            <a:off x="1153160" y="3098800"/>
            <a:ext cx="279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08/2025</a:t>
            </a:r>
          </a:p>
        </p:txBody>
      </p:sp>
      <p:sp>
        <p:nvSpPr>
          <p:cNvPr id="19" name="Rectangle 18"/>
          <p:cNvSpPr/>
          <p:nvPr/>
        </p:nvSpPr>
        <p:spPr>
          <a:xfrm>
            <a:off x="3947160" y="3098800"/>
            <a:ext cx="254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26,5 %</a:t>
            </a:r>
          </a:p>
        </p:txBody>
      </p:sp>
      <p:sp>
        <p:nvSpPr>
          <p:cNvPr id="20" name="Rectangle 19"/>
          <p:cNvSpPr/>
          <p:nvPr/>
        </p:nvSpPr>
        <p:spPr>
          <a:xfrm>
            <a:off x="6487160" y="3098800"/>
            <a:ext cx="3175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30</a:t>
            </a:r>
          </a:p>
        </p:txBody>
      </p:sp>
      <p:sp>
        <p:nvSpPr>
          <p:cNvPr id="21" name="Rectangle 20"/>
          <p:cNvSpPr/>
          <p:nvPr/>
        </p:nvSpPr>
        <p:spPr>
          <a:xfrm>
            <a:off x="9662160" y="3098800"/>
            <a:ext cx="2965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30</a:t>
            </a:r>
          </a:p>
        </p:txBody>
      </p:sp>
      <p:sp>
        <p:nvSpPr>
          <p:cNvPr id="22" name="Rectangle 21"/>
          <p:cNvSpPr/>
          <p:nvPr/>
        </p:nvSpPr>
        <p:spPr>
          <a:xfrm>
            <a:off x="1153160" y="3505200"/>
            <a:ext cx="279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11/2025</a:t>
            </a:r>
          </a:p>
        </p:txBody>
      </p:sp>
      <p:sp>
        <p:nvSpPr>
          <p:cNvPr id="23" name="Rectangle 22"/>
          <p:cNvSpPr/>
          <p:nvPr/>
        </p:nvSpPr>
        <p:spPr>
          <a:xfrm>
            <a:off x="3947160" y="3505200"/>
            <a:ext cx="254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7,6 %</a:t>
            </a:r>
          </a:p>
        </p:txBody>
      </p:sp>
      <p:sp>
        <p:nvSpPr>
          <p:cNvPr id="24" name="Rectangle 23"/>
          <p:cNvSpPr/>
          <p:nvPr/>
        </p:nvSpPr>
        <p:spPr>
          <a:xfrm>
            <a:off x="6487160" y="3505200"/>
            <a:ext cx="3175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a:t>
            </a:r>
          </a:p>
        </p:txBody>
      </p:sp>
      <p:sp>
        <p:nvSpPr>
          <p:cNvPr id="25" name="Rectangle 24"/>
          <p:cNvSpPr/>
          <p:nvPr/>
        </p:nvSpPr>
        <p:spPr>
          <a:xfrm>
            <a:off x="9662160" y="3505200"/>
            <a:ext cx="2965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a:t>
            </a:r>
          </a:p>
        </p:txBody>
      </p:sp>
      <p:sp>
        <p:nvSpPr>
          <p:cNvPr id="26" name="Rectangle 25"/>
          <p:cNvSpPr/>
          <p:nvPr/>
        </p:nvSpPr>
        <p:spPr>
          <a:xfrm>
            <a:off x="1153160" y="3911600"/>
            <a:ext cx="279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02/2026</a:t>
            </a:r>
          </a:p>
        </p:txBody>
      </p:sp>
      <p:sp>
        <p:nvSpPr>
          <p:cNvPr id="27" name="Rectangle 26"/>
          <p:cNvSpPr/>
          <p:nvPr/>
        </p:nvSpPr>
        <p:spPr>
          <a:xfrm>
            <a:off x="3947160" y="3911600"/>
            <a:ext cx="254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20,7 %</a:t>
            </a:r>
          </a:p>
        </p:txBody>
      </p:sp>
      <p:sp>
        <p:nvSpPr>
          <p:cNvPr id="28" name="Rectangle 27"/>
          <p:cNvSpPr/>
          <p:nvPr/>
        </p:nvSpPr>
        <p:spPr>
          <a:xfrm>
            <a:off x="6487160" y="3911600"/>
            <a:ext cx="3175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25</a:t>
            </a:r>
          </a:p>
        </p:txBody>
      </p:sp>
      <p:sp>
        <p:nvSpPr>
          <p:cNvPr id="29" name="Rectangle 28"/>
          <p:cNvSpPr/>
          <p:nvPr/>
        </p:nvSpPr>
        <p:spPr>
          <a:xfrm>
            <a:off x="9662160" y="3911600"/>
            <a:ext cx="2965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27</a:t>
            </a:r>
          </a:p>
        </p:txBody>
      </p:sp>
      <p:sp>
        <p:nvSpPr>
          <p:cNvPr id="30" name="Rectangle 29"/>
          <p:cNvSpPr/>
          <p:nvPr/>
        </p:nvSpPr>
        <p:spPr>
          <a:xfrm>
            <a:off x="1153160" y="4318000"/>
            <a:ext cx="279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Summe</a:t>
            </a:r>
          </a:p>
        </p:txBody>
      </p:sp>
      <p:sp>
        <p:nvSpPr>
          <p:cNvPr id="31" name="Rectangle 30"/>
          <p:cNvSpPr/>
          <p:nvPr/>
        </p:nvSpPr>
        <p:spPr>
          <a:xfrm>
            <a:off x="3947160" y="4318000"/>
            <a:ext cx="254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a:r>
          </a:p>
        </p:txBody>
      </p:sp>
      <p:sp>
        <p:nvSpPr>
          <p:cNvPr id="32" name="Rectangle 31"/>
          <p:cNvSpPr/>
          <p:nvPr/>
        </p:nvSpPr>
        <p:spPr>
          <a:xfrm>
            <a:off x="6487160" y="4318000"/>
            <a:ext cx="3175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129</a:t>
            </a:r>
          </a:p>
        </p:txBody>
      </p:sp>
      <p:sp>
        <p:nvSpPr>
          <p:cNvPr id="33" name="Rectangle 32"/>
          <p:cNvSpPr/>
          <p:nvPr/>
        </p:nvSpPr>
        <p:spPr>
          <a:xfrm>
            <a:off x="9662160" y="4318000"/>
            <a:ext cx="2965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137</a:t>
            </a:r>
          </a:p>
        </p:txBody>
      </p:sp>
      <p:sp>
        <p:nvSpPr>
          <p:cNvPr id="34" name="Rectangle 33"/>
          <p:cNvSpPr/>
          <p:nvPr/>
        </p:nvSpPr>
        <p:spPr>
          <a:xfrm>
            <a:off x="1153160" y="4902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356360" y="4978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Über fünf Quartale liegt die Faustregel vorn — der Wald kostet 328 € je Quartal mehr, noch vor jedem Betriebsaufwand.</a:t>
            </a:r>
          </a:p>
        </p:txBody>
      </p:sp>
      <p:sp>
        <p:nvSpPr>
          <p:cNvPr id="36" name="Rectangle 3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8" name="Rectangle 3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40" name="Rectangle 3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42" name="Rectangle 4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4" name="Rectangle 4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46" name="Rectangle 4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sicher ist eine Trefferquote aus 60 Beobachtungen?</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43 von 60 sind 71,7 %. Die Zahl klingt genauer, als sie ist.</a:t>
            </a:r>
          </a:p>
        </p:txBody>
      </p:sp>
      <p:sp>
        <p:nvSpPr>
          <p:cNvPr id="6" name="Rectangle 5"/>
          <p:cNvSpPr/>
          <p:nvPr/>
        </p:nvSpPr>
        <p:spPr>
          <a:xfrm>
            <a:off x="1153160" y="16510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Das Wilson-Intervall</a:t>
            </a:r>
          </a:p>
          <a:p>
            <a:pPr algn="l">
              <a:lnSpc>
                <a:spcPct val="95000"/>
              </a:lnSpc>
              <a:spcBef>
                <a:spcPts val="500"/>
              </a:spcBef>
            </a:pPr>
            <a:r>
              <a:rPr sz="1300" b="0">
                <a:solidFill>
                  <a:srgbClr val="404040"/>
                </a:solidFill>
              </a:rPr>
              <a:t>71,7 % aus 60 Beobachtungen</a:t>
            </a:r>
          </a:p>
          <a:p>
            <a:pPr algn="l">
              <a:lnSpc>
                <a:spcPct val="95000"/>
              </a:lnSpc>
              <a:spcBef>
                <a:spcPts val="500"/>
              </a:spcBef>
            </a:pPr>
            <a:r>
              <a:rPr sz="1300" b="0">
                <a:solidFill>
                  <a:srgbClr val="404040"/>
                </a:solidFill>
              </a:rPr>
              <a:t>bedeutet: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59,2 % bis 81,5 %</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Verträglich mit 60 % ebenso</a:t>
            </a:r>
          </a:p>
          <a:p>
            <a:pPr algn="l">
              <a:lnSpc>
                <a:spcPct val="95000"/>
              </a:lnSpc>
              <a:spcBef>
                <a:spcPts val="500"/>
              </a:spcBef>
            </a:pPr>
            <a:r>
              <a:rPr sz="1300" b="0">
                <a:solidFill>
                  <a:srgbClr val="404040"/>
                </a:solidFill>
              </a:rPr>
              <a:t>wie mit 80 %.</a:t>
            </a:r>
          </a:p>
        </p:txBody>
      </p:sp>
      <p:sp>
        <p:nvSpPr>
          <p:cNvPr id="9" name="Rectangle 8"/>
          <p:cNvSpPr/>
          <p:nvPr/>
        </p:nvSpPr>
        <p:spPr>
          <a:xfrm>
            <a:off x="5113020" y="16510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das heißt</a:t>
            </a:r>
          </a:p>
          <a:p>
            <a:pPr algn="l">
              <a:lnSpc>
                <a:spcPct val="95000"/>
              </a:lnSpc>
              <a:spcBef>
                <a:spcPts val="500"/>
              </a:spcBef>
            </a:pPr>
            <a:r>
              <a:rPr sz="1300" b="0">
                <a:solidFill>
                  <a:srgbClr val="404040"/>
                </a:solidFill>
              </a:rPr>
              <a:t>Die 70-%-Hürde liegt mitten</a:t>
            </a:r>
          </a:p>
          <a:p>
            <a:pPr algn="l">
              <a:lnSpc>
                <a:spcPct val="95000"/>
              </a:lnSpc>
              <a:spcBef>
                <a:spcPts val="500"/>
              </a:spcBef>
            </a:pPr>
            <a:r>
              <a:rPr sz="1300" b="0">
                <a:solidFill>
                  <a:srgbClr val="404040"/>
                </a:solidFill>
              </a:rPr>
              <a:t>im Intervall.</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Sie ist damit nicht belegt,</a:t>
            </a:r>
          </a:p>
          <a:p>
            <a:pPr algn="l">
              <a:lnSpc>
                <a:spcPct val="95000"/>
              </a:lnSpc>
              <a:spcBef>
                <a:spcPts val="500"/>
              </a:spcBef>
            </a:pPr>
            <a:r>
              <a:rPr sz="1300" b="0">
                <a:solidFill>
                  <a:srgbClr val="404040"/>
                </a:solidFill>
              </a:rPr>
              <a:t>sondern nur nicht widerlegt.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 Treffer weniger wäre</a:t>
            </a:r>
          </a:p>
          <a:p>
            <a:pPr algn="l">
              <a:lnSpc>
                <a:spcPct val="95000"/>
              </a:lnSpc>
              <a:spcBef>
                <a:spcPts val="500"/>
              </a:spcBef>
            </a:pPr>
            <a:r>
              <a:rPr sz="1300" b="0">
                <a:solidFill>
                  <a:srgbClr val="404040"/>
                </a:solidFill>
              </a:rPr>
              <a:t>exakt 70,0 % gewesen.</a:t>
            </a:r>
          </a:p>
        </p:txBody>
      </p:sp>
      <p:sp>
        <p:nvSpPr>
          <p:cNvPr id="12" name="Rectangle 11"/>
          <p:cNvSpPr/>
          <p:nvPr/>
        </p:nvSpPr>
        <p:spPr>
          <a:xfrm>
            <a:off x="9081770" y="16510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hilft</a:t>
            </a:r>
          </a:p>
          <a:p>
            <a:pPr algn="l">
              <a:lnSpc>
                <a:spcPct val="95000"/>
              </a:lnSpc>
              <a:spcBef>
                <a:spcPts val="500"/>
              </a:spcBef>
            </a:pPr>
            <a:r>
              <a:rPr sz="1300" b="0">
                <a:solidFill>
                  <a:srgbClr val="404040"/>
                </a:solidFill>
              </a:rPr>
              <a:t>Nicht ein größeres Modell,</a:t>
            </a:r>
          </a:p>
          <a:p>
            <a:pPr algn="l">
              <a:lnSpc>
                <a:spcPct val="95000"/>
              </a:lnSpc>
              <a:spcBef>
                <a:spcPts val="500"/>
              </a:spcBef>
            </a:pPr>
            <a:r>
              <a:rPr sz="1300" b="0">
                <a:solidFill>
                  <a:srgbClr val="404040"/>
                </a:solidFill>
              </a:rPr>
              <a:t>sondern mehr Perioden.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Fünf Quartale trennen die</a:t>
            </a:r>
          </a:p>
          <a:p>
            <a:pPr algn="l">
              <a:lnSpc>
                <a:spcPct val="95000"/>
              </a:lnSpc>
              <a:spcBef>
                <a:spcPts val="500"/>
              </a:spcBef>
            </a:pPr>
            <a:r>
              <a:rPr sz="1300" b="0">
                <a:solidFill>
                  <a:srgbClr val="404040"/>
                </a:solidFill>
              </a:rPr>
              <a:t>Verfahren, ein Quartal</a:t>
            </a:r>
          </a:p>
          <a:p>
            <a:pPr algn="l">
              <a:lnSpc>
                <a:spcPct val="95000"/>
              </a:lnSpc>
              <a:spcBef>
                <a:spcPts val="500"/>
              </a:spcBef>
            </a:pPr>
            <a:r>
              <a:rPr sz="1300" b="0">
                <a:solidFill>
                  <a:srgbClr val="404040"/>
                </a:solidFill>
              </a:rPr>
              <a:t>nicht.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 Kriterien, und das dritte entscheidet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analytics/notebooks/02_Klassifikation_Wartungsrisiko.ipynb · Abschnitt 5.4</a:t>
            </a:r>
          </a:p>
        </p:txBody>
      </p:sp>
      <p:sp>
        <p:nvSpPr>
          <p:cNvPr id="5" name="Rectangle 4"/>
          <p:cNvSpPr/>
          <p:nvPr/>
        </p:nvSpPr>
        <p:spPr>
          <a:xfrm>
            <a:off x="1051560" y="2291797"/>
            <a:ext cx="11677649" cy="2122004"/>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2-kriterien.png"/>
          <p:cNvPicPr>
            <a:picLocks noChangeAspect="1"/>
          </p:cNvPicPr>
          <p:nvPr/>
        </p:nvPicPr>
        <p:blipFill>
          <a:blip r:embed="rId2"/>
          <a:stretch>
            <a:fillRect/>
          </a:stretch>
        </p:blipFill>
        <p:spPr>
          <a:xfrm>
            <a:off x="1153160" y="2393397"/>
            <a:ext cx="11474449" cy="1918804"/>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Trefferquote und Kosten sind gleich. Das dritte Kriterium — der Vorteil über mehrere Quartale — reißt das Modell.</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Ausgeliefert wird die Regel — und das Modell bleibt im Paket</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 Gleichstand gewinnt die einfachere Lösung. Das ist keine Bescheidenheit, sondern eine Rechnung über die Lebensdauer.</a:t>
            </a:r>
          </a:p>
        </p:txBody>
      </p:sp>
      <p:sp>
        <p:nvSpPr>
          <p:cNvPr id="6" name="Rectangle 5"/>
          <p:cNvSpPr/>
          <p:nvPr/>
        </p:nvSpPr>
        <p:spPr>
          <a:xfrm>
            <a:off x="1153160" y="1879600"/>
            <a:ext cx="3302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455160" y="1879600"/>
            <a:ext cx="4064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Faustregel</a:t>
            </a:r>
          </a:p>
        </p:txBody>
      </p:sp>
      <p:sp>
        <p:nvSpPr>
          <p:cNvPr id="8" name="Rectangle 7"/>
          <p:cNvSpPr/>
          <p:nvPr/>
        </p:nvSpPr>
        <p:spPr>
          <a:xfrm>
            <a:off x="8519160" y="1879600"/>
            <a:ext cx="410845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Random Forest</a:t>
            </a:r>
          </a:p>
        </p:txBody>
      </p:sp>
      <p:sp>
        <p:nvSpPr>
          <p:cNvPr id="9" name="Rectangle 8"/>
          <p:cNvSpPr/>
          <p:nvPr/>
        </p:nvSpPr>
        <p:spPr>
          <a:xfrm>
            <a:off x="1153160" y="2336800"/>
            <a:ext cx="3302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Trefferquote auf dem Test</a:t>
            </a:r>
          </a:p>
        </p:txBody>
      </p:sp>
      <p:sp>
        <p:nvSpPr>
          <p:cNvPr id="10" name="Rectangle 9"/>
          <p:cNvSpPr/>
          <p:nvPr/>
        </p:nvSpPr>
        <p:spPr>
          <a:xfrm>
            <a:off x="4455160" y="2336800"/>
            <a:ext cx="406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11" name="Rectangle 10"/>
          <p:cNvSpPr/>
          <p:nvPr/>
        </p:nvSpPr>
        <p:spPr>
          <a:xfrm>
            <a:off x="8519160" y="2336800"/>
            <a:ext cx="410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12" name="Rectangle 11"/>
          <p:cNvSpPr/>
          <p:nvPr/>
        </p:nvSpPr>
        <p:spPr>
          <a:xfrm>
            <a:off x="1153160" y="2794000"/>
            <a:ext cx="3302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über fünf Validierungsquartale</a:t>
            </a:r>
          </a:p>
        </p:txBody>
      </p:sp>
      <p:sp>
        <p:nvSpPr>
          <p:cNvPr id="13" name="Rectangle 12"/>
          <p:cNvSpPr/>
          <p:nvPr/>
        </p:nvSpPr>
        <p:spPr>
          <a:xfrm>
            <a:off x="4455160" y="2794000"/>
            <a:ext cx="406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137 Treffer</a:t>
            </a:r>
          </a:p>
        </p:txBody>
      </p:sp>
      <p:sp>
        <p:nvSpPr>
          <p:cNvPr id="14" name="Rectangle 13"/>
          <p:cNvSpPr/>
          <p:nvPr/>
        </p:nvSpPr>
        <p:spPr>
          <a:xfrm>
            <a:off x="8519160" y="2794000"/>
            <a:ext cx="410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129 Treffer</a:t>
            </a:r>
          </a:p>
        </p:txBody>
      </p:sp>
      <p:sp>
        <p:nvSpPr>
          <p:cNvPr id="15" name="Rectangle 14"/>
          <p:cNvSpPr/>
          <p:nvPr/>
        </p:nvSpPr>
        <p:spPr>
          <a:xfrm>
            <a:off x="1153160" y="3251200"/>
            <a:ext cx="3302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erklärbar</a:t>
            </a:r>
          </a:p>
        </p:txBody>
      </p:sp>
      <p:sp>
        <p:nvSpPr>
          <p:cNvPr id="16" name="Rectangle 15"/>
          <p:cNvSpPr/>
          <p:nvPr/>
        </p:nvSpPr>
        <p:spPr>
          <a:xfrm>
            <a:off x="4455160" y="3251200"/>
            <a:ext cx="406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„seit 592 km nicht in der Werkstatt“</a:t>
            </a:r>
          </a:p>
        </p:txBody>
      </p:sp>
      <p:sp>
        <p:nvSpPr>
          <p:cNvPr id="17" name="Rectangle 16"/>
          <p:cNvSpPr/>
          <p:nvPr/>
        </p:nvSpPr>
        <p:spPr>
          <a:xfrm>
            <a:off x="8519160" y="3251200"/>
            <a:ext cx="410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Umwege</a:t>
            </a:r>
          </a:p>
        </p:txBody>
      </p:sp>
      <p:sp>
        <p:nvSpPr>
          <p:cNvPr id="18" name="Rectangle 17"/>
          <p:cNvSpPr/>
          <p:nvPr/>
        </p:nvSpPr>
        <p:spPr>
          <a:xfrm>
            <a:off x="1153160" y="3708400"/>
            <a:ext cx="3302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Wartungsaufwand</a:t>
            </a:r>
          </a:p>
        </p:txBody>
      </p:sp>
      <p:sp>
        <p:nvSpPr>
          <p:cNvPr id="19" name="Rectangle 18"/>
          <p:cNvSpPr/>
          <p:nvPr/>
        </p:nvSpPr>
        <p:spPr>
          <a:xfrm>
            <a:off x="4455160" y="3708400"/>
            <a:ext cx="406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keiner</a:t>
            </a:r>
          </a:p>
        </p:txBody>
      </p:sp>
      <p:sp>
        <p:nvSpPr>
          <p:cNvPr id="20" name="Rectangle 19"/>
          <p:cNvSpPr/>
          <p:nvPr/>
        </p:nvSpPr>
        <p:spPr>
          <a:xfrm>
            <a:off x="8519160" y="3708400"/>
            <a:ext cx="410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vierteljährlich nachtrainieren</a:t>
            </a:r>
          </a:p>
        </p:txBody>
      </p:sp>
      <p:sp>
        <p:nvSpPr>
          <p:cNvPr id="21" name="Rectangle 20"/>
          <p:cNvSpPr/>
          <p:nvPr/>
        </p:nvSpPr>
        <p:spPr>
          <a:xfrm>
            <a:off x="1153160" y="4165600"/>
            <a:ext cx="3302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Abhängigkeiten im Betrieb</a:t>
            </a:r>
          </a:p>
        </p:txBody>
      </p:sp>
      <p:sp>
        <p:nvSpPr>
          <p:cNvPr id="22" name="Rectangle 21"/>
          <p:cNvSpPr/>
          <p:nvPr/>
        </p:nvSpPr>
        <p:spPr>
          <a:xfrm>
            <a:off x="4455160" y="4165600"/>
            <a:ext cx="406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a:t>
            </a:r>
          </a:p>
        </p:txBody>
      </p:sp>
      <p:sp>
        <p:nvSpPr>
          <p:cNvPr id="23" name="Rectangle 22"/>
          <p:cNvSpPr/>
          <p:nvPr/>
        </p:nvSpPr>
        <p:spPr>
          <a:xfrm>
            <a:off x="8519160" y="4165600"/>
            <a:ext cx="410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scikit-learn, joblib, Versionsstände</a:t>
            </a:r>
          </a:p>
        </p:txBody>
      </p:sp>
      <p:sp>
        <p:nvSpPr>
          <p:cNvPr id="24" name="Rectangle 23"/>
          <p:cNvSpPr/>
          <p:nvPr/>
        </p:nvSpPr>
        <p:spPr>
          <a:xfrm>
            <a:off x="1153160" y="4800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876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unteren drei Zeilen sind der Preis eines Modells. Er wäre zu zahlen, wenn die oberen beiden dafür sprächen. Sie tun es nicht.</a:t>
            </a:r>
          </a:p>
        </p:txBody>
      </p:sp>
      <p:sp>
        <p:nvSpPr>
          <p:cNvPr id="26" name="Rectangle 2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8" name="Rectangle 2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0" name="Rectangle 2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2" name="Rectangle 3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4" name="Rectangle 3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6" name="Rectangle 3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Modell trotzdem nicht umsonst war</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Verfahren, das nicht ausgeliefert wird, kann trotzdem die wertvollste Auskunft des Projekts liefern.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Es belegt die Wahl</a:t>
            </a:r>
          </a:p>
          <a:p>
            <a:pPr algn="l">
              <a:lnSpc>
                <a:spcPct val="95000"/>
              </a:lnSpc>
              <a:spcBef>
                <a:spcPts val="500"/>
              </a:spcBef>
            </a:pPr>
            <a:r>
              <a:rPr sz="1300" b="0">
                <a:solidFill>
                  <a:srgbClr val="404040"/>
                </a:solidFill>
              </a:rPr>
              <a:t>Die Regel ist nicht aus</a:t>
            </a:r>
          </a:p>
          <a:p>
            <a:pPr algn="l">
              <a:lnSpc>
                <a:spcPct val="95000"/>
              </a:lnSpc>
              <a:spcBef>
                <a:spcPts val="500"/>
              </a:spcBef>
            </a:pPr>
            <a:r>
              <a:rPr sz="1300" b="0">
                <a:solidFill>
                  <a:srgbClr val="404040"/>
                </a:solidFill>
              </a:rPr>
              <a:t>Bequemlichkeit gewählt,</a:t>
            </a:r>
          </a:p>
          <a:p>
            <a:pPr algn="l">
              <a:lnSpc>
                <a:spcPct val="95000"/>
              </a:lnSpc>
              <a:spcBef>
                <a:spcPts val="500"/>
              </a:spcBef>
            </a:pPr>
            <a:r>
              <a:rPr sz="1300" b="0">
                <a:solidFill>
                  <a:srgbClr val="404040"/>
                </a:solidFill>
              </a:rPr>
              <a:t>sondern geprüft.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ist der Unterschied</a:t>
            </a:r>
          </a:p>
          <a:p>
            <a:pPr algn="l">
              <a:lnSpc>
                <a:spcPct val="95000"/>
              </a:lnSpc>
              <a:spcBef>
                <a:spcPts val="500"/>
              </a:spcBef>
            </a:pPr>
            <a:r>
              <a:rPr sz="1300" b="0">
                <a:solidFill>
                  <a:srgbClr val="404040"/>
                </a:solidFill>
              </a:rPr>
              <a:t>zwischen einer Entscheidung</a:t>
            </a:r>
          </a:p>
          <a:p>
            <a:pPr algn="l">
              <a:lnSpc>
                <a:spcPct val="95000"/>
              </a:lnSpc>
              <a:spcBef>
                <a:spcPts val="500"/>
              </a:spcBef>
            </a:pPr>
            <a:r>
              <a:rPr sz="1300" b="0">
                <a:solidFill>
                  <a:srgbClr val="404040"/>
                </a:solidFill>
              </a:rPr>
              <a:t>und einer Unterlassung.</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Es misst die Obergrenze</a:t>
            </a:r>
          </a:p>
          <a:p>
            <a:pPr algn="l">
              <a:lnSpc>
                <a:spcPct val="95000"/>
              </a:lnSpc>
              <a:spcBef>
                <a:spcPts val="500"/>
              </a:spcBef>
            </a:pPr>
            <a:r>
              <a:rPr sz="1300" b="0">
                <a:solidFill>
                  <a:srgbClr val="404040"/>
                </a:solidFill>
              </a:rPr>
              <a:t>Ein Wald mit 300 Bäumen</a:t>
            </a:r>
          </a:p>
          <a:p>
            <a:pPr algn="l">
              <a:lnSpc>
                <a:spcPct val="95000"/>
              </a:lnSpc>
              <a:spcBef>
                <a:spcPts val="500"/>
              </a:spcBef>
            </a:pPr>
            <a:r>
              <a:rPr sz="1300" b="0">
                <a:solidFill>
                  <a:srgbClr val="404040"/>
                </a:solidFill>
              </a:rPr>
              <a:t>findet auf diesen Merkmalen</a:t>
            </a:r>
          </a:p>
          <a:p>
            <a:pPr algn="l">
              <a:lnSpc>
                <a:spcPct val="95000"/>
              </a:lnSpc>
              <a:spcBef>
                <a:spcPts val="500"/>
              </a:spcBef>
            </a:pPr>
            <a:r>
              <a:rPr sz="1300" b="0">
                <a:solidFill>
                  <a:srgbClr val="404040"/>
                </a:solidFill>
              </a:rPr>
              <a:t>nichts, was über „Kilometer</a:t>
            </a:r>
          </a:p>
          <a:p>
            <a:pPr algn="l">
              <a:lnSpc>
                <a:spcPct val="95000"/>
              </a:lnSpc>
              <a:spcBef>
                <a:spcPts val="500"/>
              </a:spcBef>
            </a:pPr>
            <a:r>
              <a:rPr sz="1300" b="0">
                <a:solidFill>
                  <a:srgbClr val="404040"/>
                </a:solidFill>
              </a:rPr>
              <a:t>seit der Reparatur“ hinausgeht.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Mehr Rechenleistung hilft</a:t>
            </a:r>
          </a:p>
          <a:p>
            <a:pPr algn="l">
              <a:lnSpc>
                <a:spcPct val="95000"/>
              </a:lnSpc>
              <a:spcBef>
                <a:spcPts val="500"/>
              </a:spcBef>
            </a:pPr>
            <a:r>
              <a:rPr sz="1300" b="0">
                <a:solidFill>
                  <a:srgbClr val="404040"/>
                </a:solidFill>
              </a:rPr>
              <a:t>hier nicht.</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Es ist der nächste Anlauf</a:t>
            </a:r>
          </a:p>
          <a:p>
            <a:pPr algn="l">
              <a:lnSpc>
                <a:spcPct val="95000"/>
              </a:lnSpc>
              <a:spcBef>
                <a:spcPts val="500"/>
              </a:spcBef>
            </a:pPr>
            <a:r>
              <a:rPr sz="1300" b="0">
                <a:solidFill>
                  <a:srgbClr val="404040"/>
                </a:solidFill>
              </a:rPr>
              <a:t>Kommen neue Merkmale dazu —</a:t>
            </a:r>
          </a:p>
          <a:p>
            <a:pPr algn="l">
              <a:lnSpc>
                <a:spcPct val="95000"/>
              </a:lnSpc>
              <a:spcBef>
                <a:spcPts val="500"/>
              </a:spcBef>
            </a:pPr>
            <a:r>
              <a:rPr sz="1300" b="0">
                <a:solidFill>
                  <a:srgbClr val="404040"/>
                </a:solidFill>
              </a:rPr>
              <a:t>Stürze, Standzeiten, Stationen</a:t>
            </a:r>
          </a:p>
          <a:p>
            <a:pPr algn="l">
              <a:lnSpc>
                <a:spcPct val="95000"/>
              </a:lnSpc>
              <a:spcBef>
                <a:spcPts val="500"/>
              </a:spcBef>
            </a:pPr>
            <a:r>
              <a:rPr sz="1300" b="0">
                <a:solidFill>
                  <a:srgbClr val="404040"/>
                </a:solidFill>
              </a:rPr>
              <a:t>der Fahrten —, wird der</a:t>
            </a:r>
          </a:p>
          <a:p>
            <a:pPr algn="l">
              <a:lnSpc>
                <a:spcPct val="95000"/>
              </a:lnSpc>
              <a:spcBef>
                <a:spcPts val="500"/>
              </a:spcBef>
            </a:pPr>
            <a:r>
              <a:rPr sz="1300" b="0">
                <a:solidFill>
                  <a:srgbClr val="404040"/>
                </a:solidFill>
              </a:rPr>
              <a:t>Vergleich wiederholt.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Dann kann er anders</a:t>
            </a:r>
          </a:p>
          <a:p>
            <a:pPr algn="l">
              <a:lnSpc>
                <a:spcPct val="95000"/>
              </a:lnSpc>
              <a:spcBef>
                <a:spcPts val="500"/>
              </a:spcBef>
            </a:pPr>
            <a:r>
              <a:rPr sz="1300" b="0">
                <a:solidFill>
                  <a:srgbClr val="404040"/>
                </a:solidFill>
              </a:rPr>
              <a:t>ausgehen.</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Rückkopplung, die dieses Verfahren schwierig macht</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Wer die Liste abarbeitet, verändert die Daten, aus denen das nächste Modell lernt. Diese Falle betrifft jede vorausschauende Wartung.</a:t>
            </a:r>
          </a:p>
        </p:txBody>
      </p:sp>
      <p:sp>
        <p:nvSpPr>
          <p:cNvPr id="6" name="Rectangle 5"/>
          <p:cNvSpPr/>
          <p:nvPr/>
        </p:nvSpPr>
        <p:spPr>
          <a:xfrm>
            <a:off x="1051560" y="2079887"/>
            <a:ext cx="11677650" cy="3561824"/>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b2-rueckkopplung.png"/>
          <p:cNvPicPr>
            <a:picLocks noChangeAspect="1"/>
          </p:cNvPicPr>
          <p:nvPr/>
        </p:nvPicPr>
        <p:blipFill>
          <a:blip r:embed="rId2"/>
          <a:stretch>
            <a:fillRect/>
          </a:stretch>
        </p:blipFill>
        <p:spPr>
          <a:xfrm>
            <a:off x="1153160" y="2181487"/>
            <a:ext cx="11474450" cy="3358624"/>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2 · Abschluss</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Fall, der mit einem negativen Modellurteil endet — und trotzdem ein Erfolg ist.</a:t>
            </a:r>
          </a:p>
        </p:txBody>
      </p:sp>
      <p:sp>
        <p:nvSpPr>
          <p:cNvPr id="6" name="Rectangle 5"/>
          <p:cNvSpPr/>
          <p:nvPr/>
        </p:nvSpPr>
        <p:spPr>
          <a:xfrm>
            <a:off x="1153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4074160" y="1651000"/>
            <a:ext cx="855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8" name="Rectangle 7"/>
          <p:cNvSpPr/>
          <p:nvPr/>
        </p:nvSpPr>
        <p:spPr>
          <a:xfrm>
            <a:off x="1153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9" name="Rectangle 8"/>
          <p:cNvSpPr/>
          <p:nvPr/>
        </p:nvSpPr>
        <p:spPr>
          <a:xfrm>
            <a:off x="4074160" y="2159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Kostenmatrix 180 € gegen 25 €, zwei Kriterien — eines davon der Vergleich mit der Faustregel</a:t>
            </a:r>
          </a:p>
        </p:txBody>
      </p:sp>
      <p:sp>
        <p:nvSpPr>
          <p:cNvPr id="10" name="Rectangle 9"/>
          <p:cNvSpPr/>
          <p:nvPr/>
        </p:nvSpPr>
        <p:spPr>
          <a:xfrm>
            <a:off x="1153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1" name="Rectangle 10"/>
          <p:cNvSpPr/>
          <p:nvPr/>
        </p:nvSpPr>
        <p:spPr>
          <a:xfrm>
            <a:off x="4074160" y="2667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 ≈ 0,7, aber nicht deterministisch. 44 % melden sich, die Werkstatt schafft 26 %</a:t>
            </a:r>
          </a:p>
        </p:txBody>
      </p:sp>
      <p:sp>
        <p:nvSpPr>
          <p:cNvPr id="12" name="Rectangle 11"/>
          <p:cNvSpPr/>
          <p:nvPr/>
        </p:nvSpPr>
        <p:spPr>
          <a:xfrm>
            <a:off x="1153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3" name="Rectangle 12"/>
          <p:cNvSpPr/>
          <p:nvPr/>
        </p:nvSpPr>
        <p:spPr>
          <a:xfrm>
            <a:off x="4074160" y="3175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Zeitlicher Schnitt, acht Stichtage, jüngster als Test</a:t>
            </a:r>
          </a:p>
        </p:txBody>
      </p:sp>
      <p:sp>
        <p:nvSpPr>
          <p:cNvPr id="14" name="Rectangle 13"/>
          <p:cNvSpPr/>
          <p:nvPr/>
        </p:nvSpPr>
        <p:spPr>
          <a:xfrm>
            <a:off x="1153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5" name="Rectangle 14"/>
          <p:cNvSpPr/>
          <p:nvPr/>
        </p:nvSpPr>
        <p:spPr>
          <a:xfrm>
            <a:off x="4074160" y="3683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Erst zwei Faustregeln, dann Baum und Wald mit class_weight aus der Kostenmatrix</a:t>
            </a:r>
          </a:p>
        </p:txBody>
      </p:sp>
      <p:sp>
        <p:nvSpPr>
          <p:cNvPr id="16" name="Rectangle 15"/>
          <p:cNvSpPr/>
          <p:nvPr/>
        </p:nvSpPr>
        <p:spPr>
          <a:xfrm>
            <a:off x="1153160" y="4191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7" name="Rectangle 16"/>
          <p:cNvSpPr/>
          <p:nvPr/>
        </p:nvSpPr>
        <p:spPr>
          <a:xfrm>
            <a:off x="4074160" y="4191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Gleichstand auf dem Test. Über fünf Validierungsquartale liegt die Regel vorn: 137 gegen 129 Treffer</a:t>
            </a:r>
          </a:p>
        </p:txBody>
      </p:sp>
      <p:sp>
        <p:nvSpPr>
          <p:cNvPr id="18" name="Rectangle 17"/>
          <p:cNvSpPr/>
          <p:nvPr/>
        </p:nvSpPr>
        <p:spPr>
          <a:xfrm>
            <a:off x="1153160" y="4699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9" name="Rectangle 18"/>
          <p:cNvSpPr/>
          <p:nvPr/>
        </p:nvSpPr>
        <p:spPr>
          <a:xfrm>
            <a:off x="4074160" y="4699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Regel — mit Wartungsliste, Überwachung und der Rückkopplungsfalle. Das Modell bleibt im Paket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Fall 3 — Clustering: Erfolg ohne Zielgröße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legt man Erfolgskriterien fest, wenn es gar keine richtige Antwort gibt, an der man messen könnte?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3</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Fragen</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Welche Stationstypen gibt es? B) Welche Kundengruppen?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Gruppen finden, die niemand vorgegeben hat</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Neue</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Es gibt keine Zielgröße — also auch keine Trefferquote</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Benennbar · unterschiedlich behandelbar · groß genug · stabil</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k-Means, k über Ellenbogenmethode und Silhouettenwert</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Vier Stationstypen, gegen die verdeckte Wahrheit geprüft: 100 % — und zwei Befunde, die weh tun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Erfolgskriterien ohne richtige Antwort</a:t>
            </a:r>
          </a:p>
        </p:txBody>
      </p:sp>
      <p:sp>
        <p:nvSpPr>
          <p:cNvPr id="3" name="Text Placeholder 2"/>
          <p:cNvSpPr>
            <a:spLocks noGrp="1"/>
          </p:cNvSpPr>
          <p:nvPr>
            <p:ph type="body" idx="12" sz="quarter"/>
          </p:nvPr>
        </p:nvSpPr>
        <p:spPr/>
        <p:txBody>
          <a:bodyPr/>
          <a:lstStyle/>
          <a:p>
            <a:r>
              <a:t>Fall 3 · Phase 1</a:t>
            </a:r>
          </a:p>
        </p:txBody>
      </p:sp>
      <p:sp>
        <p:nvSpPr>
          <p:cNvPr id="4" name="Text Placeholder 3"/>
          <p:cNvSpPr>
            <a:spLocks noGrp="1"/>
          </p:cNvSpPr>
          <p:nvPr>
            <p:ph type="body" idx="13" sz="quarter"/>
          </p:nvPr>
        </p:nvSpPr>
        <p:spPr/>
        <p:txBody>
          <a:bodyPr/>
          <a:lstStyle/>
          <a:p>
            <a:r>
              <a:t>analytics/notebooks/03_Clustering_Stationen_und_Kunden.ipynb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Label gibt es keine Trefferquote. Die Kriterien kommen deshalb aus dem Betrieb — und sie sind schärfer, als sie klingen.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Benennbar  </a:t>
            </a:r>
            <a:r>
              <a:rPr sz="1300">
                <a:solidFill>
                  <a:srgbClr val="404040"/>
                </a:solidFill>
              </a:rPr>
              <a:t>Wenn die Disposition der Gruppe keinen Namen geben kann, ist sie keine Gruppe</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Behandelbar  </a:t>
            </a:r>
            <a:r>
              <a:rPr sz="1300">
                <a:solidFill>
                  <a:srgbClr val="404040"/>
                </a:solidFill>
              </a:rPr>
              <a:t>Zwei Gruppen, die man gleich behandelt, sind eine Gruppe</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Groß genug  </a:t>
            </a:r>
            <a:r>
              <a:rPr sz="1300">
                <a:solidFill>
                  <a:srgbClr val="404040"/>
                </a:solidFill>
              </a:rPr>
              <a:t>Eine Gruppe mit drei Mitgliedern rechtfertigt keinen eigenen Prozess</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Stabil  </a:t>
            </a:r>
            <a:r>
              <a:rPr sz="1300">
                <a:solidFill>
                  <a:srgbClr val="404040"/>
                </a:solidFill>
              </a:rPr>
              <a:t>Andere Zeiträume, ähnliche Gruppen — sonst hat man Rauschen gruppiert</a:t>
            </a:r>
          </a:p>
        </p:txBody>
      </p:sp>
      <p:sp>
        <p:nvSpPr>
          <p:cNvPr id="22" name="Rectangle 21"/>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4" name="Rectangle 2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6" name="Rectangle 2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8" name="Rectangle 2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0" name="Rectangle 2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2" name="Rectangle 3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Schnelldurchlauf</a:t>
            </a:r>
          </a:p>
        </p:txBody>
      </p:sp>
      <p:sp>
        <p:nvSpPr>
          <p:cNvPr id="3" name="Text Placeholder 2"/>
          <p:cNvSpPr>
            <a:spLocks noGrp="1"/>
          </p:cNvSpPr>
          <p:nvPr>
            <p:ph type="body" idx="12" sz="quarter"/>
          </p:nvPr>
        </p:nvSpPr>
        <p:spPr/>
        <p:txBody>
          <a:bodyPr/>
          <a:lstStyle/>
          <a:p>
            <a:r>
              <a:t>Fall 3 · Phasen 2 und 3</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Was die Daten hergeben — und warum hier zwingend standardisiert werden muss.</a:t>
            </a:r>
          </a:p>
        </p:txBody>
      </p:sp>
      <p:sp>
        <p:nvSpPr>
          <p:cNvPr id="6" name="Rectangle 5"/>
          <p:cNvSpPr/>
          <p:nvPr/>
        </p:nvSpPr>
        <p:spPr>
          <a:xfrm>
            <a:off x="1153160" y="16510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968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2  </a:t>
            </a:r>
            <a:r>
              <a:rPr sz="1300">
                <a:solidFill>
                  <a:srgbClr val="404040"/>
                </a:solidFill>
              </a:rPr>
              <a:t>Die Stammdaten enthalten keinen Stationstyp. Das Muster steckt nicht in den Attributen, sondern im Verhalten über den Tag</a:t>
            </a:r>
          </a:p>
        </p:txBody>
      </p:sp>
      <p:sp>
        <p:nvSpPr>
          <p:cNvPr id="10" name="Rectangle 9"/>
          <p:cNvSpPr/>
          <p:nvPr/>
        </p:nvSpPr>
        <p:spPr>
          <a:xfrm>
            <a:off x="1153160" y="27432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432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194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3.A  </a:t>
            </a:r>
            <a:r>
              <a:rPr sz="1300">
                <a:solidFill>
                  <a:srgbClr val="404040"/>
                </a:solidFill>
              </a:rPr>
              <a:t>Tagesgang je Station, normiert und standardisiert</a:t>
            </a:r>
          </a:p>
        </p:txBody>
      </p:sp>
      <p:sp>
        <p:nvSpPr>
          <p:cNvPr id="14" name="Rectangle 13"/>
          <p:cNvSpPr/>
          <p:nvPr/>
        </p:nvSpPr>
        <p:spPr>
          <a:xfrm>
            <a:off x="1153160" y="38354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8354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4152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9116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3.B  </a:t>
            </a:r>
            <a:r>
              <a:rPr sz="1300">
                <a:solidFill>
                  <a:srgbClr val="404040"/>
                </a:solidFill>
              </a:rPr>
              <a:t>RFM über 365 Tage: Recency, Frequency, Monetary — Frequenz und Umsatz logarithmiert, weil beide stark rechtsschief sind</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viele Gruppen? Zwei Hinweise, keine Antwort</a:t>
            </a:r>
          </a:p>
        </p:txBody>
      </p:sp>
      <p:sp>
        <p:nvSpPr>
          <p:cNvPr id="3" name="Text Placeholder 2"/>
          <p:cNvSpPr>
            <a:spLocks noGrp="1"/>
          </p:cNvSpPr>
          <p:nvPr>
            <p:ph type="body" idx="12" sz="quarter"/>
          </p:nvPr>
        </p:nvSpPr>
        <p:spPr/>
        <p:txBody>
          <a:bodyPr/>
          <a:lstStyle/>
          <a:p>
            <a:r>
              <a:t>Fall 3 · Phase 4</a:t>
            </a:r>
          </a:p>
        </p:txBody>
      </p:sp>
      <p:sp>
        <p:nvSpPr>
          <p:cNvPr id="4" name="Text Placeholder 3"/>
          <p:cNvSpPr>
            <a:spLocks noGrp="1"/>
          </p:cNvSpPr>
          <p:nvPr>
            <p:ph type="body" idx="13" sz="quarter"/>
          </p:nvPr>
        </p:nvSpPr>
        <p:spPr/>
        <p:txBody>
          <a:bodyPr/>
          <a:lstStyle/>
          <a:p>
            <a:r>
              <a:t>analytics/notebooks/03_Clustering_Stationen_und_Kunden.ipynb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k wird nicht berechnet, sondern begründet. Zwei Werkzeuge helfen — entscheiden muss der Mensch.</a:t>
            </a:r>
          </a:p>
        </p:txBody>
      </p:sp>
      <p:sp>
        <p:nvSpPr>
          <p:cNvPr id="6" name="Rectangle 5"/>
          <p:cNvSpPr/>
          <p:nvPr/>
        </p:nvSpPr>
        <p:spPr>
          <a:xfrm>
            <a:off x="115316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Ellenbogenmethode</a:t>
            </a:r>
          </a:p>
          <a:p>
            <a:pPr algn="l">
              <a:lnSpc>
                <a:spcPct val="95000"/>
              </a:lnSpc>
              <a:spcBef>
                <a:spcPts val="500"/>
              </a:spcBef>
            </a:pPr>
            <a:r>
              <a:rPr sz="1300" b="0">
                <a:solidFill>
                  <a:srgbClr val="404040"/>
                </a:solidFill>
              </a:rPr>
              <a:t>Man rechnet k = 2, 3, 4 …</a:t>
            </a:r>
          </a:p>
          <a:p>
            <a:pPr algn="l">
              <a:lnSpc>
                <a:spcPct val="95000"/>
              </a:lnSpc>
              <a:spcBef>
                <a:spcPts val="500"/>
              </a:spcBef>
            </a:pPr>
            <a:r>
              <a:rPr sz="1300" b="0">
                <a:solidFill>
                  <a:srgbClr val="404040"/>
                </a:solidFill>
              </a:rPr>
              <a:t>und trägt die Streuung</a:t>
            </a:r>
          </a:p>
          <a:p>
            <a:pPr algn="l">
              <a:lnSpc>
                <a:spcPct val="95000"/>
              </a:lnSpc>
              <a:spcBef>
                <a:spcPts val="500"/>
              </a:spcBef>
            </a:pPr>
            <a:r>
              <a:rPr sz="1300" b="0">
                <a:solidFill>
                  <a:srgbClr val="404040"/>
                </a:solidFill>
              </a:rPr>
              <a:t>innerhalb der Gruppen auf.</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Wo der Knick ist, bringt eine</a:t>
            </a:r>
          </a:p>
          <a:p>
            <a:pPr algn="l">
              <a:lnSpc>
                <a:spcPct val="95000"/>
              </a:lnSpc>
              <a:spcBef>
                <a:spcPts val="500"/>
              </a:spcBef>
            </a:pPr>
            <a:r>
              <a:rPr sz="1300" b="0">
                <a:solidFill>
                  <a:srgbClr val="404040"/>
                </a:solidFill>
              </a:rPr>
              <a:t>weitere Gruppe wenig.</a:t>
            </a:r>
          </a:p>
        </p:txBody>
      </p:sp>
      <p:sp>
        <p:nvSpPr>
          <p:cNvPr id="9" name="Rectangle 8"/>
          <p:cNvSpPr/>
          <p:nvPr/>
        </p:nvSpPr>
        <p:spPr>
          <a:xfrm>
            <a:off x="511302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Silhouettenwert</a:t>
            </a:r>
          </a:p>
          <a:p>
            <a:pPr algn="l">
              <a:lnSpc>
                <a:spcPct val="95000"/>
              </a:lnSpc>
              <a:spcBef>
                <a:spcPts val="500"/>
              </a:spcBef>
            </a:pPr>
            <a:r>
              <a:rPr sz="1300" b="0">
                <a:solidFill>
                  <a:srgbClr val="404040"/>
                </a:solidFill>
              </a:rPr>
              <a:t>Misst je Punkt: Wie nah bin</a:t>
            </a:r>
          </a:p>
          <a:p>
            <a:pPr algn="l">
              <a:lnSpc>
                <a:spcPct val="95000"/>
              </a:lnSpc>
              <a:spcBef>
                <a:spcPts val="500"/>
              </a:spcBef>
            </a:pPr>
            <a:r>
              <a:rPr sz="1300" b="0">
                <a:solidFill>
                  <a:srgbClr val="404040"/>
                </a:solidFill>
              </a:rPr>
              <a:t>ich meiner Gruppe gegenüber</a:t>
            </a:r>
          </a:p>
          <a:p>
            <a:pPr algn="l">
              <a:lnSpc>
                <a:spcPct val="95000"/>
              </a:lnSpc>
              <a:spcBef>
                <a:spcPts val="500"/>
              </a:spcBef>
            </a:pPr>
            <a:r>
              <a:rPr sz="1300" b="0">
                <a:solidFill>
                  <a:srgbClr val="404040"/>
                </a:solidFill>
              </a:rPr>
              <a:t>der nächsten fremden?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Höher ist besser.</a:t>
            </a:r>
          </a:p>
          <a:p>
            <a:pPr algn="l">
              <a:lnSpc>
                <a:spcPct val="95000"/>
              </a:lnSpc>
              <a:spcBef>
                <a:spcPts val="500"/>
              </a:spcBef>
            </a:pPr>
            <a:r>
              <a:rPr sz="1300" b="0">
                <a:solidFill>
                  <a:srgbClr val="404040"/>
                </a:solidFill>
              </a:rPr>
              <a:t>Bereich −1 bis +1.</a:t>
            </a:r>
          </a:p>
        </p:txBody>
      </p:sp>
      <p:sp>
        <p:nvSpPr>
          <p:cNvPr id="12" name="Rectangle 11"/>
          <p:cNvSpPr/>
          <p:nvPr/>
        </p:nvSpPr>
        <p:spPr>
          <a:xfrm>
            <a:off x="908177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Und dann?</a:t>
            </a:r>
          </a:p>
          <a:p>
            <a:pPr algn="l">
              <a:lnSpc>
                <a:spcPct val="95000"/>
              </a:lnSpc>
              <a:spcBef>
                <a:spcPts val="500"/>
              </a:spcBef>
            </a:pPr>
            <a:r>
              <a:rPr sz="1300" b="0">
                <a:solidFill>
                  <a:srgbClr val="404040"/>
                </a:solidFill>
              </a:rPr>
              <a:t>Beide Werkzeuge geben einen</a:t>
            </a:r>
          </a:p>
          <a:p>
            <a:pPr algn="l">
              <a:lnSpc>
                <a:spcPct val="95000"/>
              </a:lnSpc>
              <a:spcBef>
                <a:spcPts val="500"/>
              </a:spcBef>
            </a:pPr>
            <a:r>
              <a:rPr sz="1300" b="0">
                <a:solidFill>
                  <a:srgbClr val="404040"/>
                </a:solidFill>
              </a:rPr>
              <a:t>Hinweis, keinen Beweis.</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Die Entscheidung fällt an</a:t>
            </a:r>
          </a:p>
          <a:p>
            <a:pPr algn="l">
              <a:lnSpc>
                <a:spcPct val="95000"/>
              </a:lnSpc>
              <a:spcBef>
                <a:spcPts val="500"/>
              </a:spcBef>
            </a:pPr>
            <a:r>
              <a:rPr sz="1300" b="0">
                <a:solidFill>
                  <a:srgbClr val="404040"/>
                </a:solidFill>
              </a:rPr>
              <a:t>Kriterium 1 aus Phase 1:</a:t>
            </a:r>
          </a:p>
          <a:p>
            <a:pPr algn="l">
              <a:lnSpc>
                <a:spcPct val="95000"/>
              </a:lnSpc>
              <a:spcBef>
                <a:spcPts val="500"/>
              </a:spcBef>
            </a:pPr>
            <a:r>
              <a:rPr sz="1300" b="0">
                <a:solidFill>
                  <a:srgbClr val="404040"/>
                </a:solidFill>
              </a:rPr>
              <a:t>Kann man sie benennen?</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Ellenbogen und Silhouette, nebeneinander gerechnet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analytics/notebooks/03_Clustering_Stationen_und_Kunden.ipynb · Abschnitt 4.2</a:t>
            </a:r>
          </a:p>
        </p:txBody>
      </p:sp>
      <p:sp>
        <p:nvSpPr>
          <p:cNvPr id="5" name="Rectangle 4"/>
          <p:cNvSpPr/>
          <p:nvPr/>
        </p:nvSpPr>
        <p:spPr>
          <a:xfrm>
            <a:off x="1762641" y="1168400"/>
            <a:ext cx="10255487"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3-k.png"/>
          <p:cNvPicPr>
            <a:picLocks noChangeAspect="1"/>
          </p:cNvPicPr>
          <p:nvPr/>
        </p:nvPicPr>
        <p:blipFill>
          <a:blip r:embed="rId2"/>
          <a:stretch>
            <a:fillRect/>
          </a:stretch>
        </p:blipFill>
        <p:spPr>
          <a:xfrm>
            <a:off x="1864241" y="1270000"/>
            <a:ext cx="10052287"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Zwei Kennzahlen je k — und keine davon entscheidet. Die Entscheidung fällt am Kriterium „benennbar“ aus Phase 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Befunde, die weh tun</a:t>
            </a:r>
          </a:p>
        </p:txBody>
      </p:sp>
      <p:sp>
        <p:nvSpPr>
          <p:cNvPr id="3" name="Text Placeholder 2"/>
          <p:cNvSpPr>
            <a:spLocks noGrp="1"/>
          </p:cNvSpPr>
          <p:nvPr>
            <p:ph type="body" idx="12" sz="quarter"/>
          </p:nvPr>
        </p:nvSpPr>
        <p:spPr/>
        <p:txBody>
          <a:bodyPr/>
          <a:lstStyle/>
          <a:p>
            <a:r>
              <a:t>Fall 3 · Phase 5</a:t>
            </a:r>
          </a:p>
        </p:txBody>
      </p:sp>
      <p:sp>
        <p:nvSpPr>
          <p:cNvPr id="4" name="Text Placeholder 3"/>
          <p:cNvSpPr>
            <a:spLocks noGrp="1"/>
          </p:cNvSpPr>
          <p:nvPr>
            <p:ph type="body" idx="13" sz="quarter"/>
          </p:nvPr>
        </p:nvSpPr>
        <p:spPr/>
        <p:txBody>
          <a:bodyPr/>
          <a:lstStyle/>
          <a:p>
            <a:r>
              <a:t>analytics/notebooks/03_Clustering_Stationen_und_Kunden.ipynb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Segmentierung sollte Zielgruppen für den Newsletter liefern. Herausgekommen ist eine Frage an die Preisgestaltung.</a:t>
            </a:r>
          </a:p>
        </p:txBody>
      </p:sp>
      <p:sp>
        <p:nvSpPr>
          <p:cNvPr id="6" name="Rectangle 5"/>
          <p:cNvSpPr/>
          <p:nvPr/>
        </p:nvSpPr>
        <p:spPr>
          <a:xfrm>
            <a:off x="115316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Befund 1</a:t>
            </a:r>
          </a:p>
          <a:p>
            <a:pPr algn="l">
              <a:lnSpc>
                <a:spcPct val="95000"/>
              </a:lnSpc>
              <a:spcBef>
                <a:spcPts val="500"/>
              </a:spcBef>
            </a:pPr>
            <a:r>
              <a:rPr sz="1300" b="0">
                <a:solidFill>
                  <a:srgbClr val="404040"/>
                </a:solidFill>
              </a:rPr>
              <a:t>Die Vielfahrer bringen den</a:t>
            </a:r>
          </a:p>
          <a:p>
            <a:pPr algn="l">
              <a:lnSpc>
                <a:spcPct val="95000"/>
              </a:lnSpc>
              <a:spcBef>
                <a:spcPts val="500"/>
              </a:spcBef>
            </a:pPr>
            <a:r>
              <a:rPr sz="1300" b="0">
                <a:solidFill>
                  <a:srgbClr val="404040"/>
                </a:solidFill>
              </a:rPr>
              <a:t>GERINGSTEN Umsatz.</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Ihre Tarife enthalten</a:t>
            </a:r>
          </a:p>
          <a:p>
            <a:pPr algn="l">
              <a:lnSpc>
                <a:spcPct val="95000"/>
              </a:lnSpc>
              <a:spcBef>
                <a:spcPts val="500"/>
              </a:spcBef>
            </a:pPr>
            <a:r>
              <a:rPr sz="1300" b="0">
                <a:solidFill>
                  <a:srgbClr val="404040"/>
                </a:solidFill>
              </a:rPr>
              <a:t>Freiminuten — und weil es</a:t>
            </a:r>
          </a:p>
          <a:p>
            <a:pPr algn="l">
              <a:lnSpc>
                <a:spcPct val="95000"/>
              </a:lnSpc>
              <a:spcBef>
                <a:spcPts val="500"/>
              </a:spcBef>
            </a:pPr>
            <a:r>
              <a:rPr sz="1300" b="0">
                <a:solidFill>
                  <a:srgbClr val="404040"/>
                </a:solidFill>
              </a:rPr>
              <a:t>keine Grundgebühr gibt, ist</a:t>
            </a:r>
          </a:p>
          <a:p>
            <a:pPr algn="l">
              <a:lnSpc>
                <a:spcPct val="95000"/>
              </a:lnSpc>
              <a:spcBef>
                <a:spcPts val="500"/>
              </a:spcBef>
            </a:pPr>
            <a:r>
              <a:rPr sz="1300" b="0">
                <a:solidFill>
                  <a:srgbClr val="404040"/>
                </a:solidFill>
              </a:rPr>
              <a:t>das Nutzungsentgelt der</a:t>
            </a:r>
          </a:p>
          <a:p>
            <a:pPr algn="l">
              <a:lnSpc>
                <a:spcPct val="95000"/>
              </a:lnSpc>
              <a:spcBef>
                <a:spcPts val="500"/>
              </a:spcBef>
            </a:pPr>
            <a:r>
              <a:rPr sz="1300" b="0">
                <a:solidFill>
                  <a:srgbClr val="404040"/>
                </a:solidFill>
              </a:rPr>
              <a:t>gesamte Umsatz.</a:t>
            </a:r>
          </a:p>
        </p:txBody>
      </p:sp>
      <p:sp>
        <p:nvSpPr>
          <p:cNvPr id="9" name="Rectangle 8"/>
          <p:cNvSpPr/>
          <p:nvPr/>
        </p:nvSpPr>
        <p:spPr>
          <a:xfrm>
            <a:off x="511302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Befund 2</a:t>
            </a:r>
          </a:p>
          <a:p>
            <a:pPr algn="l">
              <a:lnSpc>
                <a:spcPct val="95000"/>
              </a:lnSpc>
              <a:spcBef>
                <a:spcPts val="500"/>
              </a:spcBef>
            </a:pPr>
            <a:r>
              <a:rPr sz="1300" b="0">
                <a:solidFill>
                  <a:srgbClr val="404040"/>
                </a:solidFill>
              </a:rPr>
              <a:t>Knapp ein Drittel der</a:t>
            </a:r>
          </a:p>
          <a:p>
            <a:pPr algn="l">
              <a:lnSpc>
                <a:spcPct val="95000"/>
              </a:lnSpc>
              <a:spcBef>
                <a:spcPts val="500"/>
              </a:spcBef>
            </a:pPr>
            <a:r>
              <a:rPr sz="1300" b="0">
                <a:solidFill>
                  <a:srgbClr val="404040"/>
                </a:solidFill>
              </a:rPr>
              <a:t>Kundschaft — 998 von 3.200 —</a:t>
            </a:r>
          </a:p>
          <a:p>
            <a:pPr algn="l">
              <a:lnSpc>
                <a:spcPct val="95000"/>
              </a:lnSpc>
              <a:spcBef>
                <a:spcPts val="500"/>
              </a:spcBef>
            </a:pPr>
            <a:r>
              <a:rPr sz="1300" b="0">
                <a:solidFill>
                  <a:srgbClr val="404040"/>
                </a:solidFill>
              </a:rPr>
              <a:t>taucht in der Segmentierung</a:t>
            </a:r>
          </a:p>
          <a:p>
            <a:pPr algn="l">
              <a:lnSpc>
                <a:spcPct val="95000"/>
              </a:lnSpc>
              <a:spcBef>
                <a:spcPts val="500"/>
              </a:spcBef>
            </a:pPr>
            <a:r>
              <a:rPr sz="1300" b="0">
                <a:solidFill>
                  <a:srgbClr val="404040"/>
                </a:solidFill>
              </a:rPr>
              <a:t>gar nicht auf.</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RFM sieht nur, wer kauft.</a:t>
            </a:r>
          </a:p>
          <a:p>
            <a:pPr algn="l">
              <a:lnSpc>
                <a:spcPct val="95000"/>
              </a:lnSpc>
              <a:spcBef>
                <a:spcPts val="500"/>
              </a:spcBef>
            </a:pPr>
            <a:r>
              <a:rPr sz="1300" b="0">
                <a:solidFill>
                  <a:srgbClr val="404040"/>
                </a:solidFill>
              </a:rPr>
              <a:t>Wer aufgehört hat, fällt aus</a:t>
            </a:r>
          </a:p>
          <a:p>
            <a:pPr algn="l">
              <a:lnSpc>
                <a:spcPct val="95000"/>
              </a:lnSpc>
              <a:spcBef>
                <a:spcPts val="500"/>
              </a:spcBef>
            </a:pPr>
            <a:r>
              <a:rPr sz="1300" b="0">
                <a:solidFill>
                  <a:srgbClr val="404040"/>
                </a:solidFill>
              </a:rPr>
              <a:t>der Tabelle — und aus dem</a:t>
            </a:r>
          </a:p>
          <a:p>
            <a:pPr algn="l">
              <a:lnSpc>
                <a:spcPct val="95000"/>
              </a:lnSpc>
              <a:spcBef>
                <a:spcPts val="500"/>
              </a:spcBef>
            </a:pPr>
            <a:r>
              <a:rPr sz="1300" b="0">
                <a:solidFill>
                  <a:srgbClr val="404040"/>
                </a:solidFill>
              </a:rPr>
              <a:t>Blick.</a:t>
            </a:r>
          </a:p>
        </p:txBody>
      </p:sp>
      <p:sp>
        <p:nvSpPr>
          <p:cNvPr id="12" name="Rectangle 11"/>
          <p:cNvSpPr/>
          <p:nvPr/>
        </p:nvSpPr>
        <p:spPr>
          <a:xfrm>
            <a:off x="908177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Was daraus folgt</a:t>
            </a:r>
          </a:p>
          <a:p>
            <a:pPr algn="l">
              <a:lnSpc>
                <a:spcPct val="95000"/>
              </a:lnSpc>
              <a:spcBef>
                <a:spcPts val="500"/>
              </a:spcBef>
            </a:pPr>
            <a:r>
              <a:rPr sz="1300" b="0">
                <a:solidFill>
                  <a:srgbClr val="404040"/>
                </a:solidFill>
              </a:rPr>
              <a:t>Kein Messfehler, sondern ein</a:t>
            </a:r>
          </a:p>
          <a:p>
            <a:pPr algn="l">
              <a:lnSpc>
                <a:spcPct val="95000"/>
              </a:lnSpc>
              <a:spcBef>
                <a:spcPts val="500"/>
              </a:spcBef>
            </a:pPr>
            <a:r>
              <a:rPr sz="1300" b="0">
                <a:solidFill>
                  <a:srgbClr val="404040"/>
                </a:solidFill>
              </a:rPr>
              <a:t>Preisproblem, das die</a:t>
            </a:r>
          </a:p>
          <a:p>
            <a:pPr algn="l">
              <a:lnSpc>
                <a:spcPct val="95000"/>
              </a:lnSpc>
              <a:spcBef>
                <a:spcPts val="500"/>
              </a:spcBef>
            </a:pPr>
            <a:r>
              <a:rPr sz="1300" b="0">
                <a:solidFill>
                  <a:srgbClr val="404040"/>
                </a:solidFill>
              </a:rPr>
              <a:t>Segmentierung sichtbar</a:t>
            </a:r>
          </a:p>
          <a:p>
            <a:pPr algn="l">
              <a:lnSpc>
                <a:spcPct val="95000"/>
              </a:lnSpc>
              <a:spcBef>
                <a:spcPts val="500"/>
              </a:spcBef>
            </a:pPr>
            <a:r>
              <a:rPr sz="1300" b="0">
                <a:solidFill>
                  <a:srgbClr val="404040"/>
                </a:solidFill>
              </a:rPr>
              <a:t>gemacht hat.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ist ein Rücksprung nach</a:t>
            </a:r>
          </a:p>
          <a:p>
            <a:pPr algn="l">
              <a:lnSpc>
                <a:spcPct val="95000"/>
              </a:lnSpc>
              <a:spcBef>
                <a:spcPts val="500"/>
              </a:spcBef>
            </a:pPr>
            <a:r>
              <a:rPr sz="1300" b="0">
                <a:solidFill>
                  <a:srgbClr val="404040"/>
                </a:solidFill>
              </a:rPr>
              <a:t>Phase 1 — mit einer besseren</a:t>
            </a:r>
          </a:p>
          <a:p>
            <a:pPr algn="l">
              <a:lnSpc>
                <a:spcPct val="95000"/>
              </a:lnSpc>
              <a:spcBef>
                <a:spcPts val="500"/>
              </a:spcBef>
            </a:pPr>
            <a:r>
              <a:rPr sz="1300" b="0">
                <a:solidFill>
                  <a:srgbClr val="404040"/>
                </a:solidFill>
              </a:rPr>
              <a:t>Frage als der ersten.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Idee für die Geschäftsführung — ausdrücklich als Hypothese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analytics/notebooks/03_Clustering_Stationen_und_Kunden.ipynb · Abschnitt 5.B.3</a:t>
            </a:r>
          </a:p>
        </p:txBody>
      </p:sp>
      <p:sp>
        <p:nvSpPr>
          <p:cNvPr id="5" name="Rectangle 4"/>
          <p:cNvSpPr/>
          <p:nvPr/>
        </p:nvSpPr>
        <p:spPr>
          <a:xfrm>
            <a:off x="2632355" y="1168400"/>
            <a:ext cx="8516058"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3-hypothese.png"/>
          <p:cNvPicPr>
            <a:picLocks noChangeAspect="1"/>
          </p:cNvPicPr>
          <p:nvPr/>
        </p:nvPicPr>
        <p:blipFill>
          <a:blip r:embed="rId2"/>
          <a:stretch>
            <a:fillRect/>
          </a:stretch>
        </p:blipFill>
        <p:spPr>
          <a:xfrm>
            <a:off x="2733955" y="1270000"/>
            <a:ext cx="8312858"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Notebook schreibt „HYPOTHESE, kein Befund“ in die Ausgabe selbst. Damit kann die Zahl nicht als Ergebnis missverstanden werden.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Auslieferungen, zwei Vorbehalte</a:t>
            </a:r>
          </a:p>
        </p:txBody>
      </p:sp>
      <p:sp>
        <p:nvSpPr>
          <p:cNvPr id="3" name="Text Placeholder 2"/>
          <p:cNvSpPr>
            <a:spLocks noGrp="1"/>
          </p:cNvSpPr>
          <p:nvPr>
            <p:ph type="body" idx="12" sz="quarter"/>
          </p:nvPr>
        </p:nvSpPr>
        <p:spPr/>
        <p:txBody>
          <a:bodyPr/>
          <a:lstStyle/>
          <a:p>
            <a:r>
              <a:t>Fall 3 · Phase 6</a:t>
            </a:r>
          </a:p>
        </p:txBody>
      </p:sp>
      <p:sp>
        <p:nvSpPr>
          <p:cNvPr id="4" name="Text Placeholder 3"/>
          <p:cNvSpPr>
            <a:spLocks noGrp="1"/>
          </p:cNvSpPr>
          <p:nvPr>
            <p:ph type="body" idx="13" sz="quarter"/>
          </p:nvPr>
        </p:nvSpPr>
        <p:spPr/>
        <p:txBody>
          <a:bodyPr/>
          <a:lstStyle/>
          <a:p>
            <a:r>
              <a:t>analytics/notebooks/03_Clustering_Stationen_und_Kunden.ipynb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Analyse werden zwei sehr verschiedene Produkte — und beide tragen eine Einschränkung.</a:t>
            </a:r>
          </a:p>
        </p:txBody>
      </p:sp>
      <p:sp>
        <p:nvSpPr>
          <p:cNvPr id="6" name="Rectangle 5"/>
          <p:cNvSpPr/>
          <p:nvPr/>
        </p:nvSpPr>
        <p:spPr>
          <a:xfrm>
            <a:off x="1153160"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A — Disposition</a:t>
            </a:r>
          </a:p>
        </p:txBody>
      </p:sp>
      <p:sp>
        <p:nvSpPr>
          <p:cNvPr id="9" name="TextBox 8"/>
          <p:cNvSpPr txBox="1"/>
          <p:nvPr/>
        </p:nvSpPr>
        <p:spPr>
          <a:xfrm>
            <a:off x="1330960" y="21590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Dispositionsplan als CSV</a:t>
            </a:r>
          </a:p>
          <a:p>
            <a:pPr algn="l">
              <a:lnSpc>
                <a:spcPct val="95000"/>
              </a:lnSpc>
              <a:spcBef>
                <a:spcPts val="300"/>
              </a:spcBef>
            </a:pPr>
            <a:r>
              <a:rPr sz="1300" b="0">
                <a:solidFill>
                  <a:srgbClr val="404040"/>
                </a:solidFill>
              </a:rPr>
              <a:t>Je Station der Typ und die</a:t>
            </a:r>
          </a:p>
          <a:p>
            <a:pPr algn="l">
              <a:lnSpc>
                <a:spcPct val="95000"/>
              </a:lnSpc>
              <a:spcBef>
                <a:spcPts val="300"/>
              </a:spcBef>
            </a:pPr>
            <a:r>
              <a:rPr sz="1300" b="0">
                <a:solidFill>
                  <a:srgbClr val="404040"/>
                </a:solidFill>
              </a:rPr>
              <a:t>empfohlene Umverteilung.</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Die Gruppen sind</a:t>
            </a:r>
          </a:p>
          <a:p>
            <a:pPr algn="l">
              <a:lnSpc>
                <a:spcPct val="95000"/>
              </a:lnSpc>
              <a:spcBef>
                <a:spcPts val="300"/>
              </a:spcBef>
            </a:pPr>
            <a:r>
              <a:rPr sz="1300" b="0">
                <a:solidFill>
                  <a:srgbClr val="404040"/>
                </a:solidFill>
              </a:rPr>
              <a:t>aus einem Jahr gerechnet.</a:t>
            </a:r>
          </a:p>
          <a:p>
            <a:pPr algn="l">
              <a:lnSpc>
                <a:spcPct val="95000"/>
              </a:lnSpc>
              <a:spcBef>
                <a:spcPts val="300"/>
              </a:spcBef>
            </a:pPr>
            <a:r>
              <a:rPr sz="1300" b="0">
                <a:solidFill>
                  <a:srgbClr val="404040"/>
                </a:solidFill>
              </a:rPr>
              <a:t>Ändert sich das Netz, muss</a:t>
            </a:r>
          </a:p>
          <a:p>
            <a:pPr algn="l">
              <a:lnSpc>
                <a:spcPct val="95000"/>
              </a:lnSpc>
              <a:spcBef>
                <a:spcPts val="300"/>
              </a:spcBef>
            </a:pPr>
            <a:r>
              <a:rPr sz="1300" b="0">
                <a:solidFill>
                  <a:srgbClr val="404040"/>
                </a:solidFill>
              </a:rPr>
              <a:t>neu gruppiert werden.</a:t>
            </a:r>
          </a:p>
        </p:txBody>
      </p:sp>
      <p:sp>
        <p:nvSpPr>
          <p:cNvPr id="10" name="Rectangle 9"/>
          <p:cNvSpPr/>
          <p:nvPr/>
        </p:nvSpPr>
        <p:spPr>
          <a:xfrm>
            <a:off x="7096759"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B — Marketing</a:t>
            </a:r>
          </a:p>
        </p:txBody>
      </p:sp>
      <p:sp>
        <p:nvSpPr>
          <p:cNvPr id="13" name="TextBox 12"/>
          <p:cNvSpPr txBox="1"/>
          <p:nvPr/>
        </p:nvSpPr>
        <p:spPr>
          <a:xfrm>
            <a:off x="7274559" y="21590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Kampagnenplan je Segment</a:t>
            </a:r>
          </a:p>
          <a:p>
            <a:pPr algn="l">
              <a:lnSpc>
                <a:spcPct val="95000"/>
              </a:lnSpc>
              <a:spcBef>
                <a:spcPts val="300"/>
              </a:spcBef>
            </a:pPr>
            <a:r>
              <a:rPr sz="1300" b="0">
                <a:solidFill>
                  <a:srgbClr val="404040"/>
                </a:solidFill>
              </a:rPr>
              <a:t>Vier Segmente, vier Ansprachen.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Datenschutz. Eine</a:t>
            </a:r>
          </a:p>
          <a:p>
            <a:pPr algn="l">
              <a:lnSpc>
                <a:spcPct val="95000"/>
              </a:lnSpc>
              <a:spcBef>
                <a:spcPts val="300"/>
              </a:spcBef>
            </a:pPr>
            <a:r>
              <a:rPr sz="1300" b="0">
                <a:solidFill>
                  <a:srgbClr val="404040"/>
                </a:solidFill>
              </a:rPr>
              <a:t>Segmentierung ist eine</a:t>
            </a:r>
          </a:p>
          <a:p>
            <a:pPr algn="l">
              <a:lnSpc>
                <a:spcPct val="95000"/>
              </a:lnSpc>
              <a:spcBef>
                <a:spcPts val="300"/>
              </a:spcBef>
            </a:pPr>
            <a:r>
              <a:rPr sz="1300" b="0">
                <a:solidFill>
                  <a:srgbClr val="404040"/>
                </a:solidFill>
              </a:rPr>
              <a:t>Profilbildung — sie braucht</a:t>
            </a:r>
          </a:p>
          <a:p>
            <a:pPr algn="l">
              <a:lnSpc>
                <a:spcPct val="95000"/>
              </a:lnSpc>
              <a:spcBef>
                <a:spcPts val="300"/>
              </a:spcBef>
            </a:pPr>
            <a:r>
              <a:rPr sz="1300" b="0">
                <a:solidFill>
                  <a:srgbClr val="404040"/>
                </a:solidFill>
              </a:rPr>
              <a:t>eine Rechtsgrundlage, keine</a:t>
            </a:r>
          </a:p>
          <a:p>
            <a:pPr algn="l">
              <a:lnSpc>
                <a:spcPct val="95000"/>
              </a:lnSpc>
              <a:spcBef>
                <a:spcPts val="300"/>
              </a:spcBef>
            </a:pPr>
            <a:r>
              <a:rPr sz="1300" b="0">
                <a:solidFill>
                  <a:srgbClr val="404040"/>
                </a:solidFill>
              </a:rPr>
              <a:t>gute Absicht.</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Kriterium, das man behauptet, ist keines</a:t>
            </a:r>
          </a:p>
        </p:txBody>
      </p:sp>
      <p:sp>
        <p:nvSpPr>
          <p:cNvPr id="3" name="Text Placeholder 2"/>
          <p:cNvSpPr>
            <a:spLocks noGrp="1"/>
          </p:cNvSpPr>
          <p:nvPr>
            <p:ph type="body" idx="12" sz="quarter"/>
          </p:nvPr>
        </p:nvSpPr>
        <p:spPr/>
        <p:txBody>
          <a:bodyPr/>
          <a:lstStyle/>
          <a:p>
            <a:r>
              <a:t>Fall 3 · Phase 5</a:t>
            </a:r>
          </a:p>
        </p:txBody>
      </p:sp>
      <p:sp>
        <p:nvSpPr>
          <p:cNvPr id="4" name="Text Placeholder 3"/>
          <p:cNvSpPr>
            <a:spLocks noGrp="1"/>
          </p:cNvSpPr>
          <p:nvPr>
            <p:ph type="body" idx="13" sz="quarter"/>
          </p:nvPr>
        </p:nvSpPr>
        <p:spPr/>
        <p:txBody>
          <a:bodyPr/>
          <a:lstStyle/>
          <a:p>
            <a:r>
              <a:t>analytics/notebooks/03_Clustering_Stationen_und_Kunden.ipynb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Kriterium 4 aus Phase 1 lautete: „Ein zweiter Lauf mit anderem Zufallsstart muss dieselben Gruppen liefern.“ Belegt wurde es zunächst mit `n_init=25` — und das prüft etwas anderes.</a:t>
            </a:r>
          </a:p>
        </p:txBody>
      </p:sp>
      <p:sp>
        <p:nvSpPr>
          <p:cNvPr id="6" name="Rectangle 5"/>
          <p:cNvSpPr/>
          <p:nvPr/>
        </p:nvSpPr>
        <p:spPr>
          <a:xfrm>
            <a:off x="1153160" y="1879600"/>
            <a:ext cx="5524500"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behauptet wurde</a:t>
            </a:r>
          </a:p>
        </p:txBody>
      </p:sp>
      <p:sp>
        <p:nvSpPr>
          <p:cNvPr id="9" name="TextBox 8"/>
          <p:cNvSpPr txBox="1"/>
          <p:nvPr/>
        </p:nvSpPr>
        <p:spPr>
          <a:xfrm>
            <a:off x="1330960" y="2387600"/>
            <a:ext cx="5194300" cy="1981200"/>
          </a:xfrm>
          <a:prstGeom prst="rect">
            <a:avLst/>
          </a:prstGeom>
          <a:noFill/>
        </p:spPr>
        <p:txBody>
          <a:bodyPr wrap="square" lIns="0" tIns="0" rIns="0" bIns="0">
            <a:spAutoFit/>
          </a:bodyPr>
          <a:lstStyle/>
          <a:p>
            <a:pPr algn="l">
              <a:lnSpc>
                <a:spcPct val="95000"/>
              </a:lnSpc>
            </a:pPr>
            <a:r>
              <a:rPr sz="1400" b="1">
                <a:solidFill>
                  <a:srgbClr val="A32638"/>
                </a:solidFill>
              </a:rPr>
              <a:t>n_init=25 als Beleg</a:t>
            </a:r>
          </a:p>
          <a:p>
            <a:pPr algn="l">
              <a:lnSpc>
                <a:spcPct val="95000"/>
              </a:lnSpc>
              <a:spcBef>
                <a:spcPts val="300"/>
              </a:spcBef>
            </a:pPr>
            <a:r>
              <a:rPr sz="1300" b="0">
                <a:solidFill>
                  <a:srgbClr val="404040"/>
                </a:solidFill>
              </a:rPr>
              <a:t>„25 Zufallsstarts, der beste</a:t>
            </a:r>
          </a:p>
          <a:p>
            <a:pPr algn="l">
              <a:lnSpc>
                <a:spcPct val="95000"/>
              </a:lnSpc>
              <a:spcBef>
                <a:spcPts val="300"/>
              </a:spcBef>
            </a:pPr>
            <a:r>
              <a:rPr sz="1300" b="0">
                <a:solidFill>
                  <a:srgbClr val="404040"/>
                </a:solidFill>
              </a:rPr>
              <a:t>wird genommen.“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Das ist Qualitätssicherung</a:t>
            </a:r>
          </a:p>
          <a:p>
            <a:pPr algn="l">
              <a:lnSpc>
                <a:spcPct val="95000"/>
              </a:lnSpc>
              <a:spcBef>
                <a:spcPts val="300"/>
              </a:spcBef>
            </a:pPr>
            <a:r>
              <a:rPr sz="1300" b="0">
                <a:solidFill>
                  <a:srgbClr val="404040"/>
                </a:solidFill>
              </a:rPr>
              <a:t>INNERHALB eines Laufs — nicht</a:t>
            </a:r>
          </a:p>
          <a:p>
            <a:pPr algn="l">
              <a:lnSpc>
                <a:spcPct val="95000"/>
              </a:lnSpc>
              <a:spcBef>
                <a:spcPts val="300"/>
              </a:spcBef>
            </a:pPr>
            <a:r>
              <a:rPr sz="1300" b="0">
                <a:solidFill>
                  <a:srgbClr val="404040"/>
                </a:solidFill>
              </a:rPr>
              <a:t>die Frage, ob ein anderer</a:t>
            </a:r>
          </a:p>
          <a:p>
            <a:pPr algn="l">
              <a:lnSpc>
                <a:spcPct val="95000"/>
              </a:lnSpc>
              <a:spcBef>
                <a:spcPts val="300"/>
              </a:spcBef>
            </a:pPr>
            <a:r>
              <a:rPr sz="1300" b="0">
                <a:solidFill>
                  <a:srgbClr val="404040"/>
                </a:solidFill>
              </a:rPr>
              <a:t>Start dasselbe Ergebnis</a:t>
            </a:r>
          </a:p>
          <a:p>
            <a:pPr algn="l">
              <a:lnSpc>
                <a:spcPct val="95000"/>
              </a:lnSpc>
              <a:spcBef>
                <a:spcPts val="300"/>
              </a:spcBef>
            </a:pPr>
            <a:r>
              <a:rPr sz="1300" b="0">
                <a:solidFill>
                  <a:srgbClr val="404040"/>
                </a:solidFill>
              </a:rPr>
              <a:t>liefert.</a:t>
            </a:r>
          </a:p>
        </p:txBody>
      </p:sp>
      <p:sp>
        <p:nvSpPr>
          <p:cNvPr id="10" name="Rectangle 9"/>
          <p:cNvSpPr/>
          <p:nvPr/>
        </p:nvSpPr>
        <p:spPr>
          <a:xfrm>
            <a:off x="7096759" y="1879600"/>
            <a:ext cx="5524500"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gemessen wurde</a:t>
            </a:r>
          </a:p>
        </p:txBody>
      </p:sp>
      <p:sp>
        <p:nvSpPr>
          <p:cNvPr id="13" name="TextBox 12"/>
          <p:cNvSpPr txBox="1"/>
          <p:nvPr/>
        </p:nvSpPr>
        <p:spPr>
          <a:xfrm>
            <a:off x="7274559" y="2387600"/>
            <a:ext cx="5194300" cy="1981200"/>
          </a:xfrm>
          <a:prstGeom prst="rect">
            <a:avLst/>
          </a:prstGeom>
          <a:noFill/>
        </p:spPr>
        <p:txBody>
          <a:bodyPr wrap="square" lIns="0" tIns="0" rIns="0" bIns="0">
            <a:spAutoFit/>
          </a:bodyPr>
          <a:lstStyle/>
          <a:p>
            <a:pPr algn="l">
              <a:lnSpc>
                <a:spcPct val="95000"/>
              </a:lnSpc>
            </a:pPr>
            <a:r>
              <a:rPr sz="1400" b="1">
                <a:solidFill>
                  <a:srgbClr val="55801C"/>
                </a:solidFill>
              </a:rPr>
              <a:t>Adjustierter Rand-Index</a:t>
            </a:r>
          </a:p>
          <a:p>
            <a:pPr algn="l">
              <a:lnSpc>
                <a:spcPct val="95000"/>
              </a:lnSpc>
              <a:spcBef>
                <a:spcPts val="300"/>
              </a:spcBef>
            </a:pPr>
            <a:r>
              <a:rPr sz="1300" b="0">
                <a:solidFill>
                  <a:srgbClr val="404040"/>
                </a:solidFill>
              </a:rPr>
              <a:t>Fünf Startwerte, jeder gegen</a:t>
            </a:r>
          </a:p>
          <a:p>
            <a:pPr algn="l">
              <a:lnSpc>
                <a:spcPct val="95000"/>
              </a:lnSpc>
              <a:spcBef>
                <a:spcPts val="300"/>
              </a:spcBef>
            </a:pPr>
            <a:r>
              <a:rPr sz="1300" b="0">
                <a:solidFill>
                  <a:srgbClr val="404040"/>
                </a:solidFill>
              </a:rPr>
              <a:t>den Grundlauf verglichen.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Stationen:   1,000 bis 1,000</a:t>
            </a:r>
          </a:p>
          <a:p>
            <a:pPr algn="l">
              <a:lnSpc>
                <a:spcPct val="95000"/>
              </a:lnSpc>
              <a:spcBef>
                <a:spcPts val="300"/>
              </a:spcBef>
            </a:pPr>
            <a:r>
              <a:rPr sz="1300" b="0">
                <a:solidFill>
                  <a:srgbClr val="404040"/>
                </a:solidFill>
              </a:rPr>
              <a:t>Kundschaft:  0,895 bis 0,993</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Stationen sind stabil,</a:t>
            </a:r>
          </a:p>
          <a:p>
            <a:pPr algn="l">
              <a:lnSpc>
                <a:spcPct val="95000"/>
              </a:lnSpc>
              <a:spcBef>
                <a:spcPts val="300"/>
              </a:spcBef>
            </a:pPr>
            <a:r>
              <a:rPr sz="1300" b="0">
                <a:solidFill>
                  <a:srgbClr val="404040"/>
                </a:solidFill>
              </a:rPr>
              <a:t>die Segmente nur annähernd.</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3 · Abschluss</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Zwei Fragen, ein Verfahren — und ein Ergebnis, das die Ausgangsfrage übertroffen hat.</a:t>
            </a:r>
          </a:p>
        </p:txBody>
      </p:sp>
      <p:sp>
        <p:nvSpPr>
          <p:cNvPr id="6" name="Rectangle 5"/>
          <p:cNvSpPr/>
          <p:nvPr/>
        </p:nvSpPr>
        <p:spPr>
          <a:xfrm>
            <a:off x="1153160" y="1651000"/>
            <a:ext cx="2032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3185160" y="1651000"/>
            <a:ext cx="4318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 Stationen</a:t>
            </a:r>
          </a:p>
        </p:txBody>
      </p:sp>
      <p:sp>
        <p:nvSpPr>
          <p:cNvPr id="8" name="Rectangle 7"/>
          <p:cNvSpPr/>
          <p:nvPr/>
        </p:nvSpPr>
        <p:spPr>
          <a:xfrm>
            <a:off x="7503159" y="1651000"/>
            <a:ext cx="5124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 Kundschaft</a:t>
            </a:r>
          </a:p>
        </p:txBody>
      </p:sp>
      <p:sp>
        <p:nvSpPr>
          <p:cNvPr id="9" name="Rectangle 8"/>
          <p:cNvSpPr/>
          <p:nvPr/>
        </p:nvSpPr>
        <p:spPr>
          <a:xfrm>
            <a:off x="1153160" y="2159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a:t>
            </a:r>
          </a:p>
        </p:txBody>
      </p:sp>
      <p:sp>
        <p:nvSpPr>
          <p:cNvPr id="10" name="Rectangle 9"/>
          <p:cNvSpPr/>
          <p:nvPr/>
        </p:nvSpPr>
        <p:spPr>
          <a:xfrm>
            <a:off x="3185160" y="2159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Umverteilung nach Regeln</a:t>
            </a:r>
          </a:p>
        </p:txBody>
      </p:sp>
      <p:sp>
        <p:nvSpPr>
          <p:cNvPr id="11" name="Rectangle 10"/>
          <p:cNvSpPr/>
          <p:nvPr/>
        </p:nvSpPr>
        <p:spPr>
          <a:xfrm>
            <a:off x="7503159" y="2159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Newsletter nach Segmenten</a:t>
            </a:r>
          </a:p>
        </p:txBody>
      </p:sp>
      <p:sp>
        <p:nvSpPr>
          <p:cNvPr id="12" name="Rectangle 11"/>
          <p:cNvSpPr/>
          <p:nvPr/>
        </p:nvSpPr>
        <p:spPr>
          <a:xfrm>
            <a:off x="1153160" y="2667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a:t>
            </a:r>
          </a:p>
        </p:txBody>
      </p:sp>
      <p:sp>
        <p:nvSpPr>
          <p:cNvPr id="13" name="Rectangle 12"/>
          <p:cNvSpPr/>
          <p:nvPr/>
        </p:nvSpPr>
        <p:spPr>
          <a:xfrm>
            <a:off x="3185160" y="2667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Typ in den Stammdaten</a:t>
            </a:r>
          </a:p>
        </p:txBody>
      </p:sp>
      <p:sp>
        <p:nvSpPr>
          <p:cNvPr id="14" name="Rectangle 13"/>
          <p:cNvSpPr/>
          <p:nvPr/>
        </p:nvSpPr>
        <p:spPr>
          <a:xfrm>
            <a:off x="7503159" y="2667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Segment in der Kundentabelle</a:t>
            </a:r>
          </a:p>
        </p:txBody>
      </p:sp>
      <p:sp>
        <p:nvSpPr>
          <p:cNvPr id="15" name="Rectangle 14"/>
          <p:cNvSpPr/>
          <p:nvPr/>
        </p:nvSpPr>
        <p:spPr>
          <a:xfrm>
            <a:off x="1153160" y="3175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Preparation</a:t>
            </a:r>
          </a:p>
        </p:txBody>
      </p:sp>
      <p:sp>
        <p:nvSpPr>
          <p:cNvPr id="16" name="Rectangle 15"/>
          <p:cNvSpPr/>
          <p:nvPr/>
        </p:nvSpPr>
        <p:spPr>
          <a:xfrm>
            <a:off x="3185160" y="3175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Tagesgang, standardisiert</a:t>
            </a:r>
          </a:p>
        </p:txBody>
      </p:sp>
      <p:sp>
        <p:nvSpPr>
          <p:cNvPr id="17" name="Rectangle 16"/>
          <p:cNvSpPr/>
          <p:nvPr/>
        </p:nvSpPr>
        <p:spPr>
          <a:xfrm>
            <a:off x="7503159" y="3175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RFM, logarithmiert</a:t>
            </a:r>
          </a:p>
        </p:txBody>
      </p:sp>
      <p:sp>
        <p:nvSpPr>
          <p:cNvPr id="18" name="Rectangle 17"/>
          <p:cNvSpPr/>
          <p:nvPr/>
        </p:nvSpPr>
        <p:spPr>
          <a:xfrm>
            <a:off x="1153160" y="3683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9" name="Rectangle 18"/>
          <p:cNvSpPr/>
          <p:nvPr/>
        </p:nvSpPr>
        <p:spPr>
          <a:xfrm>
            <a:off x="3185160" y="3683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k-Means, Ellenbogen + Silhouette</a:t>
            </a:r>
          </a:p>
        </p:txBody>
      </p:sp>
      <p:sp>
        <p:nvSpPr>
          <p:cNvPr id="20" name="Rectangle 19"/>
          <p:cNvSpPr/>
          <p:nvPr/>
        </p:nvSpPr>
        <p:spPr>
          <a:xfrm>
            <a:off x="7503159" y="3683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dasselbe Verfahren</a:t>
            </a:r>
          </a:p>
        </p:txBody>
      </p:sp>
      <p:sp>
        <p:nvSpPr>
          <p:cNvPr id="21" name="Rectangle 20"/>
          <p:cNvSpPr/>
          <p:nvPr/>
        </p:nvSpPr>
        <p:spPr>
          <a:xfrm>
            <a:off x="1153160" y="4191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22" name="Rectangle 21"/>
          <p:cNvSpPr/>
          <p:nvPr/>
        </p:nvSpPr>
        <p:spPr>
          <a:xfrm>
            <a:off x="3185160" y="4191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Typen, 100 % Übereinstimmung</a:t>
            </a:r>
          </a:p>
        </p:txBody>
      </p:sp>
      <p:sp>
        <p:nvSpPr>
          <p:cNvPr id="23" name="Rectangle 22"/>
          <p:cNvSpPr/>
          <p:nvPr/>
        </p:nvSpPr>
        <p:spPr>
          <a:xfrm>
            <a:off x="7503159" y="4191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Segmente, zwei Befunde</a:t>
            </a:r>
          </a:p>
        </p:txBody>
      </p:sp>
      <p:sp>
        <p:nvSpPr>
          <p:cNvPr id="24" name="Rectangle 23"/>
          <p:cNvSpPr/>
          <p:nvPr/>
        </p:nvSpPr>
        <p:spPr>
          <a:xfrm>
            <a:off x="1153160" y="4699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25" name="Rectangle 24"/>
          <p:cNvSpPr/>
          <p:nvPr/>
        </p:nvSpPr>
        <p:spPr>
          <a:xfrm>
            <a:off x="3185160" y="4699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Dispositionsplan</a:t>
            </a:r>
          </a:p>
        </p:txBody>
      </p:sp>
      <p:sp>
        <p:nvSpPr>
          <p:cNvPr id="26" name="Rectangle 25"/>
          <p:cNvSpPr/>
          <p:nvPr/>
        </p:nvSpPr>
        <p:spPr>
          <a:xfrm>
            <a:off x="7503159" y="4699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Kampagnenplan, mit Vorbehalt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Fall 4 — Zeitreihe: der Schnitt entlang der Zeit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viele Fahrten kommen morgen — und warum ist die genaueste Prognose nicht die beste?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4</a:t>
            </a:r>
          </a:p>
        </p:txBody>
      </p:sp>
      <p:sp>
        <p:nvSpPr>
          <p:cNvPr id="4" name="Text Placeholder 3"/>
          <p:cNvSpPr>
            <a:spLocks noGrp="1"/>
          </p:cNvSpPr>
          <p:nvPr>
            <p:ph type="body" idx="13" sz="quarter"/>
          </p:nvPr>
        </p:nvSpPr>
        <p:spPr/>
        <p:txBody>
          <a:bodyPr/>
          <a:lstStyle/>
          <a:p>
            <a:r>
              <a:t>analytics/notebooks/04_Zeitreihe_Nachfrageprognose.ipynb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Wie viele Räder müssen morgen früh bereitstehen, und braucht es einen Frühdienst?</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Zahl der Fahrten am Folgetag</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4,00 € je fehlendem Rad gegen 0,80 € je überzähligem — die Richtungen sind ungleich teuer</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Betriebskriterium</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Die Prognose muss um 18 Uhr stehen — sonst ist sie wertlos, egal wie genau</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Nullmodell, die echte Faustregel der Disposition, linear, Gradient Boosting</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Klar besser als die Faustregel — und die genaueste Prognose ist nicht die günstigste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Störgröße, in die man hier zwangsläufig tappt</a:t>
            </a:r>
          </a:p>
        </p:txBody>
      </p:sp>
      <p:sp>
        <p:nvSpPr>
          <p:cNvPr id="3" name="Text Placeholder 2"/>
          <p:cNvSpPr>
            <a:spLocks noGrp="1"/>
          </p:cNvSpPr>
          <p:nvPr>
            <p:ph type="body" idx="12" sz="quarter"/>
          </p:nvPr>
        </p:nvSpPr>
        <p:spPr/>
        <p:txBody>
          <a:bodyPr/>
          <a:lstStyle/>
          <a:p>
            <a:r>
              <a:t>Fall 4 · Phase 2</a:t>
            </a:r>
          </a:p>
        </p:txBody>
      </p:sp>
      <p:sp>
        <p:nvSpPr>
          <p:cNvPr id="4" name="Text Placeholder 3"/>
          <p:cNvSpPr>
            <a:spLocks noGrp="1"/>
          </p:cNvSpPr>
          <p:nvPr>
            <p:ph type="body" idx="13" sz="quarter"/>
          </p:nvPr>
        </p:nvSpPr>
        <p:spPr/>
        <p:txBody>
          <a:bodyPr/>
          <a:lstStyle/>
          <a:p>
            <a:r>
              <a:t>analytics/notebooks/04_Zeitreihe_Nachfrageprognose.ipynb · Abschnitt 2</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Der rohe Ferieneffekt sagt: In den Ferien wird mehr gefahren. Das stimmt — und es ist trotzdem irreführend.</a:t>
            </a:r>
          </a:p>
        </p:txBody>
      </p:sp>
      <p:sp>
        <p:nvSpPr>
          <p:cNvPr id="6" name="Rectangle 5"/>
          <p:cNvSpPr/>
          <p:nvPr/>
        </p:nvSpPr>
        <p:spPr>
          <a:xfrm>
            <a:off x="1153160"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man misst</a:t>
            </a:r>
          </a:p>
        </p:txBody>
      </p:sp>
      <p:sp>
        <p:nvSpPr>
          <p:cNvPr id="9" name="TextBox 8"/>
          <p:cNvSpPr txBox="1"/>
          <p:nvPr/>
        </p:nvSpPr>
        <p:spPr>
          <a:xfrm>
            <a:off x="1330960" y="21590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Ferien = mehr Fahrten</a:t>
            </a:r>
          </a:p>
          <a:p>
            <a:pPr algn="l">
              <a:lnSpc>
                <a:spcPct val="95000"/>
              </a:lnSpc>
              <a:spcBef>
                <a:spcPts val="300"/>
              </a:spcBef>
            </a:pPr>
            <a:r>
              <a:rPr sz="1300" b="0">
                <a:solidFill>
                  <a:srgbClr val="404040"/>
                </a:solidFill>
              </a:rPr>
              <a:t>Die Differenz ist deutlich</a:t>
            </a:r>
          </a:p>
          <a:p>
            <a:pPr algn="l">
              <a:lnSpc>
                <a:spcPct val="95000"/>
              </a:lnSpc>
              <a:spcBef>
                <a:spcPts val="300"/>
              </a:spcBef>
            </a:pPr>
            <a:r>
              <a:rPr sz="1300" b="0">
                <a:solidFill>
                  <a:srgbClr val="404040"/>
                </a:solidFill>
              </a:rPr>
              <a:t>und statistisch belastbar.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Schlussfolgerung:</a:t>
            </a:r>
          </a:p>
          <a:p>
            <a:pPr algn="l">
              <a:lnSpc>
                <a:spcPct val="95000"/>
              </a:lnSpc>
              <a:spcBef>
                <a:spcPts val="300"/>
              </a:spcBef>
            </a:pPr>
            <a:r>
              <a:rPr sz="1300" b="0">
                <a:solidFill>
                  <a:srgbClr val="404040"/>
                </a:solidFill>
              </a:rPr>
              <a:t>„Ferien treiben die Nachfrage.“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Und das ist falsch.</a:t>
            </a:r>
          </a:p>
        </p:txBody>
      </p:sp>
      <p:sp>
        <p:nvSpPr>
          <p:cNvPr id="10" name="Rectangle 9"/>
          <p:cNvSpPr/>
          <p:nvPr/>
        </p:nvSpPr>
        <p:spPr>
          <a:xfrm>
            <a:off x="7096759"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wirklich wirkt</a:t>
            </a:r>
          </a:p>
        </p:txBody>
      </p:sp>
      <p:sp>
        <p:nvSpPr>
          <p:cNvPr id="13" name="TextBox 12"/>
          <p:cNvSpPr txBox="1"/>
          <p:nvPr/>
        </p:nvSpPr>
        <p:spPr>
          <a:xfrm>
            <a:off x="7274559" y="21590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Ferien liegen im Sommer</a:t>
            </a:r>
          </a:p>
          <a:p>
            <a:pPr algn="l">
              <a:lnSpc>
                <a:spcPct val="95000"/>
              </a:lnSpc>
              <a:spcBef>
                <a:spcPts val="300"/>
              </a:spcBef>
            </a:pPr>
            <a:r>
              <a:rPr sz="1300" b="0">
                <a:solidFill>
                  <a:srgbClr val="404040"/>
                </a:solidFill>
              </a:rPr>
              <a:t>Die langen Ferien fallen mit</a:t>
            </a:r>
          </a:p>
          <a:p>
            <a:pPr algn="l">
              <a:lnSpc>
                <a:spcPct val="95000"/>
              </a:lnSpc>
              <a:spcBef>
                <a:spcPts val="300"/>
              </a:spcBef>
            </a:pPr>
            <a:r>
              <a:rPr sz="1300" b="0">
                <a:solidFill>
                  <a:srgbClr val="404040"/>
                </a:solidFill>
              </a:rPr>
              <a:t>der warmen Jahreszeit zusammen.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Gemessen wird das Wetter,</a:t>
            </a:r>
          </a:p>
          <a:p>
            <a:pPr algn="l">
              <a:lnSpc>
                <a:spcPct val="95000"/>
              </a:lnSpc>
              <a:spcBef>
                <a:spcPts val="300"/>
              </a:spcBef>
            </a:pPr>
            <a:r>
              <a:rPr sz="1300" b="0">
                <a:solidFill>
                  <a:srgbClr val="404040"/>
                </a:solidFill>
              </a:rPr>
              <a:t>benannt werden die Ferien.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Klassische Störgröße.</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Störgröße, in zwei Zeilen entlarvt</a:t>
            </a:r>
          </a:p>
        </p:txBody>
      </p:sp>
      <p:sp>
        <p:nvSpPr>
          <p:cNvPr id="3" name="Text Placeholder 2"/>
          <p:cNvSpPr>
            <a:spLocks noGrp="1"/>
          </p:cNvSpPr>
          <p:nvPr>
            <p:ph type="body" idx="12" sz="quarter"/>
          </p:nvPr>
        </p:nvSpPr>
        <p:spPr/>
        <p:txBody>
          <a:bodyPr/>
          <a:lstStyle/>
          <a:p>
            <a:r>
              <a:t>Phase 2 · im Notebook</a:t>
            </a:r>
          </a:p>
        </p:txBody>
      </p:sp>
      <p:sp>
        <p:nvSpPr>
          <p:cNvPr id="4" name="Text Placeholder 3"/>
          <p:cNvSpPr>
            <a:spLocks noGrp="1"/>
          </p:cNvSpPr>
          <p:nvPr>
            <p:ph type="body" idx="13" sz="quarter"/>
          </p:nvPr>
        </p:nvSpPr>
        <p:spPr/>
        <p:txBody>
          <a:bodyPr/>
          <a:lstStyle/>
          <a:p>
            <a:r>
              <a:t>analytics/notebooks/04_Zeitreihe_Nachfrageprognose.ipynb · Abschnitt 2.3</a:t>
            </a:r>
          </a:p>
        </p:txBody>
      </p:sp>
      <p:sp>
        <p:nvSpPr>
          <p:cNvPr id="5" name="Rectangle 4"/>
          <p:cNvSpPr/>
          <p:nvPr/>
        </p:nvSpPr>
        <p:spPr>
          <a:xfrm>
            <a:off x="1051560" y="1443510"/>
            <a:ext cx="11677650" cy="381857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4-stoergroesse.png"/>
          <p:cNvPicPr>
            <a:picLocks noChangeAspect="1"/>
          </p:cNvPicPr>
          <p:nvPr/>
        </p:nvPicPr>
        <p:blipFill>
          <a:blip r:embed="rId2"/>
          <a:stretch>
            <a:fillRect/>
          </a:stretch>
        </p:blipFill>
        <p:spPr>
          <a:xfrm>
            <a:off x="1153160" y="1545110"/>
            <a:ext cx="11474450" cy="3615378"/>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Roh: Faktor 0,91. Bei gleicher Temperatur: 0,75. Derselbe Datensatz, zwei völlig verschiedene Aussagen.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Schnitt folgt der Zeit, nicht dem Zufall</a:t>
            </a:r>
          </a:p>
        </p:txBody>
      </p:sp>
      <p:sp>
        <p:nvSpPr>
          <p:cNvPr id="3" name="Text Placeholder 2"/>
          <p:cNvSpPr>
            <a:spLocks noGrp="1"/>
          </p:cNvSpPr>
          <p:nvPr>
            <p:ph type="body" idx="12" sz="quarter"/>
          </p:nvPr>
        </p:nvSpPr>
        <p:spPr/>
        <p:txBody>
          <a:bodyPr/>
          <a:lstStyle/>
          <a:p>
            <a:r>
              <a:t>Fall 4 · Phase 3</a:t>
            </a:r>
          </a:p>
        </p:txBody>
      </p:sp>
      <p:sp>
        <p:nvSpPr>
          <p:cNvPr id="4" name="Text Placeholder 3"/>
          <p:cNvSpPr>
            <a:spLocks noGrp="1"/>
          </p:cNvSpPr>
          <p:nvPr>
            <p:ph type="body" idx="13" sz="quarter"/>
          </p:nvPr>
        </p:nvSpPr>
        <p:spPr/>
        <p:txBody>
          <a:bodyPr/>
          <a:lstStyle/>
          <a:p>
            <a:r>
              <a:t>analytics/notebooks/04_Zeitreihe_Nachfrageprognose.ipynb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 ist die Folie, wegen der dieser Fall im Deck steht. Ein zufälliger Schnitt wäre hier ein schwerer, aber unsichtbarer Fehler.</a:t>
            </a:r>
          </a:p>
        </p:txBody>
      </p:sp>
      <p:sp>
        <p:nvSpPr>
          <p:cNvPr id="6" name="Rectangle 5"/>
          <p:cNvSpPr/>
          <p:nvPr/>
        </p:nvSpPr>
        <p:spPr>
          <a:xfrm>
            <a:off x="1153160"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Falsch</a:t>
            </a:r>
          </a:p>
        </p:txBody>
      </p:sp>
      <p:sp>
        <p:nvSpPr>
          <p:cNvPr id="9" name="TextBox 8"/>
          <p:cNvSpPr txBox="1"/>
          <p:nvPr/>
        </p:nvSpPr>
        <p:spPr>
          <a:xfrm>
            <a:off x="1330960" y="23876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Zufällig, 80/20</a:t>
            </a:r>
          </a:p>
          <a:p>
            <a:pPr algn="l">
              <a:lnSpc>
                <a:spcPct val="95000"/>
              </a:lnSpc>
              <a:spcBef>
                <a:spcPts val="300"/>
              </a:spcBef>
            </a:pPr>
            <a:r>
              <a:rPr sz="1300" b="0">
                <a:solidFill>
                  <a:srgbClr val="404040"/>
                </a:solidFill>
              </a:rPr>
              <a:t>Das Modell lernt aus dem</a:t>
            </a:r>
          </a:p>
          <a:p>
            <a:pPr algn="l">
              <a:lnSpc>
                <a:spcPct val="95000"/>
              </a:lnSpc>
              <a:spcBef>
                <a:spcPts val="300"/>
              </a:spcBef>
            </a:pPr>
            <a:r>
              <a:rPr sz="1300" b="0">
                <a:solidFill>
                  <a:srgbClr val="404040"/>
                </a:solidFill>
              </a:rPr>
              <a:t>August 2026 und sagt den</a:t>
            </a:r>
          </a:p>
          <a:p>
            <a:pPr algn="l">
              <a:lnSpc>
                <a:spcPct val="95000"/>
              </a:lnSpc>
              <a:spcBef>
                <a:spcPts val="300"/>
              </a:spcBef>
            </a:pPr>
            <a:r>
              <a:rPr sz="1300" b="0">
                <a:solidFill>
                  <a:srgbClr val="404040"/>
                </a:solidFill>
              </a:rPr>
              <a:t>Juli 2026 vorher.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Es kennt die Zukunft.</a:t>
            </a:r>
          </a:p>
          <a:p>
            <a:pPr algn="l">
              <a:lnSpc>
                <a:spcPct val="95000"/>
              </a:lnSpc>
              <a:spcBef>
                <a:spcPts val="300"/>
              </a:spcBef>
            </a:pPr>
            <a:r>
              <a:rPr sz="1300" b="0">
                <a:solidFill>
                  <a:srgbClr val="404040"/>
                </a:solidFill>
              </a:rPr>
              <a:t>Das Ergebnis wird glänzend</a:t>
            </a:r>
          </a:p>
          <a:p>
            <a:pPr algn="l">
              <a:lnSpc>
                <a:spcPct val="95000"/>
              </a:lnSpc>
              <a:spcBef>
                <a:spcPts val="300"/>
              </a:spcBef>
            </a:pPr>
            <a:r>
              <a:rPr sz="1300" b="0">
                <a:solidFill>
                  <a:srgbClr val="404040"/>
                </a:solidFill>
              </a:rPr>
              <a:t>und ist wertlos.</a:t>
            </a:r>
          </a:p>
        </p:txBody>
      </p:sp>
      <p:sp>
        <p:nvSpPr>
          <p:cNvPr id="10" name="Rectangle 9"/>
          <p:cNvSpPr/>
          <p:nvPr/>
        </p:nvSpPr>
        <p:spPr>
          <a:xfrm>
            <a:off x="7096759"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3876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Entlang der Zeit</a:t>
            </a:r>
          </a:p>
          <a:p>
            <a:pPr algn="l">
              <a:lnSpc>
                <a:spcPct val="95000"/>
              </a:lnSpc>
              <a:spcBef>
                <a:spcPts val="300"/>
              </a:spcBef>
            </a:pPr>
            <a:r>
              <a:rPr sz="1300" b="0">
                <a:solidFill>
                  <a:srgbClr val="404040"/>
                </a:solidFill>
              </a:rPr>
              <a:t>Training bis Frühjahr 2026,</a:t>
            </a:r>
          </a:p>
          <a:p>
            <a:pPr algn="l">
              <a:lnSpc>
                <a:spcPct val="95000"/>
              </a:lnSpc>
              <a:spcBef>
                <a:spcPts val="300"/>
              </a:spcBef>
            </a:pPr>
            <a:r>
              <a:rPr sz="1300" b="0">
                <a:solidFill>
                  <a:srgbClr val="404040"/>
                </a:solidFill>
              </a:rPr>
              <a:t>Test ist der Sommer 2026.</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Das entspricht genau der</a:t>
            </a:r>
          </a:p>
          <a:p>
            <a:pPr algn="l">
              <a:lnSpc>
                <a:spcPct val="95000"/>
              </a:lnSpc>
              <a:spcBef>
                <a:spcPts val="300"/>
              </a:spcBef>
            </a:pPr>
            <a:r>
              <a:rPr sz="1300" b="0">
                <a:solidFill>
                  <a:srgbClr val="404040"/>
                </a:solidFill>
              </a:rPr>
              <a:t>Lage im Betrieb: Man kennt</a:t>
            </a:r>
          </a:p>
          <a:p>
            <a:pPr algn="l">
              <a:lnSpc>
                <a:spcPct val="95000"/>
              </a:lnSpc>
              <a:spcBef>
                <a:spcPts val="300"/>
              </a:spcBef>
            </a:pPr>
            <a:r>
              <a:rPr sz="1300" b="0">
                <a:solidFill>
                  <a:srgbClr val="404040"/>
                </a:solidFill>
              </a:rPr>
              <a:t>die Vergangenheit und sagt</a:t>
            </a:r>
          </a:p>
          <a:p>
            <a:pPr algn="l">
              <a:lnSpc>
                <a:spcPct val="95000"/>
              </a:lnSpc>
              <a:spcBef>
                <a:spcPts val="300"/>
              </a:spcBef>
            </a:pPr>
            <a:r>
              <a:rPr sz="1300" b="0">
                <a:solidFill>
                  <a:srgbClr val="404040"/>
                </a:solidFill>
              </a:rPr>
              <a:t>den nächsten Tag vorher.</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Stufen, und die zweite ist ein Mensch</a:t>
            </a:r>
          </a:p>
        </p:txBody>
      </p:sp>
      <p:sp>
        <p:nvSpPr>
          <p:cNvPr id="3" name="Text Placeholder 2"/>
          <p:cNvSpPr>
            <a:spLocks noGrp="1"/>
          </p:cNvSpPr>
          <p:nvPr>
            <p:ph type="body" idx="12" sz="quarter"/>
          </p:nvPr>
        </p:nvSpPr>
        <p:spPr/>
        <p:txBody>
          <a:bodyPr/>
          <a:lstStyle/>
          <a:p>
            <a:r>
              <a:t>Fall 4 · Phase 4</a:t>
            </a:r>
          </a:p>
        </p:txBody>
      </p:sp>
      <p:sp>
        <p:nvSpPr>
          <p:cNvPr id="4" name="Text Placeholder 3"/>
          <p:cNvSpPr>
            <a:spLocks noGrp="1"/>
          </p:cNvSpPr>
          <p:nvPr>
            <p:ph type="body" idx="13" sz="quarter"/>
          </p:nvPr>
        </p:nvSpPr>
        <p:spPr/>
        <p:txBody>
          <a:bodyPr/>
          <a:lstStyle/>
          <a:p>
            <a:r>
              <a:t>analytics/notebooks/04_Zeitreihe_Nachfrageprognose.ipynb · Abschnitt 4</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Wieder gilt: erst der Maßstab, dann die Verfahren. Der wichtigste Maßstab ist hier die Regel, nach der die Disposition heute arbeitet.</a:t>
            </a:r>
          </a:p>
        </p:txBody>
      </p:sp>
      <p:sp>
        <p:nvSpPr>
          <p:cNvPr id="6" name="Rounded Rectangle 5"/>
          <p:cNvSpPr/>
          <p:nvPr/>
        </p:nvSpPr>
        <p:spPr>
          <a:xfrm>
            <a:off x="1153160" y="2133600"/>
            <a:ext cx="1651000" cy="1219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Null-
modell</a:t>
            </a:r>
          </a:p>
        </p:txBody>
      </p:sp>
      <p:sp>
        <p:nvSpPr>
          <p:cNvPr id="7" name="Pentagon 6"/>
          <p:cNvSpPr/>
          <p:nvPr/>
        </p:nvSpPr>
        <p:spPr>
          <a:xfrm>
            <a:off x="2880360"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Faustregel der
Disposition</a:t>
            </a:r>
          </a:p>
        </p:txBody>
      </p:sp>
      <p:sp>
        <p:nvSpPr>
          <p:cNvPr id="8" name="Pentagon 7"/>
          <p:cNvSpPr/>
          <p:nvPr/>
        </p:nvSpPr>
        <p:spPr>
          <a:xfrm>
            <a:off x="5579110"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Lineare
Regression</a:t>
            </a:r>
          </a:p>
        </p:txBody>
      </p:sp>
      <p:sp>
        <p:nvSpPr>
          <p:cNvPr id="9" name="Pentagon 8"/>
          <p:cNvSpPr/>
          <p:nvPr/>
        </p:nvSpPr>
        <p:spPr>
          <a:xfrm>
            <a:off x="8277859"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Gradient
Boosting</a:t>
            </a:r>
          </a:p>
        </p:txBody>
      </p:sp>
      <p:sp>
        <p:nvSpPr>
          <p:cNvPr id="10" name="Rounded Rectangle 9"/>
          <p:cNvSpPr/>
          <p:nvPr/>
        </p:nvSpPr>
        <p:spPr>
          <a:xfrm>
            <a:off x="10976610" y="2133600"/>
            <a:ext cx="1651000" cy="12192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Bestes
Modell</a:t>
            </a:r>
          </a:p>
        </p:txBody>
      </p:sp>
      <p:sp>
        <p:nvSpPr>
          <p:cNvPr id="11" name="Rectangle 1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3" name="Rectangle 1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5" name="Rectangle 1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7" name="Rectangle 1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19" name="Rectangle 1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1" name="Rectangle 2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genaueste Prognose ist nicht die günstigste</a:t>
            </a:r>
          </a:p>
        </p:txBody>
      </p:sp>
      <p:sp>
        <p:nvSpPr>
          <p:cNvPr id="3" name="Text Placeholder 2"/>
          <p:cNvSpPr>
            <a:spLocks noGrp="1"/>
          </p:cNvSpPr>
          <p:nvPr>
            <p:ph type="body" idx="12" sz="quarter"/>
          </p:nvPr>
        </p:nvSpPr>
        <p:spPr/>
        <p:txBody>
          <a:bodyPr/>
          <a:lstStyle/>
          <a:p>
            <a:r>
              <a:t>Fall 4 · Phase 5</a:t>
            </a:r>
          </a:p>
        </p:txBody>
      </p:sp>
      <p:sp>
        <p:nvSpPr>
          <p:cNvPr id="4" name="Text Placeholder 3"/>
          <p:cNvSpPr>
            <a:spLocks noGrp="1"/>
          </p:cNvSpPr>
          <p:nvPr>
            <p:ph type="body" idx="13" sz="quarter"/>
          </p:nvPr>
        </p:nvSpPr>
        <p:spPr/>
        <p:txBody>
          <a:bodyPr/>
          <a:lstStyle/>
          <a:p>
            <a:r>
              <a:t>analytics/notebooks/04_Zeitreihe_Nachfrageprognose.ipynb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Weil ein fehlendes Rad 4,00 € kostet und ein überzähliges 0,80 €, verschiebt sich das Optimum — weg vom kleinsten Fehler.</a:t>
            </a:r>
          </a:p>
        </p:txBody>
      </p:sp>
      <p:sp>
        <p:nvSpPr>
          <p:cNvPr id="6" name="Rectangle 5"/>
          <p:cNvSpPr/>
          <p:nvPr/>
        </p:nvSpPr>
        <p:spPr>
          <a:xfrm>
            <a:off x="115316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Ohne Aufschlag</a:t>
            </a:r>
          </a:p>
          <a:p>
            <a:pPr algn="l">
              <a:lnSpc>
                <a:spcPct val="95000"/>
              </a:lnSpc>
              <a:spcBef>
                <a:spcPts val="500"/>
              </a:spcBef>
            </a:pPr>
            <a:r>
              <a:rPr sz="1300" b="0">
                <a:solidFill>
                  <a:srgbClr val="404040"/>
                </a:solidFill>
              </a:rPr>
              <a:t>Die Prognose trifft im Mittel</a:t>
            </a:r>
          </a:p>
          <a:p>
            <a:pPr algn="l">
              <a:lnSpc>
                <a:spcPct val="95000"/>
              </a:lnSpc>
              <a:spcBef>
                <a:spcPts val="500"/>
              </a:spcBef>
            </a:pPr>
            <a:r>
              <a:rPr sz="1300" b="0">
                <a:solidFill>
                  <a:srgbClr val="404040"/>
                </a:solidFill>
              </a:rPr>
              <a:t>am besten.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Sie liegt genauso oft zu hoch</a:t>
            </a:r>
          </a:p>
          <a:p>
            <a:pPr algn="l">
              <a:lnSpc>
                <a:spcPct val="95000"/>
              </a:lnSpc>
              <a:spcBef>
                <a:spcPts val="500"/>
              </a:spcBef>
            </a:pPr>
            <a:r>
              <a:rPr sz="1300" b="0">
                <a:solidFill>
                  <a:srgbClr val="404040"/>
                </a:solidFill>
              </a:rPr>
              <a:t>wie zu tief — und jede zu</a:t>
            </a:r>
          </a:p>
          <a:p>
            <a:pPr algn="l">
              <a:lnSpc>
                <a:spcPct val="95000"/>
              </a:lnSpc>
              <a:spcBef>
                <a:spcPts val="500"/>
              </a:spcBef>
            </a:pPr>
            <a:r>
              <a:rPr sz="1300" b="0">
                <a:solidFill>
                  <a:srgbClr val="404040"/>
                </a:solidFill>
              </a:rPr>
              <a:t>tiefe Schätzung kostet das</a:t>
            </a:r>
          </a:p>
          <a:p>
            <a:pPr algn="l">
              <a:lnSpc>
                <a:spcPct val="95000"/>
              </a:lnSpc>
              <a:spcBef>
                <a:spcPts val="500"/>
              </a:spcBef>
            </a:pPr>
            <a:r>
              <a:rPr sz="1300" b="0">
                <a:solidFill>
                  <a:srgbClr val="404040"/>
                </a:solidFill>
              </a:rPr>
              <a:t>Fünffache einer zu hohen.</a:t>
            </a:r>
          </a:p>
        </p:txBody>
      </p:sp>
      <p:sp>
        <p:nvSpPr>
          <p:cNvPr id="9" name="Rectangle 8"/>
          <p:cNvSpPr/>
          <p:nvPr/>
        </p:nvSpPr>
        <p:spPr>
          <a:xfrm>
            <a:off x="511302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Mit Aufschlag</a:t>
            </a:r>
          </a:p>
          <a:p>
            <a:pPr algn="l">
              <a:lnSpc>
                <a:spcPct val="95000"/>
              </a:lnSpc>
              <a:spcBef>
                <a:spcPts val="500"/>
              </a:spcBef>
            </a:pPr>
            <a:r>
              <a:rPr sz="1300" b="0">
                <a:solidFill>
                  <a:srgbClr val="404040"/>
                </a:solidFill>
              </a:rPr>
              <a:t>Rund 12 % werden auf die</a:t>
            </a:r>
          </a:p>
          <a:p>
            <a:pPr algn="l">
              <a:lnSpc>
                <a:spcPct val="95000"/>
              </a:lnSpc>
              <a:spcBef>
                <a:spcPts val="500"/>
              </a:spcBef>
            </a:pPr>
            <a:r>
              <a:rPr sz="1300" b="0">
                <a:solidFill>
                  <a:srgbClr val="404040"/>
                </a:solidFill>
              </a:rPr>
              <a:t>Prognose aufgeschlagen —</a:t>
            </a:r>
          </a:p>
          <a:p>
            <a:pPr algn="l">
              <a:lnSpc>
                <a:spcPct val="95000"/>
              </a:lnSpc>
              <a:spcBef>
                <a:spcPts val="500"/>
              </a:spcBef>
            </a:pPr>
            <a:r>
              <a:rPr sz="1300" b="0">
                <a:solidFill>
                  <a:srgbClr val="404040"/>
                </a:solidFill>
              </a:rPr>
              <a:t>gewählt auf der Validierung,</a:t>
            </a:r>
          </a:p>
          <a:p>
            <a:pPr algn="l">
              <a:lnSpc>
                <a:spcPct val="95000"/>
              </a:lnSpc>
              <a:spcBef>
                <a:spcPts val="500"/>
              </a:spcBef>
            </a:pPr>
            <a:r>
              <a:rPr sz="1300" b="0">
                <a:solidFill>
                  <a:srgbClr val="404040"/>
                </a:solidFill>
              </a:rPr>
              <a:t>nicht auf dem Test.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mittlere Fehler steigt.</a:t>
            </a:r>
          </a:p>
          <a:p>
            <a:pPr algn="l">
              <a:lnSpc>
                <a:spcPct val="95000"/>
              </a:lnSpc>
              <a:spcBef>
                <a:spcPts val="500"/>
              </a:spcBef>
            </a:pPr>
            <a:r>
              <a:rPr sz="1300" b="0">
                <a:solidFill>
                  <a:srgbClr val="404040"/>
                </a:solidFill>
              </a:rPr>
              <a:t>Die Kosten sinken. Beides</a:t>
            </a:r>
          </a:p>
          <a:p>
            <a:pPr algn="l">
              <a:lnSpc>
                <a:spcPct val="95000"/>
              </a:lnSpc>
              <a:spcBef>
                <a:spcPts val="500"/>
              </a:spcBef>
            </a:pPr>
            <a:r>
              <a:rPr sz="1300" b="0">
                <a:solidFill>
                  <a:srgbClr val="404040"/>
                </a:solidFill>
              </a:rPr>
              <a:t>gleichzeitig.</a:t>
            </a:r>
          </a:p>
        </p:txBody>
      </p:sp>
      <p:sp>
        <p:nvSpPr>
          <p:cNvPr id="12" name="Rectangle 11"/>
          <p:cNvSpPr/>
          <p:nvPr/>
        </p:nvSpPr>
        <p:spPr>
          <a:xfrm>
            <a:off x="908177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Was man lernt</a:t>
            </a:r>
          </a:p>
          <a:p>
            <a:pPr algn="l">
              <a:lnSpc>
                <a:spcPct val="95000"/>
              </a:lnSpc>
              <a:spcBef>
                <a:spcPts val="500"/>
              </a:spcBef>
            </a:pPr>
            <a:r>
              <a:rPr sz="1300" b="0">
                <a:solidFill>
                  <a:srgbClr val="404040"/>
                </a:solidFill>
              </a:rPr>
              <a:t>Die Kennzahl, die man</a:t>
            </a:r>
          </a:p>
          <a:p>
            <a:pPr algn="l">
              <a:lnSpc>
                <a:spcPct val="95000"/>
              </a:lnSpc>
              <a:spcBef>
                <a:spcPts val="500"/>
              </a:spcBef>
            </a:pPr>
            <a:r>
              <a:rPr sz="1300" b="0">
                <a:solidFill>
                  <a:srgbClr val="404040"/>
                </a:solidFill>
              </a:rPr>
              <a:t>optimiert, muss die Kosten</a:t>
            </a:r>
          </a:p>
          <a:p>
            <a:pPr algn="l">
              <a:lnSpc>
                <a:spcPct val="95000"/>
              </a:lnSpc>
              <a:spcBef>
                <a:spcPts val="500"/>
              </a:spcBef>
            </a:pPr>
            <a:r>
              <a:rPr sz="1300" b="0">
                <a:solidFill>
                  <a:srgbClr val="404040"/>
                </a:solidFill>
              </a:rPr>
              <a:t>abbilden — nicht die</a:t>
            </a:r>
          </a:p>
          <a:p>
            <a:pPr algn="l">
              <a:lnSpc>
                <a:spcPct val="95000"/>
              </a:lnSpc>
              <a:spcBef>
                <a:spcPts val="500"/>
              </a:spcBef>
            </a:pPr>
            <a:r>
              <a:rPr sz="1300" b="0">
                <a:solidFill>
                  <a:srgbClr val="404040"/>
                </a:solidFill>
              </a:rPr>
              <a:t>Genauigkeit.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Sonst optimiert man das</a:t>
            </a:r>
          </a:p>
          <a:p>
            <a:pPr algn="l">
              <a:lnSpc>
                <a:spcPct val="95000"/>
              </a:lnSpc>
              <a:spcBef>
                <a:spcPts val="500"/>
              </a:spcBef>
            </a:pPr>
            <a:r>
              <a:rPr sz="1300" b="0">
                <a:solidFill>
                  <a:srgbClr val="404040"/>
                </a:solidFill>
              </a:rPr>
              <a:t>Falsche, sehr sorgfältig.</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Kostenrechnung, die den Aufschlag begründet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analytics/notebooks/04_Zeitreihe_Nachfrageprognose.ipynb · Abschnitt 5.1</a:t>
            </a:r>
          </a:p>
        </p:txBody>
      </p:sp>
      <p:sp>
        <p:nvSpPr>
          <p:cNvPr id="5" name="Rectangle 4"/>
          <p:cNvSpPr/>
          <p:nvPr/>
        </p:nvSpPr>
        <p:spPr>
          <a:xfrm>
            <a:off x="3409067" y="1168400"/>
            <a:ext cx="6962635"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4-aufschlag.png"/>
          <p:cNvPicPr>
            <a:picLocks noChangeAspect="1"/>
          </p:cNvPicPr>
          <p:nvPr/>
        </p:nvPicPr>
        <p:blipFill>
          <a:blip r:embed="rId2"/>
          <a:stretch>
            <a:fillRect/>
          </a:stretch>
        </p:blipFill>
        <p:spPr>
          <a:xfrm>
            <a:off x="3510667" y="1270000"/>
            <a:ext cx="6759435"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Notebook rechnet beides aus: die Kosten ohne und mit Sicherheitsaufschlag. Erst dieser Vergleich rechtfertigt ein absichtlich ungenaueres Modell.</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ehrliche Eingeständnis gehört in den Bericht</a:t>
            </a:r>
          </a:p>
        </p:txBody>
      </p:sp>
      <p:sp>
        <p:nvSpPr>
          <p:cNvPr id="3" name="Text Placeholder 2"/>
          <p:cNvSpPr>
            <a:spLocks noGrp="1"/>
          </p:cNvSpPr>
          <p:nvPr>
            <p:ph type="body" idx="12" sz="quarter"/>
          </p:nvPr>
        </p:nvSpPr>
        <p:spPr/>
        <p:txBody>
          <a:bodyPr/>
          <a:lstStyle/>
          <a:p>
            <a:r>
              <a:t>Fall 4 · Phase 6</a:t>
            </a:r>
          </a:p>
        </p:txBody>
      </p:sp>
      <p:sp>
        <p:nvSpPr>
          <p:cNvPr id="4" name="Text Placeholder 3"/>
          <p:cNvSpPr>
            <a:spLocks noGrp="1"/>
          </p:cNvSpPr>
          <p:nvPr>
            <p:ph type="body" idx="13" sz="quarter"/>
          </p:nvPr>
        </p:nvSpPr>
        <p:spPr/>
        <p:txBody>
          <a:bodyPr/>
          <a:lstStyle/>
          <a:p>
            <a:r>
              <a:t>analytics/notebooks/04_Zeitreihe_Nachfrageprognose.ipynb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Das Modell rechnete mit dem TATSÄCHLICHEN Wetter. Im Betrieb steht nur eine Wettervorhersage zur Verfügung.</a:t>
            </a:r>
          </a:p>
        </p:txBody>
      </p:sp>
      <p:sp>
        <p:nvSpPr>
          <p:cNvPr id="6" name="Rectangle 5"/>
          <p:cNvSpPr/>
          <p:nvPr/>
        </p:nvSpPr>
        <p:spPr>
          <a:xfrm>
            <a:off x="1153160" y="1651000"/>
            <a:ext cx="2794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Rechnung</a:t>
            </a:r>
          </a:p>
        </p:txBody>
      </p:sp>
      <p:sp>
        <p:nvSpPr>
          <p:cNvPr id="7" name="Rectangle 6"/>
          <p:cNvSpPr/>
          <p:nvPr/>
        </p:nvSpPr>
        <p:spPr>
          <a:xfrm>
            <a:off x="3947160" y="1651000"/>
            <a:ext cx="4191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Grundlage</a:t>
            </a:r>
          </a:p>
        </p:txBody>
      </p:sp>
      <p:sp>
        <p:nvSpPr>
          <p:cNvPr id="8" name="Rectangle 7"/>
          <p:cNvSpPr/>
          <p:nvPr/>
        </p:nvSpPr>
        <p:spPr>
          <a:xfrm>
            <a:off x="8138159" y="1651000"/>
            <a:ext cx="4489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Ergebnis</a:t>
            </a:r>
          </a:p>
        </p:txBody>
      </p:sp>
      <p:sp>
        <p:nvSpPr>
          <p:cNvPr id="9" name="Rectangle 8"/>
          <p:cNvSpPr/>
          <p:nvPr/>
        </p:nvSpPr>
        <p:spPr>
          <a:xfrm>
            <a:off x="1153160" y="2260600"/>
            <a:ext cx="2794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In der Evaluation</a:t>
            </a:r>
          </a:p>
        </p:txBody>
      </p:sp>
      <p:sp>
        <p:nvSpPr>
          <p:cNvPr id="10" name="Rectangle 9"/>
          <p:cNvSpPr/>
          <p:nvPr/>
        </p:nvSpPr>
        <p:spPr>
          <a:xfrm>
            <a:off x="3947160" y="2260600"/>
            <a:ext cx="4191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tatsächliches Wetter des Tages</a:t>
            </a:r>
          </a:p>
        </p:txBody>
      </p:sp>
      <p:sp>
        <p:nvSpPr>
          <p:cNvPr id="11" name="Rectangle 10"/>
          <p:cNvSpPr/>
          <p:nvPr/>
        </p:nvSpPr>
        <p:spPr>
          <a:xfrm>
            <a:off x="8138159" y="2260600"/>
            <a:ext cx="4489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schöne Wert</a:t>
            </a:r>
          </a:p>
        </p:txBody>
      </p:sp>
      <p:sp>
        <p:nvSpPr>
          <p:cNvPr id="12" name="Rectangle 11"/>
          <p:cNvSpPr/>
          <p:nvPr/>
        </p:nvSpPr>
        <p:spPr>
          <a:xfrm>
            <a:off x="1153160" y="2870200"/>
            <a:ext cx="2794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Im Betrieb</a:t>
            </a:r>
          </a:p>
        </p:txBody>
      </p:sp>
      <p:sp>
        <p:nvSpPr>
          <p:cNvPr id="13" name="Rectangle 12"/>
          <p:cNvSpPr/>
          <p:nvPr/>
        </p:nvSpPr>
        <p:spPr>
          <a:xfrm>
            <a:off x="3947160" y="2870200"/>
            <a:ext cx="4191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Wettervorhersage von gestern 18 Uhr</a:t>
            </a:r>
          </a:p>
        </p:txBody>
      </p:sp>
      <p:sp>
        <p:nvSpPr>
          <p:cNvPr id="14" name="Rectangle 13"/>
          <p:cNvSpPr/>
          <p:nvPr/>
        </p:nvSpPr>
        <p:spPr>
          <a:xfrm>
            <a:off x="8138159" y="2870200"/>
            <a:ext cx="4489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spürbar höherer Fehler — und das ist die Zahl, die zählt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Fehlerwerte — und nur einer zählt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analytics/notebooks/04_Zeitreihe_Nachfrageprognose.ipynb · Abschnitt 5.2</a:t>
            </a:r>
          </a:p>
        </p:txBody>
      </p:sp>
      <p:sp>
        <p:nvSpPr>
          <p:cNvPr id="5" name="Rectangle 4"/>
          <p:cNvSpPr/>
          <p:nvPr/>
        </p:nvSpPr>
        <p:spPr>
          <a:xfrm>
            <a:off x="1885463" y="1168400"/>
            <a:ext cx="10009842"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4-ehrlich.png"/>
          <p:cNvPicPr>
            <a:picLocks noChangeAspect="1"/>
          </p:cNvPicPr>
          <p:nvPr/>
        </p:nvPicPr>
        <p:blipFill>
          <a:blip r:embed="rId2"/>
          <a:stretch>
            <a:fillRect/>
          </a:stretch>
        </p:blipFill>
        <p:spPr>
          <a:xfrm>
            <a:off x="1987063" y="1270000"/>
            <a:ext cx="9806642"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MAE 12,25 mit dem tatsächlichen Wetter, 16,90 mit einer simulierten Vorhersage. Geurteilt wird auf der zweiten Zahl — davor, nicht danach.</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4 · Abschluss</a:t>
            </a:r>
          </a:p>
        </p:txBody>
      </p:sp>
      <p:sp>
        <p:nvSpPr>
          <p:cNvPr id="4" name="Text Placeholder 3"/>
          <p:cNvSpPr>
            <a:spLocks noGrp="1"/>
          </p:cNvSpPr>
          <p:nvPr>
            <p:ph type="body" idx="13" sz="quarter"/>
          </p:nvPr>
        </p:nvSpPr>
        <p:spPr/>
        <p:txBody>
          <a:bodyPr/>
          <a:lstStyle/>
          <a:p>
            <a:r>
              <a:t>analytics/notebooks/04_Zeitreihe_Nachfrageprognose.ipynb</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Entscheidungen, zwei ungleich teure Fehlerrichtungen (4,00 € gegen 0,80 €), ein Betriebskriterium: 18 Uhr</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Jahresgang und Wochenrhythmus übereinander — und eine Störgröße: Ferien liegen im Sommer</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Schnitt entlang der Zeit, Testmenge ist der Sommer 2026</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 echte Faustregel, linear, Gradient Boosting</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Klar besser als die Faustregel — und ein Sicherheitsaufschlag senkt die Kosten</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Mit simulierter Vorhersage steigt der Fehler. Die ehrliche Zahl gehört in den Bericht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Fall 5 — Assoziation: wenn die Hürde alles wegnimmt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Wege gehören zusammen — und wieviel von dem, was auffällt, ist überhaupt brauchbar?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5</a:t>
            </a:r>
          </a:p>
        </p:txBody>
      </p:sp>
      <p:sp>
        <p:nvSpPr>
          <p:cNvPr id="4" name="Text Placeholder 3"/>
          <p:cNvSpPr>
            <a:spLocks noGrp="1"/>
          </p:cNvSpPr>
          <p:nvPr>
            <p:ph type="body" idx="13" sz="quarter"/>
          </p:nvPr>
        </p:nvSpPr>
        <p:spPr/>
        <p:txBody>
          <a:bodyPr/>
          <a:lstStyle/>
          <a:p>
            <a:r>
              <a:t>analytics/notebooks/05_Assoziation_Wege_im_Netz.ipynb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wo nach wo wird gefahren — und wo muss der Transporter Räder umverteilen?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Neue</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Weder Zielgröße noch Gruppen, sondern Regeln: Was hängt mit was zusammen?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Drei Kriterien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 1 % · Lift ≥ 1,3 · die Regel muss eine Transporterfahrt begründen</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Datensicht</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Fahrt ist ein Warenkorb: Startort und Zielort zusammen</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Konfidenz und Lift von Hand — drei Divisionen</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32 Regeln nimmt keine beide Hürden — die stärkste verfehlt sie um 0,01 Prozentpunkte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 Kennzahlen — am Beispiel aus dem Handel</a:t>
            </a:r>
          </a:p>
        </p:txBody>
      </p:sp>
      <p:sp>
        <p:nvSpPr>
          <p:cNvPr id="3" name="Text Placeholder 2"/>
          <p:cNvSpPr>
            <a:spLocks noGrp="1"/>
          </p:cNvSpPr>
          <p:nvPr>
            <p:ph type="body" idx="12" sz="quarter"/>
          </p:nvPr>
        </p:nvSpPr>
        <p:spPr/>
        <p:txBody>
          <a:bodyPr/>
          <a:lstStyle/>
          <a:p>
            <a:r>
              <a:t>Fall 5 · Phase 1</a:t>
            </a:r>
          </a:p>
        </p:txBody>
      </p:sp>
      <p:sp>
        <p:nvSpPr>
          <p:cNvPr id="4" name="Text Placeholder 3"/>
          <p:cNvSpPr>
            <a:spLocks noGrp="1"/>
          </p:cNvSpPr>
          <p:nvPr>
            <p:ph type="body" idx="13" sz="quarter"/>
          </p:nvPr>
        </p:nvSpPr>
        <p:spPr/>
        <p:txBody>
          <a:bodyPr/>
          <a:lstStyle/>
          <a:p>
            <a:r>
              <a:t>analytics/notebooks/05_Assoziation_Wege_im_Netz.ipynb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Support, Konfidenz und Lift beantworten drei verschiedene Fragen. Nur die dritte sagt, ob ein Zusammenhang überhaupt einer ist.</a:t>
            </a:r>
          </a:p>
        </p:txBody>
      </p:sp>
      <p:sp>
        <p:nvSpPr>
          <p:cNvPr id="6" name="Rectangle 5"/>
          <p:cNvSpPr/>
          <p:nvPr/>
        </p:nvSpPr>
        <p:spPr>
          <a:xfrm>
            <a:off x="1153160" y="1879600"/>
            <a:ext cx="16510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Kennzahl</a:t>
            </a:r>
          </a:p>
        </p:txBody>
      </p:sp>
      <p:sp>
        <p:nvSpPr>
          <p:cNvPr id="7" name="Rectangle 6"/>
          <p:cNvSpPr/>
          <p:nvPr/>
        </p:nvSpPr>
        <p:spPr>
          <a:xfrm>
            <a:off x="2804160" y="1879600"/>
            <a:ext cx="38100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a:t>
            </a:r>
          </a:p>
        </p:txBody>
      </p:sp>
      <p:sp>
        <p:nvSpPr>
          <p:cNvPr id="8" name="Rectangle 7"/>
          <p:cNvSpPr/>
          <p:nvPr/>
        </p:nvSpPr>
        <p:spPr>
          <a:xfrm>
            <a:off x="6614159" y="1879600"/>
            <a:ext cx="601345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Falle</a:t>
            </a:r>
          </a:p>
        </p:txBody>
      </p:sp>
      <p:sp>
        <p:nvSpPr>
          <p:cNvPr id="9" name="Rectangle 8"/>
          <p:cNvSpPr/>
          <p:nvPr/>
        </p:nvSpPr>
        <p:spPr>
          <a:xfrm>
            <a:off x="1153160" y="2590800"/>
            <a:ext cx="1651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Support</a:t>
            </a:r>
          </a:p>
        </p:txBody>
      </p:sp>
      <p:sp>
        <p:nvSpPr>
          <p:cNvPr id="10" name="Rectangle 9"/>
          <p:cNvSpPr/>
          <p:nvPr/>
        </p:nvSpPr>
        <p:spPr>
          <a:xfrm>
            <a:off x="2804160" y="2590800"/>
            <a:ext cx="3810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oft kommt die Kombination überhaupt vor?</a:t>
            </a:r>
          </a:p>
        </p:txBody>
      </p:sp>
      <p:sp>
        <p:nvSpPr>
          <p:cNvPr id="11" name="Rectangle 10"/>
          <p:cNvSpPr/>
          <p:nvPr/>
        </p:nvSpPr>
        <p:spPr>
          <a:xfrm>
            <a:off x="6614159" y="2590800"/>
            <a:ext cx="601345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Hoher Support heißt nur: es ist häufig. Nicht: es hängt zusammen</a:t>
            </a:r>
          </a:p>
        </p:txBody>
      </p:sp>
      <p:sp>
        <p:nvSpPr>
          <p:cNvPr id="12" name="Rectangle 11"/>
          <p:cNvSpPr/>
          <p:nvPr/>
        </p:nvSpPr>
        <p:spPr>
          <a:xfrm>
            <a:off x="1153160" y="3302000"/>
            <a:ext cx="165100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Konfidenz</a:t>
            </a:r>
          </a:p>
        </p:txBody>
      </p:sp>
      <p:sp>
        <p:nvSpPr>
          <p:cNvPr id="13" name="Rectangle 12"/>
          <p:cNvSpPr/>
          <p:nvPr/>
        </p:nvSpPr>
        <p:spPr>
          <a:xfrm>
            <a:off x="2804160" y="3302000"/>
            <a:ext cx="381000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Wenn A, wie oft dann auch B?</a:t>
            </a:r>
          </a:p>
        </p:txBody>
      </p:sp>
      <p:sp>
        <p:nvSpPr>
          <p:cNvPr id="14" name="Rectangle 13"/>
          <p:cNvSpPr/>
          <p:nvPr/>
        </p:nvSpPr>
        <p:spPr>
          <a:xfrm>
            <a:off x="6614159" y="3302000"/>
            <a:ext cx="601345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Hoch, wenn B einfach oft vorkommt — auch ohne jeden Zusammenhang</a:t>
            </a:r>
          </a:p>
        </p:txBody>
      </p:sp>
      <p:sp>
        <p:nvSpPr>
          <p:cNvPr id="15" name="Rectangle 14"/>
          <p:cNvSpPr/>
          <p:nvPr/>
        </p:nvSpPr>
        <p:spPr>
          <a:xfrm>
            <a:off x="1153160" y="4013200"/>
            <a:ext cx="1651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Lift</a:t>
            </a:r>
          </a:p>
        </p:txBody>
      </p:sp>
      <p:sp>
        <p:nvSpPr>
          <p:cNvPr id="16" name="Rectangle 15"/>
          <p:cNvSpPr/>
          <p:nvPr/>
        </p:nvSpPr>
        <p:spPr>
          <a:xfrm>
            <a:off x="2804160" y="4013200"/>
            <a:ext cx="3810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oft passiert es gemeinsam, verglichen mit Zufall?</a:t>
            </a:r>
          </a:p>
        </p:txBody>
      </p:sp>
      <p:sp>
        <p:nvSpPr>
          <p:cNvPr id="17" name="Rectangle 16"/>
          <p:cNvSpPr/>
          <p:nvPr/>
        </p:nvSpPr>
        <p:spPr>
          <a:xfrm>
            <a:off x="6614159" y="4013200"/>
            <a:ext cx="601345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Lift 1,0 heißt: kein Zusammenhang. Das ist die einzige der drei Kennzahlen, die das erkennt</a:t>
            </a:r>
          </a:p>
        </p:txBody>
      </p:sp>
      <p:sp>
        <p:nvSpPr>
          <p:cNvPr id="18" name="Rectangle 17"/>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stärkste Zusammenhang ist wahr und nutzlos</a:t>
            </a:r>
          </a:p>
        </p:txBody>
      </p:sp>
      <p:sp>
        <p:nvSpPr>
          <p:cNvPr id="3" name="Text Placeholder 2"/>
          <p:cNvSpPr>
            <a:spLocks noGrp="1"/>
          </p:cNvSpPr>
          <p:nvPr>
            <p:ph type="body" idx="12" sz="quarter"/>
          </p:nvPr>
        </p:nvSpPr>
        <p:spPr/>
        <p:txBody>
          <a:bodyPr/>
          <a:lstStyle/>
          <a:p>
            <a:r>
              <a:t>Fall 5 · Phase 2</a:t>
            </a:r>
          </a:p>
        </p:txBody>
      </p:sp>
      <p:sp>
        <p:nvSpPr>
          <p:cNvPr id="4" name="Text Placeholder 3"/>
          <p:cNvSpPr>
            <a:spLocks noGrp="1"/>
          </p:cNvSpPr>
          <p:nvPr>
            <p:ph type="body" idx="13" sz="quarter"/>
          </p:nvPr>
        </p:nvSpPr>
        <p:spPr/>
        <p:txBody>
          <a:bodyPr/>
          <a:lstStyle/>
          <a:p>
            <a:r>
              <a:t>analytics/notebooks/05_Assoziation_Wege_im_Netz.ipynb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das Verfahren zuerst findet, sind die Rundtouren: Start und Ziel sind dieselbe Station, bei knapp 20 % der angedockten Fahrten.</a:t>
            </a:r>
          </a:p>
        </p:txBody>
      </p:sp>
      <p:sp>
        <p:nvSpPr>
          <p:cNvPr id="6" name="Rectangle 5"/>
          <p:cNvSpPr/>
          <p:nvPr/>
        </p:nvSpPr>
        <p:spPr>
          <a:xfrm>
            <a:off x="115316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Der Befund</a:t>
            </a:r>
          </a:p>
          <a:p>
            <a:pPr algn="l">
              <a:lnSpc>
                <a:spcPct val="95000"/>
              </a:lnSpc>
              <a:spcBef>
                <a:spcPts val="500"/>
              </a:spcBef>
            </a:pPr>
            <a:r>
              <a:rPr sz="1300" b="0">
                <a:solidFill>
                  <a:srgbClr val="404040"/>
                </a:solidFill>
              </a:rPr>
              <a:t>Rundtouren sind mit Abstand</a:t>
            </a:r>
          </a:p>
          <a:p>
            <a:pPr algn="l">
              <a:lnSpc>
                <a:spcPct val="95000"/>
              </a:lnSpc>
              <a:spcBef>
                <a:spcPts val="500"/>
              </a:spcBef>
            </a:pPr>
            <a:r>
              <a:rPr sz="1300" b="0">
                <a:solidFill>
                  <a:srgbClr val="404040"/>
                </a:solidFill>
              </a:rPr>
              <a:t>das häufigste Muster.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Support hoch, Konfidenz hoch,</a:t>
            </a:r>
          </a:p>
          <a:p>
            <a:pPr algn="l">
              <a:lnSpc>
                <a:spcPct val="95000"/>
              </a:lnSpc>
              <a:spcBef>
                <a:spcPts val="500"/>
              </a:spcBef>
            </a:pPr>
            <a:r>
              <a:rPr sz="1300" b="0">
                <a:solidFill>
                  <a:srgbClr val="404040"/>
                </a:solidFill>
              </a:rPr>
              <a:t>Lift hoch.</a:t>
            </a:r>
          </a:p>
          <a:p>
            <a:pPr algn="l">
              <a:lnSpc>
                <a:spcPct val="95000"/>
              </a:lnSpc>
              <a:spcBef>
                <a:spcPts val="500"/>
              </a:spcBef>
            </a:pPr>
            <a:r>
              <a:rPr sz="1300" b="0">
                <a:solidFill>
                  <a:srgbClr val="404040"/>
                </a:solidFill>
              </a:rPr>
              <a:t>Eine perfekte Regel.</a:t>
            </a:r>
          </a:p>
        </p:txBody>
      </p:sp>
      <p:sp>
        <p:nvSpPr>
          <p:cNvPr id="9" name="Rectangle 8"/>
          <p:cNvSpPr/>
          <p:nvPr/>
        </p:nvSpPr>
        <p:spPr>
          <a:xfrm>
            <a:off x="511302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Warum nutzlos</a:t>
            </a:r>
          </a:p>
          <a:p>
            <a:pPr algn="l">
              <a:lnSpc>
                <a:spcPct val="95000"/>
              </a:lnSpc>
              <a:spcBef>
                <a:spcPts val="500"/>
              </a:spcBef>
            </a:pPr>
            <a:r>
              <a:rPr sz="1300" b="0">
                <a:solidFill>
                  <a:srgbClr val="404040"/>
                </a:solidFill>
              </a:rPr>
              <a:t>Kriterium 3 aus Phase 1:</a:t>
            </a:r>
          </a:p>
          <a:p>
            <a:pPr algn="l">
              <a:lnSpc>
                <a:spcPct val="95000"/>
              </a:lnSpc>
              <a:spcBef>
                <a:spcPts val="500"/>
              </a:spcBef>
            </a:pPr>
            <a:r>
              <a:rPr sz="1300" b="0">
                <a:solidFill>
                  <a:srgbClr val="404040"/>
                </a:solidFill>
              </a:rPr>
              <a:t>Die Regel muss eine Fahrt</a:t>
            </a:r>
          </a:p>
          <a:p>
            <a:pPr algn="l">
              <a:lnSpc>
                <a:spcPct val="95000"/>
              </a:lnSpc>
              <a:spcBef>
                <a:spcPts val="500"/>
              </a:spcBef>
            </a:pPr>
            <a:r>
              <a:rPr sz="1300" b="0">
                <a:solidFill>
                  <a:srgbClr val="404040"/>
                </a:solidFill>
              </a:rPr>
              <a:t>des Transporters begründen.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 einer Rundtour steht das</a:t>
            </a:r>
          </a:p>
          <a:p>
            <a:pPr algn="l">
              <a:lnSpc>
                <a:spcPct val="95000"/>
              </a:lnSpc>
              <a:spcBef>
                <a:spcPts val="500"/>
              </a:spcBef>
            </a:pPr>
            <a:r>
              <a:rPr sz="1300" b="0">
                <a:solidFill>
                  <a:srgbClr val="404040"/>
                </a:solidFill>
              </a:rPr>
              <a:t>Rad am Ende dort, wo es</a:t>
            </a:r>
          </a:p>
          <a:p>
            <a:pPr algn="l">
              <a:lnSpc>
                <a:spcPct val="95000"/>
              </a:lnSpc>
              <a:spcBef>
                <a:spcPts val="500"/>
              </a:spcBef>
            </a:pPr>
            <a:r>
              <a:rPr sz="1300" b="0">
                <a:solidFill>
                  <a:srgbClr val="404040"/>
                </a:solidFill>
              </a:rPr>
              <a:t>gestartet ist. Nichts zu tun.</a:t>
            </a:r>
          </a:p>
        </p:txBody>
      </p:sp>
      <p:sp>
        <p:nvSpPr>
          <p:cNvPr id="12" name="Rectangle 11"/>
          <p:cNvSpPr/>
          <p:nvPr/>
        </p:nvSpPr>
        <p:spPr>
          <a:xfrm>
            <a:off x="908177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Die Lehre</a:t>
            </a:r>
          </a:p>
          <a:p>
            <a:pPr algn="l">
              <a:lnSpc>
                <a:spcPct val="95000"/>
              </a:lnSpc>
              <a:spcBef>
                <a:spcPts val="500"/>
              </a:spcBef>
            </a:pPr>
            <a:r>
              <a:rPr sz="1300" b="0">
                <a:solidFill>
                  <a:srgbClr val="404040"/>
                </a:solidFill>
              </a:rPr>
              <a:t>Ein starker Zusammenhang</a:t>
            </a:r>
          </a:p>
          <a:p>
            <a:pPr algn="l">
              <a:lnSpc>
                <a:spcPct val="95000"/>
              </a:lnSpc>
              <a:spcBef>
                <a:spcPts val="500"/>
              </a:spcBef>
            </a:pPr>
            <a:r>
              <a:rPr sz="1300" b="0">
                <a:solidFill>
                  <a:srgbClr val="404040"/>
                </a:solidFill>
              </a:rPr>
              <a:t>ist nicht dasselbe wie ein</a:t>
            </a:r>
          </a:p>
          <a:p>
            <a:pPr algn="l">
              <a:lnSpc>
                <a:spcPct val="95000"/>
              </a:lnSpc>
              <a:spcBef>
                <a:spcPts val="500"/>
              </a:spcBef>
            </a:pPr>
            <a:r>
              <a:rPr sz="1300" b="0">
                <a:solidFill>
                  <a:srgbClr val="404040"/>
                </a:solidFill>
              </a:rPr>
              <a:t>brauchbarer.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Rundtouren werden</a:t>
            </a:r>
          </a:p>
          <a:p>
            <a:pPr algn="l">
              <a:lnSpc>
                <a:spcPct val="95000"/>
              </a:lnSpc>
              <a:spcBef>
                <a:spcPts val="500"/>
              </a:spcBef>
            </a:pPr>
            <a:r>
              <a:rPr sz="1300" b="0">
                <a:solidFill>
                  <a:srgbClr val="404040"/>
                </a:solidFill>
              </a:rPr>
              <a:t>ausgeschlossen — begründet</a:t>
            </a:r>
          </a:p>
          <a:p>
            <a:pPr algn="l">
              <a:lnSpc>
                <a:spcPct val="95000"/>
              </a:lnSpc>
              <a:spcBef>
                <a:spcPts val="500"/>
              </a:spcBef>
            </a:pPr>
            <a:r>
              <a:rPr sz="1300" b="0">
                <a:solidFill>
                  <a:srgbClr val="404040"/>
                </a:solidFill>
              </a:rPr>
              <a:t>und dokumentiert.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Zeitfenster statt vierundzwanzig Stunden</a:t>
            </a:r>
          </a:p>
        </p:txBody>
      </p:sp>
      <p:sp>
        <p:nvSpPr>
          <p:cNvPr id="3" name="Text Placeholder 2"/>
          <p:cNvSpPr>
            <a:spLocks noGrp="1"/>
          </p:cNvSpPr>
          <p:nvPr>
            <p:ph type="body" idx="12" sz="quarter"/>
          </p:nvPr>
        </p:nvSpPr>
        <p:spPr/>
        <p:txBody>
          <a:bodyPr/>
          <a:lstStyle/>
          <a:p>
            <a:r>
              <a:t>Fall 5 · Phase 3</a:t>
            </a:r>
          </a:p>
        </p:txBody>
      </p:sp>
      <p:sp>
        <p:nvSpPr>
          <p:cNvPr id="4" name="Text Placeholder 3"/>
          <p:cNvSpPr>
            <a:spLocks noGrp="1"/>
          </p:cNvSpPr>
          <p:nvPr>
            <p:ph type="body" idx="13" sz="quarter"/>
          </p:nvPr>
        </p:nvSpPr>
        <p:spPr/>
        <p:txBody>
          <a:bodyPr/>
          <a:lstStyle/>
          <a:p>
            <a:r>
              <a:t>analytics/notebooks/05_Assoziation_Wege_im_Netz.ipynb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diese Entscheidung wäre jede Regel unbelegt — bei 24 Stunden fällt auf jede einzelne zu wenig, um irgendetwas zu zeigen.</a:t>
            </a:r>
          </a:p>
        </p:txBody>
      </p:sp>
      <p:sp>
        <p:nvSpPr>
          <p:cNvPr id="6" name="Rectangle 5"/>
          <p:cNvSpPr/>
          <p:nvPr/>
        </p:nvSpPr>
        <p:spPr>
          <a:xfrm>
            <a:off x="115316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Das Problem</a:t>
            </a:r>
          </a:p>
          <a:p>
            <a:pPr algn="l">
              <a:lnSpc>
                <a:spcPct val="95000"/>
              </a:lnSpc>
              <a:spcBef>
                <a:spcPts val="500"/>
              </a:spcBef>
            </a:pPr>
            <a:r>
              <a:rPr sz="1300" b="0">
                <a:solidFill>
                  <a:srgbClr val="404040"/>
                </a:solidFill>
              </a:rPr>
              <a:t>Teilt man den Tag in Stunden,</a:t>
            </a:r>
          </a:p>
          <a:p>
            <a:pPr algn="l">
              <a:lnSpc>
                <a:spcPct val="95000"/>
              </a:lnSpc>
              <a:spcBef>
                <a:spcPts val="500"/>
              </a:spcBef>
            </a:pPr>
            <a:r>
              <a:rPr sz="1300" b="0">
                <a:solidFill>
                  <a:srgbClr val="404040"/>
                </a:solidFill>
              </a:rPr>
              <a:t>hat jede Start-Ziel-Stunden-</a:t>
            </a:r>
          </a:p>
          <a:p>
            <a:pPr algn="l">
              <a:lnSpc>
                <a:spcPct val="95000"/>
              </a:lnSpc>
              <a:spcBef>
                <a:spcPts val="500"/>
              </a:spcBef>
            </a:pPr>
            <a:r>
              <a:rPr sz="1300" b="0">
                <a:solidFill>
                  <a:srgbClr val="404040"/>
                </a:solidFill>
              </a:rPr>
              <a:t>Kombination eine Handvoll</a:t>
            </a:r>
          </a:p>
          <a:p>
            <a:pPr algn="l">
              <a:lnSpc>
                <a:spcPct val="95000"/>
              </a:lnSpc>
              <a:spcBef>
                <a:spcPts val="500"/>
              </a:spcBef>
            </a:pPr>
            <a:r>
              <a:rPr sz="1300" b="0">
                <a:solidFill>
                  <a:srgbClr val="404040"/>
                </a:solidFill>
              </a:rPr>
              <a:t>Fahrten.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Support nahe null, jede Regel</a:t>
            </a:r>
          </a:p>
          <a:p>
            <a:pPr algn="l">
              <a:lnSpc>
                <a:spcPct val="95000"/>
              </a:lnSpc>
              <a:spcBef>
                <a:spcPts val="500"/>
              </a:spcBef>
            </a:pPr>
            <a:r>
              <a:rPr sz="1300" b="0">
                <a:solidFill>
                  <a:srgbClr val="404040"/>
                </a:solidFill>
              </a:rPr>
              <a:t>ununterscheidbar vom Zufall.</a:t>
            </a:r>
          </a:p>
        </p:txBody>
      </p:sp>
      <p:sp>
        <p:nvSpPr>
          <p:cNvPr id="9" name="Rectangle 8"/>
          <p:cNvSpPr/>
          <p:nvPr/>
        </p:nvSpPr>
        <p:spPr>
          <a:xfrm>
            <a:off x="511302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Die Lösung</a:t>
            </a:r>
          </a:p>
          <a:p>
            <a:pPr algn="l">
              <a:lnSpc>
                <a:spcPct val="95000"/>
              </a:lnSpc>
              <a:spcBef>
                <a:spcPts val="500"/>
              </a:spcBef>
            </a:pPr>
            <a:r>
              <a:rPr sz="1300" b="0">
                <a:solidFill>
                  <a:srgbClr val="404040"/>
                </a:solidFill>
              </a:rPr>
              <a:t>Vier Fenster, an den</a:t>
            </a:r>
          </a:p>
          <a:p>
            <a:pPr algn="l">
              <a:lnSpc>
                <a:spcPct val="95000"/>
              </a:lnSpc>
              <a:spcBef>
                <a:spcPts val="500"/>
              </a:spcBef>
            </a:pPr>
            <a:r>
              <a:rPr sz="1300" b="0">
                <a:solidFill>
                  <a:srgbClr val="404040"/>
                </a:solidFill>
              </a:rPr>
              <a:t>tatsächlichen Spitzen</a:t>
            </a:r>
          </a:p>
          <a:p>
            <a:pPr algn="l">
              <a:lnSpc>
                <a:spcPct val="95000"/>
              </a:lnSpc>
              <a:spcBef>
                <a:spcPts val="500"/>
              </a:spcBef>
            </a:pPr>
            <a:r>
              <a:rPr sz="1300" b="0">
                <a:solidFill>
                  <a:srgbClr val="404040"/>
                </a:solidFill>
              </a:rPr>
              <a:t>orientiert: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Früh · Vormittag ·</a:t>
            </a:r>
          </a:p>
          <a:p>
            <a:pPr algn="l">
              <a:lnSpc>
                <a:spcPct val="95000"/>
              </a:lnSpc>
              <a:spcBef>
                <a:spcPts val="500"/>
              </a:spcBef>
            </a:pPr>
            <a:r>
              <a:rPr sz="1300" b="0">
                <a:solidFill>
                  <a:srgbClr val="404040"/>
                </a:solidFill>
              </a:rPr>
              <a:t>Nachmittag · Abend</a:t>
            </a:r>
          </a:p>
        </p:txBody>
      </p:sp>
      <p:sp>
        <p:nvSpPr>
          <p:cNvPr id="12" name="Rectangle 11"/>
          <p:cNvSpPr/>
          <p:nvPr/>
        </p:nvSpPr>
        <p:spPr>
          <a:xfrm>
            <a:off x="908177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Der Vorbehalt</a:t>
            </a:r>
          </a:p>
          <a:p>
            <a:pPr algn="l">
              <a:lnSpc>
                <a:spcPct val="95000"/>
              </a:lnSpc>
              <a:spcBef>
                <a:spcPts val="500"/>
              </a:spcBef>
            </a:pPr>
            <a:r>
              <a:rPr sz="1300" b="0">
                <a:solidFill>
                  <a:srgbClr val="404040"/>
                </a:solidFill>
              </a:rPr>
              <a:t>Die vier Fenster sind gesetzt,</a:t>
            </a:r>
          </a:p>
          <a:p>
            <a:pPr algn="l">
              <a:lnSpc>
                <a:spcPct val="95000"/>
              </a:lnSpc>
              <a:spcBef>
                <a:spcPts val="500"/>
              </a:spcBef>
            </a:pPr>
            <a:r>
              <a:rPr sz="1300" b="0">
                <a:solidFill>
                  <a:srgbClr val="404040"/>
                </a:solidFill>
              </a:rPr>
              <a:t>nicht gefunden.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Eine Aufteilung nach den</a:t>
            </a:r>
          </a:p>
          <a:p>
            <a:pPr algn="l">
              <a:lnSpc>
                <a:spcPct val="95000"/>
              </a:lnSpc>
              <a:spcBef>
                <a:spcPts val="500"/>
              </a:spcBef>
            </a:pPr>
            <a:r>
              <a:rPr sz="1300" b="0">
                <a:solidFill>
                  <a:srgbClr val="404040"/>
                </a:solidFill>
              </a:rPr>
              <a:t>Spitzen aus Notebook 3 könnte</a:t>
            </a:r>
          </a:p>
          <a:p>
            <a:pPr algn="l">
              <a:lnSpc>
                <a:spcPct val="95000"/>
              </a:lnSpc>
              <a:spcBef>
                <a:spcPts val="500"/>
              </a:spcBef>
            </a:pPr>
            <a:r>
              <a:rPr sz="1300" b="0">
                <a:solidFill>
                  <a:srgbClr val="404040"/>
                </a:solidFill>
              </a:rPr>
              <a:t>schärfere Regeln liefern —</a:t>
            </a:r>
          </a:p>
          <a:p>
            <a:pPr algn="l">
              <a:lnSpc>
                <a:spcPct val="95000"/>
              </a:lnSpc>
              <a:spcBef>
                <a:spcPts val="500"/>
              </a:spcBef>
            </a:pPr>
            <a:r>
              <a:rPr sz="1300" b="0">
                <a:solidFill>
                  <a:srgbClr val="404040"/>
                </a:solidFill>
              </a:rPr>
              <a:t>notiert für die zweite Runde.</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Eine einzelne Regel, von Hand nachgerechnet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analytics/notebooks/05_Assoziation_Wege_im_Netz.ipynb · Abschnitt 4</a:t>
            </a:r>
          </a:p>
        </p:txBody>
      </p:sp>
      <p:sp>
        <p:nvSpPr>
          <p:cNvPr id="5" name="Rectangle 4"/>
          <p:cNvSpPr/>
          <p:nvPr/>
        </p:nvSpPr>
        <p:spPr>
          <a:xfrm>
            <a:off x="2839441" y="1168400"/>
            <a:ext cx="8101886"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5-regel.png"/>
          <p:cNvPicPr>
            <a:picLocks noChangeAspect="1"/>
          </p:cNvPicPr>
          <p:nvPr/>
        </p:nvPicPr>
        <p:blipFill>
          <a:blip r:embed="rId2"/>
          <a:stretch>
            <a:fillRect/>
          </a:stretch>
        </p:blipFill>
        <p:spPr>
          <a:xfrm>
            <a:off x="2941041" y="1270000"/>
            <a:ext cx="7898686"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Support, Konfidenz und Lift für eine konkrete Regel — drei Divisionen, Zeile für Zeile nachvollziehbar.</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Von 32 Regeln bleibt keine</a:t>
            </a:r>
          </a:p>
        </p:txBody>
      </p:sp>
      <p:sp>
        <p:nvSpPr>
          <p:cNvPr id="3" name="Text Placeholder 2"/>
          <p:cNvSpPr>
            <a:spLocks noGrp="1"/>
          </p:cNvSpPr>
          <p:nvPr>
            <p:ph type="body" idx="12" sz="quarter"/>
          </p:nvPr>
        </p:nvSpPr>
        <p:spPr/>
        <p:txBody>
          <a:bodyPr/>
          <a:lstStyle/>
          <a:p>
            <a:r>
              <a:t>Fall 5 · Phase 5</a:t>
            </a:r>
          </a:p>
        </p:txBody>
      </p:sp>
      <p:sp>
        <p:nvSpPr>
          <p:cNvPr id="4" name="Text Placeholder 3"/>
          <p:cNvSpPr>
            <a:spLocks noGrp="1"/>
          </p:cNvSpPr>
          <p:nvPr>
            <p:ph type="body" idx="13" sz="quarter"/>
          </p:nvPr>
        </p:nvSpPr>
        <p:spPr/>
        <p:txBody>
          <a:bodyPr/>
          <a:lstStyle/>
          <a:p>
            <a:r>
              <a:t>analytics/notebooks/05_Assoziation_Wege_im_Netz.ipynb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Hoher Lift und hoher Support schließen einander fast aus. Wer beide Hürden vorab setzt, siebt radikal — hier bis auf null.</a:t>
            </a:r>
          </a:p>
        </p:txBody>
      </p:sp>
      <p:sp>
        <p:nvSpPr>
          <p:cNvPr id="6" name="Rectangle 5"/>
          <p:cNvSpPr/>
          <p:nvPr/>
        </p:nvSpPr>
        <p:spPr>
          <a:xfrm>
            <a:off x="1153160" y="1879600"/>
            <a:ext cx="6350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Hürde</a:t>
            </a:r>
          </a:p>
        </p:txBody>
      </p:sp>
      <p:sp>
        <p:nvSpPr>
          <p:cNvPr id="7" name="Rectangle 6"/>
          <p:cNvSpPr/>
          <p:nvPr/>
        </p:nvSpPr>
        <p:spPr>
          <a:xfrm>
            <a:off x="7503159" y="1879600"/>
            <a:ext cx="512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Regeln, die sie erfüllen</a:t>
            </a:r>
          </a:p>
        </p:txBody>
      </p:sp>
      <p:sp>
        <p:nvSpPr>
          <p:cNvPr id="8" name="Rectangle 7"/>
          <p:cNvSpPr/>
          <p:nvPr/>
        </p:nvSpPr>
        <p:spPr>
          <a:xfrm>
            <a:off x="1153160" y="2438400"/>
            <a:ext cx="635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Alle gefundenen Regeln</a:t>
            </a:r>
          </a:p>
        </p:txBody>
      </p:sp>
      <p:sp>
        <p:nvSpPr>
          <p:cNvPr id="9" name="Rectangle 8"/>
          <p:cNvSpPr/>
          <p:nvPr/>
        </p:nvSpPr>
        <p:spPr>
          <a:xfrm>
            <a:off x="7503159" y="2438400"/>
            <a:ext cx="512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32</a:t>
            </a:r>
          </a:p>
        </p:txBody>
      </p:sp>
      <p:sp>
        <p:nvSpPr>
          <p:cNvPr id="10" name="Rectangle 9"/>
          <p:cNvSpPr/>
          <p:nvPr/>
        </p:nvSpPr>
        <p:spPr>
          <a:xfrm>
            <a:off x="1153160" y="2997200"/>
            <a:ext cx="6350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Lift ≥ 1,3</a:t>
            </a:r>
          </a:p>
        </p:txBody>
      </p:sp>
      <p:sp>
        <p:nvSpPr>
          <p:cNvPr id="11" name="Rectangle 10"/>
          <p:cNvSpPr/>
          <p:nvPr/>
        </p:nvSpPr>
        <p:spPr>
          <a:xfrm>
            <a:off x="7503159" y="2997200"/>
            <a:ext cx="5124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9</a:t>
            </a:r>
          </a:p>
        </p:txBody>
      </p:sp>
      <p:sp>
        <p:nvSpPr>
          <p:cNvPr id="12" name="Rectangle 11"/>
          <p:cNvSpPr/>
          <p:nvPr/>
        </p:nvSpPr>
        <p:spPr>
          <a:xfrm>
            <a:off x="1153160" y="3556000"/>
            <a:ext cx="635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Support ≥ 1 %</a:t>
            </a:r>
          </a:p>
        </p:txBody>
      </p:sp>
      <p:sp>
        <p:nvSpPr>
          <p:cNvPr id="13" name="Rectangle 12"/>
          <p:cNvSpPr/>
          <p:nvPr/>
        </p:nvSpPr>
        <p:spPr>
          <a:xfrm>
            <a:off x="7503159" y="3556000"/>
            <a:ext cx="512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14" name="Rectangle 13"/>
          <p:cNvSpPr/>
          <p:nvPr/>
        </p:nvSpPr>
        <p:spPr>
          <a:xfrm>
            <a:off x="1153160" y="4114800"/>
            <a:ext cx="6350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Beide zugleich</a:t>
            </a:r>
          </a:p>
        </p:txBody>
      </p:sp>
      <p:sp>
        <p:nvSpPr>
          <p:cNvPr id="15" name="Rectangle 14"/>
          <p:cNvSpPr/>
          <p:nvPr/>
        </p:nvSpPr>
        <p:spPr>
          <a:xfrm>
            <a:off x="7503159" y="4114800"/>
            <a:ext cx="5124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16" name="Rectangle 15"/>
          <p:cNvSpPr/>
          <p:nvPr/>
        </p:nvSpPr>
        <p:spPr>
          <a:xfrm>
            <a:off x="1153160" y="4851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4927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stärkste Regel — werktags früh vom Hauptbahnhof zum Hubland Campus — erreicht 0,99 % Support. Zur Hürde fehlen 0,01 Prozentpunkte, also rund fünf Fahrten in drei Jahren.</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0,99 gegen 1,00 Prozent — der teuerste Moment eines Projekts</a:t>
            </a:r>
          </a:p>
        </p:txBody>
      </p:sp>
      <p:sp>
        <p:nvSpPr>
          <p:cNvPr id="3" name="Text Placeholder 2"/>
          <p:cNvSpPr>
            <a:spLocks noGrp="1"/>
          </p:cNvSpPr>
          <p:nvPr>
            <p:ph type="body" idx="12" sz="quarter"/>
          </p:nvPr>
        </p:nvSpPr>
        <p:spPr/>
        <p:txBody>
          <a:bodyPr/>
          <a:lstStyle/>
          <a:p>
            <a:r>
              <a:t>Fall 5 · Phase 5</a:t>
            </a:r>
          </a:p>
        </p:txBody>
      </p:sp>
      <p:sp>
        <p:nvSpPr>
          <p:cNvPr id="4" name="Text Placeholder 3"/>
          <p:cNvSpPr>
            <a:spLocks noGrp="1"/>
          </p:cNvSpPr>
          <p:nvPr>
            <p:ph type="body" idx="13" sz="quarter"/>
          </p:nvPr>
        </p:nvSpPr>
        <p:spPr/>
        <p:txBody>
          <a:bodyPr/>
          <a:lstStyle/>
          <a:p>
            <a:r>
              <a:t>analytics/notebooks/05_Assoziation_Wege_im_Netz.ipynb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Hürde auf 0,9 % zu senken wäre die Arbeit von zehn Sekunden. Niemand würde es je bemerken. Genau deshalb darf es nicht passieren.</a:t>
            </a:r>
          </a:p>
        </p:txBody>
      </p:sp>
      <p:sp>
        <p:nvSpPr>
          <p:cNvPr id="6" name="Rectangle 5"/>
          <p:cNvSpPr/>
          <p:nvPr/>
        </p:nvSpPr>
        <p:spPr>
          <a:xfrm>
            <a:off x="115316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verlockend wäre</a:t>
            </a:r>
          </a:p>
          <a:p>
            <a:pPr algn="l">
              <a:lnSpc>
                <a:spcPct val="95000"/>
              </a:lnSpc>
              <a:spcBef>
                <a:spcPts val="500"/>
              </a:spcBef>
            </a:pPr>
            <a:r>
              <a:rPr sz="1300" b="0">
                <a:solidFill>
                  <a:srgbClr val="404040"/>
                </a:solidFill>
              </a:rPr>
              <a:t>„0,99 ist doch praktisch 1.“</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Eine Zeile im Notebook, und</a:t>
            </a:r>
          </a:p>
          <a:p>
            <a:pPr algn="l">
              <a:lnSpc>
                <a:spcPct val="95000"/>
              </a:lnSpc>
              <a:spcBef>
                <a:spcPts val="500"/>
              </a:spcBef>
            </a:pPr>
            <a:r>
              <a:rPr sz="1300" b="0">
                <a:solidFill>
                  <a:srgbClr val="404040"/>
                </a:solidFill>
              </a:rPr>
              <a:t>aus dem Fehlschlag wird ein</a:t>
            </a:r>
          </a:p>
          <a:p>
            <a:pPr algn="l">
              <a:lnSpc>
                <a:spcPct val="95000"/>
              </a:lnSpc>
              <a:spcBef>
                <a:spcPts val="500"/>
              </a:spcBef>
            </a:pPr>
            <a:r>
              <a:rPr sz="1300" b="0">
                <a:solidFill>
                  <a:srgbClr val="404040"/>
                </a:solidFill>
              </a:rPr>
              <a:t>Ergebnis mit einer Regel,</a:t>
            </a:r>
          </a:p>
          <a:p>
            <a:pPr algn="l">
              <a:lnSpc>
                <a:spcPct val="95000"/>
              </a:lnSpc>
              <a:spcBef>
                <a:spcPts val="500"/>
              </a:spcBef>
            </a:pPr>
            <a:r>
              <a:rPr sz="1300" b="0">
                <a:solidFill>
                  <a:srgbClr val="404040"/>
                </a:solidFill>
              </a:rPr>
              <a:t>über die man vortragen kann.</a:t>
            </a:r>
          </a:p>
        </p:txBody>
      </p:sp>
      <p:sp>
        <p:nvSpPr>
          <p:cNvPr id="9" name="Rectangle 8"/>
          <p:cNvSpPr/>
          <p:nvPr/>
        </p:nvSpPr>
        <p:spPr>
          <a:xfrm>
            <a:off x="511302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Warum es verboten ist</a:t>
            </a:r>
          </a:p>
          <a:p>
            <a:pPr algn="l">
              <a:lnSpc>
                <a:spcPct val="95000"/>
              </a:lnSpc>
              <a:spcBef>
                <a:spcPts val="500"/>
              </a:spcBef>
            </a:pPr>
            <a:r>
              <a:rPr sz="1300" b="0">
                <a:solidFill>
                  <a:srgbClr val="404040"/>
                </a:solidFill>
              </a:rPr>
              <a:t>Ein Kriterium, das man nach</a:t>
            </a:r>
          </a:p>
          <a:p>
            <a:pPr algn="l">
              <a:lnSpc>
                <a:spcPct val="95000"/>
              </a:lnSpc>
              <a:spcBef>
                <a:spcPts val="500"/>
              </a:spcBef>
            </a:pPr>
            <a:r>
              <a:rPr sz="1300" b="0">
                <a:solidFill>
                  <a:srgbClr val="404040"/>
                </a:solidFill>
              </a:rPr>
              <a:t>dem Ergebnis anpasst, misst</a:t>
            </a:r>
          </a:p>
          <a:p>
            <a:pPr algn="l">
              <a:lnSpc>
                <a:spcPct val="95000"/>
              </a:lnSpc>
              <a:spcBef>
                <a:spcPts val="500"/>
              </a:spcBef>
            </a:pPr>
            <a:r>
              <a:rPr sz="1300" b="0">
                <a:solidFill>
                  <a:srgbClr val="404040"/>
                </a:solidFill>
              </a:rPr>
              <a:t>nichts mehr.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Es wäre dasselbe, wie es gar</a:t>
            </a:r>
          </a:p>
          <a:p>
            <a:pPr algn="l">
              <a:lnSpc>
                <a:spcPct val="95000"/>
              </a:lnSpc>
              <a:spcBef>
                <a:spcPts val="500"/>
              </a:spcBef>
            </a:pPr>
            <a:r>
              <a:rPr sz="1300" b="0">
                <a:solidFill>
                  <a:srgbClr val="404040"/>
                </a:solidFill>
              </a:rPr>
              <a:t>nicht erst aufgestellt zu</a:t>
            </a:r>
          </a:p>
          <a:p>
            <a:pPr algn="l">
              <a:lnSpc>
                <a:spcPct val="95000"/>
              </a:lnSpc>
              <a:spcBef>
                <a:spcPts val="500"/>
              </a:spcBef>
            </a:pPr>
            <a:r>
              <a:rPr sz="1300" b="0">
                <a:solidFill>
                  <a:srgbClr val="404040"/>
                </a:solidFill>
              </a:rPr>
              <a:t>haben.</a:t>
            </a:r>
          </a:p>
        </p:txBody>
      </p:sp>
      <p:sp>
        <p:nvSpPr>
          <p:cNvPr id="12" name="Rectangle 11"/>
          <p:cNvSpPr/>
          <p:nvPr/>
        </p:nvSpPr>
        <p:spPr>
          <a:xfrm>
            <a:off x="908177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stattdessen gilt</a:t>
            </a:r>
          </a:p>
          <a:p>
            <a:pPr algn="l">
              <a:lnSpc>
                <a:spcPct val="95000"/>
              </a:lnSpc>
              <a:spcBef>
                <a:spcPts val="500"/>
              </a:spcBef>
            </a:pPr>
            <a:r>
              <a:rPr sz="1300" b="0">
                <a:solidFill>
                  <a:srgbClr val="404040"/>
                </a:solidFill>
              </a:rPr>
              <a:t>Keine Regel wird freigegeben.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Ob 1 % die richtige Hürde für</a:t>
            </a:r>
          </a:p>
          <a:p>
            <a:pPr algn="l">
              <a:lnSpc>
                <a:spcPct val="95000"/>
              </a:lnSpc>
              <a:spcBef>
                <a:spcPts val="500"/>
              </a:spcBef>
            </a:pPr>
            <a:r>
              <a:rPr sz="1300" b="0">
                <a:solidFill>
                  <a:srgbClr val="404040"/>
                </a:solidFill>
              </a:rPr>
              <a:t>ein Netz aus zehn Stationen</a:t>
            </a:r>
          </a:p>
          <a:p>
            <a:pPr algn="l">
              <a:lnSpc>
                <a:spcPct val="95000"/>
              </a:lnSpc>
              <a:spcBef>
                <a:spcPts val="500"/>
              </a:spcBef>
            </a:pPr>
            <a:r>
              <a:rPr sz="1300" b="0">
                <a:solidFill>
                  <a:srgbClr val="404040"/>
                </a:solidFill>
              </a:rPr>
              <a:t>ist, gehört zurück in Phase 1</a:t>
            </a:r>
          </a:p>
          <a:p>
            <a:pPr algn="l">
              <a:lnSpc>
                <a:spcPct val="95000"/>
              </a:lnSpc>
              <a:spcBef>
                <a:spcPts val="500"/>
              </a:spcBef>
            </a:pPr>
            <a:r>
              <a:rPr sz="1300" b="0">
                <a:solidFill>
                  <a:srgbClr val="404040"/>
                </a:solidFill>
              </a:rPr>
              <a:t>— als Gespräch mit der</a:t>
            </a:r>
          </a:p>
          <a:p>
            <a:pPr algn="l">
              <a:lnSpc>
                <a:spcPct val="95000"/>
              </a:lnSpc>
              <a:spcBef>
                <a:spcPts val="500"/>
              </a:spcBef>
            </a:pPr>
            <a:r>
              <a:rPr sz="1300" b="0">
                <a:solidFill>
                  <a:srgbClr val="404040"/>
                </a:solidFill>
              </a:rPr>
              <a:t>Disposition, nicht als Zeile.</a:t>
            </a:r>
          </a:p>
        </p:txBody>
      </p:sp>
      <p:sp>
        <p:nvSpPr>
          <p:cNvPr id="15" name="Rectangle 14"/>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Hürden sieben — 32, dann 9, dann keine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analytics/notebooks/05_Assoziation_Wege_im_Netz.ipynb · Abschnitt 5.2</a:t>
            </a:r>
          </a:p>
        </p:txBody>
      </p:sp>
      <p:sp>
        <p:nvSpPr>
          <p:cNvPr id="5" name="Rectangle 4"/>
          <p:cNvSpPr/>
          <p:nvPr/>
        </p:nvSpPr>
        <p:spPr>
          <a:xfrm>
            <a:off x="3995803" y="1168400"/>
            <a:ext cx="5789162"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5-huerden.png"/>
          <p:cNvPicPr>
            <a:picLocks noChangeAspect="1"/>
          </p:cNvPicPr>
          <p:nvPr/>
        </p:nvPicPr>
        <p:blipFill>
          <a:blip r:embed="rId2"/>
          <a:stretch>
            <a:fillRect/>
          </a:stretch>
        </p:blipFill>
        <p:spPr>
          <a:xfrm>
            <a:off x="4097403" y="1270000"/>
            <a:ext cx="5585962"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Und darunter, gemessen statt behauptet: wie knapp die stärkste Regel scheitert.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Von zwei Plänen trägt einer</a:t>
            </a:r>
          </a:p>
        </p:txBody>
      </p:sp>
      <p:sp>
        <p:nvSpPr>
          <p:cNvPr id="3" name="Text Placeholder 2"/>
          <p:cNvSpPr>
            <a:spLocks noGrp="1"/>
          </p:cNvSpPr>
          <p:nvPr>
            <p:ph type="body" idx="12" sz="quarter"/>
          </p:nvPr>
        </p:nvSpPr>
        <p:spPr/>
        <p:txBody>
          <a:bodyPr/>
          <a:lstStyle/>
          <a:p>
            <a:r>
              <a:t>Fall 5 · Phase 6</a:t>
            </a:r>
          </a:p>
        </p:txBody>
      </p:sp>
      <p:sp>
        <p:nvSpPr>
          <p:cNvPr id="4" name="Text Placeholder 3"/>
          <p:cNvSpPr>
            <a:spLocks noGrp="1"/>
          </p:cNvSpPr>
          <p:nvPr>
            <p:ph type="body" idx="13" sz="quarter"/>
          </p:nvPr>
        </p:nvSpPr>
        <p:spPr/>
        <p:txBody>
          <a:bodyPr/>
          <a:lstStyle/>
          <a:p>
            <a:r>
              <a:t>analytics/notebooks/05_Assoziation_Wege_im_Netz.ipynb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entstehen aus den Salden je Station und Zeitfenster, nicht aus den Regeln. Nur einer von beiden ergibt eine Anweisung, die jemand ausführen kann.</a:t>
            </a:r>
          </a:p>
        </p:txBody>
      </p:sp>
      <p:sp>
        <p:nvSpPr>
          <p:cNvPr id="6" name="Rectangle 5"/>
          <p:cNvSpPr/>
          <p:nvPr/>
        </p:nvSpPr>
        <p:spPr>
          <a:xfrm>
            <a:off x="1153160" y="1879600"/>
            <a:ext cx="5524500" cy="2717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Plan A — trägt nicht</a:t>
            </a:r>
          </a:p>
        </p:txBody>
      </p:sp>
      <p:sp>
        <p:nvSpPr>
          <p:cNvPr id="9" name="TextBox 8"/>
          <p:cNvSpPr txBox="1"/>
          <p:nvPr/>
        </p:nvSpPr>
        <p:spPr>
          <a:xfrm>
            <a:off x="1330960" y="2387600"/>
            <a:ext cx="5194300" cy="2082800"/>
          </a:xfrm>
          <a:prstGeom prst="rect">
            <a:avLst/>
          </a:prstGeom>
          <a:noFill/>
        </p:spPr>
        <p:txBody>
          <a:bodyPr wrap="square" lIns="0" tIns="0" rIns="0" bIns="0">
            <a:spAutoFit/>
          </a:bodyPr>
          <a:lstStyle/>
          <a:p>
            <a:pPr algn="l">
              <a:lnSpc>
                <a:spcPct val="95000"/>
              </a:lnSpc>
            </a:pPr>
            <a:r>
              <a:rPr sz="1400" b="1">
                <a:solidFill>
                  <a:srgbClr val="A32638"/>
                </a:solidFill>
              </a:rPr>
              <a:t>Umverteilen zwischen Stationen</a:t>
            </a:r>
          </a:p>
          <a:p>
            <a:pPr algn="l">
              <a:lnSpc>
                <a:spcPct val="95000"/>
              </a:lnSpc>
              <a:spcBef>
                <a:spcPts val="300"/>
              </a:spcBef>
            </a:pPr>
            <a:r>
              <a:rPr sz="1300" b="0">
                <a:solidFill>
                  <a:srgbClr val="404040"/>
                </a:solidFill>
              </a:rPr>
              <a:t>Größter Überschuss:</a:t>
            </a:r>
          </a:p>
          <a:p>
            <a:pPr algn="l">
              <a:lnSpc>
                <a:spcPct val="95000"/>
              </a:lnSpc>
              <a:spcBef>
                <a:spcPts val="300"/>
              </a:spcBef>
            </a:pPr>
            <a:r>
              <a:rPr sz="1300" b="0">
                <a:solidFill>
                  <a:srgbClr val="404040"/>
                </a:solidFill>
              </a:rPr>
              <a:t>1,8 Räder je Werktag.</a:t>
            </a:r>
          </a:p>
          <a:p>
            <a:pPr algn="l">
              <a:lnSpc>
                <a:spcPct val="95000"/>
              </a:lnSpc>
              <a:spcBef>
                <a:spcPts val="300"/>
              </a:spcBef>
            </a:pPr>
            <a:r>
              <a:rPr sz="1300" b="0">
                <a:solidFill>
                  <a:srgbClr val="404040"/>
                </a:solidFill>
              </a:rPr>
              <a:t>Größter Fehlbestand: 1,1.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Stationen fassen 20 bis 40.</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Für 1,8 Räder fährt kein</a:t>
            </a:r>
          </a:p>
          <a:p>
            <a:pPr algn="l">
              <a:lnSpc>
                <a:spcPct val="95000"/>
              </a:lnSpc>
              <a:spcBef>
                <a:spcPts val="300"/>
              </a:spcBef>
            </a:pPr>
            <a:r>
              <a:rPr sz="1300" b="0">
                <a:solidFill>
                  <a:srgbClr val="404040"/>
                </a:solidFill>
              </a:rPr>
              <a:t>Transporter durch Würzburg.</a:t>
            </a:r>
          </a:p>
        </p:txBody>
      </p:sp>
      <p:sp>
        <p:nvSpPr>
          <p:cNvPr id="10" name="Rectangle 9"/>
          <p:cNvSpPr/>
          <p:nvPr/>
        </p:nvSpPr>
        <p:spPr>
          <a:xfrm>
            <a:off x="7096759" y="1879600"/>
            <a:ext cx="5524500" cy="2717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Plan B — trägt</a:t>
            </a:r>
          </a:p>
        </p:txBody>
      </p:sp>
      <p:sp>
        <p:nvSpPr>
          <p:cNvPr id="13" name="TextBox 12"/>
          <p:cNvSpPr txBox="1"/>
          <p:nvPr/>
        </p:nvSpPr>
        <p:spPr>
          <a:xfrm>
            <a:off x="7274559" y="2387600"/>
            <a:ext cx="5194300" cy="2082800"/>
          </a:xfrm>
          <a:prstGeom prst="rect">
            <a:avLst/>
          </a:prstGeom>
          <a:noFill/>
        </p:spPr>
        <p:txBody>
          <a:bodyPr wrap="square" lIns="0" tIns="0" rIns="0" bIns="0">
            <a:spAutoFit/>
          </a:bodyPr>
          <a:lstStyle/>
          <a:p>
            <a:pPr algn="l">
              <a:lnSpc>
                <a:spcPct val="95000"/>
              </a:lnSpc>
            </a:pPr>
            <a:r>
              <a:rPr sz="1400" b="1">
                <a:solidFill>
                  <a:srgbClr val="55801C"/>
                </a:solidFill>
              </a:rPr>
              <a:t>Frei abgestellte Räder einsammeln</a:t>
            </a:r>
          </a:p>
          <a:p>
            <a:pPr algn="l">
              <a:lnSpc>
                <a:spcPct val="95000"/>
              </a:lnSpc>
              <a:spcBef>
                <a:spcPts val="300"/>
              </a:spcBef>
            </a:pPr>
            <a:r>
              <a:rPr sz="1300" b="0">
                <a:solidFill>
                  <a:srgbClr val="404040"/>
                </a:solidFill>
              </a:rPr>
              <a:t>Rund elf Räder je Werktag</a:t>
            </a:r>
          </a:p>
          <a:p>
            <a:pPr algn="l">
              <a:lnSpc>
                <a:spcPct val="95000"/>
              </a:lnSpc>
              <a:spcBef>
                <a:spcPts val="300"/>
              </a:spcBef>
            </a:pPr>
            <a:r>
              <a:rPr sz="1300" b="0">
                <a:solidFill>
                  <a:srgbClr val="404040"/>
                </a:solidFill>
              </a:rPr>
              <a:t>bleiben frei im Gebiet.</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Das ist eine Runde, die sich</a:t>
            </a:r>
          </a:p>
          <a:p>
            <a:pPr algn="l">
              <a:lnSpc>
                <a:spcPct val="95000"/>
              </a:lnSpc>
              <a:spcBef>
                <a:spcPts val="300"/>
              </a:spcBef>
            </a:pPr>
            <a:r>
              <a:rPr sz="1300" b="0">
                <a:solidFill>
                  <a:srgbClr val="404040"/>
                </a:solidFill>
              </a:rPr>
              <a:t>lohnt — und sie braucht keine</a:t>
            </a:r>
          </a:p>
          <a:p>
            <a:pPr algn="l">
              <a:lnSpc>
                <a:spcPct val="95000"/>
              </a:lnSpc>
              <a:spcBef>
                <a:spcPts val="300"/>
              </a:spcBef>
            </a:pPr>
            <a:r>
              <a:rPr sz="1300" b="0">
                <a:solidFill>
                  <a:srgbClr val="404040"/>
                </a:solidFill>
              </a:rPr>
              <a:t>einzige Assoziationsregel.</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Wegeketten sind</a:t>
            </a:r>
          </a:p>
          <a:p>
            <a:pPr algn="l">
              <a:lnSpc>
                <a:spcPct val="95000"/>
              </a:lnSpc>
              <a:spcBef>
                <a:spcPts val="300"/>
              </a:spcBef>
            </a:pPr>
            <a:r>
              <a:rPr sz="1300" b="0">
                <a:solidFill>
                  <a:srgbClr val="404040"/>
                </a:solidFill>
              </a:rPr>
              <a:t>personenbezogene Daten.</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5 · Abschluss</a:t>
            </a:r>
          </a:p>
        </p:txBody>
      </p:sp>
      <p:sp>
        <p:nvSpPr>
          <p:cNvPr id="4" name="Text Placeholder 3"/>
          <p:cNvSpPr>
            <a:spLocks noGrp="1"/>
          </p:cNvSpPr>
          <p:nvPr>
            <p:ph type="body" idx="13" sz="quarter"/>
          </p:nvPr>
        </p:nvSpPr>
        <p:spPr/>
        <p:txBody>
          <a:bodyPr/>
          <a:lstStyle/>
          <a:p>
            <a:r>
              <a:t>analytics/notebooks/05_Assoziation_Wege_im_Netz.ipynb</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„Von wo nach wo?“ statt „wie viele?“. Drei Kriterien, darunter eines, das rein fachlich ist</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Fahrt ist ein Warenkorb. Rundtouren: wahr und nutzlos, deshalb ausgeschlossen</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Zeitfenster statt 24 Stunden, sonst wäre jede Regel unbelegt</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Support, Konfidenz und Lift von Hand — eine Regel Zeile für Zeile nachgerechnet</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32 Regeln, 9 mit Lift, keine mit Support — die stärkste verfehlt die Hürde um 0,01 Prozentpunkte</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Umverteilungsplan trägt nicht — 1,8 Räder je Werktag. Was trägt, ist die Einsammelrunde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Fall 6 — Anomalie: der Rücksprung zum Mitlesen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ist gestern schiefgelaufen — und was tut man, wenn das Modell sauber rechnet und trotzdem Unbrauchbares liefert?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6</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Aufgaben</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Auffällige Fahrten finden  B) Stationsausfälle erkennen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Produkt</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Tagesliste mit zehn Plätzen für die Disposition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Jeder fünfte Eintrag muss tragen — 20 %. Rentabel wäre die Liste schon ab 5 %</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Interquartilsregel als Maßstab, dann Isolation Forest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Rücksprung</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Phase 4 zurück nach Phase 3 — das Modell fand die Preisklasse statt der Anomalien</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Beide Aufgaben lösbar — aber je einmal gewinnt eine Regel gegen das Modell</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Eine Sackgasse, die man kennen sollte</a:t>
            </a:r>
          </a:p>
        </p:txBody>
      </p:sp>
      <p:sp>
        <p:nvSpPr>
          <p:cNvPr id="3" name="Text Placeholder 2"/>
          <p:cNvSpPr>
            <a:spLocks noGrp="1"/>
          </p:cNvSpPr>
          <p:nvPr>
            <p:ph type="body" idx="12" sz="quarter"/>
          </p:nvPr>
        </p:nvSpPr>
        <p:spPr/>
        <p:txBody>
          <a:bodyPr/>
          <a:lstStyle/>
          <a:p>
            <a:r>
              <a:t>Fall 6 · Phase 2</a:t>
            </a:r>
          </a:p>
        </p:txBody>
      </p:sp>
      <p:sp>
        <p:nvSpPr>
          <p:cNvPr id="4" name="Text Placeholder 3"/>
          <p:cNvSpPr>
            <a:spLocks noGrp="1"/>
          </p:cNvSpPr>
          <p:nvPr>
            <p:ph type="body" idx="13" sz="quarter"/>
          </p:nvPr>
        </p:nvSpPr>
        <p:spPr/>
        <p:txBody>
          <a:bodyPr/>
          <a:lstStyle/>
          <a:p>
            <a:r>
              <a:t>analytics/notebooks/06_Anomalieerkennung_Auffaellige_Vorgaenge.ipynb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Geschwindigkeit wäre ein naheliegendes Merkmal für auffällige Fahrten. Sie taugt hier nichts — und zwar aus einem lehrreichen Grund.</a:t>
            </a:r>
          </a:p>
        </p:txBody>
      </p:sp>
      <p:sp>
        <p:nvSpPr>
          <p:cNvPr id="6" name="Rectangle 5"/>
          <p:cNvSpPr/>
          <p:nvPr/>
        </p:nvSpPr>
        <p:spPr>
          <a:xfrm>
            <a:off x="1153160" y="18796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Einfall</a:t>
            </a:r>
          </a:p>
        </p:txBody>
      </p:sp>
      <p:sp>
        <p:nvSpPr>
          <p:cNvPr id="9" name="TextBox 8"/>
          <p:cNvSpPr txBox="1"/>
          <p:nvPr/>
        </p:nvSpPr>
        <p:spPr>
          <a:xfrm>
            <a:off x="1330960" y="23876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Geschwindigkeit als Merkmal</a:t>
            </a:r>
          </a:p>
          <a:p>
            <a:pPr algn="l">
              <a:lnSpc>
                <a:spcPct val="95000"/>
              </a:lnSpc>
              <a:spcBef>
                <a:spcPts val="300"/>
              </a:spcBef>
            </a:pPr>
            <a:r>
              <a:rPr sz="1300" b="0">
                <a:solidFill>
                  <a:srgbClr val="404040"/>
                </a:solidFill>
              </a:rPr>
              <a:t>Ungewöhnlich schnell oder</a:t>
            </a:r>
          </a:p>
          <a:p>
            <a:pPr algn="l">
              <a:lnSpc>
                <a:spcPct val="95000"/>
              </a:lnSpc>
              <a:spcBef>
                <a:spcPts val="300"/>
              </a:spcBef>
            </a:pPr>
            <a:r>
              <a:rPr sz="1300" b="0">
                <a:solidFill>
                  <a:srgbClr val="404040"/>
                </a:solidFill>
              </a:rPr>
              <a:t>langsam — klingt nach genau</a:t>
            </a:r>
          </a:p>
          <a:p>
            <a:pPr algn="l">
              <a:lnSpc>
                <a:spcPct val="95000"/>
              </a:lnSpc>
              <a:spcBef>
                <a:spcPts val="300"/>
              </a:spcBef>
            </a:pPr>
            <a:r>
              <a:rPr sz="1300" b="0">
                <a:solidFill>
                  <a:srgbClr val="404040"/>
                </a:solidFill>
              </a:rPr>
              <a:t>dem, was eine Anomalie</a:t>
            </a:r>
          </a:p>
          <a:p>
            <a:pPr algn="l">
              <a:lnSpc>
                <a:spcPct val="95000"/>
              </a:lnSpc>
              <a:spcBef>
                <a:spcPts val="300"/>
              </a:spcBef>
            </a:pPr>
            <a:r>
              <a:rPr sz="1300" b="0">
                <a:solidFill>
                  <a:srgbClr val="404040"/>
                </a:solidFill>
              </a:rPr>
              <a:t>ausmacht.</a:t>
            </a:r>
          </a:p>
        </p:txBody>
      </p:sp>
      <p:sp>
        <p:nvSpPr>
          <p:cNvPr id="10" name="Rectangle 9"/>
          <p:cNvSpPr/>
          <p:nvPr/>
        </p:nvSpPr>
        <p:spPr>
          <a:xfrm>
            <a:off x="7096759" y="18796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Haken</a:t>
            </a:r>
          </a:p>
        </p:txBody>
      </p:sp>
      <p:sp>
        <p:nvSpPr>
          <p:cNvPr id="13" name="TextBox 12"/>
          <p:cNvSpPr txBox="1"/>
          <p:nvPr/>
        </p:nvSpPr>
        <p:spPr>
          <a:xfrm>
            <a:off x="7274559" y="23876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Sie ist abgeleitet</a:t>
            </a:r>
          </a:p>
          <a:p>
            <a:pPr algn="l">
              <a:lnSpc>
                <a:spcPct val="95000"/>
              </a:lnSpc>
              <a:spcBef>
                <a:spcPts val="300"/>
              </a:spcBef>
            </a:pPr>
            <a:r>
              <a:rPr sz="1300" b="0">
                <a:solidFill>
                  <a:srgbClr val="404040"/>
                </a:solidFill>
              </a:rPr>
              <a:t>Geschwindigkeit = Distanz</a:t>
            </a:r>
          </a:p>
          <a:p>
            <a:pPr algn="l">
              <a:lnSpc>
                <a:spcPct val="95000"/>
              </a:lnSpc>
              <a:spcBef>
                <a:spcPts val="300"/>
              </a:spcBef>
            </a:pPr>
            <a:r>
              <a:rPr sz="1300" b="0">
                <a:solidFill>
                  <a:srgbClr val="404040"/>
                </a:solidFill>
              </a:rPr>
              <a:t>geteilt durch Dauer.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Dauer ist schon ein</a:t>
            </a:r>
          </a:p>
          <a:p>
            <a:pPr algn="l">
              <a:lnSpc>
                <a:spcPct val="95000"/>
              </a:lnSpc>
              <a:spcBef>
                <a:spcPts val="300"/>
              </a:spcBef>
            </a:pPr>
            <a:r>
              <a:rPr sz="1300" b="0">
                <a:solidFill>
                  <a:srgbClr val="404040"/>
                </a:solidFill>
              </a:rPr>
              <a:t>Merkmal. Man fügt keine</a:t>
            </a:r>
          </a:p>
          <a:p>
            <a:pPr algn="l">
              <a:lnSpc>
                <a:spcPct val="95000"/>
              </a:lnSpc>
              <a:spcBef>
                <a:spcPts val="300"/>
              </a:spcBef>
            </a:pPr>
            <a:r>
              <a:rPr sz="1300" b="0">
                <a:solidFill>
                  <a:srgbClr val="404040"/>
                </a:solidFill>
              </a:rPr>
              <a:t>Information hinzu, sondern</a:t>
            </a:r>
          </a:p>
          <a:p>
            <a:pPr algn="l">
              <a:lnSpc>
                <a:spcPct val="95000"/>
              </a:lnSpc>
              <a:spcBef>
                <a:spcPts val="300"/>
              </a:spcBef>
            </a:pPr>
            <a:r>
              <a:rPr sz="1300" b="0">
                <a:solidFill>
                  <a:srgbClr val="404040"/>
                </a:solidFill>
              </a:rPr>
              <a:t>dieselbe noch einmal.</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Modell rechnete sauber und fand das Falsche</a:t>
            </a:r>
          </a:p>
        </p:txBody>
      </p:sp>
      <p:sp>
        <p:nvSpPr>
          <p:cNvPr id="3" name="Text Placeholder 2"/>
          <p:cNvSpPr>
            <a:spLocks noGrp="1"/>
          </p:cNvSpPr>
          <p:nvPr>
            <p:ph type="body" idx="12" sz="quarter"/>
          </p:nvPr>
        </p:nvSpPr>
        <p:spPr/>
        <p:txBody>
          <a:bodyPr/>
          <a:lstStyle/>
          <a:p>
            <a:r>
              <a:t>Fall 6 · Phase 4</a:t>
            </a:r>
          </a:p>
        </p:txBody>
      </p:sp>
      <p:sp>
        <p:nvSpPr>
          <p:cNvPr id="4" name="Text Placeholder 3"/>
          <p:cNvSpPr>
            <a:spLocks noGrp="1"/>
          </p:cNvSpPr>
          <p:nvPr>
            <p:ph type="body" idx="13" sz="quarter"/>
          </p:nvPr>
        </p:nvSpPr>
        <p:spPr/>
        <p:txBody>
          <a:bodyPr/>
          <a:lstStyle/>
          <a:p>
            <a:r>
              <a:t>analytics/notebooks/06_Anomalieerkennung_Auffaellige_Vorgaenge.ipynb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Der Isolation Forest lieferte beim ersten Versuch eine Liste, die sich beim Ansehen als völlig unbrauchbar erwies.</a:t>
            </a:r>
          </a:p>
        </p:txBody>
      </p:sp>
      <p:sp>
        <p:nvSpPr>
          <p:cNvPr id="6" name="Rectangle 5"/>
          <p:cNvSpPr/>
          <p:nvPr/>
        </p:nvSpPr>
        <p:spPr>
          <a:xfrm>
            <a:off x="115316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Was oben stand</a:t>
            </a:r>
          </a:p>
          <a:p>
            <a:pPr algn="l">
              <a:lnSpc>
                <a:spcPct val="95000"/>
              </a:lnSpc>
              <a:spcBef>
                <a:spcPts val="500"/>
              </a:spcBef>
            </a:pPr>
            <a:r>
              <a:rPr sz="1300" b="0">
                <a:solidFill>
                  <a:srgbClr val="404040"/>
                </a:solidFill>
              </a:rPr>
              <a:t>Fast ausschließlich</a:t>
            </a:r>
          </a:p>
          <a:p>
            <a:pPr algn="l">
              <a:lnSpc>
                <a:spcPct val="95000"/>
              </a:lnSpc>
              <a:spcBef>
                <a:spcPts val="500"/>
              </a:spcBef>
            </a:pPr>
            <a:r>
              <a:rPr sz="1300" b="0">
                <a:solidFill>
                  <a:srgbClr val="404040"/>
                </a:solidFill>
              </a:rPr>
              <a:t>E-Cargo-Fahrten.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Modell hatte etwas</a:t>
            </a:r>
          </a:p>
          <a:p>
            <a:pPr algn="l">
              <a:lnSpc>
                <a:spcPct val="95000"/>
              </a:lnSpc>
              <a:spcBef>
                <a:spcPts val="500"/>
              </a:spcBef>
            </a:pPr>
            <a:r>
              <a:rPr sz="1300" b="0">
                <a:solidFill>
                  <a:srgbClr val="404040"/>
                </a:solidFill>
              </a:rPr>
              <a:t>gefunden — nur nicht das,</a:t>
            </a:r>
          </a:p>
          <a:p>
            <a:pPr algn="l">
              <a:lnSpc>
                <a:spcPct val="95000"/>
              </a:lnSpc>
              <a:spcBef>
                <a:spcPts val="500"/>
              </a:spcBef>
            </a:pPr>
            <a:r>
              <a:rPr sz="1300" b="0">
                <a:solidFill>
                  <a:srgbClr val="404040"/>
                </a:solidFill>
              </a:rPr>
              <a:t>wonach gesucht war.</a:t>
            </a:r>
          </a:p>
        </p:txBody>
      </p:sp>
      <p:sp>
        <p:nvSpPr>
          <p:cNvPr id="9" name="Rectangle 8"/>
          <p:cNvSpPr/>
          <p:nvPr/>
        </p:nvSpPr>
        <p:spPr>
          <a:xfrm>
            <a:off x="511302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Warum</a:t>
            </a:r>
          </a:p>
          <a:p>
            <a:pPr algn="l">
              <a:lnSpc>
                <a:spcPct val="95000"/>
              </a:lnSpc>
              <a:spcBef>
                <a:spcPts val="500"/>
              </a:spcBef>
            </a:pPr>
            <a:r>
              <a:rPr sz="1300" b="0">
                <a:solidFill>
                  <a:srgbClr val="404040"/>
                </a:solidFill>
              </a:rPr>
              <a:t>Ein CARGO-Rad kostet 0,50 €</a:t>
            </a:r>
          </a:p>
          <a:p>
            <a:pPr algn="l">
              <a:lnSpc>
                <a:spcPct val="95000"/>
              </a:lnSpc>
              <a:spcBef>
                <a:spcPts val="500"/>
              </a:spcBef>
            </a:pPr>
            <a:r>
              <a:rPr sz="1300" b="0">
                <a:solidFill>
                  <a:srgbClr val="404040"/>
                </a:solidFill>
              </a:rPr>
              <a:t>je Minute, ein CITY-Rad</a:t>
            </a:r>
          </a:p>
          <a:p>
            <a:pPr algn="l">
              <a:lnSpc>
                <a:spcPct val="95000"/>
              </a:lnSpc>
              <a:spcBef>
                <a:spcPts val="500"/>
              </a:spcBef>
            </a:pPr>
            <a:r>
              <a:rPr sz="1300" b="0">
                <a:solidFill>
                  <a:srgbClr val="404040"/>
                </a:solidFill>
              </a:rPr>
              <a:t>0,10 €.</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Beim Entgelt ist jede</a:t>
            </a:r>
          </a:p>
          <a:p>
            <a:pPr algn="l">
              <a:lnSpc>
                <a:spcPct val="95000"/>
              </a:lnSpc>
              <a:spcBef>
                <a:spcPts val="500"/>
              </a:spcBef>
            </a:pPr>
            <a:r>
              <a:rPr sz="1300" b="0">
                <a:solidFill>
                  <a:srgbClr val="404040"/>
                </a:solidFill>
              </a:rPr>
              <a:t>Cargo-Fahrt ein Ausreißer —</a:t>
            </a:r>
          </a:p>
          <a:p>
            <a:pPr algn="l">
              <a:lnSpc>
                <a:spcPct val="95000"/>
              </a:lnSpc>
              <a:spcBef>
                <a:spcPts val="500"/>
              </a:spcBef>
            </a:pPr>
            <a:r>
              <a:rPr sz="1300" b="0">
                <a:solidFill>
                  <a:srgbClr val="404040"/>
                </a:solidFill>
              </a:rPr>
              <a:t>völlig zu Recht.</a:t>
            </a:r>
          </a:p>
        </p:txBody>
      </p:sp>
      <p:sp>
        <p:nvSpPr>
          <p:cNvPr id="12" name="Rectangle 11"/>
          <p:cNvSpPr/>
          <p:nvPr/>
        </p:nvSpPr>
        <p:spPr>
          <a:xfrm>
            <a:off x="908177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Wie es auffiel</a:t>
            </a:r>
          </a:p>
          <a:p>
            <a:pPr algn="l">
              <a:lnSpc>
                <a:spcPct val="95000"/>
              </a:lnSpc>
              <a:spcBef>
                <a:spcPts val="500"/>
              </a:spcBef>
            </a:pPr>
            <a:r>
              <a:rPr sz="1300" b="0">
                <a:solidFill>
                  <a:srgbClr val="404040"/>
                </a:solidFill>
              </a:rPr>
              <a:t>Nicht durch eine Kennzahl.</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Sondern dadurch, dass jemand</a:t>
            </a:r>
          </a:p>
          <a:p>
            <a:pPr algn="l">
              <a:lnSpc>
                <a:spcPct val="95000"/>
              </a:lnSpc>
              <a:spcBef>
                <a:spcPts val="500"/>
              </a:spcBef>
            </a:pPr>
            <a:r>
              <a:rPr sz="1300" b="0">
                <a:solidFill>
                  <a:srgbClr val="404040"/>
                </a:solidFill>
              </a:rPr>
              <a:t>die zehn obersten Zeilen</a:t>
            </a:r>
          </a:p>
          <a:p>
            <a:pPr algn="l">
              <a:lnSpc>
                <a:spcPct val="95000"/>
              </a:lnSpc>
              <a:spcBef>
                <a:spcPts val="500"/>
              </a:spcBef>
            </a:pPr>
            <a:r>
              <a:rPr sz="1300" b="0">
                <a:solidFill>
                  <a:srgbClr val="404040"/>
                </a:solidFill>
              </a:rPr>
              <a:t>ANGESEHEN hat.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Fehlschlag, den nur der Blick auf die Zeilen zeigt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analytics/notebooks/06_Anomalieerkennung_Auffaellige_Vorgaenge.ipynb · Abschnitt 4.4</a:t>
            </a:r>
          </a:p>
        </p:txBody>
      </p:sp>
      <p:sp>
        <p:nvSpPr>
          <p:cNvPr id="5" name="Rectangle 4"/>
          <p:cNvSpPr/>
          <p:nvPr/>
        </p:nvSpPr>
        <p:spPr>
          <a:xfrm>
            <a:off x="2640877" y="1168400"/>
            <a:ext cx="8499015"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6-fehlschlag.png"/>
          <p:cNvPicPr>
            <a:picLocks noChangeAspect="1"/>
          </p:cNvPicPr>
          <p:nvPr/>
        </p:nvPicPr>
        <p:blipFill>
          <a:blip r:embed="rId2"/>
          <a:stretch>
            <a:fillRect/>
          </a:stretch>
        </p:blipFill>
        <p:spPr>
          <a:xfrm>
            <a:off x="2742477" y="1270000"/>
            <a:ext cx="8295815"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Oben in der Liste: fast nur CARGO. Die Spalte entgelt_je_minute verrät, warum — das Modell hat die Preisklasse gefunden.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Zurück nach Phase 3 — und was es brachte</a:t>
            </a:r>
          </a:p>
        </p:txBody>
      </p:sp>
      <p:sp>
        <p:nvSpPr>
          <p:cNvPr id="3" name="Text Placeholder 2"/>
          <p:cNvSpPr>
            <a:spLocks noGrp="1"/>
          </p:cNvSpPr>
          <p:nvPr>
            <p:ph type="body" idx="12" sz="quarter"/>
          </p:nvPr>
        </p:nvSpPr>
        <p:spPr/>
        <p:txBody>
          <a:bodyPr/>
          <a:lstStyle/>
          <a:p>
            <a:r>
              <a:t>Fall 6 · Rücksprung</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Korrektur ist klein: das Entgelt innerhalb des Radtyps normieren. Die Wirkung ist groß.</a:t>
            </a:r>
          </a:p>
        </p:txBody>
      </p:sp>
      <p:sp>
        <p:nvSpPr>
          <p:cNvPr id="6" name="Rectangle 5"/>
          <p:cNvSpPr/>
          <p:nvPr/>
        </p:nvSpPr>
        <p:spPr>
          <a:xfrm>
            <a:off x="1153160" y="1651000"/>
            <a:ext cx="3175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328160" y="1651000"/>
            <a:ext cx="2286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Trefferquote</a:t>
            </a:r>
          </a:p>
        </p:txBody>
      </p:sp>
      <p:sp>
        <p:nvSpPr>
          <p:cNvPr id="8" name="Rectangle 7"/>
          <p:cNvSpPr/>
          <p:nvPr/>
        </p:nvSpPr>
        <p:spPr>
          <a:xfrm>
            <a:off x="6614159" y="1651000"/>
            <a:ext cx="6013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Bewertung</a:t>
            </a:r>
          </a:p>
        </p:txBody>
      </p:sp>
      <p:sp>
        <p:nvSpPr>
          <p:cNvPr id="9" name="Rectangle 8"/>
          <p:cNvSpPr/>
          <p:nvPr/>
        </p:nvSpPr>
        <p:spPr>
          <a:xfrm>
            <a:off x="1153160" y="2260600"/>
            <a:ext cx="317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Erster Versuch</a:t>
            </a:r>
          </a:p>
        </p:txBody>
      </p:sp>
      <p:sp>
        <p:nvSpPr>
          <p:cNvPr id="10" name="Rectangle 9"/>
          <p:cNvSpPr/>
          <p:nvPr/>
        </p:nvSpPr>
        <p:spPr>
          <a:xfrm>
            <a:off x="4328160" y="2260600"/>
            <a:ext cx="228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11" name="Rectangle 10"/>
          <p:cNvSpPr/>
          <p:nvPr/>
        </p:nvSpPr>
        <p:spPr>
          <a:xfrm>
            <a:off x="6614159" y="22606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unbrauchbar — gefunden wurde die Preisklasse</a:t>
            </a:r>
          </a:p>
        </p:txBody>
      </p:sp>
      <p:sp>
        <p:nvSpPr>
          <p:cNvPr id="12" name="Rectangle 11"/>
          <p:cNvSpPr/>
          <p:nvPr/>
        </p:nvSpPr>
        <p:spPr>
          <a:xfrm>
            <a:off x="1153160" y="2870200"/>
            <a:ext cx="317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Nach der Normierung</a:t>
            </a:r>
          </a:p>
        </p:txBody>
      </p:sp>
      <p:sp>
        <p:nvSpPr>
          <p:cNvPr id="13" name="Rectangle 12"/>
          <p:cNvSpPr/>
          <p:nvPr/>
        </p:nvSpPr>
        <p:spPr>
          <a:xfrm>
            <a:off x="4328160" y="2870200"/>
            <a:ext cx="228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36,0 %</a:t>
            </a:r>
          </a:p>
        </p:txBody>
      </p:sp>
      <p:sp>
        <p:nvSpPr>
          <p:cNvPr id="14" name="Rectangle 13"/>
          <p:cNvSpPr/>
          <p:nvPr/>
        </p:nvSpPr>
        <p:spPr>
          <a:xfrm>
            <a:off x="6614159" y="28702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Kriterium aus Phase 1 (20 %) erfüllt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1" name="Rectangle 20"/>
          <p:cNvSpPr/>
          <p:nvPr/>
        </p:nvSpPr>
        <p:spPr>
          <a:xfrm>
            <a:off x="6922134"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Auswertung, nach der Normierung</a:t>
            </a:r>
          </a:p>
        </p:txBody>
      </p:sp>
      <p:sp>
        <p:nvSpPr>
          <p:cNvPr id="3" name="Text Placeholder 2"/>
          <p:cNvSpPr>
            <a:spLocks noGrp="1"/>
          </p:cNvSpPr>
          <p:nvPr>
            <p:ph type="body" idx="12" sz="quarter"/>
          </p:nvPr>
        </p:nvSpPr>
        <p:spPr/>
        <p:txBody>
          <a:bodyPr/>
          <a:lstStyle/>
          <a:p>
            <a:r>
              <a:t>Nach dem Rücksprung · im Notebook</a:t>
            </a:r>
          </a:p>
        </p:txBody>
      </p:sp>
      <p:sp>
        <p:nvSpPr>
          <p:cNvPr id="4" name="Text Placeholder 3"/>
          <p:cNvSpPr>
            <a:spLocks noGrp="1"/>
          </p:cNvSpPr>
          <p:nvPr>
            <p:ph type="body" idx="13" sz="quarter"/>
          </p:nvPr>
        </p:nvSpPr>
        <p:spPr/>
        <p:txBody>
          <a:bodyPr/>
          <a:lstStyle/>
          <a:p>
            <a:r>
              <a:t>analytics/notebooks/06_Anomalieerkennung_Auffaellige_Vorgaenge.ipynb · Abschnitt 4.5</a:t>
            </a:r>
          </a:p>
        </p:txBody>
      </p:sp>
      <p:sp>
        <p:nvSpPr>
          <p:cNvPr id="5" name="Rectangle 4"/>
          <p:cNvSpPr/>
          <p:nvPr/>
        </p:nvSpPr>
        <p:spPr>
          <a:xfrm>
            <a:off x="3108247" y="1168400"/>
            <a:ext cx="7564275"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6-korrektur.png"/>
          <p:cNvPicPr>
            <a:picLocks noChangeAspect="1"/>
          </p:cNvPicPr>
          <p:nvPr/>
        </p:nvPicPr>
        <p:blipFill>
          <a:blip r:embed="rId2"/>
          <a:stretch>
            <a:fillRect/>
          </a:stretch>
        </p:blipFill>
        <p:spPr>
          <a:xfrm>
            <a:off x="3209847" y="1270000"/>
            <a:ext cx="7361075"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Radtyp-Verteilung der fünfzig auffälligsten Vorgänge ist jetzt gemischt statt einseitig. Genau das war das Ziel der Korrektur.</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Modell scheitert — die Aufgabe nicht</a:t>
            </a:r>
          </a:p>
        </p:txBody>
      </p:sp>
      <p:sp>
        <p:nvSpPr>
          <p:cNvPr id="3" name="Text Placeholder 2"/>
          <p:cNvSpPr>
            <a:spLocks noGrp="1"/>
          </p:cNvSpPr>
          <p:nvPr>
            <p:ph type="body" idx="12" sz="quarter"/>
          </p:nvPr>
        </p:nvSpPr>
        <p:spPr/>
        <p:txBody>
          <a:bodyPr/>
          <a:lstStyle/>
          <a:p>
            <a:r>
              <a:t>Fall 6 · Phase 5</a:t>
            </a:r>
          </a:p>
        </p:txBody>
      </p:sp>
      <p:sp>
        <p:nvSpPr>
          <p:cNvPr id="4" name="Text Placeholder 3"/>
          <p:cNvSpPr>
            <a:spLocks noGrp="1"/>
          </p:cNvSpPr>
          <p:nvPr>
            <p:ph type="body" idx="13" sz="quarter"/>
          </p:nvPr>
        </p:nvSpPr>
        <p:spPr/>
        <p:txBody>
          <a:bodyPr/>
          <a:lstStyle/>
          <a:p>
            <a:r>
              <a:t>analytics/notebooks/06_Anomalieerkennung_Auffaellige_Vorgaenge.ipynb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Stationsausfälle sollten aus dem Fahrtaufkommen erkennbar sein. Der Isolation Forest findet sie nicht. Eine Zeile Fachwissen schon.</a:t>
            </a:r>
          </a:p>
        </p:txBody>
      </p:sp>
      <p:sp>
        <p:nvSpPr>
          <p:cNvPr id="6" name="Rectangle 5"/>
          <p:cNvSpPr/>
          <p:nvPr/>
        </p:nvSpPr>
        <p:spPr>
          <a:xfrm>
            <a:off x="1153160" y="1879600"/>
            <a:ext cx="66040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Vorgehen</a:t>
            </a:r>
          </a:p>
        </p:txBody>
      </p:sp>
      <p:sp>
        <p:nvSpPr>
          <p:cNvPr id="7" name="Rectangle 6"/>
          <p:cNvSpPr/>
          <p:nvPr/>
        </p:nvSpPr>
        <p:spPr>
          <a:xfrm>
            <a:off x="7757159" y="1879600"/>
            <a:ext cx="25400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Trefferquote</a:t>
            </a:r>
          </a:p>
        </p:txBody>
      </p:sp>
      <p:sp>
        <p:nvSpPr>
          <p:cNvPr id="8" name="Rectangle 7"/>
          <p:cNvSpPr/>
          <p:nvPr/>
        </p:nvSpPr>
        <p:spPr>
          <a:xfrm>
            <a:off x="10297160" y="1879600"/>
            <a:ext cx="233045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 20 %</a:t>
            </a:r>
          </a:p>
        </p:txBody>
      </p:sp>
      <p:sp>
        <p:nvSpPr>
          <p:cNvPr id="9" name="Rectangle 8"/>
          <p:cNvSpPr/>
          <p:nvPr/>
        </p:nvSpPr>
        <p:spPr>
          <a:xfrm>
            <a:off x="1153160" y="2540000"/>
            <a:ext cx="6604000" cy="660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Isolation Forest über alle 10.890 Stationstage</a:t>
            </a:r>
          </a:p>
        </p:txBody>
      </p:sp>
      <p:sp>
        <p:nvSpPr>
          <p:cNvPr id="10" name="Rectangle 9"/>
          <p:cNvSpPr/>
          <p:nvPr/>
        </p:nvSpPr>
        <p:spPr>
          <a:xfrm>
            <a:off x="7757159" y="2540000"/>
            <a:ext cx="2540000" cy="660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14 %</a:t>
            </a:r>
          </a:p>
        </p:txBody>
      </p:sp>
      <p:sp>
        <p:nvSpPr>
          <p:cNvPr id="11" name="Rectangle 10"/>
          <p:cNvSpPr/>
          <p:nvPr/>
        </p:nvSpPr>
        <p:spPr>
          <a:xfrm>
            <a:off x="10297160" y="2540000"/>
            <a:ext cx="2330450" cy="660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gerissen</a:t>
            </a:r>
          </a:p>
        </p:txBody>
      </p:sp>
      <p:sp>
        <p:nvSpPr>
          <p:cNvPr id="12" name="Rectangle 11"/>
          <p:cNvSpPr/>
          <p:nvPr/>
        </p:nvSpPr>
        <p:spPr>
          <a:xfrm>
            <a:off x="1153160" y="3200400"/>
            <a:ext cx="6604000" cy="660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Regel: nur die 1.041 Tage ohne Fahrt, nach Einbruch sortiert</a:t>
            </a:r>
          </a:p>
        </p:txBody>
      </p:sp>
      <p:sp>
        <p:nvSpPr>
          <p:cNvPr id="13" name="Rectangle 12"/>
          <p:cNvSpPr/>
          <p:nvPr/>
        </p:nvSpPr>
        <p:spPr>
          <a:xfrm>
            <a:off x="7757159" y="3200400"/>
            <a:ext cx="2540000" cy="660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32 %</a:t>
            </a:r>
          </a:p>
        </p:txBody>
      </p:sp>
      <p:sp>
        <p:nvSpPr>
          <p:cNvPr id="14" name="Rectangle 13"/>
          <p:cNvSpPr/>
          <p:nvPr/>
        </p:nvSpPr>
        <p:spPr>
          <a:xfrm>
            <a:off x="10297160" y="3200400"/>
            <a:ext cx="2330450" cy="660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erfüllt</a:t>
            </a:r>
          </a:p>
        </p:txBody>
      </p:sp>
      <p:sp>
        <p:nvSpPr>
          <p:cNvPr id="15" name="Rectangle 14"/>
          <p:cNvSpPr/>
          <p:nvPr/>
        </p:nvSpPr>
        <p:spPr>
          <a:xfrm>
            <a:off x="1153160" y="4038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40386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41656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Warum die Regel gewinnt</a:t>
            </a:r>
          </a:p>
          <a:p>
            <a:pPr algn="l">
              <a:lnSpc>
                <a:spcPct val="95000"/>
              </a:lnSpc>
              <a:spcBef>
                <a:spcPts val="500"/>
              </a:spcBef>
            </a:pPr>
            <a:r>
              <a:rPr sz="1300" b="0">
                <a:solidFill>
                  <a:srgbClr val="404040"/>
                </a:solidFill>
              </a:rPr>
              <a:t>Alle 107 Störungen liegen an Tagen ohne jede Fahrt. Diese Eingrenzung ist Fachwissen, keine Statistik.</a:t>
            </a:r>
          </a:p>
          <a:p>
            <a:pPr algn="l">
              <a:lnSpc>
                <a:spcPct val="95000"/>
              </a:lnSpc>
              <a:spcBef>
                <a:spcPts val="500"/>
              </a:spcBef>
            </a:pPr>
            <a:r>
              <a:rPr sz="1300" b="0">
                <a:solidFill>
                  <a:srgbClr val="404040"/>
                </a:solidFill>
              </a:rPr>
              <a:t>Ein Verfahren, das über alle 10.890 Tage sucht, verbringt seine Kraft damit, die Eingrenzung nachzuerfinden — und schafft es schlechter, als ein Satz sie vorgibt.</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Modell gegen Regel, Zeile für Zeile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analytics/notebooks/06_Anomalieerkennung_Auffaellige_Vorgaenge.ipynb · Abschnitt 5.4</a:t>
            </a:r>
          </a:p>
        </p:txBody>
      </p:sp>
      <p:sp>
        <p:nvSpPr>
          <p:cNvPr id="5" name="Rectangle 4"/>
          <p:cNvSpPr/>
          <p:nvPr/>
        </p:nvSpPr>
        <p:spPr>
          <a:xfrm>
            <a:off x="4084844" y="1168400"/>
            <a:ext cx="5611081"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6-aufgabeB.png"/>
          <p:cNvPicPr>
            <a:picLocks noChangeAspect="1"/>
          </p:cNvPicPr>
          <p:nvPr/>
        </p:nvPicPr>
        <p:blipFill>
          <a:blip r:embed="rId2"/>
          <a:stretch>
            <a:fillRect/>
          </a:stretch>
        </p:blipFill>
        <p:spPr>
          <a:xfrm>
            <a:off x="4186444" y="1270000"/>
            <a:ext cx="5407881"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Bei jeder Listenlänge liegt die Regel vorn. Bei 50 Plätzen findet das Modell keine einzige Störung, die Regel jede dritte.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 Sorten Auffälligkeit, drei Antworten</a:t>
            </a:r>
          </a:p>
        </p:txBody>
      </p:sp>
      <p:sp>
        <p:nvSpPr>
          <p:cNvPr id="3" name="Text Placeholder 2"/>
          <p:cNvSpPr>
            <a:spLocks noGrp="1"/>
          </p:cNvSpPr>
          <p:nvPr>
            <p:ph type="body" idx="12" sz="quarter"/>
          </p:nvPr>
        </p:nvSpPr>
        <p:spPr/>
        <p:txBody>
          <a:bodyPr/>
          <a:lstStyle/>
          <a:p>
            <a:r>
              <a:t>Fall 6 · Phase 6</a:t>
            </a:r>
          </a:p>
        </p:txBody>
      </p:sp>
      <p:sp>
        <p:nvSpPr>
          <p:cNvPr id="4" name="Text Placeholder 3"/>
          <p:cNvSpPr>
            <a:spLocks noGrp="1"/>
          </p:cNvSpPr>
          <p:nvPr>
            <p:ph type="body" idx="13" sz="quarter"/>
          </p:nvPr>
        </p:nvSpPr>
        <p:spPr/>
        <p:txBody>
          <a:bodyPr/>
          <a:lstStyle/>
          <a:p>
            <a:r>
              <a:t>analytics/notebooks/06_Anomalieerkennung_Auffaellige_Vorgaenge.ipynb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Auswertung hat die Aufgabe geteilt. Nur eine der drei Sorten rechtfertigt ein Modell.</a:t>
            </a:r>
          </a:p>
        </p:txBody>
      </p:sp>
      <p:sp>
        <p:nvSpPr>
          <p:cNvPr id="6" name="Rectangle 5"/>
          <p:cNvSpPr/>
          <p:nvPr/>
        </p:nvSpPr>
        <p:spPr>
          <a:xfrm>
            <a:off x="1153160" y="1651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879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Vergessene Rückgaben  </a:t>
            </a:r>
            <a:r>
              <a:rPr sz="1300">
                <a:solidFill>
                  <a:srgbClr val="404040"/>
                </a:solidFill>
              </a:rPr>
              <a:t>Eine Zeile SQL: dauer_min &gt; 480. Vollständig, nachprüfbar, kein Modell nötig</a:t>
            </a:r>
          </a:p>
        </p:txBody>
      </p:sp>
      <p:sp>
        <p:nvSpPr>
          <p:cNvPr id="10" name="Rectangle 9"/>
          <p:cNvSpPr/>
          <p:nvPr/>
        </p:nvSpPr>
        <p:spPr>
          <a:xfrm>
            <a:off x="1153160" y="2540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540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768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616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Auffällige Stationstage  </a:t>
            </a:r>
            <a:r>
              <a:rPr sz="1300">
                <a:solidFill>
                  <a:srgbClr val="404040"/>
                </a:solidFill>
              </a:rPr>
              <a:t>Die Regel aus 5.5 — nur Nulltage, nach Einbruch sortiert. Schlägt das Modell und erfüllt das Kriterium</a:t>
            </a:r>
          </a:p>
        </p:txBody>
      </p:sp>
      <p:sp>
        <p:nvSpPr>
          <p:cNvPr id="14" name="Rectangle 13"/>
          <p:cNvSpPr/>
          <p:nvPr/>
        </p:nvSpPr>
        <p:spPr>
          <a:xfrm>
            <a:off x="1153160" y="3429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429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657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505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Alles andere  </a:t>
            </a:r>
            <a:r>
              <a:rPr sz="1300">
                <a:solidFill>
                  <a:srgbClr val="404040"/>
                </a:solidFill>
              </a:rPr>
              <a:t>Die Tagesliste des Isolation Forest. Dafür gibt es keine Regel — und keine Trefferquote, weil niemand vorher weiß, wonach er sucht</a:t>
            </a:r>
          </a:p>
        </p:txBody>
      </p:sp>
      <p:sp>
        <p:nvSpPr>
          <p:cNvPr id="18" name="Rectangle 17"/>
          <p:cNvSpPr/>
          <p:nvPr/>
        </p:nvSpPr>
        <p:spPr>
          <a:xfrm>
            <a:off x="1153160" y="4318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318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546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394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Rückkopplungsvorteil  </a:t>
            </a:r>
            <a:r>
              <a:rPr sz="1300">
                <a:solidFill>
                  <a:srgbClr val="404040"/>
                </a:solidFill>
              </a:rPr>
              <a:t>Anders als in Fall 2 verbessert die Nutzung hier die Datenlage: Jede geprüfte Meldung ist ein Label für die nächste Runde</a:t>
            </a:r>
          </a:p>
        </p:txBody>
      </p:sp>
      <p:sp>
        <p:nvSpPr>
          <p:cNvPr id="22" name="Rectangle 2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4" name="Rectangle 2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6" name="Rectangle 2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8" name="Rectangle 2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0" name="Rectangle 2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2" name="Rectangle 31"/>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6 · Abschluss</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Aufgaben, zehn Listenplätze. Rentabel ab 5 %, gefordert werden 20 % — sonst wird die Liste nicht benutzt</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Lücke in der Dauerverteilung trennt Fahrten von Rückgabeproblemen. Sackgasse: die Geschwindigkeit</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Merkmale; distanz_km bleibt draußen, weil ein fehlender Sensor kein auffälliger Vorgang ist</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Interquartilsregel unbrauchbar (über 2.000 Treffer), dann Isolation Forest — der die Preisklasse fand</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 beiden Aufgaben schlägt eine Regel das Modell: 90 % gegen 28 % und 32 % gegen 14 %</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Regeln und eine Tagesliste — jede für die Sorte Auffälligkeit, für die sie taugt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Synthese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war in allen sechs Fällen gleich — und was hat jeder einzelne über den Kreislauf gelehrt?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sechs Blickwinkel auf denselben Kreislauf</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Tabelle aus Kapitel 1 — jetzt ausgefüllt mit dem, was wir unterwegs gesehen haben.</a:t>
            </a:r>
          </a:p>
        </p:txBody>
      </p:sp>
      <p:sp>
        <p:nvSpPr>
          <p:cNvPr id="6" name="Rectangle 5"/>
          <p:cNvSpPr/>
          <p:nvPr/>
        </p:nvSpPr>
        <p:spPr>
          <a:xfrm>
            <a:off x="1153160" y="1651000"/>
            <a:ext cx="2159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312160" y="16510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8" name="Rectangle 7"/>
          <p:cNvSpPr/>
          <p:nvPr/>
        </p:nvSpPr>
        <p:spPr>
          <a:xfrm>
            <a:off x="4709160" y="1651000"/>
            <a:ext cx="7918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9" name="Rectangle 8"/>
          <p:cNvSpPr/>
          <p:nvPr/>
        </p:nvSpPr>
        <p:spPr>
          <a:xfrm>
            <a:off x="1153160" y="21844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312160" y="21844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11" name="Rectangle 10"/>
          <p:cNvSpPr/>
          <p:nvPr/>
        </p:nvSpPr>
        <p:spPr>
          <a:xfrm>
            <a:off x="4709160" y="21844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Rücksprung kam, obwohl das Kriterium hielt — ein Mittelwert ist keine Erfahrung</a:t>
            </a:r>
          </a:p>
        </p:txBody>
      </p:sp>
      <p:sp>
        <p:nvSpPr>
          <p:cNvPr id="12" name="Rectangle 11"/>
          <p:cNvSpPr/>
          <p:nvPr/>
        </p:nvSpPr>
        <p:spPr>
          <a:xfrm>
            <a:off x="1153160" y="27178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3" name="Rectangle 12"/>
          <p:cNvSpPr/>
          <p:nvPr/>
        </p:nvSpPr>
        <p:spPr>
          <a:xfrm>
            <a:off x="3312160" y="27178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4" name="Rectangle 13"/>
          <p:cNvSpPr/>
          <p:nvPr/>
        </p:nvSpPr>
        <p:spPr>
          <a:xfrm>
            <a:off x="4709160" y="27178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scheinbare Modellvorsprung war ein Defekt im Merkmal, gegen das er antrat</a:t>
            </a:r>
          </a:p>
        </p:txBody>
      </p:sp>
      <p:sp>
        <p:nvSpPr>
          <p:cNvPr id="15" name="Rectangle 14"/>
          <p:cNvSpPr/>
          <p:nvPr/>
        </p:nvSpPr>
        <p:spPr>
          <a:xfrm>
            <a:off x="1153160" y="32512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6" name="Rectangle 15"/>
          <p:cNvSpPr/>
          <p:nvPr/>
        </p:nvSpPr>
        <p:spPr>
          <a:xfrm>
            <a:off x="3312160" y="32512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17" name="Rectangle 16"/>
          <p:cNvSpPr/>
          <p:nvPr/>
        </p:nvSpPr>
        <p:spPr>
          <a:xfrm>
            <a:off x="4709160" y="32512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ohne Zielgröße — und eine bessere Frage als die, mit der wir anfingen</a:t>
            </a:r>
          </a:p>
        </p:txBody>
      </p:sp>
      <p:sp>
        <p:nvSpPr>
          <p:cNvPr id="18" name="Rectangle 17"/>
          <p:cNvSpPr/>
          <p:nvPr/>
        </p:nvSpPr>
        <p:spPr>
          <a:xfrm>
            <a:off x="1153160" y="37846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9" name="Rectangle 18"/>
          <p:cNvSpPr/>
          <p:nvPr/>
        </p:nvSpPr>
        <p:spPr>
          <a:xfrm>
            <a:off x="3312160" y="37846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0" name="Rectangle 19"/>
          <p:cNvSpPr/>
          <p:nvPr/>
        </p:nvSpPr>
        <p:spPr>
          <a:xfrm>
            <a:off x="4709160" y="37846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Schnitt folgt der Zeit. Und die genaueste Prognose ist nicht die günstigste</a:t>
            </a:r>
          </a:p>
        </p:txBody>
      </p:sp>
      <p:sp>
        <p:nvSpPr>
          <p:cNvPr id="21" name="Rectangle 20"/>
          <p:cNvSpPr/>
          <p:nvPr/>
        </p:nvSpPr>
        <p:spPr>
          <a:xfrm>
            <a:off x="1153160" y="43180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22" name="Rectangle 21"/>
          <p:cNvSpPr/>
          <p:nvPr/>
        </p:nvSpPr>
        <p:spPr>
          <a:xfrm>
            <a:off x="3312160" y="4318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3" name="Rectangle 22"/>
          <p:cNvSpPr/>
          <p:nvPr/>
        </p:nvSpPr>
        <p:spPr>
          <a:xfrm>
            <a:off x="4709160" y="43180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der 32 Regeln überlebt — die stärkste scheitert um 0,01 Prozentpunkte</a:t>
            </a:r>
          </a:p>
        </p:txBody>
      </p:sp>
      <p:sp>
        <p:nvSpPr>
          <p:cNvPr id="24" name="Rectangle 23"/>
          <p:cNvSpPr/>
          <p:nvPr/>
        </p:nvSpPr>
        <p:spPr>
          <a:xfrm>
            <a:off x="1153160" y="48514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25" name="Rectangle 24"/>
          <p:cNvSpPr/>
          <p:nvPr/>
        </p:nvSpPr>
        <p:spPr>
          <a:xfrm>
            <a:off x="3312160" y="4851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26" name="Rectangle 25"/>
          <p:cNvSpPr/>
          <p:nvPr/>
        </p:nvSpPr>
        <p:spPr>
          <a:xfrm>
            <a:off x="4709160" y="48514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Zweimal schlägt eine Zeile Fachwissen das Verfahren — weil vorher keine Baseline stand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Fünf Dinge, die in allen sechs Fällen gleich waren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Unabhängig vom Verfahren, unabhängig von der Frage — diese fünf Schritte kamen jedes Mal vor.</a:t>
            </a:r>
          </a:p>
        </p:txBody>
      </p:sp>
      <p:sp>
        <p:nvSpPr>
          <p:cNvPr id="6" name="Rectangle 5"/>
          <p:cNvSpPr/>
          <p:nvPr/>
        </p:nvSpPr>
        <p:spPr>
          <a:xfrm>
            <a:off x="1153160" y="16510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841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Kriterium vor den Daten  </a:t>
            </a:r>
            <a:r>
              <a:rPr sz="1300">
                <a:solidFill>
                  <a:srgbClr val="404040"/>
                </a:solidFill>
              </a:rPr>
              <a:t>In allen sechs Fällen stand die Hürde fest, bevor jemand ein Modell gerechnet hat</a:t>
            </a:r>
          </a:p>
        </p:txBody>
      </p:sp>
      <p:sp>
        <p:nvSpPr>
          <p:cNvPr id="10" name="Rectangle 9"/>
          <p:cNvSpPr/>
          <p:nvPr/>
        </p:nvSpPr>
        <p:spPr>
          <a:xfrm>
            <a:off x="1153160" y="24638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4638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654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5400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Ein Maßstab zuerst  </a:t>
            </a:r>
            <a:r>
              <a:rPr sz="1300">
                <a:solidFill>
                  <a:srgbClr val="404040"/>
                </a:solidFill>
              </a:rPr>
              <a:t>Nullmodell, Faustregel oder Interquartilsregel — immer erst der billige Vergleich</a:t>
            </a:r>
          </a:p>
        </p:txBody>
      </p:sp>
      <p:sp>
        <p:nvSpPr>
          <p:cNvPr id="14" name="Rectangle 13"/>
          <p:cNvSpPr/>
          <p:nvPr/>
        </p:nvSpPr>
        <p:spPr>
          <a:xfrm>
            <a:off x="1153160" y="32766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766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67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528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In jedem Fall brachte der Blick auf einzelne Zeilen etwas, das keine Kennzahl gezeigt hätte</a:t>
            </a:r>
          </a:p>
        </p:txBody>
      </p:sp>
      <p:sp>
        <p:nvSpPr>
          <p:cNvPr id="18" name="Rectangle 17"/>
          <p:cNvSpPr/>
          <p:nvPr/>
        </p:nvSpPr>
        <p:spPr>
          <a:xfrm>
            <a:off x="1153160" y="40894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894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27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1656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Fehlerkosten benennen  </a:t>
            </a:r>
            <a:r>
              <a:rPr sz="1300">
                <a:solidFill>
                  <a:srgbClr val="404040"/>
                </a:solidFill>
              </a:rPr>
              <a:t>Wo die beiden Fehlerrichtungen ungleich teuer sind, gehört das ins Modell — nicht in die Diskussion</a:t>
            </a:r>
          </a:p>
        </p:txBody>
      </p:sp>
      <p:sp>
        <p:nvSpPr>
          <p:cNvPr id="22" name="Rectangle 21"/>
          <p:cNvSpPr/>
          <p:nvPr/>
        </p:nvSpPr>
        <p:spPr>
          <a:xfrm>
            <a:off x="1153160" y="49022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9022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509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9784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Den Rücksprung aushalten  </a:t>
            </a:r>
            <a:r>
              <a:rPr sz="1300">
                <a:solidFill>
                  <a:srgbClr val="404040"/>
                </a:solidFill>
              </a:rPr>
              <a:t>Vier der sechs Fälle enden mit einem benannten Weg zurück statt mit einem Haken</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 die Zeit tatsächlich hingeht</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Zählt man die Codezellen der sechs Notebooks nach Phasen, ergibt sich dasselbe Bild wie in echten Projekten.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1 bis 3</a:t>
            </a:r>
          </a:p>
          <a:p>
            <a:pPr algn="l">
              <a:lnSpc>
                <a:spcPct val="95000"/>
              </a:lnSpc>
              <a:spcBef>
                <a:spcPts val="500"/>
              </a:spcBef>
            </a:pPr>
            <a:r>
              <a:rPr sz="1300" b="0">
                <a:solidFill>
                  <a:srgbClr val="404040"/>
                </a:solidFill>
              </a:rPr>
              <a:t>Frage schärfen, Daten ansehen,</a:t>
            </a:r>
          </a:p>
          <a:p>
            <a:pPr algn="l">
              <a:lnSpc>
                <a:spcPct val="95000"/>
              </a:lnSpc>
              <a:spcBef>
                <a:spcPts val="500"/>
              </a:spcBef>
            </a:pPr>
            <a:r>
              <a:rPr sz="1300" b="0">
                <a:solidFill>
                  <a:srgbClr val="404040"/>
                </a:solidFill>
              </a:rPr>
              <a:t>Merkmale bauen.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weitaus größte Teil —</a:t>
            </a:r>
          </a:p>
          <a:p>
            <a:pPr algn="l">
              <a:lnSpc>
                <a:spcPct val="95000"/>
              </a:lnSpc>
              <a:spcBef>
                <a:spcPts val="500"/>
              </a:spcBef>
            </a:pPr>
            <a:r>
              <a:rPr sz="1300" b="0">
                <a:solidFill>
                  <a:srgbClr val="404040"/>
                </a:solidFill>
              </a:rPr>
              <a:t>und der, den man beim Lesen</a:t>
            </a:r>
          </a:p>
          <a:p>
            <a:pPr algn="l">
              <a:lnSpc>
                <a:spcPct val="95000"/>
              </a:lnSpc>
              <a:spcBef>
                <a:spcPts val="500"/>
              </a:spcBef>
            </a:pPr>
            <a:r>
              <a:rPr sz="1300" b="0">
                <a:solidFill>
                  <a:srgbClr val="404040"/>
                </a:solidFill>
              </a:rPr>
              <a:t>am liebsten überspringt.</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 4</a:t>
            </a:r>
          </a:p>
          <a:p>
            <a:pPr algn="l">
              <a:lnSpc>
                <a:spcPct val="95000"/>
              </a:lnSpc>
              <a:spcBef>
                <a:spcPts val="500"/>
              </a:spcBef>
            </a:pPr>
            <a:r>
              <a:rPr sz="1300" b="0">
                <a:solidFill>
                  <a:srgbClr val="404040"/>
                </a:solidFill>
              </a:rPr>
              <a:t>Das Modellieren.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In jedem der sechs Notebooks</a:t>
            </a:r>
          </a:p>
          <a:p>
            <a:pPr algn="l">
              <a:lnSpc>
                <a:spcPct val="95000"/>
              </a:lnSpc>
              <a:spcBef>
                <a:spcPts val="500"/>
              </a:spcBef>
            </a:pPr>
            <a:r>
              <a:rPr sz="1300" b="0">
                <a:solidFill>
                  <a:srgbClr val="404040"/>
                </a:solidFill>
              </a:rPr>
              <a:t>ein knappes Kapitel, oft</a:t>
            </a:r>
          </a:p>
          <a:p>
            <a:pPr algn="l">
              <a:lnSpc>
                <a:spcPct val="95000"/>
              </a:lnSpc>
              <a:spcBef>
                <a:spcPts val="500"/>
              </a:spcBef>
            </a:pPr>
            <a:r>
              <a:rPr sz="1300" b="0">
                <a:solidFill>
                  <a:srgbClr val="404040"/>
                </a:solidFill>
              </a:rPr>
              <a:t>wenige Zeilen Code.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die Hauptsache.</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5 und 6</a:t>
            </a:r>
          </a:p>
          <a:p>
            <a:pPr algn="l">
              <a:lnSpc>
                <a:spcPct val="95000"/>
              </a:lnSpc>
              <a:spcBef>
                <a:spcPts val="500"/>
              </a:spcBef>
            </a:pPr>
            <a:r>
              <a:rPr sz="1300" b="0">
                <a:solidFill>
                  <a:srgbClr val="404040"/>
                </a:solidFill>
              </a:rPr>
              <a:t>Bewerten und ausliefern.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Teil, der in Lehrbüchern</a:t>
            </a:r>
          </a:p>
          <a:p>
            <a:pPr algn="l">
              <a:lnSpc>
                <a:spcPct val="95000"/>
              </a:lnSpc>
              <a:spcBef>
                <a:spcPts val="500"/>
              </a:spcBef>
            </a:pPr>
            <a:r>
              <a:rPr sz="1300" b="0">
                <a:solidFill>
                  <a:srgbClr val="404040"/>
                </a:solidFill>
              </a:rPr>
              <a:t>fehlt — und der über Erfolg</a:t>
            </a:r>
          </a:p>
          <a:p>
            <a:pPr algn="l">
              <a:lnSpc>
                <a:spcPct val="95000"/>
              </a:lnSpc>
              <a:spcBef>
                <a:spcPts val="500"/>
              </a:spcBef>
            </a:pPr>
            <a:r>
              <a:rPr sz="1300" b="0">
                <a:solidFill>
                  <a:srgbClr val="404040"/>
                </a:solidFill>
              </a:rPr>
              <a:t>oder Misserfolg im Betrieb</a:t>
            </a:r>
          </a:p>
          <a:p>
            <a:pPr algn="l">
              <a:lnSpc>
                <a:spcPct val="95000"/>
              </a:lnSpc>
              <a:spcBef>
                <a:spcPts val="500"/>
              </a:spcBef>
            </a:pPr>
            <a:r>
              <a:rPr sz="1300" b="0">
                <a:solidFill>
                  <a:srgbClr val="404040"/>
                </a:solidFill>
              </a:rPr>
              <a:t>entscheidet.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Notebooks — und wie sie weiterhelfen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Zu jedem der sechs Fälle gibt es zwei Fassungen: eine vollständig gerechnete und eine mit Lücken zum Selbstausfüllen.</a:t>
            </a:r>
          </a:p>
        </p:txBody>
      </p:sp>
      <p:sp>
        <p:nvSpPr>
          <p:cNvPr id="6" name="Rectangle 5"/>
          <p:cNvSpPr/>
          <p:nvPr/>
        </p:nvSpPr>
        <p:spPr>
          <a:xfrm>
            <a:off x="1153160" y="1651000"/>
            <a:ext cx="1778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2931160" y="1651000"/>
            <a:ext cx="5080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Vorführfassung</a:t>
            </a:r>
          </a:p>
        </p:txBody>
      </p:sp>
      <p:sp>
        <p:nvSpPr>
          <p:cNvPr id="8" name="Rectangle 7"/>
          <p:cNvSpPr/>
          <p:nvPr/>
        </p:nvSpPr>
        <p:spPr>
          <a:xfrm>
            <a:off x="8011159" y="1651000"/>
            <a:ext cx="4616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Übungsfassung</a:t>
            </a:r>
          </a:p>
        </p:txBody>
      </p:sp>
      <p:sp>
        <p:nvSpPr>
          <p:cNvPr id="9" name="Rectangle 8"/>
          <p:cNvSpPr/>
          <p:nvPr/>
        </p:nvSpPr>
        <p:spPr>
          <a:xfrm>
            <a:off x="1153160" y="21844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Ablage</a:t>
            </a:r>
          </a:p>
        </p:txBody>
      </p:sp>
      <p:sp>
        <p:nvSpPr>
          <p:cNvPr id="10" name="Rectangle 9"/>
          <p:cNvSpPr/>
          <p:nvPr/>
        </p:nvSpPr>
        <p:spPr>
          <a:xfrm>
            <a:off x="2931160" y="21844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a:t>
            </a:r>
          </a:p>
        </p:txBody>
      </p:sp>
      <p:sp>
        <p:nvSpPr>
          <p:cNvPr id="11" name="Rectangle 10"/>
          <p:cNvSpPr/>
          <p:nvPr/>
        </p:nvSpPr>
        <p:spPr>
          <a:xfrm>
            <a:off x="8011159" y="21844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analytics/notebooks/uebung/</a:t>
            </a:r>
          </a:p>
        </p:txBody>
      </p:sp>
      <p:sp>
        <p:nvSpPr>
          <p:cNvPr id="12" name="Rectangle 11"/>
          <p:cNvSpPr/>
          <p:nvPr/>
        </p:nvSpPr>
        <p:spPr>
          <a:xfrm>
            <a:off x="1153160" y="27178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Ausgaben</a:t>
            </a:r>
          </a:p>
        </p:txBody>
      </p:sp>
      <p:sp>
        <p:nvSpPr>
          <p:cNvPr id="13" name="Rectangle 12"/>
          <p:cNvSpPr/>
          <p:nvPr/>
        </p:nvSpPr>
        <p:spPr>
          <a:xfrm>
            <a:off x="2931160" y="2717800"/>
            <a:ext cx="5080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 eingebettet, sofort lesbar</a:t>
            </a:r>
          </a:p>
        </p:txBody>
      </p:sp>
      <p:sp>
        <p:nvSpPr>
          <p:cNvPr id="14" name="Rectangle 13"/>
          <p:cNvSpPr/>
          <p:nvPr/>
        </p:nvSpPr>
        <p:spPr>
          <a:xfrm>
            <a:off x="8011159" y="2717800"/>
            <a:ext cx="461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leer — sie entstehen beim Rechnen</a:t>
            </a:r>
          </a:p>
        </p:txBody>
      </p:sp>
      <p:sp>
        <p:nvSpPr>
          <p:cNvPr id="15" name="Rectangle 14"/>
          <p:cNvSpPr/>
          <p:nvPr/>
        </p:nvSpPr>
        <p:spPr>
          <a:xfrm>
            <a:off x="1153160" y="32512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Code</a:t>
            </a:r>
          </a:p>
        </p:txBody>
      </p:sp>
      <p:sp>
        <p:nvSpPr>
          <p:cNvPr id="16" name="Rectangle 15"/>
          <p:cNvSpPr/>
          <p:nvPr/>
        </p:nvSpPr>
        <p:spPr>
          <a:xfrm>
            <a:off x="2931160" y="32512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a:t>
            </a:r>
          </a:p>
        </p:txBody>
      </p:sp>
      <p:sp>
        <p:nvSpPr>
          <p:cNvPr id="17" name="Rectangle 16"/>
          <p:cNvSpPr/>
          <p:nvPr/>
        </p:nvSpPr>
        <p:spPr>
          <a:xfrm>
            <a:off x="8011159" y="32512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 den Kernstellen ausgeschnitten</a:t>
            </a:r>
          </a:p>
        </p:txBody>
      </p:sp>
      <p:sp>
        <p:nvSpPr>
          <p:cNvPr id="18" name="Rectangle 17"/>
          <p:cNvSpPr/>
          <p:nvPr/>
        </p:nvSpPr>
        <p:spPr>
          <a:xfrm>
            <a:off x="1153160" y="37846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Aufgaben</a:t>
            </a:r>
          </a:p>
        </p:txBody>
      </p:sp>
      <p:sp>
        <p:nvSpPr>
          <p:cNvPr id="19" name="Rectangle 18"/>
          <p:cNvSpPr/>
          <p:nvPr/>
        </p:nvSpPr>
        <p:spPr>
          <a:xfrm>
            <a:off x="2931160" y="3784600"/>
            <a:ext cx="5080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a:t>
            </a:r>
          </a:p>
        </p:txBody>
      </p:sp>
      <p:sp>
        <p:nvSpPr>
          <p:cNvPr id="20" name="Rectangle 19"/>
          <p:cNvSpPr/>
          <p:nvPr/>
        </p:nvSpPr>
        <p:spPr>
          <a:xfrm>
            <a:off x="8011159" y="3784600"/>
            <a:ext cx="461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 bis 4 je Notebook, an der jeweils lehrreichsten Stelle</a:t>
            </a:r>
          </a:p>
        </p:txBody>
      </p:sp>
      <p:sp>
        <p:nvSpPr>
          <p:cNvPr id="21" name="Rectangle 20"/>
          <p:cNvSpPr/>
          <p:nvPr/>
        </p:nvSpPr>
        <p:spPr>
          <a:xfrm>
            <a:off x="1153160" y="43180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Struktur</a:t>
            </a:r>
          </a:p>
        </p:txBody>
      </p:sp>
      <p:sp>
        <p:nvSpPr>
          <p:cNvPr id="22" name="Rectangle 21"/>
          <p:cNvSpPr/>
          <p:nvPr/>
        </p:nvSpPr>
        <p:spPr>
          <a:xfrm>
            <a:off x="2931160" y="43180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Phasen als Überschriften</a:t>
            </a:r>
          </a:p>
        </p:txBody>
      </p:sp>
      <p:sp>
        <p:nvSpPr>
          <p:cNvPr id="23" name="Rectangle 22"/>
          <p:cNvSpPr/>
          <p:nvPr/>
        </p:nvSpPr>
        <p:spPr>
          <a:xfrm>
            <a:off x="8011159" y="43180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identisch — auch die Übungsfassung führt durch alle sechs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diesen Block tragen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40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Erst die Frage  </a:t>
            </a:r>
            <a:r>
              <a:rPr sz="1300">
                <a:solidFill>
                  <a:srgbClr val="404040"/>
                </a:solidFill>
              </a:rPr>
              <a:t>Ein Erfolgskriterium, das nach dem Ergebnis entsteht, ist keins</a:t>
            </a:r>
          </a:p>
        </p:txBody>
      </p:sp>
      <p:sp>
        <p:nvSpPr>
          <p:cNvPr id="9" name="Rectangle 8"/>
          <p:cNvSpPr/>
          <p:nvPr/>
        </p:nvSpPr>
        <p:spPr>
          <a:xfrm>
            <a:off x="1153160" y="185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185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191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193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Dann der Maßstab  </a:t>
            </a:r>
            <a:r>
              <a:rPr sz="1300">
                <a:solidFill>
                  <a:srgbClr val="404040"/>
                </a:solidFill>
              </a:rPr>
              <a:t>Wer das Nullmodell nicht schlägt, hat nichts gewonnen</a:t>
            </a:r>
          </a:p>
        </p:txBody>
      </p:sp>
      <p:sp>
        <p:nvSpPr>
          <p:cNvPr id="13" name="Rectangle 12"/>
          <p:cNvSpPr/>
          <p:nvPr/>
        </p:nvSpPr>
        <p:spPr>
          <a:xfrm>
            <a:off x="1153160" y="236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36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242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43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Leakage prüfen  </a:t>
            </a:r>
            <a:r>
              <a:rPr sz="1300">
                <a:solidFill>
                  <a:srgbClr val="404040"/>
                </a:solidFill>
              </a:rPr>
              <a:t>Was weiß ich zum Zeitpunkt der Vorhersage wirklich?</a:t>
            </a:r>
          </a:p>
        </p:txBody>
      </p:sp>
      <p:sp>
        <p:nvSpPr>
          <p:cNvPr id="17" name="Rectangle 16"/>
          <p:cNvSpPr/>
          <p:nvPr/>
        </p:nvSpPr>
        <p:spPr>
          <a:xfrm>
            <a:off x="1153160" y="2870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2870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2933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2946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Kosten sind ungleich  </a:t>
            </a:r>
            <a:r>
              <a:rPr sz="1300">
                <a:solidFill>
                  <a:srgbClr val="404040"/>
                </a:solidFill>
              </a:rPr>
              <a:t>Fast nie sind beide Fehlerrichtungen gleich teuer</a:t>
            </a:r>
          </a:p>
        </p:txBody>
      </p:sp>
      <p:sp>
        <p:nvSpPr>
          <p:cNvPr id="21" name="Rectangle 20"/>
          <p:cNvSpPr/>
          <p:nvPr/>
        </p:nvSpPr>
        <p:spPr>
          <a:xfrm>
            <a:off x="1153160" y="3378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3378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3441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4" name="TextBox 23"/>
          <p:cNvSpPr txBox="1"/>
          <p:nvPr/>
        </p:nvSpPr>
        <p:spPr>
          <a:xfrm>
            <a:off x="1788160" y="3454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Kennzahlen trennen  </a:t>
            </a:r>
            <a:r>
              <a:rPr sz="1300">
                <a:solidFill>
                  <a:srgbClr val="404040"/>
                </a:solidFill>
              </a:rPr>
              <a:t>Technische Güte und fachliches Urteil sind zwei Dinge</a:t>
            </a:r>
          </a:p>
        </p:txBody>
      </p:sp>
      <p:sp>
        <p:nvSpPr>
          <p:cNvPr id="25" name="Rectangle 24"/>
          <p:cNvSpPr/>
          <p:nvPr/>
        </p:nvSpPr>
        <p:spPr>
          <a:xfrm>
            <a:off x="1153160" y="388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153160" y="388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330960" y="394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8" name="TextBox 27"/>
          <p:cNvSpPr txBox="1"/>
          <p:nvPr/>
        </p:nvSpPr>
        <p:spPr>
          <a:xfrm>
            <a:off x="1788160" y="396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Eine Kennzahl sagt, wie gut. Nur der Blick sagt, woran</a:t>
            </a:r>
          </a:p>
        </p:txBody>
      </p:sp>
      <p:sp>
        <p:nvSpPr>
          <p:cNvPr id="29" name="Rectangle 28"/>
          <p:cNvSpPr/>
          <p:nvPr/>
        </p:nvSpPr>
        <p:spPr>
          <a:xfrm>
            <a:off x="1153160" y="439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153160" y="439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330960" y="445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2" name="TextBox 31"/>
          <p:cNvSpPr txBox="1"/>
          <p:nvPr/>
        </p:nvSpPr>
        <p:spPr>
          <a:xfrm>
            <a:off x="1788160" y="447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Einfach schlägt stark  </a:t>
            </a:r>
            <a:r>
              <a:rPr sz="1300">
                <a:solidFill>
                  <a:srgbClr val="404040"/>
                </a:solidFill>
              </a:rPr>
              <a:t>Bei Gleichstand gewinnt, was man erklären kann</a:t>
            </a:r>
          </a:p>
        </p:txBody>
      </p:sp>
      <p:sp>
        <p:nvSpPr>
          <p:cNvPr id="33" name="Rectangle 32"/>
          <p:cNvSpPr/>
          <p:nvPr/>
        </p:nvSpPr>
        <p:spPr>
          <a:xfrm>
            <a:off x="1153160" y="490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153160" y="490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1330960" y="496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6" name="TextBox 35"/>
          <p:cNvSpPr txBox="1"/>
          <p:nvPr/>
        </p:nvSpPr>
        <p:spPr>
          <a:xfrm>
            <a:off x="1788160" y="497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Zurück ist normal  </a:t>
            </a:r>
            <a:r>
              <a:rPr sz="1300">
                <a:solidFill>
                  <a:srgbClr val="404040"/>
                </a:solidFill>
              </a:rPr>
              <a:t>Der Rücksprung ist das Verfahren, nicht sein Scheitern</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dieser Block nicht behandelt hat</a:t>
            </a:r>
          </a:p>
        </p:txBody>
      </p:sp>
      <p:sp>
        <p:nvSpPr>
          <p:cNvPr id="3" name="Text Placeholder 2"/>
          <p:cNvSpPr>
            <a:spLocks noGrp="1"/>
          </p:cNvSpPr>
          <p:nvPr>
            <p:ph type="body" idx="12" sz="quarter"/>
          </p:nvPr>
        </p:nvSpPr>
        <p:spPr/>
        <p:txBody>
          <a:bodyPr/>
          <a:lstStyle/>
          <a:p>
            <a:r>
              <a:t>Ausblick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Damit klar ist, wo die Grenzen liegen — und was ein nächster Schritt wäre.</a:t>
            </a:r>
          </a:p>
        </p:txBody>
      </p:sp>
      <p:sp>
        <p:nvSpPr>
          <p:cNvPr id="6" name="Rectangle 5"/>
          <p:cNvSpPr/>
          <p:nvPr/>
        </p:nvSpPr>
        <p:spPr>
          <a:xfrm>
            <a:off x="1153160" y="1651000"/>
            <a:ext cx="31750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Thema</a:t>
            </a:r>
          </a:p>
        </p:txBody>
      </p:sp>
      <p:sp>
        <p:nvSpPr>
          <p:cNvPr id="7" name="Rectangle 6"/>
          <p:cNvSpPr/>
          <p:nvPr/>
        </p:nvSpPr>
        <p:spPr>
          <a:xfrm>
            <a:off x="4328160" y="1651000"/>
            <a:ext cx="829945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es hier fehlt</a:t>
            </a:r>
          </a:p>
        </p:txBody>
      </p:sp>
      <p:sp>
        <p:nvSpPr>
          <p:cNvPr id="8" name="Rectangle 7"/>
          <p:cNvSpPr/>
          <p:nvPr/>
        </p:nvSpPr>
        <p:spPr>
          <a:xfrm>
            <a:off x="1153160" y="23368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Neuronale Netze</a:t>
            </a:r>
          </a:p>
        </p:txBody>
      </p:sp>
      <p:sp>
        <p:nvSpPr>
          <p:cNvPr id="9" name="Rectangle 8"/>
          <p:cNvSpPr/>
          <p:nvPr/>
        </p:nvSpPr>
        <p:spPr>
          <a:xfrm>
            <a:off x="4328160" y="23368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 diesen Datenmengen und Fragestellungen ohne Vorteil gegenüber den gezeigten Verfahren — und deutlich schwerer zu erklären</a:t>
            </a:r>
          </a:p>
        </p:txBody>
      </p:sp>
      <p:sp>
        <p:nvSpPr>
          <p:cNvPr id="10" name="Rectangle 9"/>
          <p:cNvSpPr/>
          <p:nvPr/>
        </p:nvSpPr>
        <p:spPr>
          <a:xfrm>
            <a:off x="1153160" y="30226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Hyperparameter-Suche</a:t>
            </a:r>
          </a:p>
        </p:txBody>
      </p:sp>
      <p:sp>
        <p:nvSpPr>
          <p:cNvPr id="11" name="Rectangle 10"/>
          <p:cNvSpPr/>
          <p:nvPr/>
        </p:nvSpPr>
        <p:spPr>
          <a:xfrm>
            <a:off x="4328160" y="30226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Systematisches Durchprobieren hätte die Ergebnisse leicht verbessert und den Blick auf das Vorgehen verstellt</a:t>
            </a:r>
          </a:p>
        </p:txBody>
      </p:sp>
      <p:sp>
        <p:nvSpPr>
          <p:cNvPr id="12" name="Rectangle 11"/>
          <p:cNvSpPr/>
          <p:nvPr/>
        </p:nvSpPr>
        <p:spPr>
          <a:xfrm>
            <a:off x="1153160" y="37084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Produktivbetrieb</a:t>
            </a:r>
          </a:p>
        </p:txBody>
      </p:sp>
      <p:sp>
        <p:nvSpPr>
          <p:cNvPr id="13" name="Rectangle 12"/>
          <p:cNvSpPr/>
          <p:nvPr/>
        </p:nvSpPr>
        <p:spPr>
          <a:xfrm>
            <a:off x="4328160" y="37084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Ausliefern heißt hier: eine Funktion und ein Plan. Echte Bereitstellung, Versionierung und Überwachung sind ein eigenes Feld</a:t>
            </a:r>
          </a:p>
        </p:txBody>
      </p:sp>
      <p:sp>
        <p:nvSpPr>
          <p:cNvPr id="14" name="Rectangle 13"/>
          <p:cNvSpPr/>
          <p:nvPr/>
        </p:nvSpPr>
        <p:spPr>
          <a:xfrm>
            <a:off x="1153160" y="43942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Kausalität</a:t>
            </a:r>
          </a:p>
        </p:txBody>
      </p:sp>
      <p:sp>
        <p:nvSpPr>
          <p:cNvPr id="15" name="Rectangle 14"/>
          <p:cNvSpPr/>
          <p:nvPr/>
        </p:nvSpPr>
        <p:spPr>
          <a:xfrm>
            <a:off x="4328160" y="43942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 Fälle finden Zusammenhänge, keine Ursachen. Die Störgröße in Fall 4 zeigt, wie schnell man das verwechselt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